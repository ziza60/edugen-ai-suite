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notesMasterIdLst>
    <p:notesMasterId r:id="rId6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e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e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e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Slide-63-image-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A18"/>
          </a:solidFill>
          <a:ln/>
        </p:spPr>
      </p:sp>
      <p:sp>
        <p:nvSpPr>
          <p:cNvPr id="3" name="Shape 1"/>
          <p:cNvSpPr/>
          <p:nvPr/>
        </p:nvSpPr>
        <p:spPr>
          <a:xfrm>
            <a:off x="0" y="0"/>
            <a:ext cx="7924602" cy="6858000"/>
          </a:xfrm>
          <a:prstGeom prst="rect">
            <a:avLst/>
          </a:prstGeom>
          <a:solidFill>
            <a:srgbClr val="050A18"/>
          </a:solidFill>
          <a:ln/>
        </p:spPr>
      </p:sp>
      <p:sp>
        <p:nvSpPr>
          <p:cNvPr id="4" name="Shape 2"/>
          <p:cNvSpPr/>
          <p:nvPr/>
        </p:nvSpPr>
        <p:spPr>
          <a:xfrm>
            <a:off x="6095848" y="0"/>
            <a:ext cx="6705432" cy="1152144"/>
          </a:xfrm>
          <a:prstGeom prst="rect">
            <a:avLst/>
          </a:prstGeom>
          <a:solidFill>
            <a:srgbClr val="6C63FF"/>
          </a:solidFill>
          <a:ln/>
        </p:spPr>
      </p:sp>
      <p:sp>
        <p:nvSpPr>
          <p:cNvPr id="5" name="Shape 3"/>
          <p:cNvSpPr/>
          <p:nvPr/>
        </p:nvSpPr>
        <p:spPr>
          <a:xfrm>
            <a:off x="6095848" y="1143000"/>
            <a:ext cx="6705432" cy="1152144"/>
          </a:xfrm>
          <a:prstGeom prst="rect">
            <a:avLst/>
          </a:prstGeom>
          <a:solidFill>
            <a:srgbClr val="6C63FF"/>
          </a:solidFill>
          <a:ln/>
        </p:spPr>
      </p:sp>
      <p:sp>
        <p:nvSpPr>
          <p:cNvPr id="6" name="Shape 4"/>
          <p:cNvSpPr/>
          <p:nvPr/>
        </p:nvSpPr>
        <p:spPr>
          <a:xfrm>
            <a:off x="6095848" y="2286000"/>
            <a:ext cx="6705432" cy="1152144"/>
          </a:xfrm>
          <a:prstGeom prst="rect">
            <a:avLst/>
          </a:prstGeom>
          <a:solidFill>
            <a:srgbClr val="6C63FF"/>
          </a:solidFill>
          <a:ln/>
        </p:spPr>
      </p:sp>
      <p:sp>
        <p:nvSpPr>
          <p:cNvPr id="7" name="Shape 5"/>
          <p:cNvSpPr/>
          <p:nvPr/>
        </p:nvSpPr>
        <p:spPr>
          <a:xfrm>
            <a:off x="6095848" y="3429000"/>
            <a:ext cx="6705432" cy="1152144"/>
          </a:xfrm>
          <a:prstGeom prst="rect">
            <a:avLst/>
          </a:prstGeom>
          <a:solidFill>
            <a:srgbClr val="6C63FF"/>
          </a:solidFill>
          <a:ln/>
        </p:spPr>
      </p:sp>
      <p:sp>
        <p:nvSpPr>
          <p:cNvPr id="8" name="Shape 6"/>
          <p:cNvSpPr/>
          <p:nvPr/>
        </p:nvSpPr>
        <p:spPr>
          <a:xfrm>
            <a:off x="6095848" y="4572000"/>
            <a:ext cx="6705432" cy="1152144"/>
          </a:xfrm>
          <a:prstGeom prst="rect">
            <a:avLst/>
          </a:prstGeom>
          <a:solidFill>
            <a:srgbClr val="6C63FF"/>
          </a:solidFill>
          <a:ln/>
        </p:spPr>
      </p:sp>
      <p:sp>
        <p:nvSpPr>
          <p:cNvPr id="9" name="Shape 7"/>
          <p:cNvSpPr/>
          <p:nvPr/>
        </p:nvSpPr>
        <p:spPr>
          <a:xfrm>
            <a:off x="6095848" y="5715000"/>
            <a:ext cx="6705432" cy="1152144"/>
          </a:xfrm>
          <a:prstGeom prst="rect">
            <a:avLst/>
          </a:prstGeom>
          <a:solidFill>
            <a:srgbClr val="6C63FF"/>
          </a:solidFill>
          <a:ln/>
        </p:spPr>
      </p:sp>
      <p:sp>
        <p:nvSpPr>
          <p:cNvPr id="10" name="Shape 8"/>
          <p:cNvSpPr/>
          <p:nvPr/>
        </p:nvSpPr>
        <p:spPr>
          <a:xfrm>
            <a:off x="6705432" y="-2400300"/>
            <a:ext cx="8534187" cy="8534187"/>
          </a:xfrm>
          <a:prstGeom prst="ellipse">
            <a:avLst/>
          </a:prstGeom>
          <a:solidFill>
            <a:srgbClr val="3B82F6"/>
          </a:solidFill>
          <a:ln/>
        </p:spPr>
      </p:sp>
      <p:sp>
        <p:nvSpPr>
          <p:cNvPr id="11" name="Shape 9"/>
          <p:cNvSpPr/>
          <p:nvPr/>
        </p:nvSpPr>
        <p:spPr>
          <a:xfrm>
            <a:off x="731520" y="822960"/>
            <a:ext cx="32004" cy="5212080"/>
          </a:xfrm>
          <a:prstGeom prst="rect">
            <a:avLst/>
          </a:prstGeom>
          <a:solidFill>
            <a:srgbClr val="6C63FF"/>
          </a:solidFill>
          <a:ln/>
        </p:spPr>
      </p:sp>
      <p:sp>
        <p:nvSpPr>
          <p:cNvPr id="12" name="Shape 10"/>
          <p:cNvSpPr/>
          <p:nvPr/>
        </p:nvSpPr>
        <p:spPr>
          <a:xfrm>
            <a:off x="256032" y="1005840"/>
            <a:ext cx="292608" cy="164592"/>
          </a:xfrm>
          <a:prstGeom prst="roundRect">
            <a:avLst>
              <a:gd name="adj" fmla="val 22222"/>
            </a:avLst>
          </a:prstGeom>
          <a:solidFill>
            <a:srgbClr val="6C63FF"/>
          </a:solidFill>
          <a:ln/>
        </p:spPr>
      </p:sp>
      <p:sp>
        <p:nvSpPr>
          <p:cNvPr id="13" name="Shape 11"/>
          <p:cNvSpPr/>
          <p:nvPr/>
        </p:nvSpPr>
        <p:spPr>
          <a:xfrm>
            <a:off x="256032" y="1280160"/>
            <a:ext cx="292608" cy="164592"/>
          </a:xfrm>
          <a:prstGeom prst="roundRect">
            <a:avLst>
              <a:gd name="adj" fmla="val 22222"/>
            </a:avLst>
          </a:prstGeom>
          <a:solidFill>
            <a:srgbClr val="3B82F6"/>
          </a:solidFill>
          <a:ln/>
        </p:spPr>
      </p:sp>
      <p:sp>
        <p:nvSpPr>
          <p:cNvPr id="14" name="Shape 12"/>
          <p:cNvSpPr/>
          <p:nvPr/>
        </p:nvSpPr>
        <p:spPr>
          <a:xfrm>
            <a:off x="256032" y="1554480"/>
            <a:ext cx="292608" cy="164592"/>
          </a:xfrm>
          <a:prstGeom prst="roundRect">
            <a:avLst>
              <a:gd name="adj" fmla="val 22222"/>
            </a:avLst>
          </a:prstGeom>
          <a:solidFill>
            <a:srgbClr val="10B981"/>
          </a:solidFill>
          <a:ln/>
        </p:spPr>
      </p:sp>
      <p:sp>
        <p:nvSpPr>
          <p:cNvPr id="15" name="Shape 13"/>
          <p:cNvSpPr/>
          <p:nvPr/>
        </p:nvSpPr>
        <p:spPr>
          <a:xfrm>
            <a:off x="256032" y="1828800"/>
            <a:ext cx="292608" cy="164592"/>
          </a:xfrm>
          <a:prstGeom prst="roundRect">
            <a:avLst>
              <a:gd name="adj" fmla="val 22222"/>
            </a:avLst>
          </a:prstGeom>
          <a:solidFill>
            <a:srgbClr val="F59E0B"/>
          </a:solidFill>
          <a:ln/>
        </p:spPr>
      </p:sp>
      <p:sp>
        <p:nvSpPr>
          <p:cNvPr id="16" name="Shape 14"/>
          <p:cNvSpPr/>
          <p:nvPr/>
        </p:nvSpPr>
        <p:spPr>
          <a:xfrm>
            <a:off x="256032" y="2103120"/>
            <a:ext cx="292608" cy="164592"/>
          </a:xfrm>
          <a:prstGeom prst="roundRect">
            <a:avLst>
              <a:gd name="adj" fmla="val 22222"/>
            </a:avLst>
          </a:prstGeom>
          <a:solidFill>
            <a:srgbClr val="06B6D4"/>
          </a:solidFill>
          <a:ln/>
        </p:spPr>
      </p:sp>
      <p:sp>
        <p:nvSpPr>
          <p:cNvPr id="17" name="Shape 15"/>
          <p:cNvSpPr/>
          <p:nvPr/>
        </p:nvSpPr>
        <p:spPr>
          <a:xfrm>
            <a:off x="1097280" y="1188720"/>
            <a:ext cx="3200400" cy="16459"/>
          </a:xfrm>
          <a:prstGeom prst="rect">
            <a:avLst/>
          </a:prstGeom>
          <a:solidFill>
            <a:srgbClr val="6C63FF"/>
          </a:solidFill>
          <a:ln/>
        </p:spPr>
      </p:sp>
      <p:sp>
        <p:nvSpPr>
          <p:cNvPr id="18" name="Text 16"/>
          <p:cNvSpPr/>
          <p:nvPr/>
        </p:nvSpPr>
        <p:spPr>
          <a:xfrm>
            <a:off x="1097280" y="1417320"/>
            <a:ext cx="4572000" cy="256032"/>
          </a:xfrm>
          <a:prstGeom prst="rect">
            <a:avLst/>
          </a:prstGeom>
          <a:noFill/>
          <a:ln/>
        </p:spPr>
        <p:txBody>
          <a:bodyPr wrap="square" rtlCol="0" anchor="ctr"/>
          <a:lstStyle/>
          <a:p>
            <a:pPr indent="0" marL="0">
              <a:buNone/>
            </a:pPr>
            <a:r>
              <a:rPr lang="en-US" sz="1000" b="1" spc="800" kern="0" dirty="0">
                <a:solidFill>
                  <a:srgbClr val="6C63FF"/>
                </a:solidFill>
                <a:latin typeface="Open Sans" pitchFamily="34" charset="0"/>
                <a:ea typeface="Open Sans" pitchFamily="34" charset="-122"/>
                <a:cs typeface="Open Sans" pitchFamily="34" charset="-120"/>
              </a:rPr>
              <a:t>CURSO COMPLETO</a:t>
            </a:r>
            <a:endParaRPr lang="en-US" sz="1000" dirty="0"/>
          </a:p>
        </p:txBody>
      </p:sp>
      <p:sp>
        <p:nvSpPr>
          <p:cNvPr id="19" name="Text 17"/>
          <p:cNvSpPr/>
          <p:nvPr/>
        </p:nvSpPr>
        <p:spPr>
          <a:xfrm>
            <a:off x="1097280" y="1828800"/>
            <a:ext cx="6339682" cy="3017520"/>
          </a:xfrm>
          <a:prstGeom prst="rect">
            <a:avLst/>
          </a:prstGeom>
          <a:noFill/>
          <a:ln/>
        </p:spPr>
        <p:txBody>
          <a:bodyPr wrap="square" rtlCol="0" anchor="t"/>
          <a:lstStyle/>
          <a:p>
            <a:pPr indent="0" marL="0">
              <a:lnSpc>
                <a:spcPct val="96000"/>
              </a:lnSpc>
              <a:buNone/>
            </a:pPr>
            <a:r>
              <a:rPr lang="en-US" sz="5200" b="1" dirty="0">
                <a:solidFill>
                  <a:srgbClr val="FFFFFF"/>
                </a:solidFill>
                <a:latin typeface="Montserrat" pitchFamily="34" charset="0"/>
                <a:ea typeface="Montserrat" pitchFamily="34" charset="-122"/>
                <a:cs typeface="Montserrat" pitchFamily="34" charset="-120"/>
              </a:rPr>
              <a:t>Inteligência Artificial na Prática: Aplicações Reais para Profissionais Não Técnicos</a:t>
            </a:r>
            <a:endParaRPr lang="en-US" sz="5200" dirty="0"/>
          </a:p>
        </p:txBody>
      </p:sp>
      <p:sp>
        <p:nvSpPr>
          <p:cNvPr id="20" name="Shape 18"/>
          <p:cNvSpPr/>
          <p:nvPr/>
        </p:nvSpPr>
        <p:spPr>
          <a:xfrm>
            <a:off x="1097280" y="5029200"/>
            <a:ext cx="466344" cy="64008"/>
          </a:xfrm>
          <a:prstGeom prst="rect">
            <a:avLst/>
          </a:prstGeom>
          <a:solidFill>
            <a:srgbClr val="6C63FF"/>
          </a:solidFill>
          <a:ln/>
        </p:spPr>
      </p:sp>
      <p:sp>
        <p:nvSpPr>
          <p:cNvPr id="21" name="Shape 19"/>
          <p:cNvSpPr/>
          <p:nvPr/>
        </p:nvSpPr>
        <p:spPr>
          <a:xfrm>
            <a:off x="1554480" y="5029200"/>
            <a:ext cx="466344" cy="64008"/>
          </a:xfrm>
          <a:prstGeom prst="rect">
            <a:avLst/>
          </a:prstGeom>
          <a:solidFill>
            <a:srgbClr val="6C63FF"/>
          </a:solidFill>
          <a:ln/>
        </p:spPr>
      </p:sp>
      <p:sp>
        <p:nvSpPr>
          <p:cNvPr id="22" name="Shape 20"/>
          <p:cNvSpPr/>
          <p:nvPr/>
        </p:nvSpPr>
        <p:spPr>
          <a:xfrm>
            <a:off x="2011680" y="5029200"/>
            <a:ext cx="466344" cy="64008"/>
          </a:xfrm>
          <a:prstGeom prst="rect">
            <a:avLst/>
          </a:prstGeom>
          <a:solidFill>
            <a:srgbClr val="6C63FF"/>
          </a:solidFill>
          <a:ln/>
        </p:spPr>
      </p:sp>
      <p:sp>
        <p:nvSpPr>
          <p:cNvPr id="23" name="Shape 21"/>
          <p:cNvSpPr/>
          <p:nvPr/>
        </p:nvSpPr>
        <p:spPr>
          <a:xfrm>
            <a:off x="2468880" y="5029200"/>
            <a:ext cx="466344" cy="64008"/>
          </a:xfrm>
          <a:prstGeom prst="rect">
            <a:avLst/>
          </a:prstGeom>
          <a:solidFill>
            <a:srgbClr val="6C63FF"/>
          </a:solidFill>
          <a:ln/>
        </p:spPr>
      </p:sp>
      <p:sp>
        <p:nvSpPr>
          <p:cNvPr id="24" name="Shape 22"/>
          <p:cNvSpPr/>
          <p:nvPr/>
        </p:nvSpPr>
        <p:spPr>
          <a:xfrm>
            <a:off x="2926080" y="5029200"/>
            <a:ext cx="466344" cy="64008"/>
          </a:xfrm>
          <a:prstGeom prst="rect">
            <a:avLst/>
          </a:prstGeom>
          <a:solidFill>
            <a:srgbClr val="6C63FF"/>
          </a:solidFill>
          <a:ln/>
        </p:spPr>
      </p:sp>
      <p:sp>
        <p:nvSpPr>
          <p:cNvPr id="25" name="Shape 23"/>
          <p:cNvSpPr/>
          <p:nvPr/>
        </p:nvSpPr>
        <p:spPr>
          <a:xfrm>
            <a:off x="3383280" y="5029200"/>
            <a:ext cx="466344" cy="64008"/>
          </a:xfrm>
          <a:prstGeom prst="rect">
            <a:avLst/>
          </a:prstGeom>
          <a:solidFill>
            <a:srgbClr val="6C63FF"/>
          </a:solidFill>
          <a:ln/>
        </p:spPr>
      </p:sp>
      <p:sp>
        <p:nvSpPr>
          <p:cNvPr id="26" name="Shape 24"/>
          <p:cNvSpPr/>
          <p:nvPr/>
        </p:nvSpPr>
        <p:spPr>
          <a:xfrm>
            <a:off x="9814255" y="365760"/>
            <a:ext cx="457200" cy="457200"/>
          </a:xfrm>
          <a:prstGeom prst="roundRect">
            <a:avLst>
              <a:gd name="adj" fmla="val 12000"/>
            </a:avLst>
          </a:prstGeom>
          <a:solidFill>
            <a:srgbClr val="6C63FF"/>
          </a:solidFill>
          <a:ln/>
        </p:spPr>
      </p:sp>
      <p:sp>
        <p:nvSpPr>
          <p:cNvPr id="27" name="Shape 25"/>
          <p:cNvSpPr/>
          <p:nvPr/>
        </p:nvSpPr>
        <p:spPr>
          <a:xfrm>
            <a:off x="10317175" y="1188720"/>
            <a:ext cx="777240" cy="777240"/>
          </a:xfrm>
          <a:prstGeom prst="roundRect">
            <a:avLst>
              <a:gd name="adj" fmla="val 7059"/>
            </a:avLst>
          </a:prstGeom>
          <a:solidFill>
            <a:srgbClr val="3B82F6"/>
          </a:solidFill>
          <a:ln/>
        </p:spPr>
      </p:sp>
      <p:sp>
        <p:nvSpPr>
          <p:cNvPr id="28" name="Shape 26"/>
          <p:cNvSpPr/>
          <p:nvPr/>
        </p:nvSpPr>
        <p:spPr>
          <a:xfrm>
            <a:off x="10820095" y="2011680"/>
            <a:ext cx="1097280" cy="1097280"/>
          </a:xfrm>
          <a:prstGeom prst="roundRect">
            <a:avLst>
              <a:gd name="adj" fmla="val 5000"/>
            </a:avLst>
          </a:prstGeom>
          <a:solidFill>
            <a:srgbClr val="10B981"/>
          </a:solidFill>
          <a:ln/>
        </p:spPr>
      </p:sp>
      <p:sp>
        <p:nvSpPr>
          <p:cNvPr id="29" name="Shape 27"/>
          <p:cNvSpPr/>
          <p:nvPr/>
        </p:nvSpPr>
        <p:spPr>
          <a:xfrm>
            <a:off x="1097280" y="5321808"/>
            <a:ext cx="109728" cy="109728"/>
          </a:xfrm>
          <a:prstGeom prst="ellipse">
            <a:avLst/>
          </a:prstGeom>
          <a:solidFill>
            <a:srgbClr val="6C63FF"/>
          </a:solidFill>
          <a:ln/>
        </p:spPr>
      </p:sp>
      <p:sp>
        <p:nvSpPr>
          <p:cNvPr id="30" name="Shape 28"/>
          <p:cNvSpPr/>
          <p:nvPr/>
        </p:nvSpPr>
        <p:spPr>
          <a:xfrm>
            <a:off x="1097280" y="5760720"/>
            <a:ext cx="2743200" cy="10973"/>
          </a:xfrm>
          <a:prstGeom prst="rect">
            <a:avLst/>
          </a:prstGeom>
          <a:solidFill>
            <a:srgbClr val="6C63FF"/>
          </a:solidFill>
          <a:ln/>
        </p:spPr>
      </p:sp>
      <p:sp>
        <p:nvSpPr>
          <p:cNvPr id="31" name="Text 29"/>
          <p:cNvSpPr/>
          <p:nvPr/>
        </p:nvSpPr>
        <p:spPr>
          <a:xfrm>
            <a:off x="9448495" y="6263640"/>
            <a:ext cx="2377440" cy="274320"/>
          </a:xfrm>
          <a:prstGeom prst="rect">
            <a:avLst/>
          </a:prstGeom>
          <a:noFill/>
          <a:ln/>
        </p:spPr>
        <p:txBody>
          <a:bodyPr wrap="square" rtlCol="0" anchor="ctr"/>
          <a:lstStyle/>
          <a:p>
            <a:pPr algn="r" indent="0" marL="0">
              <a:buNone/>
            </a:pPr>
            <a:r>
              <a:rPr lang="en-US" sz="1000" spc="250" kern="0" dirty="0">
                <a:solidFill>
                  <a:srgbClr val="94A3C0"/>
                </a:solidFill>
                <a:latin typeface="Open Sans" pitchFamily="34" charset="0"/>
                <a:ea typeface="Open Sans" pitchFamily="34" charset="-122"/>
                <a:cs typeface="Open Sans" pitchFamily="34" charset="-120"/>
              </a:rPr>
              <a:t>2026-03-09</a:t>
            </a:r>
            <a:endParaRPr lang="en-US" sz="1000" dirty="0"/>
          </a:p>
        </p:txBody>
      </p:sp>
      <p:sp>
        <p:nvSpPr>
          <p:cNvPr id="32" name="Text 30"/>
          <p:cNvSpPr/>
          <p:nvPr/>
        </p:nvSpPr>
        <p:spPr>
          <a:xfrm>
            <a:off x="8534095" y="6565392"/>
            <a:ext cx="3291840" cy="201168"/>
          </a:xfrm>
          <a:prstGeom prst="rect">
            <a:avLst/>
          </a:prstGeom>
          <a:noFill/>
          <a:ln/>
        </p:spPr>
        <p:txBody>
          <a:bodyPr wrap="square" rtlCol="0" anchor="ctr"/>
          <a:lstStyle/>
          <a:p>
            <a:pPr algn="r" indent="0" marL="0">
              <a:buNone/>
            </a:pPr>
            <a:r>
              <a:rPr lang="en-US" sz="700" dirty="0">
                <a:solidFill>
                  <a:srgbClr val="FFFFFF">
                    <a:alpha val="50000"/>
                  </a:srgbClr>
                </a:solidFill>
                <a:latin typeface="Open Sans" pitchFamily="34" charset="0"/>
                <a:ea typeface="Open Sans" pitchFamily="34" charset="-122"/>
                <a:cs typeface="Open Sans" pitchFamily="34" charset="-120"/>
              </a:rPr>
              <a:t>Foto: Markus Winkler / Unsplash</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A18"/>
        </a:solidFill>
      </p:bgPr>
    </p:bg>
    <p:spTree>
      <p:nvGrpSpPr>
        <p:cNvPr id="1" name=""/>
        <p:cNvGrpSpPr/>
        <p:nvPr/>
      </p:nvGrpSpPr>
      <p:grpSpPr>
        <a:xfrm>
          <a:off x="0" y="0"/>
          <a:ext cx="0" cy="0"/>
          <a:chOff x="0" y="0"/>
          <a:chExt cx="0" cy="0"/>
        </a:xfrm>
      </p:grpSpPr>
      <p:sp>
        <p:nvSpPr>
          <p:cNvPr id="2" name="Shape 0"/>
          <p:cNvSpPr/>
          <p:nvPr/>
        </p:nvSpPr>
        <p:spPr>
          <a:xfrm>
            <a:off x="0" y="27432"/>
            <a:ext cx="12191695" cy="41148"/>
          </a:xfrm>
          <a:prstGeom prst="rect">
            <a:avLst/>
          </a:prstGeom>
          <a:solidFill>
            <a:srgbClr val="6C63FF"/>
          </a:solidFill>
          <a:ln/>
        </p:spPr>
      </p:sp>
      <p:sp>
        <p:nvSpPr>
          <p:cNvPr id="3" name="Text 1"/>
          <p:cNvSpPr/>
          <p:nvPr/>
        </p:nvSpPr>
        <p:spPr>
          <a:xfrm>
            <a:off x="594360" y="292608"/>
            <a:ext cx="5486400" cy="219456"/>
          </a:xfrm>
          <a:prstGeom prst="rect">
            <a:avLst/>
          </a:prstGeom>
          <a:noFill/>
          <a:ln/>
        </p:spPr>
        <p:txBody>
          <a:bodyPr wrap="square" rtlCol="0" anchor="ctr"/>
          <a:lstStyle/>
          <a:p>
            <a:pPr indent="0" marL="0">
              <a:buNone/>
            </a:pPr>
            <a:r>
              <a:rPr lang="en-US" sz="1000" b="1" spc="600" kern="0" dirty="0">
                <a:solidFill>
                  <a:srgbClr val="6C63FF"/>
                </a:solidFill>
                <a:latin typeface="Open Sans" pitchFamily="34" charset="0"/>
                <a:ea typeface="Open Sans" pitchFamily="34" charset="-122"/>
                <a:cs typeface="Open Sans" pitchFamily="34" charset="-120"/>
              </a:rPr>
              <a:t>CONTEÚDO PROGRAMÁTICO</a:t>
            </a:r>
            <a:endParaRPr lang="en-US" sz="1000" dirty="0"/>
          </a:p>
        </p:txBody>
      </p:sp>
      <p:sp>
        <p:nvSpPr>
          <p:cNvPr id="4" name="Text 2"/>
          <p:cNvSpPr/>
          <p:nvPr/>
        </p:nvSpPr>
        <p:spPr>
          <a:xfrm>
            <a:off x="594360" y="566928"/>
            <a:ext cx="7315200" cy="548640"/>
          </a:xfrm>
          <a:prstGeom prst="rect">
            <a:avLst/>
          </a:prstGeom>
          <a:noFill/>
          <a:ln/>
        </p:spPr>
        <p:txBody>
          <a:bodyPr wrap="square" rtlCol="0" anchor="ctr"/>
          <a:lstStyle/>
          <a:p>
            <a:pPr indent="0" marL="0">
              <a:buNone/>
            </a:pPr>
            <a:r>
              <a:rPr lang="en-US" sz="3200" b="1" dirty="0">
                <a:solidFill>
                  <a:srgbClr val="FFFFFF"/>
                </a:solidFill>
                <a:latin typeface="Montserrat" pitchFamily="34" charset="0"/>
                <a:ea typeface="Montserrat" pitchFamily="34" charset="-122"/>
                <a:cs typeface="Montserrat" pitchFamily="34" charset="-120"/>
              </a:rPr>
              <a:t>Índice</a:t>
            </a:r>
            <a:endParaRPr lang="en-US" sz="3200" dirty="0"/>
          </a:p>
        </p:txBody>
      </p:sp>
      <p:sp>
        <p:nvSpPr>
          <p:cNvPr id="5" name="Shape 3"/>
          <p:cNvSpPr/>
          <p:nvPr/>
        </p:nvSpPr>
        <p:spPr>
          <a:xfrm>
            <a:off x="594360" y="1188720"/>
            <a:ext cx="1828800" cy="27432"/>
          </a:xfrm>
          <a:prstGeom prst="rect">
            <a:avLst/>
          </a:prstGeom>
          <a:solidFill>
            <a:srgbClr val="6C63FF"/>
          </a:solidFill>
          <a:ln/>
        </p:spPr>
      </p:sp>
      <p:sp>
        <p:nvSpPr>
          <p:cNvPr id="6" name="Shape 4"/>
          <p:cNvSpPr/>
          <p:nvPr/>
        </p:nvSpPr>
        <p:spPr>
          <a:xfrm>
            <a:off x="594360" y="1371600"/>
            <a:ext cx="11002975" cy="36576"/>
          </a:xfrm>
          <a:prstGeom prst="rect">
            <a:avLst/>
          </a:prstGeom>
          <a:solidFill>
            <a:srgbClr val="111D38"/>
          </a:solidFill>
          <a:ln/>
        </p:spPr>
      </p:sp>
      <p:sp>
        <p:nvSpPr>
          <p:cNvPr id="7" name="Shape 5"/>
          <p:cNvSpPr/>
          <p:nvPr/>
        </p:nvSpPr>
        <p:spPr>
          <a:xfrm>
            <a:off x="594360" y="1371600"/>
            <a:ext cx="11002975" cy="36576"/>
          </a:xfrm>
          <a:prstGeom prst="rect">
            <a:avLst/>
          </a:prstGeom>
          <a:solidFill>
            <a:srgbClr val="6C63FF"/>
          </a:solidFill>
          <a:ln/>
        </p:spPr>
      </p:sp>
      <p:sp>
        <p:nvSpPr>
          <p:cNvPr id="8" name="Shape 6"/>
          <p:cNvSpPr/>
          <p:nvPr/>
        </p:nvSpPr>
        <p:spPr>
          <a:xfrm>
            <a:off x="612648" y="1673352"/>
            <a:ext cx="3557930" cy="2286000"/>
          </a:xfrm>
          <a:prstGeom prst="roundRect">
            <a:avLst>
              <a:gd name="adj" fmla="val 4800"/>
            </a:avLst>
          </a:prstGeom>
          <a:solidFill>
            <a:srgbClr val="000000"/>
          </a:solidFill>
          <a:ln/>
        </p:spPr>
      </p:sp>
      <p:sp>
        <p:nvSpPr>
          <p:cNvPr id="9" name="Shape 7"/>
          <p:cNvSpPr/>
          <p:nvPr/>
        </p:nvSpPr>
        <p:spPr>
          <a:xfrm>
            <a:off x="594360" y="1645920"/>
            <a:ext cx="3557930" cy="2286000"/>
          </a:xfrm>
          <a:prstGeom prst="roundRect">
            <a:avLst>
              <a:gd name="adj" fmla="val 4800"/>
            </a:avLst>
          </a:prstGeom>
          <a:solidFill>
            <a:srgbClr val="111D38"/>
          </a:solidFill>
          <a:ln/>
        </p:spPr>
      </p:sp>
      <p:sp>
        <p:nvSpPr>
          <p:cNvPr id="10" name="Shape 8"/>
          <p:cNvSpPr/>
          <p:nvPr/>
        </p:nvSpPr>
        <p:spPr>
          <a:xfrm>
            <a:off x="594360" y="1645920"/>
            <a:ext cx="45720" cy="2286000"/>
          </a:xfrm>
          <a:prstGeom prst="rect">
            <a:avLst>
              <a:gd name="adj" fmla="val 240000"/>
            </a:avLst>
          </a:prstGeom>
          <a:solidFill>
            <a:srgbClr val="6C63FF"/>
          </a:solidFill>
          <a:ln/>
        </p:spPr>
      </p:sp>
      <p:sp>
        <p:nvSpPr>
          <p:cNvPr id="11" name="Shape 9"/>
          <p:cNvSpPr/>
          <p:nvPr/>
        </p:nvSpPr>
        <p:spPr>
          <a:xfrm>
            <a:off x="740664" y="1792224"/>
            <a:ext cx="457200" cy="457200"/>
          </a:xfrm>
          <a:prstGeom prst="roundRect">
            <a:avLst>
              <a:gd name="adj" fmla="val 20000"/>
            </a:avLst>
          </a:prstGeom>
          <a:solidFill>
            <a:srgbClr val="6C63FF"/>
          </a:solidFill>
          <a:ln/>
        </p:spPr>
      </p:sp>
      <p:sp>
        <p:nvSpPr>
          <p:cNvPr id="12" name="Text 10"/>
          <p:cNvSpPr/>
          <p:nvPr/>
        </p:nvSpPr>
        <p:spPr>
          <a:xfrm>
            <a:off x="740664" y="1792224"/>
            <a:ext cx="457200" cy="457200"/>
          </a:xfrm>
          <a:prstGeom prst="rect">
            <a:avLst/>
          </a:prstGeom>
          <a:noFill/>
          <a:ln/>
        </p:spPr>
        <p:txBody>
          <a:bodyPr wrap="square" rtlCol="0" anchor="ctr"/>
          <a:lstStyle/>
          <a:p>
            <a:pPr algn="ctr" indent="0" marL="0">
              <a:buNone/>
            </a:pPr>
            <a:r>
              <a:rPr lang="en-US" sz="2000" b="1" dirty="0">
                <a:solidFill>
                  <a:srgbClr val="FFFFFF"/>
                </a:solidFill>
                <a:latin typeface="Montserrat" pitchFamily="34" charset="0"/>
                <a:ea typeface="Montserrat" pitchFamily="34" charset="-122"/>
                <a:cs typeface="Montserrat" pitchFamily="34" charset="-120"/>
              </a:rPr>
              <a:t>01</a:t>
            </a:r>
            <a:endParaRPr lang="en-US" sz="2000" dirty="0"/>
          </a:p>
        </p:txBody>
      </p:sp>
      <p:sp>
        <p:nvSpPr>
          <p:cNvPr id="13" name="Text 11"/>
          <p:cNvSpPr/>
          <p:nvPr/>
        </p:nvSpPr>
        <p:spPr>
          <a:xfrm>
            <a:off x="758952" y="2377440"/>
            <a:ext cx="3228746" cy="475488"/>
          </a:xfrm>
          <a:prstGeom prst="rect">
            <a:avLst/>
          </a:prstGeom>
          <a:noFill/>
          <a:ln/>
        </p:spPr>
        <p:txBody>
          <a:bodyPr wrap="square" rtlCol="0" anchor="t"/>
          <a:lstStyle/>
          <a:p>
            <a:pPr indent="0" marL="0">
              <a:lnSpc>
                <a:spcPct val="106000"/>
              </a:lnSpc>
              <a:buNone/>
            </a:pPr>
            <a:r>
              <a:rPr lang="en-US" sz="1400" b="1" dirty="0">
                <a:solidFill>
                  <a:srgbClr val="FFFFFF"/>
                </a:solidFill>
                <a:latin typeface="Montserrat" pitchFamily="34" charset="0"/>
                <a:ea typeface="Montserrat" pitchFamily="34" charset="-122"/>
                <a:cs typeface="Montserrat" pitchFamily="34" charset="-120"/>
              </a:rPr>
              <a:t>Desmistificando a Inteligência Artificial para Profissionais Não Técnicos</a:t>
            </a:r>
            <a:endParaRPr lang="en-US" sz="1400" dirty="0"/>
          </a:p>
        </p:txBody>
      </p:sp>
      <p:sp>
        <p:nvSpPr>
          <p:cNvPr id="14" name="Shape 12"/>
          <p:cNvSpPr/>
          <p:nvPr/>
        </p:nvSpPr>
        <p:spPr>
          <a:xfrm>
            <a:off x="758952" y="2907792"/>
            <a:ext cx="1778965" cy="10973"/>
          </a:xfrm>
          <a:prstGeom prst="rect">
            <a:avLst/>
          </a:prstGeom>
          <a:solidFill>
            <a:srgbClr val="6C63FF"/>
          </a:solidFill>
          <a:ln/>
        </p:spPr>
      </p:sp>
      <p:sp>
        <p:nvSpPr>
          <p:cNvPr id="15" name="Text 13"/>
          <p:cNvSpPr/>
          <p:nvPr/>
        </p:nvSpPr>
        <p:spPr>
          <a:xfrm>
            <a:off x="758952" y="2999232"/>
            <a:ext cx="3228746" cy="804672"/>
          </a:xfrm>
          <a:prstGeom prst="rect">
            <a:avLst/>
          </a:prstGeom>
          <a:noFill/>
          <a:ln/>
        </p:spPr>
        <p:txBody>
          <a:bodyPr wrap="square" rtlCol="0" anchor="t"/>
          <a:lstStyle/>
          <a:p>
            <a:pPr indent="0" marL="0">
              <a:lnSpc>
                <a:spcPct val="125000"/>
              </a:lnSpc>
              <a:buNone/>
            </a:pPr>
            <a:r>
              <a:rPr lang="en-US" sz="1100" dirty="0">
                <a:solidFill>
                  <a:srgbClr val="94A3C0"/>
                </a:solidFill>
                <a:latin typeface="Open Sans" pitchFamily="34" charset="0"/>
                <a:ea typeface="Open Sans" pitchFamily="34" charset="-122"/>
                <a:cs typeface="Open Sans" pitchFamily="34" charset="-120"/>
              </a:rPr>
              <a:t>Compreender os conceitos fundamentais da Inteligência Artificial (IA).</a:t>
            </a:r>
            <a:endParaRPr lang="en-US" sz="1100" dirty="0"/>
          </a:p>
        </p:txBody>
      </p:sp>
      <p:sp>
        <p:nvSpPr>
          <p:cNvPr id="16" name="Shape 14"/>
          <p:cNvSpPr/>
          <p:nvPr/>
        </p:nvSpPr>
        <p:spPr>
          <a:xfrm>
            <a:off x="3877970" y="3694176"/>
            <a:ext cx="91440" cy="91440"/>
          </a:xfrm>
          <a:prstGeom prst="ellipse">
            <a:avLst/>
          </a:prstGeom>
          <a:solidFill>
            <a:srgbClr val="6C63FF"/>
          </a:solidFill>
          <a:ln/>
        </p:spPr>
      </p:sp>
      <p:sp>
        <p:nvSpPr>
          <p:cNvPr id="17" name="Shape 15"/>
          <p:cNvSpPr/>
          <p:nvPr/>
        </p:nvSpPr>
        <p:spPr>
          <a:xfrm>
            <a:off x="4335170" y="1673352"/>
            <a:ext cx="3557930" cy="2286000"/>
          </a:xfrm>
          <a:prstGeom prst="roundRect">
            <a:avLst>
              <a:gd name="adj" fmla="val 4800"/>
            </a:avLst>
          </a:prstGeom>
          <a:solidFill>
            <a:srgbClr val="000000"/>
          </a:solidFill>
          <a:ln/>
        </p:spPr>
      </p:sp>
      <p:sp>
        <p:nvSpPr>
          <p:cNvPr id="18" name="Shape 16"/>
          <p:cNvSpPr/>
          <p:nvPr/>
        </p:nvSpPr>
        <p:spPr>
          <a:xfrm>
            <a:off x="4316882" y="1645920"/>
            <a:ext cx="3557930" cy="2286000"/>
          </a:xfrm>
          <a:prstGeom prst="roundRect">
            <a:avLst>
              <a:gd name="adj" fmla="val 4800"/>
            </a:avLst>
          </a:prstGeom>
          <a:solidFill>
            <a:srgbClr val="111D38"/>
          </a:solidFill>
          <a:ln/>
        </p:spPr>
      </p:sp>
      <p:sp>
        <p:nvSpPr>
          <p:cNvPr id="19" name="Shape 17"/>
          <p:cNvSpPr/>
          <p:nvPr/>
        </p:nvSpPr>
        <p:spPr>
          <a:xfrm>
            <a:off x="4316882" y="1645920"/>
            <a:ext cx="45720" cy="2286000"/>
          </a:xfrm>
          <a:prstGeom prst="rect">
            <a:avLst>
              <a:gd name="adj" fmla="val 240000"/>
            </a:avLst>
          </a:prstGeom>
          <a:solidFill>
            <a:srgbClr val="3B82F6"/>
          </a:solidFill>
          <a:ln/>
        </p:spPr>
      </p:sp>
      <p:sp>
        <p:nvSpPr>
          <p:cNvPr id="20" name="Shape 18"/>
          <p:cNvSpPr/>
          <p:nvPr/>
        </p:nvSpPr>
        <p:spPr>
          <a:xfrm>
            <a:off x="4463186" y="1792224"/>
            <a:ext cx="457200" cy="457200"/>
          </a:xfrm>
          <a:prstGeom prst="roundRect">
            <a:avLst>
              <a:gd name="adj" fmla="val 20000"/>
            </a:avLst>
          </a:prstGeom>
          <a:solidFill>
            <a:srgbClr val="3B82F6"/>
          </a:solidFill>
          <a:ln/>
        </p:spPr>
      </p:sp>
      <p:sp>
        <p:nvSpPr>
          <p:cNvPr id="21" name="Text 19"/>
          <p:cNvSpPr/>
          <p:nvPr/>
        </p:nvSpPr>
        <p:spPr>
          <a:xfrm>
            <a:off x="4463186" y="1792224"/>
            <a:ext cx="457200" cy="457200"/>
          </a:xfrm>
          <a:prstGeom prst="rect">
            <a:avLst/>
          </a:prstGeom>
          <a:noFill/>
          <a:ln/>
        </p:spPr>
        <p:txBody>
          <a:bodyPr wrap="square" rtlCol="0" anchor="ctr"/>
          <a:lstStyle/>
          <a:p>
            <a:pPr algn="ctr" indent="0" marL="0">
              <a:buNone/>
            </a:pPr>
            <a:r>
              <a:rPr lang="en-US" sz="2000" b="1" dirty="0">
                <a:solidFill>
                  <a:srgbClr val="FFFFFF"/>
                </a:solidFill>
                <a:latin typeface="Montserrat" pitchFamily="34" charset="0"/>
                <a:ea typeface="Montserrat" pitchFamily="34" charset="-122"/>
                <a:cs typeface="Montserrat" pitchFamily="34" charset="-120"/>
              </a:rPr>
              <a:t>02</a:t>
            </a:r>
            <a:endParaRPr lang="en-US" sz="2000" dirty="0"/>
          </a:p>
        </p:txBody>
      </p:sp>
      <p:sp>
        <p:nvSpPr>
          <p:cNvPr id="22" name="Text 20"/>
          <p:cNvSpPr/>
          <p:nvPr/>
        </p:nvSpPr>
        <p:spPr>
          <a:xfrm>
            <a:off x="4481474" y="2377440"/>
            <a:ext cx="3228746" cy="475488"/>
          </a:xfrm>
          <a:prstGeom prst="rect">
            <a:avLst/>
          </a:prstGeom>
          <a:noFill/>
          <a:ln/>
        </p:spPr>
        <p:txBody>
          <a:bodyPr wrap="square" rtlCol="0" anchor="t"/>
          <a:lstStyle/>
          <a:p>
            <a:pPr indent="0" marL="0">
              <a:lnSpc>
                <a:spcPct val="106000"/>
              </a:lnSpc>
              <a:buNone/>
            </a:pPr>
            <a:r>
              <a:rPr lang="en-US" sz="1400" b="1" dirty="0">
                <a:solidFill>
                  <a:srgbClr val="FFFFFF"/>
                </a:solidFill>
                <a:latin typeface="Montserrat" pitchFamily="34" charset="0"/>
                <a:ea typeface="Montserrat" pitchFamily="34" charset="-122"/>
                <a:cs typeface="Montserrat" pitchFamily="34" charset="-120"/>
              </a:rPr>
              <a:t>Ferramentas de IA Acessíveis e Sem Código para o Dia a Dia Profissional</a:t>
            </a:r>
            <a:endParaRPr lang="en-US" sz="1400" dirty="0"/>
          </a:p>
        </p:txBody>
      </p:sp>
      <p:sp>
        <p:nvSpPr>
          <p:cNvPr id="23" name="Shape 21"/>
          <p:cNvSpPr/>
          <p:nvPr/>
        </p:nvSpPr>
        <p:spPr>
          <a:xfrm>
            <a:off x="4481474" y="2907792"/>
            <a:ext cx="1778965" cy="10973"/>
          </a:xfrm>
          <a:prstGeom prst="rect">
            <a:avLst/>
          </a:prstGeom>
          <a:solidFill>
            <a:srgbClr val="3B82F6"/>
          </a:solidFill>
          <a:ln/>
        </p:spPr>
      </p:sp>
      <p:sp>
        <p:nvSpPr>
          <p:cNvPr id="24" name="Text 22"/>
          <p:cNvSpPr/>
          <p:nvPr/>
        </p:nvSpPr>
        <p:spPr>
          <a:xfrm>
            <a:off x="4481474" y="2999232"/>
            <a:ext cx="3228746" cy="804672"/>
          </a:xfrm>
          <a:prstGeom prst="rect">
            <a:avLst/>
          </a:prstGeom>
          <a:noFill/>
          <a:ln/>
        </p:spPr>
        <p:txBody>
          <a:bodyPr wrap="square" rtlCol="0" anchor="t"/>
          <a:lstStyle/>
          <a:p>
            <a:pPr indent="0" marL="0">
              <a:lnSpc>
                <a:spcPct val="125000"/>
              </a:lnSpc>
              <a:buNone/>
            </a:pPr>
            <a:r>
              <a:rPr lang="en-US" sz="1100" dirty="0">
                <a:solidFill>
                  <a:srgbClr val="94A3C0"/>
                </a:solidFill>
                <a:latin typeface="Open Sans" pitchFamily="34" charset="0"/>
                <a:ea typeface="Open Sans" pitchFamily="34" charset="-122"/>
                <a:cs typeface="Open Sans" pitchFamily="34" charset="-120"/>
              </a:rPr>
              <a:t>Navegar pelo universo das ferramentas de Inteligência Artificial que não exigem programação.</a:t>
            </a:r>
            <a:endParaRPr lang="en-US" sz="1100" dirty="0"/>
          </a:p>
        </p:txBody>
      </p:sp>
      <p:sp>
        <p:nvSpPr>
          <p:cNvPr id="25" name="Shape 23"/>
          <p:cNvSpPr/>
          <p:nvPr/>
        </p:nvSpPr>
        <p:spPr>
          <a:xfrm>
            <a:off x="7600493" y="3694176"/>
            <a:ext cx="91440" cy="91440"/>
          </a:xfrm>
          <a:prstGeom prst="ellipse">
            <a:avLst/>
          </a:prstGeom>
          <a:solidFill>
            <a:srgbClr val="3B82F6"/>
          </a:solidFill>
          <a:ln/>
        </p:spPr>
      </p:sp>
      <p:sp>
        <p:nvSpPr>
          <p:cNvPr id="26" name="Shape 24"/>
          <p:cNvSpPr/>
          <p:nvPr/>
        </p:nvSpPr>
        <p:spPr>
          <a:xfrm>
            <a:off x="8057693" y="1673352"/>
            <a:ext cx="3557930" cy="2286000"/>
          </a:xfrm>
          <a:prstGeom prst="roundRect">
            <a:avLst>
              <a:gd name="adj" fmla="val 4800"/>
            </a:avLst>
          </a:prstGeom>
          <a:solidFill>
            <a:srgbClr val="000000"/>
          </a:solidFill>
          <a:ln/>
        </p:spPr>
      </p:sp>
      <p:sp>
        <p:nvSpPr>
          <p:cNvPr id="27" name="Shape 25"/>
          <p:cNvSpPr/>
          <p:nvPr/>
        </p:nvSpPr>
        <p:spPr>
          <a:xfrm>
            <a:off x="8039405" y="1645920"/>
            <a:ext cx="3557930" cy="2286000"/>
          </a:xfrm>
          <a:prstGeom prst="roundRect">
            <a:avLst>
              <a:gd name="adj" fmla="val 4800"/>
            </a:avLst>
          </a:prstGeom>
          <a:solidFill>
            <a:srgbClr val="111D38"/>
          </a:solidFill>
          <a:ln/>
        </p:spPr>
      </p:sp>
      <p:sp>
        <p:nvSpPr>
          <p:cNvPr id="28" name="Shape 26"/>
          <p:cNvSpPr/>
          <p:nvPr/>
        </p:nvSpPr>
        <p:spPr>
          <a:xfrm>
            <a:off x="8039405" y="1645920"/>
            <a:ext cx="45720" cy="2286000"/>
          </a:xfrm>
          <a:prstGeom prst="rect">
            <a:avLst>
              <a:gd name="adj" fmla="val 240000"/>
            </a:avLst>
          </a:prstGeom>
          <a:solidFill>
            <a:srgbClr val="10B981"/>
          </a:solidFill>
          <a:ln/>
        </p:spPr>
      </p:sp>
      <p:sp>
        <p:nvSpPr>
          <p:cNvPr id="29" name="Shape 27"/>
          <p:cNvSpPr/>
          <p:nvPr/>
        </p:nvSpPr>
        <p:spPr>
          <a:xfrm>
            <a:off x="8185709" y="1792224"/>
            <a:ext cx="457200" cy="457200"/>
          </a:xfrm>
          <a:prstGeom prst="roundRect">
            <a:avLst>
              <a:gd name="adj" fmla="val 20000"/>
            </a:avLst>
          </a:prstGeom>
          <a:solidFill>
            <a:srgbClr val="10B981"/>
          </a:solidFill>
          <a:ln/>
        </p:spPr>
      </p:sp>
      <p:sp>
        <p:nvSpPr>
          <p:cNvPr id="30" name="Text 28"/>
          <p:cNvSpPr/>
          <p:nvPr/>
        </p:nvSpPr>
        <p:spPr>
          <a:xfrm>
            <a:off x="8185709" y="1792224"/>
            <a:ext cx="457200" cy="457200"/>
          </a:xfrm>
          <a:prstGeom prst="rect">
            <a:avLst/>
          </a:prstGeom>
          <a:noFill/>
          <a:ln/>
        </p:spPr>
        <p:txBody>
          <a:bodyPr wrap="square" rtlCol="0" anchor="ctr"/>
          <a:lstStyle/>
          <a:p>
            <a:pPr algn="ctr" indent="0" marL="0">
              <a:buNone/>
            </a:pPr>
            <a:r>
              <a:rPr lang="en-US" sz="2000" b="1" dirty="0">
                <a:solidFill>
                  <a:srgbClr val="FFFFFF"/>
                </a:solidFill>
                <a:latin typeface="Montserrat" pitchFamily="34" charset="0"/>
                <a:ea typeface="Montserrat" pitchFamily="34" charset="-122"/>
                <a:cs typeface="Montserrat" pitchFamily="34" charset="-120"/>
              </a:rPr>
              <a:t>03</a:t>
            </a:r>
            <a:endParaRPr lang="en-US" sz="2000" dirty="0"/>
          </a:p>
        </p:txBody>
      </p:sp>
      <p:sp>
        <p:nvSpPr>
          <p:cNvPr id="31" name="Text 29"/>
          <p:cNvSpPr/>
          <p:nvPr/>
        </p:nvSpPr>
        <p:spPr>
          <a:xfrm>
            <a:off x="8203997" y="2377440"/>
            <a:ext cx="3228746" cy="475488"/>
          </a:xfrm>
          <a:prstGeom prst="rect">
            <a:avLst/>
          </a:prstGeom>
          <a:noFill/>
          <a:ln/>
        </p:spPr>
        <p:txBody>
          <a:bodyPr wrap="square" rtlCol="0" anchor="t"/>
          <a:lstStyle/>
          <a:p>
            <a:pPr indent="0" marL="0">
              <a:lnSpc>
                <a:spcPct val="106000"/>
              </a:lnSpc>
              <a:buNone/>
            </a:pPr>
            <a:r>
              <a:rPr lang="en-US" sz="1400" b="1" dirty="0">
                <a:solidFill>
                  <a:srgbClr val="FFFFFF"/>
                </a:solidFill>
                <a:latin typeface="Montserrat" pitchFamily="34" charset="0"/>
                <a:ea typeface="Montserrat" pitchFamily="34" charset="-122"/>
                <a:cs typeface="Montserrat" pitchFamily="34" charset="-120"/>
              </a:rPr>
              <a:t>IA para Análise de Dados e Geração de Insights Estratégicos</a:t>
            </a:r>
            <a:endParaRPr lang="en-US" sz="1400" dirty="0"/>
          </a:p>
        </p:txBody>
      </p:sp>
      <p:sp>
        <p:nvSpPr>
          <p:cNvPr id="32" name="Shape 30"/>
          <p:cNvSpPr/>
          <p:nvPr/>
        </p:nvSpPr>
        <p:spPr>
          <a:xfrm>
            <a:off x="8203997" y="2907792"/>
            <a:ext cx="1778965" cy="10973"/>
          </a:xfrm>
          <a:prstGeom prst="rect">
            <a:avLst/>
          </a:prstGeom>
          <a:solidFill>
            <a:srgbClr val="10B981"/>
          </a:solidFill>
          <a:ln/>
        </p:spPr>
      </p:sp>
      <p:sp>
        <p:nvSpPr>
          <p:cNvPr id="33" name="Text 31"/>
          <p:cNvSpPr/>
          <p:nvPr/>
        </p:nvSpPr>
        <p:spPr>
          <a:xfrm>
            <a:off x="8203997" y="2999232"/>
            <a:ext cx="3228746" cy="804672"/>
          </a:xfrm>
          <a:prstGeom prst="rect">
            <a:avLst/>
          </a:prstGeom>
          <a:noFill/>
          <a:ln/>
        </p:spPr>
        <p:txBody>
          <a:bodyPr wrap="square" rtlCol="0" anchor="t"/>
          <a:lstStyle/>
          <a:p>
            <a:pPr indent="0" marL="0">
              <a:lnSpc>
                <a:spcPct val="125000"/>
              </a:lnSpc>
              <a:buNone/>
            </a:pPr>
            <a:r>
              <a:rPr lang="en-US" sz="1100" dirty="0">
                <a:solidFill>
                  <a:srgbClr val="94A3C0"/>
                </a:solidFill>
                <a:latin typeface="Open Sans" pitchFamily="34" charset="0"/>
                <a:ea typeface="Open Sans" pitchFamily="34" charset="-122"/>
                <a:cs typeface="Open Sans" pitchFamily="34" charset="-120"/>
              </a:rPr>
              <a:t>Desenvolver a capacidade de extrair percepções valiosas e identificar tendências ocultas com IA.</a:t>
            </a:r>
            <a:endParaRPr lang="en-US" sz="1100" dirty="0"/>
          </a:p>
        </p:txBody>
      </p:sp>
      <p:sp>
        <p:nvSpPr>
          <p:cNvPr id="34" name="Shape 32"/>
          <p:cNvSpPr/>
          <p:nvPr/>
        </p:nvSpPr>
        <p:spPr>
          <a:xfrm>
            <a:off x="11323015" y="3694176"/>
            <a:ext cx="91440" cy="91440"/>
          </a:xfrm>
          <a:prstGeom prst="ellipse">
            <a:avLst/>
          </a:prstGeom>
          <a:solidFill>
            <a:srgbClr val="10B981"/>
          </a:solidFill>
          <a:ln/>
        </p:spPr>
      </p:sp>
      <p:sp>
        <p:nvSpPr>
          <p:cNvPr id="35" name="Shape 33"/>
          <p:cNvSpPr/>
          <p:nvPr/>
        </p:nvSpPr>
        <p:spPr>
          <a:xfrm>
            <a:off x="612648" y="4123944"/>
            <a:ext cx="3557930" cy="2286000"/>
          </a:xfrm>
          <a:prstGeom prst="roundRect">
            <a:avLst>
              <a:gd name="adj" fmla="val 4800"/>
            </a:avLst>
          </a:prstGeom>
          <a:solidFill>
            <a:srgbClr val="000000"/>
          </a:solidFill>
          <a:ln/>
        </p:spPr>
      </p:sp>
      <p:sp>
        <p:nvSpPr>
          <p:cNvPr id="36" name="Shape 34"/>
          <p:cNvSpPr/>
          <p:nvPr/>
        </p:nvSpPr>
        <p:spPr>
          <a:xfrm>
            <a:off x="594360" y="4096512"/>
            <a:ext cx="3557930" cy="2286000"/>
          </a:xfrm>
          <a:prstGeom prst="roundRect">
            <a:avLst>
              <a:gd name="adj" fmla="val 4800"/>
            </a:avLst>
          </a:prstGeom>
          <a:solidFill>
            <a:srgbClr val="111D38"/>
          </a:solidFill>
          <a:ln/>
        </p:spPr>
      </p:sp>
      <p:sp>
        <p:nvSpPr>
          <p:cNvPr id="37" name="Shape 35"/>
          <p:cNvSpPr/>
          <p:nvPr/>
        </p:nvSpPr>
        <p:spPr>
          <a:xfrm>
            <a:off x="594360" y="4096512"/>
            <a:ext cx="45720" cy="2286000"/>
          </a:xfrm>
          <a:prstGeom prst="rect">
            <a:avLst>
              <a:gd name="adj" fmla="val 240000"/>
            </a:avLst>
          </a:prstGeom>
          <a:solidFill>
            <a:srgbClr val="F59E0B"/>
          </a:solidFill>
          <a:ln/>
        </p:spPr>
      </p:sp>
      <p:sp>
        <p:nvSpPr>
          <p:cNvPr id="38" name="Shape 36"/>
          <p:cNvSpPr/>
          <p:nvPr/>
        </p:nvSpPr>
        <p:spPr>
          <a:xfrm>
            <a:off x="740664" y="4242816"/>
            <a:ext cx="457200" cy="457200"/>
          </a:xfrm>
          <a:prstGeom prst="roundRect">
            <a:avLst>
              <a:gd name="adj" fmla="val 20000"/>
            </a:avLst>
          </a:prstGeom>
          <a:solidFill>
            <a:srgbClr val="F59E0B"/>
          </a:solidFill>
          <a:ln/>
        </p:spPr>
      </p:sp>
      <p:sp>
        <p:nvSpPr>
          <p:cNvPr id="39" name="Text 37"/>
          <p:cNvSpPr/>
          <p:nvPr/>
        </p:nvSpPr>
        <p:spPr>
          <a:xfrm>
            <a:off x="740664" y="4242816"/>
            <a:ext cx="457200" cy="457200"/>
          </a:xfrm>
          <a:prstGeom prst="rect">
            <a:avLst/>
          </a:prstGeom>
          <a:noFill/>
          <a:ln/>
        </p:spPr>
        <p:txBody>
          <a:bodyPr wrap="square" rtlCol="0" anchor="ctr"/>
          <a:lstStyle/>
          <a:p>
            <a:pPr algn="ctr" indent="0" marL="0">
              <a:buNone/>
            </a:pPr>
            <a:r>
              <a:rPr lang="en-US" sz="2000" b="1" dirty="0">
                <a:solidFill>
                  <a:srgbClr val="FFFFFF"/>
                </a:solidFill>
                <a:latin typeface="Montserrat" pitchFamily="34" charset="0"/>
                <a:ea typeface="Montserrat" pitchFamily="34" charset="-122"/>
                <a:cs typeface="Montserrat" pitchFamily="34" charset="-120"/>
              </a:rPr>
              <a:t>04</a:t>
            </a:r>
            <a:endParaRPr lang="en-US" sz="2000" dirty="0"/>
          </a:p>
        </p:txBody>
      </p:sp>
      <p:sp>
        <p:nvSpPr>
          <p:cNvPr id="40" name="Text 38"/>
          <p:cNvSpPr/>
          <p:nvPr/>
        </p:nvSpPr>
        <p:spPr>
          <a:xfrm>
            <a:off x="758952" y="4828032"/>
            <a:ext cx="3228746" cy="475488"/>
          </a:xfrm>
          <a:prstGeom prst="rect">
            <a:avLst/>
          </a:prstGeom>
          <a:noFill/>
          <a:ln/>
        </p:spPr>
        <p:txBody>
          <a:bodyPr wrap="square" rtlCol="0" anchor="t"/>
          <a:lstStyle/>
          <a:p>
            <a:pPr indent="0" marL="0">
              <a:lnSpc>
                <a:spcPct val="106000"/>
              </a:lnSpc>
              <a:buNone/>
            </a:pPr>
            <a:r>
              <a:rPr lang="en-US" sz="1400" b="1" dirty="0">
                <a:solidFill>
                  <a:srgbClr val="FFFFFF"/>
                </a:solidFill>
                <a:latin typeface="Montserrat" pitchFamily="34" charset="0"/>
                <a:ea typeface="Montserrat" pitchFamily="34" charset="-122"/>
                <a:cs typeface="Montserrat" pitchFamily="34" charset="-120"/>
              </a:rPr>
              <a:t>IA e a Otimização da Experiência do Cliente e do Engajamento</a:t>
            </a:r>
            <a:endParaRPr lang="en-US" sz="1400" dirty="0"/>
          </a:p>
        </p:txBody>
      </p:sp>
      <p:sp>
        <p:nvSpPr>
          <p:cNvPr id="41" name="Shape 39"/>
          <p:cNvSpPr/>
          <p:nvPr/>
        </p:nvSpPr>
        <p:spPr>
          <a:xfrm>
            <a:off x="758952" y="5358384"/>
            <a:ext cx="1778965" cy="10973"/>
          </a:xfrm>
          <a:prstGeom prst="rect">
            <a:avLst/>
          </a:prstGeom>
          <a:solidFill>
            <a:srgbClr val="F59E0B"/>
          </a:solidFill>
          <a:ln/>
        </p:spPr>
      </p:sp>
      <p:sp>
        <p:nvSpPr>
          <p:cNvPr id="42" name="Text 40"/>
          <p:cNvSpPr/>
          <p:nvPr/>
        </p:nvSpPr>
        <p:spPr>
          <a:xfrm>
            <a:off x="758952" y="5449824"/>
            <a:ext cx="3228746" cy="804672"/>
          </a:xfrm>
          <a:prstGeom prst="rect">
            <a:avLst/>
          </a:prstGeom>
          <a:noFill/>
          <a:ln/>
        </p:spPr>
        <p:txBody>
          <a:bodyPr wrap="square" rtlCol="0" anchor="t"/>
          <a:lstStyle/>
          <a:p>
            <a:pPr indent="0" marL="0">
              <a:lnSpc>
                <a:spcPct val="125000"/>
              </a:lnSpc>
              <a:buNone/>
            </a:pPr>
            <a:r>
              <a:rPr lang="en-US" sz="1100" dirty="0">
                <a:solidFill>
                  <a:srgbClr val="94A3C0"/>
                </a:solidFill>
                <a:latin typeface="Open Sans" pitchFamily="34" charset="0"/>
                <a:ea typeface="Open Sans" pitchFamily="34" charset="-122"/>
                <a:cs typeface="Open Sans" pitchFamily="34" charset="-120"/>
              </a:rPr>
              <a:t>Compreender como a IA transforma a experiência do cliente (CX) e o engajamento.</a:t>
            </a:r>
            <a:endParaRPr lang="en-US" sz="1100" dirty="0"/>
          </a:p>
        </p:txBody>
      </p:sp>
      <p:sp>
        <p:nvSpPr>
          <p:cNvPr id="43" name="Shape 41"/>
          <p:cNvSpPr/>
          <p:nvPr/>
        </p:nvSpPr>
        <p:spPr>
          <a:xfrm>
            <a:off x="3877970" y="6144768"/>
            <a:ext cx="91440" cy="91440"/>
          </a:xfrm>
          <a:prstGeom prst="ellipse">
            <a:avLst/>
          </a:prstGeom>
          <a:solidFill>
            <a:srgbClr val="F59E0B"/>
          </a:solidFill>
          <a:ln/>
        </p:spPr>
      </p:sp>
      <p:sp>
        <p:nvSpPr>
          <p:cNvPr id="44" name="Shape 42"/>
          <p:cNvSpPr/>
          <p:nvPr/>
        </p:nvSpPr>
        <p:spPr>
          <a:xfrm>
            <a:off x="4335170" y="4123944"/>
            <a:ext cx="3557930" cy="2286000"/>
          </a:xfrm>
          <a:prstGeom prst="roundRect">
            <a:avLst>
              <a:gd name="adj" fmla="val 4800"/>
            </a:avLst>
          </a:prstGeom>
          <a:solidFill>
            <a:srgbClr val="000000"/>
          </a:solidFill>
          <a:ln/>
        </p:spPr>
      </p:sp>
      <p:sp>
        <p:nvSpPr>
          <p:cNvPr id="45" name="Shape 43"/>
          <p:cNvSpPr/>
          <p:nvPr/>
        </p:nvSpPr>
        <p:spPr>
          <a:xfrm>
            <a:off x="4316882" y="4096512"/>
            <a:ext cx="3557930" cy="2286000"/>
          </a:xfrm>
          <a:prstGeom prst="roundRect">
            <a:avLst>
              <a:gd name="adj" fmla="val 4800"/>
            </a:avLst>
          </a:prstGeom>
          <a:solidFill>
            <a:srgbClr val="111D38"/>
          </a:solidFill>
          <a:ln/>
        </p:spPr>
      </p:sp>
      <p:sp>
        <p:nvSpPr>
          <p:cNvPr id="46" name="Shape 44"/>
          <p:cNvSpPr/>
          <p:nvPr/>
        </p:nvSpPr>
        <p:spPr>
          <a:xfrm>
            <a:off x="4316882" y="4096512"/>
            <a:ext cx="45720" cy="2286000"/>
          </a:xfrm>
          <a:prstGeom prst="rect">
            <a:avLst>
              <a:gd name="adj" fmla="val 240000"/>
            </a:avLst>
          </a:prstGeom>
          <a:solidFill>
            <a:srgbClr val="06B6D4"/>
          </a:solidFill>
          <a:ln/>
        </p:spPr>
      </p:sp>
      <p:sp>
        <p:nvSpPr>
          <p:cNvPr id="47" name="Shape 45"/>
          <p:cNvSpPr/>
          <p:nvPr/>
        </p:nvSpPr>
        <p:spPr>
          <a:xfrm>
            <a:off x="4463186" y="4242816"/>
            <a:ext cx="457200" cy="457200"/>
          </a:xfrm>
          <a:prstGeom prst="roundRect">
            <a:avLst>
              <a:gd name="adj" fmla="val 20000"/>
            </a:avLst>
          </a:prstGeom>
          <a:solidFill>
            <a:srgbClr val="06B6D4"/>
          </a:solidFill>
          <a:ln/>
        </p:spPr>
      </p:sp>
      <p:sp>
        <p:nvSpPr>
          <p:cNvPr id="48" name="Text 46"/>
          <p:cNvSpPr/>
          <p:nvPr/>
        </p:nvSpPr>
        <p:spPr>
          <a:xfrm>
            <a:off x="4463186" y="4242816"/>
            <a:ext cx="457200" cy="457200"/>
          </a:xfrm>
          <a:prstGeom prst="rect">
            <a:avLst/>
          </a:prstGeom>
          <a:noFill/>
          <a:ln/>
        </p:spPr>
        <p:txBody>
          <a:bodyPr wrap="square" rtlCol="0" anchor="ctr"/>
          <a:lstStyle/>
          <a:p>
            <a:pPr algn="ctr" indent="0" marL="0">
              <a:buNone/>
            </a:pPr>
            <a:r>
              <a:rPr lang="en-US" sz="2000" b="1" dirty="0">
                <a:solidFill>
                  <a:srgbClr val="FFFFFF"/>
                </a:solidFill>
                <a:latin typeface="Montserrat" pitchFamily="34" charset="0"/>
                <a:ea typeface="Montserrat" pitchFamily="34" charset="-122"/>
                <a:cs typeface="Montserrat" pitchFamily="34" charset="-120"/>
              </a:rPr>
              <a:t>05</a:t>
            </a:r>
            <a:endParaRPr lang="en-US" sz="2000" dirty="0"/>
          </a:p>
        </p:txBody>
      </p:sp>
      <p:sp>
        <p:nvSpPr>
          <p:cNvPr id="49" name="Text 47"/>
          <p:cNvSpPr/>
          <p:nvPr/>
        </p:nvSpPr>
        <p:spPr>
          <a:xfrm>
            <a:off x="4481474" y="4828032"/>
            <a:ext cx="3228746" cy="475488"/>
          </a:xfrm>
          <a:prstGeom prst="rect">
            <a:avLst/>
          </a:prstGeom>
          <a:noFill/>
          <a:ln/>
        </p:spPr>
        <p:txBody>
          <a:bodyPr wrap="square" rtlCol="0" anchor="t"/>
          <a:lstStyle/>
          <a:p>
            <a:pPr indent="0" marL="0">
              <a:lnSpc>
                <a:spcPct val="106000"/>
              </a:lnSpc>
              <a:buNone/>
            </a:pPr>
            <a:r>
              <a:rPr lang="en-US" sz="1400" b="1" dirty="0">
                <a:solidFill>
                  <a:srgbClr val="FFFFFF"/>
                </a:solidFill>
                <a:latin typeface="Montserrat" pitchFamily="34" charset="0"/>
                <a:ea typeface="Montserrat" pitchFamily="34" charset="-122"/>
                <a:cs typeface="Montserrat" pitchFamily="34" charset="-120"/>
              </a:rPr>
              <a:t>IA e o Futuro do Trabalho: Oportunidades e Considerações Éticas</a:t>
            </a:r>
            <a:endParaRPr lang="en-US" sz="1400" dirty="0"/>
          </a:p>
        </p:txBody>
      </p:sp>
      <p:sp>
        <p:nvSpPr>
          <p:cNvPr id="50" name="Shape 48"/>
          <p:cNvSpPr/>
          <p:nvPr/>
        </p:nvSpPr>
        <p:spPr>
          <a:xfrm>
            <a:off x="4481474" y="5358384"/>
            <a:ext cx="1778965" cy="10973"/>
          </a:xfrm>
          <a:prstGeom prst="rect">
            <a:avLst/>
          </a:prstGeom>
          <a:solidFill>
            <a:srgbClr val="06B6D4"/>
          </a:solidFill>
          <a:ln/>
        </p:spPr>
      </p:sp>
      <p:sp>
        <p:nvSpPr>
          <p:cNvPr id="51" name="Text 49"/>
          <p:cNvSpPr/>
          <p:nvPr/>
        </p:nvSpPr>
        <p:spPr>
          <a:xfrm>
            <a:off x="4481474" y="5449824"/>
            <a:ext cx="3228746" cy="804672"/>
          </a:xfrm>
          <a:prstGeom prst="rect">
            <a:avLst/>
          </a:prstGeom>
          <a:noFill/>
          <a:ln/>
        </p:spPr>
        <p:txBody>
          <a:bodyPr wrap="square" rtlCol="0" anchor="t"/>
          <a:lstStyle/>
          <a:p>
            <a:pPr indent="0" marL="0">
              <a:lnSpc>
                <a:spcPct val="125000"/>
              </a:lnSpc>
              <a:buNone/>
            </a:pPr>
            <a:r>
              <a:rPr lang="en-US" sz="1100" dirty="0">
                <a:solidFill>
                  <a:srgbClr val="94A3C0"/>
                </a:solidFill>
                <a:latin typeface="Open Sans" pitchFamily="34" charset="0"/>
                <a:ea typeface="Open Sans" pitchFamily="34" charset="-122"/>
                <a:cs typeface="Open Sans" pitchFamily="34" charset="-120"/>
              </a:rPr>
              <a:t>Compreender o impacto da IA na transformação do mercado de trabalho e nas estruturas ocupacionais.</a:t>
            </a:r>
            <a:endParaRPr lang="en-US" sz="1100" dirty="0"/>
          </a:p>
        </p:txBody>
      </p:sp>
      <p:sp>
        <p:nvSpPr>
          <p:cNvPr id="52" name="Shape 50"/>
          <p:cNvSpPr/>
          <p:nvPr/>
        </p:nvSpPr>
        <p:spPr>
          <a:xfrm>
            <a:off x="7600493" y="6144768"/>
            <a:ext cx="91440" cy="91440"/>
          </a:xfrm>
          <a:prstGeom prst="ellipse">
            <a:avLst/>
          </a:prstGeom>
          <a:solidFill>
            <a:srgbClr val="06B6D4"/>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A1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58851" y="0"/>
            <a:ext cx="4632844" cy="6858000"/>
          </a:xfrm>
          <a:prstGeom prst="rect">
            <a:avLst/>
          </a:prstGeom>
        </p:spPr>
      </p:pic>
      <p:sp>
        <p:nvSpPr>
          <p:cNvPr id="3" name="Shape 0"/>
          <p:cNvSpPr/>
          <p:nvPr/>
        </p:nvSpPr>
        <p:spPr>
          <a:xfrm>
            <a:off x="7558851" y="0"/>
            <a:ext cx="4632844" cy="6858000"/>
          </a:xfrm>
          <a:prstGeom prst="rect">
            <a:avLst/>
          </a:prstGeom>
          <a:solidFill>
            <a:srgbClr val="6C63FF"/>
          </a:solidFill>
          <a:ln/>
        </p:spPr>
      </p:sp>
      <p:sp>
        <p:nvSpPr>
          <p:cNvPr id="4" name="Shape 1"/>
          <p:cNvSpPr/>
          <p:nvPr/>
        </p:nvSpPr>
        <p:spPr>
          <a:xfrm>
            <a:off x="7558851" y="0"/>
            <a:ext cx="4632844" cy="6858000"/>
          </a:xfrm>
          <a:prstGeom prst="rect">
            <a:avLst/>
          </a:prstGeom>
          <a:solidFill>
            <a:srgbClr val="050A18"/>
          </a:solidFill>
          <a:ln/>
        </p:spPr>
      </p:sp>
      <p:sp>
        <p:nvSpPr>
          <p:cNvPr id="5" name="Shape 2"/>
          <p:cNvSpPr/>
          <p:nvPr/>
        </p:nvSpPr>
        <p:spPr>
          <a:xfrm>
            <a:off x="7558851" y="0"/>
            <a:ext cx="36576" cy="6858000"/>
          </a:xfrm>
          <a:prstGeom prst="rect">
            <a:avLst/>
          </a:prstGeom>
          <a:solidFill>
            <a:srgbClr val="6C63FF"/>
          </a:solidFill>
          <a:ln/>
        </p:spPr>
      </p:sp>
      <p:sp>
        <p:nvSpPr>
          <p:cNvPr id="6" name="Text 3"/>
          <p:cNvSpPr/>
          <p:nvPr/>
        </p:nvSpPr>
        <p:spPr>
          <a:xfrm>
            <a:off x="8534095" y="6565392"/>
            <a:ext cx="3291840" cy="201168"/>
          </a:xfrm>
          <a:prstGeom prst="rect">
            <a:avLst/>
          </a:prstGeom>
          <a:noFill/>
          <a:ln/>
        </p:spPr>
        <p:txBody>
          <a:bodyPr wrap="square" rtlCol="0" anchor="ctr"/>
          <a:lstStyle/>
          <a:p>
            <a:pPr algn="r" indent="0" marL="0">
              <a:buNone/>
            </a:pPr>
            <a:r>
              <a:rPr lang="en-US" sz="700" dirty="0">
                <a:solidFill>
                  <a:srgbClr val="FFFFFF">
                    <a:alpha val="50000"/>
                  </a:srgbClr>
                </a:solidFill>
                <a:latin typeface="Open Sans" pitchFamily="34" charset="0"/>
                <a:ea typeface="Open Sans" pitchFamily="34" charset="-122"/>
                <a:cs typeface="Open Sans" pitchFamily="34" charset="-120"/>
              </a:rPr>
              <a:t>Foto: Markus Winkler / Unsplash</a:t>
            </a:r>
            <a:endParaRPr lang="en-US" sz="700" dirty="0"/>
          </a:p>
        </p:txBody>
      </p:sp>
      <p:sp>
        <p:nvSpPr>
          <p:cNvPr id="7" name="Shape 4"/>
          <p:cNvSpPr/>
          <p:nvPr/>
        </p:nvSpPr>
        <p:spPr>
          <a:xfrm>
            <a:off x="4535311" y="0"/>
            <a:ext cx="3401483" cy="1152144"/>
          </a:xfrm>
          <a:prstGeom prst="rect">
            <a:avLst/>
          </a:prstGeom>
          <a:solidFill>
            <a:srgbClr val="6C63FF"/>
          </a:solidFill>
          <a:ln/>
        </p:spPr>
      </p:sp>
      <p:sp>
        <p:nvSpPr>
          <p:cNvPr id="8" name="Shape 5"/>
          <p:cNvSpPr/>
          <p:nvPr/>
        </p:nvSpPr>
        <p:spPr>
          <a:xfrm>
            <a:off x="4535311" y="1143000"/>
            <a:ext cx="3401483" cy="1152144"/>
          </a:xfrm>
          <a:prstGeom prst="rect">
            <a:avLst/>
          </a:prstGeom>
          <a:solidFill>
            <a:srgbClr val="6C63FF"/>
          </a:solidFill>
          <a:ln/>
        </p:spPr>
      </p:sp>
      <p:sp>
        <p:nvSpPr>
          <p:cNvPr id="9" name="Shape 6"/>
          <p:cNvSpPr/>
          <p:nvPr/>
        </p:nvSpPr>
        <p:spPr>
          <a:xfrm>
            <a:off x="4535311" y="2286000"/>
            <a:ext cx="3401483" cy="1152144"/>
          </a:xfrm>
          <a:prstGeom prst="rect">
            <a:avLst/>
          </a:prstGeom>
          <a:solidFill>
            <a:srgbClr val="6C63FF"/>
          </a:solidFill>
          <a:ln/>
        </p:spPr>
      </p:sp>
      <p:sp>
        <p:nvSpPr>
          <p:cNvPr id="10" name="Shape 7"/>
          <p:cNvSpPr/>
          <p:nvPr/>
        </p:nvSpPr>
        <p:spPr>
          <a:xfrm>
            <a:off x="4535311" y="3429000"/>
            <a:ext cx="3401483" cy="1152144"/>
          </a:xfrm>
          <a:prstGeom prst="rect">
            <a:avLst/>
          </a:prstGeom>
          <a:solidFill>
            <a:srgbClr val="6C63FF"/>
          </a:solidFill>
          <a:ln/>
        </p:spPr>
      </p:sp>
      <p:sp>
        <p:nvSpPr>
          <p:cNvPr id="11" name="Shape 8"/>
          <p:cNvSpPr/>
          <p:nvPr/>
        </p:nvSpPr>
        <p:spPr>
          <a:xfrm>
            <a:off x="4535311" y="4572000"/>
            <a:ext cx="3401483" cy="1152144"/>
          </a:xfrm>
          <a:prstGeom prst="rect">
            <a:avLst/>
          </a:prstGeom>
          <a:solidFill>
            <a:srgbClr val="6C63FF"/>
          </a:solidFill>
          <a:ln/>
        </p:spPr>
      </p:sp>
      <p:sp>
        <p:nvSpPr>
          <p:cNvPr id="12" name="Shape 9"/>
          <p:cNvSpPr/>
          <p:nvPr/>
        </p:nvSpPr>
        <p:spPr>
          <a:xfrm>
            <a:off x="4535311" y="5715000"/>
            <a:ext cx="3401483" cy="1152144"/>
          </a:xfrm>
          <a:prstGeom prst="rect">
            <a:avLst/>
          </a:prstGeom>
          <a:solidFill>
            <a:srgbClr val="6C63FF"/>
          </a:solidFill>
          <a:ln/>
        </p:spPr>
      </p:sp>
      <p:sp>
        <p:nvSpPr>
          <p:cNvPr id="13" name="Shape 10"/>
          <p:cNvSpPr/>
          <p:nvPr/>
        </p:nvSpPr>
        <p:spPr>
          <a:xfrm>
            <a:off x="731520" y="1005840"/>
            <a:ext cx="45720" cy="2103120"/>
          </a:xfrm>
          <a:prstGeom prst="rect">
            <a:avLst/>
          </a:prstGeom>
          <a:solidFill>
            <a:srgbClr val="6C63FF"/>
          </a:solidFill>
          <a:ln/>
        </p:spPr>
      </p:sp>
      <p:sp>
        <p:nvSpPr>
          <p:cNvPr id="14" name="Shape 11"/>
          <p:cNvSpPr/>
          <p:nvPr/>
        </p:nvSpPr>
        <p:spPr>
          <a:xfrm>
            <a:off x="804672" y="1005840"/>
            <a:ext cx="13716" cy="2103120"/>
          </a:xfrm>
          <a:prstGeom prst="rect">
            <a:avLst/>
          </a:prstGeom>
          <a:solidFill>
            <a:srgbClr val="6C63FF"/>
          </a:solidFill>
          <a:ln/>
        </p:spPr>
      </p:sp>
      <p:sp>
        <p:nvSpPr>
          <p:cNvPr id="15" name="Text 12"/>
          <p:cNvSpPr/>
          <p:nvPr/>
        </p:nvSpPr>
        <p:spPr>
          <a:xfrm>
            <a:off x="1005840" y="1097280"/>
            <a:ext cx="4572000" cy="256032"/>
          </a:xfrm>
          <a:prstGeom prst="rect">
            <a:avLst/>
          </a:prstGeom>
          <a:noFill/>
          <a:ln/>
        </p:spPr>
        <p:txBody>
          <a:bodyPr wrap="square" rtlCol="0" anchor="ctr"/>
          <a:lstStyle/>
          <a:p>
            <a:pPr indent="0" marL="0">
              <a:buNone/>
            </a:pPr>
            <a:r>
              <a:rPr lang="en-US" sz="1100" b="1" spc="800" kern="0" dirty="0">
                <a:solidFill>
                  <a:srgbClr val="6C63FF"/>
                </a:solidFill>
                <a:latin typeface="Open Sans" pitchFamily="34" charset="0"/>
                <a:ea typeface="Open Sans" pitchFamily="34" charset="-122"/>
                <a:cs typeface="Open Sans" pitchFamily="34" charset="-120"/>
              </a:rPr>
              <a:t>MÓDULO 01</a:t>
            </a:r>
            <a:endParaRPr lang="en-US" sz="1100" dirty="0"/>
          </a:p>
        </p:txBody>
      </p:sp>
      <p:sp>
        <p:nvSpPr>
          <p:cNvPr id="16" name="Shape 13"/>
          <p:cNvSpPr/>
          <p:nvPr/>
        </p:nvSpPr>
        <p:spPr>
          <a:xfrm>
            <a:off x="1005840" y="1481328"/>
            <a:ext cx="1280160" cy="20117"/>
          </a:xfrm>
          <a:prstGeom prst="rect">
            <a:avLst/>
          </a:prstGeom>
          <a:solidFill>
            <a:srgbClr val="6C63FF"/>
          </a:solidFill>
          <a:ln/>
        </p:spPr>
      </p:sp>
      <p:sp>
        <p:nvSpPr>
          <p:cNvPr id="17" name="Text 14"/>
          <p:cNvSpPr/>
          <p:nvPr/>
        </p:nvSpPr>
        <p:spPr>
          <a:xfrm>
            <a:off x="1005840" y="1691640"/>
            <a:ext cx="5669138" cy="2286000"/>
          </a:xfrm>
          <a:prstGeom prst="rect">
            <a:avLst/>
          </a:prstGeom>
          <a:noFill/>
          <a:ln/>
        </p:spPr>
        <p:txBody>
          <a:bodyPr wrap="square" rtlCol="0" anchor="t"/>
          <a:lstStyle/>
          <a:p>
            <a:pPr indent="0" marL="0">
              <a:lnSpc>
                <a:spcPct val="102000"/>
              </a:lnSpc>
              <a:buNone/>
            </a:pPr>
            <a:r>
              <a:rPr lang="en-US" sz="3600" b="1" dirty="0">
                <a:solidFill>
                  <a:srgbClr val="FFFFFF"/>
                </a:solidFill>
                <a:latin typeface="Montserrat" pitchFamily="34" charset="0"/>
                <a:ea typeface="Montserrat" pitchFamily="34" charset="-122"/>
                <a:cs typeface="Montserrat" pitchFamily="34" charset="-120"/>
              </a:rPr>
              <a:t>Desmistificando a Inteligência Artificial para Profissionais Não Técnicos</a:t>
            </a:r>
            <a:endParaRPr lang="en-US" sz="3600" dirty="0"/>
          </a:p>
        </p:txBody>
      </p:sp>
      <p:sp>
        <p:nvSpPr>
          <p:cNvPr id="18" name="Shape 15"/>
          <p:cNvSpPr/>
          <p:nvPr/>
        </p:nvSpPr>
        <p:spPr>
          <a:xfrm>
            <a:off x="1005840" y="4142232"/>
            <a:ext cx="2011680" cy="10973"/>
          </a:xfrm>
          <a:prstGeom prst="rect">
            <a:avLst/>
          </a:prstGeom>
          <a:solidFill>
            <a:srgbClr val="6C63FF"/>
          </a:solidFill>
          <a:ln/>
        </p:spPr>
      </p:sp>
      <p:sp>
        <p:nvSpPr>
          <p:cNvPr id="19" name="Text 16"/>
          <p:cNvSpPr/>
          <p:nvPr/>
        </p:nvSpPr>
        <p:spPr>
          <a:xfrm>
            <a:off x="1005840" y="4251960"/>
            <a:ext cx="4572000" cy="201168"/>
          </a:xfrm>
          <a:prstGeom prst="rect">
            <a:avLst/>
          </a:prstGeom>
          <a:noFill/>
          <a:ln/>
        </p:spPr>
        <p:txBody>
          <a:bodyPr wrap="square" rtlCol="0" anchor="ctr"/>
          <a:lstStyle/>
          <a:p>
            <a:pPr indent="0" marL="0">
              <a:buNone/>
            </a:pPr>
            <a:r>
              <a:rPr lang="en-US" sz="800" b="1" spc="500" kern="0" dirty="0">
                <a:solidFill>
                  <a:srgbClr val="6C63FF"/>
                </a:solidFill>
                <a:latin typeface="Open Sans" pitchFamily="34" charset="0"/>
                <a:ea typeface="Open Sans" pitchFamily="34" charset="-122"/>
                <a:cs typeface="Open Sans" pitchFamily="34" charset="-120"/>
              </a:rPr>
              <a:t>O QUE VOCÊ VAI APRENDER</a:t>
            </a:r>
            <a:endParaRPr lang="en-US" sz="800" dirty="0"/>
          </a:p>
        </p:txBody>
      </p:sp>
      <p:sp>
        <p:nvSpPr>
          <p:cNvPr id="20" name="Shape 17"/>
          <p:cNvSpPr/>
          <p:nvPr/>
        </p:nvSpPr>
        <p:spPr>
          <a:xfrm>
            <a:off x="1005840" y="4590288"/>
            <a:ext cx="109728" cy="109728"/>
          </a:xfrm>
          <a:prstGeom prst="roundRect">
            <a:avLst>
              <a:gd name="adj" fmla="val 16667"/>
            </a:avLst>
          </a:prstGeom>
          <a:solidFill>
            <a:srgbClr val="6C63FF"/>
          </a:solidFill>
          <a:ln/>
        </p:spPr>
      </p:sp>
      <p:sp>
        <p:nvSpPr>
          <p:cNvPr id="21" name="Text 18"/>
          <p:cNvSpPr/>
          <p:nvPr/>
        </p:nvSpPr>
        <p:spPr>
          <a:xfrm>
            <a:off x="1234440" y="4544568"/>
            <a:ext cx="5291196" cy="347472"/>
          </a:xfrm>
          <a:prstGeom prst="rect">
            <a:avLst/>
          </a:prstGeom>
          <a:noFill/>
          <a:ln/>
        </p:spPr>
        <p:txBody>
          <a:bodyPr wrap="square" rtlCol="0" anchor="ctr"/>
          <a:lstStyle/>
          <a:p>
            <a:pPr indent="0" marL="0">
              <a:lnSpc>
                <a:spcPct val="112000"/>
              </a:lnSpc>
              <a:buNone/>
            </a:pPr>
            <a:r>
              <a:rPr lang="en-US" sz="1100" dirty="0">
                <a:solidFill>
                  <a:srgbClr val="94A3C0"/>
                </a:solidFill>
                <a:latin typeface="Open Sans" pitchFamily="34" charset="0"/>
                <a:ea typeface="Open Sans" pitchFamily="34" charset="-122"/>
                <a:cs typeface="Open Sans" pitchFamily="34" charset="-120"/>
              </a:rPr>
              <a:t>Compreender os conceitos fundamentais da Inteligência Artificial (IA).</a:t>
            </a:r>
            <a:endParaRPr lang="en-US" sz="1100" dirty="0"/>
          </a:p>
        </p:txBody>
      </p:sp>
      <p:sp>
        <p:nvSpPr>
          <p:cNvPr id="22" name="Shape 19"/>
          <p:cNvSpPr/>
          <p:nvPr/>
        </p:nvSpPr>
        <p:spPr>
          <a:xfrm>
            <a:off x="1005840" y="4992624"/>
            <a:ext cx="109728" cy="109728"/>
          </a:xfrm>
          <a:prstGeom prst="roundRect">
            <a:avLst>
              <a:gd name="adj" fmla="val 16667"/>
            </a:avLst>
          </a:prstGeom>
          <a:solidFill>
            <a:srgbClr val="6C63FF"/>
          </a:solidFill>
          <a:ln/>
        </p:spPr>
      </p:sp>
      <p:sp>
        <p:nvSpPr>
          <p:cNvPr id="23" name="Text 20"/>
          <p:cNvSpPr/>
          <p:nvPr/>
        </p:nvSpPr>
        <p:spPr>
          <a:xfrm>
            <a:off x="1234440" y="4946904"/>
            <a:ext cx="5291196" cy="347472"/>
          </a:xfrm>
          <a:prstGeom prst="rect">
            <a:avLst/>
          </a:prstGeom>
          <a:noFill/>
          <a:ln/>
        </p:spPr>
        <p:txBody>
          <a:bodyPr wrap="square" rtlCol="0" anchor="ctr"/>
          <a:lstStyle/>
          <a:p>
            <a:pPr indent="0" marL="0">
              <a:lnSpc>
                <a:spcPct val="112000"/>
              </a:lnSpc>
              <a:buNone/>
            </a:pPr>
            <a:r>
              <a:rPr lang="en-US" sz="1100" dirty="0">
                <a:solidFill>
                  <a:srgbClr val="94A3C0"/>
                </a:solidFill>
                <a:latin typeface="Open Sans" pitchFamily="34" charset="0"/>
                <a:ea typeface="Open Sans" pitchFamily="34" charset="-122"/>
                <a:cs typeface="Open Sans" pitchFamily="34" charset="-120"/>
              </a:rPr>
              <a:t>Distinguir os principais tipos de IA e suas aplicações práticas.</a:t>
            </a:r>
            <a:endParaRPr lang="en-US" sz="1100" dirty="0"/>
          </a:p>
        </p:txBody>
      </p:sp>
      <p:sp>
        <p:nvSpPr>
          <p:cNvPr id="24" name="Shape 21"/>
          <p:cNvSpPr/>
          <p:nvPr/>
        </p:nvSpPr>
        <p:spPr>
          <a:xfrm>
            <a:off x="1005840" y="5394960"/>
            <a:ext cx="109728" cy="109728"/>
          </a:xfrm>
          <a:prstGeom prst="roundRect">
            <a:avLst>
              <a:gd name="adj" fmla="val 16667"/>
            </a:avLst>
          </a:prstGeom>
          <a:solidFill>
            <a:srgbClr val="6C63FF"/>
          </a:solidFill>
          <a:ln/>
        </p:spPr>
      </p:sp>
      <p:sp>
        <p:nvSpPr>
          <p:cNvPr id="25" name="Text 22"/>
          <p:cNvSpPr/>
          <p:nvPr/>
        </p:nvSpPr>
        <p:spPr>
          <a:xfrm>
            <a:off x="1234440" y="5349240"/>
            <a:ext cx="5291196" cy="347472"/>
          </a:xfrm>
          <a:prstGeom prst="rect">
            <a:avLst/>
          </a:prstGeom>
          <a:noFill/>
          <a:ln/>
        </p:spPr>
        <p:txBody>
          <a:bodyPr wrap="square" rtlCol="0" anchor="ctr"/>
          <a:lstStyle/>
          <a:p>
            <a:pPr indent="0" marL="0">
              <a:lnSpc>
                <a:spcPct val="112000"/>
              </a:lnSpc>
              <a:buNone/>
            </a:pPr>
            <a:r>
              <a:rPr lang="en-US" sz="1100" dirty="0">
                <a:solidFill>
                  <a:srgbClr val="94A3C0"/>
                </a:solidFill>
                <a:latin typeface="Open Sans" pitchFamily="34" charset="0"/>
                <a:ea typeface="Open Sans" pitchFamily="34" charset="-122"/>
                <a:cs typeface="Open Sans" pitchFamily="34" charset="-120"/>
              </a:rPr>
              <a:t>Identificar o impacto transformador da IA em diversas indústrias e o potencial em sua área.</a:t>
            </a:r>
            <a:endParaRPr lang="en-US" sz="1100" dirty="0"/>
          </a:p>
        </p:txBody>
      </p:sp>
      <p:sp>
        <p:nvSpPr>
          <p:cNvPr id="26" name="Shape 23"/>
          <p:cNvSpPr/>
          <p:nvPr/>
        </p:nvSpPr>
        <p:spPr>
          <a:xfrm>
            <a:off x="731520" y="6446520"/>
            <a:ext cx="542544" cy="7315"/>
          </a:xfrm>
          <a:prstGeom prst="rect">
            <a:avLst/>
          </a:prstGeom>
          <a:solidFill>
            <a:srgbClr val="6C63FF"/>
          </a:solidFill>
          <a:ln/>
        </p:spPr>
      </p:sp>
      <p:sp>
        <p:nvSpPr>
          <p:cNvPr id="27" name="Shape 24"/>
          <p:cNvSpPr/>
          <p:nvPr/>
        </p:nvSpPr>
        <p:spPr>
          <a:xfrm>
            <a:off x="1264920" y="6446520"/>
            <a:ext cx="542544" cy="7315"/>
          </a:xfrm>
          <a:prstGeom prst="rect">
            <a:avLst/>
          </a:prstGeom>
          <a:solidFill>
            <a:srgbClr val="6C63FF"/>
          </a:solidFill>
          <a:ln/>
        </p:spPr>
      </p:sp>
      <p:sp>
        <p:nvSpPr>
          <p:cNvPr id="28" name="Shape 25"/>
          <p:cNvSpPr/>
          <p:nvPr/>
        </p:nvSpPr>
        <p:spPr>
          <a:xfrm>
            <a:off x="1798320" y="6446520"/>
            <a:ext cx="542544" cy="7315"/>
          </a:xfrm>
          <a:prstGeom prst="rect">
            <a:avLst/>
          </a:prstGeom>
          <a:solidFill>
            <a:srgbClr val="6C63FF"/>
          </a:solidFill>
          <a:ln/>
        </p:spPr>
      </p:sp>
      <p:sp>
        <p:nvSpPr>
          <p:cNvPr id="29" name="Shape 26"/>
          <p:cNvSpPr/>
          <p:nvPr/>
        </p:nvSpPr>
        <p:spPr>
          <a:xfrm>
            <a:off x="2331720" y="6446520"/>
            <a:ext cx="542544" cy="7315"/>
          </a:xfrm>
          <a:prstGeom prst="rect">
            <a:avLst/>
          </a:prstGeom>
          <a:solidFill>
            <a:srgbClr val="6C63FF"/>
          </a:solidFill>
          <a:ln/>
        </p:spPr>
      </p:sp>
      <p:sp>
        <p:nvSpPr>
          <p:cNvPr id="30" name="Shape 27"/>
          <p:cNvSpPr/>
          <p:nvPr/>
        </p:nvSpPr>
        <p:spPr>
          <a:xfrm>
            <a:off x="2865120" y="6446520"/>
            <a:ext cx="542544" cy="7315"/>
          </a:xfrm>
          <a:prstGeom prst="rect">
            <a:avLst/>
          </a:prstGeom>
          <a:solidFill>
            <a:srgbClr val="6C63FF"/>
          </a:solidFill>
          <a:ln/>
        </p:spPr>
      </p:sp>
      <p:sp>
        <p:nvSpPr>
          <p:cNvPr id="31" name="Shape 28"/>
          <p:cNvSpPr/>
          <p:nvPr/>
        </p:nvSpPr>
        <p:spPr>
          <a:xfrm>
            <a:off x="3398520" y="6446520"/>
            <a:ext cx="542544" cy="7315"/>
          </a:xfrm>
          <a:prstGeom prst="rect">
            <a:avLst/>
          </a:prstGeom>
          <a:solidFill>
            <a:srgbClr val="6C63FF"/>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Shape 1"/>
          <p:cNvSpPr/>
          <p:nvPr/>
        </p:nvSpPr>
        <p:spPr>
          <a:xfrm>
            <a:off x="64008" y="0"/>
            <a:ext cx="18288" cy="6858000"/>
          </a:xfrm>
          <a:prstGeom prst="rect">
            <a:avLst/>
          </a:prstGeom>
          <a:solidFill>
            <a:srgbClr val="10B981"/>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10B981"/>
                </a:solidFill>
                <a:latin typeface="Open Sans" pitchFamily="34" charset="0"/>
                <a:ea typeface="Open Sans" pitchFamily="34" charset="-122"/>
                <a:cs typeface="Open Sans" pitchFamily="34" charset="-120"/>
              </a:rPr>
              <a:t>FUNDAMENTOS</a:t>
            </a:r>
            <a:endParaRPr lang="en-US" sz="900" dirty="0"/>
          </a:p>
        </p:txBody>
      </p:sp>
      <p:sp>
        <p:nvSpPr>
          <p:cNvPr id="5" name="Shape 3"/>
          <p:cNvSpPr/>
          <p:nvPr/>
        </p:nvSpPr>
        <p:spPr>
          <a:xfrm>
            <a:off x="502920" y="493776"/>
            <a:ext cx="640080" cy="21946"/>
          </a:xfrm>
          <a:prstGeom prst="rect">
            <a:avLst/>
          </a:prstGeom>
          <a:solidFill>
            <a:srgbClr val="10B981"/>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Fundamentos</a:t>
            </a:r>
            <a:endParaRPr lang="en-US" sz="2800" dirty="0"/>
          </a:p>
        </p:txBody>
      </p:sp>
      <p:sp>
        <p:nvSpPr>
          <p:cNvPr id="7" name="Shape 5"/>
          <p:cNvSpPr/>
          <p:nvPr/>
        </p:nvSpPr>
        <p:spPr>
          <a:xfrm>
            <a:off x="502920" y="1389888"/>
            <a:ext cx="11185855" cy="7315"/>
          </a:xfrm>
          <a:prstGeom prst="rect">
            <a:avLst/>
          </a:prstGeom>
          <a:solidFill>
            <a:srgbClr val="10B981"/>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621792" y="1572768"/>
            <a:ext cx="11140135" cy="1188720"/>
          </a:xfrm>
          <a:prstGeom prst="roundRect">
            <a:avLst>
              <a:gd name="adj" fmla="val 7692"/>
            </a:avLst>
          </a:prstGeom>
          <a:solidFill>
            <a:srgbClr val="000000"/>
          </a:solidFill>
          <a:ln/>
        </p:spPr>
      </p:sp>
      <p:sp>
        <p:nvSpPr>
          <p:cNvPr id="10" name="Shape 8"/>
          <p:cNvSpPr/>
          <p:nvPr/>
        </p:nvSpPr>
        <p:spPr>
          <a:xfrm>
            <a:off x="594360" y="1536192"/>
            <a:ext cx="11140135" cy="1188720"/>
          </a:xfrm>
          <a:prstGeom prst="roundRect">
            <a:avLst>
              <a:gd name="adj" fmla="val 7692"/>
            </a:avLst>
          </a:prstGeom>
          <a:solidFill>
            <a:srgbClr val="050A18"/>
          </a:solidFill>
          <a:ln/>
        </p:spPr>
      </p:sp>
      <p:sp>
        <p:nvSpPr>
          <p:cNvPr id="11" name="Shape 9"/>
          <p:cNvSpPr/>
          <p:nvPr/>
        </p:nvSpPr>
        <p:spPr>
          <a:xfrm>
            <a:off x="594360" y="1536192"/>
            <a:ext cx="54864" cy="1188720"/>
          </a:xfrm>
          <a:prstGeom prst="rect">
            <a:avLst>
              <a:gd name="adj" fmla="val 166667"/>
            </a:avLst>
          </a:prstGeom>
          <a:solidFill>
            <a:srgbClr val="10B981"/>
          </a:solidFill>
          <a:ln/>
        </p:spPr>
      </p:sp>
      <p:sp>
        <p:nvSpPr>
          <p:cNvPr id="12" name="Text 10"/>
          <p:cNvSpPr/>
          <p:nvPr/>
        </p:nvSpPr>
        <p:spPr>
          <a:xfrm>
            <a:off x="685800" y="1444752"/>
            <a:ext cx="457200" cy="548640"/>
          </a:xfrm>
          <a:prstGeom prst="rect">
            <a:avLst/>
          </a:prstGeom>
          <a:noFill/>
          <a:ln/>
        </p:spPr>
        <p:txBody>
          <a:bodyPr wrap="square" rtlCol="0" anchor="ctr"/>
          <a:lstStyle/>
          <a:p>
            <a:pPr indent="0" marL="0">
              <a:buNone/>
            </a:pPr>
            <a:r>
              <a:rPr lang="en-US" sz="4800" b="1" dirty="0">
                <a:solidFill>
                  <a:srgbClr val="10B981">
                    <a:alpha val="75000"/>
                  </a:srgbClr>
                </a:solidFill>
                <a:latin typeface="Montserrat" pitchFamily="34" charset="0"/>
                <a:ea typeface="Montserrat" pitchFamily="34" charset="-122"/>
                <a:cs typeface="Montserrat" pitchFamily="34" charset="-120"/>
              </a:rPr>
              <a:t>“</a:t>
            </a:r>
            <a:endParaRPr lang="en-US" sz="4800" dirty="0"/>
          </a:p>
        </p:txBody>
      </p:sp>
      <p:sp>
        <p:nvSpPr>
          <p:cNvPr id="13" name="Text 11"/>
          <p:cNvSpPr/>
          <p:nvPr/>
        </p:nvSpPr>
        <p:spPr>
          <a:xfrm>
            <a:off x="868680" y="1572768"/>
            <a:ext cx="10682935" cy="1097280"/>
          </a:xfrm>
          <a:prstGeom prst="rect">
            <a:avLst/>
          </a:prstGeom>
          <a:noFill/>
          <a:ln/>
        </p:spPr>
        <p:txBody>
          <a:bodyPr wrap="square" rtlCol="0" anchor="ctr"/>
          <a:lstStyle/>
          <a:p>
            <a:pPr indent="0" marL="0">
              <a:lnSpc>
                <a:spcPct val="135000"/>
              </a:lnSpc>
              <a:buNone/>
            </a:pPr>
            <a:r>
              <a:rPr lang="en-US" sz="1900" i="1" dirty="0">
                <a:solidFill>
                  <a:srgbClr val="FFFFFF"/>
                </a:solidFill>
                <a:latin typeface="Open Sans" pitchFamily="34" charset="0"/>
                <a:ea typeface="Open Sans" pitchFamily="34" charset="-122"/>
                <a:cs typeface="Open Sans" pitchFamily="34" charset="-120"/>
              </a:rPr>
              <a:t>A Inteligência Artificial (IA) é um campo da ciência da computação.</a:t>
            </a:r>
            <a:endParaRPr lang="en-US" sz="1900" dirty="0"/>
          </a:p>
        </p:txBody>
      </p:sp>
      <p:sp>
        <p:nvSpPr>
          <p:cNvPr id="14" name="Shape 12"/>
          <p:cNvSpPr/>
          <p:nvPr/>
        </p:nvSpPr>
        <p:spPr>
          <a:xfrm>
            <a:off x="621792" y="2980944"/>
            <a:ext cx="3615842" cy="3502152"/>
          </a:xfrm>
          <a:prstGeom prst="roundRect">
            <a:avLst>
              <a:gd name="adj" fmla="val 2611"/>
            </a:avLst>
          </a:prstGeom>
          <a:solidFill>
            <a:srgbClr val="000000"/>
          </a:solidFill>
          <a:ln/>
        </p:spPr>
      </p:sp>
      <p:sp>
        <p:nvSpPr>
          <p:cNvPr id="15" name="Shape 13"/>
          <p:cNvSpPr/>
          <p:nvPr/>
        </p:nvSpPr>
        <p:spPr>
          <a:xfrm>
            <a:off x="594360" y="2944368"/>
            <a:ext cx="3615842" cy="3502152"/>
          </a:xfrm>
          <a:prstGeom prst="roundRect">
            <a:avLst>
              <a:gd name="adj" fmla="val 2089"/>
            </a:avLst>
          </a:prstGeom>
          <a:solidFill>
            <a:srgbClr val="141E34"/>
          </a:solidFill>
          <a:ln/>
        </p:spPr>
      </p:sp>
      <p:sp>
        <p:nvSpPr>
          <p:cNvPr id="16" name="Shape 14"/>
          <p:cNvSpPr/>
          <p:nvPr/>
        </p:nvSpPr>
        <p:spPr>
          <a:xfrm>
            <a:off x="594360" y="2944368"/>
            <a:ext cx="3615842" cy="45720"/>
          </a:xfrm>
          <a:prstGeom prst="rect">
            <a:avLst>
              <a:gd name="adj" fmla="val 160000"/>
            </a:avLst>
          </a:prstGeom>
          <a:solidFill>
            <a:srgbClr val="6C63FF"/>
          </a:solidFill>
          <a:ln/>
        </p:spPr>
      </p:sp>
      <p:sp>
        <p:nvSpPr>
          <p:cNvPr id="17" name="Shape 15"/>
          <p:cNvSpPr/>
          <p:nvPr/>
        </p:nvSpPr>
        <p:spPr>
          <a:xfrm>
            <a:off x="685800" y="3072384"/>
            <a:ext cx="310896" cy="310896"/>
          </a:xfrm>
          <a:prstGeom prst="roundRect">
            <a:avLst>
              <a:gd name="adj" fmla="val 17647"/>
            </a:avLst>
          </a:prstGeom>
          <a:solidFill>
            <a:srgbClr val="6C63FF"/>
          </a:solidFill>
          <a:ln/>
        </p:spPr>
      </p:sp>
      <p:sp>
        <p:nvSpPr>
          <p:cNvPr id="18" name="Text 16"/>
          <p:cNvSpPr/>
          <p:nvPr/>
        </p:nvSpPr>
        <p:spPr>
          <a:xfrm>
            <a:off x="685800" y="3072384"/>
            <a:ext cx="310896" cy="310896"/>
          </a:xfrm>
          <a:prstGeom prst="rect">
            <a:avLst/>
          </a:prstGeom>
          <a:noFill/>
          <a:ln/>
        </p:spPr>
        <p:txBody>
          <a:bodyPr wrap="square"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2</a:t>
            </a:r>
            <a:endParaRPr lang="en-US" sz="1500" dirty="0"/>
          </a:p>
        </p:txBody>
      </p:sp>
      <p:sp>
        <p:nvSpPr>
          <p:cNvPr id="19" name="Text 17"/>
          <p:cNvSpPr/>
          <p:nvPr/>
        </p:nvSpPr>
        <p:spPr>
          <a:xfrm>
            <a:off x="722376" y="3447288"/>
            <a:ext cx="3359810" cy="2953512"/>
          </a:xfrm>
          <a:prstGeom prst="rect">
            <a:avLst/>
          </a:prstGeom>
          <a:noFill/>
          <a:ln/>
        </p:spPr>
        <p:txBody>
          <a:bodyPr wrap="square" rtlCol="0" anchor="t"/>
          <a:lstStyle/>
          <a:p>
            <a:pPr indent="0" marL="0">
              <a:lnSpc>
                <a:spcPct val="122000"/>
              </a:lnSpc>
              <a:buNone/>
            </a:pPr>
            <a:r>
              <a:rPr lang="en-US" sz="1300" dirty="0">
                <a:solidFill>
                  <a:srgbClr val="E8EDF5"/>
                </a:solidFill>
                <a:latin typeface="Open Sans" pitchFamily="34" charset="0"/>
                <a:ea typeface="Open Sans" pitchFamily="34" charset="-122"/>
                <a:cs typeface="Open Sans" pitchFamily="34" charset="-120"/>
              </a:rPr>
              <a:t>Ela foca na criação de sistemas capazes de realizar tarefas que, tipicamente, exigiriam inteligência humana.</a:t>
            </a:r>
            <a:endParaRPr lang="en-US" sz="1300" dirty="0"/>
          </a:p>
        </p:txBody>
      </p:sp>
      <p:sp>
        <p:nvSpPr>
          <p:cNvPr id="20" name="Shape 18"/>
          <p:cNvSpPr/>
          <p:nvPr/>
        </p:nvSpPr>
        <p:spPr>
          <a:xfrm>
            <a:off x="4383938" y="2980944"/>
            <a:ext cx="3615842" cy="3502152"/>
          </a:xfrm>
          <a:prstGeom prst="roundRect">
            <a:avLst>
              <a:gd name="adj" fmla="val 2611"/>
            </a:avLst>
          </a:prstGeom>
          <a:solidFill>
            <a:srgbClr val="000000"/>
          </a:solidFill>
          <a:ln/>
        </p:spPr>
      </p:sp>
      <p:sp>
        <p:nvSpPr>
          <p:cNvPr id="21" name="Shape 19"/>
          <p:cNvSpPr/>
          <p:nvPr/>
        </p:nvSpPr>
        <p:spPr>
          <a:xfrm>
            <a:off x="4356506" y="2944368"/>
            <a:ext cx="3615842" cy="3502152"/>
          </a:xfrm>
          <a:prstGeom prst="roundRect">
            <a:avLst>
              <a:gd name="adj" fmla="val 2089"/>
            </a:avLst>
          </a:prstGeom>
          <a:solidFill>
            <a:srgbClr val="141E34"/>
          </a:solidFill>
          <a:ln/>
        </p:spPr>
      </p:sp>
      <p:sp>
        <p:nvSpPr>
          <p:cNvPr id="22" name="Shape 20"/>
          <p:cNvSpPr/>
          <p:nvPr/>
        </p:nvSpPr>
        <p:spPr>
          <a:xfrm>
            <a:off x="4356506" y="2944368"/>
            <a:ext cx="3615842" cy="45720"/>
          </a:xfrm>
          <a:prstGeom prst="rect">
            <a:avLst>
              <a:gd name="adj" fmla="val 160000"/>
            </a:avLst>
          </a:prstGeom>
          <a:solidFill>
            <a:srgbClr val="3B82F6"/>
          </a:solidFill>
          <a:ln/>
        </p:spPr>
      </p:sp>
      <p:sp>
        <p:nvSpPr>
          <p:cNvPr id="23" name="Shape 21"/>
          <p:cNvSpPr/>
          <p:nvPr/>
        </p:nvSpPr>
        <p:spPr>
          <a:xfrm>
            <a:off x="4447946" y="3072384"/>
            <a:ext cx="310896" cy="310896"/>
          </a:xfrm>
          <a:prstGeom prst="roundRect">
            <a:avLst>
              <a:gd name="adj" fmla="val 17647"/>
            </a:avLst>
          </a:prstGeom>
          <a:solidFill>
            <a:srgbClr val="3B82F6"/>
          </a:solidFill>
          <a:ln/>
        </p:spPr>
      </p:sp>
      <p:sp>
        <p:nvSpPr>
          <p:cNvPr id="24" name="Text 22"/>
          <p:cNvSpPr/>
          <p:nvPr/>
        </p:nvSpPr>
        <p:spPr>
          <a:xfrm>
            <a:off x="4447946" y="3072384"/>
            <a:ext cx="310896" cy="310896"/>
          </a:xfrm>
          <a:prstGeom prst="rect">
            <a:avLst/>
          </a:prstGeom>
          <a:noFill/>
          <a:ln/>
        </p:spPr>
        <p:txBody>
          <a:bodyPr wrap="square"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3</a:t>
            </a:r>
            <a:endParaRPr lang="en-US" sz="1500" dirty="0"/>
          </a:p>
        </p:txBody>
      </p:sp>
      <p:sp>
        <p:nvSpPr>
          <p:cNvPr id="25" name="Text 23"/>
          <p:cNvSpPr/>
          <p:nvPr/>
        </p:nvSpPr>
        <p:spPr>
          <a:xfrm>
            <a:off x="4484522" y="3447288"/>
            <a:ext cx="3359810" cy="2953512"/>
          </a:xfrm>
          <a:prstGeom prst="rect">
            <a:avLst/>
          </a:prstGeom>
          <a:noFill/>
          <a:ln/>
        </p:spPr>
        <p:txBody>
          <a:bodyPr wrap="square" rtlCol="0" anchor="t"/>
          <a:lstStyle/>
          <a:p>
            <a:pPr indent="0" marL="0">
              <a:lnSpc>
                <a:spcPct val="122000"/>
              </a:lnSpc>
              <a:buNone/>
            </a:pPr>
            <a:r>
              <a:rPr lang="en-US" sz="1300" dirty="0">
                <a:solidFill>
                  <a:srgbClr val="E8EDF5"/>
                </a:solidFill>
                <a:latin typeface="Open Sans" pitchFamily="34" charset="0"/>
                <a:ea typeface="Open Sans" pitchFamily="34" charset="-122"/>
                <a:cs typeface="Open Sans" pitchFamily="34" charset="-120"/>
              </a:rPr>
              <a:t>Isso envolve desenvolver algoritmos que permitem às máquinas aprender, raciocinar, perceber, compreender e agir. O objetivo é alcançar metas específicas.</a:t>
            </a:r>
            <a:endParaRPr lang="en-US" sz="1300" dirty="0"/>
          </a:p>
        </p:txBody>
      </p:sp>
      <p:sp>
        <p:nvSpPr>
          <p:cNvPr id="26" name="Shape 24"/>
          <p:cNvSpPr/>
          <p:nvPr/>
        </p:nvSpPr>
        <p:spPr>
          <a:xfrm>
            <a:off x="8146085" y="2980944"/>
            <a:ext cx="3615842" cy="3502152"/>
          </a:xfrm>
          <a:prstGeom prst="roundRect">
            <a:avLst>
              <a:gd name="adj" fmla="val 2611"/>
            </a:avLst>
          </a:prstGeom>
          <a:solidFill>
            <a:srgbClr val="000000"/>
          </a:solidFill>
          <a:ln/>
        </p:spPr>
      </p:sp>
      <p:sp>
        <p:nvSpPr>
          <p:cNvPr id="27" name="Shape 25"/>
          <p:cNvSpPr/>
          <p:nvPr/>
        </p:nvSpPr>
        <p:spPr>
          <a:xfrm>
            <a:off x="8118653" y="2944368"/>
            <a:ext cx="3615842" cy="3502152"/>
          </a:xfrm>
          <a:prstGeom prst="roundRect">
            <a:avLst>
              <a:gd name="adj" fmla="val 2089"/>
            </a:avLst>
          </a:prstGeom>
          <a:solidFill>
            <a:srgbClr val="141E34"/>
          </a:solidFill>
          <a:ln/>
        </p:spPr>
      </p:sp>
      <p:sp>
        <p:nvSpPr>
          <p:cNvPr id="28" name="Shape 26"/>
          <p:cNvSpPr/>
          <p:nvPr/>
        </p:nvSpPr>
        <p:spPr>
          <a:xfrm>
            <a:off x="8118653" y="2944368"/>
            <a:ext cx="3615842" cy="45720"/>
          </a:xfrm>
          <a:prstGeom prst="rect">
            <a:avLst>
              <a:gd name="adj" fmla="val 160000"/>
            </a:avLst>
          </a:prstGeom>
          <a:solidFill>
            <a:srgbClr val="10B981"/>
          </a:solidFill>
          <a:ln/>
        </p:spPr>
      </p:sp>
      <p:sp>
        <p:nvSpPr>
          <p:cNvPr id="29" name="Shape 27"/>
          <p:cNvSpPr/>
          <p:nvPr/>
        </p:nvSpPr>
        <p:spPr>
          <a:xfrm>
            <a:off x="8210093" y="3072384"/>
            <a:ext cx="310896" cy="310896"/>
          </a:xfrm>
          <a:prstGeom prst="roundRect">
            <a:avLst>
              <a:gd name="adj" fmla="val 17647"/>
            </a:avLst>
          </a:prstGeom>
          <a:solidFill>
            <a:srgbClr val="10B981"/>
          </a:solidFill>
          <a:ln/>
        </p:spPr>
      </p:sp>
      <p:sp>
        <p:nvSpPr>
          <p:cNvPr id="30" name="Text 28"/>
          <p:cNvSpPr/>
          <p:nvPr/>
        </p:nvSpPr>
        <p:spPr>
          <a:xfrm>
            <a:off x="8210093" y="3072384"/>
            <a:ext cx="310896" cy="310896"/>
          </a:xfrm>
          <a:prstGeom prst="rect">
            <a:avLst/>
          </a:prstGeom>
          <a:noFill/>
          <a:ln/>
        </p:spPr>
        <p:txBody>
          <a:bodyPr wrap="square"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4</a:t>
            </a:r>
            <a:endParaRPr lang="en-US" sz="1500" dirty="0"/>
          </a:p>
        </p:txBody>
      </p:sp>
      <p:sp>
        <p:nvSpPr>
          <p:cNvPr id="31" name="Text 29"/>
          <p:cNvSpPr/>
          <p:nvPr/>
        </p:nvSpPr>
        <p:spPr>
          <a:xfrm>
            <a:off x="8246669" y="3447288"/>
            <a:ext cx="3359810" cy="2953512"/>
          </a:xfrm>
          <a:prstGeom prst="rect">
            <a:avLst/>
          </a:prstGeom>
          <a:noFill/>
          <a:ln/>
        </p:spPr>
        <p:txBody>
          <a:bodyPr wrap="square" rtlCol="0" anchor="t"/>
          <a:lstStyle/>
          <a:p>
            <a:pPr indent="0" marL="0">
              <a:lnSpc>
                <a:spcPct val="122000"/>
              </a:lnSpc>
              <a:buNone/>
            </a:pPr>
            <a:r>
              <a:rPr lang="en-US" sz="1300" dirty="0">
                <a:solidFill>
                  <a:srgbClr val="E8EDF5"/>
                </a:solidFill>
                <a:latin typeface="Open Sans" pitchFamily="34" charset="0"/>
                <a:ea typeface="Open Sans" pitchFamily="34" charset="-122"/>
                <a:cs typeface="Open Sans" pitchFamily="34" charset="-120"/>
              </a:rPr>
              <a:t>A IA busca aumentar e complementar a inteligência humana. Ela automatiza tarefas repetitivas e complexas, além de identificar padrões difíceis para humanos.</a:t>
            </a:r>
            <a:endParaRPr lang="en-US" sz="1300" dirty="0"/>
          </a:p>
        </p:txBody>
      </p:sp>
      <p:sp>
        <p:nvSpPr>
          <p:cNvPr id="32" name="Shape 30"/>
          <p:cNvSpPr/>
          <p:nvPr/>
        </p:nvSpPr>
        <p:spPr>
          <a:xfrm>
            <a:off x="0" y="6601968"/>
            <a:ext cx="2041093" cy="4572"/>
          </a:xfrm>
          <a:prstGeom prst="rect">
            <a:avLst/>
          </a:prstGeom>
          <a:solidFill>
            <a:srgbClr val="6C63FF"/>
          </a:solidFill>
          <a:ln/>
        </p:spPr>
      </p:sp>
      <p:sp>
        <p:nvSpPr>
          <p:cNvPr id="33" name="Shape 31"/>
          <p:cNvSpPr/>
          <p:nvPr/>
        </p:nvSpPr>
        <p:spPr>
          <a:xfrm>
            <a:off x="2031949" y="6601968"/>
            <a:ext cx="2041093" cy="4572"/>
          </a:xfrm>
          <a:prstGeom prst="rect">
            <a:avLst/>
          </a:prstGeom>
          <a:solidFill>
            <a:srgbClr val="6C63FF"/>
          </a:solidFill>
          <a:ln/>
        </p:spPr>
      </p:sp>
      <p:sp>
        <p:nvSpPr>
          <p:cNvPr id="34" name="Shape 32"/>
          <p:cNvSpPr/>
          <p:nvPr/>
        </p:nvSpPr>
        <p:spPr>
          <a:xfrm>
            <a:off x="4063898" y="6601968"/>
            <a:ext cx="2041093" cy="4572"/>
          </a:xfrm>
          <a:prstGeom prst="rect">
            <a:avLst/>
          </a:prstGeom>
          <a:solidFill>
            <a:srgbClr val="6C63FF"/>
          </a:solidFill>
          <a:ln/>
        </p:spPr>
      </p:sp>
      <p:sp>
        <p:nvSpPr>
          <p:cNvPr id="35" name="Shape 33"/>
          <p:cNvSpPr/>
          <p:nvPr/>
        </p:nvSpPr>
        <p:spPr>
          <a:xfrm>
            <a:off x="6095848" y="6601968"/>
            <a:ext cx="2041093" cy="4572"/>
          </a:xfrm>
          <a:prstGeom prst="rect">
            <a:avLst/>
          </a:prstGeom>
          <a:solidFill>
            <a:srgbClr val="6C63FF"/>
          </a:solidFill>
          <a:ln/>
        </p:spPr>
      </p:sp>
      <p:sp>
        <p:nvSpPr>
          <p:cNvPr id="36" name="Shape 34"/>
          <p:cNvSpPr/>
          <p:nvPr/>
        </p:nvSpPr>
        <p:spPr>
          <a:xfrm>
            <a:off x="8127797" y="6601968"/>
            <a:ext cx="2041093" cy="4572"/>
          </a:xfrm>
          <a:prstGeom prst="rect">
            <a:avLst/>
          </a:prstGeom>
          <a:solidFill>
            <a:srgbClr val="6C63FF"/>
          </a:solidFill>
          <a:ln/>
        </p:spPr>
      </p:sp>
      <p:sp>
        <p:nvSpPr>
          <p:cNvPr id="37" name="Shape 35"/>
          <p:cNvSpPr/>
          <p:nvPr/>
        </p:nvSpPr>
        <p:spPr>
          <a:xfrm>
            <a:off x="10159746" y="6601968"/>
            <a:ext cx="2041093" cy="4572"/>
          </a:xfrm>
          <a:prstGeom prst="rect">
            <a:avLst/>
          </a:prstGeom>
          <a:solidFill>
            <a:srgbClr val="6C63FF"/>
          </a:solidFill>
          <a:ln/>
        </p:spPr>
      </p:sp>
      <p:sp>
        <p:nvSpPr>
          <p:cNvPr id="38" name="Shape 36"/>
          <p:cNvSpPr/>
          <p:nvPr/>
        </p:nvSpPr>
        <p:spPr>
          <a:xfrm>
            <a:off x="0" y="6606540"/>
            <a:ext cx="12191695" cy="2743"/>
          </a:xfrm>
          <a:prstGeom prst="rect">
            <a:avLst/>
          </a:prstGeom>
          <a:solidFill>
            <a:srgbClr val="222E48"/>
          </a:solidFill>
          <a:ln/>
        </p:spPr>
      </p:sp>
      <p:sp>
        <p:nvSpPr>
          <p:cNvPr id="39" name="Text 37"/>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40" name="Shape 38"/>
          <p:cNvSpPr/>
          <p:nvPr/>
        </p:nvSpPr>
        <p:spPr>
          <a:xfrm>
            <a:off x="10436047" y="6693408"/>
            <a:ext cx="73152" cy="73152"/>
          </a:xfrm>
          <a:prstGeom prst="ellipse">
            <a:avLst/>
          </a:prstGeom>
          <a:solidFill>
            <a:srgbClr val="6C63FF"/>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F59E0B"/>
          </a:solidFill>
          <a:ln/>
        </p:spPr>
      </p:sp>
      <p:sp>
        <p:nvSpPr>
          <p:cNvPr id="3" name="Shape 1"/>
          <p:cNvSpPr/>
          <p:nvPr/>
        </p:nvSpPr>
        <p:spPr>
          <a:xfrm>
            <a:off x="64008" y="0"/>
            <a:ext cx="18288" cy="6858000"/>
          </a:xfrm>
          <a:prstGeom prst="rect">
            <a:avLst/>
          </a:prstGeom>
          <a:solidFill>
            <a:srgbClr val="F59E0B"/>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F59E0B"/>
                </a:solidFill>
                <a:latin typeface="Open Sans" pitchFamily="34" charset="0"/>
                <a:ea typeface="Open Sans" pitchFamily="34" charset="-122"/>
                <a:cs typeface="Open Sans" pitchFamily="34" charset="-120"/>
              </a:rPr>
              <a:t>FUNDAMENTOS</a:t>
            </a:r>
            <a:endParaRPr lang="en-US" sz="900" dirty="0"/>
          </a:p>
        </p:txBody>
      </p:sp>
      <p:sp>
        <p:nvSpPr>
          <p:cNvPr id="5" name="Shape 3"/>
          <p:cNvSpPr/>
          <p:nvPr/>
        </p:nvSpPr>
        <p:spPr>
          <a:xfrm>
            <a:off x="502920" y="493776"/>
            <a:ext cx="640080" cy="21946"/>
          </a:xfrm>
          <a:prstGeom prst="rect">
            <a:avLst/>
          </a:prstGeom>
          <a:solidFill>
            <a:srgbClr val="F59E0B"/>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Fundamentos (Parte 2)</a:t>
            </a:r>
            <a:endParaRPr lang="en-US" sz="2800" dirty="0"/>
          </a:p>
        </p:txBody>
      </p:sp>
      <p:sp>
        <p:nvSpPr>
          <p:cNvPr id="7" name="Shape 5"/>
          <p:cNvSpPr/>
          <p:nvPr/>
        </p:nvSpPr>
        <p:spPr>
          <a:xfrm>
            <a:off x="502920" y="1389888"/>
            <a:ext cx="11185855" cy="7315"/>
          </a:xfrm>
          <a:prstGeom prst="rect">
            <a:avLst/>
          </a:prstGeom>
          <a:solidFill>
            <a:srgbClr val="F59E0B"/>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621792" y="1572768"/>
            <a:ext cx="3603650" cy="2286000"/>
          </a:xfrm>
          <a:prstGeom prst="roundRect">
            <a:avLst>
              <a:gd name="adj" fmla="val 4000"/>
            </a:avLst>
          </a:prstGeom>
          <a:solidFill>
            <a:srgbClr val="000000"/>
          </a:solidFill>
          <a:ln/>
        </p:spPr>
      </p:sp>
      <p:sp>
        <p:nvSpPr>
          <p:cNvPr id="10" name="Shape 8"/>
          <p:cNvSpPr/>
          <p:nvPr/>
        </p:nvSpPr>
        <p:spPr>
          <a:xfrm>
            <a:off x="594360" y="1536192"/>
            <a:ext cx="3603650" cy="2286000"/>
          </a:xfrm>
          <a:prstGeom prst="roundRect">
            <a:avLst>
              <a:gd name="adj" fmla="val 4000"/>
            </a:avLst>
          </a:prstGeom>
          <a:solidFill>
            <a:srgbClr val="141E34"/>
          </a:solidFill>
          <a:ln/>
        </p:spPr>
      </p:sp>
      <p:sp>
        <p:nvSpPr>
          <p:cNvPr id="11" name="Shape 9"/>
          <p:cNvSpPr/>
          <p:nvPr/>
        </p:nvSpPr>
        <p:spPr>
          <a:xfrm>
            <a:off x="594360" y="1536192"/>
            <a:ext cx="3603650" cy="45720"/>
          </a:xfrm>
          <a:prstGeom prst="rect">
            <a:avLst>
              <a:gd name="adj" fmla="val 200000"/>
            </a:avLst>
          </a:prstGeom>
          <a:solidFill>
            <a:srgbClr val="6C63FF"/>
          </a:solidFill>
          <a:ln/>
        </p:spPr>
      </p:sp>
      <p:sp>
        <p:nvSpPr>
          <p:cNvPr id="12" name="Text 10"/>
          <p:cNvSpPr/>
          <p:nvPr/>
        </p:nvSpPr>
        <p:spPr>
          <a:xfrm>
            <a:off x="3603650" y="1627632"/>
            <a:ext cx="502920" cy="365760"/>
          </a:xfrm>
          <a:prstGeom prst="rect">
            <a:avLst/>
          </a:prstGeom>
          <a:noFill/>
          <a:ln/>
        </p:spPr>
        <p:txBody>
          <a:bodyPr wrap="square" rtlCol="0" anchor="ctr"/>
          <a:lstStyle/>
          <a:p>
            <a:pPr algn="r" indent="0" marL="0">
              <a:buNone/>
            </a:pPr>
            <a:r>
              <a:rPr lang="en-US" sz="2400" b="1" dirty="0">
                <a:solidFill>
                  <a:srgbClr val="6C63FF">
                    <a:alpha val="75000"/>
                  </a:srgbClr>
                </a:solidFill>
                <a:latin typeface="Montserrat" pitchFamily="34" charset="0"/>
                <a:ea typeface="Montserrat" pitchFamily="34" charset="-122"/>
                <a:cs typeface="Montserrat" pitchFamily="34" charset="-120"/>
              </a:rPr>
              <a:t>01</a:t>
            </a:r>
            <a:endParaRPr lang="en-US" sz="2400" dirty="0"/>
          </a:p>
        </p:txBody>
      </p:sp>
      <p:sp>
        <p:nvSpPr>
          <p:cNvPr id="13" name="Text 11"/>
          <p:cNvSpPr/>
          <p:nvPr/>
        </p:nvSpPr>
        <p:spPr>
          <a:xfrm>
            <a:off x="722376" y="1682496"/>
            <a:ext cx="2835554" cy="201168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A IA replica capacidades cognitivas humanas em máquinas, como aprendizado e tomada de decisões.</a:t>
            </a:r>
            <a:endParaRPr lang="en-US" sz="1300" dirty="0"/>
          </a:p>
        </p:txBody>
      </p:sp>
      <p:sp>
        <p:nvSpPr>
          <p:cNvPr id="14" name="Shape 12"/>
          <p:cNvSpPr/>
          <p:nvPr/>
        </p:nvSpPr>
        <p:spPr>
          <a:xfrm>
            <a:off x="4390034" y="1572768"/>
            <a:ext cx="3603650" cy="2286000"/>
          </a:xfrm>
          <a:prstGeom prst="roundRect">
            <a:avLst>
              <a:gd name="adj" fmla="val 4000"/>
            </a:avLst>
          </a:prstGeom>
          <a:solidFill>
            <a:srgbClr val="000000"/>
          </a:solidFill>
          <a:ln/>
        </p:spPr>
      </p:sp>
      <p:sp>
        <p:nvSpPr>
          <p:cNvPr id="15" name="Shape 13"/>
          <p:cNvSpPr/>
          <p:nvPr/>
        </p:nvSpPr>
        <p:spPr>
          <a:xfrm>
            <a:off x="4362602" y="1536192"/>
            <a:ext cx="3603650" cy="2286000"/>
          </a:xfrm>
          <a:prstGeom prst="roundRect">
            <a:avLst>
              <a:gd name="adj" fmla="val 4000"/>
            </a:avLst>
          </a:prstGeom>
          <a:solidFill>
            <a:srgbClr val="141E34"/>
          </a:solidFill>
          <a:ln/>
        </p:spPr>
      </p:sp>
      <p:sp>
        <p:nvSpPr>
          <p:cNvPr id="16" name="Shape 14"/>
          <p:cNvSpPr/>
          <p:nvPr/>
        </p:nvSpPr>
        <p:spPr>
          <a:xfrm>
            <a:off x="4362602" y="1536192"/>
            <a:ext cx="3603650" cy="45720"/>
          </a:xfrm>
          <a:prstGeom prst="rect">
            <a:avLst>
              <a:gd name="adj" fmla="val 200000"/>
            </a:avLst>
          </a:prstGeom>
          <a:solidFill>
            <a:srgbClr val="3B82F6"/>
          </a:solidFill>
          <a:ln/>
        </p:spPr>
      </p:sp>
      <p:sp>
        <p:nvSpPr>
          <p:cNvPr id="17" name="Text 15"/>
          <p:cNvSpPr/>
          <p:nvPr/>
        </p:nvSpPr>
        <p:spPr>
          <a:xfrm>
            <a:off x="7371893" y="1627632"/>
            <a:ext cx="502920" cy="365760"/>
          </a:xfrm>
          <a:prstGeom prst="rect">
            <a:avLst/>
          </a:prstGeom>
          <a:noFill/>
          <a:ln/>
        </p:spPr>
        <p:txBody>
          <a:bodyPr wrap="square" rtlCol="0" anchor="ctr"/>
          <a:lstStyle/>
          <a:p>
            <a:pPr algn="r" indent="0" marL="0">
              <a:buNone/>
            </a:pPr>
            <a:r>
              <a:rPr lang="en-US" sz="2400" b="1" dirty="0">
                <a:solidFill>
                  <a:srgbClr val="3B82F6">
                    <a:alpha val="75000"/>
                  </a:srgbClr>
                </a:solidFill>
                <a:latin typeface="Montserrat" pitchFamily="34" charset="0"/>
                <a:ea typeface="Montserrat" pitchFamily="34" charset="-122"/>
                <a:cs typeface="Montserrat" pitchFamily="34" charset="-120"/>
              </a:rPr>
              <a:t>02</a:t>
            </a:r>
            <a:endParaRPr lang="en-US" sz="2400" dirty="0"/>
          </a:p>
        </p:txBody>
      </p:sp>
      <p:sp>
        <p:nvSpPr>
          <p:cNvPr id="18" name="Text 16"/>
          <p:cNvSpPr/>
          <p:nvPr/>
        </p:nvSpPr>
        <p:spPr>
          <a:xfrm>
            <a:off x="4490618" y="1682496"/>
            <a:ext cx="2835554" cy="201168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Ela permite que sistemas computacionais resolvam problemas e executem tarefas de forma autônoma.</a:t>
            </a:r>
            <a:endParaRPr lang="en-US" sz="1300" dirty="0"/>
          </a:p>
        </p:txBody>
      </p:sp>
      <p:sp>
        <p:nvSpPr>
          <p:cNvPr id="19" name="Shape 17"/>
          <p:cNvSpPr/>
          <p:nvPr/>
        </p:nvSpPr>
        <p:spPr>
          <a:xfrm>
            <a:off x="8158277" y="1572768"/>
            <a:ext cx="3603650" cy="2286000"/>
          </a:xfrm>
          <a:prstGeom prst="roundRect">
            <a:avLst>
              <a:gd name="adj" fmla="val 4000"/>
            </a:avLst>
          </a:prstGeom>
          <a:solidFill>
            <a:srgbClr val="000000"/>
          </a:solidFill>
          <a:ln/>
        </p:spPr>
      </p:sp>
      <p:sp>
        <p:nvSpPr>
          <p:cNvPr id="20" name="Shape 18"/>
          <p:cNvSpPr/>
          <p:nvPr/>
        </p:nvSpPr>
        <p:spPr>
          <a:xfrm>
            <a:off x="8130845" y="1536192"/>
            <a:ext cx="3603650" cy="2286000"/>
          </a:xfrm>
          <a:prstGeom prst="roundRect">
            <a:avLst>
              <a:gd name="adj" fmla="val 4000"/>
            </a:avLst>
          </a:prstGeom>
          <a:solidFill>
            <a:srgbClr val="141E34"/>
          </a:solidFill>
          <a:ln/>
        </p:spPr>
      </p:sp>
      <p:sp>
        <p:nvSpPr>
          <p:cNvPr id="21" name="Shape 19"/>
          <p:cNvSpPr/>
          <p:nvPr/>
        </p:nvSpPr>
        <p:spPr>
          <a:xfrm>
            <a:off x="8130845" y="1536192"/>
            <a:ext cx="3603650" cy="45720"/>
          </a:xfrm>
          <a:prstGeom prst="rect">
            <a:avLst>
              <a:gd name="adj" fmla="val 200000"/>
            </a:avLst>
          </a:prstGeom>
          <a:solidFill>
            <a:srgbClr val="10B981"/>
          </a:solidFill>
          <a:ln/>
        </p:spPr>
      </p:sp>
      <p:sp>
        <p:nvSpPr>
          <p:cNvPr id="22" name="Text 20"/>
          <p:cNvSpPr/>
          <p:nvPr/>
        </p:nvSpPr>
        <p:spPr>
          <a:xfrm>
            <a:off x="11140135" y="1627632"/>
            <a:ext cx="502920" cy="365760"/>
          </a:xfrm>
          <a:prstGeom prst="rect">
            <a:avLst/>
          </a:prstGeom>
          <a:noFill/>
          <a:ln/>
        </p:spPr>
        <p:txBody>
          <a:bodyPr wrap="square" rtlCol="0" anchor="ctr"/>
          <a:lstStyle/>
          <a:p>
            <a:pPr algn="r" indent="0" marL="0">
              <a:buNone/>
            </a:pPr>
            <a:r>
              <a:rPr lang="en-US" sz="2400" b="1" dirty="0">
                <a:solidFill>
                  <a:srgbClr val="10B981">
                    <a:alpha val="75000"/>
                  </a:srgbClr>
                </a:solidFill>
                <a:latin typeface="Montserrat" pitchFamily="34" charset="0"/>
                <a:ea typeface="Montserrat" pitchFamily="34" charset="-122"/>
                <a:cs typeface="Montserrat" pitchFamily="34" charset="-120"/>
              </a:rPr>
              <a:t>03</a:t>
            </a:r>
            <a:endParaRPr lang="en-US" sz="2400" dirty="0"/>
          </a:p>
        </p:txBody>
      </p:sp>
      <p:sp>
        <p:nvSpPr>
          <p:cNvPr id="23" name="Text 21"/>
          <p:cNvSpPr/>
          <p:nvPr/>
        </p:nvSpPr>
        <p:spPr>
          <a:xfrm>
            <a:off x="8258861" y="1682496"/>
            <a:ext cx="2835554" cy="201168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A IA interpreta dados e age sobre eles, com base em um objetivo pré-determinado.</a:t>
            </a:r>
            <a:endParaRPr lang="en-US" sz="1300" dirty="0"/>
          </a:p>
        </p:txBody>
      </p:sp>
      <p:sp>
        <p:nvSpPr>
          <p:cNvPr id="24" name="Shape 22"/>
          <p:cNvSpPr/>
          <p:nvPr/>
        </p:nvSpPr>
        <p:spPr>
          <a:xfrm>
            <a:off x="621792" y="4023360"/>
            <a:ext cx="3603650" cy="2286000"/>
          </a:xfrm>
          <a:prstGeom prst="roundRect">
            <a:avLst>
              <a:gd name="adj" fmla="val 4000"/>
            </a:avLst>
          </a:prstGeom>
          <a:solidFill>
            <a:srgbClr val="000000"/>
          </a:solidFill>
          <a:ln/>
        </p:spPr>
      </p:sp>
      <p:sp>
        <p:nvSpPr>
          <p:cNvPr id="25" name="Shape 23"/>
          <p:cNvSpPr/>
          <p:nvPr/>
        </p:nvSpPr>
        <p:spPr>
          <a:xfrm>
            <a:off x="594360" y="3986784"/>
            <a:ext cx="3603650" cy="2286000"/>
          </a:xfrm>
          <a:prstGeom prst="roundRect">
            <a:avLst>
              <a:gd name="adj" fmla="val 4000"/>
            </a:avLst>
          </a:prstGeom>
          <a:solidFill>
            <a:srgbClr val="141E34"/>
          </a:solidFill>
          <a:ln/>
        </p:spPr>
      </p:sp>
      <p:sp>
        <p:nvSpPr>
          <p:cNvPr id="26" name="Shape 24"/>
          <p:cNvSpPr/>
          <p:nvPr/>
        </p:nvSpPr>
        <p:spPr>
          <a:xfrm>
            <a:off x="594360" y="3986784"/>
            <a:ext cx="3603650" cy="45720"/>
          </a:xfrm>
          <a:prstGeom prst="rect">
            <a:avLst>
              <a:gd name="adj" fmla="val 200000"/>
            </a:avLst>
          </a:prstGeom>
          <a:solidFill>
            <a:srgbClr val="F59E0B"/>
          </a:solidFill>
          <a:ln/>
        </p:spPr>
      </p:sp>
      <p:sp>
        <p:nvSpPr>
          <p:cNvPr id="27" name="Text 25"/>
          <p:cNvSpPr/>
          <p:nvPr/>
        </p:nvSpPr>
        <p:spPr>
          <a:xfrm>
            <a:off x="3603650" y="4078224"/>
            <a:ext cx="502920" cy="365760"/>
          </a:xfrm>
          <a:prstGeom prst="rect">
            <a:avLst/>
          </a:prstGeom>
          <a:noFill/>
          <a:ln/>
        </p:spPr>
        <p:txBody>
          <a:bodyPr wrap="square" rtlCol="0" anchor="ctr"/>
          <a:lstStyle/>
          <a:p>
            <a:pPr algn="r" indent="0" marL="0">
              <a:buNone/>
            </a:pPr>
            <a:r>
              <a:rPr lang="en-US" sz="2400" b="1" dirty="0">
                <a:solidFill>
                  <a:srgbClr val="F59E0B">
                    <a:alpha val="75000"/>
                  </a:srgbClr>
                </a:solidFill>
                <a:latin typeface="Montserrat" pitchFamily="34" charset="0"/>
                <a:ea typeface="Montserrat" pitchFamily="34" charset="-122"/>
                <a:cs typeface="Montserrat" pitchFamily="34" charset="-120"/>
              </a:rPr>
              <a:t>04</a:t>
            </a:r>
            <a:endParaRPr lang="en-US" sz="2400" dirty="0"/>
          </a:p>
        </p:txBody>
      </p:sp>
      <p:sp>
        <p:nvSpPr>
          <p:cNvPr id="28" name="Text 26"/>
          <p:cNvSpPr/>
          <p:nvPr/>
        </p:nvSpPr>
        <p:spPr>
          <a:xfrm>
            <a:off x="722376" y="4133088"/>
            <a:ext cx="2835554" cy="201168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É crucial diferenciar IA de automação simples, pois a IA implica capacidade de "pensar" e adaptar.".</a:t>
            </a:r>
            <a:endParaRPr lang="en-US" sz="1300" dirty="0"/>
          </a:p>
        </p:txBody>
      </p:sp>
      <p:sp>
        <p:nvSpPr>
          <p:cNvPr id="29" name="Shape 27"/>
          <p:cNvSpPr/>
          <p:nvPr/>
        </p:nvSpPr>
        <p:spPr>
          <a:xfrm>
            <a:off x="4390034" y="4023360"/>
            <a:ext cx="3603650" cy="2286000"/>
          </a:xfrm>
          <a:prstGeom prst="roundRect">
            <a:avLst>
              <a:gd name="adj" fmla="val 4000"/>
            </a:avLst>
          </a:prstGeom>
          <a:solidFill>
            <a:srgbClr val="000000"/>
          </a:solidFill>
          <a:ln/>
        </p:spPr>
      </p:sp>
      <p:sp>
        <p:nvSpPr>
          <p:cNvPr id="30" name="Shape 28"/>
          <p:cNvSpPr/>
          <p:nvPr/>
        </p:nvSpPr>
        <p:spPr>
          <a:xfrm>
            <a:off x="4362602" y="3986784"/>
            <a:ext cx="3603650" cy="2286000"/>
          </a:xfrm>
          <a:prstGeom prst="roundRect">
            <a:avLst>
              <a:gd name="adj" fmla="val 4000"/>
            </a:avLst>
          </a:prstGeom>
          <a:solidFill>
            <a:srgbClr val="141E34"/>
          </a:solidFill>
          <a:ln/>
        </p:spPr>
      </p:sp>
      <p:sp>
        <p:nvSpPr>
          <p:cNvPr id="31" name="Shape 29"/>
          <p:cNvSpPr/>
          <p:nvPr/>
        </p:nvSpPr>
        <p:spPr>
          <a:xfrm>
            <a:off x="4362602" y="3986784"/>
            <a:ext cx="3603650" cy="45720"/>
          </a:xfrm>
          <a:prstGeom prst="rect">
            <a:avLst>
              <a:gd name="adj" fmla="val 200000"/>
            </a:avLst>
          </a:prstGeom>
          <a:solidFill>
            <a:srgbClr val="06B6D4"/>
          </a:solidFill>
          <a:ln/>
        </p:spPr>
      </p:sp>
      <p:sp>
        <p:nvSpPr>
          <p:cNvPr id="32" name="Text 30"/>
          <p:cNvSpPr/>
          <p:nvPr/>
        </p:nvSpPr>
        <p:spPr>
          <a:xfrm>
            <a:off x="7371893" y="4078224"/>
            <a:ext cx="502920" cy="365760"/>
          </a:xfrm>
          <a:prstGeom prst="rect">
            <a:avLst/>
          </a:prstGeom>
          <a:noFill/>
          <a:ln/>
        </p:spPr>
        <p:txBody>
          <a:bodyPr wrap="square" rtlCol="0" anchor="ctr"/>
          <a:lstStyle/>
          <a:p>
            <a:pPr algn="r" indent="0" marL="0">
              <a:buNone/>
            </a:pPr>
            <a:r>
              <a:rPr lang="en-US" sz="2400" b="1" dirty="0">
                <a:solidFill>
                  <a:srgbClr val="06B6D4">
                    <a:alpha val="75000"/>
                  </a:srgbClr>
                </a:solidFill>
                <a:latin typeface="Montserrat" pitchFamily="34" charset="0"/>
                <a:ea typeface="Montserrat" pitchFamily="34" charset="-122"/>
                <a:cs typeface="Montserrat" pitchFamily="34" charset="-120"/>
              </a:rPr>
              <a:t>05</a:t>
            </a:r>
            <a:endParaRPr lang="en-US" sz="2400" dirty="0"/>
          </a:p>
        </p:txBody>
      </p:sp>
      <p:sp>
        <p:nvSpPr>
          <p:cNvPr id="33" name="Text 31"/>
          <p:cNvSpPr/>
          <p:nvPr/>
        </p:nvSpPr>
        <p:spPr>
          <a:xfrm>
            <a:off x="4490618" y="4133088"/>
            <a:ext cx="2835554" cy="201168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A IA está presente em diversas tecnologias diárias, muitas vezes sem que percebamos.</a:t>
            </a:r>
            <a:endParaRPr lang="en-US" sz="1300" dirty="0"/>
          </a:p>
        </p:txBody>
      </p:sp>
      <p:sp>
        <p:nvSpPr>
          <p:cNvPr id="34" name="Shape 32"/>
          <p:cNvSpPr/>
          <p:nvPr/>
        </p:nvSpPr>
        <p:spPr>
          <a:xfrm>
            <a:off x="0" y="6601968"/>
            <a:ext cx="2041093" cy="4572"/>
          </a:xfrm>
          <a:prstGeom prst="rect">
            <a:avLst/>
          </a:prstGeom>
          <a:solidFill>
            <a:srgbClr val="6C63FF"/>
          </a:solidFill>
          <a:ln/>
        </p:spPr>
      </p:sp>
      <p:sp>
        <p:nvSpPr>
          <p:cNvPr id="35" name="Shape 33"/>
          <p:cNvSpPr/>
          <p:nvPr/>
        </p:nvSpPr>
        <p:spPr>
          <a:xfrm>
            <a:off x="2031949" y="6601968"/>
            <a:ext cx="2041093" cy="4572"/>
          </a:xfrm>
          <a:prstGeom prst="rect">
            <a:avLst/>
          </a:prstGeom>
          <a:solidFill>
            <a:srgbClr val="6C63FF"/>
          </a:solidFill>
          <a:ln/>
        </p:spPr>
      </p:sp>
      <p:sp>
        <p:nvSpPr>
          <p:cNvPr id="36" name="Shape 34"/>
          <p:cNvSpPr/>
          <p:nvPr/>
        </p:nvSpPr>
        <p:spPr>
          <a:xfrm>
            <a:off x="4063898" y="6601968"/>
            <a:ext cx="2041093" cy="4572"/>
          </a:xfrm>
          <a:prstGeom prst="rect">
            <a:avLst/>
          </a:prstGeom>
          <a:solidFill>
            <a:srgbClr val="6C63FF"/>
          </a:solidFill>
          <a:ln/>
        </p:spPr>
      </p:sp>
      <p:sp>
        <p:nvSpPr>
          <p:cNvPr id="37" name="Shape 35"/>
          <p:cNvSpPr/>
          <p:nvPr/>
        </p:nvSpPr>
        <p:spPr>
          <a:xfrm>
            <a:off x="6095848" y="6601968"/>
            <a:ext cx="2041093" cy="4572"/>
          </a:xfrm>
          <a:prstGeom prst="rect">
            <a:avLst/>
          </a:prstGeom>
          <a:solidFill>
            <a:srgbClr val="6C63FF"/>
          </a:solidFill>
          <a:ln/>
        </p:spPr>
      </p:sp>
      <p:sp>
        <p:nvSpPr>
          <p:cNvPr id="38" name="Shape 36"/>
          <p:cNvSpPr/>
          <p:nvPr/>
        </p:nvSpPr>
        <p:spPr>
          <a:xfrm>
            <a:off x="8127797" y="6601968"/>
            <a:ext cx="2041093" cy="4572"/>
          </a:xfrm>
          <a:prstGeom prst="rect">
            <a:avLst/>
          </a:prstGeom>
          <a:solidFill>
            <a:srgbClr val="6C63FF"/>
          </a:solidFill>
          <a:ln/>
        </p:spPr>
      </p:sp>
      <p:sp>
        <p:nvSpPr>
          <p:cNvPr id="39" name="Shape 37"/>
          <p:cNvSpPr/>
          <p:nvPr/>
        </p:nvSpPr>
        <p:spPr>
          <a:xfrm>
            <a:off x="10159746" y="6601968"/>
            <a:ext cx="2041093" cy="4572"/>
          </a:xfrm>
          <a:prstGeom prst="rect">
            <a:avLst/>
          </a:prstGeom>
          <a:solidFill>
            <a:srgbClr val="6C63FF"/>
          </a:solidFill>
          <a:ln/>
        </p:spPr>
      </p:sp>
      <p:sp>
        <p:nvSpPr>
          <p:cNvPr id="40" name="Shape 38"/>
          <p:cNvSpPr/>
          <p:nvPr/>
        </p:nvSpPr>
        <p:spPr>
          <a:xfrm>
            <a:off x="0" y="6606540"/>
            <a:ext cx="12191695" cy="2743"/>
          </a:xfrm>
          <a:prstGeom prst="rect">
            <a:avLst/>
          </a:prstGeom>
          <a:solidFill>
            <a:srgbClr val="222E48"/>
          </a:solidFill>
          <a:ln/>
        </p:spPr>
      </p:sp>
      <p:sp>
        <p:nvSpPr>
          <p:cNvPr id="41" name="Text 39"/>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42" name="Shape 40"/>
          <p:cNvSpPr/>
          <p:nvPr/>
        </p:nvSpPr>
        <p:spPr>
          <a:xfrm>
            <a:off x="10436047" y="6693408"/>
            <a:ext cx="73152" cy="73152"/>
          </a:xfrm>
          <a:prstGeom prst="ellipse">
            <a:avLst/>
          </a:prstGeom>
          <a:solidFill>
            <a:srgbClr val="6C63FF"/>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F59E0B"/>
          </a:solidFill>
          <a:ln/>
        </p:spPr>
      </p:sp>
      <p:sp>
        <p:nvSpPr>
          <p:cNvPr id="3" name="Shape 1"/>
          <p:cNvSpPr/>
          <p:nvPr/>
        </p:nvSpPr>
        <p:spPr>
          <a:xfrm>
            <a:off x="64008" y="0"/>
            <a:ext cx="18288" cy="6858000"/>
          </a:xfrm>
          <a:prstGeom prst="rect">
            <a:avLst/>
          </a:prstGeom>
          <a:solidFill>
            <a:srgbClr val="F59E0B"/>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F59E0B"/>
                </a:solidFill>
                <a:latin typeface="Open Sans" pitchFamily="34" charset="0"/>
                <a:ea typeface="Open Sans" pitchFamily="34" charset="-122"/>
                <a:cs typeface="Open Sans" pitchFamily="34" charset="-120"/>
              </a:rPr>
              <a:t>APLICAÇÕES REAIS</a:t>
            </a:r>
            <a:endParaRPr lang="en-US" sz="900" dirty="0"/>
          </a:p>
        </p:txBody>
      </p:sp>
      <p:sp>
        <p:nvSpPr>
          <p:cNvPr id="5" name="Shape 3"/>
          <p:cNvSpPr/>
          <p:nvPr/>
        </p:nvSpPr>
        <p:spPr>
          <a:xfrm>
            <a:off x="502920" y="493776"/>
            <a:ext cx="640080" cy="21946"/>
          </a:xfrm>
          <a:prstGeom prst="rect">
            <a:avLst/>
          </a:prstGeom>
          <a:solidFill>
            <a:srgbClr val="F59E0B"/>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Aplicações reais</a:t>
            </a:r>
            <a:endParaRPr lang="en-US" sz="2800" dirty="0"/>
          </a:p>
        </p:txBody>
      </p:sp>
      <p:sp>
        <p:nvSpPr>
          <p:cNvPr id="7" name="Shape 5"/>
          <p:cNvSpPr/>
          <p:nvPr/>
        </p:nvSpPr>
        <p:spPr>
          <a:xfrm>
            <a:off x="502920" y="1389888"/>
            <a:ext cx="11185855" cy="7315"/>
          </a:xfrm>
          <a:prstGeom prst="rect">
            <a:avLst/>
          </a:prstGeom>
          <a:solidFill>
            <a:srgbClr val="F59E0B"/>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6132424" y="1536192"/>
            <a:ext cx="18288" cy="4910328"/>
          </a:xfrm>
          <a:prstGeom prst="rect">
            <a:avLst/>
          </a:prstGeom>
          <a:solidFill>
            <a:srgbClr val="F59E0B"/>
          </a:solidFill>
          <a:ln/>
        </p:spPr>
      </p:sp>
      <p:sp>
        <p:nvSpPr>
          <p:cNvPr id="10" name="Shape 8"/>
          <p:cNvSpPr/>
          <p:nvPr/>
        </p:nvSpPr>
        <p:spPr>
          <a:xfrm>
            <a:off x="6095848" y="3945636"/>
            <a:ext cx="91440" cy="91440"/>
          </a:xfrm>
          <a:prstGeom prst="ellipse">
            <a:avLst/>
          </a:prstGeom>
          <a:solidFill>
            <a:srgbClr val="F59E0B"/>
          </a:solidFill>
          <a:ln/>
        </p:spPr>
      </p:sp>
      <p:sp>
        <p:nvSpPr>
          <p:cNvPr id="11" name="Shape 9"/>
          <p:cNvSpPr/>
          <p:nvPr/>
        </p:nvSpPr>
        <p:spPr>
          <a:xfrm>
            <a:off x="621792" y="1572768"/>
            <a:ext cx="5387188" cy="987552"/>
          </a:xfrm>
          <a:prstGeom prst="roundRect">
            <a:avLst>
              <a:gd name="adj" fmla="val 9259"/>
            </a:avLst>
          </a:prstGeom>
          <a:solidFill>
            <a:srgbClr val="000000"/>
          </a:solidFill>
          <a:ln/>
        </p:spPr>
      </p:sp>
      <p:sp>
        <p:nvSpPr>
          <p:cNvPr id="12" name="Shape 10"/>
          <p:cNvSpPr/>
          <p:nvPr/>
        </p:nvSpPr>
        <p:spPr>
          <a:xfrm>
            <a:off x="594360" y="1536192"/>
            <a:ext cx="5387188" cy="987552"/>
          </a:xfrm>
          <a:prstGeom prst="roundRect">
            <a:avLst>
              <a:gd name="adj" fmla="val 5556"/>
            </a:avLst>
          </a:prstGeom>
          <a:solidFill>
            <a:srgbClr val="141E34"/>
          </a:solidFill>
          <a:ln/>
        </p:spPr>
      </p:sp>
      <p:sp>
        <p:nvSpPr>
          <p:cNvPr id="13" name="Shape 11"/>
          <p:cNvSpPr/>
          <p:nvPr/>
        </p:nvSpPr>
        <p:spPr>
          <a:xfrm>
            <a:off x="594360" y="1536192"/>
            <a:ext cx="45720" cy="987552"/>
          </a:xfrm>
          <a:prstGeom prst="rect">
            <a:avLst>
              <a:gd name="adj" fmla="val 120000"/>
            </a:avLst>
          </a:prstGeom>
          <a:solidFill>
            <a:srgbClr val="6C63FF"/>
          </a:solidFill>
          <a:ln/>
        </p:spPr>
      </p:sp>
      <p:sp>
        <p:nvSpPr>
          <p:cNvPr id="14" name="Shape 12"/>
          <p:cNvSpPr/>
          <p:nvPr/>
        </p:nvSpPr>
        <p:spPr>
          <a:xfrm>
            <a:off x="722376" y="1892808"/>
            <a:ext cx="274320" cy="274320"/>
          </a:xfrm>
          <a:prstGeom prst="roundRect">
            <a:avLst>
              <a:gd name="adj" fmla="val 20000"/>
            </a:avLst>
          </a:prstGeom>
          <a:solidFill>
            <a:srgbClr val="6C63FF"/>
          </a:solidFill>
          <a:ln/>
        </p:spPr>
      </p:sp>
      <p:sp>
        <p:nvSpPr>
          <p:cNvPr id="15" name="Text 13"/>
          <p:cNvSpPr/>
          <p:nvPr/>
        </p:nvSpPr>
        <p:spPr>
          <a:xfrm>
            <a:off x="722376" y="1892808"/>
            <a:ext cx="274320" cy="274320"/>
          </a:xfrm>
          <a:prstGeom prst="rect">
            <a:avLst/>
          </a:prstGeom>
          <a:noFill/>
          <a:ln/>
        </p:spPr>
        <p:txBody>
          <a:bodyPr wrap="square"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1</a:t>
            </a:r>
            <a:endParaRPr lang="en-US" sz="1100" dirty="0"/>
          </a:p>
        </p:txBody>
      </p:sp>
      <p:sp>
        <p:nvSpPr>
          <p:cNvPr id="16" name="Text 14"/>
          <p:cNvSpPr/>
          <p:nvPr/>
        </p:nvSpPr>
        <p:spPr>
          <a:xfrm>
            <a:off x="1069848" y="1563624"/>
            <a:ext cx="4838548" cy="932688"/>
          </a:xfrm>
          <a:prstGeom prst="rect">
            <a:avLst/>
          </a:prstGeom>
          <a:noFill/>
          <a:ln/>
        </p:spPr>
        <p:txBody>
          <a:bodyPr wrap="square" rtlCol="0" anchor="ctr"/>
          <a:lstStyle/>
          <a:p>
            <a:pPr indent="0" marL="0">
              <a:lnSpc>
                <a:spcPct val="118000"/>
              </a:lnSpc>
              <a:buNone/>
            </a:pPr>
            <a:r>
              <a:rPr lang="en-US" sz="1500" dirty="0">
                <a:solidFill>
                  <a:srgbClr val="E8EDF5"/>
                </a:solidFill>
                <a:latin typeface="Open Sans" pitchFamily="34" charset="0"/>
                <a:ea typeface="Open Sans" pitchFamily="34" charset="-122"/>
                <a:cs typeface="Open Sans" pitchFamily="34" charset="-120"/>
              </a:rPr>
              <a:t>A Inteligência Artificial é uma força transformadora, remodelando indústrias globalmente.</a:t>
            </a:r>
            <a:endParaRPr lang="en-US" sz="1500" dirty="0"/>
          </a:p>
        </p:txBody>
      </p:sp>
      <p:sp>
        <p:nvSpPr>
          <p:cNvPr id="17" name="Shape 15"/>
          <p:cNvSpPr/>
          <p:nvPr/>
        </p:nvSpPr>
        <p:spPr>
          <a:xfrm>
            <a:off x="621792" y="2633472"/>
            <a:ext cx="5387188" cy="987552"/>
          </a:xfrm>
          <a:prstGeom prst="roundRect">
            <a:avLst>
              <a:gd name="adj" fmla="val 9259"/>
            </a:avLst>
          </a:prstGeom>
          <a:solidFill>
            <a:srgbClr val="000000"/>
          </a:solidFill>
          <a:ln/>
        </p:spPr>
      </p:sp>
      <p:sp>
        <p:nvSpPr>
          <p:cNvPr id="18" name="Shape 16"/>
          <p:cNvSpPr/>
          <p:nvPr/>
        </p:nvSpPr>
        <p:spPr>
          <a:xfrm>
            <a:off x="594360" y="2596896"/>
            <a:ext cx="5387188" cy="987552"/>
          </a:xfrm>
          <a:prstGeom prst="roundRect">
            <a:avLst>
              <a:gd name="adj" fmla="val 5556"/>
            </a:avLst>
          </a:prstGeom>
          <a:solidFill>
            <a:srgbClr val="141E34"/>
          </a:solidFill>
          <a:ln/>
        </p:spPr>
      </p:sp>
      <p:sp>
        <p:nvSpPr>
          <p:cNvPr id="19" name="Shape 17"/>
          <p:cNvSpPr/>
          <p:nvPr/>
        </p:nvSpPr>
        <p:spPr>
          <a:xfrm>
            <a:off x="594360" y="2596896"/>
            <a:ext cx="45720" cy="987552"/>
          </a:xfrm>
          <a:prstGeom prst="rect">
            <a:avLst>
              <a:gd name="adj" fmla="val 120000"/>
            </a:avLst>
          </a:prstGeom>
          <a:solidFill>
            <a:srgbClr val="3B82F6"/>
          </a:solidFill>
          <a:ln/>
        </p:spPr>
      </p:sp>
      <p:sp>
        <p:nvSpPr>
          <p:cNvPr id="20" name="Shape 18"/>
          <p:cNvSpPr/>
          <p:nvPr/>
        </p:nvSpPr>
        <p:spPr>
          <a:xfrm>
            <a:off x="722376" y="2953512"/>
            <a:ext cx="274320" cy="274320"/>
          </a:xfrm>
          <a:prstGeom prst="roundRect">
            <a:avLst>
              <a:gd name="adj" fmla="val 20000"/>
            </a:avLst>
          </a:prstGeom>
          <a:solidFill>
            <a:srgbClr val="3B82F6"/>
          </a:solidFill>
          <a:ln/>
        </p:spPr>
      </p:sp>
      <p:sp>
        <p:nvSpPr>
          <p:cNvPr id="21" name="Text 19"/>
          <p:cNvSpPr/>
          <p:nvPr/>
        </p:nvSpPr>
        <p:spPr>
          <a:xfrm>
            <a:off x="722376" y="2953512"/>
            <a:ext cx="274320" cy="274320"/>
          </a:xfrm>
          <a:prstGeom prst="rect">
            <a:avLst/>
          </a:prstGeom>
          <a:noFill/>
          <a:ln/>
        </p:spPr>
        <p:txBody>
          <a:bodyPr wrap="square"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2</a:t>
            </a:r>
            <a:endParaRPr lang="en-US" sz="1100" dirty="0"/>
          </a:p>
        </p:txBody>
      </p:sp>
      <p:sp>
        <p:nvSpPr>
          <p:cNvPr id="22" name="Text 20"/>
          <p:cNvSpPr/>
          <p:nvPr/>
        </p:nvSpPr>
        <p:spPr>
          <a:xfrm>
            <a:off x="1069848" y="2624328"/>
            <a:ext cx="4838548" cy="932688"/>
          </a:xfrm>
          <a:prstGeom prst="rect">
            <a:avLst/>
          </a:prstGeom>
          <a:noFill/>
          <a:ln/>
        </p:spPr>
        <p:txBody>
          <a:bodyPr wrap="square" rtlCol="0" anchor="ctr"/>
          <a:lstStyle/>
          <a:p>
            <a:pPr indent="0" marL="0">
              <a:lnSpc>
                <a:spcPct val="118000"/>
              </a:lnSpc>
              <a:buNone/>
            </a:pPr>
            <a:r>
              <a:rPr lang="en-US" sz="1500" dirty="0">
                <a:solidFill>
                  <a:srgbClr val="E8EDF5"/>
                </a:solidFill>
                <a:latin typeface="Open Sans" pitchFamily="34" charset="0"/>
                <a:ea typeface="Open Sans" pitchFamily="34" charset="-122"/>
                <a:cs typeface="Open Sans" pitchFamily="34" charset="-120"/>
              </a:rPr>
              <a:t>Sua capacidade de processar dados, automatizar tarefas e gerar percepções impulsiona inovação e personalização.</a:t>
            </a:r>
            <a:endParaRPr lang="en-US" sz="1500" dirty="0"/>
          </a:p>
        </p:txBody>
      </p:sp>
      <p:sp>
        <p:nvSpPr>
          <p:cNvPr id="23" name="Shape 21"/>
          <p:cNvSpPr/>
          <p:nvPr/>
        </p:nvSpPr>
        <p:spPr>
          <a:xfrm>
            <a:off x="621792" y="3694176"/>
            <a:ext cx="5387188" cy="987552"/>
          </a:xfrm>
          <a:prstGeom prst="roundRect">
            <a:avLst>
              <a:gd name="adj" fmla="val 9259"/>
            </a:avLst>
          </a:prstGeom>
          <a:solidFill>
            <a:srgbClr val="000000"/>
          </a:solidFill>
          <a:ln/>
        </p:spPr>
      </p:sp>
      <p:sp>
        <p:nvSpPr>
          <p:cNvPr id="24" name="Shape 22"/>
          <p:cNvSpPr/>
          <p:nvPr/>
        </p:nvSpPr>
        <p:spPr>
          <a:xfrm>
            <a:off x="594360" y="3657600"/>
            <a:ext cx="5387188" cy="987552"/>
          </a:xfrm>
          <a:prstGeom prst="roundRect">
            <a:avLst>
              <a:gd name="adj" fmla="val 5556"/>
            </a:avLst>
          </a:prstGeom>
          <a:solidFill>
            <a:srgbClr val="141E34"/>
          </a:solidFill>
          <a:ln/>
        </p:spPr>
      </p:sp>
      <p:sp>
        <p:nvSpPr>
          <p:cNvPr id="25" name="Shape 23"/>
          <p:cNvSpPr/>
          <p:nvPr/>
        </p:nvSpPr>
        <p:spPr>
          <a:xfrm>
            <a:off x="594360" y="3657600"/>
            <a:ext cx="45720" cy="987552"/>
          </a:xfrm>
          <a:prstGeom prst="rect">
            <a:avLst>
              <a:gd name="adj" fmla="val 120000"/>
            </a:avLst>
          </a:prstGeom>
          <a:solidFill>
            <a:srgbClr val="10B981"/>
          </a:solidFill>
          <a:ln/>
        </p:spPr>
      </p:sp>
      <p:sp>
        <p:nvSpPr>
          <p:cNvPr id="26" name="Shape 24"/>
          <p:cNvSpPr/>
          <p:nvPr/>
        </p:nvSpPr>
        <p:spPr>
          <a:xfrm>
            <a:off x="722376" y="4014216"/>
            <a:ext cx="274320" cy="274320"/>
          </a:xfrm>
          <a:prstGeom prst="roundRect">
            <a:avLst>
              <a:gd name="adj" fmla="val 20000"/>
            </a:avLst>
          </a:prstGeom>
          <a:solidFill>
            <a:srgbClr val="10B981"/>
          </a:solidFill>
          <a:ln/>
        </p:spPr>
      </p:sp>
      <p:sp>
        <p:nvSpPr>
          <p:cNvPr id="27" name="Text 25"/>
          <p:cNvSpPr/>
          <p:nvPr/>
        </p:nvSpPr>
        <p:spPr>
          <a:xfrm>
            <a:off x="722376" y="4014216"/>
            <a:ext cx="274320" cy="274320"/>
          </a:xfrm>
          <a:prstGeom prst="rect">
            <a:avLst/>
          </a:prstGeom>
          <a:noFill/>
          <a:ln/>
        </p:spPr>
        <p:txBody>
          <a:bodyPr wrap="square"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3</a:t>
            </a:r>
            <a:endParaRPr lang="en-US" sz="1100" dirty="0"/>
          </a:p>
        </p:txBody>
      </p:sp>
      <p:sp>
        <p:nvSpPr>
          <p:cNvPr id="28" name="Text 26"/>
          <p:cNvSpPr/>
          <p:nvPr/>
        </p:nvSpPr>
        <p:spPr>
          <a:xfrm>
            <a:off x="1069848" y="3685032"/>
            <a:ext cx="4838548" cy="932688"/>
          </a:xfrm>
          <a:prstGeom prst="rect">
            <a:avLst/>
          </a:prstGeom>
          <a:noFill/>
          <a:ln/>
        </p:spPr>
        <p:txBody>
          <a:bodyPr wrap="square" rtlCol="0" anchor="ctr"/>
          <a:lstStyle/>
          <a:p>
            <a:pPr indent="0" marL="0">
              <a:lnSpc>
                <a:spcPct val="118000"/>
              </a:lnSpc>
              <a:buNone/>
            </a:pPr>
            <a:r>
              <a:rPr lang="en-US" sz="1500" dirty="0">
                <a:solidFill>
                  <a:srgbClr val="E8EDF5"/>
                </a:solidFill>
                <a:latin typeface="Open Sans" pitchFamily="34" charset="0"/>
                <a:ea typeface="Open Sans" pitchFamily="34" charset="-122"/>
                <a:cs typeface="Open Sans" pitchFamily="34" charset="-120"/>
              </a:rPr>
              <a:t>Entender esse impacto é fundamental para profissionais, pois a IA muda as operações das empresas.</a:t>
            </a:r>
            <a:endParaRPr lang="en-US" sz="1500" dirty="0"/>
          </a:p>
        </p:txBody>
      </p:sp>
      <p:sp>
        <p:nvSpPr>
          <p:cNvPr id="29" name="Shape 27"/>
          <p:cNvSpPr/>
          <p:nvPr/>
        </p:nvSpPr>
        <p:spPr>
          <a:xfrm>
            <a:off x="6329020" y="1572768"/>
            <a:ext cx="5387188" cy="987552"/>
          </a:xfrm>
          <a:prstGeom prst="roundRect">
            <a:avLst>
              <a:gd name="adj" fmla="val 9259"/>
            </a:avLst>
          </a:prstGeom>
          <a:solidFill>
            <a:srgbClr val="000000"/>
          </a:solidFill>
          <a:ln/>
        </p:spPr>
      </p:sp>
      <p:sp>
        <p:nvSpPr>
          <p:cNvPr id="30" name="Shape 28"/>
          <p:cNvSpPr/>
          <p:nvPr/>
        </p:nvSpPr>
        <p:spPr>
          <a:xfrm>
            <a:off x="6301588" y="1536192"/>
            <a:ext cx="5387188" cy="987552"/>
          </a:xfrm>
          <a:prstGeom prst="roundRect">
            <a:avLst>
              <a:gd name="adj" fmla="val 5556"/>
            </a:avLst>
          </a:prstGeom>
          <a:solidFill>
            <a:srgbClr val="141E34"/>
          </a:solidFill>
          <a:ln/>
        </p:spPr>
      </p:sp>
      <p:sp>
        <p:nvSpPr>
          <p:cNvPr id="31" name="Shape 29"/>
          <p:cNvSpPr/>
          <p:nvPr/>
        </p:nvSpPr>
        <p:spPr>
          <a:xfrm>
            <a:off x="6301588" y="1536192"/>
            <a:ext cx="45720" cy="987552"/>
          </a:xfrm>
          <a:prstGeom prst="rect">
            <a:avLst>
              <a:gd name="adj" fmla="val 120000"/>
            </a:avLst>
          </a:prstGeom>
          <a:solidFill>
            <a:srgbClr val="F59E0B"/>
          </a:solidFill>
          <a:ln/>
        </p:spPr>
      </p:sp>
      <p:sp>
        <p:nvSpPr>
          <p:cNvPr id="32" name="Shape 30"/>
          <p:cNvSpPr/>
          <p:nvPr/>
        </p:nvSpPr>
        <p:spPr>
          <a:xfrm>
            <a:off x="6429604" y="1892808"/>
            <a:ext cx="274320" cy="274320"/>
          </a:xfrm>
          <a:prstGeom prst="roundRect">
            <a:avLst>
              <a:gd name="adj" fmla="val 20000"/>
            </a:avLst>
          </a:prstGeom>
          <a:solidFill>
            <a:srgbClr val="F59E0B"/>
          </a:solidFill>
          <a:ln/>
        </p:spPr>
      </p:sp>
      <p:sp>
        <p:nvSpPr>
          <p:cNvPr id="33" name="Text 31"/>
          <p:cNvSpPr/>
          <p:nvPr/>
        </p:nvSpPr>
        <p:spPr>
          <a:xfrm>
            <a:off x="6429604" y="1892808"/>
            <a:ext cx="274320" cy="274320"/>
          </a:xfrm>
          <a:prstGeom prst="rect">
            <a:avLst/>
          </a:prstGeom>
          <a:noFill/>
          <a:ln/>
        </p:spPr>
        <p:txBody>
          <a:bodyPr wrap="square"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4</a:t>
            </a:r>
            <a:endParaRPr lang="en-US" sz="1100" dirty="0"/>
          </a:p>
        </p:txBody>
      </p:sp>
      <p:sp>
        <p:nvSpPr>
          <p:cNvPr id="34" name="Text 32"/>
          <p:cNvSpPr/>
          <p:nvPr/>
        </p:nvSpPr>
        <p:spPr>
          <a:xfrm>
            <a:off x="6777076" y="1563624"/>
            <a:ext cx="4838548" cy="932688"/>
          </a:xfrm>
          <a:prstGeom prst="rect">
            <a:avLst/>
          </a:prstGeom>
          <a:noFill/>
          <a:ln/>
        </p:spPr>
        <p:txBody>
          <a:bodyPr wrap="square" rtlCol="0" anchor="ctr"/>
          <a:lstStyle/>
          <a:p>
            <a:pPr indent="0" marL="0">
              <a:lnSpc>
                <a:spcPct val="118000"/>
              </a:lnSpc>
              <a:buNone/>
            </a:pPr>
            <a:r>
              <a:rPr lang="en-US" sz="1500" dirty="0">
                <a:solidFill>
                  <a:srgbClr val="E8EDF5"/>
                </a:solidFill>
                <a:latin typeface="Open Sans" pitchFamily="34" charset="0"/>
                <a:ea typeface="Open Sans" pitchFamily="34" charset="-122"/>
                <a:cs typeface="Open Sans" pitchFamily="34" charset="-120"/>
              </a:rPr>
              <a:t>Ela redefine as expectativas dos clientes e a dinâmica competitiva do mercado.</a:t>
            </a:r>
            <a:endParaRPr lang="en-US" sz="1500" dirty="0"/>
          </a:p>
        </p:txBody>
      </p:sp>
      <p:sp>
        <p:nvSpPr>
          <p:cNvPr id="35" name="Shape 33"/>
          <p:cNvSpPr/>
          <p:nvPr/>
        </p:nvSpPr>
        <p:spPr>
          <a:xfrm>
            <a:off x="6329020" y="2633472"/>
            <a:ext cx="5387188" cy="987552"/>
          </a:xfrm>
          <a:prstGeom prst="roundRect">
            <a:avLst>
              <a:gd name="adj" fmla="val 9259"/>
            </a:avLst>
          </a:prstGeom>
          <a:solidFill>
            <a:srgbClr val="000000"/>
          </a:solidFill>
          <a:ln/>
        </p:spPr>
      </p:sp>
      <p:sp>
        <p:nvSpPr>
          <p:cNvPr id="36" name="Shape 34"/>
          <p:cNvSpPr/>
          <p:nvPr/>
        </p:nvSpPr>
        <p:spPr>
          <a:xfrm>
            <a:off x="6301588" y="2596896"/>
            <a:ext cx="5387188" cy="987552"/>
          </a:xfrm>
          <a:prstGeom prst="roundRect">
            <a:avLst>
              <a:gd name="adj" fmla="val 5556"/>
            </a:avLst>
          </a:prstGeom>
          <a:solidFill>
            <a:srgbClr val="141E34"/>
          </a:solidFill>
          <a:ln/>
        </p:spPr>
      </p:sp>
      <p:sp>
        <p:nvSpPr>
          <p:cNvPr id="37" name="Shape 35"/>
          <p:cNvSpPr/>
          <p:nvPr/>
        </p:nvSpPr>
        <p:spPr>
          <a:xfrm>
            <a:off x="6301588" y="2596896"/>
            <a:ext cx="45720" cy="987552"/>
          </a:xfrm>
          <a:prstGeom prst="rect">
            <a:avLst>
              <a:gd name="adj" fmla="val 120000"/>
            </a:avLst>
          </a:prstGeom>
          <a:solidFill>
            <a:srgbClr val="06B6D4"/>
          </a:solidFill>
          <a:ln/>
        </p:spPr>
      </p:sp>
      <p:sp>
        <p:nvSpPr>
          <p:cNvPr id="38" name="Shape 36"/>
          <p:cNvSpPr/>
          <p:nvPr/>
        </p:nvSpPr>
        <p:spPr>
          <a:xfrm>
            <a:off x="6429604" y="2953512"/>
            <a:ext cx="274320" cy="274320"/>
          </a:xfrm>
          <a:prstGeom prst="roundRect">
            <a:avLst>
              <a:gd name="adj" fmla="val 20000"/>
            </a:avLst>
          </a:prstGeom>
          <a:solidFill>
            <a:srgbClr val="06B6D4"/>
          </a:solidFill>
          <a:ln/>
        </p:spPr>
      </p:sp>
      <p:sp>
        <p:nvSpPr>
          <p:cNvPr id="39" name="Text 37"/>
          <p:cNvSpPr/>
          <p:nvPr/>
        </p:nvSpPr>
        <p:spPr>
          <a:xfrm>
            <a:off x="6429604" y="2953512"/>
            <a:ext cx="274320" cy="274320"/>
          </a:xfrm>
          <a:prstGeom prst="rect">
            <a:avLst/>
          </a:prstGeom>
          <a:noFill/>
          <a:ln/>
        </p:spPr>
        <p:txBody>
          <a:bodyPr wrap="square"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5</a:t>
            </a:r>
            <a:endParaRPr lang="en-US" sz="1100" dirty="0"/>
          </a:p>
        </p:txBody>
      </p:sp>
      <p:sp>
        <p:nvSpPr>
          <p:cNvPr id="40" name="Text 38"/>
          <p:cNvSpPr/>
          <p:nvPr/>
        </p:nvSpPr>
        <p:spPr>
          <a:xfrm>
            <a:off x="6777076" y="2624328"/>
            <a:ext cx="4838548" cy="932688"/>
          </a:xfrm>
          <a:prstGeom prst="rect">
            <a:avLst/>
          </a:prstGeom>
          <a:noFill/>
          <a:ln/>
        </p:spPr>
        <p:txBody>
          <a:bodyPr wrap="square" rtlCol="0" anchor="ctr"/>
          <a:lstStyle/>
          <a:p>
            <a:pPr indent="0" marL="0">
              <a:lnSpc>
                <a:spcPct val="118000"/>
              </a:lnSpc>
              <a:buNone/>
            </a:pPr>
            <a:r>
              <a:rPr lang="en-US" sz="1500" dirty="0">
                <a:solidFill>
                  <a:srgbClr val="E8EDF5"/>
                </a:solidFill>
                <a:latin typeface="Open Sans" pitchFamily="34" charset="0"/>
                <a:ea typeface="Open Sans" pitchFamily="34" charset="-122"/>
                <a:cs typeface="Open Sans" pitchFamily="34" charset="-120"/>
              </a:rPr>
              <a:t>A IA automatiza tarefas repetitivas e manuais em diversos setores.</a:t>
            </a:r>
            <a:endParaRPr lang="en-US" sz="1500" dirty="0"/>
          </a:p>
        </p:txBody>
      </p:sp>
      <p:sp>
        <p:nvSpPr>
          <p:cNvPr id="41" name="Shape 39"/>
          <p:cNvSpPr/>
          <p:nvPr/>
        </p:nvSpPr>
        <p:spPr>
          <a:xfrm>
            <a:off x="6329020" y="3694176"/>
            <a:ext cx="5387188" cy="987552"/>
          </a:xfrm>
          <a:prstGeom prst="roundRect">
            <a:avLst>
              <a:gd name="adj" fmla="val 9259"/>
            </a:avLst>
          </a:prstGeom>
          <a:solidFill>
            <a:srgbClr val="000000"/>
          </a:solidFill>
          <a:ln/>
        </p:spPr>
      </p:sp>
      <p:sp>
        <p:nvSpPr>
          <p:cNvPr id="42" name="Shape 40"/>
          <p:cNvSpPr/>
          <p:nvPr/>
        </p:nvSpPr>
        <p:spPr>
          <a:xfrm>
            <a:off x="6301588" y="3657600"/>
            <a:ext cx="5387188" cy="987552"/>
          </a:xfrm>
          <a:prstGeom prst="roundRect">
            <a:avLst>
              <a:gd name="adj" fmla="val 5556"/>
            </a:avLst>
          </a:prstGeom>
          <a:solidFill>
            <a:srgbClr val="141E34"/>
          </a:solidFill>
          <a:ln/>
        </p:spPr>
      </p:sp>
      <p:sp>
        <p:nvSpPr>
          <p:cNvPr id="43" name="Shape 41"/>
          <p:cNvSpPr/>
          <p:nvPr/>
        </p:nvSpPr>
        <p:spPr>
          <a:xfrm>
            <a:off x="6301588" y="3657600"/>
            <a:ext cx="45720" cy="987552"/>
          </a:xfrm>
          <a:prstGeom prst="rect">
            <a:avLst>
              <a:gd name="adj" fmla="val 120000"/>
            </a:avLst>
          </a:prstGeom>
          <a:solidFill>
            <a:srgbClr val="6C63FF"/>
          </a:solidFill>
          <a:ln/>
        </p:spPr>
      </p:sp>
      <p:sp>
        <p:nvSpPr>
          <p:cNvPr id="44" name="Shape 42"/>
          <p:cNvSpPr/>
          <p:nvPr/>
        </p:nvSpPr>
        <p:spPr>
          <a:xfrm>
            <a:off x="6429604" y="4014216"/>
            <a:ext cx="274320" cy="274320"/>
          </a:xfrm>
          <a:prstGeom prst="roundRect">
            <a:avLst>
              <a:gd name="adj" fmla="val 20000"/>
            </a:avLst>
          </a:prstGeom>
          <a:solidFill>
            <a:srgbClr val="6C63FF"/>
          </a:solidFill>
          <a:ln/>
        </p:spPr>
      </p:sp>
      <p:sp>
        <p:nvSpPr>
          <p:cNvPr id="45" name="Text 43"/>
          <p:cNvSpPr/>
          <p:nvPr/>
        </p:nvSpPr>
        <p:spPr>
          <a:xfrm>
            <a:off x="6429604" y="4014216"/>
            <a:ext cx="274320" cy="274320"/>
          </a:xfrm>
          <a:prstGeom prst="rect">
            <a:avLst/>
          </a:prstGeom>
          <a:noFill/>
          <a:ln/>
        </p:spPr>
        <p:txBody>
          <a:bodyPr wrap="square"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6</a:t>
            </a:r>
            <a:endParaRPr lang="en-US" sz="1100" dirty="0"/>
          </a:p>
        </p:txBody>
      </p:sp>
      <p:sp>
        <p:nvSpPr>
          <p:cNvPr id="46" name="Text 44"/>
          <p:cNvSpPr/>
          <p:nvPr/>
        </p:nvSpPr>
        <p:spPr>
          <a:xfrm>
            <a:off x="6777076" y="3685032"/>
            <a:ext cx="4838548" cy="932688"/>
          </a:xfrm>
          <a:prstGeom prst="rect">
            <a:avLst/>
          </a:prstGeom>
          <a:noFill/>
          <a:ln/>
        </p:spPr>
        <p:txBody>
          <a:bodyPr wrap="square" rtlCol="0" anchor="ctr"/>
          <a:lstStyle/>
          <a:p>
            <a:pPr indent="0" marL="0">
              <a:lnSpc>
                <a:spcPct val="118000"/>
              </a:lnSpc>
              <a:buNone/>
            </a:pPr>
            <a:r>
              <a:rPr lang="en-US" sz="1500" dirty="0">
                <a:solidFill>
                  <a:srgbClr val="E8EDF5"/>
                </a:solidFill>
                <a:latin typeface="Open Sans" pitchFamily="34" charset="0"/>
                <a:ea typeface="Open Sans" pitchFamily="34" charset="-122"/>
                <a:cs typeface="Open Sans" pitchFamily="34" charset="-120"/>
              </a:rPr>
              <a:t>Ela otimiza processos, reduzindo custos e aumentando a velocidade das operações.</a:t>
            </a:r>
            <a:endParaRPr lang="en-US" sz="1500" dirty="0"/>
          </a:p>
        </p:txBody>
      </p:sp>
      <p:sp>
        <p:nvSpPr>
          <p:cNvPr id="47" name="Shape 45"/>
          <p:cNvSpPr/>
          <p:nvPr/>
        </p:nvSpPr>
        <p:spPr>
          <a:xfrm>
            <a:off x="0" y="6601968"/>
            <a:ext cx="2041093" cy="4572"/>
          </a:xfrm>
          <a:prstGeom prst="rect">
            <a:avLst/>
          </a:prstGeom>
          <a:solidFill>
            <a:srgbClr val="6C63FF"/>
          </a:solidFill>
          <a:ln/>
        </p:spPr>
      </p:sp>
      <p:sp>
        <p:nvSpPr>
          <p:cNvPr id="48" name="Shape 46"/>
          <p:cNvSpPr/>
          <p:nvPr/>
        </p:nvSpPr>
        <p:spPr>
          <a:xfrm>
            <a:off x="2031949" y="6601968"/>
            <a:ext cx="2041093" cy="4572"/>
          </a:xfrm>
          <a:prstGeom prst="rect">
            <a:avLst/>
          </a:prstGeom>
          <a:solidFill>
            <a:srgbClr val="6C63FF"/>
          </a:solidFill>
          <a:ln/>
        </p:spPr>
      </p:sp>
      <p:sp>
        <p:nvSpPr>
          <p:cNvPr id="49" name="Shape 47"/>
          <p:cNvSpPr/>
          <p:nvPr/>
        </p:nvSpPr>
        <p:spPr>
          <a:xfrm>
            <a:off x="4063898" y="6601968"/>
            <a:ext cx="2041093" cy="4572"/>
          </a:xfrm>
          <a:prstGeom prst="rect">
            <a:avLst/>
          </a:prstGeom>
          <a:solidFill>
            <a:srgbClr val="6C63FF"/>
          </a:solidFill>
          <a:ln/>
        </p:spPr>
      </p:sp>
      <p:sp>
        <p:nvSpPr>
          <p:cNvPr id="50" name="Shape 48"/>
          <p:cNvSpPr/>
          <p:nvPr/>
        </p:nvSpPr>
        <p:spPr>
          <a:xfrm>
            <a:off x="6095848" y="6601968"/>
            <a:ext cx="2041093" cy="4572"/>
          </a:xfrm>
          <a:prstGeom prst="rect">
            <a:avLst/>
          </a:prstGeom>
          <a:solidFill>
            <a:srgbClr val="6C63FF"/>
          </a:solidFill>
          <a:ln/>
        </p:spPr>
      </p:sp>
      <p:sp>
        <p:nvSpPr>
          <p:cNvPr id="51" name="Shape 49"/>
          <p:cNvSpPr/>
          <p:nvPr/>
        </p:nvSpPr>
        <p:spPr>
          <a:xfrm>
            <a:off x="8127797" y="6601968"/>
            <a:ext cx="2041093" cy="4572"/>
          </a:xfrm>
          <a:prstGeom prst="rect">
            <a:avLst/>
          </a:prstGeom>
          <a:solidFill>
            <a:srgbClr val="6C63FF"/>
          </a:solidFill>
          <a:ln/>
        </p:spPr>
      </p:sp>
      <p:sp>
        <p:nvSpPr>
          <p:cNvPr id="52" name="Shape 50"/>
          <p:cNvSpPr/>
          <p:nvPr/>
        </p:nvSpPr>
        <p:spPr>
          <a:xfrm>
            <a:off x="10159746" y="6601968"/>
            <a:ext cx="2041093" cy="4572"/>
          </a:xfrm>
          <a:prstGeom prst="rect">
            <a:avLst/>
          </a:prstGeom>
          <a:solidFill>
            <a:srgbClr val="6C63FF"/>
          </a:solidFill>
          <a:ln/>
        </p:spPr>
      </p:sp>
      <p:sp>
        <p:nvSpPr>
          <p:cNvPr id="53" name="Shape 51"/>
          <p:cNvSpPr/>
          <p:nvPr/>
        </p:nvSpPr>
        <p:spPr>
          <a:xfrm>
            <a:off x="0" y="6606540"/>
            <a:ext cx="12191695" cy="2743"/>
          </a:xfrm>
          <a:prstGeom prst="rect">
            <a:avLst/>
          </a:prstGeom>
          <a:solidFill>
            <a:srgbClr val="222E48"/>
          </a:solidFill>
          <a:ln/>
        </p:spPr>
      </p:sp>
      <p:sp>
        <p:nvSpPr>
          <p:cNvPr id="54" name="Text 52"/>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55" name="Shape 53"/>
          <p:cNvSpPr/>
          <p:nvPr/>
        </p:nvSpPr>
        <p:spPr>
          <a:xfrm>
            <a:off x="10436047" y="6693408"/>
            <a:ext cx="73152" cy="73152"/>
          </a:xfrm>
          <a:prstGeom prst="ellipse">
            <a:avLst/>
          </a:prstGeom>
          <a:solidFill>
            <a:srgbClr val="6C63FF"/>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F59E0B"/>
          </a:solidFill>
          <a:ln/>
        </p:spPr>
      </p:sp>
      <p:sp>
        <p:nvSpPr>
          <p:cNvPr id="3" name="Shape 1"/>
          <p:cNvSpPr/>
          <p:nvPr/>
        </p:nvSpPr>
        <p:spPr>
          <a:xfrm>
            <a:off x="64008" y="0"/>
            <a:ext cx="18288" cy="6858000"/>
          </a:xfrm>
          <a:prstGeom prst="rect">
            <a:avLst/>
          </a:prstGeom>
          <a:solidFill>
            <a:srgbClr val="F59E0B"/>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F59E0B"/>
                </a:solidFill>
                <a:latin typeface="Open Sans" pitchFamily="34" charset="0"/>
                <a:ea typeface="Open Sans" pitchFamily="34" charset="-122"/>
                <a:cs typeface="Open Sans" pitchFamily="34" charset="-120"/>
              </a:rPr>
              <a:t>APLICAÇÕES REAIS</a:t>
            </a:r>
            <a:endParaRPr lang="en-US" sz="900" dirty="0"/>
          </a:p>
        </p:txBody>
      </p:sp>
      <p:sp>
        <p:nvSpPr>
          <p:cNvPr id="5" name="Shape 3"/>
          <p:cNvSpPr/>
          <p:nvPr/>
        </p:nvSpPr>
        <p:spPr>
          <a:xfrm>
            <a:off x="502920" y="493776"/>
            <a:ext cx="640080" cy="21946"/>
          </a:xfrm>
          <a:prstGeom prst="rect">
            <a:avLst/>
          </a:prstGeom>
          <a:solidFill>
            <a:srgbClr val="F59E0B"/>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Aplicações reais (Parte 2)</a:t>
            </a:r>
            <a:endParaRPr lang="en-US" sz="2800" dirty="0"/>
          </a:p>
        </p:txBody>
      </p:sp>
      <p:sp>
        <p:nvSpPr>
          <p:cNvPr id="7" name="Shape 5"/>
          <p:cNvSpPr/>
          <p:nvPr/>
        </p:nvSpPr>
        <p:spPr>
          <a:xfrm>
            <a:off x="502920" y="1389888"/>
            <a:ext cx="11185855" cy="7315"/>
          </a:xfrm>
          <a:prstGeom prst="rect">
            <a:avLst/>
          </a:prstGeom>
          <a:solidFill>
            <a:srgbClr val="F59E0B"/>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621792" y="1572768"/>
            <a:ext cx="3603650" cy="1527048"/>
          </a:xfrm>
          <a:prstGeom prst="roundRect">
            <a:avLst>
              <a:gd name="adj" fmla="val 5988"/>
            </a:avLst>
          </a:prstGeom>
          <a:solidFill>
            <a:srgbClr val="000000"/>
          </a:solidFill>
          <a:ln/>
        </p:spPr>
      </p:sp>
      <p:sp>
        <p:nvSpPr>
          <p:cNvPr id="10" name="Shape 8"/>
          <p:cNvSpPr/>
          <p:nvPr/>
        </p:nvSpPr>
        <p:spPr>
          <a:xfrm>
            <a:off x="594360" y="1536192"/>
            <a:ext cx="3603650" cy="1527048"/>
          </a:xfrm>
          <a:prstGeom prst="roundRect">
            <a:avLst>
              <a:gd name="adj" fmla="val 5988"/>
            </a:avLst>
          </a:prstGeom>
          <a:solidFill>
            <a:srgbClr val="141E34"/>
          </a:solidFill>
          <a:ln/>
        </p:spPr>
      </p:sp>
      <p:sp>
        <p:nvSpPr>
          <p:cNvPr id="11" name="Shape 9"/>
          <p:cNvSpPr/>
          <p:nvPr/>
        </p:nvSpPr>
        <p:spPr>
          <a:xfrm>
            <a:off x="594360" y="1536192"/>
            <a:ext cx="3603650" cy="45720"/>
          </a:xfrm>
          <a:prstGeom prst="rect">
            <a:avLst>
              <a:gd name="adj" fmla="val 200000"/>
            </a:avLst>
          </a:prstGeom>
          <a:solidFill>
            <a:srgbClr val="6C63FF"/>
          </a:solidFill>
          <a:ln/>
        </p:spPr>
      </p:sp>
      <p:sp>
        <p:nvSpPr>
          <p:cNvPr id="12" name="Text 10"/>
          <p:cNvSpPr/>
          <p:nvPr/>
        </p:nvSpPr>
        <p:spPr>
          <a:xfrm>
            <a:off x="3603650" y="1627632"/>
            <a:ext cx="502920" cy="365760"/>
          </a:xfrm>
          <a:prstGeom prst="rect">
            <a:avLst/>
          </a:prstGeom>
          <a:noFill/>
          <a:ln/>
        </p:spPr>
        <p:txBody>
          <a:bodyPr wrap="square" rtlCol="0" anchor="ctr"/>
          <a:lstStyle/>
          <a:p>
            <a:pPr algn="r" indent="0" marL="0">
              <a:buNone/>
            </a:pPr>
            <a:r>
              <a:rPr lang="en-US" sz="2400" b="1" dirty="0">
                <a:solidFill>
                  <a:srgbClr val="6C63FF">
                    <a:alpha val="75000"/>
                  </a:srgbClr>
                </a:solidFill>
                <a:latin typeface="Montserrat" pitchFamily="34" charset="0"/>
                <a:ea typeface="Montserrat" pitchFamily="34" charset="-122"/>
                <a:cs typeface="Montserrat" pitchFamily="34" charset="-120"/>
              </a:rPr>
              <a:t>01</a:t>
            </a:r>
            <a:endParaRPr lang="en-US" sz="2400" dirty="0"/>
          </a:p>
        </p:txBody>
      </p:sp>
      <p:sp>
        <p:nvSpPr>
          <p:cNvPr id="13" name="Text 11"/>
          <p:cNvSpPr/>
          <p:nvPr/>
        </p:nvSpPr>
        <p:spPr>
          <a:xfrm>
            <a:off x="722376" y="1682496"/>
            <a:ext cx="2835554" cy="1252728"/>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Sistemas de IA analisam grandes volumes de dados para identificar gargalos e ineficiências.</a:t>
            </a:r>
            <a:endParaRPr lang="en-US" sz="1300" dirty="0"/>
          </a:p>
        </p:txBody>
      </p:sp>
      <p:sp>
        <p:nvSpPr>
          <p:cNvPr id="14" name="Shape 12"/>
          <p:cNvSpPr/>
          <p:nvPr/>
        </p:nvSpPr>
        <p:spPr>
          <a:xfrm>
            <a:off x="4390034" y="1572768"/>
            <a:ext cx="3603650" cy="1527048"/>
          </a:xfrm>
          <a:prstGeom prst="roundRect">
            <a:avLst>
              <a:gd name="adj" fmla="val 5988"/>
            </a:avLst>
          </a:prstGeom>
          <a:solidFill>
            <a:srgbClr val="000000"/>
          </a:solidFill>
          <a:ln/>
        </p:spPr>
      </p:sp>
      <p:sp>
        <p:nvSpPr>
          <p:cNvPr id="15" name="Shape 13"/>
          <p:cNvSpPr/>
          <p:nvPr/>
        </p:nvSpPr>
        <p:spPr>
          <a:xfrm>
            <a:off x="4362602" y="1536192"/>
            <a:ext cx="3603650" cy="1527048"/>
          </a:xfrm>
          <a:prstGeom prst="roundRect">
            <a:avLst>
              <a:gd name="adj" fmla="val 5988"/>
            </a:avLst>
          </a:prstGeom>
          <a:solidFill>
            <a:srgbClr val="141E34"/>
          </a:solidFill>
          <a:ln/>
        </p:spPr>
      </p:sp>
      <p:sp>
        <p:nvSpPr>
          <p:cNvPr id="16" name="Shape 14"/>
          <p:cNvSpPr/>
          <p:nvPr/>
        </p:nvSpPr>
        <p:spPr>
          <a:xfrm>
            <a:off x="4362602" y="1536192"/>
            <a:ext cx="3603650" cy="45720"/>
          </a:xfrm>
          <a:prstGeom prst="rect">
            <a:avLst>
              <a:gd name="adj" fmla="val 200000"/>
            </a:avLst>
          </a:prstGeom>
          <a:solidFill>
            <a:srgbClr val="3B82F6"/>
          </a:solidFill>
          <a:ln/>
        </p:spPr>
      </p:sp>
      <p:sp>
        <p:nvSpPr>
          <p:cNvPr id="17" name="Text 15"/>
          <p:cNvSpPr/>
          <p:nvPr/>
        </p:nvSpPr>
        <p:spPr>
          <a:xfrm>
            <a:off x="7371893" y="1627632"/>
            <a:ext cx="502920" cy="365760"/>
          </a:xfrm>
          <a:prstGeom prst="rect">
            <a:avLst/>
          </a:prstGeom>
          <a:noFill/>
          <a:ln/>
        </p:spPr>
        <p:txBody>
          <a:bodyPr wrap="square" rtlCol="0" anchor="ctr"/>
          <a:lstStyle/>
          <a:p>
            <a:pPr algn="r" indent="0" marL="0">
              <a:buNone/>
            </a:pPr>
            <a:r>
              <a:rPr lang="en-US" sz="2400" b="1" dirty="0">
                <a:solidFill>
                  <a:srgbClr val="3B82F6">
                    <a:alpha val="75000"/>
                  </a:srgbClr>
                </a:solidFill>
                <a:latin typeface="Montserrat" pitchFamily="34" charset="0"/>
                <a:ea typeface="Montserrat" pitchFamily="34" charset="-122"/>
                <a:cs typeface="Montserrat" pitchFamily="34" charset="-120"/>
              </a:rPr>
              <a:t>02</a:t>
            </a:r>
            <a:endParaRPr lang="en-US" sz="2400" dirty="0"/>
          </a:p>
        </p:txBody>
      </p:sp>
      <p:sp>
        <p:nvSpPr>
          <p:cNvPr id="18" name="Text 16"/>
          <p:cNvSpPr/>
          <p:nvPr/>
        </p:nvSpPr>
        <p:spPr>
          <a:xfrm>
            <a:off x="4490618" y="1682496"/>
            <a:ext cx="2835554" cy="1252728"/>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A produtividade das equipes eleva-se ao delegar tarefas rotineiras à IA.</a:t>
            </a:r>
            <a:endParaRPr lang="en-US" sz="1300" dirty="0"/>
          </a:p>
        </p:txBody>
      </p:sp>
      <p:sp>
        <p:nvSpPr>
          <p:cNvPr id="19" name="Shape 17"/>
          <p:cNvSpPr/>
          <p:nvPr/>
        </p:nvSpPr>
        <p:spPr>
          <a:xfrm>
            <a:off x="8158277" y="1572768"/>
            <a:ext cx="3603650" cy="1527048"/>
          </a:xfrm>
          <a:prstGeom prst="roundRect">
            <a:avLst>
              <a:gd name="adj" fmla="val 5988"/>
            </a:avLst>
          </a:prstGeom>
          <a:solidFill>
            <a:srgbClr val="000000"/>
          </a:solidFill>
          <a:ln/>
        </p:spPr>
      </p:sp>
      <p:sp>
        <p:nvSpPr>
          <p:cNvPr id="20" name="Shape 18"/>
          <p:cNvSpPr/>
          <p:nvPr/>
        </p:nvSpPr>
        <p:spPr>
          <a:xfrm>
            <a:off x="8130845" y="1536192"/>
            <a:ext cx="3603650" cy="1527048"/>
          </a:xfrm>
          <a:prstGeom prst="roundRect">
            <a:avLst>
              <a:gd name="adj" fmla="val 5988"/>
            </a:avLst>
          </a:prstGeom>
          <a:solidFill>
            <a:srgbClr val="141E34"/>
          </a:solidFill>
          <a:ln/>
        </p:spPr>
      </p:sp>
      <p:sp>
        <p:nvSpPr>
          <p:cNvPr id="21" name="Shape 19"/>
          <p:cNvSpPr/>
          <p:nvPr/>
        </p:nvSpPr>
        <p:spPr>
          <a:xfrm>
            <a:off x="8130845" y="1536192"/>
            <a:ext cx="3603650" cy="45720"/>
          </a:xfrm>
          <a:prstGeom prst="rect">
            <a:avLst>
              <a:gd name="adj" fmla="val 200000"/>
            </a:avLst>
          </a:prstGeom>
          <a:solidFill>
            <a:srgbClr val="10B981"/>
          </a:solidFill>
          <a:ln/>
        </p:spPr>
      </p:sp>
      <p:sp>
        <p:nvSpPr>
          <p:cNvPr id="22" name="Text 20"/>
          <p:cNvSpPr/>
          <p:nvPr/>
        </p:nvSpPr>
        <p:spPr>
          <a:xfrm>
            <a:off x="11140135" y="1627632"/>
            <a:ext cx="502920" cy="365760"/>
          </a:xfrm>
          <a:prstGeom prst="rect">
            <a:avLst/>
          </a:prstGeom>
          <a:noFill/>
          <a:ln/>
        </p:spPr>
        <p:txBody>
          <a:bodyPr wrap="square" rtlCol="0" anchor="ctr"/>
          <a:lstStyle/>
          <a:p>
            <a:pPr algn="r" indent="0" marL="0">
              <a:buNone/>
            </a:pPr>
            <a:r>
              <a:rPr lang="en-US" sz="2400" b="1" dirty="0">
                <a:solidFill>
                  <a:srgbClr val="10B981">
                    <a:alpha val="75000"/>
                  </a:srgbClr>
                </a:solidFill>
                <a:latin typeface="Montserrat" pitchFamily="34" charset="0"/>
                <a:ea typeface="Montserrat" pitchFamily="34" charset="-122"/>
                <a:cs typeface="Montserrat" pitchFamily="34" charset="-120"/>
              </a:rPr>
              <a:t>03</a:t>
            </a:r>
            <a:endParaRPr lang="en-US" sz="2400" dirty="0"/>
          </a:p>
        </p:txBody>
      </p:sp>
      <p:sp>
        <p:nvSpPr>
          <p:cNvPr id="23" name="Text 21"/>
          <p:cNvSpPr/>
          <p:nvPr/>
        </p:nvSpPr>
        <p:spPr>
          <a:xfrm>
            <a:off x="8258861" y="1682496"/>
            <a:ext cx="2835554" cy="1252728"/>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Empresas podem focar recursos humanos em atividades estratégicas e criativas.</a:t>
            </a:r>
            <a:endParaRPr lang="en-US" sz="1300" dirty="0"/>
          </a:p>
        </p:txBody>
      </p:sp>
      <p:sp>
        <p:nvSpPr>
          <p:cNvPr id="24" name="Shape 22"/>
          <p:cNvSpPr/>
          <p:nvPr/>
        </p:nvSpPr>
        <p:spPr>
          <a:xfrm>
            <a:off x="621792" y="3264408"/>
            <a:ext cx="3603650" cy="1527048"/>
          </a:xfrm>
          <a:prstGeom prst="roundRect">
            <a:avLst>
              <a:gd name="adj" fmla="val 5988"/>
            </a:avLst>
          </a:prstGeom>
          <a:solidFill>
            <a:srgbClr val="000000"/>
          </a:solidFill>
          <a:ln/>
        </p:spPr>
      </p:sp>
      <p:sp>
        <p:nvSpPr>
          <p:cNvPr id="25" name="Shape 23"/>
          <p:cNvSpPr/>
          <p:nvPr/>
        </p:nvSpPr>
        <p:spPr>
          <a:xfrm>
            <a:off x="594360" y="3227832"/>
            <a:ext cx="3603650" cy="1527048"/>
          </a:xfrm>
          <a:prstGeom prst="roundRect">
            <a:avLst>
              <a:gd name="adj" fmla="val 5988"/>
            </a:avLst>
          </a:prstGeom>
          <a:solidFill>
            <a:srgbClr val="141E34"/>
          </a:solidFill>
          <a:ln/>
        </p:spPr>
      </p:sp>
      <p:sp>
        <p:nvSpPr>
          <p:cNvPr id="26" name="Shape 24"/>
          <p:cNvSpPr/>
          <p:nvPr/>
        </p:nvSpPr>
        <p:spPr>
          <a:xfrm>
            <a:off x="594360" y="3227832"/>
            <a:ext cx="3603650" cy="45720"/>
          </a:xfrm>
          <a:prstGeom prst="rect">
            <a:avLst>
              <a:gd name="adj" fmla="val 200000"/>
            </a:avLst>
          </a:prstGeom>
          <a:solidFill>
            <a:srgbClr val="F59E0B"/>
          </a:solidFill>
          <a:ln/>
        </p:spPr>
      </p:sp>
      <p:sp>
        <p:nvSpPr>
          <p:cNvPr id="27" name="Text 25"/>
          <p:cNvSpPr/>
          <p:nvPr/>
        </p:nvSpPr>
        <p:spPr>
          <a:xfrm>
            <a:off x="3603650" y="3319272"/>
            <a:ext cx="502920" cy="365760"/>
          </a:xfrm>
          <a:prstGeom prst="rect">
            <a:avLst/>
          </a:prstGeom>
          <a:noFill/>
          <a:ln/>
        </p:spPr>
        <p:txBody>
          <a:bodyPr wrap="square" rtlCol="0" anchor="ctr"/>
          <a:lstStyle/>
          <a:p>
            <a:pPr algn="r" indent="0" marL="0">
              <a:buNone/>
            </a:pPr>
            <a:r>
              <a:rPr lang="en-US" sz="2400" b="1" dirty="0">
                <a:solidFill>
                  <a:srgbClr val="F59E0B">
                    <a:alpha val="75000"/>
                  </a:srgbClr>
                </a:solidFill>
                <a:latin typeface="Montserrat" pitchFamily="34" charset="0"/>
                <a:ea typeface="Montserrat" pitchFamily="34" charset="-122"/>
                <a:cs typeface="Montserrat" pitchFamily="34" charset="-120"/>
              </a:rPr>
              <a:t>04</a:t>
            </a:r>
            <a:endParaRPr lang="en-US" sz="2400" dirty="0"/>
          </a:p>
        </p:txBody>
      </p:sp>
      <p:sp>
        <p:nvSpPr>
          <p:cNvPr id="28" name="Text 26"/>
          <p:cNvSpPr/>
          <p:nvPr/>
        </p:nvSpPr>
        <p:spPr>
          <a:xfrm>
            <a:off x="722376" y="3374136"/>
            <a:ext cx="2835554" cy="1252728"/>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A IA permite criar experiências personalizadas em grande escala para os clientes.</a:t>
            </a:r>
            <a:endParaRPr lang="en-US" sz="1300" dirty="0"/>
          </a:p>
        </p:txBody>
      </p:sp>
      <p:sp>
        <p:nvSpPr>
          <p:cNvPr id="29" name="Shape 27"/>
          <p:cNvSpPr/>
          <p:nvPr/>
        </p:nvSpPr>
        <p:spPr>
          <a:xfrm>
            <a:off x="4390034" y="3264408"/>
            <a:ext cx="3603650" cy="1527048"/>
          </a:xfrm>
          <a:prstGeom prst="roundRect">
            <a:avLst>
              <a:gd name="adj" fmla="val 5988"/>
            </a:avLst>
          </a:prstGeom>
          <a:solidFill>
            <a:srgbClr val="000000"/>
          </a:solidFill>
          <a:ln/>
        </p:spPr>
      </p:sp>
      <p:sp>
        <p:nvSpPr>
          <p:cNvPr id="30" name="Shape 28"/>
          <p:cNvSpPr/>
          <p:nvPr/>
        </p:nvSpPr>
        <p:spPr>
          <a:xfrm>
            <a:off x="4362602" y="3227832"/>
            <a:ext cx="3603650" cy="1527048"/>
          </a:xfrm>
          <a:prstGeom prst="roundRect">
            <a:avLst>
              <a:gd name="adj" fmla="val 5988"/>
            </a:avLst>
          </a:prstGeom>
          <a:solidFill>
            <a:srgbClr val="141E34"/>
          </a:solidFill>
          <a:ln/>
        </p:spPr>
      </p:sp>
      <p:sp>
        <p:nvSpPr>
          <p:cNvPr id="31" name="Shape 29"/>
          <p:cNvSpPr/>
          <p:nvPr/>
        </p:nvSpPr>
        <p:spPr>
          <a:xfrm>
            <a:off x="4362602" y="3227832"/>
            <a:ext cx="3603650" cy="45720"/>
          </a:xfrm>
          <a:prstGeom prst="rect">
            <a:avLst>
              <a:gd name="adj" fmla="val 200000"/>
            </a:avLst>
          </a:prstGeom>
          <a:solidFill>
            <a:srgbClr val="06B6D4"/>
          </a:solidFill>
          <a:ln/>
        </p:spPr>
      </p:sp>
      <p:sp>
        <p:nvSpPr>
          <p:cNvPr id="32" name="Text 30"/>
          <p:cNvSpPr/>
          <p:nvPr/>
        </p:nvSpPr>
        <p:spPr>
          <a:xfrm>
            <a:off x="7371893" y="3319272"/>
            <a:ext cx="502920" cy="365760"/>
          </a:xfrm>
          <a:prstGeom prst="rect">
            <a:avLst/>
          </a:prstGeom>
          <a:noFill/>
          <a:ln/>
        </p:spPr>
        <p:txBody>
          <a:bodyPr wrap="square" rtlCol="0" anchor="ctr"/>
          <a:lstStyle/>
          <a:p>
            <a:pPr algn="r" indent="0" marL="0">
              <a:buNone/>
            </a:pPr>
            <a:r>
              <a:rPr lang="en-US" sz="2400" b="1" dirty="0">
                <a:solidFill>
                  <a:srgbClr val="06B6D4">
                    <a:alpha val="75000"/>
                  </a:srgbClr>
                </a:solidFill>
                <a:latin typeface="Montserrat" pitchFamily="34" charset="0"/>
                <a:ea typeface="Montserrat" pitchFamily="34" charset="-122"/>
                <a:cs typeface="Montserrat" pitchFamily="34" charset="-120"/>
              </a:rPr>
              <a:t>05</a:t>
            </a:r>
            <a:endParaRPr lang="en-US" sz="2400" dirty="0"/>
          </a:p>
        </p:txBody>
      </p:sp>
      <p:sp>
        <p:nvSpPr>
          <p:cNvPr id="33" name="Text 31"/>
          <p:cNvSpPr/>
          <p:nvPr/>
        </p:nvSpPr>
        <p:spPr>
          <a:xfrm>
            <a:off x="4490618" y="3374136"/>
            <a:ext cx="2835554" cy="1252728"/>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Sistemas de recomendação ajustam ofertas com base no comportamento individual.</a:t>
            </a:r>
            <a:endParaRPr lang="en-US" sz="1300" dirty="0"/>
          </a:p>
        </p:txBody>
      </p:sp>
      <p:sp>
        <p:nvSpPr>
          <p:cNvPr id="34" name="Shape 32"/>
          <p:cNvSpPr/>
          <p:nvPr/>
        </p:nvSpPr>
        <p:spPr>
          <a:xfrm>
            <a:off x="8158277" y="3264408"/>
            <a:ext cx="3603650" cy="1527048"/>
          </a:xfrm>
          <a:prstGeom prst="roundRect">
            <a:avLst>
              <a:gd name="adj" fmla="val 5988"/>
            </a:avLst>
          </a:prstGeom>
          <a:solidFill>
            <a:srgbClr val="000000"/>
          </a:solidFill>
          <a:ln/>
        </p:spPr>
      </p:sp>
      <p:sp>
        <p:nvSpPr>
          <p:cNvPr id="35" name="Shape 33"/>
          <p:cNvSpPr/>
          <p:nvPr/>
        </p:nvSpPr>
        <p:spPr>
          <a:xfrm>
            <a:off x="8130845" y="3227832"/>
            <a:ext cx="3603650" cy="1527048"/>
          </a:xfrm>
          <a:prstGeom prst="roundRect">
            <a:avLst>
              <a:gd name="adj" fmla="val 5988"/>
            </a:avLst>
          </a:prstGeom>
          <a:solidFill>
            <a:srgbClr val="141E34"/>
          </a:solidFill>
          <a:ln/>
        </p:spPr>
      </p:sp>
      <p:sp>
        <p:nvSpPr>
          <p:cNvPr id="36" name="Shape 34"/>
          <p:cNvSpPr/>
          <p:nvPr/>
        </p:nvSpPr>
        <p:spPr>
          <a:xfrm>
            <a:off x="8130845" y="3227832"/>
            <a:ext cx="3603650" cy="45720"/>
          </a:xfrm>
          <a:prstGeom prst="rect">
            <a:avLst>
              <a:gd name="adj" fmla="val 200000"/>
            </a:avLst>
          </a:prstGeom>
          <a:solidFill>
            <a:srgbClr val="6C63FF"/>
          </a:solidFill>
          <a:ln/>
        </p:spPr>
      </p:sp>
      <p:sp>
        <p:nvSpPr>
          <p:cNvPr id="37" name="Text 35"/>
          <p:cNvSpPr/>
          <p:nvPr/>
        </p:nvSpPr>
        <p:spPr>
          <a:xfrm>
            <a:off x="11140135" y="3319272"/>
            <a:ext cx="502920" cy="365760"/>
          </a:xfrm>
          <a:prstGeom prst="rect">
            <a:avLst/>
          </a:prstGeom>
          <a:noFill/>
          <a:ln/>
        </p:spPr>
        <p:txBody>
          <a:bodyPr wrap="square" rtlCol="0" anchor="ctr"/>
          <a:lstStyle/>
          <a:p>
            <a:pPr algn="r" indent="0" marL="0">
              <a:buNone/>
            </a:pPr>
            <a:r>
              <a:rPr lang="en-US" sz="2400" b="1" dirty="0">
                <a:solidFill>
                  <a:srgbClr val="6C63FF">
                    <a:alpha val="75000"/>
                  </a:srgbClr>
                </a:solidFill>
                <a:latin typeface="Montserrat" pitchFamily="34" charset="0"/>
                <a:ea typeface="Montserrat" pitchFamily="34" charset="-122"/>
                <a:cs typeface="Montserrat" pitchFamily="34" charset="-120"/>
              </a:rPr>
              <a:t>06</a:t>
            </a:r>
            <a:endParaRPr lang="en-US" sz="2400" dirty="0"/>
          </a:p>
        </p:txBody>
      </p:sp>
      <p:sp>
        <p:nvSpPr>
          <p:cNvPr id="38" name="Text 36"/>
          <p:cNvSpPr/>
          <p:nvPr/>
        </p:nvSpPr>
        <p:spPr>
          <a:xfrm>
            <a:off x="8258861" y="3374136"/>
            <a:ext cx="2835554" cy="1252728"/>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Chatbots e assistentes virtuais oferecem suporte ao cliente 24 horas por dia.</a:t>
            </a:r>
            <a:endParaRPr lang="en-US" sz="1300" dirty="0"/>
          </a:p>
        </p:txBody>
      </p:sp>
      <p:sp>
        <p:nvSpPr>
          <p:cNvPr id="39" name="Shape 37"/>
          <p:cNvSpPr/>
          <p:nvPr/>
        </p:nvSpPr>
        <p:spPr>
          <a:xfrm>
            <a:off x="621792" y="4956048"/>
            <a:ext cx="3603650" cy="1527048"/>
          </a:xfrm>
          <a:prstGeom prst="roundRect">
            <a:avLst>
              <a:gd name="adj" fmla="val 5988"/>
            </a:avLst>
          </a:prstGeom>
          <a:solidFill>
            <a:srgbClr val="000000"/>
          </a:solidFill>
          <a:ln/>
        </p:spPr>
      </p:sp>
      <p:sp>
        <p:nvSpPr>
          <p:cNvPr id="40" name="Shape 38"/>
          <p:cNvSpPr/>
          <p:nvPr/>
        </p:nvSpPr>
        <p:spPr>
          <a:xfrm>
            <a:off x="594360" y="4919472"/>
            <a:ext cx="3603650" cy="1527048"/>
          </a:xfrm>
          <a:prstGeom prst="roundRect">
            <a:avLst>
              <a:gd name="adj" fmla="val 5988"/>
            </a:avLst>
          </a:prstGeom>
          <a:solidFill>
            <a:srgbClr val="141E34"/>
          </a:solidFill>
          <a:ln/>
        </p:spPr>
      </p:sp>
      <p:sp>
        <p:nvSpPr>
          <p:cNvPr id="41" name="Shape 39"/>
          <p:cNvSpPr/>
          <p:nvPr/>
        </p:nvSpPr>
        <p:spPr>
          <a:xfrm>
            <a:off x="594360" y="4919472"/>
            <a:ext cx="3603650" cy="45720"/>
          </a:xfrm>
          <a:prstGeom prst="rect">
            <a:avLst>
              <a:gd name="adj" fmla="val 200000"/>
            </a:avLst>
          </a:prstGeom>
          <a:solidFill>
            <a:srgbClr val="3B82F6"/>
          </a:solidFill>
          <a:ln/>
        </p:spPr>
      </p:sp>
      <p:sp>
        <p:nvSpPr>
          <p:cNvPr id="42" name="Text 40"/>
          <p:cNvSpPr/>
          <p:nvPr/>
        </p:nvSpPr>
        <p:spPr>
          <a:xfrm>
            <a:off x="3603650" y="5010912"/>
            <a:ext cx="502920" cy="365760"/>
          </a:xfrm>
          <a:prstGeom prst="rect">
            <a:avLst/>
          </a:prstGeom>
          <a:noFill/>
          <a:ln/>
        </p:spPr>
        <p:txBody>
          <a:bodyPr wrap="square" rtlCol="0" anchor="ctr"/>
          <a:lstStyle/>
          <a:p>
            <a:pPr algn="r" indent="0" marL="0">
              <a:buNone/>
            </a:pPr>
            <a:r>
              <a:rPr lang="en-US" sz="2400" b="1" dirty="0">
                <a:solidFill>
                  <a:srgbClr val="3B82F6">
                    <a:alpha val="75000"/>
                  </a:srgbClr>
                </a:solidFill>
                <a:latin typeface="Montserrat" pitchFamily="34" charset="0"/>
                <a:ea typeface="Montserrat" pitchFamily="34" charset="-122"/>
                <a:cs typeface="Montserrat" pitchFamily="34" charset="-120"/>
              </a:rPr>
              <a:t>07</a:t>
            </a:r>
            <a:endParaRPr lang="en-US" sz="2400" dirty="0"/>
          </a:p>
        </p:txBody>
      </p:sp>
      <p:sp>
        <p:nvSpPr>
          <p:cNvPr id="43" name="Text 41"/>
          <p:cNvSpPr/>
          <p:nvPr/>
        </p:nvSpPr>
        <p:spPr>
          <a:xfrm>
            <a:off x="722376" y="5065776"/>
            <a:ext cx="2835554" cy="1252728"/>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A análise de dados do cliente por IA melhora a segmentação de marketing.</a:t>
            </a:r>
            <a:endParaRPr lang="en-US" sz="1300" dirty="0"/>
          </a:p>
        </p:txBody>
      </p:sp>
      <p:sp>
        <p:nvSpPr>
          <p:cNvPr id="44" name="Shape 42"/>
          <p:cNvSpPr/>
          <p:nvPr/>
        </p:nvSpPr>
        <p:spPr>
          <a:xfrm>
            <a:off x="4390034" y="4956048"/>
            <a:ext cx="3603650" cy="1527048"/>
          </a:xfrm>
          <a:prstGeom prst="roundRect">
            <a:avLst>
              <a:gd name="adj" fmla="val 5988"/>
            </a:avLst>
          </a:prstGeom>
          <a:solidFill>
            <a:srgbClr val="000000"/>
          </a:solidFill>
          <a:ln/>
        </p:spPr>
      </p:sp>
      <p:sp>
        <p:nvSpPr>
          <p:cNvPr id="45" name="Shape 43"/>
          <p:cNvSpPr/>
          <p:nvPr/>
        </p:nvSpPr>
        <p:spPr>
          <a:xfrm>
            <a:off x="4362602" y="4919472"/>
            <a:ext cx="3603650" cy="1527048"/>
          </a:xfrm>
          <a:prstGeom prst="roundRect">
            <a:avLst>
              <a:gd name="adj" fmla="val 5988"/>
            </a:avLst>
          </a:prstGeom>
          <a:solidFill>
            <a:srgbClr val="141E34"/>
          </a:solidFill>
          <a:ln/>
        </p:spPr>
      </p:sp>
      <p:sp>
        <p:nvSpPr>
          <p:cNvPr id="46" name="Shape 44"/>
          <p:cNvSpPr/>
          <p:nvPr/>
        </p:nvSpPr>
        <p:spPr>
          <a:xfrm>
            <a:off x="4362602" y="4919472"/>
            <a:ext cx="3603650" cy="45720"/>
          </a:xfrm>
          <a:prstGeom prst="rect">
            <a:avLst>
              <a:gd name="adj" fmla="val 200000"/>
            </a:avLst>
          </a:prstGeom>
          <a:solidFill>
            <a:srgbClr val="10B981"/>
          </a:solidFill>
          <a:ln/>
        </p:spPr>
      </p:sp>
      <p:sp>
        <p:nvSpPr>
          <p:cNvPr id="47" name="Text 45"/>
          <p:cNvSpPr/>
          <p:nvPr/>
        </p:nvSpPr>
        <p:spPr>
          <a:xfrm>
            <a:off x="7371893" y="5010912"/>
            <a:ext cx="502920" cy="365760"/>
          </a:xfrm>
          <a:prstGeom prst="rect">
            <a:avLst/>
          </a:prstGeom>
          <a:noFill/>
          <a:ln/>
        </p:spPr>
        <p:txBody>
          <a:bodyPr wrap="square" rtlCol="0" anchor="ctr"/>
          <a:lstStyle/>
          <a:p>
            <a:pPr algn="r" indent="0" marL="0">
              <a:buNone/>
            </a:pPr>
            <a:r>
              <a:rPr lang="en-US" sz="2400" b="1" dirty="0">
                <a:solidFill>
                  <a:srgbClr val="10B981">
                    <a:alpha val="75000"/>
                  </a:srgbClr>
                </a:solidFill>
                <a:latin typeface="Montserrat" pitchFamily="34" charset="0"/>
                <a:ea typeface="Montserrat" pitchFamily="34" charset="-122"/>
                <a:cs typeface="Montserrat" pitchFamily="34" charset="-120"/>
              </a:rPr>
              <a:t>08</a:t>
            </a:r>
            <a:endParaRPr lang="en-US" sz="2400" dirty="0"/>
          </a:p>
        </p:txBody>
      </p:sp>
      <p:sp>
        <p:nvSpPr>
          <p:cNvPr id="48" name="Text 46"/>
          <p:cNvSpPr/>
          <p:nvPr/>
        </p:nvSpPr>
        <p:spPr>
          <a:xfrm>
            <a:off x="4490618" y="5065776"/>
            <a:ext cx="2835554" cy="1252728"/>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Os resultados incluem maior satisfação do cliente e aumento da lealdade à marca.</a:t>
            </a:r>
            <a:endParaRPr lang="en-US" sz="1300" dirty="0"/>
          </a:p>
        </p:txBody>
      </p:sp>
      <p:sp>
        <p:nvSpPr>
          <p:cNvPr id="49" name="Shape 47"/>
          <p:cNvSpPr/>
          <p:nvPr/>
        </p:nvSpPr>
        <p:spPr>
          <a:xfrm>
            <a:off x="8158277" y="4956048"/>
            <a:ext cx="3603650" cy="1527048"/>
          </a:xfrm>
          <a:prstGeom prst="roundRect">
            <a:avLst>
              <a:gd name="adj" fmla="val 5988"/>
            </a:avLst>
          </a:prstGeom>
          <a:solidFill>
            <a:srgbClr val="000000"/>
          </a:solidFill>
          <a:ln/>
        </p:spPr>
      </p:sp>
      <p:sp>
        <p:nvSpPr>
          <p:cNvPr id="50" name="Shape 48"/>
          <p:cNvSpPr/>
          <p:nvPr/>
        </p:nvSpPr>
        <p:spPr>
          <a:xfrm>
            <a:off x="8130845" y="4919472"/>
            <a:ext cx="3603650" cy="1527048"/>
          </a:xfrm>
          <a:prstGeom prst="roundRect">
            <a:avLst>
              <a:gd name="adj" fmla="val 5988"/>
            </a:avLst>
          </a:prstGeom>
          <a:solidFill>
            <a:srgbClr val="141E34"/>
          </a:solidFill>
          <a:ln/>
        </p:spPr>
      </p:sp>
      <p:sp>
        <p:nvSpPr>
          <p:cNvPr id="51" name="Shape 49"/>
          <p:cNvSpPr/>
          <p:nvPr/>
        </p:nvSpPr>
        <p:spPr>
          <a:xfrm>
            <a:off x="8130845" y="4919472"/>
            <a:ext cx="3603650" cy="45720"/>
          </a:xfrm>
          <a:prstGeom prst="rect">
            <a:avLst>
              <a:gd name="adj" fmla="val 200000"/>
            </a:avLst>
          </a:prstGeom>
          <a:solidFill>
            <a:srgbClr val="F59E0B"/>
          </a:solidFill>
          <a:ln/>
        </p:spPr>
      </p:sp>
      <p:sp>
        <p:nvSpPr>
          <p:cNvPr id="52" name="Text 50"/>
          <p:cNvSpPr/>
          <p:nvPr/>
        </p:nvSpPr>
        <p:spPr>
          <a:xfrm>
            <a:off x="11140135" y="5010912"/>
            <a:ext cx="502920" cy="365760"/>
          </a:xfrm>
          <a:prstGeom prst="rect">
            <a:avLst/>
          </a:prstGeom>
          <a:noFill/>
          <a:ln/>
        </p:spPr>
        <p:txBody>
          <a:bodyPr wrap="square" rtlCol="0" anchor="ctr"/>
          <a:lstStyle/>
          <a:p>
            <a:pPr algn="r" indent="0" marL="0">
              <a:buNone/>
            </a:pPr>
            <a:r>
              <a:rPr lang="en-US" sz="2400" b="1" dirty="0">
                <a:solidFill>
                  <a:srgbClr val="F59E0B">
                    <a:alpha val="75000"/>
                  </a:srgbClr>
                </a:solidFill>
                <a:latin typeface="Montserrat" pitchFamily="34" charset="0"/>
                <a:ea typeface="Montserrat" pitchFamily="34" charset="-122"/>
                <a:cs typeface="Montserrat" pitchFamily="34" charset="-120"/>
              </a:rPr>
              <a:t>09</a:t>
            </a:r>
            <a:endParaRPr lang="en-US" sz="2400" dirty="0"/>
          </a:p>
        </p:txBody>
      </p:sp>
      <p:sp>
        <p:nvSpPr>
          <p:cNvPr id="53" name="Text 51"/>
          <p:cNvSpPr/>
          <p:nvPr/>
        </p:nvSpPr>
        <p:spPr>
          <a:xfrm>
            <a:off x="8258861" y="5065776"/>
            <a:ext cx="2835554" cy="1252728"/>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A IA acelera a pesquisa e o desenvolvimento de novos produtos e serviços inovadores.</a:t>
            </a:r>
            <a:endParaRPr lang="en-US" sz="1300" dirty="0"/>
          </a:p>
        </p:txBody>
      </p:sp>
      <p:sp>
        <p:nvSpPr>
          <p:cNvPr id="54" name="Shape 52"/>
          <p:cNvSpPr/>
          <p:nvPr/>
        </p:nvSpPr>
        <p:spPr>
          <a:xfrm>
            <a:off x="0" y="6601968"/>
            <a:ext cx="2041093" cy="4572"/>
          </a:xfrm>
          <a:prstGeom prst="rect">
            <a:avLst/>
          </a:prstGeom>
          <a:solidFill>
            <a:srgbClr val="6C63FF"/>
          </a:solidFill>
          <a:ln/>
        </p:spPr>
      </p:sp>
      <p:sp>
        <p:nvSpPr>
          <p:cNvPr id="55" name="Shape 53"/>
          <p:cNvSpPr/>
          <p:nvPr/>
        </p:nvSpPr>
        <p:spPr>
          <a:xfrm>
            <a:off x="2031949" y="6601968"/>
            <a:ext cx="2041093" cy="4572"/>
          </a:xfrm>
          <a:prstGeom prst="rect">
            <a:avLst/>
          </a:prstGeom>
          <a:solidFill>
            <a:srgbClr val="6C63FF"/>
          </a:solidFill>
          <a:ln/>
        </p:spPr>
      </p:sp>
      <p:sp>
        <p:nvSpPr>
          <p:cNvPr id="56" name="Shape 54"/>
          <p:cNvSpPr/>
          <p:nvPr/>
        </p:nvSpPr>
        <p:spPr>
          <a:xfrm>
            <a:off x="4063898" y="6601968"/>
            <a:ext cx="2041093" cy="4572"/>
          </a:xfrm>
          <a:prstGeom prst="rect">
            <a:avLst/>
          </a:prstGeom>
          <a:solidFill>
            <a:srgbClr val="6C63FF"/>
          </a:solidFill>
          <a:ln/>
        </p:spPr>
      </p:sp>
      <p:sp>
        <p:nvSpPr>
          <p:cNvPr id="57" name="Shape 55"/>
          <p:cNvSpPr/>
          <p:nvPr/>
        </p:nvSpPr>
        <p:spPr>
          <a:xfrm>
            <a:off x="6095848" y="6601968"/>
            <a:ext cx="2041093" cy="4572"/>
          </a:xfrm>
          <a:prstGeom prst="rect">
            <a:avLst/>
          </a:prstGeom>
          <a:solidFill>
            <a:srgbClr val="6C63FF"/>
          </a:solidFill>
          <a:ln/>
        </p:spPr>
      </p:sp>
      <p:sp>
        <p:nvSpPr>
          <p:cNvPr id="58" name="Shape 56"/>
          <p:cNvSpPr/>
          <p:nvPr/>
        </p:nvSpPr>
        <p:spPr>
          <a:xfrm>
            <a:off x="8127797" y="6601968"/>
            <a:ext cx="2041093" cy="4572"/>
          </a:xfrm>
          <a:prstGeom prst="rect">
            <a:avLst/>
          </a:prstGeom>
          <a:solidFill>
            <a:srgbClr val="6C63FF"/>
          </a:solidFill>
          <a:ln/>
        </p:spPr>
      </p:sp>
      <p:sp>
        <p:nvSpPr>
          <p:cNvPr id="59" name="Shape 57"/>
          <p:cNvSpPr/>
          <p:nvPr/>
        </p:nvSpPr>
        <p:spPr>
          <a:xfrm>
            <a:off x="10159746" y="6601968"/>
            <a:ext cx="2041093" cy="4572"/>
          </a:xfrm>
          <a:prstGeom prst="rect">
            <a:avLst/>
          </a:prstGeom>
          <a:solidFill>
            <a:srgbClr val="6C63FF"/>
          </a:solidFill>
          <a:ln/>
        </p:spPr>
      </p:sp>
      <p:sp>
        <p:nvSpPr>
          <p:cNvPr id="60" name="Shape 58"/>
          <p:cNvSpPr/>
          <p:nvPr/>
        </p:nvSpPr>
        <p:spPr>
          <a:xfrm>
            <a:off x="0" y="6606540"/>
            <a:ext cx="12191695" cy="2743"/>
          </a:xfrm>
          <a:prstGeom prst="rect">
            <a:avLst/>
          </a:prstGeom>
          <a:solidFill>
            <a:srgbClr val="222E48"/>
          </a:solidFill>
          <a:ln/>
        </p:spPr>
      </p:sp>
      <p:sp>
        <p:nvSpPr>
          <p:cNvPr id="61" name="Text 59"/>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62" name="Shape 60"/>
          <p:cNvSpPr/>
          <p:nvPr/>
        </p:nvSpPr>
        <p:spPr>
          <a:xfrm>
            <a:off x="10436047" y="6693408"/>
            <a:ext cx="73152" cy="73152"/>
          </a:xfrm>
          <a:prstGeom prst="ellipse">
            <a:avLst/>
          </a:prstGeom>
          <a:solidFill>
            <a:srgbClr val="6C63FF"/>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Shape 1"/>
          <p:cNvSpPr/>
          <p:nvPr/>
        </p:nvSpPr>
        <p:spPr>
          <a:xfrm>
            <a:off x="64008" y="0"/>
            <a:ext cx="18288" cy="6858000"/>
          </a:xfrm>
          <a:prstGeom prst="rect">
            <a:avLst/>
          </a:prstGeom>
          <a:solidFill>
            <a:srgbClr val="10B981"/>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10B981"/>
                </a:solidFill>
                <a:latin typeface="Open Sans" pitchFamily="34" charset="0"/>
                <a:ea typeface="Open Sans" pitchFamily="34" charset="-122"/>
                <a:cs typeface="Open Sans" pitchFamily="34" charset="-120"/>
              </a:rPr>
              <a:t>APLICAÇÕES REAIS</a:t>
            </a:r>
            <a:endParaRPr lang="en-US" sz="900" dirty="0"/>
          </a:p>
        </p:txBody>
      </p:sp>
      <p:sp>
        <p:nvSpPr>
          <p:cNvPr id="5" name="Shape 3"/>
          <p:cNvSpPr/>
          <p:nvPr/>
        </p:nvSpPr>
        <p:spPr>
          <a:xfrm>
            <a:off x="502920" y="493776"/>
            <a:ext cx="640080" cy="21946"/>
          </a:xfrm>
          <a:prstGeom prst="rect">
            <a:avLst/>
          </a:prstGeom>
          <a:solidFill>
            <a:srgbClr val="10B981"/>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Aplicações reais</a:t>
            </a:r>
            <a:endParaRPr lang="en-US" sz="2800" dirty="0"/>
          </a:p>
        </p:txBody>
      </p:sp>
      <p:sp>
        <p:nvSpPr>
          <p:cNvPr id="7" name="Shape 5"/>
          <p:cNvSpPr/>
          <p:nvPr/>
        </p:nvSpPr>
        <p:spPr>
          <a:xfrm>
            <a:off x="502920" y="1389888"/>
            <a:ext cx="11185855" cy="7315"/>
          </a:xfrm>
          <a:prstGeom prst="rect">
            <a:avLst/>
          </a:prstGeom>
          <a:solidFill>
            <a:srgbClr val="10B981"/>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621792" y="1572768"/>
            <a:ext cx="11140135" cy="1188720"/>
          </a:xfrm>
          <a:prstGeom prst="roundRect">
            <a:avLst>
              <a:gd name="adj" fmla="val 7692"/>
            </a:avLst>
          </a:prstGeom>
          <a:solidFill>
            <a:srgbClr val="000000"/>
          </a:solidFill>
          <a:ln/>
        </p:spPr>
      </p:sp>
      <p:sp>
        <p:nvSpPr>
          <p:cNvPr id="10" name="Shape 8"/>
          <p:cNvSpPr/>
          <p:nvPr/>
        </p:nvSpPr>
        <p:spPr>
          <a:xfrm>
            <a:off x="594360" y="1536192"/>
            <a:ext cx="11140135" cy="1188720"/>
          </a:xfrm>
          <a:prstGeom prst="roundRect">
            <a:avLst>
              <a:gd name="adj" fmla="val 7692"/>
            </a:avLst>
          </a:prstGeom>
          <a:solidFill>
            <a:srgbClr val="050A18"/>
          </a:solidFill>
          <a:ln/>
        </p:spPr>
      </p:sp>
      <p:sp>
        <p:nvSpPr>
          <p:cNvPr id="11" name="Shape 9"/>
          <p:cNvSpPr/>
          <p:nvPr/>
        </p:nvSpPr>
        <p:spPr>
          <a:xfrm>
            <a:off x="594360" y="1536192"/>
            <a:ext cx="54864" cy="1188720"/>
          </a:xfrm>
          <a:prstGeom prst="rect">
            <a:avLst>
              <a:gd name="adj" fmla="val 166667"/>
            </a:avLst>
          </a:prstGeom>
          <a:solidFill>
            <a:srgbClr val="10B981"/>
          </a:solidFill>
          <a:ln/>
        </p:spPr>
      </p:sp>
      <p:sp>
        <p:nvSpPr>
          <p:cNvPr id="12" name="Text 10"/>
          <p:cNvSpPr/>
          <p:nvPr/>
        </p:nvSpPr>
        <p:spPr>
          <a:xfrm>
            <a:off x="685800" y="1444752"/>
            <a:ext cx="457200" cy="548640"/>
          </a:xfrm>
          <a:prstGeom prst="rect">
            <a:avLst/>
          </a:prstGeom>
          <a:noFill/>
          <a:ln/>
        </p:spPr>
        <p:txBody>
          <a:bodyPr wrap="square" rtlCol="0" anchor="ctr"/>
          <a:lstStyle/>
          <a:p>
            <a:pPr indent="0" marL="0">
              <a:buNone/>
            </a:pPr>
            <a:r>
              <a:rPr lang="en-US" sz="4800" b="1" dirty="0">
                <a:solidFill>
                  <a:srgbClr val="10B981">
                    <a:alpha val="75000"/>
                  </a:srgbClr>
                </a:solidFill>
                <a:latin typeface="Montserrat" pitchFamily="34" charset="0"/>
                <a:ea typeface="Montserrat" pitchFamily="34" charset="-122"/>
                <a:cs typeface="Montserrat" pitchFamily="34" charset="-120"/>
              </a:rPr>
              <a:t>“</a:t>
            </a:r>
            <a:endParaRPr lang="en-US" sz="4800" dirty="0"/>
          </a:p>
        </p:txBody>
      </p:sp>
      <p:sp>
        <p:nvSpPr>
          <p:cNvPr id="13" name="Text 11"/>
          <p:cNvSpPr/>
          <p:nvPr/>
        </p:nvSpPr>
        <p:spPr>
          <a:xfrm>
            <a:off x="868680" y="1572768"/>
            <a:ext cx="10682935" cy="1097280"/>
          </a:xfrm>
          <a:prstGeom prst="rect">
            <a:avLst/>
          </a:prstGeom>
          <a:noFill/>
          <a:ln/>
        </p:spPr>
        <p:txBody>
          <a:bodyPr wrap="square" rtlCol="0" anchor="ctr"/>
          <a:lstStyle/>
          <a:p>
            <a:pPr indent="0" marL="0">
              <a:lnSpc>
                <a:spcPct val="135000"/>
              </a:lnSpc>
              <a:buNone/>
            </a:pPr>
            <a:r>
              <a:rPr lang="en-US" sz="1900" i="1" dirty="0">
                <a:solidFill>
                  <a:srgbClr val="FFFFFF"/>
                </a:solidFill>
                <a:latin typeface="Open Sans" pitchFamily="34" charset="0"/>
                <a:ea typeface="Open Sans" pitchFamily="34" charset="-122"/>
                <a:cs typeface="Open Sans" pitchFamily="34" charset="-120"/>
              </a:rPr>
              <a:t>Ela simula cenários complexos, testando ideias antes de investimentos.</a:t>
            </a:r>
            <a:endParaRPr lang="en-US" sz="1900" dirty="0"/>
          </a:p>
        </p:txBody>
      </p:sp>
      <p:sp>
        <p:nvSpPr>
          <p:cNvPr id="14" name="Shape 12"/>
          <p:cNvSpPr/>
          <p:nvPr/>
        </p:nvSpPr>
        <p:spPr>
          <a:xfrm>
            <a:off x="621792" y="2980944"/>
            <a:ext cx="2110984" cy="3502152"/>
          </a:xfrm>
          <a:prstGeom prst="roundRect">
            <a:avLst>
              <a:gd name="adj" fmla="val 4332"/>
            </a:avLst>
          </a:prstGeom>
          <a:solidFill>
            <a:srgbClr val="000000"/>
          </a:solidFill>
          <a:ln/>
        </p:spPr>
      </p:sp>
      <p:sp>
        <p:nvSpPr>
          <p:cNvPr id="15" name="Shape 13"/>
          <p:cNvSpPr/>
          <p:nvPr/>
        </p:nvSpPr>
        <p:spPr>
          <a:xfrm>
            <a:off x="594360" y="2944368"/>
            <a:ext cx="2110984" cy="3502152"/>
          </a:xfrm>
          <a:prstGeom prst="roundRect">
            <a:avLst>
              <a:gd name="adj" fmla="val 3465"/>
            </a:avLst>
          </a:prstGeom>
          <a:solidFill>
            <a:srgbClr val="141E34"/>
          </a:solidFill>
          <a:ln/>
        </p:spPr>
      </p:sp>
      <p:sp>
        <p:nvSpPr>
          <p:cNvPr id="16" name="Shape 14"/>
          <p:cNvSpPr/>
          <p:nvPr/>
        </p:nvSpPr>
        <p:spPr>
          <a:xfrm>
            <a:off x="594360" y="2944368"/>
            <a:ext cx="2110984" cy="45720"/>
          </a:xfrm>
          <a:prstGeom prst="rect">
            <a:avLst>
              <a:gd name="adj" fmla="val 160000"/>
            </a:avLst>
          </a:prstGeom>
          <a:solidFill>
            <a:srgbClr val="6C63FF"/>
          </a:solidFill>
          <a:ln/>
        </p:spPr>
      </p:sp>
      <p:sp>
        <p:nvSpPr>
          <p:cNvPr id="17" name="Shape 15"/>
          <p:cNvSpPr/>
          <p:nvPr/>
        </p:nvSpPr>
        <p:spPr>
          <a:xfrm>
            <a:off x="685800" y="3072384"/>
            <a:ext cx="310896" cy="310896"/>
          </a:xfrm>
          <a:prstGeom prst="roundRect">
            <a:avLst>
              <a:gd name="adj" fmla="val 17647"/>
            </a:avLst>
          </a:prstGeom>
          <a:solidFill>
            <a:srgbClr val="6C63FF"/>
          </a:solidFill>
          <a:ln/>
        </p:spPr>
      </p:sp>
      <p:sp>
        <p:nvSpPr>
          <p:cNvPr id="18" name="Text 16"/>
          <p:cNvSpPr/>
          <p:nvPr/>
        </p:nvSpPr>
        <p:spPr>
          <a:xfrm>
            <a:off x="685800" y="3072384"/>
            <a:ext cx="310896" cy="310896"/>
          </a:xfrm>
          <a:prstGeom prst="rect">
            <a:avLst/>
          </a:prstGeom>
          <a:noFill/>
          <a:ln/>
        </p:spPr>
        <p:txBody>
          <a:bodyPr wrap="square"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2</a:t>
            </a:r>
            <a:endParaRPr lang="en-US" sz="1500" dirty="0"/>
          </a:p>
        </p:txBody>
      </p:sp>
      <p:sp>
        <p:nvSpPr>
          <p:cNvPr id="19" name="Text 17"/>
          <p:cNvSpPr/>
          <p:nvPr/>
        </p:nvSpPr>
        <p:spPr>
          <a:xfrm>
            <a:off x="722376" y="3447288"/>
            <a:ext cx="1854952" cy="2953512"/>
          </a:xfrm>
          <a:prstGeom prst="rect">
            <a:avLst/>
          </a:prstGeom>
          <a:noFill/>
          <a:ln/>
        </p:spPr>
        <p:txBody>
          <a:bodyPr wrap="square" rtlCol="0" anchor="t"/>
          <a:lstStyle/>
          <a:p>
            <a:pPr indent="0" marL="0">
              <a:lnSpc>
                <a:spcPct val="122000"/>
              </a:lnSpc>
              <a:buNone/>
            </a:pPr>
            <a:r>
              <a:rPr lang="en-US" sz="1300" dirty="0">
                <a:solidFill>
                  <a:srgbClr val="E8EDF5"/>
                </a:solidFill>
                <a:latin typeface="Open Sans" pitchFamily="34" charset="0"/>
                <a:ea typeface="Open Sans" pitchFamily="34" charset="-122"/>
                <a:cs typeface="Open Sans" pitchFamily="34" charset="-120"/>
              </a:rPr>
              <a:t>A análise preditiva da IA identifica tendências de mercado e novas oportunidades.</a:t>
            </a:r>
            <a:endParaRPr lang="en-US" sz="1300" dirty="0"/>
          </a:p>
        </p:txBody>
      </p:sp>
      <p:sp>
        <p:nvSpPr>
          <p:cNvPr id="20" name="Shape 18"/>
          <p:cNvSpPr/>
          <p:nvPr/>
        </p:nvSpPr>
        <p:spPr>
          <a:xfrm>
            <a:off x="2879080" y="2980944"/>
            <a:ext cx="2110984" cy="3502152"/>
          </a:xfrm>
          <a:prstGeom prst="roundRect">
            <a:avLst>
              <a:gd name="adj" fmla="val 4332"/>
            </a:avLst>
          </a:prstGeom>
          <a:solidFill>
            <a:srgbClr val="000000"/>
          </a:solidFill>
          <a:ln/>
        </p:spPr>
      </p:sp>
      <p:sp>
        <p:nvSpPr>
          <p:cNvPr id="21" name="Shape 19"/>
          <p:cNvSpPr/>
          <p:nvPr/>
        </p:nvSpPr>
        <p:spPr>
          <a:xfrm>
            <a:off x="2851648" y="2944368"/>
            <a:ext cx="2110984" cy="3502152"/>
          </a:xfrm>
          <a:prstGeom prst="roundRect">
            <a:avLst>
              <a:gd name="adj" fmla="val 3465"/>
            </a:avLst>
          </a:prstGeom>
          <a:solidFill>
            <a:srgbClr val="141E34"/>
          </a:solidFill>
          <a:ln/>
        </p:spPr>
      </p:sp>
      <p:sp>
        <p:nvSpPr>
          <p:cNvPr id="22" name="Shape 20"/>
          <p:cNvSpPr/>
          <p:nvPr/>
        </p:nvSpPr>
        <p:spPr>
          <a:xfrm>
            <a:off x="2851648" y="2944368"/>
            <a:ext cx="2110984" cy="45720"/>
          </a:xfrm>
          <a:prstGeom prst="rect">
            <a:avLst>
              <a:gd name="adj" fmla="val 160000"/>
            </a:avLst>
          </a:prstGeom>
          <a:solidFill>
            <a:srgbClr val="3B82F6"/>
          </a:solidFill>
          <a:ln/>
        </p:spPr>
      </p:sp>
      <p:sp>
        <p:nvSpPr>
          <p:cNvPr id="23" name="Shape 21"/>
          <p:cNvSpPr/>
          <p:nvPr/>
        </p:nvSpPr>
        <p:spPr>
          <a:xfrm>
            <a:off x="2943088" y="3072384"/>
            <a:ext cx="310896" cy="310896"/>
          </a:xfrm>
          <a:prstGeom prst="roundRect">
            <a:avLst>
              <a:gd name="adj" fmla="val 17647"/>
            </a:avLst>
          </a:prstGeom>
          <a:solidFill>
            <a:srgbClr val="3B82F6"/>
          </a:solidFill>
          <a:ln/>
        </p:spPr>
      </p:sp>
      <p:sp>
        <p:nvSpPr>
          <p:cNvPr id="24" name="Text 22"/>
          <p:cNvSpPr/>
          <p:nvPr/>
        </p:nvSpPr>
        <p:spPr>
          <a:xfrm>
            <a:off x="2943088" y="3072384"/>
            <a:ext cx="310896" cy="310896"/>
          </a:xfrm>
          <a:prstGeom prst="rect">
            <a:avLst/>
          </a:prstGeom>
          <a:noFill/>
          <a:ln/>
        </p:spPr>
        <p:txBody>
          <a:bodyPr wrap="square"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3</a:t>
            </a:r>
            <a:endParaRPr lang="en-US" sz="1500" dirty="0"/>
          </a:p>
        </p:txBody>
      </p:sp>
      <p:sp>
        <p:nvSpPr>
          <p:cNvPr id="25" name="Text 23"/>
          <p:cNvSpPr/>
          <p:nvPr/>
        </p:nvSpPr>
        <p:spPr>
          <a:xfrm>
            <a:off x="2979664" y="3447288"/>
            <a:ext cx="1854952" cy="2953512"/>
          </a:xfrm>
          <a:prstGeom prst="rect">
            <a:avLst/>
          </a:prstGeom>
          <a:noFill/>
          <a:ln/>
        </p:spPr>
        <p:txBody>
          <a:bodyPr wrap="square" rtlCol="0" anchor="t"/>
          <a:lstStyle/>
          <a:p>
            <a:pPr indent="0" marL="0">
              <a:lnSpc>
                <a:spcPct val="122000"/>
              </a:lnSpc>
              <a:buNone/>
            </a:pPr>
            <a:r>
              <a:rPr lang="en-US" sz="1300" dirty="0">
                <a:solidFill>
                  <a:srgbClr val="E8EDF5"/>
                </a:solidFill>
                <a:latin typeface="Open Sans" pitchFamily="34" charset="0"/>
                <a:ea typeface="Open Sans" pitchFamily="34" charset="-122"/>
                <a:cs typeface="Open Sans" pitchFamily="34" charset="-120"/>
              </a:rPr>
              <a:t>Ferramentas de IA auxiliam na geração de designs, textos e até músicas originais.</a:t>
            </a:r>
            <a:endParaRPr lang="en-US" sz="1300" dirty="0"/>
          </a:p>
        </p:txBody>
      </p:sp>
      <p:sp>
        <p:nvSpPr>
          <p:cNvPr id="26" name="Shape 24"/>
          <p:cNvSpPr/>
          <p:nvPr/>
        </p:nvSpPr>
        <p:spPr>
          <a:xfrm>
            <a:off x="5136368" y="2980944"/>
            <a:ext cx="2110984" cy="3502152"/>
          </a:xfrm>
          <a:prstGeom prst="roundRect">
            <a:avLst>
              <a:gd name="adj" fmla="val 4332"/>
            </a:avLst>
          </a:prstGeom>
          <a:solidFill>
            <a:srgbClr val="000000"/>
          </a:solidFill>
          <a:ln/>
        </p:spPr>
      </p:sp>
      <p:sp>
        <p:nvSpPr>
          <p:cNvPr id="27" name="Shape 25"/>
          <p:cNvSpPr/>
          <p:nvPr/>
        </p:nvSpPr>
        <p:spPr>
          <a:xfrm>
            <a:off x="5108936" y="2944368"/>
            <a:ext cx="2110984" cy="3502152"/>
          </a:xfrm>
          <a:prstGeom prst="roundRect">
            <a:avLst>
              <a:gd name="adj" fmla="val 3465"/>
            </a:avLst>
          </a:prstGeom>
          <a:solidFill>
            <a:srgbClr val="141E34"/>
          </a:solidFill>
          <a:ln/>
        </p:spPr>
      </p:sp>
      <p:sp>
        <p:nvSpPr>
          <p:cNvPr id="28" name="Shape 26"/>
          <p:cNvSpPr/>
          <p:nvPr/>
        </p:nvSpPr>
        <p:spPr>
          <a:xfrm>
            <a:off x="5108936" y="2944368"/>
            <a:ext cx="2110984" cy="45720"/>
          </a:xfrm>
          <a:prstGeom prst="rect">
            <a:avLst>
              <a:gd name="adj" fmla="val 160000"/>
            </a:avLst>
          </a:prstGeom>
          <a:solidFill>
            <a:srgbClr val="10B981"/>
          </a:solidFill>
          <a:ln/>
        </p:spPr>
      </p:sp>
      <p:sp>
        <p:nvSpPr>
          <p:cNvPr id="29" name="Shape 27"/>
          <p:cNvSpPr/>
          <p:nvPr/>
        </p:nvSpPr>
        <p:spPr>
          <a:xfrm>
            <a:off x="5200376" y="3072384"/>
            <a:ext cx="310896" cy="310896"/>
          </a:xfrm>
          <a:prstGeom prst="roundRect">
            <a:avLst>
              <a:gd name="adj" fmla="val 17647"/>
            </a:avLst>
          </a:prstGeom>
          <a:solidFill>
            <a:srgbClr val="10B981"/>
          </a:solidFill>
          <a:ln/>
        </p:spPr>
      </p:sp>
      <p:sp>
        <p:nvSpPr>
          <p:cNvPr id="30" name="Text 28"/>
          <p:cNvSpPr/>
          <p:nvPr/>
        </p:nvSpPr>
        <p:spPr>
          <a:xfrm>
            <a:off x="5200376" y="3072384"/>
            <a:ext cx="310896" cy="310896"/>
          </a:xfrm>
          <a:prstGeom prst="rect">
            <a:avLst/>
          </a:prstGeom>
          <a:noFill/>
          <a:ln/>
        </p:spPr>
        <p:txBody>
          <a:bodyPr wrap="square"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4</a:t>
            </a:r>
            <a:endParaRPr lang="en-US" sz="1500" dirty="0"/>
          </a:p>
        </p:txBody>
      </p:sp>
      <p:sp>
        <p:nvSpPr>
          <p:cNvPr id="31" name="Text 29"/>
          <p:cNvSpPr/>
          <p:nvPr/>
        </p:nvSpPr>
        <p:spPr>
          <a:xfrm>
            <a:off x="5236952" y="3447288"/>
            <a:ext cx="1854952" cy="2953512"/>
          </a:xfrm>
          <a:prstGeom prst="rect">
            <a:avLst/>
          </a:prstGeom>
          <a:noFill/>
          <a:ln/>
        </p:spPr>
        <p:txBody>
          <a:bodyPr wrap="square" rtlCol="0" anchor="t"/>
          <a:lstStyle/>
          <a:p>
            <a:pPr indent="0" marL="0">
              <a:lnSpc>
                <a:spcPct val="122000"/>
              </a:lnSpc>
              <a:buNone/>
            </a:pPr>
            <a:r>
              <a:rPr lang="en-US" sz="1300" dirty="0">
                <a:solidFill>
                  <a:srgbClr val="E8EDF5"/>
                </a:solidFill>
                <a:latin typeface="Open Sans" pitchFamily="34" charset="0"/>
                <a:ea typeface="Open Sans" pitchFamily="34" charset="-122"/>
                <a:cs typeface="Open Sans" pitchFamily="34" charset="-120"/>
              </a:rPr>
              <a:t>Novos modelos de negócio baseados em IA estão emergindo em diversos setores.</a:t>
            </a:r>
            <a:endParaRPr lang="en-US" sz="1300" dirty="0"/>
          </a:p>
        </p:txBody>
      </p:sp>
      <p:sp>
        <p:nvSpPr>
          <p:cNvPr id="32" name="Shape 30"/>
          <p:cNvSpPr/>
          <p:nvPr/>
        </p:nvSpPr>
        <p:spPr>
          <a:xfrm>
            <a:off x="7393656" y="2980944"/>
            <a:ext cx="2110984" cy="3502152"/>
          </a:xfrm>
          <a:prstGeom prst="roundRect">
            <a:avLst>
              <a:gd name="adj" fmla="val 4332"/>
            </a:avLst>
          </a:prstGeom>
          <a:solidFill>
            <a:srgbClr val="000000"/>
          </a:solidFill>
          <a:ln/>
        </p:spPr>
      </p:sp>
      <p:sp>
        <p:nvSpPr>
          <p:cNvPr id="33" name="Shape 31"/>
          <p:cNvSpPr/>
          <p:nvPr/>
        </p:nvSpPr>
        <p:spPr>
          <a:xfrm>
            <a:off x="7366224" y="2944368"/>
            <a:ext cx="2110984" cy="3502152"/>
          </a:xfrm>
          <a:prstGeom prst="roundRect">
            <a:avLst>
              <a:gd name="adj" fmla="val 3465"/>
            </a:avLst>
          </a:prstGeom>
          <a:solidFill>
            <a:srgbClr val="141E34"/>
          </a:solidFill>
          <a:ln/>
        </p:spPr>
      </p:sp>
      <p:sp>
        <p:nvSpPr>
          <p:cNvPr id="34" name="Shape 32"/>
          <p:cNvSpPr/>
          <p:nvPr/>
        </p:nvSpPr>
        <p:spPr>
          <a:xfrm>
            <a:off x="7366224" y="2944368"/>
            <a:ext cx="2110984" cy="45720"/>
          </a:xfrm>
          <a:prstGeom prst="rect">
            <a:avLst>
              <a:gd name="adj" fmla="val 160000"/>
            </a:avLst>
          </a:prstGeom>
          <a:solidFill>
            <a:srgbClr val="F59E0B"/>
          </a:solidFill>
          <a:ln/>
        </p:spPr>
      </p:sp>
      <p:sp>
        <p:nvSpPr>
          <p:cNvPr id="35" name="Shape 33"/>
          <p:cNvSpPr/>
          <p:nvPr/>
        </p:nvSpPr>
        <p:spPr>
          <a:xfrm>
            <a:off x="7457664" y="3072384"/>
            <a:ext cx="310896" cy="310896"/>
          </a:xfrm>
          <a:prstGeom prst="roundRect">
            <a:avLst>
              <a:gd name="adj" fmla="val 17647"/>
            </a:avLst>
          </a:prstGeom>
          <a:solidFill>
            <a:srgbClr val="F59E0B"/>
          </a:solidFill>
          <a:ln/>
        </p:spPr>
      </p:sp>
      <p:sp>
        <p:nvSpPr>
          <p:cNvPr id="36" name="Text 34"/>
          <p:cNvSpPr/>
          <p:nvPr/>
        </p:nvSpPr>
        <p:spPr>
          <a:xfrm>
            <a:off x="7457664" y="3072384"/>
            <a:ext cx="310896" cy="310896"/>
          </a:xfrm>
          <a:prstGeom prst="rect">
            <a:avLst/>
          </a:prstGeom>
          <a:noFill/>
          <a:ln/>
        </p:spPr>
        <p:txBody>
          <a:bodyPr wrap="square"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5</a:t>
            </a:r>
            <a:endParaRPr lang="en-US" sz="1500" dirty="0"/>
          </a:p>
        </p:txBody>
      </p:sp>
      <p:sp>
        <p:nvSpPr>
          <p:cNvPr id="37" name="Text 35"/>
          <p:cNvSpPr/>
          <p:nvPr/>
        </p:nvSpPr>
        <p:spPr>
          <a:xfrm>
            <a:off x="7494240" y="3447288"/>
            <a:ext cx="1854952" cy="2953512"/>
          </a:xfrm>
          <a:prstGeom prst="rect">
            <a:avLst/>
          </a:prstGeom>
          <a:noFill/>
          <a:ln/>
        </p:spPr>
        <p:txBody>
          <a:bodyPr wrap="square" rtlCol="0" anchor="t"/>
          <a:lstStyle/>
          <a:p>
            <a:pPr indent="0" marL="0">
              <a:lnSpc>
                <a:spcPct val="122000"/>
              </a:lnSpc>
              <a:buNone/>
            </a:pPr>
            <a:r>
              <a:rPr lang="en-US" sz="1300" dirty="0">
                <a:solidFill>
                  <a:srgbClr val="E8EDF5"/>
                </a:solidFill>
                <a:latin typeface="Open Sans" pitchFamily="34" charset="0"/>
                <a:ea typeface="Open Sans" pitchFamily="34" charset="-122"/>
                <a:cs typeface="Open Sans" pitchFamily="34" charset="-120"/>
              </a:rPr>
              <a:t>A IA fornece percepções baseadas em dados que aprimoram decisões estratégicas.</a:t>
            </a:r>
            <a:endParaRPr lang="en-US" sz="1300" dirty="0"/>
          </a:p>
        </p:txBody>
      </p:sp>
      <p:sp>
        <p:nvSpPr>
          <p:cNvPr id="38" name="Shape 36"/>
          <p:cNvSpPr/>
          <p:nvPr/>
        </p:nvSpPr>
        <p:spPr>
          <a:xfrm>
            <a:off x="9650943" y="2980944"/>
            <a:ext cx="2110984" cy="3502152"/>
          </a:xfrm>
          <a:prstGeom prst="roundRect">
            <a:avLst>
              <a:gd name="adj" fmla="val 4332"/>
            </a:avLst>
          </a:prstGeom>
          <a:solidFill>
            <a:srgbClr val="000000"/>
          </a:solidFill>
          <a:ln/>
        </p:spPr>
      </p:sp>
      <p:sp>
        <p:nvSpPr>
          <p:cNvPr id="39" name="Shape 37"/>
          <p:cNvSpPr/>
          <p:nvPr/>
        </p:nvSpPr>
        <p:spPr>
          <a:xfrm>
            <a:off x="9623511" y="2944368"/>
            <a:ext cx="2110984" cy="3502152"/>
          </a:xfrm>
          <a:prstGeom prst="roundRect">
            <a:avLst>
              <a:gd name="adj" fmla="val 3465"/>
            </a:avLst>
          </a:prstGeom>
          <a:solidFill>
            <a:srgbClr val="141E34"/>
          </a:solidFill>
          <a:ln/>
        </p:spPr>
      </p:sp>
      <p:sp>
        <p:nvSpPr>
          <p:cNvPr id="40" name="Shape 38"/>
          <p:cNvSpPr/>
          <p:nvPr/>
        </p:nvSpPr>
        <p:spPr>
          <a:xfrm>
            <a:off x="9623511" y="2944368"/>
            <a:ext cx="2110984" cy="45720"/>
          </a:xfrm>
          <a:prstGeom prst="rect">
            <a:avLst>
              <a:gd name="adj" fmla="val 160000"/>
            </a:avLst>
          </a:prstGeom>
          <a:solidFill>
            <a:srgbClr val="06B6D4"/>
          </a:solidFill>
          <a:ln/>
        </p:spPr>
      </p:sp>
      <p:sp>
        <p:nvSpPr>
          <p:cNvPr id="41" name="Shape 39"/>
          <p:cNvSpPr/>
          <p:nvPr/>
        </p:nvSpPr>
        <p:spPr>
          <a:xfrm>
            <a:off x="9714951" y="3072384"/>
            <a:ext cx="310896" cy="310896"/>
          </a:xfrm>
          <a:prstGeom prst="roundRect">
            <a:avLst>
              <a:gd name="adj" fmla="val 17647"/>
            </a:avLst>
          </a:prstGeom>
          <a:solidFill>
            <a:srgbClr val="06B6D4"/>
          </a:solidFill>
          <a:ln/>
        </p:spPr>
      </p:sp>
      <p:sp>
        <p:nvSpPr>
          <p:cNvPr id="42" name="Text 40"/>
          <p:cNvSpPr/>
          <p:nvPr/>
        </p:nvSpPr>
        <p:spPr>
          <a:xfrm>
            <a:off x="9714951" y="3072384"/>
            <a:ext cx="310896" cy="310896"/>
          </a:xfrm>
          <a:prstGeom prst="rect">
            <a:avLst/>
          </a:prstGeom>
          <a:noFill/>
          <a:ln/>
        </p:spPr>
        <p:txBody>
          <a:bodyPr wrap="square"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6</a:t>
            </a:r>
            <a:endParaRPr lang="en-US" sz="1500" dirty="0"/>
          </a:p>
        </p:txBody>
      </p:sp>
      <p:sp>
        <p:nvSpPr>
          <p:cNvPr id="43" name="Text 41"/>
          <p:cNvSpPr/>
          <p:nvPr/>
        </p:nvSpPr>
        <p:spPr>
          <a:xfrm>
            <a:off x="9751527" y="3447288"/>
            <a:ext cx="1854952" cy="2953512"/>
          </a:xfrm>
          <a:prstGeom prst="rect">
            <a:avLst/>
          </a:prstGeom>
          <a:noFill/>
          <a:ln/>
        </p:spPr>
        <p:txBody>
          <a:bodyPr wrap="square" rtlCol="0" anchor="t"/>
          <a:lstStyle/>
          <a:p>
            <a:pPr indent="0" marL="0">
              <a:lnSpc>
                <a:spcPct val="122000"/>
              </a:lnSpc>
              <a:buNone/>
            </a:pPr>
            <a:r>
              <a:rPr lang="en-US" sz="1300" dirty="0">
                <a:solidFill>
                  <a:srgbClr val="E8EDF5"/>
                </a:solidFill>
                <a:latin typeface="Open Sans" pitchFamily="34" charset="0"/>
                <a:ea typeface="Open Sans" pitchFamily="34" charset="-122"/>
                <a:cs typeface="Open Sans" pitchFamily="34" charset="-120"/>
              </a:rPr>
              <a:t>Ela processa informações complexas mais rapidamente e com menos vieses humanos.</a:t>
            </a:r>
            <a:endParaRPr lang="en-US" sz="1300" dirty="0"/>
          </a:p>
        </p:txBody>
      </p:sp>
      <p:sp>
        <p:nvSpPr>
          <p:cNvPr id="44" name="Shape 42"/>
          <p:cNvSpPr/>
          <p:nvPr/>
        </p:nvSpPr>
        <p:spPr>
          <a:xfrm>
            <a:off x="0" y="6601968"/>
            <a:ext cx="2041093" cy="4572"/>
          </a:xfrm>
          <a:prstGeom prst="rect">
            <a:avLst/>
          </a:prstGeom>
          <a:solidFill>
            <a:srgbClr val="6C63FF"/>
          </a:solidFill>
          <a:ln/>
        </p:spPr>
      </p:sp>
      <p:sp>
        <p:nvSpPr>
          <p:cNvPr id="45" name="Shape 43"/>
          <p:cNvSpPr/>
          <p:nvPr/>
        </p:nvSpPr>
        <p:spPr>
          <a:xfrm>
            <a:off x="2031949" y="6601968"/>
            <a:ext cx="2041093" cy="4572"/>
          </a:xfrm>
          <a:prstGeom prst="rect">
            <a:avLst/>
          </a:prstGeom>
          <a:solidFill>
            <a:srgbClr val="6C63FF"/>
          </a:solidFill>
          <a:ln/>
        </p:spPr>
      </p:sp>
      <p:sp>
        <p:nvSpPr>
          <p:cNvPr id="46" name="Shape 44"/>
          <p:cNvSpPr/>
          <p:nvPr/>
        </p:nvSpPr>
        <p:spPr>
          <a:xfrm>
            <a:off x="4063898" y="6601968"/>
            <a:ext cx="2041093" cy="4572"/>
          </a:xfrm>
          <a:prstGeom prst="rect">
            <a:avLst/>
          </a:prstGeom>
          <a:solidFill>
            <a:srgbClr val="6C63FF"/>
          </a:solidFill>
          <a:ln/>
        </p:spPr>
      </p:sp>
      <p:sp>
        <p:nvSpPr>
          <p:cNvPr id="47" name="Shape 45"/>
          <p:cNvSpPr/>
          <p:nvPr/>
        </p:nvSpPr>
        <p:spPr>
          <a:xfrm>
            <a:off x="6095848" y="6601968"/>
            <a:ext cx="2041093" cy="4572"/>
          </a:xfrm>
          <a:prstGeom prst="rect">
            <a:avLst/>
          </a:prstGeom>
          <a:solidFill>
            <a:srgbClr val="6C63FF"/>
          </a:solidFill>
          <a:ln/>
        </p:spPr>
      </p:sp>
      <p:sp>
        <p:nvSpPr>
          <p:cNvPr id="48" name="Shape 46"/>
          <p:cNvSpPr/>
          <p:nvPr/>
        </p:nvSpPr>
        <p:spPr>
          <a:xfrm>
            <a:off x="8127797" y="6601968"/>
            <a:ext cx="2041093" cy="4572"/>
          </a:xfrm>
          <a:prstGeom prst="rect">
            <a:avLst/>
          </a:prstGeom>
          <a:solidFill>
            <a:srgbClr val="6C63FF"/>
          </a:solidFill>
          <a:ln/>
        </p:spPr>
      </p:sp>
      <p:sp>
        <p:nvSpPr>
          <p:cNvPr id="49" name="Shape 47"/>
          <p:cNvSpPr/>
          <p:nvPr/>
        </p:nvSpPr>
        <p:spPr>
          <a:xfrm>
            <a:off x="10159746" y="6601968"/>
            <a:ext cx="2041093" cy="4572"/>
          </a:xfrm>
          <a:prstGeom prst="rect">
            <a:avLst/>
          </a:prstGeom>
          <a:solidFill>
            <a:srgbClr val="6C63FF"/>
          </a:solidFill>
          <a:ln/>
        </p:spPr>
      </p:sp>
      <p:sp>
        <p:nvSpPr>
          <p:cNvPr id="50" name="Shape 48"/>
          <p:cNvSpPr/>
          <p:nvPr/>
        </p:nvSpPr>
        <p:spPr>
          <a:xfrm>
            <a:off x="0" y="6606540"/>
            <a:ext cx="12191695" cy="2743"/>
          </a:xfrm>
          <a:prstGeom prst="rect">
            <a:avLst/>
          </a:prstGeom>
          <a:solidFill>
            <a:srgbClr val="222E48"/>
          </a:solidFill>
          <a:ln/>
        </p:spPr>
      </p:sp>
      <p:sp>
        <p:nvSpPr>
          <p:cNvPr id="51" name="Text 49"/>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52" name="Shape 50"/>
          <p:cNvSpPr/>
          <p:nvPr/>
        </p:nvSpPr>
        <p:spPr>
          <a:xfrm>
            <a:off x="10436047" y="6693408"/>
            <a:ext cx="73152" cy="73152"/>
          </a:xfrm>
          <a:prstGeom prst="ellipse">
            <a:avLst/>
          </a:prstGeom>
          <a:solidFill>
            <a:srgbClr val="6C63FF"/>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F59E0B"/>
          </a:solidFill>
          <a:ln/>
        </p:spPr>
      </p:sp>
      <p:sp>
        <p:nvSpPr>
          <p:cNvPr id="3" name="Shape 1"/>
          <p:cNvSpPr/>
          <p:nvPr/>
        </p:nvSpPr>
        <p:spPr>
          <a:xfrm>
            <a:off x="64008" y="0"/>
            <a:ext cx="18288" cy="6858000"/>
          </a:xfrm>
          <a:prstGeom prst="rect">
            <a:avLst/>
          </a:prstGeom>
          <a:solidFill>
            <a:srgbClr val="F59E0B"/>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F59E0B"/>
                </a:solidFill>
                <a:latin typeface="Open Sans" pitchFamily="34" charset="0"/>
                <a:ea typeface="Open Sans" pitchFamily="34" charset="-122"/>
                <a:cs typeface="Open Sans" pitchFamily="34" charset="-120"/>
              </a:rPr>
              <a:t>APLICAÇÕES REAIS</a:t>
            </a:r>
            <a:endParaRPr lang="en-US" sz="900" dirty="0"/>
          </a:p>
        </p:txBody>
      </p:sp>
      <p:sp>
        <p:nvSpPr>
          <p:cNvPr id="5" name="Shape 3"/>
          <p:cNvSpPr/>
          <p:nvPr/>
        </p:nvSpPr>
        <p:spPr>
          <a:xfrm>
            <a:off x="502920" y="493776"/>
            <a:ext cx="640080" cy="21946"/>
          </a:xfrm>
          <a:prstGeom prst="rect">
            <a:avLst/>
          </a:prstGeom>
          <a:solidFill>
            <a:srgbClr val="F59E0B"/>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Aplicações reais (Parte 2)</a:t>
            </a:r>
            <a:endParaRPr lang="en-US" sz="2800" dirty="0"/>
          </a:p>
        </p:txBody>
      </p:sp>
      <p:sp>
        <p:nvSpPr>
          <p:cNvPr id="7" name="Shape 5"/>
          <p:cNvSpPr/>
          <p:nvPr/>
        </p:nvSpPr>
        <p:spPr>
          <a:xfrm>
            <a:off x="502920" y="1389888"/>
            <a:ext cx="11185855" cy="7315"/>
          </a:xfrm>
          <a:prstGeom prst="rect">
            <a:avLst/>
          </a:prstGeom>
          <a:solidFill>
            <a:srgbClr val="F59E0B"/>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621792" y="1572768"/>
            <a:ext cx="5487772" cy="2286000"/>
          </a:xfrm>
          <a:prstGeom prst="roundRect">
            <a:avLst>
              <a:gd name="adj" fmla="val 4000"/>
            </a:avLst>
          </a:prstGeom>
          <a:solidFill>
            <a:srgbClr val="000000"/>
          </a:solidFill>
          <a:ln/>
        </p:spPr>
      </p:sp>
      <p:sp>
        <p:nvSpPr>
          <p:cNvPr id="10" name="Shape 8"/>
          <p:cNvSpPr/>
          <p:nvPr/>
        </p:nvSpPr>
        <p:spPr>
          <a:xfrm>
            <a:off x="594360" y="1536192"/>
            <a:ext cx="5487772" cy="2286000"/>
          </a:xfrm>
          <a:prstGeom prst="roundRect">
            <a:avLst>
              <a:gd name="adj" fmla="val 4000"/>
            </a:avLst>
          </a:prstGeom>
          <a:solidFill>
            <a:srgbClr val="141E34"/>
          </a:solidFill>
          <a:ln/>
        </p:spPr>
      </p:sp>
      <p:sp>
        <p:nvSpPr>
          <p:cNvPr id="11" name="Shape 9"/>
          <p:cNvSpPr/>
          <p:nvPr/>
        </p:nvSpPr>
        <p:spPr>
          <a:xfrm>
            <a:off x="594360" y="1536192"/>
            <a:ext cx="5487772" cy="45720"/>
          </a:xfrm>
          <a:prstGeom prst="rect">
            <a:avLst>
              <a:gd name="adj" fmla="val 200000"/>
            </a:avLst>
          </a:prstGeom>
          <a:solidFill>
            <a:srgbClr val="6C63FF"/>
          </a:solidFill>
          <a:ln/>
        </p:spPr>
      </p:sp>
      <p:sp>
        <p:nvSpPr>
          <p:cNvPr id="12" name="Text 10"/>
          <p:cNvSpPr/>
          <p:nvPr/>
        </p:nvSpPr>
        <p:spPr>
          <a:xfrm>
            <a:off x="5487772" y="1627632"/>
            <a:ext cx="502920" cy="365760"/>
          </a:xfrm>
          <a:prstGeom prst="rect">
            <a:avLst/>
          </a:prstGeom>
          <a:noFill/>
          <a:ln/>
        </p:spPr>
        <p:txBody>
          <a:bodyPr wrap="square" rtlCol="0" anchor="ctr"/>
          <a:lstStyle/>
          <a:p>
            <a:pPr algn="r" indent="0" marL="0">
              <a:buNone/>
            </a:pPr>
            <a:r>
              <a:rPr lang="en-US" sz="2400" b="1" dirty="0">
                <a:solidFill>
                  <a:srgbClr val="6C63FF">
                    <a:alpha val="75000"/>
                  </a:srgbClr>
                </a:solidFill>
                <a:latin typeface="Montserrat" pitchFamily="34" charset="0"/>
                <a:ea typeface="Montserrat" pitchFamily="34" charset="-122"/>
                <a:cs typeface="Montserrat" pitchFamily="34" charset="-120"/>
              </a:rPr>
              <a:t>01</a:t>
            </a:r>
            <a:endParaRPr lang="en-US" sz="2400" dirty="0"/>
          </a:p>
        </p:txBody>
      </p:sp>
      <p:sp>
        <p:nvSpPr>
          <p:cNvPr id="13" name="Text 11"/>
          <p:cNvSpPr/>
          <p:nvPr/>
        </p:nvSpPr>
        <p:spPr>
          <a:xfrm>
            <a:off x="722376" y="1682496"/>
            <a:ext cx="4719676" cy="201168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Modelos preditivos da IA ajudam a antecipar riscos e oportunidades futuras.</a:t>
            </a:r>
            <a:endParaRPr lang="en-US" sz="1300" dirty="0"/>
          </a:p>
        </p:txBody>
      </p:sp>
      <p:sp>
        <p:nvSpPr>
          <p:cNvPr id="14" name="Shape 12"/>
          <p:cNvSpPr/>
          <p:nvPr/>
        </p:nvSpPr>
        <p:spPr>
          <a:xfrm>
            <a:off x="6274156" y="1572768"/>
            <a:ext cx="5487772" cy="2286000"/>
          </a:xfrm>
          <a:prstGeom prst="roundRect">
            <a:avLst>
              <a:gd name="adj" fmla="val 4000"/>
            </a:avLst>
          </a:prstGeom>
          <a:solidFill>
            <a:srgbClr val="000000"/>
          </a:solidFill>
          <a:ln/>
        </p:spPr>
      </p:sp>
      <p:sp>
        <p:nvSpPr>
          <p:cNvPr id="15" name="Shape 13"/>
          <p:cNvSpPr/>
          <p:nvPr/>
        </p:nvSpPr>
        <p:spPr>
          <a:xfrm>
            <a:off x="6246724" y="1536192"/>
            <a:ext cx="5487772" cy="2286000"/>
          </a:xfrm>
          <a:prstGeom prst="roundRect">
            <a:avLst>
              <a:gd name="adj" fmla="val 4000"/>
            </a:avLst>
          </a:prstGeom>
          <a:solidFill>
            <a:srgbClr val="141E34"/>
          </a:solidFill>
          <a:ln/>
        </p:spPr>
      </p:sp>
      <p:sp>
        <p:nvSpPr>
          <p:cNvPr id="16" name="Shape 14"/>
          <p:cNvSpPr/>
          <p:nvPr/>
        </p:nvSpPr>
        <p:spPr>
          <a:xfrm>
            <a:off x="6246724" y="1536192"/>
            <a:ext cx="5487772" cy="45720"/>
          </a:xfrm>
          <a:prstGeom prst="rect">
            <a:avLst>
              <a:gd name="adj" fmla="val 200000"/>
            </a:avLst>
          </a:prstGeom>
          <a:solidFill>
            <a:srgbClr val="3B82F6"/>
          </a:solidFill>
          <a:ln/>
        </p:spPr>
      </p:sp>
      <p:sp>
        <p:nvSpPr>
          <p:cNvPr id="17" name="Text 15"/>
          <p:cNvSpPr/>
          <p:nvPr/>
        </p:nvSpPr>
        <p:spPr>
          <a:xfrm>
            <a:off x="11140135" y="1627632"/>
            <a:ext cx="502920" cy="365760"/>
          </a:xfrm>
          <a:prstGeom prst="rect">
            <a:avLst/>
          </a:prstGeom>
          <a:noFill/>
          <a:ln/>
        </p:spPr>
        <p:txBody>
          <a:bodyPr wrap="square" rtlCol="0" anchor="ctr"/>
          <a:lstStyle/>
          <a:p>
            <a:pPr algn="r" indent="0" marL="0">
              <a:buNone/>
            </a:pPr>
            <a:r>
              <a:rPr lang="en-US" sz="2400" b="1" dirty="0">
                <a:solidFill>
                  <a:srgbClr val="3B82F6">
                    <a:alpha val="75000"/>
                  </a:srgbClr>
                </a:solidFill>
                <a:latin typeface="Montserrat" pitchFamily="34" charset="0"/>
                <a:ea typeface="Montserrat" pitchFamily="34" charset="-122"/>
                <a:cs typeface="Montserrat" pitchFamily="34" charset="-120"/>
              </a:rPr>
              <a:t>02</a:t>
            </a:r>
            <a:endParaRPr lang="en-US" sz="2400" dirty="0"/>
          </a:p>
        </p:txBody>
      </p:sp>
      <p:sp>
        <p:nvSpPr>
          <p:cNvPr id="18" name="Text 16"/>
          <p:cNvSpPr/>
          <p:nvPr/>
        </p:nvSpPr>
        <p:spPr>
          <a:xfrm>
            <a:off x="6374740" y="1682496"/>
            <a:ext cx="4719676" cy="201168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Decisões financeiras, logísticas e de marketing são otimizadas com o suporte da IA.</a:t>
            </a:r>
            <a:endParaRPr lang="en-US" sz="1300" dirty="0"/>
          </a:p>
        </p:txBody>
      </p:sp>
      <p:sp>
        <p:nvSpPr>
          <p:cNvPr id="19" name="Shape 17"/>
          <p:cNvSpPr/>
          <p:nvPr/>
        </p:nvSpPr>
        <p:spPr>
          <a:xfrm>
            <a:off x="621792" y="4023360"/>
            <a:ext cx="5487772" cy="2286000"/>
          </a:xfrm>
          <a:prstGeom prst="roundRect">
            <a:avLst>
              <a:gd name="adj" fmla="val 4000"/>
            </a:avLst>
          </a:prstGeom>
          <a:solidFill>
            <a:srgbClr val="000000"/>
          </a:solidFill>
          <a:ln/>
        </p:spPr>
      </p:sp>
      <p:sp>
        <p:nvSpPr>
          <p:cNvPr id="20" name="Shape 18"/>
          <p:cNvSpPr/>
          <p:nvPr/>
        </p:nvSpPr>
        <p:spPr>
          <a:xfrm>
            <a:off x="594360" y="3986784"/>
            <a:ext cx="5487772" cy="2286000"/>
          </a:xfrm>
          <a:prstGeom prst="roundRect">
            <a:avLst>
              <a:gd name="adj" fmla="val 4000"/>
            </a:avLst>
          </a:prstGeom>
          <a:solidFill>
            <a:srgbClr val="141E34"/>
          </a:solidFill>
          <a:ln/>
        </p:spPr>
      </p:sp>
      <p:sp>
        <p:nvSpPr>
          <p:cNvPr id="21" name="Shape 19"/>
          <p:cNvSpPr/>
          <p:nvPr/>
        </p:nvSpPr>
        <p:spPr>
          <a:xfrm>
            <a:off x="594360" y="3986784"/>
            <a:ext cx="5487772" cy="45720"/>
          </a:xfrm>
          <a:prstGeom prst="rect">
            <a:avLst>
              <a:gd name="adj" fmla="val 200000"/>
            </a:avLst>
          </a:prstGeom>
          <a:solidFill>
            <a:srgbClr val="10B981"/>
          </a:solidFill>
          <a:ln/>
        </p:spPr>
      </p:sp>
      <p:sp>
        <p:nvSpPr>
          <p:cNvPr id="22" name="Text 20"/>
          <p:cNvSpPr/>
          <p:nvPr/>
        </p:nvSpPr>
        <p:spPr>
          <a:xfrm>
            <a:off x="5487772" y="4078224"/>
            <a:ext cx="502920" cy="365760"/>
          </a:xfrm>
          <a:prstGeom prst="rect">
            <a:avLst/>
          </a:prstGeom>
          <a:noFill/>
          <a:ln/>
        </p:spPr>
        <p:txBody>
          <a:bodyPr wrap="square" rtlCol="0" anchor="ctr"/>
          <a:lstStyle/>
          <a:p>
            <a:pPr algn="r" indent="0" marL="0">
              <a:buNone/>
            </a:pPr>
            <a:r>
              <a:rPr lang="en-US" sz="2400" b="1" dirty="0">
                <a:solidFill>
                  <a:srgbClr val="10B981">
                    <a:alpha val="75000"/>
                  </a:srgbClr>
                </a:solidFill>
                <a:latin typeface="Montserrat" pitchFamily="34" charset="0"/>
                <a:ea typeface="Montserrat" pitchFamily="34" charset="-122"/>
                <a:cs typeface="Montserrat" pitchFamily="34" charset="-120"/>
              </a:rPr>
              <a:t>03</a:t>
            </a:r>
            <a:endParaRPr lang="en-US" sz="2400" dirty="0"/>
          </a:p>
        </p:txBody>
      </p:sp>
      <p:sp>
        <p:nvSpPr>
          <p:cNvPr id="23" name="Text 21"/>
          <p:cNvSpPr/>
          <p:nvPr/>
        </p:nvSpPr>
        <p:spPr>
          <a:xfrm>
            <a:off x="722376" y="4133088"/>
            <a:ext cx="4719676" cy="201168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Isso resulta em decisões mais informadas e com maior probabilidade de sucesso.</a:t>
            </a:r>
            <a:endParaRPr lang="en-US" sz="1300" dirty="0"/>
          </a:p>
        </p:txBody>
      </p:sp>
      <p:sp>
        <p:nvSpPr>
          <p:cNvPr id="24" name="Shape 22"/>
          <p:cNvSpPr/>
          <p:nvPr/>
        </p:nvSpPr>
        <p:spPr>
          <a:xfrm>
            <a:off x="6274156" y="4023360"/>
            <a:ext cx="5487772" cy="2286000"/>
          </a:xfrm>
          <a:prstGeom prst="roundRect">
            <a:avLst>
              <a:gd name="adj" fmla="val 4000"/>
            </a:avLst>
          </a:prstGeom>
          <a:solidFill>
            <a:srgbClr val="000000"/>
          </a:solidFill>
          <a:ln/>
        </p:spPr>
      </p:sp>
      <p:sp>
        <p:nvSpPr>
          <p:cNvPr id="25" name="Shape 23"/>
          <p:cNvSpPr/>
          <p:nvPr/>
        </p:nvSpPr>
        <p:spPr>
          <a:xfrm>
            <a:off x="6246724" y="3986784"/>
            <a:ext cx="5487772" cy="2286000"/>
          </a:xfrm>
          <a:prstGeom prst="roundRect">
            <a:avLst>
              <a:gd name="adj" fmla="val 4000"/>
            </a:avLst>
          </a:prstGeom>
          <a:solidFill>
            <a:srgbClr val="141E34"/>
          </a:solidFill>
          <a:ln/>
        </p:spPr>
      </p:sp>
      <p:sp>
        <p:nvSpPr>
          <p:cNvPr id="26" name="Shape 24"/>
          <p:cNvSpPr/>
          <p:nvPr/>
        </p:nvSpPr>
        <p:spPr>
          <a:xfrm>
            <a:off x="6246724" y="3986784"/>
            <a:ext cx="5487772" cy="45720"/>
          </a:xfrm>
          <a:prstGeom prst="rect">
            <a:avLst>
              <a:gd name="adj" fmla="val 200000"/>
            </a:avLst>
          </a:prstGeom>
          <a:solidFill>
            <a:srgbClr val="F59E0B"/>
          </a:solidFill>
          <a:ln/>
        </p:spPr>
      </p:sp>
      <p:sp>
        <p:nvSpPr>
          <p:cNvPr id="27" name="Shape 25"/>
          <p:cNvSpPr/>
          <p:nvPr/>
        </p:nvSpPr>
        <p:spPr>
          <a:xfrm>
            <a:off x="6356452" y="4151376"/>
            <a:ext cx="384048" cy="384048"/>
          </a:xfrm>
          <a:prstGeom prst="roundRect">
            <a:avLst>
              <a:gd name="adj" fmla="val 19048"/>
            </a:avLst>
          </a:prstGeom>
          <a:solidFill>
            <a:srgbClr val="F59E0B"/>
          </a:solidFill>
          <a:ln/>
        </p:spPr>
      </p:sp>
      <p:sp>
        <p:nvSpPr>
          <p:cNvPr id="28" name="Text 26"/>
          <p:cNvSpPr/>
          <p:nvPr/>
        </p:nvSpPr>
        <p:spPr>
          <a:xfrm>
            <a:off x="6356452" y="4151376"/>
            <a:ext cx="384048" cy="384048"/>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4</a:t>
            </a:r>
            <a:endParaRPr lang="en-US" sz="1600" dirty="0"/>
          </a:p>
        </p:txBody>
      </p:sp>
      <p:sp>
        <p:nvSpPr>
          <p:cNvPr id="29" name="Text 27"/>
          <p:cNvSpPr/>
          <p:nvPr/>
        </p:nvSpPr>
        <p:spPr>
          <a:xfrm>
            <a:off x="6831940" y="4114800"/>
            <a:ext cx="4774540" cy="457200"/>
          </a:xfrm>
          <a:prstGeom prst="rect">
            <a:avLst/>
          </a:prstGeom>
          <a:noFill/>
          <a:ln/>
        </p:spPr>
        <p:txBody>
          <a:bodyPr wrap="square" rtlCol="0" anchor="ctr"/>
          <a:lstStyle/>
          <a:p>
            <a:pPr indent="0" marL="0">
              <a:buNone/>
            </a:pPr>
            <a:r>
              <a:rPr lang="en-US" sz="1500" b="1" dirty="0">
                <a:solidFill>
                  <a:srgbClr val="F59E0B"/>
                </a:solidFill>
                <a:latin typeface="Montserrat" pitchFamily="34" charset="0"/>
                <a:ea typeface="Montserrat" pitchFamily="34" charset="-122"/>
                <a:cs typeface="Montserrat" pitchFamily="34" charset="-120"/>
              </a:rPr>
              <a:t>💭 Pare um momento e reflita</a:t>
            </a:r>
            <a:endParaRPr lang="en-US" sz="1500" dirty="0"/>
          </a:p>
        </p:txBody>
      </p:sp>
      <p:sp>
        <p:nvSpPr>
          <p:cNvPr id="30" name="Shape 28"/>
          <p:cNvSpPr/>
          <p:nvPr/>
        </p:nvSpPr>
        <p:spPr>
          <a:xfrm>
            <a:off x="6356452" y="4626864"/>
            <a:ext cx="5268316" cy="3658"/>
          </a:xfrm>
          <a:prstGeom prst="rect">
            <a:avLst/>
          </a:prstGeom>
          <a:solidFill>
            <a:srgbClr val="222E48"/>
          </a:solidFill>
          <a:ln/>
        </p:spPr>
      </p:sp>
      <p:sp>
        <p:nvSpPr>
          <p:cNvPr id="31" name="Text 29"/>
          <p:cNvSpPr/>
          <p:nvPr/>
        </p:nvSpPr>
        <p:spPr>
          <a:xfrm>
            <a:off x="6374740" y="4681728"/>
            <a:ext cx="5231740" cy="146304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Como a Inteligência Artificial já impacta a sua área de atuação ou o seu dia a dia profissional, mesmo que você não perceba diretamente?</a:t>
            </a:r>
            <a:endParaRPr lang="en-US" sz="1300" dirty="0"/>
          </a:p>
        </p:txBody>
      </p:sp>
      <p:sp>
        <p:nvSpPr>
          <p:cNvPr id="32" name="Shape 30"/>
          <p:cNvSpPr/>
          <p:nvPr/>
        </p:nvSpPr>
        <p:spPr>
          <a:xfrm>
            <a:off x="0" y="6601968"/>
            <a:ext cx="2041093" cy="4572"/>
          </a:xfrm>
          <a:prstGeom prst="rect">
            <a:avLst/>
          </a:prstGeom>
          <a:solidFill>
            <a:srgbClr val="6C63FF"/>
          </a:solidFill>
          <a:ln/>
        </p:spPr>
      </p:sp>
      <p:sp>
        <p:nvSpPr>
          <p:cNvPr id="33" name="Shape 31"/>
          <p:cNvSpPr/>
          <p:nvPr/>
        </p:nvSpPr>
        <p:spPr>
          <a:xfrm>
            <a:off x="2031949" y="6601968"/>
            <a:ext cx="2041093" cy="4572"/>
          </a:xfrm>
          <a:prstGeom prst="rect">
            <a:avLst/>
          </a:prstGeom>
          <a:solidFill>
            <a:srgbClr val="6C63FF"/>
          </a:solidFill>
          <a:ln/>
        </p:spPr>
      </p:sp>
      <p:sp>
        <p:nvSpPr>
          <p:cNvPr id="34" name="Shape 32"/>
          <p:cNvSpPr/>
          <p:nvPr/>
        </p:nvSpPr>
        <p:spPr>
          <a:xfrm>
            <a:off x="4063898" y="6601968"/>
            <a:ext cx="2041093" cy="4572"/>
          </a:xfrm>
          <a:prstGeom prst="rect">
            <a:avLst/>
          </a:prstGeom>
          <a:solidFill>
            <a:srgbClr val="6C63FF"/>
          </a:solidFill>
          <a:ln/>
        </p:spPr>
      </p:sp>
      <p:sp>
        <p:nvSpPr>
          <p:cNvPr id="35" name="Shape 33"/>
          <p:cNvSpPr/>
          <p:nvPr/>
        </p:nvSpPr>
        <p:spPr>
          <a:xfrm>
            <a:off x="6095848" y="6601968"/>
            <a:ext cx="2041093" cy="4572"/>
          </a:xfrm>
          <a:prstGeom prst="rect">
            <a:avLst/>
          </a:prstGeom>
          <a:solidFill>
            <a:srgbClr val="6C63FF"/>
          </a:solidFill>
          <a:ln/>
        </p:spPr>
      </p:sp>
      <p:sp>
        <p:nvSpPr>
          <p:cNvPr id="36" name="Shape 34"/>
          <p:cNvSpPr/>
          <p:nvPr/>
        </p:nvSpPr>
        <p:spPr>
          <a:xfrm>
            <a:off x="8127797" y="6601968"/>
            <a:ext cx="2041093" cy="4572"/>
          </a:xfrm>
          <a:prstGeom prst="rect">
            <a:avLst/>
          </a:prstGeom>
          <a:solidFill>
            <a:srgbClr val="6C63FF"/>
          </a:solidFill>
          <a:ln/>
        </p:spPr>
      </p:sp>
      <p:sp>
        <p:nvSpPr>
          <p:cNvPr id="37" name="Shape 35"/>
          <p:cNvSpPr/>
          <p:nvPr/>
        </p:nvSpPr>
        <p:spPr>
          <a:xfrm>
            <a:off x="10159746" y="6601968"/>
            <a:ext cx="2041093" cy="4572"/>
          </a:xfrm>
          <a:prstGeom prst="rect">
            <a:avLst/>
          </a:prstGeom>
          <a:solidFill>
            <a:srgbClr val="6C63FF"/>
          </a:solidFill>
          <a:ln/>
        </p:spPr>
      </p:sp>
      <p:sp>
        <p:nvSpPr>
          <p:cNvPr id="38" name="Shape 36"/>
          <p:cNvSpPr/>
          <p:nvPr/>
        </p:nvSpPr>
        <p:spPr>
          <a:xfrm>
            <a:off x="0" y="6606540"/>
            <a:ext cx="12191695" cy="2743"/>
          </a:xfrm>
          <a:prstGeom prst="rect">
            <a:avLst/>
          </a:prstGeom>
          <a:solidFill>
            <a:srgbClr val="222E48"/>
          </a:solidFill>
          <a:ln/>
        </p:spPr>
      </p:sp>
      <p:sp>
        <p:nvSpPr>
          <p:cNvPr id="39" name="Text 37"/>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40" name="Shape 38"/>
          <p:cNvSpPr/>
          <p:nvPr/>
        </p:nvSpPr>
        <p:spPr>
          <a:xfrm>
            <a:off x="10436047" y="6693408"/>
            <a:ext cx="73152" cy="73152"/>
          </a:xfrm>
          <a:prstGeom prst="ellipse">
            <a:avLst/>
          </a:prstGeom>
          <a:solidFill>
            <a:srgbClr val="6C63FF"/>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Shape 1"/>
          <p:cNvSpPr/>
          <p:nvPr/>
        </p:nvSpPr>
        <p:spPr>
          <a:xfrm>
            <a:off x="64008" y="0"/>
            <a:ext cx="18288" cy="6858000"/>
          </a:xfrm>
          <a:prstGeom prst="rect">
            <a:avLst/>
          </a:prstGeom>
          <a:solidFill>
            <a:srgbClr val="10B981"/>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10B981"/>
                </a:solidFill>
                <a:latin typeface="Open Sans" pitchFamily="34" charset="0"/>
                <a:ea typeface="Open Sans" pitchFamily="34" charset="-122"/>
                <a:cs typeface="Open Sans" pitchFamily="34" charset="-120"/>
              </a:rPr>
              <a:t>APLICAÇÕES REAIS</a:t>
            </a:r>
            <a:endParaRPr lang="en-US" sz="900" dirty="0"/>
          </a:p>
        </p:txBody>
      </p:sp>
      <p:sp>
        <p:nvSpPr>
          <p:cNvPr id="5" name="Shape 3"/>
          <p:cNvSpPr/>
          <p:nvPr/>
        </p:nvSpPr>
        <p:spPr>
          <a:xfrm>
            <a:off x="502920" y="493776"/>
            <a:ext cx="640080" cy="21946"/>
          </a:xfrm>
          <a:prstGeom prst="rect">
            <a:avLst/>
          </a:prstGeom>
          <a:solidFill>
            <a:srgbClr val="10B981"/>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Exemplo de aplicações relevantes para não especialistas</a:t>
            </a:r>
            <a:endParaRPr lang="en-US" sz="2800" dirty="0"/>
          </a:p>
        </p:txBody>
      </p:sp>
      <p:sp>
        <p:nvSpPr>
          <p:cNvPr id="7" name="Shape 5"/>
          <p:cNvSpPr/>
          <p:nvPr/>
        </p:nvSpPr>
        <p:spPr>
          <a:xfrm>
            <a:off x="502920" y="1389888"/>
            <a:ext cx="11185855" cy="7315"/>
          </a:xfrm>
          <a:prstGeom prst="rect">
            <a:avLst/>
          </a:prstGeom>
          <a:solidFill>
            <a:srgbClr val="10B981"/>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6132424" y="1536192"/>
            <a:ext cx="18288" cy="4910328"/>
          </a:xfrm>
          <a:prstGeom prst="rect">
            <a:avLst/>
          </a:prstGeom>
          <a:solidFill>
            <a:srgbClr val="10B981"/>
          </a:solidFill>
          <a:ln/>
        </p:spPr>
      </p:sp>
      <p:sp>
        <p:nvSpPr>
          <p:cNvPr id="10" name="Shape 8"/>
          <p:cNvSpPr/>
          <p:nvPr/>
        </p:nvSpPr>
        <p:spPr>
          <a:xfrm>
            <a:off x="6095848" y="3945636"/>
            <a:ext cx="91440" cy="91440"/>
          </a:xfrm>
          <a:prstGeom prst="ellipse">
            <a:avLst/>
          </a:prstGeom>
          <a:solidFill>
            <a:srgbClr val="10B981"/>
          </a:solidFill>
          <a:ln/>
        </p:spPr>
      </p:sp>
      <p:sp>
        <p:nvSpPr>
          <p:cNvPr id="11" name="Shape 9"/>
          <p:cNvSpPr/>
          <p:nvPr/>
        </p:nvSpPr>
        <p:spPr>
          <a:xfrm>
            <a:off x="621792" y="1572768"/>
            <a:ext cx="5387188" cy="987552"/>
          </a:xfrm>
          <a:prstGeom prst="roundRect">
            <a:avLst>
              <a:gd name="adj" fmla="val 9259"/>
            </a:avLst>
          </a:prstGeom>
          <a:solidFill>
            <a:srgbClr val="000000"/>
          </a:solidFill>
          <a:ln/>
        </p:spPr>
      </p:sp>
      <p:sp>
        <p:nvSpPr>
          <p:cNvPr id="12" name="Shape 10"/>
          <p:cNvSpPr/>
          <p:nvPr/>
        </p:nvSpPr>
        <p:spPr>
          <a:xfrm>
            <a:off x="594360" y="1536192"/>
            <a:ext cx="5387188" cy="987552"/>
          </a:xfrm>
          <a:prstGeom prst="roundRect">
            <a:avLst>
              <a:gd name="adj" fmla="val 5556"/>
            </a:avLst>
          </a:prstGeom>
          <a:solidFill>
            <a:srgbClr val="141E34"/>
          </a:solidFill>
          <a:ln/>
        </p:spPr>
      </p:sp>
      <p:sp>
        <p:nvSpPr>
          <p:cNvPr id="13" name="Shape 11"/>
          <p:cNvSpPr/>
          <p:nvPr/>
        </p:nvSpPr>
        <p:spPr>
          <a:xfrm>
            <a:off x="594360" y="1536192"/>
            <a:ext cx="45720" cy="987552"/>
          </a:xfrm>
          <a:prstGeom prst="rect">
            <a:avLst>
              <a:gd name="adj" fmla="val 120000"/>
            </a:avLst>
          </a:prstGeom>
          <a:solidFill>
            <a:srgbClr val="6C63FF"/>
          </a:solidFill>
          <a:ln/>
        </p:spPr>
      </p:sp>
      <p:sp>
        <p:nvSpPr>
          <p:cNvPr id="14" name="Shape 12"/>
          <p:cNvSpPr/>
          <p:nvPr/>
        </p:nvSpPr>
        <p:spPr>
          <a:xfrm>
            <a:off x="722376" y="1892808"/>
            <a:ext cx="274320" cy="274320"/>
          </a:xfrm>
          <a:prstGeom prst="roundRect">
            <a:avLst>
              <a:gd name="adj" fmla="val 20000"/>
            </a:avLst>
          </a:prstGeom>
          <a:solidFill>
            <a:srgbClr val="6C63FF"/>
          </a:solidFill>
          <a:ln/>
        </p:spPr>
      </p:sp>
      <p:sp>
        <p:nvSpPr>
          <p:cNvPr id="15" name="Text 13"/>
          <p:cNvSpPr/>
          <p:nvPr/>
        </p:nvSpPr>
        <p:spPr>
          <a:xfrm>
            <a:off x="722376" y="1892808"/>
            <a:ext cx="274320" cy="274320"/>
          </a:xfrm>
          <a:prstGeom prst="rect">
            <a:avLst/>
          </a:prstGeom>
          <a:noFill/>
          <a:ln/>
        </p:spPr>
        <p:txBody>
          <a:bodyPr wrap="square"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1</a:t>
            </a:r>
            <a:endParaRPr lang="en-US" sz="1100" dirty="0"/>
          </a:p>
        </p:txBody>
      </p:sp>
      <p:sp>
        <p:nvSpPr>
          <p:cNvPr id="16" name="Text 14"/>
          <p:cNvSpPr/>
          <p:nvPr/>
        </p:nvSpPr>
        <p:spPr>
          <a:xfrm>
            <a:off x="1069848" y="1563624"/>
            <a:ext cx="4838548" cy="932688"/>
          </a:xfrm>
          <a:prstGeom prst="rect">
            <a:avLst/>
          </a:prstGeom>
          <a:noFill/>
          <a:ln/>
        </p:spPr>
        <p:txBody>
          <a:bodyPr wrap="square" rtlCol="0" anchor="ctr"/>
          <a:lstStyle/>
          <a:p>
            <a:pPr indent="0" marL="0">
              <a:lnSpc>
                <a:spcPct val="118000"/>
              </a:lnSpc>
              <a:buNone/>
            </a:pPr>
            <a:r>
              <a:rPr lang="en-US" sz="1500" dirty="0">
                <a:solidFill>
                  <a:srgbClr val="E8EDF5"/>
                </a:solidFill>
                <a:latin typeface="Open Sans" pitchFamily="34" charset="0"/>
                <a:ea typeface="Open Sans" pitchFamily="34" charset="-122"/>
                <a:cs typeface="Open Sans" pitchFamily="34" charset="-120"/>
              </a:rPr>
              <a:t>Marketing e Vendas: Análise de sentimentos, personalização de campanhas e chatbots de atendimento.</a:t>
            </a:r>
            <a:endParaRPr lang="en-US" sz="1500" dirty="0"/>
          </a:p>
        </p:txBody>
      </p:sp>
      <p:sp>
        <p:nvSpPr>
          <p:cNvPr id="17" name="Shape 15"/>
          <p:cNvSpPr/>
          <p:nvPr/>
        </p:nvSpPr>
        <p:spPr>
          <a:xfrm>
            <a:off x="621792" y="2633472"/>
            <a:ext cx="5387188" cy="987552"/>
          </a:xfrm>
          <a:prstGeom prst="roundRect">
            <a:avLst>
              <a:gd name="adj" fmla="val 9259"/>
            </a:avLst>
          </a:prstGeom>
          <a:solidFill>
            <a:srgbClr val="000000"/>
          </a:solidFill>
          <a:ln/>
        </p:spPr>
      </p:sp>
      <p:sp>
        <p:nvSpPr>
          <p:cNvPr id="18" name="Shape 16"/>
          <p:cNvSpPr/>
          <p:nvPr/>
        </p:nvSpPr>
        <p:spPr>
          <a:xfrm>
            <a:off x="594360" y="2596896"/>
            <a:ext cx="5387188" cy="987552"/>
          </a:xfrm>
          <a:prstGeom prst="roundRect">
            <a:avLst>
              <a:gd name="adj" fmla="val 5556"/>
            </a:avLst>
          </a:prstGeom>
          <a:solidFill>
            <a:srgbClr val="141E34"/>
          </a:solidFill>
          <a:ln/>
        </p:spPr>
      </p:sp>
      <p:sp>
        <p:nvSpPr>
          <p:cNvPr id="19" name="Shape 17"/>
          <p:cNvSpPr/>
          <p:nvPr/>
        </p:nvSpPr>
        <p:spPr>
          <a:xfrm>
            <a:off x="594360" y="2596896"/>
            <a:ext cx="45720" cy="987552"/>
          </a:xfrm>
          <a:prstGeom prst="rect">
            <a:avLst>
              <a:gd name="adj" fmla="val 120000"/>
            </a:avLst>
          </a:prstGeom>
          <a:solidFill>
            <a:srgbClr val="3B82F6"/>
          </a:solidFill>
          <a:ln/>
        </p:spPr>
      </p:sp>
      <p:sp>
        <p:nvSpPr>
          <p:cNvPr id="20" name="Shape 18"/>
          <p:cNvSpPr/>
          <p:nvPr/>
        </p:nvSpPr>
        <p:spPr>
          <a:xfrm>
            <a:off x="722376" y="2953512"/>
            <a:ext cx="274320" cy="274320"/>
          </a:xfrm>
          <a:prstGeom prst="roundRect">
            <a:avLst>
              <a:gd name="adj" fmla="val 20000"/>
            </a:avLst>
          </a:prstGeom>
          <a:solidFill>
            <a:srgbClr val="3B82F6"/>
          </a:solidFill>
          <a:ln/>
        </p:spPr>
      </p:sp>
      <p:sp>
        <p:nvSpPr>
          <p:cNvPr id="21" name="Text 19"/>
          <p:cNvSpPr/>
          <p:nvPr/>
        </p:nvSpPr>
        <p:spPr>
          <a:xfrm>
            <a:off x="722376" y="2953512"/>
            <a:ext cx="274320" cy="274320"/>
          </a:xfrm>
          <a:prstGeom prst="rect">
            <a:avLst/>
          </a:prstGeom>
          <a:noFill/>
          <a:ln/>
        </p:spPr>
        <p:txBody>
          <a:bodyPr wrap="square"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2</a:t>
            </a:r>
            <a:endParaRPr lang="en-US" sz="1100" dirty="0"/>
          </a:p>
        </p:txBody>
      </p:sp>
      <p:sp>
        <p:nvSpPr>
          <p:cNvPr id="22" name="Text 20"/>
          <p:cNvSpPr/>
          <p:nvPr/>
        </p:nvSpPr>
        <p:spPr>
          <a:xfrm>
            <a:off x="1069848" y="2624328"/>
            <a:ext cx="4838548" cy="932688"/>
          </a:xfrm>
          <a:prstGeom prst="rect">
            <a:avLst/>
          </a:prstGeom>
          <a:noFill/>
          <a:ln/>
        </p:spPr>
        <p:txBody>
          <a:bodyPr wrap="square" rtlCol="0" anchor="ctr"/>
          <a:lstStyle/>
          <a:p>
            <a:pPr indent="0" marL="0">
              <a:lnSpc>
                <a:spcPct val="118000"/>
              </a:lnSpc>
              <a:buNone/>
            </a:pPr>
            <a:r>
              <a:rPr lang="en-US" sz="1500" dirty="0">
                <a:solidFill>
                  <a:srgbClr val="E8EDF5"/>
                </a:solidFill>
                <a:latin typeface="Open Sans" pitchFamily="34" charset="0"/>
                <a:ea typeface="Open Sans" pitchFamily="34" charset="-122"/>
                <a:cs typeface="Open Sans" pitchFamily="34" charset="-120"/>
              </a:rPr>
              <a:t>Recursos Humanos: Triagem inteligente de currículos, análise de desempenho e plataformas de aprendizado adaptativo.</a:t>
            </a:r>
            <a:endParaRPr lang="en-US" sz="1500" dirty="0"/>
          </a:p>
        </p:txBody>
      </p:sp>
      <p:sp>
        <p:nvSpPr>
          <p:cNvPr id="23" name="Shape 21"/>
          <p:cNvSpPr/>
          <p:nvPr/>
        </p:nvSpPr>
        <p:spPr>
          <a:xfrm>
            <a:off x="621792" y="3694176"/>
            <a:ext cx="5387188" cy="987552"/>
          </a:xfrm>
          <a:prstGeom prst="roundRect">
            <a:avLst>
              <a:gd name="adj" fmla="val 9259"/>
            </a:avLst>
          </a:prstGeom>
          <a:solidFill>
            <a:srgbClr val="000000"/>
          </a:solidFill>
          <a:ln/>
        </p:spPr>
      </p:sp>
      <p:sp>
        <p:nvSpPr>
          <p:cNvPr id="24" name="Shape 22"/>
          <p:cNvSpPr/>
          <p:nvPr/>
        </p:nvSpPr>
        <p:spPr>
          <a:xfrm>
            <a:off x="594360" y="3657600"/>
            <a:ext cx="5387188" cy="987552"/>
          </a:xfrm>
          <a:prstGeom prst="roundRect">
            <a:avLst>
              <a:gd name="adj" fmla="val 5556"/>
            </a:avLst>
          </a:prstGeom>
          <a:solidFill>
            <a:srgbClr val="141E34"/>
          </a:solidFill>
          <a:ln/>
        </p:spPr>
      </p:sp>
      <p:sp>
        <p:nvSpPr>
          <p:cNvPr id="25" name="Shape 23"/>
          <p:cNvSpPr/>
          <p:nvPr/>
        </p:nvSpPr>
        <p:spPr>
          <a:xfrm>
            <a:off x="594360" y="3657600"/>
            <a:ext cx="45720" cy="987552"/>
          </a:xfrm>
          <a:prstGeom prst="rect">
            <a:avLst>
              <a:gd name="adj" fmla="val 120000"/>
            </a:avLst>
          </a:prstGeom>
          <a:solidFill>
            <a:srgbClr val="10B981"/>
          </a:solidFill>
          <a:ln/>
        </p:spPr>
      </p:sp>
      <p:sp>
        <p:nvSpPr>
          <p:cNvPr id="26" name="Shape 24"/>
          <p:cNvSpPr/>
          <p:nvPr/>
        </p:nvSpPr>
        <p:spPr>
          <a:xfrm>
            <a:off x="722376" y="4014216"/>
            <a:ext cx="274320" cy="274320"/>
          </a:xfrm>
          <a:prstGeom prst="roundRect">
            <a:avLst>
              <a:gd name="adj" fmla="val 20000"/>
            </a:avLst>
          </a:prstGeom>
          <a:solidFill>
            <a:srgbClr val="10B981"/>
          </a:solidFill>
          <a:ln/>
        </p:spPr>
      </p:sp>
      <p:sp>
        <p:nvSpPr>
          <p:cNvPr id="27" name="Text 25"/>
          <p:cNvSpPr/>
          <p:nvPr/>
        </p:nvSpPr>
        <p:spPr>
          <a:xfrm>
            <a:off x="722376" y="4014216"/>
            <a:ext cx="274320" cy="274320"/>
          </a:xfrm>
          <a:prstGeom prst="rect">
            <a:avLst/>
          </a:prstGeom>
          <a:noFill/>
          <a:ln/>
        </p:spPr>
        <p:txBody>
          <a:bodyPr wrap="square"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3</a:t>
            </a:r>
            <a:endParaRPr lang="en-US" sz="1100" dirty="0"/>
          </a:p>
        </p:txBody>
      </p:sp>
      <p:sp>
        <p:nvSpPr>
          <p:cNvPr id="28" name="Text 26"/>
          <p:cNvSpPr/>
          <p:nvPr/>
        </p:nvSpPr>
        <p:spPr>
          <a:xfrm>
            <a:off x="1069848" y="3685032"/>
            <a:ext cx="4838548" cy="932688"/>
          </a:xfrm>
          <a:prstGeom prst="rect">
            <a:avLst/>
          </a:prstGeom>
          <a:noFill/>
          <a:ln/>
        </p:spPr>
        <p:txBody>
          <a:bodyPr wrap="square" rtlCol="0" anchor="ctr"/>
          <a:lstStyle/>
          <a:p>
            <a:pPr indent="0" marL="0">
              <a:lnSpc>
                <a:spcPct val="118000"/>
              </a:lnSpc>
              <a:buNone/>
            </a:pPr>
            <a:r>
              <a:rPr lang="en-US" sz="1500" dirty="0">
                <a:solidFill>
                  <a:srgbClr val="E8EDF5"/>
                </a:solidFill>
                <a:latin typeface="Open Sans" pitchFamily="34" charset="0"/>
                <a:ea typeface="Open Sans" pitchFamily="34" charset="-122"/>
                <a:cs typeface="Open Sans" pitchFamily="34" charset="-120"/>
              </a:rPr>
              <a:t>Finanças: Detecção de fraudes, _scoring_ de crédito e robôs de investimento.</a:t>
            </a:r>
            <a:endParaRPr lang="en-US" sz="1500" dirty="0"/>
          </a:p>
        </p:txBody>
      </p:sp>
      <p:sp>
        <p:nvSpPr>
          <p:cNvPr id="29" name="Shape 27"/>
          <p:cNvSpPr/>
          <p:nvPr/>
        </p:nvSpPr>
        <p:spPr>
          <a:xfrm>
            <a:off x="621792" y="4754880"/>
            <a:ext cx="5387188" cy="987552"/>
          </a:xfrm>
          <a:prstGeom prst="roundRect">
            <a:avLst>
              <a:gd name="adj" fmla="val 9259"/>
            </a:avLst>
          </a:prstGeom>
          <a:solidFill>
            <a:srgbClr val="000000"/>
          </a:solidFill>
          <a:ln/>
        </p:spPr>
      </p:sp>
      <p:sp>
        <p:nvSpPr>
          <p:cNvPr id="30" name="Shape 28"/>
          <p:cNvSpPr/>
          <p:nvPr/>
        </p:nvSpPr>
        <p:spPr>
          <a:xfrm>
            <a:off x="594360" y="4718304"/>
            <a:ext cx="5387188" cy="987552"/>
          </a:xfrm>
          <a:prstGeom prst="roundRect">
            <a:avLst>
              <a:gd name="adj" fmla="val 5556"/>
            </a:avLst>
          </a:prstGeom>
          <a:solidFill>
            <a:srgbClr val="141E34"/>
          </a:solidFill>
          <a:ln/>
        </p:spPr>
      </p:sp>
      <p:sp>
        <p:nvSpPr>
          <p:cNvPr id="31" name="Shape 29"/>
          <p:cNvSpPr/>
          <p:nvPr/>
        </p:nvSpPr>
        <p:spPr>
          <a:xfrm>
            <a:off x="594360" y="4718304"/>
            <a:ext cx="45720" cy="987552"/>
          </a:xfrm>
          <a:prstGeom prst="rect">
            <a:avLst>
              <a:gd name="adj" fmla="val 120000"/>
            </a:avLst>
          </a:prstGeom>
          <a:solidFill>
            <a:srgbClr val="F59E0B"/>
          </a:solidFill>
          <a:ln/>
        </p:spPr>
      </p:sp>
      <p:sp>
        <p:nvSpPr>
          <p:cNvPr id="32" name="Shape 30"/>
          <p:cNvSpPr/>
          <p:nvPr/>
        </p:nvSpPr>
        <p:spPr>
          <a:xfrm>
            <a:off x="722376" y="5074920"/>
            <a:ext cx="274320" cy="274320"/>
          </a:xfrm>
          <a:prstGeom prst="roundRect">
            <a:avLst>
              <a:gd name="adj" fmla="val 20000"/>
            </a:avLst>
          </a:prstGeom>
          <a:solidFill>
            <a:srgbClr val="F59E0B"/>
          </a:solidFill>
          <a:ln/>
        </p:spPr>
      </p:sp>
      <p:sp>
        <p:nvSpPr>
          <p:cNvPr id="33" name="Text 31"/>
          <p:cNvSpPr/>
          <p:nvPr/>
        </p:nvSpPr>
        <p:spPr>
          <a:xfrm>
            <a:off x="722376" y="5074920"/>
            <a:ext cx="274320" cy="274320"/>
          </a:xfrm>
          <a:prstGeom prst="rect">
            <a:avLst/>
          </a:prstGeom>
          <a:noFill/>
          <a:ln/>
        </p:spPr>
        <p:txBody>
          <a:bodyPr wrap="square"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4</a:t>
            </a:r>
            <a:endParaRPr lang="en-US" sz="1100" dirty="0"/>
          </a:p>
        </p:txBody>
      </p:sp>
      <p:sp>
        <p:nvSpPr>
          <p:cNvPr id="34" name="Text 32"/>
          <p:cNvSpPr/>
          <p:nvPr/>
        </p:nvSpPr>
        <p:spPr>
          <a:xfrm>
            <a:off x="1069848" y="4745736"/>
            <a:ext cx="4838548" cy="932688"/>
          </a:xfrm>
          <a:prstGeom prst="rect">
            <a:avLst/>
          </a:prstGeom>
          <a:noFill/>
          <a:ln/>
        </p:spPr>
        <p:txBody>
          <a:bodyPr wrap="square" rtlCol="0" anchor="ctr"/>
          <a:lstStyle/>
          <a:p>
            <a:pPr indent="0" marL="0">
              <a:lnSpc>
                <a:spcPct val="118000"/>
              </a:lnSpc>
              <a:buNone/>
            </a:pPr>
            <a:r>
              <a:rPr lang="en-US" sz="1500" dirty="0">
                <a:solidFill>
                  <a:srgbClr val="E8EDF5"/>
                </a:solidFill>
                <a:latin typeface="Open Sans" pitchFamily="34" charset="0"/>
                <a:ea typeface="Open Sans" pitchFamily="34" charset="-122"/>
                <a:cs typeface="Open Sans" pitchFamily="34" charset="-120"/>
              </a:rPr>
              <a:t>Saúde: Diagnóstico auxiliar por imagem, monitoramento de pacientes e descoberta de medicamentos.</a:t>
            </a:r>
            <a:endParaRPr lang="en-US" sz="1500" dirty="0"/>
          </a:p>
        </p:txBody>
      </p:sp>
      <p:sp>
        <p:nvSpPr>
          <p:cNvPr id="35" name="Shape 33"/>
          <p:cNvSpPr/>
          <p:nvPr/>
        </p:nvSpPr>
        <p:spPr>
          <a:xfrm>
            <a:off x="6329020" y="1572768"/>
            <a:ext cx="5387188" cy="987552"/>
          </a:xfrm>
          <a:prstGeom prst="roundRect">
            <a:avLst>
              <a:gd name="adj" fmla="val 9259"/>
            </a:avLst>
          </a:prstGeom>
          <a:solidFill>
            <a:srgbClr val="000000"/>
          </a:solidFill>
          <a:ln/>
        </p:spPr>
      </p:sp>
      <p:sp>
        <p:nvSpPr>
          <p:cNvPr id="36" name="Shape 34"/>
          <p:cNvSpPr/>
          <p:nvPr/>
        </p:nvSpPr>
        <p:spPr>
          <a:xfrm>
            <a:off x="6301588" y="1536192"/>
            <a:ext cx="5387188" cy="987552"/>
          </a:xfrm>
          <a:prstGeom prst="roundRect">
            <a:avLst>
              <a:gd name="adj" fmla="val 5556"/>
            </a:avLst>
          </a:prstGeom>
          <a:solidFill>
            <a:srgbClr val="141E34"/>
          </a:solidFill>
          <a:ln/>
        </p:spPr>
      </p:sp>
      <p:sp>
        <p:nvSpPr>
          <p:cNvPr id="37" name="Shape 35"/>
          <p:cNvSpPr/>
          <p:nvPr/>
        </p:nvSpPr>
        <p:spPr>
          <a:xfrm>
            <a:off x="6301588" y="1536192"/>
            <a:ext cx="45720" cy="987552"/>
          </a:xfrm>
          <a:prstGeom prst="rect">
            <a:avLst>
              <a:gd name="adj" fmla="val 120000"/>
            </a:avLst>
          </a:prstGeom>
          <a:solidFill>
            <a:srgbClr val="06B6D4"/>
          </a:solidFill>
          <a:ln/>
        </p:spPr>
      </p:sp>
      <p:sp>
        <p:nvSpPr>
          <p:cNvPr id="38" name="Shape 36"/>
          <p:cNvSpPr/>
          <p:nvPr/>
        </p:nvSpPr>
        <p:spPr>
          <a:xfrm>
            <a:off x="6429604" y="1892808"/>
            <a:ext cx="274320" cy="274320"/>
          </a:xfrm>
          <a:prstGeom prst="roundRect">
            <a:avLst>
              <a:gd name="adj" fmla="val 20000"/>
            </a:avLst>
          </a:prstGeom>
          <a:solidFill>
            <a:srgbClr val="06B6D4"/>
          </a:solidFill>
          <a:ln/>
        </p:spPr>
      </p:sp>
      <p:sp>
        <p:nvSpPr>
          <p:cNvPr id="39" name="Text 37"/>
          <p:cNvSpPr/>
          <p:nvPr/>
        </p:nvSpPr>
        <p:spPr>
          <a:xfrm>
            <a:off x="6429604" y="1892808"/>
            <a:ext cx="274320" cy="274320"/>
          </a:xfrm>
          <a:prstGeom prst="rect">
            <a:avLst/>
          </a:prstGeom>
          <a:noFill/>
          <a:ln/>
        </p:spPr>
        <p:txBody>
          <a:bodyPr wrap="square"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5</a:t>
            </a:r>
            <a:endParaRPr lang="en-US" sz="1100" dirty="0"/>
          </a:p>
        </p:txBody>
      </p:sp>
      <p:sp>
        <p:nvSpPr>
          <p:cNvPr id="40" name="Text 38"/>
          <p:cNvSpPr/>
          <p:nvPr/>
        </p:nvSpPr>
        <p:spPr>
          <a:xfrm>
            <a:off x="6777076" y="1563624"/>
            <a:ext cx="4838548" cy="932688"/>
          </a:xfrm>
          <a:prstGeom prst="rect">
            <a:avLst/>
          </a:prstGeom>
          <a:noFill/>
          <a:ln/>
        </p:spPr>
        <p:txBody>
          <a:bodyPr wrap="square" rtlCol="0" anchor="ctr"/>
          <a:lstStyle/>
          <a:p>
            <a:pPr indent="0" marL="0">
              <a:lnSpc>
                <a:spcPct val="118000"/>
              </a:lnSpc>
              <a:buNone/>
            </a:pPr>
            <a:r>
              <a:rPr lang="en-US" sz="1500" dirty="0">
                <a:solidFill>
                  <a:srgbClr val="E8EDF5"/>
                </a:solidFill>
                <a:latin typeface="Open Sans" pitchFamily="34" charset="0"/>
                <a:ea typeface="Open Sans" pitchFamily="34" charset="-122"/>
                <a:cs typeface="Open Sans" pitchFamily="34" charset="-120"/>
              </a:rPr>
              <a:t>Educação: Tutoriais adaptativos, personalização de conteúdo e detecção de plágio.</a:t>
            </a:r>
            <a:endParaRPr lang="en-US" sz="1500" dirty="0"/>
          </a:p>
        </p:txBody>
      </p:sp>
      <p:sp>
        <p:nvSpPr>
          <p:cNvPr id="41" name="Shape 39"/>
          <p:cNvSpPr/>
          <p:nvPr/>
        </p:nvSpPr>
        <p:spPr>
          <a:xfrm>
            <a:off x="6329020" y="2633472"/>
            <a:ext cx="5387188" cy="987552"/>
          </a:xfrm>
          <a:prstGeom prst="roundRect">
            <a:avLst>
              <a:gd name="adj" fmla="val 9259"/>
            </a:avLst>
          </a:prstGeom>
          <a:solidFill>
            <a:srgbClr val="000000"/>
          </a:solidFill>
          <a:ln/>
        </p:spPr>
      </p:sp>
      <p:sp>
        <p:nvSpPr>
          <p:cNvPr id="42" name="Shape 40"/>
          <p:cNvSpPr/>
          <p:nvPr/>
        </p:nvSpPr>
        <p:spPr>
          <a:xfrm>
            <a:off x="6301588" y="2596896"/>
            <a:ext cx="5387188" cy="987552"/>
          </a:xfrm>
          <a:prstGeom prst="roundRect">
            <a:avLst>
              <a:gd name="adj" fmla="val 5556"/>
            </a:avLst>
          </a:prstGeom>
          <a:solidFill>
            <a:srgbClr val="141E34"/>
          </a:solidFill>
          <a:ln/>
        </p:spPr>
      </p:sp>
      <p:sp>
        <p:nvSpPr>
          <p:cNvPr id="43" name="Shape 41"/>
          <p:cNvSpPr/>
          <p:nvPr/>
        </p:nvSpPr>
        <p:spPr>
          <a:xfrm>
            <a:off x="6301588" y="2596896"/>
            <a:ext cx="45720" cy="987552"/>
          </a:xfrm>
          <a:prstGeom prst="rect">
            <a:avLst>
              <a:gd name="adj" fmla="val 120000"/>
            </a:avLst>
          </a:prstGeom>
          <a:solidFill>
            <a:srgbClr val="6C63FF"/>
          </a:solidFill>
          <a:ln/>
        </p:spPr>
      </p:sp>
      <p:sp>
        <p:nvSpPr>
          <p:cNvPr id="44" name="Shape 42"/>
          <p:cNvSpPr/>
          <p:nvPr/>
        </p:nvSpPr>
        <p:spPr>
          <a:xfrm>
            <a:off x="6429604" y="2953512"/>
            <a:ext cx="274320" cy="274320"/>
          </a:xfrm>
          <a:prstGeom prst="roundRect">
            <a:avLst>
              <a:gd name="adj" fmla="val 20000"/>
            </a:avLst>
          </a:prstGeom>
          <a:solidFill>
            <a:srgbClr val="6C63FF"/>
          </a:solidFill>
          <a:ln/>
        </p:spPr>
      </p:sp>
      <p:sp>
        <p:nvSpPr>
          <p:cNvPr id="45" name="Text 43"/>
          <p:cNvSpPr/>
          <p:nvPr/>
        </p:nvSpPr>
        <p:spPr>
          <a:xfrm>
            <a:off x="6429604" y="2953512"/>
            <a:ext cx="274320" cy="274320"/>
          </a:xfrm>
          <a:prstGeom prst="rect">
            <a:avLst/>
          </a:prstGeom>
          <a:noFill/>
          <a:ln/>
        </p:spPr>
        <p:txBody>
          <a:bodyPr wrap="square"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6</a:t>
            </a:r>
            <a:endParaRPr lang="en-US" sz="1100" dirty="0"/>
          </a:p>
        </p:txBody>
      </p:sp>
      <p:sp>
        <p:nvSpPr>
          <p:cNvPr id="46" name="Text 44"/>
          <p:cNvSpPr/>
          <p:nvPr/>
        </p:nvSpPr>
        <p:spPr>
          <a:xfrm>
            <a:off x="6777076" y="2624328"/>
            <a:ext cx="4838548" cy="932688"/>
          </a:xfrm>
          <a:prstGeom prst="rect">
            <a:avLst/>
          </a:prstGeom>
          <a:noFill/>
          <a:ln/>
        </p:spPr>
        <p:txBody>
          <a:bodyPr wrap="square" rtlCol="0" anchor="ctr"/>
          <a:lstStyle/>
          <a:p>
            <a:pPr indent="0" marL="0">
              <a:lnSpc>
                <a:spcPct val="118000"/>
              </a:lnSpc>
              <a:buNone/>
            </a:pPr>
            <a:r>
              <a:rPr lang="en-US" sz="1500" dirty="0">
                <a:solidFill>
                  <a:srgbClr val="E8EDF5"/>
                </a:solidFill>
                <a:latin typeface="Open Sans" pitchFamily="34" charset="0"/>
                <a:ea typeface="Open Sans" pitchFamily="34" charset="-122"/>
                <a:cs typeface="Open Sans" pitchFamily="34" charset="-120"/>
              </a:rPr>
              <a:t>Advocacia: Análise de contratos, pesquisa jurídica de precedentes e automação de documentos.</a:t>
            </a:r>
            <a:endParaRPr lang="en-US" sz="1500" dirty="0"/>
          </a:p>
        </p:txBody>
      </p:sp>
      <p:sp>
        <p:nvSpPr>
          <p:cNvPr id="47" name="Shape 45"/>
          <p:cNvSpPr/>
          <p:nvPr/>
        </p:nvSpPr>
        <p:spPr>
          <a:xfrm>
            <a:off x="6329020" y="3694176"/>
            <a:ext cx="5387188" cy="987552"/>
          </a:xfrm>
          <a:prstGeom prst="roundRect">
            <a:avLst>
              <a:gd name="adj" fmla="val 9259"/>
            </a:avLst>
          </a:prstGeom>
          <a:solidFill>
            <a:srgbClr val="000000"/>
          </a:solidFill>
          <a:ln/>
        </p:spPr>
      </p:sp>
      <p:sp>
        <p:nvSpPr>
          <p:cNvPr id="48" name="Shape 46"/>
          <p:cNvSpPr/>
          <p:nvPr/>
        </p:nvSpPr>
        <p:spPr>
          <a:xfrm>
            <a:off x="6301588" y="3657600"/>
            <a:ext cx="5387188" cy="987552"/>
          </a:xfrm>
          <a:prstGeom prst="roundRect">
            <a:avLst>
              <a:gd name="adj" fmla="val 5556"/>
            </a:avLst>
          </a:prstGeom>
          <a:solidFill>
            <a:srgbClr val="141E34"/>
          </a:solidFill>
          <a:ln/>
        </p:spPr>
      </p:sp>
      <p:sp>
        <p:nvSpPr>
          <p:cNvPr id="49" name="Shape 47"/>
          <p:cNvSpPr/>
          <p:nvPr/>
        </p:nvSpPr>
        <p:spPr>
          <a:xfrm>
            <a:off x="6301588" y="3657600"/>
            <a:ext cx="45720" cy="987552"/>
          </a:xfrm>
          <a:prstGeom prst="rect">
            <a:avLst>
              <a:gd name="adj" fmla="val 120000"/>
            </a:avLst>
          </a:prstGeom>
          <a:solidFill>
            <a:srgbClr val="3B82F6"/>
          </a:solidFill>
          <a:ln/>
        </p:spPr>
      </p:sp>
      <p:sp>
        <p:nvSpPr>
          <p:cNvPr id="50" name="Shape 48"/>
          <p:cNvSpPr/>
          <p:nvPr/>
        </p:nvSpPr>
        <p:spPr>
          <a:xfrm>
            <a:off x="6429604" y="4014216"/>
            <a:ext cx="274320" cy="274320"/>
          </a:xfrm>
          <a:prstGeom prst="roundRect">
            <a:avLst>
              <a:gd name="adj" fmla="val 20000"/>
            </a:avLst>
          </a:prstGeom>
          <a:solidFill>
            <a:srgbClr val="3B82F6"/>
          </a:solidFill>
          <a:ln/>
        </p:spPr>
      </p:sp>
      <p:sp>
        <p:nvSpPr>
          <p:cNvPr id="51" name="Text 49"/>
          <p:cNvSpPr/>
          <p:nvPr/>
        </p:nvSpPr>
        <p:spPr>
          <a:xfrm>
            <a:off x="6429604" y="4014216"/>
            <a:ext cx="274320" cy="274320"/>
          </a:xfrm>
          <a:prstGeom prst="rect">
            <a:avLst/>
          </a:prstGeom>
          <a:noFill/>
          <a:ln/>
        </p:spPr>
        <p:txBody>
          <a:bodyPr wrap="square"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7</a:t>
            </a:r>
            <a:endParaRPr lang="en-US" sz="1100" dirty="0"/>
          </a:p>
        </p:txBody>
      </p:sp>
      <p:sp>
        <p:nvSpPr>
          <p:cNvPr id="52" name="Text 50"/>
          <p:cNvSpPr/>
          <p:nvPr/>
        </p:nvSpPr>
        <p:spPr>
          <a:xfrm>
            <a:off x="6777076" y="3685032"/>
            <a:ext cx="4838548" cy="932688"/>
          </a:xfrm>
          <a:prstGeom prst="rect">
            <a:avLst/>
          </a:prstGeom>
          <a:noFill/>
          <a:ln/>
        </p:spPr>
        <p:txBody>
          <a:bodyPr wrap="square" rtlCol="0" anchor="ctr"/>
          <a:lstStyle/>
          <a:p>
            <a:pPr indent="0" marL="0">
              <a:lnSpc>
                <a:spcPct val="118000"/>
              </a:lnSpc>
              <a:buNone/>
            </a:pPr>
            <a:r>
              <a:rPr lang="en-US" sz="1500" dirty="0">
                <a:solidFill>
                  <a:srgbClr val="E8EDF5"/>
                </a:solidFill>
                <a:latin typeface="Open Sans" pitchFamily="34" charset="0"/>
                <a:ea typeface="Open Sans" pitchFamily="34" charset="-122"/>
                <a:cs typeface="Open Sans" pitchFamily="34" charset="-120"/>
              </a:rPr>
              <a:t>Gestão de Projetos: Otimização de cronogramas, alocação de recursos e análise de riscos.</a:t>
            </a:r>
            <a:endParaRPr lang="en-US" sz="1500" dirty="0"/>
          </a:p>
        </p:txBody>
      </p:sp>
      <p:sp>
        <p:nvSpPr>
          <p:cNvPr id="53" name="Shape 51"/>
          <p:cNvSpPr/>
          <p:nvPr/>
        </p:nvSpPr>
        <p:spPr>
          <a:xfrm>
            <a:off x="0" y="6601968"/>
            <a:ext cx="2041093" cy="4572"/>
          </a:xfrm>
          <a:prstGeom prst="rect">
            <a:avLst/>
          </a:prstGeom>
          <a:solidFill>
            <a:srgbClr val="6C63FF"/>
          </a:solidFill>
          <a:ln/>
        </p:spPr>
      </p:sp>
      <p:sp>
        <p:nvSpPr>
          <p:cNvPr id="54" name="Shape 52"/>
          <p:cNvSpPr/>
          <p:nvPr/>
        </p:nvSpPr>
        <p:spPr>
          <a:xfrm>
            <a:off x="2031949" y="6601968"/>
            <a:ext cx="2041093" cy="4572"/>
          </a:xfrm>
          <a:prstGeom prst="rect">
            <a:avLst/>
          </a:prstGeom>
          <a:solidFill>
            <a:srgbClr val="6C63FF"/>
          </a:solidFill>
          <a:ln/>
        </p:spPr>
      </p:sp>
      <p:sp>
        <p:nvSpPr>
          <p:cNvPr id="55" name="Shape 53"/>
          <p:cNvSpPr/>
          <p:nvPr/>
        </p:nvSpPr>
        <p:spPr>
          <a:xfrm>
            <a:off x="4063898" y="6601968"/>
            <a:ext cx="2041093" cy="4572"/>
          </a:xfrm>
          <a:prstGeom prst="rect">
            <a:avLst/>
          </a:prstGeom>
          <a:solidFill>
            <a:srgbClr val="6C63FF"/>
          </a:solidFill>
          <a:ln/>
        </p:spPr>
      </p:sp>
      <p:sp>
        <p:nvSpPr>
          <p:cNvPr id="56" name="Shape 54"/>
          <p:cNvSpPr/>
          <p:nvPr/>
        </p:nvSpPr>
        <p:spPr>
          <a:xfrm>
            <a:off x="6095848" y="6601968"/>
            <a:ext cx="2041093" cy="4572"/>
          </a:xfrm>
          <a:prstGeom prst="rect">
            <a:avLst/>
          </a:prstGeom>
          <a:solidFill>
            <a:srgbClr val="6C63FF"/>
          </a:solidFill>
          <a:ln/>
        </p:spPr>
      </p:sp>
      <p:sp>
        <p:nvSpPr>
          <p:cNvPr id="57" name="Shape 55"/>
          <p:cNvSpPr/>
          <p:nvPr/>
        </p:nvSpPr>
        <p:spPr>
          <a:xfrm>
            <a:off x="8127797" y="6601968"/>
            <a:ext cx="2041093" cy="4572"/>
          </a:xfrm>
          <a:prstGeom prst="rect">
            <a:avLst/>
          </a:prstGeom>
          <a:solidFill>
            <a:srgbClr val="6C63FF"/>
          </a:solidFill>
          <a:ln/>
        </p:spPr>
      </p:sp>
      <p:sp>
        <p:nvSpPr>
          <p:cNvPr id="58" name="Shape 56"/>
          <p:cNvSpPr/>
          <p:nvPr/>
        </p:nvSpPr>
        <p:spPr>
          <a:xfrm>
            <a:off x="10159746" y="6601968"/>
            <a:ext cx="2041093" cy="4572"/>
          </a:xfrm>
          <a:prstGeom prst="rect">
            <a:avLst/>
          </a:prstGeom>
          <a:solidFill>
            <a:srgbClr val="6C63FF"/>
          </a:solidFill>
          <a:ln/>
        </p:spPr>
      </p:sp>
      <p:sp>
        <p:nvSpPr>
          <p:cNvPr id="59" name="Shape 57"/>
          <p:cNvSpPr/>
          <p:nvPr/>
        </p:nvSpPr>
        <p:spPr>
          <a:xfrm>
            <a:off x="0" y="6606540"/>
            <a:ext cx="12191695" cy="2743"/>
          </a:xfrm>
          <a:prstGeom prst="rect">
            <a:avLst/>
          </a:prstGeom>
          <a:solidFill>
            <a:srgbClr val="222E48"/>
          </a:solidFill>
          <a:ln/>
        </p:spPr>
      </p:sp>
      <p:sp>
        <p:nvSpPr>
          <p:cNvPr id="60" name="Text 58"/>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61" name="Shape 59"/>
          <p:cNvSpPr/>
          <p:nvPr/>
        </p:nvSpPr>
        <p:spPr>
          <a:xfrm>
            <a:off x="10436047" y="6693408"/>
            <a:ext cx="73152" cy="73152"/>
          </a:xfrm>
          <a:prstGeom prst="ellipse">
            <a:avLst/>
          </a:prstGeom>
          <a:solidFill>
            <a:srgbClr val="6C63FF"/>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6C63FF"/>
          </a:solidFill>
          <a:ln/>
        </p:spPr>
      </p:sp>
      <p:sp>
        <p:nvSpPr>
          <p:cNvPr id="3" name="Text 1"/>
          <p:cNvSpPr/>
          <p:nvPr/>
        </p:nvSpPr>
        <p:spPr>
          <a:xfrm>
            <a:off x="685800" y="274320"/>
            <a:ext cx="5486400" cy="219456"/>
          </a:xfrm>
          <a:prstGeom prst="rect">
            <a:avLst/>
          </a:prstGeom>
          <a:noFill/>
          <a:ln/>
        </p:spPr>
        <p:txBody>
          <a:bodyPr wrap="square" rtlCol="0" anchor="ctr"/>
          <a:lstStyle/>
          <a:p>
            <a:pPr indent="0" marL="0">
              <a:buNone/>
            </a:pPr>
            <a:r>
              <a:rPr lang="en-US" sz="1000" b="1" spc="500" kern="0" dirty="0">
                <a:solidFill>
                  <a:srgbClr val="6C63FF"/>
                </a:solidFill>
                <a:latin typeface="Open Sans" pitchFamily="34" charset="0"/>
                <a:ea typeface="Open Sans" pitchFamily="34" charset="-122"/>
                <a:cs typeface="Open Sans" pitchFamily="34" charset="-120"/>
              </a:rPr>
              <a:t>RESUMO DO MÓDULO</a:t>
            </a:r>
            <a:endParaRPr lang="en-US" sz="1000" dirty="0"/>
          </a:p>
        </p:txBody>
      </p:sp>
      <p:sp>
        <p:nvSpPr>
          <p:cNvPr id="4" name="Shape 2"/>
          <p:cNvSpPr/>
          <p:nvPr/>
        </p:nvSpPr>
        <p:spPr>
          <a:xfrm>
            <a:off x="685800" y="521208"/>
            <a:ext cx="822960" cy="18288"/>
          </a:xfrm>
          <a:prstGeom prst="rect">
            <a:avLst/>
          </a:prstGeom>
          <a:solidFill>
            <a:srgbClr val="6C63FF"/>
          </a:solidFill>
          <a:ln/>
        </p:spPr>
      </p:sp>
      <p:sp>
        <p:nvSpPr>
          <p:cNvPr id="5" name="Text 3"/>
          <p:cNvSpPr/>
          <p:nvPr/>
        </p:nvSpPr>
        <p:spPr>
          <a:xfrm>
            <a:off x="685800" y="621792"/>
            <a:ext cx="11048695" cy="685800"/>
          </a:xfrm>
          <a:prstGeom prst="rect">
            <a:avLst/>
          </a:prstGeom>
          <a:noFill/>
          <a:ln/>
        </p:spPr>
        <p:txBody>
          <a:bodyPr wrap="square" rtlCol="0" anchor="ctr"/>
          <a:lstStyle/>
          <a:p>
            <a:pPr indent="0" marL="0">
              <a:buNone/>
            </a:pPr>
            <a:r>
              <a:rPr lang="en-US" sz="2800" b="1" dirty="0">
                <a:solidFill>
                  <a:srgbClr val="E8EDF5"/>
                </a:solidFill>
                <a:latin typeface="Montserrat" pitchFamily="34" charset="0"/>
                <a:ea typeface="Montserrat" pitchFamily="34" charset="-122"/>
                <a:cs typeface="Montserrat" pitchFamily="34" charset="-120"/>
              </a:rPr>
              <a:t>Resumo do Módulo</a:t>
            </a:r>
            <a:endParaRPr lang="en-US" sz="2800" dirty="0"/>
          </a:p>
        </p:txBody>
      </p:sp>
      <p:sp>
        <p:nvSpPr>
          <p:cNvPr id="6" name="Shape 4"/>
          <p:cNvSpPr/>
          <p:nvPr/>
        </p:nvSpPr>
        <p:spPr>
          <a:xfrm>
            <a:off x="713232" y="1499616"/>
            <a:ext cx="11048695" cy="1371600"/>
          </a:xfrm>
          <a:prstGeom prst="roundRect">
            <a:avLst>
              <a:gd name="adj" fmla="val 6667"/>
            </a:avLst>
          </a:prstGeom>
          <a:solidFill>
            <a:srgbClr val="000000"/>
          </a:solidFill>
          <a:ln/>
        </p:spPr>
      </p:sp>
      <p:sp>
        <p:nvSpPr>
          <p:cNvPr id="7" name="Shape 5"/>
          <p:cNvSpPr/>
          <p:nvPr/>
        </p:nvSpPr>
        <p:spPr>
          <a:xfrm>
            <a:off x="685800" y="1463040"/>
            <a:ext cx="11048695" cy="1371600"/>
          </a:xfrm>
          <a:prstGeom prst="roundRect">
            <a:avLst>
              <a:gd name="adj" fmla="val 6667"/>
            </a:avLst>
          </a:prstGeom>
          <a:solidFill>
            <a:srgbClr val="141E34"/>
          </a:solidFill>
          <a:ln/>
        </p:spPr>
      </p:sp>
      <p:sp>
        <p:nvSpPr>
          <p:cNvPr id="8" name="Shape 6"/>
          <p:cNvSpPr/>
          <p:nvPr/>
        </p:nvSpPr>
        <p:spPr>
          <a:xfrm>
            <a:off x="685800" y="1463040"/>
            <a:ext cx="45720" cy="1371600"/>
          </a:xfrm>
          <a:prstGeom prst="rect">
            <a:avLst>
              <a:gd name="adj" fmla="val 200000"/>
            </a:avLst>
          </a:prstGeom>
          <a:solidFill>
            <a:srgbClr val="6C63FF"/>
          </a:solidFill>
          <a:ln/>
        </p:spPr>
      </p:sp>
      <p:sp>
        <p:nvSpPr>
          <p:cNvPr id="9" name="Shape 7"/>
          <p:cNvSpPr/>
          <p:nvPr/>
        </p:nvSpPr>
        <p:spPr>
          <a:xfrm>
            <a:off x="813816" y="1572768"/>
            <a:ext cx="365760" cy="365760"/>
          </a:xfrm>
          <a:prstGeom prst="roundRect">
            <a:avLst>
              <a:gd name="adj" fmla="val 20000"/>
            </a:avLst>
          </a:prstGeom>
          <a:solidFill>
            <a:srgbClr val="6C63FF"/>
          </a:solidFill>
          <a:ln/>
        </p:spPr>
      </p:sp>
      <p:sp>
        <p:nvSpPr>
          <p:cNvPr id="10" name="Text 8"/>
          <p:cNvSpPr/>
          <p:nvPr/>
        </p:nvSpPr>
        <p:spPr>
          <a:xfrm>
            <a:off x="813816" y="1572768"/>
            <a:ext cx="365760" cy="365760"/>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1</a:t>
            </a:r>
            <a:endParaRPr lang="en-US" sz="1600" dirty="0"/>
          </a:p>
        </p:txBody>
      </p:sp>
      <p:sp>
        <p:nvSpPr>
          <p:cNvPr id="11" name="Text 9"/>
          <p:cNvSpPr/>
          <p:nvPr/>
        </p:nvSpPr>
        <p:spPr>
          <a:xfrm>
            <a:off x="813816" y="1993392"/>
            <a:ext cx="10792663" cy="731520"/>
          </a:xfrm>
          <a:prstGeom prst="rect">
            <a:avLst/>
          </a:prstGeom>
          <a:noFill/>
          <a:ln/>
        </p:spPr>
        <p:txBody>
          <a:bodyPr wrap="square" rtlCol="0" anchor="t"/>
          <a:lstStyle/>
          <a:p>
            <a:pPr indent="0" marL="0">
              <a:lnSpc>
                <a:spcPct val="125000"/>
              </a:lnSpc>
              <a:buNone/>
            </a:pPr>
            <a:r>
              <a:rPr lang="en-US" sz="1700" dirty="0">
                <a:solidFill>
                  <a:srgbClr val="E8EDF5"/>
                </a:solidFill>
                <a:latin typeface="Open Sans" pitchFamily="34" charset="0"/>
                <a:ea typeface="Open Sans" pitchFamily="34" charset="-122"/>
                <a:cs typeface="Open Sans" pitchFamily="34" charset="-120"/>
              </a:rPr>
              <a:t>Neste módulo, desmistificamos a Inteligência Artificial, definindo-a e diferenciando-a de mitos comuns.</a:t>
            </a:r>
            <a:endParaRPr lang="en-US" sz="1700" dirty="0"/>
          </a:p>
        </p:txBody>
      </p:sp>
      <p:sp>
        <p:nvSpPr>
          <p:cNvPr id="12" name="Shape 10"/>
          <p:cNvSpPr/>
          <p:nvPr/>
        </p:nvSpPr>
        <p:spPr>
          <a:xfrm>
            <a:off x="713232" y="2980944"/>
            <a:ext cx="11048695" cy="1371600"/>
          </a:xfrm>
          <a:prstGeom prst="roundRect">
            <a:avLst>
              <a:gd name="adj" fmla="val 6667"/>
            </a:avLst>
          </a:prstGeom>
          <a:solidFill>
            <a:srgbClr val="000000"/>
          </a:solidFill>
          <a:ln/>
        </p:spPr>
      </p:sp>
      <p:sp>
        <p:nvSpPr>
          <p:cNvPr id="13" name="Shape 11"/>
          <p:cNvSpPr/>
          <p:nvPr/>
        </p:nvSpPr>
        <p:spPr>
          <a:xfrm>
            <a:off x="685800" y="2944368"/>
            <a:ext cx="11048695" cy="1371600"/>
          </a:xfrm>
          <a:prstGeom prst="roundRect">
            <a:avLst>
              <a:gd name="adj" fmla="val 6667"/>
            </a:avLst>
          </a:prstGeom>
          <a:solidFill>
            <a:srgbClr val="141E34"/>
          </a:solidFill>
          <a:ln/>
        </p:spPr>
      </p:sp>
      <p:sp>
        <p:nvSpPr>
          <p:cNvPr id="14" name="Shape 12"/>
          <p:cNvSpPr/>
          <p:nvPr/>
        </p:nvSpPr>
        <p:spPr>
          <a:xfrm>
            <a:off x="685800" y="2944368"/>
            <a:ext cx="45720" cy="1371600"/>
          </a:xfrm>
          <a:prstGeom prst="rect">
            <a:avLst>
              <a:gd name="adj" fmla="val 200000"/>
            </a:avLst>
          </a:prstGeom>
          <a:solidFill>
            <a:srgbClr val="3B82F6"/>
          </a:solidFill>
          <a:ln/>
        </p:spPr>
      </p:sp>
      <p:sp>
        <p:nvSpPr>
          <p:cNvPr id="15" name="Shape 13"/>
          <p:cNvSpPr/>
          <p:nvPr/>
        </p:nvSpPr>
        <p:spPr>
          <a:xfrm>
            <a:off x="813816" y="3054096"/>
            <a:ext cx="365760" cy="365760"/>
          </a:xfrm>
          <a:prstGeom prst="roundRect">
            <a:avLst>
              <a:gd name="adj" fmla="val 20000"/>
            </a:avLst>
          </a:prstGeom>
          <a:solidFill>
            <a:srgbClr val="3B82F6"/>
          </a:solidFill>
          <a:ln/>
        </p:spPr>
      </p:sp>
      <p:sp>
        <p:nvSpPr>
          <p:cNvPr id="16" name="Text 14"/>
          <p:cNvSpPr/>
          <p:nvPr/>
        </p:nvSpPr>
        <p:spPr>
          <a:xfrm>
            <a:off x="813816" y="3054096"/>
            <a:ext cx="365760" cy="365760"/>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sp>
        <p:nvSpPr>
          <p:cNvPr id="17" name="Text 15"/>
          <p:cNvSpPr/>
          <p:nvPr/>
        </p:nvSpPr>
        <p:spPr>
          <a:xfrm>
            <a:off x="813816" y="3474720"/>
            <a:ext cx="10792663" cy="731520"/>
          </a:xfrm>
          <a:prstGeom prst="rect">
            <a:avLst/>
          </a:prstGeom>
          <a:noFill/>
          <a:ln/>
        </p:spPr>
        <p:txBody>
          <a:bodyPr wrap="square" rtlCol="0" anchor="t"/>
          <a:lstStyle/>
          <a:p>
            <a:pPr indent="0" marL="0">
              <a:lnSpc>
                <a:spcPct val="125000"/>
              </a:lnSpc>
              <a:buNone/>
            </a:pPr>
            <a:r>
              <a:rPr lang="en-US" sz="1700" dirty="0">
                <a:solidFill>
                  <a:srgbClr val="E8EDF5"/>
                </a:solidFill>
                <a:latin typeface="Open Sans" pitchFamily="34" charset="0"/>
                <a:ea typeface="Open Sans" pitchFamily="34" charset="-122"/>
                <a:cs typeface="Open Sans" pitchFamily="34" charset="-120"/>
              </a:rPr>
              <a:t>Exploramos os principais tipos de IA, como aprendizado de máquina e aprendizado profundo, e como eles impulsionam aplicações práticas em PLN e Visão Computacional.</a:t>
            </a:r>
            <a:endParaRPr lang="en-US" sz="1700" dirty="0"/>
          </a:p>
        </p:txBody>
      </p:sp>
      <p:sp>
        <p:nvSpPr>
          <p:cNvPr id="18" name="Shape 16"/>
          <p:cNvSpPr/>
          <p:nvPr/>
        </p:nvSpPr>
        <p:spPr>
          <a:xfrm>
            <a:off x="713232" y="4462272"/>
            <a:ext cx="11048695" cy="1371600"/>
          </a:xfrm>
          <a:prstGeom prst="roundRect">
            <a:avLst>
              <a:gd name="adj" fmla="val 6667"/>
            </a:avLst>
          </a:prstGeom>
          <a:solidFill>
            <a:srgbClr val="000000"/>
          </a:solidFill>
          <a:ln/>
        </p:spPr>
      </p:sp>
      <p:sp>
        <p:nvSpPr>
          <p:cNvPr id="19" name="Shape 17"/>
          <p:cNvSpPr/>
          <p:nvPr/>
        </p:nvSpPr>
        <p:spPr>
          <a:xfrm>
            <a:off x="685800" y="4425696"/>
            <a:ext cx="11048695" cy="1371600"/>
          </a:xfrm>
          <a:prstGeom prst="roundRect">
            <a:avLst>
              <a:gd name="adj" fmla="val 6667"/>
            </a:avLst>
          </a:prstGeom>
          <a:solidFill>
            <a:srgbClr val="141E34"/>
          </a:solidFill>
          <a:ln/>
        </p:spPr>
      </p:sp>
      <p:sp>
        <p:nvSpPr>
          <p:cNvPr id="20" name="Shape 18"/>
          <p:cNvSpPr/>
          <p:nvPr/>
        </p:nvSpPr>
        <p:spPr>
          <a:xfrm>
            <a:off x="685800" y="4425696"/>
            <a:ext cx="45720" cy="1371600"/>
          </a:xfrm>
          <a:prstGeom prst="rect">
            <a:avLst>
              <a:gd name="adj" fmla="val 200000"/>
            </a:avLst>
          </a:prstGeom>
          <a:solidFill>
            <a:srgbClr val="10B981"/>
          </a:solidFill>
          <a:ln/>
        </p:spPr>
      </p:sp>
      <p:sp>
        <p:nvSpPr>
          <p:cNvPr id="21" name="Shape 19"/>
          <p:cNvSpPr/>
          <p:nvPr/>
        </p:nvSpPr>
        <p:spPr>
          <a:xfrm>
            <a:off x="813816" y="4535424"/>
            <a:ext cx="365760" cy="365760"/>
          </a:xfrm>
          <a:prstGeom prst="roundRect">
            <a:avLst>
              <a:gd name="adj" fmla="val 20000"/>
            </a:avLst>
          </a:prstGeom>
          <a:solidFill>
            <a:srgbClr val="10B981"/>
          </a:solidFill>
          <a:ln/>
        </p:spPr>
      </p:sp>
      <p:sp>
        <p:nvSpPr>
          <p:cNvPr id="22" name="Text 20"/>
          <p:cNvSpPr/>
          <p:nvPr/>
        </p:nvSpPr>
        <p:spPr>
          <a:xfrm>
            <a:off x="813816" y="4535424"/>
            <a:ext cx="365760" cy="365760"/>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23" name="Text 21"/>
          <p:cNvSpPr/>
          <p:nvPr/>
        </p:nvSpPr>
        <p:spPr>
          <a:xfrm>
            <a:off x="813816" y="4956048"/>
            <a:ext cx="10792663" cy="731520"/>
          </a:xfrm>
          <a:prstGeom prst="rect">
            <a:avLst/>
          </a:prstGeom>
          <a:noFill/>
          <a:ln/>
        </p:spPr>
        <p:txBody>
          <a:bodyPr wrap="square" rtlCol="0" anchor="t"/>
          <a:lstStyle/>
          <a:p>
            <a:pPr indent="0" marL="0">
              <a:lnSpc>
                <a:spcPct val="125000"/>
              </a:lnSpc>
              <a:buNone/>
            </a:pPr>
            <a:r>
              <a:rPr lang="en-US" sz="1700" dirty="0">
                <a:solidFill>
                  <a:srgbClr val="E8EDF5"/>
                </a:solidFill>
                <a:latin typeface="Open Sans" pitchFamily="34" charset="0"/>
                <a:ea typeface="Open Sans" pitchFamily="34" charset="-122"/>
                <a:cs typeface="Open Sans" pitchFamily="34" charset="-120"/>
              </a:rPr>
              <a:t>Por fim, analisamos o impacto global da IA na eficiência, experiência do cliente, inovação e tomada de decisões em diversas indústrias.</a:t>
            </a:r>
            <a:endParaRPr lang="en-US" sz="1700" dirty="0"/>
          </a:p>
        </p:txBody>
      </p:sp>
      <p:sp>
        <p:nvSpPr>
          <p:cNvPr id="24" name="Shape 22"/>
          <p:cNvSpPr/>
          <p:nvPr/>
        </p:nvSpPr>
        <p:spPr>
          <a:xfrm>
            <a:off x="0" y="6601968"/>
            <a:ext cx="2041093" cy="4572"/>
          </a:xfrm>
          <a:prstGeom prst="rect">
            <a:avLst/>
          </a:prstGeom>
          <a:solidFill>
            <a:srgbClr val="6C63FF"/>
          </a:solidFill>
          <a:ln/>
        </p:spPr>
      </p:sp>
      <p:sp>
        <p:nvSpPr>
          <p:cNvPr id="25" name="Shape 23"/>
          <p:cNvSpPr/>
          <p:nvPr/>
        </p:nvSpPr>
        <p:spPr>
          <a:xfrm>
            <a:off x="2031949" y="6601968"/>
            <a:ext cx="2041093" cy="4572"/>
          </a:xfrm>
          <a:prstGeom prst="rect">
            <a:avLst/>
          </a:prstGeom>
          <a:solidFill>
            <a:srgbClr val="6C63FF"/>
          </a:solidFill>
          <a:ln/>
        </p:spPr>
      </p:sp>
      <p:sp>
        <p:nvSpPr>
          <p:cNvPr id="26" name="Shape 24"/>
          <p:cNvSpPr/>
          <p:nvPr/>
        </p:nvSpPr>
        <p:spPr>
          <a:xfrm>
            <a:off x="4063898" y="6601968"/>
            <a:ext cx="2041093" cy="4572"/>
          </a:xfrm>
          <a:prstGeom prst="rect">
            <a:avLst/>
          </a:prstGeom>
          <a:solidFill>
            <a:srgbClr val="6C63FF"/>
          </a:solidFill>
          <a:ln/>
        </p:spPr>
      </p:sp>
      <p:sp>
        <p:nvSpPr>
          <p:cNvPr id="27" name="Shape 25"/>
          <p:cNvSpPr/>
          <p:nvPr/>
        </p:nvSpPr>
        <p:spPr>
          <a:xfrm>
            <a:off x="6095848" y="6601968"/>
            <a:ext cx="2041093" cy="4572"/>
          </a:xfrm>
          <a:prstGeom prst="rect">
            <a:avLst/>
          </a:prstGeom>
          <a:solidFill>
            <a:srgbClr val="6C63FF"/>
          </a:solidFill>
          <a:ln/>
        </p:spPr>
      </p:sp>
      <p:sp>
        <p:nvSpPr>
          <p:cNvPr id="28" name="Shape 26"/>
          <p:cNvSpPr/>
          <p:nvPr/>
        </p:nvSpPr>
        <p:spPr>
          <a:xfrm>
            <a:off x="8127797" y="6601968"/>
            <a:ext cx="2041093" cy="4572"/>
          </a:xfrm>
          <a:prstGeom prst="rect">
            <a:avLst/>
          </a:prstGeom>
          <a:solidFill>
            <a:srgbClr val="6C63FF"/>
          </a:solidFill>
          <a:ln/>
        </p:spPr>
      </p:sp>
      <p:sp>
        <p:nvSpPr>
          <p:cNvPr id="29" name="Shape 27"/>
          <p:cNvSpPr/>
          <p:nvPr/>
        </p:nvSpPr>
        <p:spPr>
          <a:xfrm>
            <a:off x="10159746" y="6601968"/>
            <a:ext cx="2041093" cy="4572"/>
          </a:xfrm>
          <a:prstGeom prst="rect">
            <a:avLst/>
          </a:prstGeom>
          <a:solidFill>
            <a:srgbClr val="6C63FF"/>
          </a:solidFill>
          <a:ln/>
        </p:spPr>
      </p:sp>
      <p:sp>
        <p:nvSpPr>
          <p:cNvPr id="30" name="Shape 28"/>
          <p:cNvSpPr/>
          <p:nvPr/>
        </p:nvSpPr>
        <p:spPr>
          <a:xfrm>
            <a:off x="0" y="6606540"/>
            <a:ext cx="12191695" cy="2743"/>
          </a:xfrm>
          <a:prstGeom prst="rect">
            <a:avLst/>
          </a:prstGeom>
          <a:solidFill>
            <a:srgbClr val="222E48"/>
          </a:solidFill>
          <a:ln/>
        </p:spPr>
      </p:sp>
      <p:sp>
        <p:nvSpPr>
          <p:cNvPr id="31" name="Text 29"/>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32" name="Shape 30"/>
          <p:cNvSpPr/>
          <p:nvPr/>
        </p:nvSpPr>
        <p:spPr>
          <a:xfrm>
            <a:off x="10436047" y="6693408"/>
            <a:ext cx="73152" cy="73152"/>
          </a:xfrm>
          <a:prstGeom prst="ellipse">
            <a:avLst/>
          </a:prstGeom>
          <a:solidFill>
            <a:srgbClr val="6C63FF"/>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50A18"/>
        </a:solidFill>
      </p:bgPr>
    </p:bg>
    <p:spTree>
      <p:nvGrpSpPr>
        <p:cNvPr id="1" name=""/>
        <p:cNvGrpSpPr/>
        <p:nvPr/>
      </p:nvGrpSpPr>
      <p:grpSpPr>
        <a:xfrm>
          <a:off x="0" y="0"/>
          <a:ext cx="0" cy="0"/>
          <a:chOff x="0" y="0"/>
          <a:chExt cx="0" cy="0"/>
        </a:xfrm>
      </p:grpSpPr>
      <p:sp>
        <p:nvSpPr>
          <p:cNvPr id="2" name="Shape 0"/>
          <p:cNvSpPr/>
          <p:nvPr/>
        </p:nvSpPr>
        <p:spPr>
          <a:xfrm>
            <a:off x="0" y="36576"/>
            <a:ext cx="12191695" cy="41148"/>
          </a:xfrm>
          <a:prstGeom prst="rect">
            <a:avLst/>
          </a:prstGeom>
          <a:solidFill>
            <a:srgbClr val="06B6D4"/>
          </a:solidFill>
          <a:ln/>
        </p:spPr>
      </p:sp>
      <p:sp>
        <p:nvSpPr>
          <p:cNvPr id="3" name="Text 1"/>
          <p:cNvSpPr/>
          <p:nvPr/>
        </p:nvSpPr>
        <p:spPr>
          <a:xfrm>
            <a:off x="594360" y="256032"/>
            <a:ext cx="5486400" cy="219456"/>
          </a:xfrm>
          <a:prstGeom prst="rect">
            <a:avLst/>
          </a:prstGeom>
          <a:noFill/>
          <a:ln/>
        </p:spPr>
        <p:txBody>
          <a:bodyPr wrap="square" rtlCol="0" anchor="ctr"/>
          <a:lstStyle/>
          <a:p>
            <a:pPr indent="0" marL="0">
              <a:buNone/>
            </a:pPr>
            <a:r>
              <a:rPr lang="en-US" sz="1000" b="1" spc="600" kern="0" dirty="0">
                <a:solidFill>
                  <a:srgbClr val="06B6D4"/>
                </a:solidFill>
                <a:latin typeface="Open Sans" pitchFamily="34" charset="0"/>
                <a:ea typeface="Open Sans" pitchFamily="34" charset="-122"/>
                <a:cs typeface="Open Sans" pitchFamily="34" charset="-120"/>
              </a:rPr>
              <a:t>KEY TAKEAWAYS</a:t>
            </a:r>
            <a:endParaRPr lang="en-US" sz="1000" dirty="0"/>
          </a:p>
        </p:txBody>
      </p:sp>
      <p:sp>
        <p:nvSpPr>
          <p:cNvPr id="4" name="Text 2"/>
          <p:cNvSpPr/>
          <p:nvPr/>
        </p:nvSpPr>
        <p:spPr>
          <a:xfrm>
            <a:off x="594360" y="530352"/>
            <a:ext cx="11002975" cy="640080"/>
          </a:xfrm>
          <a:prstGeom prst="rect">
            <a:avLst/>
          </a:prstGeom>
          <a:noFill/>
          <a:ln/>
        </p:spPr>
        <p:txBody>
          <a:bodyPr wrap="square"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Key Takeaways</a:t>
            </a:r>
            <a:endParaRPr lang="en-US" sz="2800" dirty="0"/>
          </a:p>
        </p:txBody>
      </p:sp>
      <p:sp>
        <p:nvSpPr>
          <p:cNvPr id="5" name="Shape 3"/>
          <p:cNvSpPr/>
          <p:nvPr/>
        </p:nvSpPr>
        <p:spPr>
          <a:xfrm>
            <a:off x="594360" y="1234440"/>
            <a:ext cx="1645920" cy="22860"/>
          </a:xfrm>
          <a:prstGeom prst="rect">
            <a:avLst/>
          </a:prstGeom>
          <a:solidFill>
            <a:srgbClr val="06B6D4"/>
          </a:solidFill>
          <a:ln/>
        </p:spPr>
      </p:sp>
      <p:sp>
        <p:nvSpPr>
          <p:cNvPr id="6" name="Shape 4"/>
          <p:cNvSpPr/>
          <p:nvPr/>
        </p:nvSpPr>
        <p:spPr>
          <a:xfrm>
            <a:off x="612648" y="1536192"/>
            <a:ext cx="3628034" cy="1645920"/>
          </a:xfrm>
          <a:prstGeom prst="roundRect">
            <a:avLst>
              <a:gd name="adj" fmla="val 6667"/>
            </a:avLst>
          </a:prstGeom>
          <a:solidFill>
            <a:srgbClr val="000000"/>
          </a:solidFill>
          <a:ln/>
        </p:spPr>
      </p:sp>
      <p:sp>
        <p:nvSpPr>
          <p:cNvPr id="7" name="Shape 5"/>
          <p:cNvSpPr/>
          <p:nvPr/>
        </p:nvSpPr>
        <p:spPr>
          <a:xfrm>
            <a:off x="594360" y="1508760"/>
            <a:ext cx="3628034" cy="1645920"/>
          </a:xfrm>
          <a:prstGeom prst="roundRect">
            <a:avLst>
              <a:gd name="adj" fmla="val 6667"/>
            </a:avLst>
          </a:prstGeom>
          <a:solidFill>
            <a:srgbClr val="111D38"/>
          </a:solidFill>
          <a:ln/>
        </p:spPr>
      </p:sp>
      <p:sp>
        <p:nvSpPr>
          <p:cNvPr id="8" name="Shape 6"/>
          <p:cNvSpPr/>
          <p:nvPr/>
        </p:nvSpPr>
        <p:spPr>
          <a:xfrm>
            <a:off x="594360" y="1508760"/>
            <a:ext cx="45720" cy="1645920"/>
          </a:xfrm>
          <a:prstGeom prst="rect">
            <a:avLst>
              <a:gd name="adj" fmla="val 240000"/>
            </a:avLst>
          </a:prstGeom>
          <a:solidFill>
            <a:srgbClr val="6C63FF"/>
          </a:solidFill>
          <a:ln/>
        </p:spPr>
      </p:sp>
      <p:sp>
        <p:nvSpPr>
          <p:cNvPr id="9" name="Shape 7"/>
          <p:cNvSpPr/>
          <p:nvPr/>
        </p:nvSpPr>
        <p:spPr>
          <a:xfrm>
            <a:off x="740664" y="1655064"/>
            <a:ext cx="384048" cy="384048"/>
          </a:xfrm>
          <a:prstGeom prst="roundRect">
            <a:avLst>
              <a:gd name="adj" fmla="val 19048"/>
            </a:avLst>
          </a:prstGeom>
          <a:solidFill>
            <a:srgbClr val="6C63FF"/>
          </a:solidFill>
          <a:ln/>
        </p:spPr>
      </p:sp>
      <p:sp>
        <p:nvSpPr>
          <p:cNvPr id="10" name="Text 8"/>
          <p:cNvSpPr/>
          <p:nvPr/>
        </p:nvSpPr>
        <p:spPr>
          <a:xfrm>
            <a:off x="740664" y="1655064"/>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1</a:t>
            </a:r>
            <a:endParaRPr lang="en-US" sz="1800" dirty="0"/>
          </a:p>
        </p:txBody>
      </p:sp>
      <p:sp>
        <p:nvSpPr>
          <p:cNvPr id="11" name="Text 9"/>
          <p:cNvSpPr/>
          <p:nvPr/>
        </p:nvSpPr>
        <p:spPr>
          <a:xfrm>
            <a:off x="740664" y="2130552"/>
            <a:ext cx="3335426" cy="896112"/>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A Inteligência Artificial permite que máquinas realizem tarefas que exigem intelecto humano.</a:t>
            </a:r>
            <a:endParaRPr lang="en-US" sz="1400" dirty="0"/>
          </a:p>
        </p:txBody>
      </p:sp>
      <p:sp>
        <p:nvSpPr>
          <p:cNvPr id="12" name="Shape 10"/>
          <p:cNvSpPr/>
          <p:nvPr/>
        </p:nvSpPr>
        <p:spPr>
          <a:xfrm>
            <a:off x="4368698" y="1536192"/>
            <a:ext cx="3628034" cy="1645920"/>
          </a:xfrm>
          <a:prstGeom prst="roundRect">
            <a:avLst>
              <a:gd name="adj" fmla="val 6667"/>
            </a:avLst>
          </a:prstGeom>
          <a:solidFill>
            <a:srgbClr val="000000"/>
          </a:solidFill>
          <a:ln/>
        </p:spPr>
      </p:sp>
      <p:sp>
        <p:nvSpPr>
          <p:cNvPr id="13" name="Shape 11"/>
          <p:cNvSpPr/>
          <p:nvPr/>
        </p:nvSpPr>
        <p:spPr>
          <a:xfrm>
            <a:off x="4350410" y="1508760"/>
            <a:ext cx="3628034" cy="1645920"/>
          </a:xfrm>
          <a:prstGeom prst="roundRect">
            <a:avLst>
              <a:gd name="adj" fmla="val 6667"/>
            </a:avLst>
          </a:prstGeom>
          <a:solidFill>
            <a:srgbClr val="111D38"/>
          </a:solidFill>
          <a:ln/>
        </p:spPr>
      </p:sp>
      <p:sp>
        <p:nvSpPr>
          <p:cNvPr id="14" name="Shape 12"/>
          <p:cNvSpPr/>
          <p:nvPr/>
        </p:nvSpPr>
        <p:spPr>
          <a:xfrm>
            <a:off x="4350410" y="1508760"/>
            <a:ext cx="45720" cy="1645920"/>
          </a:xfrm>
          <a:prstGeom prst="rect">
            <a:avLst>
              <a:gd name="adj" fmla="val 240000"/>
            </a:avLst>
          </a:prstGeom>
          <a:solidFill>
            <a:srgbClr val="3B82F6"/>
          </a:solidFill>
          <a:ln/>
        </p:spPr>
      </p:sp>
      <p:sp>
        <p:nvSpPr>
          <p:cNvPr id="15" name="Shape 13"/>
          <p:cNvSpPr/>
          <p:nvPr/>
        </p:nvSpPr>
        <p:spPr>
          <a:xfrm>
            <a:off x="4496714" y="1655064"/>
            <a:ext cx="384048" cy="384048"/>
          </a:xfrm>
          <a:prstGeom prst="roundRect">
            <a:avLst>
              <a:gd name="adj" fmla="val 19048"/>
            </a:avLst>
          </a:prstGeom>
          <a:solidFill>
            <a:srgbClr val="3B82F6"/>
          </a:solidFill>
          <a:ln/>
        </p:spPr>
      </p:sp>
      <p:sp>
        <p:nvSpPr>
          <p:cNvPr id="16" name="Text 14"/>
          <p:cNvSpPr/>
          <p:nvPr/>
        </p:nvSpPr>
        <p:spPr>
          <a:xfrm>
            <a:off x="4496714" y="1655064"/>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2</a:t>
            </a:r>
            <a:endParaRPr lang="en-US" sz="1800" dirty="0"/>
          </a:p>
        </p:txBody>
      </p:sp>
      <p:sp>
        <p:nvSpPr>
          <p:cNvPr id="17" name="Text 15"/>
          <p:cNvSpPr/>
          <p:nvPr/>
        </p:nvSpPr>
        <p:spPr>
          <a:xfrm>
            <a:off x="4496714" y="2130552"/>
            <a:ext cx="3335426" cy="896112"/>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A IA não é ficção científica, mas uma realidade presente, transformando trabalho e vida.</a:t>
            </a:r>
            <a:endParaRPr lang="en-US" sz="1400" dirty="0"/>
          </a:p>
        </p:txBody>
      </p:sp>
      <p:sp>
        <p:nvSpPr>
          <p:cNvPr id="18" name="Shape 16"/>
          <p:cNvSpPr/>
          <p:nvPr/>
        </p:nvSpPr>
        <p:spPr>
          <a:xfrm>
            <a:off x="8124749" y="1536192"/>
            <a:ext cx="3628034" cy="1645920"/>
          </a:xfrm>
          <a:prstGeom prst="roundRect">
            <a:avLst>
              <a:gd name="adj" fmla="val 6667"/>
            </a:avLst>
          </a:prstGeom>
          <a:solidFill>
            <a:srgbClr val="000000"/>
          </a:solidFill>
          <a:ln/>
        </p:spPr>
      </p:sp>
      <p:sp>
        <p:nvSpPr>
          <p:cNvPr id="19" name="Shape 17"/>
          <p:cNvSpPr/>
          <p:nvPr/>
        </p:nvSpPr>
        <p:spPr>
          <a:xfrm>
            <a:off x="8106461" y="1508760"/>
            <a:ext cx="3628034" cy="1645920"/>
          </a:xfrm>
          <a:prstGeom prst="roundRect">
            <a:avLst>
              <a:gd name="adj" fmla="val 6667"/>
            </a:avLst>
          </a:prstGeom>
          <a:solidFill>
            <a:srgbClr val="111D38"/>
          </a:solidFill>
          <a:ln/>
        </p:spPr>
      </p:sp>
      <p:sp>
        <p:nvSpPr>
          <p:cNvPr id="20" name="Shape 18"/>
          <p:cNvSpPr/>
          <p:nvPr/>
        </p:nvSpPr>
        <p:spPr>
          <a:xfrm>
            <a:off x="8106461" y="1508760"/>
            <a:ext cx="45720" cy="1645920"/>
          </a:xfrm>
          <a:prstGeom prst="rect">
            <a:avLst>
              <a:gd name="adj" fmla="val 240000"/>
            </a:avLst>
          </a:prstGeom>
          <a:solidFill>
            <a:srgbClr val="10B981"/>
          </a:solidFill>
          <a:ln/>
        </p:spPr>
      </p:sp>
      <p:sp>
        <p:nvSpPr>
          <p:cNvPr id="21" name="Shape 19"/>
          <p:cNvSpPr/>
          <p:nvPr/>
        </p:nvSpPr>
        <p:spPr>
          <a:xfrm>
            <a:off x="8252765" y="1655064"/>
            <a:ext cx="384048" cy="384048"/>
          </a:xfrm>
          <a:prstGeom prst="roundRect">
            <a:avLst>
              <a:gd name="adj" fmla="val 19048"/>
            </a:avLst>
          </a:prstGeom>
          <a:solidFill>
            <a:srgbClr val="10B981"/>
          </a:solidFill>
          <a:ln/>
        </p:spPr>
      </p:sp>
      <p:sp>
        <p:nvSpPr>
          <p:cNvPr id="22" name="Text 20"/>
          <p:cNvSpPr/>
          <p:nvPr/>
        </p:nvSpPr>
        <p:spPr>
          <a:xfrm>
            <a:off x="8252765" y="1655064"/>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3</a:t>
            </a:r>
            <a:endParaRPr lang="en-US" sz="1800" dirty="0"/>
          </a:p>
        </p:txBody>
      </p:sp>
      <p:sp>
        <p:nvSpPr>
          <p:cNvPr id="23" name="Text 21"/>
          <p:cNvSpPr/>
          <p:nvPr/>
        </p:nvSpPr>
        <p:spPr>
          <a:xfrm>
            <a:off x="8252765" y="2130552"/>
            <a:ext cx="3335426" cy="896112"/>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Existem diferentes tipos de IA, sendo a IA Fraca a base das aplicações diárias.</a:t>
            </a:r>
            <a:endParaRPr lang="en-US" sz="1400" dirty="0"/>
          </a:p>
        </p:txBody>
      </p:sp>
      <p:sp>
        <p:nvSpPr>
          <p:cNvPr id="24" name="Shape 22"/>
          <p:cNvSpPr/>
          <p:nvPr/>
        </p:nvSpPr>
        <p:spPr>
          <a:xfrm>
            <a:off x="612648" y="3310128"/>
            <a:ext cx="3628034" cy="1645920"/>
          </a:xfrm>
          <a:prstGeom prst="roundRect">
            <a:avLst>
              <a:gd name="adj" fmla="val 6667"/>
            </a:avLst>
          </a:prstGeom>
          <a:solidFill>
            <a:srgbClr val="000000"/>
          </a:solidFill>
          <a:ln/>
        </p:spPr>
      </p:sp>
      <p:sp>
        <p:nvSpPr>
          <p:cNvPr id="25" name="Shape 23"/>
          <p:cNvSpPr/>
          <p:nvPr/>
        </p:nvSpPr>
        <p:spPr>
          <a:xfrm>
            <a:off x="594360" y="3282696"/>
            <a:ext cx="3628034" cy="1645920"/>
          </a:xfrm>
          <a:prstGeom prst="roundRect">
            <a:avLst>
              <a:gd name="adj" fmla="val 6667"/>
            </a:avLst>
          </a:prstGeom>
          <a:solidFill>
            <a:srgbClr val="111D38"/>
          </a:solidFill>
          <a:ln/>
        </p:spPr>
      </p:sp>
      <p:sp>
        <p:nvSpPr>
          <p:cNvPr id="26" name="Shape 24"/>
          <p:cNvSpPr/>
          <p:nvPr/>
        </p:nvSpPr>
        <p:spPr>
          <a:xfrm>
            <a:off x="594360" y="3282696"/>
            <a:ext cx="45720" cy="1645920"/>
          </a:xfrm>
          <a:prstGeom prst="rect">
            <a:avLst>
              <a:gd name="adj" fmla="val 240000"/>
            </a:avLst>
          </a:prstGeom>
          <a:solidFill>
            <a:srgbClr val="F59E0B"/>
          </a:solidFill>
          <a:ln/>
        </p:spPr>
      </p:sp>
      <p:sp>
        <p:nvSpPr>
          <p:cNvPr id="27" name="Shape 25"/>
          <p:cNvSpPr/>
          <p:nvPr/>
        </p:nvSpPr>
        <p:spPr>
          <a:xfrm>
            <a:off x="740664" y="3429000"/>
            <a:ext cx="384048" cy="384048"/>
          </a:xfrm>
          <a:prstGeom prst="roundRect">
            <a:avLst>
              <a:gd name="adj" fmla="val 19048"/>
            </a:avLst>
          </a:prstGeom>
          <a:solidFill>
            <a:srgbClr val="F59E0B"/>
          </a:solidFill>
          <a:ln/>
        </p:spPr>
      </p:sp>
      <p:sp>
        <p:nvSpPr>
          <p:cNvPr id="28" name="Text 26"/>
          <p:cNvSpPr/>
          <p:nvPr/>
        </p:nvSpPr>
        <p:spPr>
          <a:xfrm>
            <a:off x="740664" y="3429000"/>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4</a:t>
            </a:r>
            <a:endParaRPr lang="en-US" sz="1800" dirty="0"/>
          </a:p>
        </p:txBody>
      </p:sp>
      <p:sp>
        <p:nvSpPr>
          <p:cNvPr id="29" name="Text 27"/>
          <p:cNvSpPr/>
          <p:nvPr/>
        </p:nvSpPr>
        <p:spPr>
          <a:xfrm>
            <a:off x="740664" y="3904488"/>
            <a:ext cx="3335426" cy="896112"/>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aprendizado de máquina e aprendizado profundo são subcampos cruciais que permitem à IA aprender com dados.</a:t>
            </a:r>
            <a:endParaRPr lang="en-US" sz="1400" dirty="0"/>
          </a:p>
        </p:txBody>
      </p:sp>
      <p:sp>
        <p:nvSpPr>
          <p:cNvPr id="30" name="Shape 28"/>
          <p:cNvSpPr/>
          <p:nvPr/>
        </p:nvSpPr>
        <p:spPr>
          <a:xfrm>
            <a:off x="4368698" y="3310128"/>
            <a:ext cx="3628034" cy="1645920"/>
          </a:xfrm>
          <a:prstGeom prst="roundRect">
            <a:avLst>
              <a:gd name="adj" fmla="val 6667"/>
            </a:avLst>
          </a:prstGeom>
          <a:solidFill>
            <a:srgbClr val="000000"/>
          </a:solidFill>
          <a:ln/>
        </p:spPr>
      </p:sp>
      <p:sp>
        <p:nvSpPr>
          <p:cNvPr id="31" name="Shape 29"/>
          <p:cNvSpPr/>
          <p:nvPr/>
        </p:nvSpPr>
        <p:spPr>
          <a:xfrm>
            <a:off x="4350410" y="3282696"/>
            <a:ext cx="3628034" cy="1645920"/>
          </a:xfrm>
          <a:prstGeom prst="roundRect">
            <a:avLst>
              <a:gd name="adj" fmla="val 6667"/>
            </a:avLst>
          </a:prstGeom>
          <a:solidFill>
            <a:srgbClr val="111D38"/>
          </a:solidFill>
          <a:ln/>
        </p:spPr>
      </p:sp>
      <p:sp>
        <p:nvSpPr>
          <p:cNvPr id="32" name="Shape 30"/>
          <p:cNvSpPr/>
          <p:nvPr/>
        </p:nvSpPr>
        <p:spPr>
          <a:xfrm>
            <a:off x="4350410" y="3282696"/>
            <a:ext cx="45720" cy="1645920"/>
          </a:xfrm>
          <a:prstGeom prst="rect">
            <a:avLst>
              <a:gd name="adj" fmla="val 240000"/>
            </a:avLst>
          </a:prstGeom>
          <a:solidFill>
            <a:srgbClr val="06B6D4"/>
          </a:solidFill>
          <a:ln/>
        </p:spPr>
      </p:sp>
      <p:sp>
        <p:nvSpPr>
          <p:cNvPr id="33" name="Shape 31"/>
          <p:cNvSpPr/>
          <p:nvPr/>
        </p:nvSpPr>
        <p:spPr>
          <a:xfrm>
            <a:off x="4496714" y="3429000"/>
            <a:ext cx="384048" cy="384048"/>
          </a:xfrm>
          <a:prstGeom prst="roundRect">
            <a:avLst>
              <a:gd name="adj" fmla="val 19048"/>
            </a:avLst>
          </a:prstGeom>
          <a:solidFill>
            <a:srgbClr val="06B6D4"/>
          </a:solidFill>
          <a:ln/>
        </p:spPr>
      </p:sp>
      <p:sp>
        <p:nvSpPr>
          <p:cNvPr id="34" name="Text 32"/>
          <p:cNvSpPr/>
          <p:nvPr/>
        </p:nvSpPr>
        <p:spPr>
          <a:xfrm>
            <a:off x="4496714" y="3429000"/>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5</a:t>
            </a:r>
            <a:endParaRPr lang="en-US" sz="1800" dirty="0"/>
          </a:p>
        </p:txBody>
      </p:sp>
      <p:sp>
        <p:nvSpPr>
          <p:cNvPr id="35" name="Text 33"/>
          <p:cNvSpPr/>
          <p:nvPr/>
        </p:nvSpPr>
        <p:spPr>
          <a:xfrm>
            <a:off x="4496714" y="3904488"/>
            <a:ext cx="3335426" cy="896112"/>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PLN e Visão Computacional são tecnologias que interagem e interpretam linguagem e imagens.</a:t>
            </a:r>
            <a:endParaRPr lang="en-US" sz="1400" dirty="0"/>
          </a:p>
        </p:txBody>
      </p:sp>
      <p:sp>
        <p:nvSpPr>
          <p:cNvPr id="36" name="Shape 34"/>
          <p:cNvSpPr/>
          <p:nvPr/>
        </p:nvSpPr>
        <p:spPr>
          <a:xfrm>
            <a:off x="8124749" y="3310128"/>
            <a:ext cx="3628034" cy="1645920"/>
          </a:xfrm>
          <a:prstGeom prst="roundRect">
            <a:avLst>
              <a:gd name="adj" fmla="val 6667"/>
            </a:avLst>
          </a:prstGeom>
          <a:solidFill>
            <a:srgbClr val="000000"/>
          </a:solidFill>
          <a:ln/>
        </p:spPr>
      </p:sp>
      <p:sp>
        <p:nvSpPr>
          <p:cNvPr id="37" name="Shape 35"/>
          <p:cNvSpPr/>
          <p:nvPr/>
        </p:nvSpPr>
        <p:spPr>
          <a:xfrm>
            <a:off x="8106461" y="3282696"/>
            <a:ext cx="3628034" cy="1645920"/>
          </a:xfrm>
          <a:prstGeom prst="roundRect">
            <a:avLst>
              <a:gd name="adj" fmla="val 6667"/>
            </a:avLst>
          </a:prstGeom>
          <a:solidFill>
            <a:srgbClr val="111D38"/>
          </a:solidFill>
          <a:ln/>
        </p:spPr>
      </p:sp>
      <p:sp>
        <p:nvSpPr>
          <p:cNvPr id="38" name="Shape 36"/>
          <p:cNvSpPr/>
          <p:nvPr/>
        </p:nvSpPr>
        <p:spPr>
          <a:xfrm>
            <a:off x="8106461" y="3282696"/>
            <a:ext cx="45720" cy="1645920"/>
          </a:xfrm>
          <a:prstGeom prst="rect">
            <a:avLst>
              <a:gd name="adj" fmla="val 240000"/>
            </a:avLst>
          </a:prstGeom>
          <a:solidFill>
            <a:srgbClr val="6C63FF"/>
          </a:solidFill>
          <a:ln/>
        </p:spPr>
      </p:sp>
      <p:sp>
        <p:nvSpPr>
          <p:cNvPr id="39" name="Shape 37"/>
          <p:cNvSpPr/>
          <p:nvPr/>
        </p:nvSpPr>
        <p:spPr>
          <a:xfrm>
            <a:off x="8252765" y="3429000"/>
            <a:ext cx="384048" cy="384048"/>
          </a:xfrm>
          <a:prstGeom prst="roundRect">
            <a:avLst>
              <a:gd name="adj" fmla="val 19048"/>
            </a:avLst>
          </a:prstGeom>
          <a:solidFill>
            <a:srgbClr val="6C63FF"/>
          </a:solidFill>
          <a:ln/>
        </p:spPr>
      </p:sp>
      <p:sp>
        <p:nvSpPr>
          <p:cNvPr id="40" name="Text 38"/>
          <p:cNvSpPr/>
          <p:nvPr/>
        </p:nvSpPr>
        <p:spPr>
          <a:xfrm>
            <a:off x="8252765" y="3429000"/>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6</a:t>
            </a:r>
            <a:endParaRPr lang="en-US" sz="1800" dirty="0"/>
          </a:p>
        </p:txBody>
      </p:sp>
      <p:sp>
        <p:nvSpPr>
          <p:cNvPr id="41" name="Text 39"/>
          <p:cNvSpPr/>
          <p:nvPr/>
        </p:nvSpPr>
        <p:spPr>
          <a:xfrm>
            <a:off x="8252765" y="3904488"/>
            <a:ext cx="3335426" cy="896112"/>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A IA aumenta a eficiência, personaliza a experiência do cliente e impulsiona a inovação.</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50A18"/>
        </a:solidFill>
      </p:bgPr>
    </p:bg>
    <p:spTree>
      <p:nvGrpSpPr>
        <p:cNvPr id="1" name=""/>
        <p:cNvGrpSpPr/>
        <p:nvPr/>
      </p:nvGrpSpPr>
      <p:grpSpPr>
        <a:xfrm>
          <a:off x="0" y="0"/>
          <a:ext cx="0" cy="0"/>
          <a:chOff x="0" y="0"/>
          <a:chExt cx="0" cy="0"/>
        </a:xfrm>
      </p:grpSpPr>
      <p:sp>
        <p:nvSpPr>
          <p:cNvPr id="2" name="Shape 0"/>
          <p:cNvSpPr/>
          <p:nvPr/>
        </p:nvSpPr>
        <p:spPr>
          <a:xfrm>
            <a:off x="7315017" y="0"/>
            <a:ext cx="5486263" cy="1152144"/>
          </a:xfrm>
          <a:prstGeom prst="rect">
            <a:avLst/>
          </a:prstGeom>
          <a:solidFill>
            <a:srgbClr val="3B82F6"/>
          </a:solidFill>
          <a:ln/>
        </p:spPr>
      </p:sp>
      <p:sp>
        <p:nvSpPr>
          <p:cNvPr id="3" name="Shape 1"/>
          <p:cNvSpPr/>
          <p:nvPr/>
        </p:nvSpPr>
        <p:spPr>
          <a:xfrm>
            <a:off x="7315017" y="1143000"/>
            <a:ext cx="5486263" cy="1152144"/>
          </a:xfrm>
          <a:prstGeom prst="rect">
            <a:avLst/>
          </a:prstGeom>
          <a:solidFill>
            <a:srgbClr val="3B82F6"/>
          </a:solidFill>
          <a:ln/>
        </p:spPr>
      </p:sp>
      <p:sp>
        <p:nvSpPr>
          <p:cNvPr id="4" name="Shape 2"/>
          <p:cNvSpPr/>
          <p:nvPr/>
        </p:nvSpPr>
        <p:spPr>
          <a:xfrm>
            <a:off x="7315017" y="2286000"/>
            <a:ext cx="5486263" cy="1152144"/>
          </a:xfrm>
          <a:prstGeom prst="rect">
            <a:avLst/>
          </a:prstGeom>
          <a:solidFill>
            <a:srgbClr val="3B82F6"/>
          </a:solidFill>
          <a:ln/>
        </p:spPr>
      </p:sp>
      <p:sp>
        <p:nvSpPr>
          <p:cNvPr id="5" name="Shape 3"/>
          <p:cNvSpPr/>
          <p:nvPr/>
        </p:nvSpPr>
        <p:spPr>
          <a:xfrm>
            <a:off x="7315017" y="3429000"/>
            <a:ext cx="5486263" cy="1152144"/>
          </a:xfrm>
          <a:prstGeom prst="rect">
            <a:avLst/>
          </a:prstGeom>
          <a:solidFill>
            <a:srgbClr val="3B82F6"/>
          </a:solidFill>
          <a:ln/>
        </p:spPr>
      </p:sp>
      <p:sp>
        <p:nvSpPr>
          <p:cNvPr id="6" name="Shape 4"/>
          <p:cNvSpPr/>
          <p:nvPr/>
        </p:nvSpPr>
        <p:spPr>
          <a:xfrm>
            <a:off x="7315017" y="4572000"/>
            <a:ext cx="5486263" cy="1152144"/>
          </a:xfrm>
          <a:prstGeom prst="rect">
            <a:avLst/>
          </a:prstGeom>
          <a:solidFill>
            <a:srgbClr val="3B82F6"/>
          </a:solidFill>
          <a:ln/>
        </p:spPr>
      </p:sp>
      <p:sp>
        <p:nvSpPr>
          <p:cNvPr id="7" name="Shape 5"/>
          <p:cNvSpPr/>
          <p:nvPr/>
        </p:nvSpPr>
        <p:spPr>
          <a:xfrm>
            <a:off x="7315017" y="5715000"/>
            <a:ext cx="5486263" cy="1152144"/>
          </a:xfrm>
          <a:prstGeom prst="rect">
            <a:avLst/>
          </a:prstGeom>
          <a:solidFill>
            <a:srgbClr val="3B82F6"/>
          </a:solidFill>
          <a:ln/>
        </p:spPr>
      </p:sp>
      <p:sp>
        <p:nvSpPr>
          <p:cNvPr id="8" name="Text 6"/>
          <p:cNvSpPr/>
          <p:nvPr/>
        </p:nvSpPr>
        <p:spPr>
          <a:xfrm>
            <a:off x="7619695" y="2743200"/>
            <a:ext cx="4572000" cy="4114800"/>
          </a:xfrm>
          <a:prstGeom prst="rect">
            <a:avLst/>
          </a:prstGeom>
          <a:noFill/>
          <a:ln/>
        </p:spPr>
        <p:txBody>
          <a:bodyPr wrap="square" rtlCol="0" anchor="b"/>
          <a:lstStyle/>
          <a:p>
            <a:pPr algn="r" indent="0" marL="0">
              <a:buNone/>
            </a:pPr>
            <a:r>
              <a:rPr lang="en-US" sz="20000" b="1" dirty="0">
                <a:solidFill>
                  <a:srgbClr val="3B82F6">
                    <a:alpha val="10000"/>
                  </a:srgbClr>
                </a:solidFill>
                <a:latin typeface="Montserrat" pitchFamily="34" charset="0"/>
                <a:ea typeface="Montserrat" pitchFamily="34" charset="-122"/>
                <a:cs typeface="Montserrat" pitchFamily="34" charset="-120"/>
              </a:rPr>
              <a:t>02</a:t>
            </a:r>
            <a:endParaRPr lang="en-US" sz="20000" dirty="0"/>
          </a:p>
        </p:txBody>
      </p:sp>
      <p:sp>
        <p:nvSpPr>
          <p:cNvPr id="9" name="Shape 7"/>
          <p:cNvSpPr/>
          <p:nvPr/>
        </p:nvSpPr>
        <p:spPr>
          <a:xfrm>
            <a:off x="9448495" y="-548640"/>
            <a:ext cx="3200400" cy="3200400"/>
          </a:xfrm>
          <a:prstGeom prst="ellipse">
            <a:avLst/>
          </a:prstGeom>
          <a:solidFill>
            <a:srgbClr val="3B82F6"/>
          </a:solidFill>
          <a:ln/>
        </p:spPr>
      </p:sp>
      <p:sp>
        <p:nvSpPr>
          <p:cNvPr id="10" name="Shape 8"/>
          <p:cNvSpPr/>
          <p:nvPr/>
        </p:nvSpPr>
        <p:spPr>
          <a:xfrm>
            <a:off x="10545775" y="594360"/>
            <a:ext cx="146304" cy="146304"/>
          </a:xfrm>
          <a:prstGeom prst="ellipse">
            <a:avLst/>
          </a:prstGeom>
          <a:solidFill>
            <a:srgbClr val="3B82F6"/>
          </a:solidFill>
          <a:ln/>
        </p:spPr>
      </p:sp>
      <p:sp>
        <p:nvSpPr>
          <p:cNvPr id="11" name="Shape 9"/>
          <p:cNvSpPr/>
          <p:nvPr/>
        </p:nvSpPr>
        <p:spPr>
          <a:xfrm>
            <a:off x="731520" y="1005840"/>
            <a:ext cx="45720" cy="2103120"/>
          </a:xfrm>
          <a:prstGeom prst="rect">
            <a:avLst/>
          </a:prstGeom>
          <a:solidFill>
            <a:srgbClr val="3B82F6"/>
          </a:solidFill>
          <a:ln/>
        </p:spPr>
      </p:sp>
      <p:sp>
        <p:nvSpPr>
          <p:cNvPr id="12" name="Shape 10"/>
          <p:cNvSpPr/>
          <p:nvPr/>
        </p:nvSpPr>
        <p:spPr>
          <a:xfrm>
            <a:off x="804672" y="1005840"/>
            <a:ext cx="13716" cy="2103120"/>
          </a:xfrm>
          <a:prstGeom prst="rect">
            <a:avLst/>
          </a:prstGeom>
          <a:solidFill>
            <a:srgbClr val="3B82F6"/>
          </a:solidFill>
          <a:ln/>
        </p:spPr>
      </p:sp>
      <p:sp>
        <p:nvSpPr>
          <p:cNvPr id="13" name="Text 11"/>
          <p:cNvSpPr/>
          <p:nvPr/>
        </p:nvSpPr>
        <p:spPr>
          <a:xfrm>
            <a:off x="1005840" y="1097280"/>
            <a:ext cx="4572000" cy="256032"/>
          </a:xfrm>
          <a:prstGeom prst="rect">
            <a:avLst/>
          </a:prstGeom>
          <a:noFill/>
          <a:ln/>
        </p:spPr>
        <p:txBody>
          <a:bodyPr wrap="square" rtlCol="0" anchor="ctr"/>
          <a:lstStyle/>
          <a:p>
            <a:pPr indent="0" marL="0">
              <a:buNone/>
            </a:pPr>
            <a:r>
              <a:rPr lang="en-US" sz="1100" b="1" spc="800" kern="0" dirty="0">
                <a:solidFill>
                  <a:srgbClr val="3B82F6"/>
                </a:solidFill>
                <a:latin typeface="Open Sans" pitchFamily="34" charset="0"/>
                <a:ea typeface="Open Sans" pitchFamily="34" charset="-122"/>
                <a:cs typeface="Open Sans" pitchFamily="34" charset="-120"/>
              </a:rPr>
              <a:t>MÓDULO 02</a:t>
            </a:r>
            <a:endParaRPr lang="en-US" sz="1100" dirty="0"/>
          </a:p>
        </p:txBody>
      </p:sp>
      <p:sp>
        <p:nvSpPr>
          <p:cNvPr id="14" name="Shape 12"/>
          <p:cNvSpPr/>
          <p:nvPr/>
        </p:nvSpPr>
        <p:spPr>
          <a:xfrm>
            <a:off x="1005840" y="1481328"/>
            <a:ext cx="1280160" cy="20117"/>
          </a:xfrm>
          <a:prstGeom prst="rect">
            <a:avLst/>
          </a:prstGeom>
          <a:solidFill>
            <a:srgbClr val="3B82F6"/>
          </a:solidFill>
          <a:ln/>
        </p:spPr>
      </p:sp>
      <p:sp>
        <p:nvSpPr>
          <p:cNvPr id="15" name="Text 13"/>
          <p:cNvSpPr/>
          <p:nvPr/>
        </p:nvSpPr>
        <p:spPr>
          <a:xfrm>
            <a:off x="1005840" y="1691640"/>
            <a:ext cx="6461598" cy="2286000"/>
          </a:xfrm>
          <a:prstGeom prst="rect">
            <a:avLst/>
          </a:prstGeom>
          <a:noFill/>
          <a:ln/>
        </p:spPr>
        <p:txBody>
          <a:bodyPr wrap="square" rtlCol="0" anchor="t"/>
          <a:lstStyle/>
          <a:p>
            <a:pPr indent="0" marL="0">
              <a:lnSpc>
                <a:spcPct val="102000"/>
              </a:lnSpc>
              <a:buNone/>
            </a:pPr>
            <a:r>
              <a:rPr lang="en-US" sz="3600" b="1" dirty="0">
                <a:solidFill>
                  <a:srgbClr val="FFFFFF"/>
                </a:solidFill>
                <a:latin typeface="Montserrat" pitchFamily="34" charset="0"/>
                <a:ea typeface="Montserrat" pitchFamily="34" charset="-122"/>
                <a:cs typeface="Montserrat" pitchFamily="34" charset="-120"/>
              </a:rPr>
              <a:t>Ferramentas de IA Acessíveis e Sem Código para o Dia a Dia Profissional</a:t>
            </a:r>
            <a:endParaRPr lang="en-US" sz="3600" dirty="0"/>
          </a:p>
        </p:txBody>
      </p:sp>
      <p:sp>
        <p:nvSpPr>
          <p:cNvPr id="16" name="Shape 14"/>
          <p:cNvSpPr/>
          <p:nvPr/>
        </p:nvSpPr>
        <p:spPr>
          <a:xfrm>
            <a:off x="1005840" y="4142232"/>
            <a:ext cx="2011680" cy="10973"/>
          </a:xfrm>
          <a:prstGeom prst="rect">
            <a:avLst/>
          </a:prstGeom>
          <a:solidFill>
            <a:srgbClr val="3B82F6"/>
          </a:solidFill>
          <a:ln/>
        </p:spPr>
      </p:sp>
      <p:sp>
        <p:nvSpPr>
          <p:cNvPr id="17" name="Text 15"/>
          <p:cNvSpPr/>
          <p:nvPr/>
        </p:nvSpPr>
        <p:spPr>
          <a:xfrm>
            <a:off x="1005840" y="4251960"/>
            <a:ext cx="4572000" cy="201168"/>
          </a:xfrm>
          <a:prstGeom prst="rect">
            <a:avLst/>
          </a:prstGeom>
          <a:noFill/>
          <a:ln/>
        </p:spPr>
        <p:txBody>
          <a:bodyPr wrap="square" rtlCol="0" anchor="ctr"/>
          <a:lstStyle/>
          <a:p>
            <a:pPr indent="0" marL="0">
              <a:buNone/>
            </a:pPr>
            <a:r>
              <a:rPr lang="en-US" sz="800" b="1" spc="500" kern="0" dirty="0">
                <a:solidFill>
                  <a:srgbClr val="3B82F6"/>
                </a:solidFill>
                <a:latin typeface="Open Sans" pitchFamily="34" charset="0"/>
                <a:ea typeface="Open Sans" pitchFamily="34" charset="-122"/>
                <a:cs typeface="Open Sans" pitchFamily="34" charset="-120"/>
              </a:rPr>
              <a:t>O QUE VOCÊ VAI APRENDER</a:t>
            </a:r>
            <a:endParaRPr lang="en-US" sz="800" dirty="0"/>
          </a:p>
        </p:txBody>
      </p:sp>
      <p:sp>
        <p:nvSpPr>
          <p:cNvPr id="18" name="Shape 16"/>
          <p:cNvSpPr/>
          <p:nvPr/>
        </p:nvSpPr>
        <p:spPr>
          <a:xfrm>
            <a:off x="1005840" y="4590288"/>
            <a:ext cx="109728" cy="109728"/>
          </a:xfrm>
          <a:prstGeom prst="roundRect">
            <a:avLst>
              <a:gd name="adj" fmla="val 16667"/>
            </a:avLst>
          </a:prstGeom>
          <a:solidFill>
            <a:srgbClr val="3B82F6"/>
          </a:solidFill>
          <a:ln/>
        </p:spPr>
      </p:sp>
      <p:sp>
        <p:nvSpPr>
          <p:cNvPr id="19" name="Text 17"/>
          <p:cNvSpPr/>
          <p:nvPr/>
        </p:nvSpPr>
        <p:spPr>
          <a:xfrm>
            <a:off x="1234440" y="4544568"/>
            <a:ext cx="5852014" cy="347472"/>
          </a:xfrm>
          <a:prstGeom prst="rect">
            <a:avLst/>
          </a:prstGeom>
          <a:noFill/>
          <a:ln/>
        </p:spPr>
        <p:txBody>
          <a:bodyPr wrap="square" rtlCol="0" anchor="ctr"/>
          <a:lstStyle/>
          <a:p>
            <a:pPr indent="0" marL="0">
              <a:lnSpc>
                <a:spcPct val="112000"/>
              </a:lnSpc>
              <a:buNone/>
            </a:pPr>
            <a:r>
              <a:rPr lang="en-US" sz="1100" dirty="0">
                <a:solidFill>
                  <a:srgbClr val="94A3C0"/>
                </a:solidFill>
                <a:latin typeface="Open Sans" pitchFamily="34" charset="0"/>
                <a:ea typeface="Open Sans" pitchFamily="34" charset="-122"/>
                <a:cs typeface="Open Sans" pitchFamily="34" charset="-120"/>
              </a:rPr>
              <a:t>Navegar pelo universo das ferramentas de Inteligência Artificial que não exigem programação.</a:t>
            </a:r>
            <a:endParaRPr lang="en-US" sz="1100" dirty="0"/>
          </a:p>
        </p:txBody>
      </p:sp>
      <p:sp>
        <p:nvSpPr>
          <p:cNvPr id="20" name="Shape 18"/>
          <p:cNvSpPr/>
          <p:nvPr/>
        </p:nvSpPr>
        <p:spPr>
          <a:xfrm>
            <a:off x="1005840" y="4992624"/>
            <a:ext cx="109728" cy="109728"/>
          </a:xfrm>
          <a:prstGeom prst="roundRect">
            <a:avLst>
              <a:gd name="adj" fmla="val 16667"/>
            </a:avLst>
          </a:prstGeom>
          <a:solidFill>
            <a:srgbClr val="3B82F6"/>
          </a:solidFill>
          <a:ln/>
        </p:spPr>
      </p:sp>
      <p:sp>
        <p:nvSpPr>
          <p:cNvPr id="21" name="Text 19"/>
          <p:cNvSpPr/>
          <p:nvPr/>
        </p:nvSpPr>
        <p:spPr>
          <a:xfrm>
            <a:off x="1234440" y="4946904"/>
            <a:ext cx="5852014" cy="347472"/>
          </a:xfrm>
          <a:prstGeom prst="rect">
            <a:avLst/>
          </a:prstGeom>
          <a:noFill/>
          <a:ln/>
        </p:spPr>
        <p:txBody>
          <a:bodyPr wrap="square" rtlCol="0" anchor="ctr"/>
          <a:lstStyle/>
          <a:p>
            <a:pPr indent="0" marL="0">
              <a:lnSpc>
                <a:spcPct val="112000"/>
              </a:lnSpc>
              <a:buNone/>
            </a:pPr>
            <a:r>
              <a:rPr lang="en-US" sz="1100" dirty="0">
                <a:solidFill>
                  <a:srgbClr val="94A3C0"/>
                </a:solidFill>
                <a:latin typeface="Open Sans" pitchFamily="34" charset="0"/>
                <a:ea typeface="Open Sans" pitchFamily="34" charset="-122"/>
                <a:cs typeface="Open Sans" pitchFamily="34" charset="-120"/>
              </a:rPr>
              <a:t>Capacitar profissionais para incorporar a IA em suas rotinas de trabalho, independentemente da formação técnica.</a:t>
            </a:r>
            <a:endParaRPr lang="en-US" sz="1100" dirty="0"/>
          </a:p>
        </p:txBody>
      </p:sp>
      <p:sp>
        <p:nvSpPr>
          <p:cNvPr id="22" name="Shape 20"/>
          <p:cNvSpPr/>
          <p:nvPr/>
        </p:nvSpPr>
        <p:spPr>
          <a:xfrm>
            <a:off x="1005840" y="5394960"/>
            <a:ext cx="109728" cy="109728"/>
          </a:xfrm>
          <a:prstGeom prst="roundRect">
            <a:avLst>
              <a:gd name="adj" fmla="val 16667"/>
            </a:avLst>
          </a:prstGeom>
          <a:solidFill>
            <a:srgbClr val="3B82F6"/>
          </a:solidFill>
          <a:ln/>
        </p:spPr>
      </p:sp>
      <p:sp>
        <p:nvSpPr>
          <p:cNvPr id="23" name="Text 21"/>
          <p:cNvSpPr/>
          <p:nvPr/>
        </p:nvSpPr>
        <p:spPr>
          <a:xfrm>
            <a:off x="1234440" y="5349240"/>
            <a:ext cx="5852014" cy="347472"/>
          </a:xfrm>
          <a:prstGeom prst="rect">
            <a:avLst/>
          </a:prstGeom>
          <a:noFill/>
          <a:ln/>
        </p:spPr>
        <p:txBody>
          <a:bodyPr wrap="square" rtlCol="0" anchor="ctr"/>
          <a:lstStyle/>
          <a:p>
            <a:pPr indent="0" marL="0">
              <a:lnSpc>
                <a:spcPct val="112000"/>
              </a:lnSpc>
              <a:buNone/>
            </a:pPr>
            <a:r>
              <a:rPr lang="en-US" sz="1100" dirty="0">
                <a:solidFill>
                  <a:srgbClr val="94A3C0"/>
                </a:solidFill>
                <a:latin typeface="Open Sans" pitchFamily="34" charset="0"/>
                <a:ea typeface="Open Sans" pitchFamily="34" charset="-122"/>
                <a:cs typeface="Open Sans" pitchFamily="34" charset="-120"/>
              </a:rPr>
              <a:t>Otimizar processos e facilitar a tomada de decisões através do uso estratégico de IA acessível.</a:t>
            </a:r>
            <a:endParaRPr lang="en-US" sz="1100" dirty="0"/>
          </a:p>
        </p:txBody>
      </p:sp>
      <p:sp>
        <p:nvSpPr>
          <p:cNvPr id="24" name="Shape 22"/>
          <p:cNvSpPr/>
          <p:nvPr/>
        </p:nvSpPr>
        <p:spPr>
          <a:xfrm>
            <a:off x="731520" y="6446520"/>
            <a:ext cx="542544" cy="7315"/>
          </a:xfrm>
          <a:prstGeom prst="rect">
            <a:avLst/>
          </a:prstGeom>
          <a:solidFill>
            <a:srgbClr val="3B82F6"/>
          </a:solidFill>
          <a:ln/>
        </p:spPr>
      </p:sp>
      <p:sp>
        <p:nvSpPr>
          <p:cNvPr id="25" name="Shape 23"/>
          <p:cNvSpPr/>
          <p:nvPr/>
        </p:nvSpPr>
        <p:spPr>
          <a:xfrm>
            <a:off x="1264920" y="6446520"/>
            <a:ext cx="542544" cy="7315"/>
          </a:xfrm>
          <a:prstGeom prst="rect">
            <a:avLst/>
          </a:prstGeom>
          <a:solidFill>
            <a:srgbClr val="3B82F6"/>
          </a:solidFill>
          <a:ln/>
        </p:spPr>
      </p:sp>
      <p:sp>
        <p:nvSpPr>
          <p:cNvPr id="26" name="Shape 24"/>
          <p:cNvSpPr/>
          <p:nvPr/>
        </p:nvSpPr>
        <p:spPr>
          <a:xfrm>
            <a:off x="1798320" y="6446520"/>
            <a:ext cx="542544" cy="7315"/>
          </a:xfrm>
          <a:prstGeom prst="rect">
            <a:avLst/>
          </a:prstGeom>
          <a:solidFill>
            <a:srgbClr val="3B82F6"/>
          </a:solidFill>
          <a:ln/>
        </p:spPr>
      </p:sp>
      <p:sp>
        <p:nvSpPr>
          <p:cNvPr id="27" name="Shape 25"/>
          <p:cNvSpPr/>
          <p:nvPr/>
        </p:nvSpPr>
        <p:spPr>
          <a:xfrm>
            <a:off x="2331720" y="6446520"/>
            <a:ext cx="542544" cy="7315"/>
          </a:xfrm>
          <a:prstGeom prst="rect">
            <a:avLst/>
          </a:prstGeom>
          <a:solidFill>
            <a:srgbClr val="3B82F6"/>
          </a:solidFill>
          <a:ln/>
        </p:spPr>
      </p:sp>
      <p:sp>
        <p:nvSpPr>
          <p:cNvPr id="28" name="Shape 26"/>
          <p:cNvSpPr/>
          <p:nvPr/>
        </p:nvSpPr>
        <p:spPr>
          <a:xfrm>
            <a:off x="2865120" y="6446520"/>
            <a:ext cx="542544" cy="7315"/>
          </a:xfrm>
          <a:prstGeom prst="rect">
            <a:avLst/>
          </a:prstGeom>
          <a:solidFill>
            <a:srgbClr val="3B82F6"/>
          </a:solidFill>
          <a:ln/>
        </p:spPr>
      </p:sp>
      <p:sp>
        <p:nvSpPr>
          <p:cNvPr id="29" name="Shape 27"/>
          <p:cNvSpPr/>
          <p:nvPr/>
        </p:nvSpPr>
        <p:spPr>
          <a:xfrm>
            <a:off x="3398520" y="6446520"/>
            <a:ext cx="542544" cy="7315"/>
          </a:xfrm>
          <a:prstGeom prst="rect">
            <a:avLst/>
          </a:prstGeom>
          <a:solidFill>
            <a:srgbClr val="3B82F6"/>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Shape 1"/>
          <p:cNvSpPr/>
          <p:nvPr/>
        </p:nvSpPr>
        <p:spPr>
          <a:xfrm>
            <a:off x="64008" y="0"/>
            <a:ext cx="18288" cy="6858000"/>
          </a:xfrm>
          <a:prstGeom prst="rect">
            <a:avLst/>
          </a:prstGeom>
          <a:solidFill>
            <a:srgbClr val="10B981"/>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10B981"/>
                </a:solidFill>
                <a:latin typeface="Open Sans" pitchFamily="34" charset="0"/>
                <a:ea typeface="Open Sans" pitchFamily="34" charset="-122"/>
                <a:cs typeface="Open Sans" pitchFamily="34" charset="-120"/>
              </a:rPr>
              <a:t>FUNDAMENTOS</a:t>
            </a:r>
            <a:endParaRPr lang="en-US" sz="900" dirty="0"/>
          </a:p>
        </p:txBody>
      </p:sp>
      <p:sp>
        <p:nvSpPr>
          <p:cNvPr id="5" name="Shape 3"/>
          <p:cNvSpPr/>
          <p:nvPr/>
        </p:nvSpPr>
        <p:spPr>
          <a:xfrm>
            <a:off x="502920" y="493776"/>
            <a:ext cx="640080" cy="21946"/>
          </a:xfrm>
          <a:prstGeom prst="rect">
            <a:avLst/>
          </a:prstGeom>
          <a:solidFill>
            <a:srgbClr val="10B981"/>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Fundamentos</a:t>
            </a:r>
            <a:endParaRPr lang="en-US" sz="2800" dirty="0"/>
          </a:p>
        </p:txBody>
      </p:sp>
      <p:sp>
        <p:nvSpPr>
          <p:cNvPr id="7" name="Shape 5"/>
          <p:cNvSpPr/>
          <p:nvPr/>
        </p:nvSpPr>
        <p:spPr>
          <a:xfrm>
            <a:off x="502920" y="1389888"/>
            <a:ext cx="11185855" cy="7315"/>
          </a:xfrm>
          <a:prstGeom prst="rect">
            <a:avLst/>
          </a:prstGeom>
          <a:solidFill>
            <a:srgbClr val="10B981"/>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621792" y="1572768"/>
            <a:ext cx="11140135" cy="1188720"/>
          </a:xfrm>
          <a:prstGeom prst="roundRect">
            <a:avLst>
              <a:gd name="adj" fmla="val 7692"/>
            </a:avLst>
          </a:prstGeom>
          <a:solidFill>
            <a:srgbClr val="000000"/>
          </a:solidFill>
          <a:ln/>
        </p:spPr>
      </p:sp>
      <p:sp>
        <p:nvSpPr>
          <p:cNvPr id="10" name="Shape 8"/>
          <p:cNvSpPr/>
          <p:nvPr/>
        </p:nvSpPr>
        <p:spPr>
          <a:xfrm>
            <a:off x="594360" y="1536192"/>
            <a:ext cx="11140135" cy="1188720"/>
          </a:xfrm>
          <a:prstGeom prst="roundRect">
            <a:avLst>
              <a:gd name="adj" fmla="val 7692"/>
            </a:avLst>
          </a:prstGeom>
          <a:solidFill>
            <a:srgbClr val="050A18"/>
          </a:solidFill>
          <a:ln/>
        </p:spPr>
      </p:sp>
      <p:sp>
        <p:nvSpPr>
          <p:cNvPr id="11" name="Shape 9"/>
          <p:cNvSpPr/>
          <p:nvPr/>
        </p:nvSpPr>
        <p:spPr>
          <a:xfrm>
            <a:off x="594360" y="1536192"/>
            <a:ext cx="54864" cy="1188720"/>
          </a:xfrm>
          <a:prstGeom prst="rect">
            <a:avLst>
              <a:gd name="adj" fmla="val 166667"/>
            </a:avLst>
          </a:prstGeom>
          <a:solidFill>
            <a:srgbClr val="10B981"/>
          </a:solidFill>
          <a:ln/>
        </p:spPr>
      </p:sp>
      <p:sp>
        <p:nvSpPr>
          <p:cNvPr id="12" name="Text 10"/>
          <p:cNvSpPr/>
          <p:nvPr/>
        </p:nvSpPr>
        <p:spPr>
          <a:xfrm>
            <a:off x="685800" y="1444752"/>
            <a:ext cx="457200" cy="548640"/>
          </a:xfrm>
          <a:prstGeom prst="rect">
            <a:avLst/>
          </a:prstGeom>
          <a:noFill/>
          <a:ln/>
        </p:spPr>
        <p:txBody>
          <a:bodyPr wrap="square" rtlCol="0" anchor="ctr"/>
          <a:lstStyle/>
          <a:p>
            <a:pPr indent="0" marL="0">
              <a:buNone/>
            </a:pPr>
            <a:r>
              <a:rPr lang="en-US" sz="4800" b="1" dirty="0">
                <a:solidFill>
                  <a:srgbClr val="10B981">
                    <a:alpha val="75000"/>
                  </a:srgbClr>
                </a:solidFill>
                <a:latin typeface="Montserrat" pitchFamily="34" charset="0"/>
                <a:ea typeface="Montserrat" pitchFamily="34" charset="-122"/>
                <a:cs typeface="Montserrat" pitchFamily="34" charset="-120"/>
              </a:rPr>
              <a:t>“</a:t>
            </a:r>
            <a:endParaRPr lang="en-US" sz="4800" dirty="0"/>
          </a:p>
        </p:txBody>
      </p:sp>
      <p:sp>
        <p:nvSpPr>
          <p:cNvPr id="13" name="Text 11"/>
          <p:cNvSpPr/>
          <p:nvPr/>
        </p:nvSpPr>
        <p:spPr>
          <a:xfrm>
            <a:off x="868680" y="1572768"/>
            <a:ext cx="10682935" cy="1097280"/>
          </a:xfrm>
          <a:prstGeom prst="rect">
            <a:avLst/>
          </a:prstGeom>
          <a:noFill/>
          <a:ln/>
        </p:spPr>
        <p:txBody>
          <a:bodyPr wrap="square" rtlCol="0" anchor="ctr"/>
          <a:lstStyle/>
          <a:p>
            <a:pPr indent="0" marL="0">
              <a:lnSpc>
                <a:spcPct val="135000"/>
              </a:lnSpc>
              <a:buNone/>
            </a:pPr>
            <a:r>
              <a:rPr lang="en-US" sz="1900" i="1" dirty="0">
                <a:solidFill>
                  <a:srgbClr val="FFFFFF"/>
                </a:solidFill>
                <a:latin typeface="Open Sans" pitchFamily="34" charset="0"/>
                <a:ea typeface="Open Sans" pitchFamily="34" charset="-122"/>
                <a:cs typeface="Open Sans" pitchFamily="34" charset="-120"/>
              </a:rPr>
              <a:t>A democratização da Inteligência Artificial (IA) é uma realidade. Ferramentas No-Code (sem código) e Low-Code (baixo código) tornaram a IA acessível a todos.</a:t>
            </a:r>
            <a:endParaRPr lang="en-US" sz="1900" dirty="0"/>
          </a:p>
        </p:txBody>
      </p:sp>
      <p:sp>
        <p:nvSpPr>
          <p:cNvPr id="14" name="Shape 12"/>
          <p:cNvSpPr/>
          <p:nvPr/>
        </p:nvSpPr>
        <p:spPr>
          <a:xfrm>
            <a:off x="621792" y="2980944"/>
            <a:ext cx="3615842" cy="3502152"/>
          </a:xfrm>
          <a:prstGeom prst="roundRect">
            <a:avLst>
              <a:gd name="adj" fmla="val 2611"/>
            </a:avLst>
          </a:prstGeom>
          <a:solidFill>
            <a:srgbClr val="000000"/>
          </a:solidFill>
          <a:ln/>
        </p:spPr>
      </p:sp>
      <p:sp>
        <p:nvSpPr>
          <p:cNvPr id="15" name="Shape 13"/>
          <p:cNvSpPr/>
          <p:nvPr/>
        </p:nvSpPr>
        <p:spPr>
          <a:xfrm>
            <a:off x="594360" y="2944368"/>
            <a:ext cx="3615842" cy="3502152"/>
          </a:xfrm>
          <a:prstGeom prst="roundRect">
            <a:avLst>
              <a:gd name="adj" fmla="val 2089"/>
            </a:avLst>
          </a:prstGeom>
          <a:solidFill>
            <a:srgbClr val="141E34"/>
          </a:solidFill>
          <a:ln/>
        </p:spPr>
      </p:sp>
      <p:sp>
        <p:nvSpPr>
          <p:cNvPr id="16" name="Shape 14"/>
          <p:cNvSpPr/>
          <p:nvPr/>
        </p:nvSpPr>
        <p:spPr>
          <a:xfrm>
            <a:off x="594360" y="2944368"/>
            <a:ext cx="3615842" cy="45720"/>
          </a:xfrm>
          <a:prstGeom prst="rect">
            <a:avLst>
              <a:gd name="adj" fmla="val 160000"/>
            </a:avLst>
          </a:prstGeom>
          <a:solidFill>
            <a:srgbClr val="6C63FF"/>
          </a:solidFill>
          <a:ln/>
        </p:spPr>
      </p:sp>
      <p:sp>
        <p:nvSpPr>
          <p:cNvPr id="17" name="Shape 15"/>
          <p:cNvSpPr/>
          <p:nvPr/>
        </p:nvSpPr>
        <p:spPr>
          <a:xfrm>
            <a:off x="685800" y="3072384"/>
            <a:ext cx="310896" cy="310896"/>
          </a:xfrm>
          <a:prstGeom prst="roundRect">
            <a:avLst>
              <a:gd name="adj" fmla="val 17647"/>
            </a:avLst>
          </a:prstGeom>
          <a:solidFill>
            <a:srgbClr val="6C63FF"/>
          </a:solidFill>
          <a:ln/>
        </p:spPr>
      </p:sp>
      <p:sp>
        <p:nvSpPr>
          <p:cNvPr id="18" name="Text 16"/>
          <p:cNvSpPr/>
          <p:nvPr/>
        </p:nvSpPr>
        <p:spPr>
          <a:xfrm>
            <a:off x="685800" y="3072384"/>
            <a:ext cx="310896" cy="310896"/>
          </a:xfrm>
          <a:prstGeom prst="rect">
            <a:avLst/>
          </a:prstGeom>
          <a:noFill/>
          <a:ln/>
        </p:spPr>
        <p:txBody>
          <a:bodyPr wrap="square"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2</a:t>
            </a:r>
            <a:endParaRPr lang="en-US" sz="1500" dirty="0"/>
          </a:p>
        </p:txBody>
      </p:sp>
      <p:sp>
        <p:nvSpPr>
          <p:cNvPr id="19" name="Text 17"/>
          <p:cNvSpPr/>
          <p:nvPr/>
        </p:nvSpPr>
        <p:spPr>
          <a:xfrm>
            <a:off x="722376" y="3447288"/>
            <a:ext cx="3359810" cy="2953512"/>
          </a:xfrm>
          <a:prstGeom prst="rect">
            <a:avLst/>
          </a:prstGeom>
          <a:noFill/>
          <a:ln/>
        </p:spPr>
        <p:txBody>
          <a:bodyPr wrap="square" rtlCol="0" anchor="t"/>
          <a:lstStyle/>
          <a:p>
            <a:pPr indent="0" marL="0">
              <a:lnSpc>
                <a:spcPct val="122000"/>
              </a:lnSpc>
              <a:buNone/>
            </a:pPr>
            <a:r>
              <a:rPr lang="en-US" sz="1300" dirty="0">
                <a:solidFill>
                  <a:srgbClr val="E8EDF5"/>
                </a:solidFill>
                <a:latin typeface="Open Sans" pitchFamily="34" charset="0"/>
                <a:ea typeface="Open Sans" pitchFamily="34" charset="-122"/>
                <a:cs typeface="Open Sans" pitchFamily="34" charset="-120"/>
              </a:rPr>
              <a:t>Essas plataformas oferecem interfaces intuitivas e funcionalidades prontas para uso.</a:t>
            </a:r>
            <a:endParaRPr lang="en-US" sz="1300" dirty="0"/>
          </a:p>
        </p:txBody>
      </p:sp>
      <p:sp>
        <p:nvSpPr>
          <p:cNvPr id="20" name="Shape 18"/>
          <p:cNvSpPr/>
          <p:nvPr/>
        </p:nvSpPr>
        <p:spPr>
          <a:xfrm>
            <a:off x="4383938" y="2980944"/>
            <a:ext cx="3615842" cy="3502152"/>
          </a:xfrm>
          <a:prstGeom prst="roundRect">
            <a:avLst>
              <a:gd name="adj" fmla="val 2611"/>
            </a:avLst>
          </a:prstGeom>
          <a:solidFill>
            <a:srgbClr val="000000"/>
          </a:solidFill>
          <a:ln/>
        </p:spPr>
      </p:sp>
      <p:sp>
        <p:nvSpPr>
          <p:cNvPr id="21" name="Shape 19"/>
          <p:cNvSpPr/>
          <p:nvPr/>
        </p:nvSpPr>
        <p:spPr>
          <a:xfrm>
            <a:off x="4356506" y="2944368"/>
            <a:ext cx="3615842" cy="3502152"/>
          </a:xfrm>
          <a:prstGeom prst="roundRect">
            <a:avLst>
              <a:gd name="adj" fmla="val 2089"/>
            </a:avLst>
          </a:prstGeom>
          <a:solidFill>
            <a:srgbClr val="141E34"/>
          </a:solidFill>
          <a:ln/>
        </p:spPr>
      </p:sp>
      <p:sp>
        <p:nvSpPr>
          <p:cNvPr id="22" name="Shape 20"/>
          <p:cNvSpPr/>
          <p:nvPr/>
        </p:nvSpPr>
        <p:spPr>
          <a:xfrm>
            <a:off x="4356506" y="2944368"/>
            <a:ext cx="3615842" cy="45720"/>
          </a:xfrm>
          <a:prstGeom prst="rect">
            <a:avLst>
              <a:gd name="adj" fmla="val 160000"/>
            </a:avLst>
          </a:prstGeom>
          <a:solidFill>
            <a:srgbClr val="3B82F6"/>
          </a:solidFill>
          <a:ln/>
        </p:spPr>
      </p:sp>
      <p:sp>
        <p:nvSpPr>
          <p:cNvPr id="23" name="Shape 21"/>
          <p:cNvSpPr/>
          <p:nvPr/>
        </p:nvSpPr>
        <p:spPr>
          <a:xfrm>
            <a:off x="4447946" y="3072384"/>
            <a:ext cx="310896" cy="310896"/>
          </a:xfrm>
          <a:prstGeom prst="roundRect">
            <a:avLst>
              <a:gd name="adj" fmla="val 17647"/>
            </a:avLst>
          </a:prstGeom>
          <a:solidFill>
            <a:srgbClr val="3B82F6"/>
          </a:solidFill>
          <a:ln/>
        </p:spPr>
      </p:sp>
      <p:sp>
        <p:nvSpPr>
          <p:cNvPr id="24" name="Text 22"/>
          <p:cNvSpPr/>
          <p:nvPr/>
        </p:nvSpPr>
        <p:spPr>
          <a:xfrm>
            <a:off x="4447946" y="3072384"/>
            <a:ext cx="310896" cy="310896"/>
          </a:xfrm>
          <a:prstGeom prst="rect">
            <a:avLst/>
          </a:prstGeom>
          <a:noFill/>
          <a:ln/>
        </p:spPr>
        <p:txBody>
          <a:bodyPr wrap="square"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3</a:t>
            </a:r>
            <a:endParaRPr lang="en-US" sz="1500" dirty="0"/>
          </a:p>
        </p:txBody>
      </p:sp>
      <p:sp>
        <p:nvSpPr>
          <p:cNvPr id="25" name="Text 23"/>
          <p:cNvSpPr/>
          <p:nvPr/>
        </p:nvSpPr>
        <p:spPr>
          <a:xfrm>
            <a:off x="4484522" y="3447288"/>
            <a:ext cx="3359810" cy="2953512"/>
          </a:xfrm>
          <a:prstGeom prst="rect">
            <a:avLst/>
          </a:prstGeom>
          <a:noFill/>
          <a:ln/>
        </p:spPr>
        <p:txBody>
          <a:bodyPr wrap="square" rtlCol="0" anchor="t"/>
          <a:lstStyle/>
          <a:p>
            <a:pPr indent="0" marL="0">
              <a:lnSpc>
                <a:spcPct val="122000"/>
              </a:lnSpc>
              <a:buNone/>
            </a:pPr>
            <a:r>
              <a:rPr lang="en-US" sz="1300" dirty="0">
                <a:solidFill>
                  <a:srgbClr val="E8EDF5"/>
                </a:solidFill>
                <a:latin typeface="Open Sans" pitchFamily="34" charset="0"/>
                <a:ea typeface="Open Sans" pitchFamily="34" charset="-122"/>
                <a:cs typeface="Open Sans" pitchFamily="34" charset="-120"/>
              </a:rPr>
              <a:t>Elas permitem que profissionais não técnicos aproveitem o poder da IA.</a:t>
            </a:r>
            <a:endParaRPr lang="en-US" sz="1300" dirty="0"/>
          </a:p>
        </p:txBody>
      </p:sp>
      <p:sp>
        <p:nvSpPr>
          <p:cNvPr id="26" name="Shape 24"/>
          <p:cNvSpPr/>
          <p:nvPr/>
        </p:nvSpPr>
        <p:spPr>
          <a:xfrm>
            <a:off x="8146085" y="2980944"/>
            <a:ext cx="3615842" cy="3502152"/>
          </a:xfrm>
          <a:prstGeom prst="roundRect">
            <a:avLst>
              <a:gd name="adj" fmla="val 2611"/>
            </a:avLst>
          </a:prstGeom>
          <a:solidFill>
            <a:srgbClr val="000000"/>
          </a:solidFill>
          <a:ln/>
        </p:spPr>
      </p:sp>
      <p:sp>
        <p:nvSpPr>
          <p:cNvPr id="27" name="Shape 25"/>
          <p:cNvSpPr/>
          <p:nvPr/>
        </p:nvSpPr>
        <p:spPr>
          <a:xfrm>
            <a:off x="8118653" y="2944368"/>
            <a:ext cx="3615842" cy="3502152"/>
          </a:xfrm>
          <a:prstGeom prst="roundRect">
            <a:avLst>
              <a:gd name="adj" fmla="val 2089"/>
            </a:avLst>
          </a:prstGeom>
          <a:solidFill>
            <a:srgbClr val="141E34"/>
          </a:solidFill>
          <a:ln/>
        </p:spPr>
      </p:sp>
      <p:sp>
        <p:nvSpPr>
          <p:cNvPr id="28" name="Shape 26"/>
          <p:cNvSpPr/>
          <p:nvPr/>
        </p:nvSpPr>
        <p:spPr>
          <a:xfrm>
            <a:off x="8118653" y="2944368"/>
            <a:ext cx="3615842" cy="45720"/>
          </a:xfrm>
          <a:prstGeom prst="rect">
            <a:avLst>
              <a:gd name="adj" fmla="val 160000"/>
            </a:avLst>
          </a:prstGeom>
          <a:solidFill>
            <a:srgbClr val="10B981"/>
          </a:solidFill>
          <a:ln/>
        </p:spPr>
      </p:sp>
      <p:sp>
        <p:nvSpPr>
          <p:cNvPr id="29" name="Shape 27"/>
          <p:cNvSpPr/>
          <p:nvPr/>
        </p:nvSpPr>
        <p:spPr>
          <a:xfrm>
            <a:off x="8210093" y="3072384"/>
            <a:ext cx="310896" cy="310896"/>
          </a:xfrm>
          <a:prstGeom prst="roundRect">
            <a:avLst>
              <a:gd name="adj" fmla="val 17647"/>
            </a:avLst>
          </a:prstGeom>
          <a:solidFill>
            <a:srgbClr val="10B981"/>
          </a:solidFill>
          <a:ln/>
        </p:spPr>
      </p:sp>
      <p:sp>
        <p:nvSpPr>
          <p:cNvPr id="30" name="Text 28"/>
          <p:cNvSpPr/>
          <p:nvPr/>
        </p:nvSpPr>
        <p:spPr>
          <a:xfrm>
            <a:off x="8210093" y="3072384"/>
            <a:ext cx="310896" cy="310896"/>
          </a:xfrm>
          <a:prstGeom prst="rect">
            <a:avLst/>
          </a:prstGeom>
          <a:noFill/>
          <a:ln/>
        </p:spPr>
        <p:txBody>
          <a:bodyPr wrap="square"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4</a:t>
            </a:r>
            <a:endParaRPr lang="en-US" sz="1500" dirty="0"/>
          </a:p>
        </p:txBody>
      </p:sp>
      <p:sp>
        <p:nvSpPr>
          <p:cNvPr id="31" name="Text 29"/>
          <p:cNvSpPr/>
          <p:nvPr/>
        </p:nvSpPr>
        <p:spPr>
          <a:xfrm>
            <a:off x="8246669" y="3447288"/>
            <a:ext cx="3359810" cy="2953512"/>
          </a:xfrm>
          <a:prstGeom prst="rect">
            <a:avLst/>
          </a:prstGeom>
          <a:noFill/>
          <a:ln/>
        </p:spPr>
        <p:txBody>
          <a:bodyPr wrap="square" rtlCol="0" anchor="t"/>
          <a:lstStyle/>
          <a:p>
            <a:pPr indent="0" marL="0">
              <a:lnSpc>
                <a:spcPct val="122000"/>
              </a:lnSpc>
              <a:buNone/>
            </a:pPr>
            <a:r>
              <a:rPr lang="en-US" sz="1300" dirty="0">
                <a:solidFill>
                  <a:srgbClr val="E8EDF5"/>
                </a:solidFill>
                <a:latin typeface="Open Sans" pitchFamily="34" charset="0"/>
                <a:ea typeface="Open Sans" pitchFamily="34" charset="-122"/>
                <a:cs typeface="Open Sans" pitchFamily="34" charset="-120"/>
              </a:rPr>
              <a:t>O foco é usar a IA para aumentar a produtividade e a eficiência profissional.</a:t>
            </a:r>
            <a:endParaRPr lang="en-US" sz="1300" dirty="0"/>
          </a:p>
        </p:txBody>
      </p:sp>
      <p:sp>
        <p:nvSpPr>
          <p:cNvPr id="32" name="Shape 30"/>
          <p:cNvSpPr/>
          <p:nvPr/>
        </p:nvSpPr>
        <p:spPr>
          <a:xfrm>
            <a:off x="0" y="6601968"/>
            <a:ext cx="2041093" cy="4572"/>
          </a:xfrm>
          <a:prstGeom prst="rect">
            <a:avLst/>
          </a:prstGeom>
          <a:solidFill>
            <a:srgbClr val="6C63FF"/>
          </a:solidFill>
          <a:ln/>
        </p:spPr>
      </p:sp>
      <p:sp>
        <p:nvSpPr>
          <p:cNvPr id="33" name="Shape 31"/>
          <p:cNvSpPr/>
          <p:nvPr/>
        </p:nvSpPr>
        <p:spPr>
          <a:xfrm>
            <a:off x="2031949" y="6601968"/>
            <a:ext cx="2041093" cy="4572"/>
          </a:xfrm>
          <a:prstGeom prst="rect">
            <a:avLst/>
          </a:prstGeom>
          <a:solidFill>
            <a:srgbClr val="6C63FF"/>
          </a:solidFill>
          <a:ln/>
        </p:spPr>
      </p:sp>
      <p:sp>
        <p:nvSpPr>
          <p:cNvPr id="34" name="Shape 32"/>
          <p:cNvSpPr/>
          <p:nvPr/>
        </p:nvSpPr>
        <p:spPr>
          <a:xfrm>
            <a:off x="4063898" y="6601968"/>
            <a:ext cx="2041093" cy="4572"/>
          </a:xfrm>
          <a:prstGeom prst="rect">
            <a:avLst/>
          </a:prstGeom>
          <a:solidFill>
            <a:srgbClr val="6C63FF"/>
          </a:solidFill>
          <a:ln/>
        </p:spPr>
      </p:sp>
      <p:sp>
        <p:nvSpPr>
          <p:cNvPr id="35" name="Shape 33"/>
          <p:cNvSpPr/>
          <p:nvPr/>
        </p:nvSpPr>
        <p:spPr>
          <a:xfrm>
            <a:off x="6095848" y="6601968"/>
            <a:ext cx="2041093" cy="4572"/>
          </a:xfrm>
          <a:prstGeom prst="rect">
            <a:avLst/>
          </a:prstGeom>
          <a:solidFill>
            <a:srgbClr val="6C63FF"/>
          </a:solidFill>
          <a:ln/>
        </p:spPr>
      </p:sp>
      <p:sp>
        <p:nvSpPr>
          <p:cNvPr id="36" name="Shape 34"/>
          <p:cNvSpPr/>
          <p:nvPr/>
        </p:nvSpPr>
        <p:spPr>
          <a:xfrm>
            <a:off x="8127797" y="6601968"/>
            <a:ext cx="2041093" cy="4572"/>
          </a:xfrm>
          <a:prstGeom prst="rect">
            <a:avLst/>
          </a:prstGeom>
          <a:solidFill>
            <a:srgbClr val="6C63FF"/>
          </a:solidFill>
          <a:ln/>
        </p:spPr>
      </p:sp>
      <p:sp>
        <p:nvSpPr>
          <p:cNvPr id="37" name="Shape 35"/>
          <p:cNvSpPr/>
          <p:nvPr/>
        </p:nvSpPr>
        <p:spPr>
          <a:xfrm>
            <a:off x="10159746" y="6601968"/>
            <a:ext cx="2041093" cy="4572"/>
          </a:xfrm>
          <a:prstGeom prst="rect">
            <a:avLst/>
          </a:prstGeom>
          <a:solidFill>
            <a:srgbClr val="6C63FF"/>
          </a:solidFill>
          <a:ln/>
        </p:spPr>
      </p:sp>
      <p:sp>
        <p:nvSpPr>
          <p:cNvPr id="38" name="Shape 36"/>
          <p:cNvSpPr/>
          <p:nvPr/>
        </p:nvSpPr>
        <p:spPr>
          <a:xfrm>
            <a:off x="0" y="6606540"/>
            <a:ext cx="12191695" cy="2743"/>
          </a:xfrm>
          <a:prstGeom prst="rect">
            <a:avLst/>
          </a:prstGeom>
          <a:solidFill>
            <a:srgbClr val="222E48"/>
          </a:solidFill>
          <a:ln/>
        </p:spPr>
      </p:sp>
      <p:sp>
        <p:nvSpPr>
          <p:cNvPr id="39" name="Text 37"/>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40" name="Shape 38"/>
          <p:cNvSpPr/>
          <p:nvPr/>
        </p:nvSpPr>
        <p:spPr>
          <a:xfrm>
            <a:off x="10436047" y="6693408"/>
            <a:ext cx="73152" cy="73152"/>
          </a:xfrm>
          <a:prstGeom prst="ellipse">
            <a:avLst/>
          </a:prstGeom>
          <a:solidFill>
            <a:srgbClr val="6C63FF"/>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Shape 1"/>
          <p:cNvSpPr/>
          <p:nvPr/>
        </p:nvSpPr>
        <p:spPr>
          <a:xfrm>
            <a:off x="64008" y="0"/>
            <a:ext cx="18288" cy="6858000"/>
          </a:xfrm>
          <a:prstGeom prst="rect">
            <a:avLst/>
          </a:prstGeom>
          <a:solidFill>
            <a:srgbClr val="10B981"/>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10B981"/>
                </a:solidFill>
                <a:latin typeface="Open Sans" pitchFamily="34" charset="0"/>
                <a:ea typeface="Open Sans" pitchFamily="34" charset="-122"/>
                <a:cs typeface="Open Sans" pitchFamily="34" charset="-120"/>
              </a:rPr>
              <a:t>COMO FUNCIONA</a:t>
            </a:r>
            <a:endParaRPr lang="en-US" sz="900" dirty="0"/>
          </a:p>
        </p:txBody>
      </p:sp>
      <p:sp>
        <p:nvSpPr>
          <p:cNvPr id="5" name="Shape 3"/>
          <p:cNvSpPr/>
          <p:nvPr/>
        </p:nvSpPr>
        <p:spPr>
          <a:xfrm>
            <a:off x="502920" y="493776"/>
            <a:ext cx="640080" cy="21946"/>
          </a:xfrm>
          <a:prstGeom prst="rect">
            <a:avLst/>
          </a:prstGeom>
          <a:solidFill>
            <a:srgbClr val="10B981"/>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Como funciona</a:t>
            </a:r>
            <a:endParaRPr lang="en-US" sz="2800" dirty="0"/>
          </a:p>
        </p:txBody>
      </p:sp>
      <p:sp>
        <p:nvSpPr>
          <p:cNvPr id="7" name="Shape 5"/>
          <p:cNvSpPr/>
          <p:nvPr/>
        </p:nvSpPr>
        <p:spPr>
          <a:xfrm>
            <a:off x="502920" y="1389888"/>
            <a:ext cx="11185855" cy="7315"/>
          </a:xfrm>
          <a:prstGeom prst="rect">
            <a:avLst/>
          </a:prstGeom>
          <a:solidFill>
            <a:srgbClr val="10B981"/>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711403" y="1545336"/>
            <a:ext cx="21946" cy="4864608"/>
          </a:xfrm>
          <a:prstGeom prst="rect">
            <a:avLst/>
          </a:prstGeom>
          <a:solidFill>
            <a:srgbClr val="222E48"/>
          </a:solidFill>
          <a:ln/>
        </p:spPr>
      </p:sp>
      <p:sp>
        <p:nvSpPr>
          <p:cNvPr id="10" name="Shape 8"/>
          <p:cNvSpPr/>
          <p:nvPr/>
        </p:nvSpPr>
        <p:spPr>
          <a:xfrm>
            <a:off x="594360" y="1779422"/>
            <a:ext cx="256032" cy="256032"/>
          </a:xfrm>
          <a:prstGeom prst="roundRect">
            <a:avLst>
              <a:gd name="adj" fmla="val 17857"/>
            </a:avLst>
          </a:prstGeom>
          <a:solidFill>
            <a:srgbClr val="6C63FF"/>
          </a:solidFill>
          <a:ln/>
        </p:spPr>
      </p:sp>
      <p:sp>
        <p:nvSpPr>
          <p:cNvPr id="11" name="Text 9"/>
          <p:cNvSpPr/>
          <p:nvPr/>
        </p:nvSpPr>
        <p:spPr>
          <a:xfrm>
            <a:off x="594360" y="1779422"/>
            <a:ext cx="256032" cy="25603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12" name="Shape 10"/>
          <p:cNvSpPr/>
          <p:nvPr/>
        </p:nvSpPr>
        <p:spPr>
          <a:xfrm>
            <a:off x="1024128" y="1453896"/>
            <a:ext cx="10829239" cy="961949"/>
          </a:xfrm>
          <a:prstGeom prst="roundRect">
            <a:avLst>
              <a:gd name="adj" fmla="val 9506"/>
            </a:avLst>
          </a:prstGeom>
          <a:solidFill>
            <a:srgbClr val="000000"/>
          </a:solidFill>
          <a:ln/>
        </p:spPr>
      </p:sp>
      <p:sp>
        <p:nvSpPr>
          <p:cNvPr id="13" name="Shape 11"/>
          <p:cNvSpPr/>
          <p:nvPr/>
        </p:nvSpPr>
        <p:spPr>
          <a:xfrm>
            <a:off x="996696" y="1417320"/>
            <a:ext cx="10829239" cy="961949"/>
          </a:xfrm>
          <a:prstGeom prst="roundRect">
            <a:avLst>
              <a:gd name="adj" fmla="val 5703"/>
            </a:avLst>
          </a:prstGeom>
          <a:solidFill>
            <a:srgbClr val="141E34"/>
          </a:solidFill>
          <a:ln/>
        </p:spPr>
      </p:sp>
      <p:sp>
        <p:nvSpPr>
          <p:cNvPr id="14" name="Shape 12"/>
          <p:cNvSpPr/>
          <p:nvPr/>
        </p:nvSpPr>
        <p:spPr>
          <a:xfrm>
            <a:off x="996696" y="1417320"/>
            <a:ext cx="45720" cy="961949"/>
          </a:xfrm>
          <a:prstGeom prst="rect">
            <a:avLst>
              <a:gd name="adj" fmla="val 120000"/>
            </a:avLst>
          </a:prstGeom>
          <a:solidFill>
            <a:srgbClr val="6C63FF"/>
          </a:solidFill>
          <a:ln/>
        </p:spPr>
      </p:sp>
      <p:sp>
        <p:nvSpPr>
          <p:cNvPr id="15" name="Text 13"/>
          <p:cNvSpPr/>
          <p:nvPr/>
        </p:nvSpPr>
        <p:spPr>
          <a:xfrm>
            <a:off x="1152144" y="1417320"/>
            <a:ext cx="10582351" cy="961949"/>
          </a:xfrm>
          <a:prstGeom prst="rect">
            <a:avLst/>
          </a:prstGeom>
          <a:noFill/>
          <a:ln/>
        </p:spPr>
        <p:txBody>
          <a:bodyPr wrap="square" rtlCol="0" anchor="ctr"/>
          <a:lstStyle/>
          <a:p>
            <a:pPr indent="0" marL="0">
              <a:lnSpc>
                <a:spcPct val="112000"/>
              </a:lnSpc>
              <a:buNone/>
            </a:pPr>
            <a:r>
              <a:rPr lang="en-US" sz="1600" dirty="0">
                <a:solidFill>
                  <a:srgbClr val="E8EDF5"/>
                </a:solidFill>
                <a:latin typeface="Open Sans" pitchFamily="34" charset="0"/>
                <a:ea typeface="Open Sans" pitchFamily="34" charset="-122"/>
                <a:cs typeface="Open Sans" pitchFamily="34" charset="-120"/>
              </a:rPr>
              <a:t>A IA No-Code e Low-Code simplifica o desenvolvimento e uso de soluções inteligentes.</a:t>
            </a:r>
            <a:endParaRPr lang="en-US" sz="1600" dirty="0"/>
          </a:p>
        </p:txBody>
      </p:sp>
      <p:sp>
        <p:nvSpPr>
          <p:cNvPr id="16" name="Shape 14"/>
          <p:cNvSpPr/>
          <p:nvPr/>
        </p:nvSpPr>
        <p:spPr>
          <a:xfrm>
            <a:off x="594360" y="2814523"/>
            <a:ext cx="256032" cy="256032"/>
          </a:xfrm>
          <a:prstGeom prst="roundRect">
            <a:avLst>
              <a:gd name="adj" fmla="val 17857"/>
            </a:avLst>
          </a:prstGeom>
          <a:solidFill>
            <a:srgbClr val="3B82F6"/>
          </a:solidFill>
          <a:ln/>
        </p:spPr>
      </p:sp>
      <p:sp>
        <p:nvSpPr>
          <p:cNvPr id="17" name="Text 15"/>
          <p:cNvSpPr/>
          <p:nvPr/>
        </p:nvSpPr>
        <p:spPr>
          <a:xfrm>
            <a:off x="594360" y="2814523"/>
            <a:ext cx="256032" cy="25603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8" name="Shape 16"/>
          <p:cNvSpPr/>
          <p:nvPr/>
        </p:nvSpPr>
        <p:spPr>
          <a:xfrm>
            <a:off x="1024128" y="2488997"/>
            <a:ext cx="10829239" cy="961949"/>
          </a:xfrm>
          <a:prstGeom prst="roundRect">
            <a:avLst>
              <a:gd name="adj" fmla="val 9506"/>
            </a:avLst>
          </a:prstGeom>
          <a:solidFill>
            <a:srgbClr val="000000"/>
          </a:solidFill>
          <a:ln/>
        </p:spPr>
      </p:sp>
      <p:sp>
        <p:nvSpPr>
          <p:cNvPr id="19" name="Shape 17"/>
          <p:cNvSpPr/>
          <p:nvPr/>
        </p:nvSpPr>
        <p:spPr>
          <a:xfrm>
            <a:off x="996696" y="2452421"/>
            <a:ext cx="10829239" cy="961949"/>
          </a:xfrm>
          <a:prstGeom prst="roundRect">
            <a:avLst>
              <a:gd name="adj" fmla="val 5703"/>
            </a:avLst>
          </a:prstGeom>
          <a:solidFill>
            <a:srgbClr val="141E34"/>
          </a:solidFill>
          <a:ln/>
        </p:spPr>
      </p:sp>
      <p:sp>
        <p:nvSpPr>
          <p:cNvPr id="20" name="Shape 18"/>
          <p:cNvSpPr/>
          <p:nvPr/>
        </p:nvSpPr>
        <p:spPr>
          <a:xfrm>
            <a:off x="996696" y="2452421"/>
            <a:ext cx="45720" cy="961949"/>
          </a:xfrm>
          <a:prstGeom prst="rect">
            <a:avLst>
              <a:gd name="adj" fmla="val 120000"/>
            </a:avLst>
          </a:prstGeom>
          <a:solidFill>
            <a:srgbClr val="3B82F6"/>
          </a:solidFill>
          <a:ln/>
        </p:spPr>
      </p:sp>
      <p:sp>
        <p:nvSpPr>
          <p:cNvPr id="21" name="Text 19"/>
          <p:cNvSpPr/>
          <p:nvPr/>
        </p:nvSpPr>
        <p:spPr>
          <a:xfrm>
            <a:off x="1152144" y="2470709"/>
            <a:ext cx="10582351" cy="372490"/>
          </a:xfrm>
          <a:prstGeom prst="rect">
            <a:avLst/>
          </a:prstGeom>
          <a:noFill/>
          <a:ln/>
        </p:spPr>
        <p:txBody>
          <a:bodyPr wrap="square" rtlCol="0" anchor="b"/>
          <a:lstStyle/>
          <a:p>
            <a:pPr indent="0" marL="0">
              <a:buNone/>
            </a:pPr>
            <a:r>
              <a:rPr lang="en-US" sz="1600" b="1" dirty="0">
                <a:solidFill>
                  <a:srgbClr val="3B82F6"/>
                </a:solidFill>
                <a:latin typeface="Montserrat" pitchFamily="34" charset="0"/>
                <a:ea typeface="Montserrat" pitchFamily="34" charset="-122"/>
                <a:cs typeface="Montserrat" pitchFamily="34" charset="-120"/>
              </a:rPr>
              <a:t>No-Code</a:t>
            </a:r>
            <a:endParaRPr lang="en-US" sz="1600" dirty="0"/>
          </a:p>
        </p:txBody>
      </p:sp>
      <p:sp>
        <p:nvSpPr>
          <p:cNvPr id="22" name="Text 20"/>
          <p:cNvSpPr/>
          <p:nvPr/>
        </p:nvSpPr>
        <p:spPr>
          <a:xfrm>
            <a:off x="1152144" y="2824911"/>
            <a:ext cx="10582351" cy="568537"/>
          </a:xfrm>
          <a:prstGeom prst="rect">
            <a:avLst/>
          </a:prstGeom>
          <a:noFill/>
          <a:ln/>
        </p:spPr>
        <p:txBody>
          <a:bodyPr wrap="square" rtlCol="0" anchor="t"/>
          <a:lstStyle/>
          <a:p>
            <a:pPr indent="0" marL="0">
              <a:lnSpc>
                <a:spcPct val="110000"/>
              </a:lnSpc>
              <a:buNone/>
            </a:pPr>
            <a:r>
              <a:rPr lang="en-US" sz="1500" dirty="0">
                <a:solidFill>
                  <a:srgbClr val="E8EDF5"/>
                </a:solidFill>
                <a:latin typeface="Open Sans" pitchFamily="34" charset="0"/>
                <a:ea typeface="Open Sans" pitchFamily="34" charset="-122"/>
                <a:cs typeface="Open Sans" pitchFamily="34" charset="-120"/>
              </a:rPr>
              <a:t>Permite criar soluções de IA sem escrever código.</a:t>
            </a:r>
            <a:endParaRPr lang="en-US" sz="1500" dirty="0"/>
          </a:p>
        </p:txBody>
      </p:sp>
      <p:sp>
        <p:nvSpPr>
          <p:cNvPr id="23" name="Shape 21"/>
          <p:cNvSpPr/>
          <p:nvPr/>
        </p:nvSpPr>
        <p:spPr>
          <a:xfrm>
            <a:off x="594360" y="3849624"/>
            <a:ext cx="256032" cy="256032"/>
          </a:xfrm>
          <a:prstGeom prst="roundRect">
            <a:avLst>
              <a:gd name="adj" fmla="val 17857"/>
            </a:avLst>
          </a:prstGeom>
          <a:solidFill>
            <a:srgbClr val="10B981"/>
          </a:solidFill>
          <a:ln/>
        </p:spPr>
      </p:sp>
      <p:sp>
        <p:nvSpPr>
          <p:cNvPr id="24" name="Text 22"/>
          <p:cNvSpPr/>
          <p:nvPr/>
        </p:nvSpPr>
        <p:spPr>
          <a:xfrm>
            <a:off x="594360" y="3849624"/>
            <a:ext cx="256032" cy="25603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25" name="Shape 23"/>
          <p:cNvSpPr/>
          <p:nvPr/>
        </p:nvSpPr>
        <p:spPr>
          <a:xfrm>
            <a:off x="1024128" y="3524098"/>
            <a:ext cx="10829239" cy="961949"/>
          </a:xfrm>
          <a:prstGeom prst="roundRect">
            <a:avLst>
              <a:gd name="adj" fmla="val 9506"/>
            </a:avLst>
          </a:prstGeom>
          <a:solidFill>
            <a:srgbClr val="000000"/>
          </a:solidFill>
          <a:ln/>
        </p:spPr>
      </p:sp>
      <p:sp>
        <p:nvSpPr>
          <p:cNvPr id="26" name="Shape 24"/>
          <p:cNvSpPr/>
          <p:nvPr/>
        </p:nvSpPr>
        <p:spPr>
          <a:xfrm>
            <a:off x="996696" y="3487522"/>
            <a:ext cx="10829239" cy="961949"/>
          </a:xfrm>
          <a:prstGeom prst="roundRect">
            <a:avLst>
              <a:gd name="adj" fmla="val 5703"/>
            </a:avLst>
          </a:prstGeom>
          <a:solidFill>
            <a:srgbClr val="141E34"/>
          </a:solidFill>
          <a:ln/>
        </p:spPr>
      </p:sp>
      <p:sp>
        <p:nvSpPr>
          <p:cNvPr id="27" name="Shape 25"/>
          <p:cNvSpPr/>
          <p:nvPr/>
        </p:nvSpPr>
        <p:spPr>
          <a:xfrm>
            <a:off x="996696" y="3487522"/>
            <a:ext cx="45720" cy="961949"/>
          </a:xfrm>
          <a:prstGeom prst="rect">
            <a:avLst>
              <a:gd name="adj" fmla="val 120000"/>
            </a:avLst>
          </a:prstGeom>
          <a:solidFill>
            <a:srgbClr val="10B981"/>
          </a:solidFill>
          <a:ln/>
        </p:spPr>
      </p:sp>
      <p:sp>
        <p:nvSpPr>
          <p:cNvPr id="28" name="Text 26"/>
          <p:cNvSpPr/>
          <p:nvPr/>
        </p:nvSpPr>
        <p:spPr>
          <a:xfrm>
            <a:off x="1152144" y="3505810"/>
            <a:ext cx="10582351" cy="372490"/>
          </a:xfrm>
          <a:prstGeom prst="rect">
            <a:avLst/>
          </a:prstGeom>
          <a:noFill/>
          <a:ln/>
        </p:spPr>
        <p:txBody>
          <a:bodyPr wrap="square" rtlCol="0" anchor="b"/>
          <a:lstStyle/>
          <a:p>
            <a:pPr indent="0" marL="0">
              <a:buNone/>
            </a:pPr>
            <a:r>
              <a:rPr lang="en-US" sz="1600" b="1" dirty="0">
                <a:solidFill>
                  <a:srgbClr val="10B981"/>
                </a:solidFill>
                <a:latin typeface="Montserrat" pitchFamily="34" charset="0"/>
                <a:ea typeface="Montserrat" pitchFamily="34" charset="-122"/>
                <a:cs typeface="Montserrat" pitchFamily="34" charset="-120"/>
              </a:rPr>
              <a:t>Low-Code</a:t>
            </a:r>
            <a:endParaRPr lang="en-US" sz="1600" dirty="0"/>
          </a:p>
        </p:txBody>
      </p:sp>
      <p:sp>
        <p:nvSpPr>
          <p:cNvPr id="29" name="Text 27"/>
          <p:cNvSpPr/>
          <p:nvPr/>
        </p:nvSpPr>
        <p:spPr>
          <a:xfrm>
            <a:off x="1152144" y="3860012"/>
            <a:ext cx="10582351" cy="568537"/>
          </a:xfrm>
          <a:prstGeom prst="rect">
            <a:avLst/>
          </a:prstGeom>
          <a:noFill/>
          <a:ln/>
        </p:spPr>
        <p:txBody>
          <a:bodyPr wrap="square" rtlCol="0" anchor="t"/>
          <a:lstStyle/>
          <a:p>
            <a:pPr indent="0" marL="0">
              <a:lnSpc>
                <a:spcPct val="110000"/>
              </a:lnSpc>
              <a:buNone/>
            </a:pPr>
            <a:r>
              <a:rPr lang="en-US" sz="1500" dirty="0">
                <a:solidFill>
                  <a:srgbClr val="E8EDF5"/>
                </a:solidFill>
                <a:latin typeface="Open Sans" pitchFamily="34" charset="0"/>
                <a:ea typeface="Open Sans" pitchFamily="34" charset="-122"/>
                <a:cs typeface="Open Sans" pitchFamily="34" charset="-120"/>
              </a:rPr>
              <a:t>Oferece uma base visual, com opção de código customizado para refinamentos.</a:t>
            </a:r>
            <a:endParaRPr lang="en-US" sz="1500" dirty="0"/>
          </a:p>
        </p:txBody>
      </p:sp>
      <p:sp>
        <p:nvSpPr>
          <p:cNvPr id="30" name="Shape 28"/>
          <p:cNvSpPr/>
          <p:nvPr/>
        </p:nvSpPr>
        <p:spPr>
          <a:xfrm>
            <a:off x="594360" y="4884725"/>
            <a:ext cx="256032" cy="256032"/>
          </a:xfrm>
          <a:prstGeom prst="roundRect">
            <a:avLst>
              <a:gd name="adj" fmla="val 17857"/>
            </a:avLst>
          </a:prstGeom>
          <a:solidFill>
            <a:srgbClr val="F59E0B"/>
          </a:solidFill>
          <a:ln/>
        </p:spPr>
      </p:sp>
      <p:sp>
        <p:nvSpPr>
          <p:cNvPr id="31" name="Text 29"/>
          <p:cNvSpPr/>
          <p:nvPr/>
        </p:nvSpPr>
        <p:spPr>
          <a:xfrm>
            <a:off x="594360" y="4884725"/>
            <a:ext cx="256032" cy="25603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4</a:t>
            </a:r>
            <a:endParaRPr lang="en-US" sz="1200" dirty="0"/>
          </a:p>
        </p:txBody>
      </p:sp>
      <p:sp>
        <p:nvSpPr>
          <p:cNvPr id="32" name="Shape 30"/>
          <p:cNvSpPr/>
          <p:nvPr/>
        </p:nvSpPr>
        <p:spPr>
          <a:xfrm>
            <a:off x="1024128" y="4559198"/>
            <a:ext cx="10829239" cy="961949"/>
          </a:xfrm>
          <a:prstGeom prst="roundRect">
            <a:avLst>
              <a:gd name="adj" fmla="val 9506"/>
            </a:avLst>
          </a:prstGeom>
          <a:solidFill>
            <a:srgbClr val="000000"/>
          </a:solidFill>
          <a:ln/>
        </p:spPr>
      </p:sp>
      <p:sp>
        <p:nvSpPr>
          <p:cNvPr id="33" name="Shape 31"/>
          <p:cNvSpPr/>
          <p:nvPr/>
        </p:nvSpPr>
        <p:spPr>
          <a:xfrm>
            <a:off x="996696" y="4522622"/>
            <a:ext cx="10829239" cy="961949"/>
          </a:xfrm>
          <a:prstGeom prst="roundRect">
            <a:avLst>
              <a:gd name="adj" fmla="val 5703"/>
            </a:avLst>
          </a:prstGeom>
          <a:solidFill>
            <a:srgbClr val="141E34"/>
          </a:solidFill>
          <a:ln/>
        </p:spPr>
      </p:sp>
      <p:sp>
        <p:nvSpPr>
          <p:cNvPr id="34" name="Shape 32"/>
          <p:cNvSpPr/>
          <p:nvPr/>
        </p:nvSpPr>
        <p:spPr>
          <a:xfrm>
            <a:off x="996696" y="4522622"/>
            <a:ext cx="45720" cy="961949"/>
          </a:xfrm>
          <a:prstGeom prst="rect">
            <a:avLst>
              <a:gd name="adj" fmla="val 120000"/>
            </a:avLst>
          </a:prstGeom>
          <a:solidFill>
            <a:srgbClr val="F59E0B"/>
          </a:solidFill>
          <a:ln/>
        </p:spPr>
      </p:sp>
      <p:sp>
        <p:nvSpPr>
          <p:cNvPr id="35" name="Text 33"/>
          <p:cNvSpPr/>
          <p:nvPr/>
        </p:nvSpPr>
        <p:spPr>
          <a:xfrm>
            <a:off x="1152144" y="4522622"/>
            <a:ext cx="10582351" cy="961949"/>
          </a:xfrm>
          <a:prstGeom prst="rect">
            <a:avLst/>
          </a:prstGeom>
          <a:noFill/>
          <a:ln/>
        </p:spPr>
        <p:txBody>
          <a:bodyPr wrap="square" rtlCol="0" anchor="ctr"/>
          <a:lstStyle/>
          <a:p>
            <a:pPr indent="0" marL="0">
              <a:lnSpc>
                <a:spcPct val="112000"/>
              </a:lnSpc>
              <a:buNone/>
            </a:pPr>
            <a:r>
              <a:rPr lang="en-US" sz="1600" dirty="0">
                <a:solidFill>
                  <a:srgbClr val="E8EDF5"/>
                </a:solidFill>
                <a:latin typeface="Open Sans" pitchFamily="34" charset="0"/>
                <a:ea typeface="Open Sans" pitchFamily="34" charset="-122"/>
                <a:cs typeface="Open Sans" pitchFamily="34" charset="-120"/>
              </a:rPr>
              <a:t>Essas abordagens aceleram o desenvolvimento e reduzem custos.</a:t>
            </a:r>
            <a:endParaRPr lang="en-US" sz="1600" dirty="0"/>
          </a:p>
        </p:txBody>
      </p:sp>
      <p:sp>
        <p:nvSpPr>
          <p:cNvPr id="36" name="Shape 34"/>
          <p:cNvSpPr/>
          <p:nvPr/>
        </p:nvSpPr>
        <p:spPr>
          <a:xfrm>
            <a:off x="594360" y="5919826"/>
            <a:ext cx="256032" cy="256032"/>
          </a:xfrm>
          <a:prstGeom prst="roundRect">
            <a:avLst>
              <a:gd name="adj" fmla="val 17857"/>
            </a:avLst>
          </a:prstGeom>
          <a:solidFill>
            <a:srgbClr val="06B6D4"/>
          </a:solidFill>
          <a:ln/>
        </p:spPr>
      </p:sp>
      <p:sp>
        <p:nvSpPr>
          <p:cNvPr id="37" name="Text 35"/>
          <p:cNvSpPr/>
          <p:nvPr/>
        </p:nvSpPr>
        <p:spPr>
          <a:xfrm>
            <a:off x="594360" y="5919826"/>
            <a:ext cx="256032" cy="25603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5</a:t>
            </a:r>
            <a:endParaRPr lang="en-US" sz="1200" dirty="0"/>
          </a:p>
        </p:txBody>
      </p:sp>
      <p:sp>
        <p:nvSpPr>
          <p:cNvPr id="38" name="Shape 36"/>
          <p:cNvSpPr/>
          <p:nvPr/>
        </p:nvSpPr>
        <p:spPr>
          <a:xfrm>
            <a:off x="1024128" y="5594299"/>
            <a:ext cx="10829239" cy="961949"/>
          </a:xfrm>
          <a:prstGeom prst="roundRect">
            <a:avLst>
              <a:gd name="adj" fmla="val 9506"/>
            </a:avLst>
          </a:prstGeom>
          <a:solidFill>
            <a:srgbClr val="000000"/>
          </a:solidFill>
          <a:ln/>
        </p:spPr>
      </p:sp>
      <p:sp>
        <p:nvSpPr>
          <p:cNvPr id="39" name="Shape 37"/>
          <p:cNvSpPr/>
          <p:nvPr/>
        </p:nvSpPr>
        <p:spPr>
          <a:xfrm>
            <a:off x="996696" y="5557723"/>
            <a:ext cx="10829239" cy="961949"/>
          </a:xfrm>
          <a:prstGeom prst="roundRect">
            <a:avLst>
              <a:gd name="adj" fmla="val 5703"/>
            </a:avLst>
          </a:prstGeom>
          <a:solidFill>
            <a:srgbClr val="141E34"/>
          </a:solidFill>
          <a:ln/>
        </p:spPr>
      </p:sp>
      <p:sp>
        <p:nvSpPr>
          <p:cNvPr id="40" name="Shape 38"/>
          <p:cNvSpPr/>
          <p:nvPr/>
        </p:nvSpPr>
        <p:spPr>
          <a:xfrm>
            <a:off x="996696" y="5557723"/>
            <a:ext cx="45720" cy="961949"/>
          </a:xfrm>
          <a:prstGeom prst="rect">
            <a:avLst>
              <a:gd name="adj" fmla="val 120000"/>
            </a:avLst>
          </a:prstGeom>
          <a:solidFill>
            <a:srgbClr val="06B6D4"/>
          </a:solidFill>
          <a:ln/>
        </p:spPr>
      </p:sp>
      <p:sp>
        <p:nvSpPr>
          <p:cNvPr id="41" name="Text 39"/>
          <p:cNvSpPr/>
          <p:nvPr/>
        </p:nvSpPr>
        <p:spPr>
          <a:xfrm>
            <a:off x="1152144" y="5557723"/>
            <a:ext cx="10582351" cy="961949"/>
          </a:xfrm>
          <a:prstGeom prst="rect">
            <a:avLst/>
          </a:prstGeom>
          <a:noFill/>
          <a:ln/>
        </p:spPr>
        <p:txBody>
          <a:bodyPr wrap="square" rtlCol="0" anchor="ctr"/>
          <a:lstStyle/>
          <a:p>
            <a:pPr indent="0" marL="0">
              <a:lnSpc>
                <a:spcPct val="112000"/>
              </a:lnSpc>
              <a:buNone/>
            </a:pPr>
            <a:r>
              <a:rPr lang="en-US" sz="1600" dirty="0">
                <a:solidFill>
                  <a:srgbClr val="E8EDF5"/>
                </a:solidFill>
                <a:latin typeface="Open Sans" pitchFamily="34" charset="0"/>
                <a:ea typeface="Open Sans" pitchFamily="34" charset="-122"/>
                <a:cs typeface="Open Sans" pitchFamily="34" charset="-120"/>
              </a:rPr>
              <a:t>Elas permitem a criação de soluções próprias, quebrando barreiras técnicas.</a:t>
            </a:r>
            <a:endParaRPr lang="en-US" sz="1600" dirty="0"/>
          </a:p>
        </p:txBody>
      </p:sp>
      <p:sp>
        <p:nvSpPr>
          <p:cNvPr id="42" name="Shape 40"/>
          <p:cNvSpPr/>
          <p:nvPr/>
        </p:nvSpPr>
        <p:spPr>
          <a:xfrm>
            <a:off x="0" y="6601968"/>
            <a:ext cx="2041093" cy="4572"/>
          </a:xfrm>
          <a:prstGeom prst="rect">
            <a:avLst/>
          </a:prstGeom>
          <a:solidFill>
            <a:srgbClr val="6C63FF"/>
          </a:solidFill>
          <a:ln/>
        </p:spPr>
      </p:sp>
      <p:sp>
        <p:nvSpPr>
          <p:cNvPr id="43" name="Shape 41"/>
          <p:cNvSpPr/>
          <p:nvPr/>
        </p:nvSpPr>
        <p:spPr>
          <a:xfrm>
            <a:off x="2031949" y="6601968"/>
            <a:ext cx="2041093" cy="4572"/>
          </a:xfrm>
          <a:prstGeom prst="rect">
            <a:avLst/>
          </a:prstGeom>
          <a:solidFill>
            <a:srgbClr val="6C63FF"/>
          </a:solidFill>
          <a:ln/>
        </p:spPr>
      </p:sp>
      <p:sp>
        <p:nvSpPr>
          <p:cNvPr id="44" name="Shape 42"/>
          <p:cNvSpPr/>
          <p:nvPr/>
        </p:nvSpPr>
        <p:spPr>
          <a:xfrm>
            <a:off x="4063898" y="6601968"/>
            <a:ext cx="2041093" cy="4572"/>
          </a:xfrm>
          <a:prstGeom prst="rect">
            <a:avLst/>
          </a:prstGeom>
          <a:solidFill>
            <a:srgbClr val="6C63FF"/>
          </a:solidFill>
          <a:ln/>
        </p:spPr>
      </p:sp>
      <p:sp>
        <p:nvSpPr>
          <p:cNvPr id="45" name="Shape 43"/>
          <p:cNvSpPr/>
          <p:nvPr/>
        </p:nvSpPr>
        <p:spPr>
          <a:xfrm>
            <a:off x="6095848" y="6601968"/>
            <a:ext cx="2041093" cy="4572"/>
          </a:xfrm>
          <a:prstGeom prst="rect">
            <a:avLst/>
          </a:prstGeom>
          <a:solidFill>
            <a:srgbClr val="6C63FF"/>
          </a:solidFill>
          <a:ln/>
        </p:spPr>
      </p:sp>
      <p:sp>
        <p:nvSpPr>
          <p:cNvPr id="46" name="Shape 44"/>
          <p:cNvSpPr/>
          <p:nvPr/>
        </p:nvSpPr>
        <p:spPr>
          <a:xfrm>
            <a:off x="8127797" y="6601968"/>
            <a:ext cx="2041093" cy="4572"/>
          </a:xfrm>
          <a:prstGeom prst="rect">
            <a:avLst/>
          </a:prstGeom>
          <a:solidFill>
            <a:srgbClr val="6C63FF"/>
          </a:solidFill>
          <a:ln/>
        </p:spPr>
      </p:sp>
      <p:sp>
        <p:nvSpPr>
          <p:cNvPr id="47" name="Shape 45"/>
          <p:cNvSpPr/>
          <p:nvPr/>
        </p:nvSpPr>
        <p:spPr>
          <a:xfrm>
            <a:off x="10159746" y="6601968"/>
            <a:ext cx="2041093" cy="4572"/>
          </a:xfrm>
          <a:prstGeom prst="rect">
            <a:avLst/>
          </a:prstGeom>
          <a:solidFill>
            <a:srgbClr val="6C63FF"/>
          </a:solidFill>
          <a:ln/>
        </p:spPr>
      </p:sp>
      <p:sp>
        <p:nvSpPr>
          <p:cNvPr id="48" name="Shape 46"/>
          <p:cNvSpPr/>
          <p:nvPr/>
        </p:nvSpPr>
        <p:spPr>
          <a:xfrm>
            <a:off x="0" y="6606540"/>
            <a:ext cx="12191695" cy="2743"/>
          </a:xfrm>
          <a:prstGeom prst="rect">
            <a:avLst/>
          </a:prstGeom>
          <a:solidFill>
            <a:srgbClr val="222E48"/>
          </a:solidFill>
          <a:ln/>
        </p:spPr>
      </p:sp>
      <p:sp>
        <p:nvSpPr>
          <p:cNvPr id="49" name="Text 47"/>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50" name="Shape 48"/>
          <p:cNvSpPr/>
          <p:nvPr/>
        </p:nvSpPr>
        <p:spPr>
          <a:xfrm>
            <a:off x="10436047" y="6693408"/>
            <a:ext cx="73152" cy="73152"/>
          </a:xfrm>
          <a:prstGeom prst="ellipse">
            <a:avLst/>
          </a:prstGeom>
          <a:solidFill>
            <a:srgbClr val="6C63FF"/>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6C63FF"/>
          </a:solidFill>
          <a:ln/>
        </p:spPr>
      </p:sp>
      <p:sp>
        <p:nvSpPr>
          <p:cNvPr id="3" name="Shape 1"/>
          <p:cNvSpPr/>
          <p:nvPr/>
        </p:nvSpPr>
        <p:spPr>
          <a:xfrm>
            <a:off x="64008" y="0"/>
            <a:ext cx="18288" cy="6858000"/>
          </a:xfrm>
          <a:prstGeom prst="rect">
            <a:avLst/>
          </a:prstGeom>
          <a:solidFill>
            <a:srgbClr val="6C63FF"/>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6C63FF"/>
                </a:solidFill>
                <a:latin typeface="Open Sans" pitchFamily="34" charset="0"/>
                <a:ea typeface="Open Sans" pitchFamily="34" charset="-122"/>
                <a:cs typeface="Open Sans" pitchFamily="34" charset="-120"/>
              </a:rPr>
              <a:t>MODELOS E TIPOS</a:t>
            </a:r>
            <a:endParaRPr lang="en-US" sz="900" dirty="0"/>
          </a:p>
        </p:txBody>
      </p:sp>
      <p:sp>
        <p:nvSpPr>
          <p:cNvPr id="5" name="Shape 3"/>
          <p:cNvSpPr/>
          <p:nvPr/>
        </p:nvSpPr>
        <p:spPr>
          <a:xfrm>
            <a:off x="502920" y="493776"/>
            <a:ext cx="640080" cy="21946"/>
          </a:xfrm>
          <a:prstGeom prst="rect">
            <a:avLst/>
          </a:prstGeom>
          <a:solidFill>
            <a:srgbClr val="6C63FF"/>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Modelos / Tipos</a:t>
            </a:r>
            <a:endParaRPr lang="en-US" sz="2800" dirty="0"/>
          </a:p>
        </p:txBody>
      </p:sp>
      <p:sp>
        <p:nvSpPr>
          <p:cNvPr id="7" name="Shape 5"/>
          <p:cNvSpPr/>
          <p:nvPr/>
        </p:nvSpPr>
        <p:spPr>
          <a:xfrm>
            <a:off x="502920" y="1389888"/>
            <a:ext cx="11185855" cy="7315"/>
          </a:xfrm>
          <a:prstGeom prst="rect">
            <a:avLst/>
          </a:prstGeom>
          <a:solidFill>
            <a:srgbClr val="6C63FF"/>
          </a:solidFill>
          <a:ln/>
        </p:spPr>
      </p:sp>
      <p:sp>
        <p:nvSpPr>
          <p:cNvPr id="8" name="Shape 6"/>
          <p:cNvSpPr/>
          <p:nvPr/>
        </p:nvSpPr>
        <p:spPr>
          <a:xfrm>
            <a:off x="502920" y="1408176"/>
            <a:ext cx="11185855" cy="3658"/>
          </a:xfrm>
          <a:prstGeom prst="rect">
            <a:avLst/>
          </a:prstGeom>
          <a:solidFill>
            <a:srgbClr val="222E48"/>
          </a:solidFill>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94360" y="1536192"/>
          <a:ext cx="11140135" cy="914400"/>
        </p:xfrm>
        <a:graphic>
          <a:graphicData uri="http://schemas.openxmlformats.org/drawingml/2006/table">
            <a:tbl>
              <a:tblPr/>
              <a:tblGrid>
                <a:gridCol w="3713378"/>
                <a:gridCol w="3713378"/>
                <a:gridCol w="3713378"/>
              </a:tblGrid>
              <a:tr h="438912">
                <a:tc>
                  <a:txBody>
                    <a:bodyP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Aspecto</a:t>
                      </a:r>
                      <a:endParaRPr lang="en-US" sz="1300" dirty="0">
                        <a:latin typeface="Montserrat" charset="0"/>
                        <a:ea typeface="Montserrat" charset="0"/>
                        <a:cs typeface="Montserrat"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6C63FF"/>
                    </a:solidFill>
                  </a:tcPr>
                </a:tc>
                <a:tc>
                  <a:txBody>
                    <a:bodyP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IA No-Code</a:t>
                      </a:r>
                      <a:endParaRPr lang="en-US" sz="1300" dirty="0">
                        <a:latin typeface="Montserrat" charset="0"/>
                        <a:ea typeface="Montserrat" charset="0"/>
                        <a:cs typeface="Montserrat"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6C63FF"/>
                    </a:solidFill>
                  </a:tcPr>
                </a:tc>
                <a:tc>
                  <a:txBody>
                    <a:bodyP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IA Low-Code</a:t>
                      </a:r>
                      <a:endParaRPr lang="en-US" sz="1300" dirty="0">
                        <a:latin typeface="Montserrat" charset="0"/>
                        <a:ea typeface="Montserrat" charset="0"/>
                        <a:cs typeface="Montserrat"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6C63FF"/>
                    </a:solidFill>
                  </a:tcPr>
                </a:tc>
              </a:tr>
              <a:tr h="438912">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 Desenvolvimento</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Não exige conhecimento de programação.</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Exige algum conhecimento técnico para personalização.</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r>
              <a:tr h="438912">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 Interface</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A2848"/>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Visual, "arrastar e soltar", formulários.</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A2848"/>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Principalmente visual, com blocos de código para ajustes.</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A2848"/>
                    </a:solidFill>
                  </a:tcPr>
                </a:tc>
              </a:tr>
              <a:tr h="438912">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 Flexibilidade</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Limitada às funcionalidades pré-configuradas.</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Maior flexibilidade, permite personalização avançada.</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r>
              <a:tr h="438912">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 Rapidez</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A2848"/>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Muito mais rápido para implementação de soluções simples.</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A2848"/>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Mais rápido que o desenvolvimento tradicional, mas exige mais tempo que No-Code.</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A2848"/>
                    </a:solidFill>
                  </a:tcPr>
                </a:tc>
              </a:tr>
              <a:tr h="438912">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 Público</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Profissionais não técnicos, usuários de negócios.</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Desenvolvedores cidadãos, equipes de TI com foco em agilidade.</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r>
            </a:tbl>
          </a:graphicData>
        </a:graphic>
      </p:graphicFrame>
      <p:sp>
        <p:nvSpPr>
          <p:cNvPr id="10" name="Shape 7"/>
          <p:cNvSpPr/>
          <p:nvPr/>
        </p:nvSpPr>
        <p:spPr>
          <a:xfrm>
            <a:off x="0" y="6601968"/>
            <a:ext cx="2041093" cy="4572"/>
          </a:xfrm>
          <a:prstGeom prst="rect">
            <a:avLst/>
          </a:prstGeom>
          <a:solidFill>
            <a:srgbClr val="6C63FF"/>
          </a:solidFill>
          <a:ln/>
        </p:spPr>
      </p:sp>
      <p:sp>
        <p:nvSpPr>
          <p:cNvPr id="11" name="Shape 8"/>
          <p:cNvSpPr/>
          <p:nvPr/>
        </p:nvSpPr>
        <p:spPr>
          <a:xfrm>
            <a:off x="2031949" y="6601968"/>
            <a:ext cx="2041093" cy="4572"/>
          </a:xfrm>
          <a:prstGeom prst="rect">
            <a:avLst/>
          </a:prstGeom>
          <a:solidFill>
            <a:srgbClr val="6C63FF"/>
          </a:solidFill>
          <a:ln/>
        </p:spPr>
      </p:sp>
      <p:sp>
        <p:nvSpPr>
          <p:cNvPr id="12" name="Shape 9"/>
          <p:cNvSpPr/>
          <p:nvPr/>
        </p:nvSpPr>
        <p:spPr>
          <a:xfrm>
            <a:off x="4063898" y="6601968"/>
            <a:ext cx="2041093" cy="4572"/>
          </a:xfrm>
          <a:prstGeom prst="rect">
            <a:avLst/>
          </a:prstGeom>
          <a:solidFill>
            <a:srgbClr val="6C63FF"/>
          </a:solidFill>
          <a:ln/>
        </p:spPr>
      </p:sp>
      <p:sp>
        <p:nvSpPr>
          <p:cNvPr id="13" name="Shape 10"/>
          <p:cNvSpPr/>
          <p:nvPr/>
        </p:nvSpPr>
        <p:spPr>
          <a:xfrm>
            <a:off x="6095848" y="6601968"/>
            <a:ext cx="2041093" cy="4572"/>
          </a:xfrm>
          <a:prstGeom prst="rect">
            <a:avLst/>
          </a:prstGeom>
          <a:solidFill>
            <a:srgbClr val="6C63FF"/>
          </a:solidFill>
          <a:ln/>
        </p:spPr>
      </p:sp>
      <p:sp>
        <p:nvSpPr>
          <p:cNvPr id="14" name="Shape 11"/>
          <p:cNvSpPr/>
          <p:nvPr/>
        </p:nvSpPr>
        <p:spPr>
          <a:xfrm>
            <a:off x="8127797" y="6601968"/>
            <a:ext cx="2041093" cy="4572"/>
          </a:xfrm>
          <a:prstGeom prst="rect">
            <a:avLst/>
          </a:prstGeom>
          <a:solidFill>
            <a:srgbClr val="6C63FF"/>
          </a:solidFill>
          <a:ln/>
        </p:spPr>
      </p:sp>
      <p:sp>
        <p:nvSpPr>
          <p:cNvPr id="15" name="Shape 12"/>
          <p:cNvSpPr/>
          <p:nvPr/>
        </p:nvSpPr>
        <p:spPr>
          <a:xfrm>
            <a:off x="10159746" y="6601968"/>
            <a:ext cx="2041093" cy="4572"/>
          </a:xfrm>
          <a:prstGeom prst="rect">
            <a:avLst/>
          </a:prstGeom>
          <a:solidFill>
            <a:srgbClr val="6C63FF"/>
          </a:solidFill>
          <a:ln/>
        </p:spPr>
      </p:sp>
      <p:sp>
        <p:nvSpPr>
          <p:cNvPr id="16" name="Shape 13"/>
          <p:cNvSpPr/>
          <p:nvPr/>
        </p:nvSpPr>
        <p:spPr>
          <a:xfrm>
            <a:off x="0" y="6606540"/>
            <a:ext cx="12191695" cy="2743"/>
          </a:xfrm>
          <a:prstGeom prst="rect">
            <a:avLst/>
          </a:prstGeom>
          <a:solidFill>
            <a:srgbClr val="222E48"/>
          </a:solidFill>
          <a:ln/>
        </p:spPr>
      </p:sp>
      <p:sp>
        <p:nvSpPr>
          <p:cNvPr id="17" name="Text 14"/>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18" name="Shape 15"/>
          <p:cNvSpPr/>
          <p:nvPr/>
        </p:nvSpPr>
        <p:spPr>
          <a:xfrm>
            <a:off x="10436047" y="6693408"/>
            <a:ext cx="73152" cy="73152"/>
          </a:xfrm>
          <a:prstGeom prst="ellipse">
            <a:avLst/>
          </a:prstGeom>
          <a:solidFill>
            <a:srgbClr val="6C63FF"/>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6C63FF"/>
          </a:solidFill>
          <a:ln/>
        </p:spPr>
      </p:sp>
      <p:sp>
        <p:nvSpPr>
          <p:cNvPr id="3" name="Shape 1"/>
          <p:cNvSpPr/>
          <p:nvPr/>
        </p:nvSpPr>
        <p:spPr>
          <a:xfrm>
            <a:off x="64008" y="0"/>
            <a:ext cx="18288" cy="6858000"/>
          </a:xfrm>
          <a:prstGeom prst="rect">
            <a:avLst/>
          </a:prstGeom>
          <a:solidFill>
            <a:srgbClr val="6C63FF"/>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6C63FF"/>
                </a:solidFill>
                <a:latin typeface="Open Sans" pitchFamily="34" charset="0"/>
                <a:ea typeface="Open Sans" pitchFamily="34" charset="-122"/>
                <a:cs typeface="Open Sans" pitchFamily="34" charset="-120"/>
              </a:rPr>
              <a:t>MODELOS E TIPOS</a:t>
            </a:r>
            <a:endParaRPr lang="en-US" sz="900" dirty="0"/>
          </a:p>
        </p:txBody>
      </p:sp>
      <p:sp>
        <p:nvSpPr>
          <p:cNvPr id="5" name="Shape 3"/>
          <p:cNvSpPr/>
          <p:nvPr/>
        </p:nvSpPr>
        <p:spPr>
          <a:xfrm>
            <a:off x="502920" y="493776"/>
            <a:ext cx="640080" cy="21946"/>
          </a:xfrm>
          <a:prstGeom prst="rect">
            <a:avLst/>
          </a:prstGeom>
          <a:solidFill>
            <a:srgbClr val="6C63FF"/>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Categorias de Ferramentas de IA Acessíveis</a:t>
            </a:r>
            <a:endParaRPr lang="en-US" sz="2800" dirty="0"/>
          </a:p>
        </p:txBody>
      </p:sp>
      <p:sp>
        <p:nvSpPr>
          <p:cNvPr id="7" name="Shape 5"/>
          <p:cNvSpPr/>
          <p:nvPr/>
        </p:nvSpPr>
        <p:spPr>
          <a:xfrm>
            <a:off x="502920" y="1389888"/>
            <a:ext cx="11185855" cy="7315"/>
          </a:xfrm>
          <a:prstGeom prst="rect">
            <a:avLst/>
          </a:prstGeom>
          <a:solidFill>
            <a:srgbClr val="6C63FF"/>
          </a:solidFill>
          <a:ln/>
        </p:spPr>
      </p:sp>
      <p:sp>
        <p:nvSpPr>
          <p:cNvPr id="8" name="Shape 6"/>
          <p:cNvSpPr/>
          <p:nvPr/>
        </p:nvSpPr>
        <p:spPr>
          <a:xfrm>
            <a:off x="502920" y="1408176"/>
            <a:ext cx="11185855" cy="3658"/>
          </a:xfrm>
          <a:prstGeom prst="rect">
            <a:avLst/>
          </a:prstGeom>
          <a:solidFill>
            <a:srgbClr val="222E48"/>
          </a:solidFill>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94360" y="1536192"/>
          <a:ext cx="11140135" cy="914400"/>
        </p:xfrm>
        <a:graphic>
          <a:graphicData uri="http://schemas.openxmlformats.org/drawingml/2006/table">
            <a:tbl>
              <a:tblPr/>
              <a:tblGrid>
                <a:gridCol w="3713378"/>
                <a:gridCol w="3713378"/>
                <a:gridCol w="3713378"/>
              </a:tblGrid>
              <a:tr h="438912">
                <a:tc>
                  <a:txBody>
                    <a:bodyP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Categoria</a:t>
                      </a:r>
                      <a:endParaRPr lang="en-US" sz="1300" dirty="0">
                        <a:latin typeface="Montserrat" charset="0"/>
                        <a:ea typeface="Montserrat" charset="0"/>
                        <a:cs typeface="Montserrat"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6C63FF"/>
                    </a:solidFill>
                  </a:tcPr>
                </a:tc>
                <a:tc>
                  <a:txBody>
                    <a:bodyP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Definição</a:t>
                      </a:r>
                      <a:endParaRPr lang="en-US" sz="1300" dirty="0">
                        <a:latin typeface="Montserrat" charset="0"/>
                        <a:ea typeface="Montserrat" charset="0"/>
                        <a:cs typeface="Montserrat"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6C63FF"/>
                    </a:solidFill>
                  </a:tcPr>
                </a:tc>
                <a:tc>
                  <a:txBody>
                    <a:bodyP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Aplicações</a:t>
                      </a:r>
                      <a:endParaRPr lang="en-US" sz="1300" dirty="0">
                        <a:latin typeface="Montserrat" charset="0"/>
                        <a:ea typeface="Montserrat" charset="0"/>
                        <a:cs typeface="Montserrat"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6C63FF"/>
                    </a:solidFill>
                  </a:tcPr>
                </a:tc>
              </a:tr>
              <a:tr h="438912">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 Assistentes Virtuais e Chatbots</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Sistemas que simulam conversas humanas por texto ou voz.</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Melhoram atendimento ao cliente, suporte interno e automação de FAQ.</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r>
              <a:tr h="438912">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 Automação de Texto e Geração de Conteúdo</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A2848"/>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Utilizam Modelos de Linguagem para gerar, resumir e refinar textos.</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A2848"/>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Agilizam a criação de conteúdo, superam bloqueios criativos e otimizam a comunicação.</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A2848"/>
                    </a:solidFill>
                  </a:tcPr>
                </a:tc>
              </a:tr>
              <a:tr h="438912">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 Análise de Dados e Visualização</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Plataformas que usam IA para identificar padrões e tendências em dados.</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Melhoram a tomada de decisões, identificam oportunidades e otimizam estratégias.</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r>
              <a:tr h="438912">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 Automação de Fluxos de Trabalho (RPA)</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A2848"/>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Softwares que imitam ações humanas para automatizar tarefas repetitivas.</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A2848"/>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Aumentam a eficiência operacional, reduzem erros e liberam colaboradores.</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A2848"/>
                    </a:solidFill>
                  </a:tcPr>
                </a:tc>
              </a:tr>
              <a:tr h="438912">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 Reconhecimento de Imagem e Visão Computacional</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Soluções que analisam imagens e vídeos para identificar e entender conteúdo.</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Otimizam inventário, melhoram segurança ou categorizam mídias visuais.</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r>
            </a:tbl>
          </a:graphicData>
        </a:graphic>
      </p:graphicFrame>
      <p:sp>
        <p:nvSpPr>
          <p:cNvPr id="10" name="Shape 7"/>
          <p:cNvSpPr/>
          <p:nvPr/>
        </p:nvSpPr>
        <p:spPr>
          <a:xfrm>
            <a:off x="0" y="6601968"/>
            <a:ext cx="2041093" cy="4572"/>
          </a:xfrm>
          <a:prstGeom prst="rect">
            <a:avLst/>
          </a:prstGeom>
          <a:solidFill>
            <a:srgbClr val="6C63FF"/>
          </a:solidFill>
          <a:ln/>
        </p:spPr>
      </p:sp>
      <p:sp>
        <p:nvSpPr>
          <p:cNvPr id="11" name="Shape 8"/>
          <p:cNvSpPr/>
          <p:nvPr/>
        </p:nvSpPr>
        <p:spPr>
          <a:xfrm>
            <a:off x="2031949" y="6601968"/>
            <a:ext cx="2041093" cy="4572"/>
          </a:xfrm>
          <a:prstGeom prst="rect">
            <a:avLst/>
          </a:prstGeom>
          <a:solidFill>
            <a:srgbClr val="6C63FF"/>
          </a:solidFill>
          <a:ln/>
        </p:spPr>
      </p:sp>
      <p:sp>
        <p:nvSpPr>
          <p:cNvPr id="12" name="Shape 9"/>
          <p:cNvSpPr/>
          <p:nvPr/>
        </p:nvSpPr>
        <p:spPr>
          <a:xfrm>
            <a:off x="4063898" y="6601968"/>
            <a:ext cx="2041093" cy="4572"/>
          </a:xfrm>
          <a:prstGeom prst="rect">
            <a:avLst/>
          </a:prstGeom>
          <a:solidFill>
            <a:srgbClr val="6C63FF"/>
          </a:solidFill>
          <a:ln/>
        </p:spPr>
      </p:sp>
      <p:sp>
        <p:nvSpPr>
          <p:cNvPr id="13" name="Shape 10"/>
          <p:cNvSpPr/>
          <p:nvPr/>
        </p:nvSpPr>
        <p:spPr>
          <a:xfrm>
            <a:off x="6095848" y="6601968"/>
            <a:ext cx="2041093" cy="4572"/>
          </a:xfrm>
          <a:prstGeom prst="rect">
            <a:avLst/>
          </a:prstGeom>
          <a:solidFill>
            <a:srgbClr val="6C63FF"/>
          </a:solidFill>
          <a:ln/>
        </p:spPr>
      </p:sp>
      <p:sp>
        <p:nvSpPr>
          <p:cNvPr id="14" name="Shape 11"/>
          <p:cNvSpPr/>
          <p:nvPr/>
        </p:nvSpPr>
        <p:spPr>
          <a:xfrm>
            <a:off x="8127797" y="6601968"/>
            <a:ext cx="2041093" cy="4572"/>
          </a:xfrm>
          <a:prstGeom prst="rect">
            <a:avLst/>
          </a:prstGeom>
          <a:solidFill>
            <a:srgbClr val="6C63FF"/>
          </a:solidFill>
          <a:ln/>
        </p:spPr>
      </p:sp>
      <p:sp>
        <p:nvSpPr>
          <p:cNvPr id="15" name="Shape 12"/>
          <p:cNvSpPr/>
          <p:nvPr/>
        </p:nvSpPr>
        <p:spPr>
          <a:xfrm>
            <a:off x="10159746" y="6601968"/>
            <a:ext cx="2041093" cy="4572"/>
          </a:xfrm>
          <a:prstGeom prst="rect">
            <a:avLst/>
          </a:prstGeom>
          <a:solidFill>
            <a:srgbClr val="6C63FF"/>
          </a:solidFill>
          <a:ln/>
        </p:spPr>
      </p:sp>
      <p:sp>
        <p:nvSpPr>
          <p:cNvPr id="16" name="Shape 13"/>
          <p:cNvSpPr/>
          <p:nvPr/>
        </p:nvSpPr>
        <p:spPr>
          <a:xfrm>
            <a:off x="0" y="6606540"/>
            <a:ext cx="12191695" cy="2743"/>
          </a:xfrm>
          <a:prstGeom prst="rect">
            <a:avLst/>
          </a:prstGeom>
          <a:solidFill>
            <a:srgbClr val="222E48"/>
          </a:solidFill>
          <a:ln/>
        </p:spPr>
      </p:sp>
      <p:sp>
        <p:nvSpPr>
          <p:cNvPr id="17" name="Text 14"/>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18" name="Shape 15"/>
          <p:cNvSpPr/>
          <p:nvPr/>
        </p:nvSpPr>
        <p:spPr>
          <a:xfrm>
            <a:off x="10436047" y="6693408"/>
            <a:ext cx="73152" cy="73152"/>
          </a:xfrm>
          <a:prstGeom prst="ellipse">
            <a:avLst/>
          </a:prstGeom>
          <a:solidFill>
            <a:srgbClr val="6C63FF"/>
          </a:soli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50A18"/>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111D38"/>
          </a:solidFill>
          <a:ln/>
        </p:spPr>
      </p:sp>
      <p:sp>
        <p:nvSpPr>
          <p:cNvPr id="3" name="Shape 1"/>
          <p:cNvSpPr/>
          <p:nvPr/>
        </p:nvSpPr>
        <p:spPr>
          <a:xfrm>
            <a:off x="164592" y="1417320"/>
            <a:ext cx="128016" cy="128016"/>
          </a:xfrm>
          <a:prstGeom prst="ellipse">
            <a:avLst/>
          </a:prstGeom>
          <a:solidFill>
            <a:srgbClr val="3B82F6"/>
          </a:solidFill>
          <a:ln/>
        </p:spPr>
      </p:sp>
      <p:sp>
        <p:nvSpPr>
          <p:cNvPr id="4" name="Shape 2"/>
          <p:cNvSpPr/>
          <p:nvPr/>
        </p:nvSpPr>
        <p:spPr>
          <a:xfrm>
            <a:off x="219456" y="1554480"/>
            <a:ext cx="18288" cy="4700016"/>
          </a:xfrm>
          <a:prstGeom prst="rect">
            <a:avLst/>
          </a:prstGeom>
          <a:solidFill>
            <a:srgbClr val="3B82F6"/>
          </a:solidFill>
          <a:ln/>
        </p:spPr>
      </p:sp>
      <p:sp>
        <p:nvSpPr>
          <p:cNvPr id="5" name="Shape 3"/>
          <p:cNvSpPr/>
          <p:nvPr/>
        </p:nvSpPr>
        <p:spPr>
          <a:xfrm>
            <a:off x="164592" y="6263640"/>
            <a:ext cx="128016" cy="128016"/>
          </a:xfrm>
          <a:prstGeom prst="ellipse">
            <a:avLst/>
          </a:prstGeom>
          <a:solidFill>
            <a:srgbClr val="F59E0B"/>
          </a:solidFill>
          <a:ln/>
        </p:spPr>
      </p:sp>
      <p:sp>
        <p:nvSpPr>
          <p:cNvPr id="6" name="Shape 4"/>
          <p:cNvSpPr/>
          <p:nvPr/>
        </p:nvSpPr>
        <p:spPr>
          <a:xfrm>
            <a:off x="731520" y="384048"/>
            <a:ext cx="1371600" cy="256032"/>
          </a:xfrm>
          <a:prstGeom prst="roundRect">
            <a:avLst>
              <a:gd name="adj" fmla="val 50000"/>
            </a:avLst>
          </a:prstGeom>
          <a:solidFill>
            <a:srgbClr val="F59E0B"/>
          </a:solidFill>
          <a:ln/>
        </p:spPr>
      </p:sp>
      <p:sp>
        <p:nvSpPr>
          <p:cNvPr id="7" name="Text 5"/>
          <p:cNvSpPr/>
          <p:nvPr/>
        </p:nvSpPr>
        <p:spPr>
          <a:xfrm>
            <a:off x="731520" y="384048"/>
            <a:ext cx="1371600" cy="256032"/>
          </a:xfrm>
          <a:prstGeom prst="rect">
            <a:avLst/>
          </a:prstGeom>
          <a:noFill/>
          <a:ln/>
        </p:spPr>
        <p:txBody>
          <a:bodyPr wrap="square" rtlCol="0" anchor="ctr"/>
          <a:lstStyle/>
          <a:p>
            <a:pPr algn="ctr" indent="0" marL="0">
              <a:buNone/>
            </a:pPr>
            <a:r>
              <a:rPr lang="en-US" sz="800" b="1" spc="400" kern="0" dirty="0">
                <a:solidFill>
                  <a:srgbClr val="FFFFFF"/>
                </a:solidFill>
                <a:latin typeface="Open Sans" pitchFamily="34" charset="0"/>
                <a:ea typeface="Open Sans" pitchFamily="34" charset="-122"/>
                <a:cs typeface="Open Sans" pitchFamily="34" charset="-120"/>
              </a:rPr>
              <a:t>ESTUDO DE CASO</a:t>
            </a:r>
            <a:endParaRPr lang="en-US" sz="800" dirty="0"/>
          </a:p>
        </p:txBody>
      </p:sp>
      <p:sp>
        <p:nvSpPr>
          <p:cNvPr id="8" name="Text 6"/>
          <p:cNvSpPr/>
          <p:nvPr/>
        </p:nvSpPr>
        <p:spPr>
          <a:xfrm>
            <a:off x="731520" y="731520"/>
            <a:ext cx="10820095" cy="548640"/>
          </a:xfrm>
          <a:prstGeom prst="rect">
            <a:avLst/>
          </a:prstGeom>
          <a:noFill/>
          <a:ln/>
        </p:spPr>
        <p:txBody>
          <a:bodyPr wrap="square" rtlCol="0" anchor="ctr"/>
          <a:lstStyle/>
          <a:p>
            <a:pPr indent="0" marL="0">
              <a:buNone/>
            </a:pPr>
            <a:r>
              <a:rPr lang="en-US" sz="2400" b="1" dirty="0">
                <a:solidFill>
                  <a:srgbClr val="FFFFFF"/>
                </a:solidFill>
                <a:latin typeface="Montserrat" pitchFamily="34" charset="0"/>
                <a:ea typeface="Montserrat" pitchFamily="34" charset="-122"/>
                <a:cs typeface="Montserrat" pitchFamily="34" charset="-120"/>
              </a:rPr>
              <a:t>Exemplo prático</a:t>
            </a:r>
            <a:endParaRPr lang="en-US" sz="2400" dirty="0"/>
          </a:p>
        </p:txBody>
      </p:sp>
      <p:sp>
        <p:nvSpPr>
          <p:cNvPr id="9" name="Shape 7"/>
          <p:cNvSpPr/>
          <p:nvPr/>
        </p:nvSpPr>
        <p:spPr>
          <a:xfrm>
            <a:off x="731520" y="1298448"/>
            <a:ext cx="3200400" cy="18288"/>
          </a:xfrm>
          <a:prstGeom prst="rect">
            <a:avLst/>
          </a:prstGeom>
          <a:solidFill>
            <a:srgbClr val="F59E0B"/>
          </a:solidFill>
          <a:ln/>
        </p:spPr>
      </p:sp>
      <p:sp>
        <p:nvSpPr>
          <p:cNvPr id="10" name="Shape 8"/>
          <p:cNvSpPr/>
          <p:nvPr/>
        </p:nvSpPr>
        <p:spPr>
          <a:xfrm>
            <a:off x="758952" y="1499616"/>
            <a:ext cx="10820095" cy="1188720"/>
          </a:xfrm>
          <a:prstGeom prst="roundRect">
            <a:avLst>
              <a:gd name="adj" fmla="val 7692"/>
            </a:avLst>
          </a:prstGeom>
          <a:solidFill>
            <a:srgbClr val="000000"/>
          </a:solidFill>
          <a:ln/>
        </p:spPr>
      </p:sp>
      <p:sp>
        <p:nvSpPr>
          <p:cNvPr id="11" name="Shape 9"/>
          <p:cNvSpPr/>
          <p:nvPr/>
        </p:nvSpPr>
        <p:spPr>
          <a:xfrm>
            <a:off x="731520" y="1463040"/>
            <a:ext cx="10820095" cy="1188720"/>
          </a:xfrm>
          <a:prstGeom prst="roundRect">
            <a:avLst>
              <a:gd name="adj" fmla="val 6154"/>
            </a:avLst>
          </a:prstGeom>
          <a:solidFill>
            <a:srgbClr val="111D38"/>
          </a:solidFill>
          <a:ln/>
        </p:spPr>
      </p:sp>
      <p:sp>
        <p:nvSpPr>
          <p:cNvPr id="12" name="Shape 10"/>
          <p:cNvSpPr/>
          <p:nvPr/>
        </p:nvSpPr>
        <p:spPr>
          <a:xfrm>
            <a:off x="731520" y="1517904"/>
            <a:ext cx="45720" cy="1078992"/>
          </a:xfrm>
          <a:prstGeom prst="rect">
            <a:avLst>
              <a:gd name="adj" fmla="val 60000"/>
            </a:avLst>
          </a:prstGeom>
          <a:solidFill>
            <a:srgbClr val="3B82F6"/>
          </a:solidFill>
          <a:ln/>
        </p:spPr>
      </p:sp>
      <p:sp>
        <p:nvSpPr>
          <p:cNvPr id="13" name="Shape 11"/>
          <p:cNvSpPr/>
          <p:nvPr/>
        </p:nvSpPr>
        <p:spPr>
          <a:xfrm>
            <a:off x="932688" y="1901952"/>
            <a:ext cx="310896" cy="310896"/>
          </a:xfrm>
          <a:prstGeom prst="roundRect">
            <a:avLst>
              <a:gd name="adj" fmla="val 17647"/>
            </a:avLst>
          </a:prstGeom>
          <a:solidFill>
            <a:srgbClr val="3B82F6"/>
          </a:solidFill>
          <a:ln/>
        </p:spPr>
      </p:sp>
      <p:sp>
        <p:nvSpPr>
          <p:cNvPr id="14" name="Text 12"/>
          <p:cNvSpPr/>
          <p:nvPr/>
        </p:nvSpPr>
        <p:spPr>
          <a:xfrm>
            <a:off x="932688" y="1901952"/>
            <a:ext cx="310896" cy="310896"/>
          </a:xfrm>
          <a:prstGeom prst="rect">
            <a:avLst/>
          </a:prstGeom>
          <a:noFill/>
          <a:ln/>
        </p:spPr>
        <p:txBody>
          <a:bodyPr wrap="square" rtlCol="0" anchor="ctr"/>
          <a:lstStyle/>
          <a:p>
            <a:pPr algn="ctr" indent="0" marL="0">
              <a:buNone/>
            </a:pPr>
            <a:r>
              <a:rPr lang="en-US" sz="1300" dirty="0">
                <a:solidFill>
                  <a:srgbClr val="3B82F6"/>
                </a:solidFill>
                <a:latin typeface="Open Sans" pitchFamily="34" charset="0"/>
                <a:ea typeface="Open Sans" pitchFamily="34" charset="-122"/>
                <a:cs typeface="Open Sans" pitchFamily="34" charset="-120"/>
              </a:rPr>
              <a:t>●</a:t>
            </a:r>
            <a:endParaRPr lang="en-US" sz="1300" dirty="0"/>
          </a:p>
        </p:txBody>
      </p:sp>
      <p:sp>
        <p:nvSpPr>
          <p:cNvPr id="15" name="Text 13"/>
          <p:cNvSpPr/>
          <p:nvPr/>
        </p:nvSpPr>
        <p:spPr>
          <a:xfrm>
            <a:off x="1325880" y="1517904"/>
            <a:ext cx="1463040" cy="237744"/>
          </a:xfrm>
          <a:prstGeom prst="rect">
            <a:avLst/>
          </a:prstGeom>
          <a:noFill/>
          <a:ln/>
        </p:spPr>
        <p:txBody>
          <a:bodyPr wrap="square" rtlCol="0" anchor="ctr"/>
          <a:lstStyle/>
          <a:p>
            <a:pPr indent="0" marL="0">
              <a:buNone/>
            </a:pPr>
            <a:r>
              <a:rPr lang="en-US" sz="900" b="1" spc="300" kern="0" dirty="0">
                <a:solidFill>
                  <a:srgbClr val="3B82F6"/>
                </a:solidFill>
                <a:latin typeface="Montserrat" pitchFamily="34" charset="0"/>
                <a:ea typeface="Montserrat" pitchFamily="34" charset="-122"/>
                <a:cs typeface="Montserrat" pitchFamily="34" charset="-120"/>
              </a:rPr>
              <a:t>CHATGPT (OPENAI)</a:t>
            </a:r>
            <a:endParaRPr lang="en-US" sz="900" dirty="0"/>
          </a:p>
        </p:txBody>
      </p:sp>
      <p:sp>
        <p:nvSpPr>
          <p:cNvPr id="16" name="Text 14"/>
          <p:cNvSpPr/>
          <p:nvPr/>
        </p:nvSpPr>
        <p:spPr>
          <a:xfrm>
            <a:off x="1325880" y="1737360"/>
            <a:ext cx="9997135" cy="841248"/>
          </a:xfrm>
          <a:prstGeom prst="rect">
            <a:avLst/>
          </a:prstGeom>
          <a:noFill/>
          <a:ln/>
        </p:spPr>
        <p:txBody>
          <a:bodyPr wrap="square" rtlCol="0" anchor="t"/>
          <a:lstStyle/>
          <a:p>
            <a:pPr indent="0" marL="0">
              <a:lnSpc>
                <a:spcPct val="122000"/>
              </a:lnSpc>
              <a:buNone/>
            </a:pPr>
            <a:r>
              <a:rPr lang="en-US" sz="1700" dirty="0">
                <a:solidFill>
                  <a:srgbClr val="94A3C0"/>
                </a:solidFill>
                <a:latin typeface="Open Sans" pitchFamily="34" charset="0"/>
                <a:ea typeface="Open Sans" pitchFamily="34" charset="-122"/>
                <a:cs typeface="Open Sans" pitchFamily="34" charset="-120"/>
              </a:rPr>
              <a:t>Poderoso para geração de texto, brainstorming, escrita criativa e resumos.</a:t>
            </a:r>
            <a:endParaRPr lang="en-US" sz="1700" dirty="0"/>
          </a:p>
        </p:txBody>
      </p:sp>
      <p:sp>
        <p:nvSpPr>
          <p:cNvPr id="17" name="Shape 15"/>
          <p:cNvSpPr/>
          <p:nvPr/>
        </p:nvSpPr>
        <p:spPr>
          <a:xfrm rot="2700000">
            <a:off x="1060704" y="2674620"/>
            <a:ext cx="64008" cy="64008"/>
          </a:xfrm>
          <a:prstGeom prst="rect">
            <a:avLst/>
          </a:prstGeom>
          <a:solidFill>
            <a:srgbClr val="3B82F6"/>
          </a:solidFill>
          <a:ln/>
        </p:spPr>
      </p:sp>
      <p:sp>
        <p:nvSpPr>
          <p:cNvPr id="18" name="Shape 16"/>
          <p:cNvSpPr/>
          <p:nvPr/>
        </p:nvSpPr>
        <p:spPr>
          <a:xfrm>
            <a:off x="758952" y="2798064"/>
            <a:ext cx="10820095" cy="1188720"/>
          </a:xfrm>
          <a:prstGeom prst="roundRect">
            <a:avLst>
              <a:gd name="adj" fmla="val 7692"/>
            </a:avLst>
          </a:prstGeom>
          <a:solidFill>
            <a:srgbClr val="000000"/>
          </a:solidFill>
          <a:ln/>
        </p:spPr>
      </p:sp>
      <p:sp>
        <p:nvSpPr>
          <p:cNvPr id="19" name="Shape 17"/>
          <p:cNvSpPr/>
          <p:nvPr/>
        </p:nvSpPr>
        <p:spPr>
          <a:xfrm>
            <a:off x="731520" y="2761488"/>
            <a:ext cx="10820095" cy="1188720"/>
          </a:xfrm>
          <a:prstGeom prst="roundRect">
            <a:avLst>
              <a:gd name="adj" fmla="val 6154"/>
            </a:avLst>
          </a:prstGeom>
          <a:solidFill>
            <a:srgbClr val="111D38"/>
          </a:solidFill>
          <a:ln/>
        </p:spPr>
      </p:sp>
      <p:sp>
        <p:nvSpPr>
          <p:cNvPr id="20" name="Shape 18"/>
          <p:cNvSpPr/>
          <p:nvPr/>
        </p:nvSpPr>
        <p:spPr>
          <a:xfrm>
            <a:off x="731520" y="2816352"/>
            <a:ext cx="45720" cy="1078992"/>
          </a:xfrm>
          <a:prstGeom prst="rect">
            <a:avLst>
              <a:gd name="adj" fmla="val 60000"/>
            </a:avLst>
          </a:prstGeom>
          <a:solidFill>
            <a:srgbClr val="F59E0B"/>
          </a:solidFill>
          <a:ln/>
        </p:spPr>
      </p:sp>
      <p:sp>
        <p:nvSpPr>
          <p:cNvPr id="21" name="Shape 19"/>
          <p:cNvSpPr/>
          <p:nvPr/>
        </p:nvSpPr>
        <p:spPr>
          <a:xfrm>
            <a:off x="932688" y="3200400"/>
            <a:ext cx="310896" cy="310896"/>
          </a:xfrm>
          <a:prstGeom prst="roundRect">
            <a:avLst>
              <a:gd name="adj" fmla="val 17647"/>
            </a:avLst>
          </a:prstGeom>
          <a:solidFill>
            <a:srgbClr val="F59E0B"/>
          </a:solidFill>
          <a:ln/>
        </p:spPr>
      </p:sp>
      <p:sp>
        <p:nvSpPr>
          <p:cNvPr id="22" name="Text 20"/>
          <p:cNvSpPr/>
          <p:nvPr/>
        </p:nvSpPr>
        <p:spPr>
          <a:xfrm>
            <a:off x="932688" y="3200400"/>
            <a:ext cx="310896" cy="310896"/>
          </a:xfrm>
          <a:prstGeom prst="rect">
            <a:avLst/>
          </a:prstGeom>
          <a:noFill/>
          <a:ln/>
        </p:spPr>
        <p:txBody>
          <a:bodyPr wrap="square" rtlCol="0" anchor="ctr"/>
          <a:lstStyle/>
          <a:p>
            <a:pPr algn="ctr" indent="0" marL="0">
              <a:buNone/>
            </a:pPr>
            <a:r>
              <a:rPr lang="en-US" sz="1300" dirty="0">
                <a:solidFill>
                  <a:srgbClr val="F59E0B"/>
                </a:solidFill>
                <a:latin typeface="Open Sans" pitchFamily="34" charset="0"/>
                <a:ea typeface="Open Sans" pitchFamily="34" charset="-122"/>
                <a:cs typeface="Open Sans" pitchFamily="34" charset="-120"/>
              </a:rPr>
              <a:t>▲</a:t>
            </a:r>
            <a:endParaRPr lang="en-US" sz="1300" dirty="0"/>
          </a:p>
        </p:txBody>
      </p:sp>
      <p:sp>
        <p:nvSpPr>
          <p:cNvPr id="23" name="Text 21"/>
          <p:cNvSpPr/>
          <p:nvPr/>
        </p:nvSpPr>
        <p:spPr>
          <a:xfrm>
            <a:off x="1325880" y="2816352"/>
            <a:ext cx="1463040" cy="237744"/>
          </a:xfrm>
          <a:prstGeom prst="rect">
            <a:avLst/>
          </a:prstGeom>
          <a:noFill/>
          <a:ln/>
        </p:spPr>
        <p:txBody>
          <a:bodyPr wrap="square" rtlCol="0" anchor="ctr"/>
          <a:lstStyle/>
          <a:p>
            <a:pPr indent="0" marL="0">
              <a:buNone/>
            </a:pPr>
            <a:r>
              <a:rPr lang="en-US" sz="900" b="1" spc="300" kern="0" dirty="0">
                <a:solidFill>
                  <a:srgbClr val="F59E0B"/>
                </a:solidFill>
                <a:latin typeface="Montserrat" pitchFamily="34" charset="0"/>
                <a:ea typeface="Montserrat" pitchFamily="34" charset="-122"/>
                <a:cs typeface="Montserrat" pitchFamily="34" charset="-120"/>
              </a:rPr>
              <a:t>COPY.AI</a:t>
            </a:r>
            <a:endParaRPr lang="en-US" sz="900" dirty="0"/>
          </a:p>
        </p:txBody>
      </p:sp>
      <p:sp>
        <p:nvSpPr>
          <p:cNvPr id="24" name="Text 22"/>
          <p:cNvSpPr/>
          <p:nvPr/>
        </p:nvSpPr>
        <p:spPr>
          <a:xfrm>
            <a:off x="1325880" y="3035808"/>
            <a:ext cx="9997135" cy="841248"/>
          </a:xfrm>
          <a:prstGeom prst="rect">
            <a:avLst/>
          </a:prstGeom>
          <a:noFill/>
          <a:ln/>
        </p:spPr>
        <p:txBody>
          <a:bodyPr wrap="square" rtlCol="0" anchor="t"/>
          <a:lstStyle/>
          <a:p>
            <a:pPr indent="0" marL="0">
              <a:lnSpc>
                <a:spcPct val="122000"/>
              </a:lnSpc>
              <a:buNone/>
            </a:pPr>
            <a:r>
              <a:rPr lang="en-US" sz="1700" dirty="0">
                <a:solidFill>
                  <a:srgbClr val="94A3C0"/>
                </a:solidFill>
                <a:latin typeface="Open Sans" pitchFamily="34" charset="0"/>
                <a:ea typeface="Open Sans" pitchFamily="34" charset="-122"/>
                <a:cs typeface="Open Sans" pitchFamily="34" charset="-120"/>
              </a:rPr>
              <a:t>Especializada em marketing, gera textos para anúncios, e-mails e posts de blog.</a:t>
            </a:r>
            <a:endParaRPr lang="en-US" sz="1700" dirty="0"/>
          </a:p>
        </p:txBody>
      </p:sp>
      <p:sp>
        <p:nvSpPr>
          <p:cNvPr id="25" name="Shape 23"/>
          <p:cNvSpPr/>
          <p:nvPr/>
        </p:nvSpPr>
        <p:spPr>
          <a:xfrm>
            <a:off x="0" y="6601968"/>
            <a:ext cx="2041093" cy="4572"/>
          </a:xfrm>
          <a:prstGeom prst="rect">
            <a:avLst/>
          </a:prstGeom>
          <a:solidFill>
            <a:srgbClr val="6C63FF"/>
          </a:solidFill>
          <a:ln/>
        </p:spPr>
      </p:sp>
      <p:sp>
        <p:nvSpPr>
          <p:cNvPr id="26" name="Shape 24"/>
          <p:cNvSpPr/>
          <p:nvPr/>
        </p:nvSpPr>
        <p:spPr>
          <a:xfrm>
            <a:off x="2031949" y="6601968"/>
            <a:ext cx="2041093" cy="4572"/>
          </a:xfrm>
          <a:prstGeom prst="rect">
            <a:avLst/>
          </a:prstGeom>
          <a:solidFill>
            <a:srgbClr val="6C63FF"/>
          </a:solidFill>
          <a:ln/>
        </p:spPr>
      </p:sp>
      <p:sp>
        <p:nvSpPr>
          <p:cNvPr id="27" name="Shape 25"/>
          <p:cNvSpPr/>
          <p:nvPr/>
        </p:nvSpPr>
        <p:spPr>
          <a:xfrm>
            <a:off x="4063898" y="6601968"/>
            <a:ext cx="2041093" cy="4572"/>
          </a:xfrm>
          <a:prstGeom prst="rect">
            <a:avLst/>
          </a:prstGeom>
          <a:solidFill>
            <a:srgbClr val="6C63FF"/>
          </a:solidFill>
          <a:ln/>
        </p:spPr>
      </p:sp>
      <p:sp>
        <p:nvSpPr>
          <p:cNvPr id="28" name="Shape 26"/>
          <p:cNvSpPr/>
          <p:nvPr/>
        </p:nvSpPr>
        <p:spPr>
          <a:xfrm>
            <a:off x="6095848" y="6601968"/>
            <a:ext cx="2041093" cy="4572"/>
          </a:xfrm>
          <a:prstGeom prst="rect">
            <a:avLst/>
          </a:prstGeom>
          <a:solidFill>
            <a:srgbClr val="6C63FF"/>
          </a:solidFill>
          <a:ln/>
        </p:spPr>
      </p:sp>
      <p:sp>
        <p:nvSpPr>
          <p:cNvPr id="29" name="Shape 27"/>
          <p:cNvSpPr/>
          <p:nvPr/>
        </p:nvSpPr>
        <p:spPr>
          <a:xfrm>
            <a:off x="8127797" y="6601968"/>
            <a:ext cx="2041093" cy="4572"/>
          </a:xfrm>
          <a:prstGeom prst="rect">
            <a:avLst/>
          </a:prstGeom>
          <a:solidFill>
            <a:srgbClr val="6C63FF"/>
          </a:solidFill>
          <a:ln/>
        </p:spPr>
      </p:sp>
      <p:sp>
        <p:nvSpPr>
          <p:cNvPr id="30" name="Shape 28"/>
          <p:cNvSpPr/>
          <p:nvPr/>
        </p:nvSpPr>
        <p:spPr>
          <a:xfrm>
            <a:off x="10159746" y="6601968"/>
            <a:ext cx="2041093" cy="4572"/>
          </a:xfrm>
          <a:prstGeom prst="rect">
            <a:avLst/>
          </a:prstGeom>
          <a:solidFill>
            <a:srgbClr val="6C63FF"/>
          </a:solidFill>
          <a:ln/>
        </p:spPr>
      </p:sp>
      <p:sp>
        <p:nvSpPr>
          <p:cNvPr id="31" name="Shape 29"/>
          <p:cNvSpPr/>
          <p:nvPr/>
        </p:nvSpPr>
        <p:spPr>
          <a:xfrm>
            <a:off x="0" y="6606540"/>
            <a:ext cx="12191695" cy="2743"/>
          </a:xfrm>
          <a:prstGeom prst="rect">
            <a:avLst/>
          </a:prstGeom>
          <a:solidFill>
            <a:srgbClr val="222E48"/>
          </a:solidFill>
          <a:ln/>
        </p:spPr>
      </p:sp>
      <p:sp>
        <p:nvSpPr>
          <p:cNvPr id="32" name="Text 30"/>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33" name="Shape 31"/>
          <p:cNvSpPr/>
          <p:nvPr/>
        </p:nvSpPr>
        <p:spPr>
          <a:xfrm>
            <a:off x="10436047" y="6693408"/>
            <a:ext cx="73152" cy="73152"/>
          </a:xfrm>
          <a:prstGeom prst="ellipse">
            <a:avLst/>
          </a:prstGeom>
          <a:solidFill>
            <a:srgbClr val="6C63FF"/>
          </a:solid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50A18"/>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111D38"/>
          </a:solidFill>
          <a:ln/>
        </p:spPr>
      </p:sp>
      <p:sp>
        <p:nvSpPr>
          <p:cNvPr id="3" name="Shape 1"/>
          <p:cNvSpPr/>
          <p:nvPr/>
        </p:nvSpPr>
        <p:spPr>
          <a:xfrm>
            <a:off x="164592" y="1417320"/>
            <a:ext cx="128016" cy="128016"/>
          </a:xfrm>
          <a:prstGeom prst="ellipse">
            <a:avLst/>
          </a:prstGeom>
          <a:solidFill>
            <a:srgbClr val="3B82F6"/>
          </a:solidFill>
          <a:ln/>
        </p:spPr>
      </p:sp>
      <p:sp>
        <p:nvSpPr>
          <p:cNvPr id="4" name="Shape 2"/>
          <p:cNvSpPr/>
          <p:nvPr/>
        </p:nvSpPr>
        <p:spPr>
          <a:xfrm>
            <a:off x="731520" y="384048"/>
            <a:ext cx="1371600" cy="256032"/>
          </a:xfrm>
          <a:prstGeom prst="roundRect">
            <a:avLst>
              <a:gd name="adj" fmla="val 50000"/>
            </a:avLst>
          </a:prstGeom>
          <a:solidFill>
            <a:srgbClr val="F59E0B"/>
          </a:solidFill>
          <a:ln/>
        </p:spPr>
      </p:sp>
      <p:sp>
        <p:nvSpPr>
          <p:cNvPr id="5" name="Text 3"/>
          <p:cNvSpPr/>
          <p:nvPr/>
        </p:nvSpPr>
        <p:spPr>
          <a:xfrm>
            <a:off x="731520" y="384048"/>
            <a:ext cx="1371600" cy="256032"/>
          </a:xfrm>
          <a:prstGeom prst="rect">
            <a:avLst/>
          </a:prstGeom>
          <a:noFill/>
          <a:ln/>
        </p:spPr>
        <p:txBody>
          <a:bodyPr wrap="square" rtlCol="0" anchor="ctr"/>
          <a:lstStyle/>
          <a:p>
            <a:pPr algn="ctr" indent="0" marL="0">
              <a:buNone/>
            </a:pPr>
            <a:r>
              <a:rPr lang="en-US" sz="800" b="1" spc="400" kern="0" dirty="0">
                <a:solidFill>
                  <a:srgbClr val="FFFFFF"/>
                </a:solidFill>
                <a:latin typeface="Open Sans" pitchFamily="34" charset="0"/>
                <a:ea typeface="Open Sans" pitchFamily="34" charset="-122"/>
                <a:cs typeface="Open Sans" pitchFamily="34" charset="-120"/>
              </a:rPr>
              <a:t>ESTUDO DE CASO</a:t>
            </a:r>
            <a:endParaRPr lang="en-US" sz="800" dirty="0"/>
          </a:p>
        </p:txBody>
      </p:sp>
      <p:sp>
        <p:nvSpPr>
          <p:cNvPr id="6" name="Text 4"/>
          <p:cNvSpPr/>
          <p:nvPr/>
        </p:nvSpPr>
        <p:spPr>
          <a:xfrm>
            <a:off x="731520" y="731520"/>
            <a:ext cx="10820095" cy="548640"/>
          </a:xfrm>
          <a:prstGeom prst="rect">
            <a:avLst/>
          </a:prstGeom>
          <a:noFill/>
          <a:ln/>
        </p:spPr>
        <p:txBody>
          <a:bodyPr wrap="square" rtlCol="0" anchor="ctr"/>
          <a:lstStyle/>
          <a:p>
            <a:pPr indent="0" marL="0">
              <a:buNone/>
            </a:pPr>
            <a:r>
              <a:rPr lang="en-US" sz="2400" b="1" dirty="0">
                <a:solidFill>
                  <a:srgbClr val="FFFFFF"/>
                </a:solidFill>
                <a:latin typeface="Montserrat" pitchFamily="34" charset="0"/>
                <a:ea typeface="Montserrat" pitchFamily="34" charset="-122"/>
                <a:cs typeface="Montserrat" pitchFamily="34" charset="-120"/>
              </a:rPr>
              <a:t>Exemplo prático (Parte 2)</a:t>
            </a:r>
            <a:endParaRPr lang="en-US" sz="2400" dirty="0"/>
          </a:p>
        </p:txBody>
      </p:sp>
      <p:sp>
        <p:nvSpPr>
          <p:cNvPr id="7" name="Shape 5"/>
          <p:cNvSpPr/>
          <p:nvPr/>
        </p:nvSpPr>
        <p:spPr>
          <a:xfrm>
            <a:off x="731520" y="1298448"/>
            <a:ext cx="3200400" cy="18288"/>
          </a:xfrm>
          <a:prstGeom prst="rect">
            <a:avLst/>
          </a:prstGeom>
          <a:solidFill>
            <a:srgbClr val="F59E0B"/>
          </a:solidFill>
          <a:ln/>
        </p:spPr>
      </p:sp>
      <p:sp>
        <p:nvSpPr>
          <p:cNvPr id="8" name="Shape 6"/>
          <p:cNvSpPr/>
          <p:nvPr/>
        </p:nvSpPr>
        <p:spPr>
          <a:xfrm>
            <a:off x="758952" y="1499616"/>
            <a:ext cx="10820095" cy="1188720"/>
          </a:xfrm>
          <a:prstGeom prst="roundRect">
            <a:avLst>
              <a:gd name="adj" fmla="val 7692"/>
            </a:avLst>
          </a:prstGeom>
          <a:solidFill>
            <a:srgbClr val="000000"/>
          </a:solidFill>
          <a:ln/>
        </p:spPr>
      </p:sp>
      <p:sp>
        <p:nvSpPr>
          <p:cNvPr id="9" name="Shape 7"/>
          <p:cNvSpPr/>
          <p:nvPr/>
        </p:nvSpPr>
        <p:spPr>
          <a:xfrm>
            <a:off x="731520" y="1463040"/>
            <a:ext cx="10820095" cy="1188720"/>
          </a:xfrm>
          <a:prstGeom prst="roundRect">
            <a:avLst>
              <a:gd name="adj" fmla="val 6154"/>
            </a:avLst>
          </a:prstGeom>
          <a:solidFill>
            <a:srgbClr val="111D38"/>
          </a:solidFill>
          <a:ln/>
        </p:spPr>
      </p:sp>
      <p:sp>
        <p:nvSpPr>
          <p:cNvPr id="10" name="Shape 8"/>
          <p:cNvSpPr/>
          <p:nvPr/>
        </p:nvSpPr>
        <p:spPr>
          <a:xfrm>
            <a:off x="731520" y="1517904"/>
            <a:ext cx="45720" cy="1078992"/>
          </a:xfrm>
          <a:prstGeom prst="rect">
            <a:avLst>
              <a:gd name="adj" fmla="val 60000"/>
            </a:avLst>
          </a:prstGeom>
          <a:solidFill>
            <a:srgbClr val="3B82F6"/>
          </a:solidFill>
          <a:ln/>
        </p:spPr>
      </p:sp>
      <p:sp>
        <p:nvSpPr>
          <p:cNvPr id="11" name="Shape 9"/>
          <p:cNvSpPr/>
          <p:nvPr/>
        </p:nvSpPr>
        <p:spPr>
          <a:xfrm>
            <a:off x="932688" y="1901952"/>
            <a:ext cx="310896" cy="310896"/>
          </a:xfrm>
          <a:prstGeom prst="roundRect">
            <a:avLst>
              <a:gd name="adj" fmla="val 17647"/>
            </a:avLst>
          </a:prstGeom>
          <a:solidFill>
            <a:srgbClr val="3B82F6"/>
          </a:solidFill>
          <a:ln/>
        </p:spPr>
      </p:sp>
      <p:sp>
        <p:nvSpPr>
          <p:cNvPr id="12" name="Text 10"/>
          <p:cNvSpPr/>
          <p:nvPr/>
        </p:nvSpPr>
        <p:spPr>
          <a:xfrm>
            <a:off x="932688" y="1901952"/>
            <a:ext cx="310896" cy="310896"/>
          </a:xfrm>
          <a:prstGeom prst="rect">
            <a:avLst/>
          </a:prstGeom>
          <a:noFill/>
          <a:ln/>
        </p:spPr>
        <p:txBody>
          <a:bodyPr wrap="square" rtlCol="0" anchor="ctr"/>
          <a:lstStyle/>
          <a:p>
            <a:pPr algn="ctr" indent="0" marL="0">
              <a:buNone/>
            </a:pPr>
            <a:r>
              <a:rPr lang="en-US" sz="1300" dirty="0">
                <a:solidFill>
                  <a:srgbClr val="3B82F6"/>
                </a:solidFill>
                <a:latin typeface="Open Sans" pitchFamily="34" charset="0"/>
                <a:ea typeface="Open Sans" pitchFamily="34" charset="-122"/>
                <a:cs typeface="Open Sans" pitchFamily="34" charset="-120"/>
              </a:rPr>
              <a:t>●</a:t>
            </a:r>
            <a:endParaRPr lang="en-US" sz="1300" dirty="0"/>
          </a:p>
        </p:txBody>
      </p:sp>
      <p:sp>
        <p:nvSpPr>
          <p:cNvPr id="13" name="Text 11"/>
          <p:cNvSpPr/>
          <p:nvPr/>
        </p:nvSpPr>
        <p:spPr>
          <a:xfrm>
            <a:off x="1325880" y="1517904"/>
            <a:ext cx="1463040" cy="237744"/>
          </a:xfrm>
          <a:prstGeom prst="rect">
            <a:avLst/>
          </a:prstGeom>
          <a:noFill/>
          <a:ln/>
        </p:spPr>
        <p:txBody>
          <a:bodyPr wrap="square" rtlCol="0" anchor="ctr"/>
          <a:lstStyle/>
          <a:p>
            <a:pPr indent="0" marL="0">
              <a:buNone/>
            </a:pPr>
            <a:r>
              <a:rPr lang="en-US" sz="900" b="1" spc="300" kern="0" dirty="0">
                <a:solidFill>
                  <a:srgbClr val="3B82F6"/>
                </a:solidFill>
                <a:latin typeface="Montserrat" pitchFamily="34" charset="0"/>
                <a:ea typeface="Montserrat" pitchFamily="34" charset="-122"/>
                <a:cs typeface="Montserrat" pitchFamily="34" charset="-120"/>
              </a:rPr>
              <a:t>MANYCHAT</a:t>
            </a:r>
            <a:endParaRPr lang="en-US" sz="900" dirty="0"/>
          </a:p>
        </p:txBody>
      </p:sp>
      <p:sp>
        <p:nvSpPr>
          <p:cNvPr id="14" name="Text 12"/>
          <p:cNvSpPr/>
          <p:nvPr/>
        </p:nvSpPr>
        <p:spPr>
          <a:xfrm>
            <a:off x="1325880" y="1737360"/>
            <a:ext cx="9997135" cy="841248"/>
          </a:xfrm>
          <a:prstGeom prst="rect">
            <a:avLst/>
          </a:prstGeom>
          <a:noFill/>
          <a:ln/>
        </p:spPr>
        <p:txBody>
          <a:bodyPr wrap="square" rtlCol="0" anchor="t"/>
          <a:lstStyle/>
          <a:p>
            <a:pPr indent="0" marL="0">
              <a:lnSpc>
                <a:spcPct val="122000"/>
              </a:lnSpc>
              <a:buNone/>
            </a:pPr>
            <a:r>
              <a:rPr lang="en-US" sz="1700" dirty="0">
                <a:solidFill>
                  <a:srgbClr val="94A3C0"/>
                </a:solidFill>
                <a:latin typeface="Open Sans" pitchFamily="34" charset="0"/>
                <a:ea typeface="Open Sans" pitchFamily="34" charset="-122"/>
                <a:cs typeface="Open Sans" pitchFamily="34" charset="-120"/>
              </a:rPr>
              <a:t>Focado em marketing e vendas, automatiza conversas no Facebook Messenger e Instagram DMs.</a:t>
            </a:r>
            <a:endParaRPr lang="en-US" sz="1700" dirty="0"/>
          </a:p>
        </p:txBody>
      </p:sp>
      <p:sp>
        <p:nvSpPr>
          <p:cNvPr id="15" name="Shape 13"/>
          <p:cNvSpPr/>
          <p:nvPr/>
        </p:nvSpPr>
        <p:spPr>
          <a:xfrm>
            <a:off x="0" y="6601968"/>
            <a:ext cx="2041093" cy="4572"/>
          </a:xfrm>
          <a:prstGeom prst="rect">
            <a:avLst/>
          </a:prstGeom>
          <a:solidFill>
            <a:srgbClr val="6C63FF"/>
          </a:solidFill>
          <a:ln/>
        </p:spPr>
      </p:sp>
      <p:sp>
        <p:nvSpPr>
          <p:cNvPr id="16" name="Shape 14"/>
          <p:cNvSpPr/>
          <p:nvPr/>
        </p:nvSpPr>
        <p:spPr>
          <a:xfrm>
            <a:off x="2031949" y="6601968"/>
            <a:ext cx="2041093" cy="4572"/>
          </a:xfrm>
          <a:prstGeom prst="rect">
            <a:avLst/>
          </a:prstGeom>
          <a:solidFill>
            <a:srgbClr val="6C63FF"/>
          </a:solidFill>
          <a:ln/>
        </p:spPr>
      </p:sp>
      <p:sp>
        <p:nvSpPr>
          <p:cNvPr id="17" name="Shape 15"/>
          <p:cNvSpPr/>
          <p:nvPr/>
        </p:nvSpPr>
        <p:spPr>
          <a:xfrm>
            <a:off x="4063898" y="6601968"/>
            <a:ext cx="2041093" cy="4572"/>
          </a:xfrm>
          <a:prstGeom prst="rect">
            <a:avLst/>
          </a:prstGeom>
          <a:solidFill>
            <a:srgbClr val="6C63FF"/>
          </a:solidFill>
          <a:ln/>
        </p:spPr>
      </p:sp>
      <p:sp>
        <p:nvSpPr>
          <p:cNvPr id="18" name="Shape 16"/>
          <p:cNvSpPr/>
          <p:nvPr/>
        </p:nvSpPr>
        <p:spPr>
          <a:xfrm>
            <a:off x="6095848" y="6601968"/>
            <a:ext cx="2041093" cy="4572"/>
          </a:xfrm>
          <a:prstGeom prst="rect">
            <a:avLst/>
          </a:prstGeom>
          <a:solidFill>
            <a:srgbClr val="6C63FF"/>
          </a:solidFill>
          <a:ln/>
        </p:spPr>
      </p:sp>
      <p:sp>
        <p:nvSpPr>
          <p:cNvPr id="19" name="Shape 17"/>
          <p:cNvSpPr/>
          <p:nvPr/>
        </p:nvSpPr>
        <p:spPr>
          <a:xfrm>
            <a:off x="8127797" y="6601968"/>
            <a:ext cx="2041093" cy="4572"/>
          </a:xfrm>
          <a:prstGeom prst="rect">
            <a:avLst/>
          </a:prstGeom>
          <a:solidFill>
            <a:srgbClr val="6C63FF"/>
          </a:solidFill>
          <a:ln/>
        </p:spPr>
      </p:sp>
      <p:sp>
        <p:nvSpPr>
          <p:cNvPr id="20" name="Shape 18"/>
          <p:cNvSpPr/>
          <p:nvPr/>
        </p:nvSpPr>
        <p:spPr>
          <a:xfrm>
            <a:off x="10159746" y="6601968"/>
            <a:ext cx="2041093" cy="4572"/>
          </a:xfrm>
          <a:prstGeom prst="rect">
            <a:avLst/>
          </a:prstGeom>
          <a:solidFill>
            <a:srgbClr val="6C63FF"/>
          </a:solidFill>
          <a:ln/>
        </p:spPr>
      </p:sp>
      <p:sp>
        <p:nvSpPr>
          <p:cNvPr id="21" name="Shape 19"/>
          <p:cNvSpPr/>
          <p:nvPr/>
        </p:nvSpPr>
        <p:spPr>
          <a:xfrm>
            <a:off x="0" y="6606540"/>
            <a:ext cx="12191695" cy="2743"/>
          </a:xfrm>
          <a:prstGeom prst="rect">
            <a:avLst/>
          </a:prstGeom>
          <a:solidFill>
            <a:srgbClr val="222E48"/>
          </a:solidFill>
          <a:ln/>
        </p:spPr>
      </p:sp>
      <p:sp>
        <p:nvSpPr>
          <p:cNvPr id="22" name="Text 20"/>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23" name="Shape 21"/>
          <p:cNvSpPr/>
          <p:nvPr/>
        </p:nvSpPr>
        <p:spPr>
          <a:xfrm>
            <a:off x="10436047" y="6693408"/>
            <a:ext cx="73152" cy="73152"/>
          </a:xfrm>
          <a:prstGeom prst="ellipse">
            <a:avLst/>
          </a:prstGeom>
          <a:solidFill>
            <a:srgbClr val="6C63FF"/>
          </a:solidFill>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50A18"/>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111D38"/>
          </a:solidFill>
          <a:ln/>
        </p:spPr>
      </p:sp>
      <p:sp>
        <p:nvSpPr>
          <p:cNvPr id="3" name="Shape 1"/>
          <p:cNvSpPr/>
          <p:nvPr/>
        </p:nvSpPr>
        <p:spPr>
          <a:xfrm>
            <a:off x="164592" y="1417320"/>
            <a:ext cx="128016" cy="128016"/>
          </a:xfrm>
          <a:prstGeom prst="ellipse">
            <a:avLst/>
          </a:prstGeom>
          <a:solidFill>
            <a:srgbClr val="3B82F6"/>
          </a:solidFill>
          <a:ln/>
        </p:spPr>
      </p:sp>
      <p:sp>
        <p:nvSpPr>
          <p:cNvPr id="4" name="Shape 2"/>
          <p:cNvSpPr/>
          <p:nvPr/>
        </p:nvSpPr>
        <p:spPr>
          <a:xfrm>
            <a:off x="731520" y="384048"/>
            <a:ext cx="1371600" cy="256032"/>
          </a:xfrm>
          <a:prstGeom prst="roundRect">
            <a:avLst>
              <a:gd name="adj" fmla="val 50000"/>
            </a:avLst>
          </a:prstGeom>
          <a:solidFill>
            <a:srgbClr val="F59E0B"/>
          </a:solidFill>
          <a:ln/>
        </p:spPr>
      </p:sp>
      <p:sp>
        <p:nvSpPr>
          <p:cNvPr id="5" name="Text 3"/>
          <p:cNvSpPr/>
          <p:nvPr/>
        </p:nvSpPr>
        <p:spPr>
          <a:xfrm>
            <a:off x="731520" y="384048"/>
            <a:ext cx="1371600" cy="256032"/>
          </a:xfrm>
          <a:prstGeom prst="rect">
            <a:avLst/>
          </a:prstGeom>
          <a:noFill/>
          <a:ln/>
        </p:spPr>
        <p:txBody>
          <a:bodyPr wrap="square" rtlCol="0" anchor="ctr"/>
          <a:lstStyle/>
          <a:p>
            <a:pPr algn="ctr" indent="0" marL="0">
              <a:buNone/>
            </a:pPr>
            <a:r>
              <a:rPr lang="en-US" sz="800" b="1" spc="400" kern="0" dirty="0">
                <a:solidFill>
                  <a:srgbClr val="FFFFFF"/>
                </a:solidFill>
                <a:latin typeface="Open Sans" pitchFamily="34" charset="0"/>
                <a:ea typeface="Open Sans" pitchFamily="34" charset="-122"/>
                <a:cs typeface="Open Sans" pitchFamily="34" charset="-120"/>
              </a:rPr>
              <a:t>ESTUDO DE CASO</a:t>
            </a:r>
            <a:endParaRPr lang="en-US" sz="800" dirty="0"/>
          </a:p>
        </p:txBody>
      </p:sp>
      <p:sp>
        <p:nvSpPr>
          <p:cNvPr id="6" name="Text 4"/>
          <p:cNvSpPr/>
          <p:nvPr/>
        </p:nvSpPr>
        <p:spPr>
          <a:xfrm>
            <a:off x="731520" y="731520"/>
            <a:ext cx="10820095" cy="548640"/>
          </a:xfrm>
          <a:prstGeom prst="rect">
            <a:avLst/>
          </a:prstGeom>
          <a:noFill/>
          <a:ln/>
        </p:spPr>
        <p:txBody>
          <a:bodyPr wrap="square" rtlCol="0" anchor="ctr"/>
          <a:lstStyle/>
          <a:p>
            <a:pPr indent="0" marL="0">
              <a:buNone/>
            </a:pPr>
            <a:r>
              <a:rPr lang="en-US" sz="2400" b="1" dirty="0">
                <a:solidFill>
                  <a:srgbClr val="FFFFFF"/>
                </a:solidFill>
                <a:latin typeface="Montserrat" pitchFamily="34" charset="0"/>
                <a:ea typeface="Montserrat" pitchFamily="34" charset="-122"/>
                <a:cs typeface="Montserrat" pitchFamily="34" charset="-120"/>
              </a:rPr>
              <a:t>Exemplo prático (Parte 3)</a:t>
            </a:r>
            <a:endParaRPr lang="en-US" sz="2400" dirty="0"/>
          </a:p>
        </p:txBody>
      </p:sp>
      <p:sp>
        <p:nvSpPr>
          <p:cNvPr id="7" name="Shape 5"/>
          <p:cNvSpPr/>
          <p:nvPr/>
        </p:nvSpPr>
        <p:spPr>
          <a:xfrm>
            <a:off x="731520" y="1298448"/>
            <a:ext cx="3200400" cy="18288"/>
          </a:xfrm>
          <a:prstGeom prst="rect">
            <a:avLst/>
          </a:prstGeom>
          <a:solidFill>
            <a:srgbClr val="F59E0B"/>
          </a:solidFill>
          <a:ln/>
        </p:spPr>
      </p:sp>
      <p:sp>
        <p:nvSpPr>
          <p:cNvPr id="8" name="Shape 6"/>
          <p:cNvSpPr/>
          <p:nvPr/>
        </p:nvSpPr>
        <p:spPr>
          <a:xfrm>
            <a:off x="758952" y="1499616"/>
            <a:ext cx="10820095" cy="1188720"/>
          </a:xfrm>
          <a:prstGeom prst="roundRect">
            <a:avLst>
              <a:gd name="adj" fmla="val 7692"/>
            </a:avLst>
          </a:prstGeom>
          <a:solidFill>
            <a:srgbClr val="000000"/>
          </a:solidFill>
          <a:ln/>
        </p:spPr>
      </p:sp>
      <p:sp>
        <p:nvSpPr>
          <p:cNvPr id="9" name="Shape 7"/>
          <p:cNvSpPr/>
          <p:nvPr/>
        </p:nvSpPr>
        <p:spPr>
          <a:xfrm>
            <a:off x="731520" y="1463040"/>
            <a:ext cx="10820095" cy="1188720"/>
          </a:xfrm>
          <a:prstGeom prst="roundRect">
            <a:avLst>
              <a:gd name="adj" fmla="val 6154"/>
            </a:avLst>
          </a:prstGeom>
          <a:solidFill>
            <a:srgbClr val="111D38"/>
          </a:solidFill>
          <a:ln/>
        </p:spPr>
      </p:sp>
      <p:sp>
        <p:nvSpPr>
          <p:cNvPr id="10" name="Shape 8"/>
          <p:cNvSpPr/>
          <p:nvPr/>
        </p:nvSpPr>
        <p:spPr>
          <a:xfrm>
            <a:off x="731520" y="1517904"/>
            <a:ext cx="45720" cy="1078992"/>
          </a:xfrm>
          <a:prstGeom prst="rect">
            <a:avLst>
              <a:gd name="adj" fmla="val 60000"/>
            </a:avLst>
          </a:prstGeom>
          <a:solidFill>
            <a:srgbClr val="3B82F6"/>
          </a:solidFill>
          <a:ln/>
        </p:spPr>
      </p:sp>
      <p:sp>
        <p:nvSpPr>
          <p:cNvPr id="11" name="Shape 9"/>
          <p:cNvSpPr/>
          <p:nvPr/>
        </p:nvSpPr>
        <p:spPr>
          <a:xfrm>
            <a:off x="932688" y="1901952"/>
            <a:ext cx="310896" cy="310896"/>
          </a:xfrm>
          <a:prstGeom prst="roundRect">
            <a:avLst>
              <a:gd name="adj" fmla="val 17647"/>
            </a:avLst>
          </a:prstGeom>
          <a:solidFill>
            <a:srgbClr val="3B82F6"/>
          </a:solidFill>
          <a:ln/>
        </p:spPr>
      </p:sp>
      <p:sp>
        <p:nvSpPr>
          <p:cNvPr id="12" name="Text 10"/>
          <p:cNvSpPr/>
          <p:nvPr/>
        </p:nvSpPr>
        <p:spPr>
          <a:xfrm>
            <a:off x="932688" y="1901952"/>
            <a:ext cx="310896" cy="310896"/>
          </a:xfrm>
          <a:prstGeom prst="rect">
            <a:avLst/>
          </a:prstGeom>
          <a:noFill/>
          <a:ln/>
        </p:spPr>
        <p:txBody>
          <a:bodyPr wrap="square" rtlCol="0" anchor="ctr"/>
          <a:lstStyle/>
          <a:p>
            <a:pPr algn="ctr" indent="0" marL="0">
              <a:buNone/>
            </a:pPr>
            <a:r>
              <a:rPr lang="en-US" sz="1300" dirty="0">
                <a:solidFill>
                  <a:srgbClr val="3B82F6"/>
                </a:solidFill>
                <a:latin typeface="Open Sans" pitchFamily="34" charset="0"/>
                <a:ea typeface="Open Sans" pitchFamily="34" charset="-122"/>
                <a:cs typeface="Open Sans" pitchFamily="34" charset="-120"/>
              </a:rPr>
              <a:t>●</a:t>
            </a:r>
            <a:endParaRPr lang="en-US" sz="1300" dirty="0"/>
          </a:p>
        </p:txBody>
      </p:sp>
      <p:sp>
        <p:nvSpPr>
          <p:cNvPr id="13" name="Text 11"/>
          <p:cNvSpPr/>
          <p:nvPr/>
        </p:nvSpPr>
        <p:spPr>
          <a:xfrm>
            <a:off x="1325880" y="1517904"/>
            <a:ext cx="1463040" cy="237744"/>
          </a:xfrm>
          <a:prstGeom prst="rect">
            <a:avLst/>
          </a:prstGeom>
          <a:noFill/>
          <a:ln/>
        </p:spPr>
        <p:txBody>
          <a:bodyPr wrap="square" rtlCol="0" anchor="ctr"/>
          <a:lstStyle/>
          <a:p>
            <a:pPr indent="0" marL="0">
              <a:buNone/>
            </a:pPr>
            <a:r>
              <a:rPr lang="en-US" sz="900" b="1" spc="300" kern="0" dirty="0">
                <a:solidFill>
                  <a:srgbClr val="3B82F6"/>
                </a:solidFill>
                <a:latin typeface="Montserrat" pitchFamily="34" charset="0"/>
                <a:ea typeface="Montserrat" pitchFamily="34" charset="-122"/>
                <a:cs typeface="Montserrat" pitchFamily="34" charset="-120"/>
              </a:rPr>
              <a:t>LANDBOT</a:t>
            </a:r>
            <a:endParaRPr lang="en-US" sz="900" dirty="0"/>
          </a:p>
        </p:txBody>
      </p:sp>
      <p:sp>
        <p:nvSpPr>
          <p:cNvPr id="14" name="Text 12"/>
          <p:cNvSpPr/>
          <p:nvPr/>
        </p:nvSpPr>
        <p:spPr>
          <a:xfrm>
            <a:off x="1325880" y="1737360"/>
            <a:ext cx="9997135" cy="841248"/>
          </a:xfrm>
          <a:prstGeom prst="rect">
            <a:avLst/>
          </a:prstGeom>
          <a:noFill/>
          <a:ln/>
        </p:spPr>
        <p:txBody>
          <a:bodyPr wrap="square" rtlCol="0" anchor="t"/>
          <a:lstStyle/>
          <a:p>
            <a:pPr indent="0" marL="0">
              <a:lnSpc>
                <a:spcPct val="122000"/>
              </a:lnSpc>
              <a:buNone/>
            </a:pPr>
            <a:r>
              <a:rPr lang="en-US" sz="1700" dirty="0">
                <a:solidFill>
                  <a:srgbClr val="94A3C0"/>
                </a:solidFill>
                <a:latin typeface="Open Sans" pitchFamily="34" charset="0"/>
                <a:ea typeface="Open Sans" pitchFamily="34" charset="-122"/>
                <a:cs typeface="Open Sans" pitchFamily="34" charset="-120"/>
              </a:rPr>
              <a:t>Desenvolve chatbots interativos para web e WhatsApp com interface visual.</a:t>
            </a:r>
            <a:endParaRPr lang="en-US" sz="1700" dirty="0"/>
          </a:p>
        </p:txBody>
      </p:sp>
      <p:sp>
        <p:nvSpPr>
          <p:cNvPr id="15" name="Shape 13"/>
          <p:cNvSpPr/>
          <p:nvPr/>
        </p:nvSpPr>
        <p:spPr>
          <a:xfrm>
            <a:off x="0" y="6601968"/>
            <a:ext cx="2041093" cy="4572"/>
          </a:xfrm>
          <a:prstGeom prst="rect">
            <a:avLst/>
          </a:prstGeom>
          <a:solidFill>
            <a:srgbClr val="6C63FF"/>
          </a:solidFill>
          <a:ln/>
        </p:spPr>
      </p:sp>
      <p:sp>
        <p:nvSpPr>
          <p:cNvPr id="16" name="Shape 14"/>
          <p:cNvSpPr/>
          <p:nvPr/>
        </p:nvSpPr>
        <p:spPr>
          <a:xfrm>
            <a:off x="2031949" y="6601968"/>
            <a:ext cx="2041093" cy="4572"/>
          </a:xfrm>
          <a:prstGeom prst="rect">
            <a:avLst/>
          </a:prstGeom>
          <a:solidFill>
            <a:srgbClr val="6C63FF"/>
          </a:solidFill>
          <a:ln/>
        </p:spPr>
      </p:sp>
      <p:sp>
        <p:nvSpPr>
          <p:cNvPr id="17" name="Shape 15"/>
          <p:cNvSpPr/>
          <p:nvPr/>
        </p:nvSpPr>
        <p:spPr>
          <a:xfrm>
            <a:off x="4063898" y="6601968"/>
            <a:ext cx="2041093" cy="4572"/>
          </a:xfrm>
          <a:prstGeom prst="rect">
            <a:avLst/>
          </a:prstGeom>
          <a:solidFill>
            <a:srgbClr val="6C63FF"/>
          </a:solidFill>
          <a:ln/>
        </p:spPr>
      </p:sp>
      <p:sp>
        <p:nvSpPr>
          <p:cNvPr id="18" name="Shape 16"/>
          <p:cNvSpPr/>
          <p:nvPr/>
        </p:nvSpPr>
        <p:spPr>
          <a:xfrm>
            <a:off x="6095848" y="6601968"/>
            <a:ext cx="2041093" cy="4572"/>
          </a:xfrm>
          <a:prstGeom prst="rect">
            <a:avLst/>
          </a:prstGeom>
          <a:solidFill>
            <a:srgbClr val="6C63FF"/>
          </a:solidFill>
          <a:ln/>
        </p:spPr>
      </p:sp>
      <p:sp>
        <p:nvSpPr>
          <p:cNvPr id="19" name="Shape 17"/>
          <p:cNvSpPr/>
          <p:nvPr/>
        </p:nvSpPr>
        <p:spPr>
          <a:xfrm>
            <a:off x="8127797" y="6601968"/>
            <a:ext cx="2041093" cy="4572"/>
          </a:xfrm>
          <a:prstGeom prst="rect">
            <a:avLst/>
          </a:prstGeom>
          <a:solidFill>
            <a:srgbClr val="6C63FF"/>
          </a:solidFill>
          <a:ln/>
        </p:spPr>
      </p:sp>
      <p:sp>
        <p:nvSpPr>
          <p:cNvPr id="20" name="Shape 18"/>
          <p:cNvSpPr/>
          <p:nvPr/>
        </p:nvSpPr>
        <p:spPr>
          <a:xfrm>
            <a:off x="10159746" y="6601968"/>
            <a:ext cx="2041093" cy="4572"/>
          </a:xfrm>
          <a:prstGeom prst="rect">
            <a:avLst/>
          </a:prstGeom>
          <a:solidFill>
            <a:srgbClr val="6C63FF"/>
          </a:solidFill>
          <a:ln/>
        </p:spPr>
      </p:sp>
      <p:sp>
        <p:nvSpPr>
          <p:cNvPr id="21" name="Shape 19"/>
          <p:cNvSpPr/>
          <p:nvPr/>
        </p:nvSpPr>
        <p:spPr>
          <a:xfrm>
            <a:off x="0" y="6606540"/>
            <a:ext cx="12191695" cy="2743"/>
          </a:xfrm>
          <a:prstGeom prst="rect">
            <a:avLst/>
          </a:prstGeom>
          <a:solidFill>
            <a:srgbClr val="222E48"/>
          </a:solidFill>
          <a:ln/>
        </p:spPr>
      </p:sp>
      <p:sp>
        <p:nvSpPr>
          <p:cNvPr id="22" name="Text 20"/>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23" name="Shape 21"/>
          <p:cNvSpPr/>
          <p:nvPr/>
        </p:nvSpPr>
        <p:spPr>
          <a:xfrm>
            <a:off x="10436047" y="6693408"/>
            <a:ext cx="73152" cy="73152"/>
          </a:xfrm>
          <a:prstGeom prst="ellipse">
            <a:avLst/>
          </a:prstGeom>
          <a:solidFill>
            <a:srgbClr val="6C63FF"/>
          </a:solidFill>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Shape 1"/>
          <p:cNvSpPr/>
          <p:nvPr/>
        </p:nvSpPr>
        <p:spPr>
          <a:xfrm>
            <a:off x="64008" y="0"/>
            <a:ext cx="18288" cy="6858000"/>
          </a:xfrm>
          <a:prstGeom prst="rect">
            <a:avLst/>
          </a:prstGeom>
          <a:solidFill>
            <a:srgbClr val="10B981"/>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10B981"/>
                </a:solidFill>
                <a:latin typeface="Open Sans" pitchFamily="34" charset="0"/>
                <a:ea typeface="Open Sans" pitchFamily="34" charset="-122"/>
                <a:cs typeface="Open Sans" pitchFamily="34" charset="-120"/>
              </a:rPr>
              <a:t>EXEMPLO PRÁTICO</a:t>
            </a:r>
            <a:endParaRPr lang="en-US" sz="900" dirty="0"/>
          </a:p>
        </p:txBody>
      </p:sp>
      <p:sp>
        <p:nvSpPr>
          <p:cNvPr id="5" name="Shape 3"/>
          <p:cNvSpPr/>
          <p:nvPr/>
        </p:nvSpPr>
        <p:spPr>
          <a:xfrm>
            <a:off x="502920" y="493776"/>
            <a:ext cx="640080" cy="21946"/>
          </a:xfrm>
          <a:prstGeom prst="rect">
            <a:avLst/>
          </a:prstGeom>
          <a:solidFill>
            <a:srgbClr val="10B981"/>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Exemplo prático (Parte 4)</a:t>
            </a:r>
            <a:endParaRPr lang="en-US" sz="2800" dirty="0"/>
          </a:p>
        </p:txBody>
      </p:sp>
      <p:sp>
        <p:nvSpPr>
          <p:cNvPr id="7" name="Shape 5"/>
          <p:cNvSpPr/>
          <p:nvPr/>
        </p:nvSpPr>
        <p:spPr>
          <a:xfrm>
            <a:off x="502920" y="1389888"/>
            <a:ext cx="11185855" cy="7315"/>
          </a:xfrm>
          <a:prstGeom prst="rect">
            <a:avLst/>
          </a:prstGeom>
          <a:solidFill>
            <a:srgbClr val="10B981"/>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621792" y="1545336"/>
            <a:ext cx="11094415" cy="1152144"/>
          </a:xfrm>
          <a:prstGeom prst="roundRect">
            <a:avLst>
              <a:gd name="adj" fmla="val 7937"/>
            </a:avLst>
          </a:prstGeom>
          <a:solidFill>
            <a:srgbClr val="000000"/>
          </a:solidFill>
          <a:ln/>
        </p:spPr>
      </p:sp>
      <p:sp>
        <p:nvSpPr>
          <p:cNvPr id="10" name="Shape 8"/>
          <p:cNvSpPr/>
          <p:nvPr/>
        </p:nvSpPr>
        <p:spPr>
          <a:xfrm>
            <a:off x="594360" y="1508760"/>
            <a:ext cx="11094415" cy="1152144"/>
          </a:xfrm>
          <a:prstGeom prst="roundRect">
            <a:avLst>
              <a:gd name="adj" fmla="val 6349"/>
            </a:avLst>
          </a:prstGeom>
          <a:solidFill>
            <a:srgbClr val="141E34"/>
          </a:solidFill>
          <a:ln w="3810">
            <a:solidFill>
              <a:srgbClr val="222E48"/>
            </a:solidFill>
            <a:prstDash val="solid"/>
          </a:ln>
        </p:spPr>
      </p:sp>
      <p:sp>
        <p:nvSpPr>
          <p:cNvPr id="11" name="Shape 9"/>
          <p:cNvSpPr/>
          <p:nvPr/>
        </p:nvSpPr>
        <p:spPr>
          <a:xfrm>
            <a:off x="594360" y="1508760"/>
            <a:ext cx="54864" cy="1152144"/>
          </a:xfrm>
          <a:prstGeom prst="rect">
            <a:avLst>
              <a:gd name="adj" fmla="val 133333"/>
            </a:avLst>
          </a:prstGeom>
          <a:solidFill>
            <a:srgbClr val="6C63FF"/>
          </a:solidFill>
          <a:ln/>
        </p:spPr>
      </p:sp>
      <p:sp>
        <p:nvSpPr>
          <p:cNvPr id="12" name="Shape 10"/>
          <p:cNvSpPr/>
          <p:nvPr/>
        </p:nvSpPr>
        <p:spPr>
          <a:xfrm>
            <a:off x="758952" y="1920240"/>
            <a:ext cx="329184" cy="329184"/>
          </a:xfrm>
          <a:prstGeom prst="roundRect">
            <a:avLst>
              <a:gd name="adj" fmla="val 16667"/>
            </a:avLst>
          </a:prstGeom>
          <a:solidFill>
            <a:srgbClr val="6C63FF"/>
          </a:solidFill>
          <a:ln/>
        </p:spPr>
      </p:sp>
      <p:sp>
        <p:nvSpPr>
          <p:cNvPr id="13" name="Text 11"/>
          <p:cNvSpPr/>
          <p:nvPr/>
        </p:nvSpPr>
        <p:spPr>
          <a:xfrm>
            <a:off x="758952" y="1920240"/>
            <a:ext cx="329184" cy="329184"/>
          </a:xfrm>
          <a:prstGeom prst="rect">
            <a:avLst/>
          </a:prstGeom>
          <a:noFill/>
          <a:ln/>
        </p:spPr>
        <p:txBody>
          <a:bodyPr wrap="square"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14" name="Text 12"/>
          <p:cNvSpPr/>
          <p:nvPr/>
        </p:nvSpPr>
        <p:spPr>
          <a:xfrm>
            <a:off x="1216152" y="1536192"/>
            <a:ext cx="10381183" cy="1097280"/>
          </a:xfrm>
          <a:prstGeom prst="rect">
            <a:avLst/>
          </a:prstGeom>
          <a:noFill/>
          <a:ln/>
        </p:spPr>
        <p:txBody>
          <a:bodyPr wrap="square" rtlCol="0" anchor="ctr"/>
          <a:lstStyle/>
          <a:p>
            <a:pPr indent="0" marL="0">
              <a:lnSpc>
                <a:spcPct val="118000"/>
              </a:lnSpc>
              <a:buNone/>
            </a:pPr>
            <a:r>
              <a:rPr lang="en-US" sz="1600" dirty="0">
                <a:solidFill>
                  <a:srgbClr val="E8EDF5"/>
                </a:solidFill>
                <a:latin typeface="Open Sans" pitchFamily="34" charset="0"/>
                <a:ea typeface="Open Sans" pitchFamily="34" charset="-122"/>
                <a:cs typeface="Open Sans" pitchFamily="34" charset="-120"/>
              </a:rPr>
              <a:t>Critérios Aplicados: Botsify: Cria chatbots para sites, Facebook Messenger e WhatsApp via arrastar e soltar.</a:t>
            </a:r>
            <a:endParaRPr lang="en-US" sz="1600" dirty="0"/>
          </a:p>
        </p:txBody>
      </p:sp>
      <p:sp>
        <p:nvSpPr>
          <p:cNvPr id="15" name="Shape 13"/>
          <p:cNvSpPr/>
          <p:nvPr/>
        </p:nvSpPr>
        <p:spPr>
          <a:xfrm>
            <a:off x="0" y="6601968"/>
            <a:ext cx="2041093" cy="4572"/>
          </a:xfrm>
          <a:prstGeom prst="rect">
            <a:avLst/>
          </a:prstGeom>
          <a:solidFill>
            <a:srgbClr val="6C63FF"/>
          </a:solidFill>
          <a:ln/>
        </p:spPr>
      </p:sp>
      <p:sp>
        <p:nvSpPr>
          <p:cNvPr id="16" name="Shape 14"/>
          <p:cNvSpPr/>
          <p:nvPr/>
        </p:nvSpPr>
        <p:spPr>
          <a:xfrm>
            <a:off x="2031949" y="6601968"/>
            <a:ext cx="2041093" cy="4572"/>
          </a:xfrm>
          <a:prstGeom prst="rect">
            <a:avLst/>
          </a:prstGeom>
          <a:solidFill>
            <a:srgbClr val="6C63FF"/>
          </a:solidFill>
          <a:ln/>
        </p:spPr>
      </p:sp>
      <p:sp>
        <p:nvSpPr>
          <p:cNvPr id="17" name="Shape 15"/>
          <p:cNvSpPr/>
          <p:nvPr/>
        </p:nvSpPr>
        <p:spPr>
          <a:xfrm>
            <a:off x="4063898" y="6601968"/>
            <a:ext cx="2041093" cy="4572"/>
          </a:xfrm>
          <a:prstGeom prst="rect">
            <a:avLst/>
          </a:prstGeom>
          <a:solidFill>
            <a:srgbClr val="6C63FF"/>
          </a:solidFill>
          <a:ln/>
        </p:spPr>
      </p:sp>
      <p:sp>
        <p:nvSpPr>
          <p:cNvPr id="18" name="Shape 16"/>
          <p:cNvSpPr/>
          <p:nvPr/>
        </p:nvSpPr>
        <p:spPr>
          <a:xfrm>
            <a:off x="6095848" y="6601968"/>
            <a:ext cx="2041093" cy="4572"/>
          </a:xfrm>
          <a:prstGeom prst="rect">
            <a:avLst/>
          </a:prstGeom>
          <a:solidFill>
            <a:srgbClr val="6C63FF"/>
          </a:solidFill>
          <a:ln/>
        </p:spPr>
      </p:sp>
      <p:sp>
        <p:nvSpPr>
          <p:cNvPr id="19" name="Shape 17"/>
          <p:cNvSpPr/>
          <p:nvPr/>
        </p:nvSpPr>
        <p:spPr>
          <a:xfrm>
            <a:off x="8127797" y="6601968"/>
            <a:ext cx="2041093" cy="4572"/>
          </a:xfrm>
          <a:prstGeom prst="rect">
            <a:avLst/>
          </a:prstGeom>
          <a:solidFill>
            <a:srgbClr val="6C63FF"/>
          </a:solidFill>
          <a:ln/>
        </p:spPr>
      </p:sp>
      <p:sp>
        <p:nvSpPr>
          <p:cNvPr id="20" name="Shape 18"/>
          <p:cNvSpPr/>
          <p:nvPr/>
        </p:nvSpPr>
        <p:spPr>
          <a:xfrm>
            <a:off x="10159746" y="6601968"/>
            <a:ext cx="2041093" cy="4572"/>
          </a:xfrm>
          <a:prstGeom prst="rect">
            <a:avLst/>
          </a:prstGeom>
          <a:solidFill>
            <a:srgbClr val="6C63FF"/>
          </a:solidFill>
          <a:ln/>
        </p:spPr>
      </p:sp>
      <p:sp>
        <p:nvSpPr>
          <p:cNvPr id="21" name="Shape 19"/>
          <p:cNvSpPr/>
          <p:nvPr/>
        </p:nvSpPr>
        <p:spPr>
          <a:xfrm>
            <a:off x="0" y="6606540"/>
            <a:ext cx="12191695" cy="2743"/>
          </a:xfrm>
          <a:prstGeom prst="rect">
            <a:avLst/>
          </a:prstGeom>
          <a:solidFill>
            <a:srgbClr val="222E48"/>
          </a:solidFill>
          <a:ln/>
        </p:spPr>
      </p:sp>
      <p:sp>
        <p:nvSpPr>
          <p:cNvPr id="22" name="Text 20"/>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23" name="Shape 21"/>
          <p:cNvSpPr/>
          <p:nvPr/>
        </p:nvSpPr>
        <p:spPr>
          <a:xfrm>
            <a:off x="10436047" y="6693408"/>
            <a:ext cx="73152" cy="73152"/>
          </a:xfrm>
          <a:prstGeom prst="ellipse">
            <a:avLst/>
          </a:prstGeom>
          <a:solidFill>
            <a:srgbClr val="6C63FF"/>
          </a:solidFill>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F59E0B"/>
          </a:solidFill>
          <a:ln/>
        </p:spPr>
      </p:sp>
      <p:sp>
        <p:nvSpPr>
          <p:cNvPr id="3" name="Shape 1"/>
          <p:cNvSpPr/>
          <p:nvPr/>
        </p:nvSpPr>
        <p:spPr>
          <a:xfrm>
            <a:off x="64008" y="0"/>
            <a:ext cx="18288" cy="6858000"/>
          </a:xfrm>
          <a:prstGeom prst="rect">
            <a:avLst/>
          </a:prstGeom>
          <a:solidFill>
            <a:srgbClr val="F59E0B"/>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F59E0B"/>
                </a:solidFill>
                <a:latin typeface="Open Sans" pitchFamily="34" charset="0"/>
                <a:ea typeface="Open Sans" pitchFamily="34" charset="-122"/>
                <a:cs typeface="Open Sans" pitchFamily="34" charset="-120"/>
              </a:rPr>
              <a:t>APLICAÇÕES REAIS</a:t>
            </a:r>
            <a:endParaRPr lang="en-US" sz="900" dirty="0"/>
          </a:p>
        </p:txBody>
      </p:sp>
      <p:sp>
        <p:nvSpPr>
          <p:cNvPr id="5" name="Shape 3"/>
          <p:cNvSpPr/>
          <p:nvPr/>
        </p:nvSpPr>
        <p:spPr>
          <a:xfrm>
            <a:off x="502920" y="493776"/>
            <a:ext cx="640080" cy="21946"/>
          </a:xfrm>
          <a:prstGeom prst="rect">
            <a:avLst/>
          </a:prstGeom>
          <a:solidFill>
            <a:srgbClr val="F59E0B"/>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Aplicações reais</a:t>
            </a:r>
            <a:endParaRPr lang="en-US" sz="2800" dirty="0"/>
          </a:p>
        </p:txBody>
      </p:sp>
      <p:sp>
        <p:nvSpPr>
          <p:cNvPr id="7" name="Shape 5"/>
          <p:cNvSpPr/>
          <p:nvPr/>
        </p:nvSpPr>
        <p:spPr>
          <a:xfrm>
            <a:off x="502920" y="1389888"/>
            <a:ext cx="11185855" cy="7315"/>
          </a:xfrm>
          <a:prstGeom prst="rect">
            <a:avLst/>
          </a:prstGeom>
          <a:solidFill>
            <a:srgbClr val="F59E0B"/>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621792" y="1572768"/>
            <a:ext cx="3603650" cy="1527048"/>
          </a:xfrm>
          <a:prstGeom prst="roundRect">
            <a:avLst>
              <a:gd name="adj" fmla="val 5988"/>
            </a:avLst>
          </a:prstGeom>
          <a:solidFill>
            <a:srgbClr val="000000"/>
          </a:solidFill>
          <a:ln/>
        </p:spPr>
      </p:sp>
      <p:sp>
        <p:nvSpPr>
          <p:cNvPr id="10" name="Shape 8"/>
          <p:cNvSpPr/>
          <p:nvPr/>
        </p:nvSpPr>
        <p:spPr>
          <a:xfrm>
            <a:off x="594360" y="1536192"/>
            <a:ext cx="3603650" cy="1527048"/>
          </a:xfrm>
          <a:prstGeom prst="roundRect">
            <a:avLst>
              <a:gd name="adj" fmla="val 5988"/>
            </a:avLst>
          </a:prstGeom>
          <a:solidFill>
            <a:srgbClr val="141E34"/>
          </a:solidFill>
          <a:ln/>
        </p:spPr>
      </p:sp>
      <p:sp>
        <p:nvSpPr>
          <p:cNvPr id="11" name="Shape 9"/>
          <p:cNvSpPr/>
          <p:nvPr/>
        </p:nvSpPr>
        <p:spPr>
          <a:xfrm>
            <a:off x="594360" y="1536192"/>
            <a:ext cx="3603650" cy="45720"/>
          </a:xfrm>
          <a:prstGeom prst="rect">
            <a:avLst>
              <a:gd name="adj" fmla="val 200000"/>
            </a:avLst>
          </a:prstGeom>
          <a:solidFill>
            <a:srgbClr val="6C63FF"/>
          </a:solidFill>
          <a:ln/>
        </p:spPr>
      </p:sp>
      <p:sp>
        <p:nvSpPr>
          <p:cNvPr id="12" name="Text 10"/>
          <p:cNvSpPr/>
          <p:nvPr/>
        </p:nvSpPr>
        <p:spPr>
          <a:xfrm>
            <a:off x="3603650" y="1627632"/>
            <a:ext cx="502920" cy="365760"/>
          </a:xfrm>
          <a:prstGeom prst="rect">
            <a:avLst/>
          </a:prstGeom>
          <a:noFill/>
          <a:ln/>
        </p:spPr>
        <p:txBody>
          <a:bodyPr wrap="square" rtlCol="0" anchor="ctr"/>
          <a:lstStyle/>
          <a:p>
            <a:pPr algn="r" indent="0" marL="0">
              <a:buNone/>
            </a:pPr>
            <a:r>
              <a:rPr lang="en-US" sz="2400" b="1" dirty="0">
                <a:solidFill>
                  <a:srgbClr val="6C63FF">
                    <a:alpha val="75000"/>
                  </a:srgbClr>
                </a:solidFill>
                <a:latin typeface="Montserrat" pitchFamily="34" charset="0"/>
                <a:ea typeface="Montserrat" pitchFamily="34" charset="-122"/>
                <a:cs typeface="Montserrat" pitchFamily="34" charset="-120"/>
              </a:rPr>
              <a:t>01</a:t>
            </a:r>
            <a:endParaRPr lang="en-US" sz="2400" dirty="0"/>
          </a:p>
        </p:txBody>
      </p:sp>
      <p:sp>
        <p:nvSpPr>
          <p:cNvPr id="13" name="Text 11"/>
          <p:cNvSpPr/>
          <p:nvPr/>
        </p:nvSpPr>
        <p:spPr>
          <a:xfrm>
            <a:off x="722376" y="1682496"/>
            <a:ext cx="2835554" cy="1252728"/>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A IA No-Code já está transformando diversas profissões.</a:t>
            </a:r>
            <a:endParaRPr lang="en-US" sz="1300" dirty="0"/>
          </a:p>
        </p:txBody>
      </p:sp>
      <p:sp>
        <p:nvSpPr>
          <p:cNvPr id="14" name="Shape 12"/>
          <p:cNvSpPr/>
          <p:nvPr/>
        </p:nvSpPr>
        <p:spPr>
          <a:xfrm>
            <a:off x="4390034" y="1572768"/>
            <a:ext cx="3603650" cy="1527048"/>
          </a:xfrm>
          <a:prstGeom prst="roundRect">
            <a:avLst>
              <a:gd name="adj" fmla="val 5988"/>
            </a:avLst>
          </a:prstGeom>
          <a:solidFill>
            <a:srgbClr val="000000"/>
          </a:solidFill>
          <a:ln/>
        </p:spPr>
      </p:sp>
      <p:sp>
        <p:nvSpPr>
          <p:cNvPr id="15" name="Shape 13"/>
          <p:cNvSpPr/>
          <p:nvPr/>
        </p:nvSpPr>
        <p:spPr>
          <a:xfrm>
            <a:off x="4362602" y="1536192"/>
            <a:ext cx="3603650" cy="1527048"/>
          </a:xfrm>
          <a:prstGeom prst="roundRect">
            <a:avLst>
              <a:gd name="adj" fmla="val 5988"/>
            </a:avLst>
          </a:prstGeom>
          <a:solidFill>
            <a:srgbClr val="141E34"/>
          </a:solidFill>
          <a:ln/>
        </p:spPr>
      </p:sp>
      <p:sp>
        <p:nvSpPr>
          <p:cNvPr id="16" name="Shape 14"/>
          <p:cNvSpPr/>
          <p:nvPr/>
        </p:nvSpPr>
        <p:spPr>
          <a:xfrm>
            <a:off x="4362602" y="1536192"/>
            <a:ext cx="3603650" cy="45720"/>
          </a:xfrm>
          <a:prstGeom prst="rect">
            <a:avLst>
              <a:gd name="adj" fmla="val 200000"/>
            </a:avLst>
          </a:prstGeom>
          <a:solidFill>
            <a:srgbClr val="3B82F6"/>
          </a:solidFill>
          <a:ln/>
        </p:spPr>
      </p:sp>
      <p:sp>
        <p:nvSpPr>
          <p:cNvPr id="17" name="Shape 15"/>
          <p:cNvSpPr/>
          <p:nvPr/>
        </p:nvSpPr>
        <p:spPr>
          <a:xfrm>
            <a:off x="4472330" y="1700784"/>
            <a:ext cx="384048" cy="384048"/>
          </a:xfrm>
          <a:prstGeom prst="roundRect">
            <a:avLst>
              <a:gd name="adj" fmla="val 19048"/>
            </a:avLst>
          </a:prstGeom>
          <a:solidFill>
            <a:srgbClr val="3B82F6"/>
          </a:solidFill>
          <a:ln/>
        </p:spPr>
      </p:sp>
      <p:sp>
        <p:nvSpPr>
          <p:cNvPr id="18" name="Text 16"/>
          <p:cNvSpPr/>
          <p:nvPr/>
        </p:nvSpPr>
        <p:spPr>
          <a:xfrm>
            <a:off x="4472330" y="1700784"/>
            <a:ext cx="384048" cy="384048"/>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sp>
        <p:nvSpPr>
          <p:cNvPr id="19" name="Text 17"/>
          <p:cNvSpPr/>
          <p:nvPr/>
        </p:nvSpPr>
        <p:spPr>
          <a:xfrm>
            <a:off x="4947818" y="1664208"/>
            <a:ext cx="2890418" cy="457200"/>
          </a:xfrm>
          <a:prstGeom prst="rect">
            <a:avLst/>
          </a:prstGeom>
          <a:noFill/>
          <a:ln/>
        </p:spPr>
        <p:txBody>
          <a:bodyPr wrap="square" rtlCol="0" anchor="ctr"/>
          <a:lstStyle/>
          <a:p>
            <a:pPr indent="0" marL="0">
              <a:buNone/>
            </a:pPr>
            <a:r>
              <a:rPr lang="en-US" sz="1500" b="1" dirty="0">
                <a:solidFill>
                  <a:srgbClr val="3B82F6"/>
                </a:solidFill>
                <a:latin typeface="Montserrat" pitchFamily="34" charset="0"/>
                <a:ea typeface="Montserrat" pitchFamily="34" charset="-122"/>
                <a:cs typeface="Montserrat" pitchFamily="34" charset="-120"/>
              </a:rPr>
              <a:t>Marketing</a:t>
            </a:r>
            <a:endParaRPr lang="en-US" sz="1500" dirty="0"/>
          </a:p>
        </p:txBody>
      </p:sp>
      <p:sp>
        <p:nvSpPr>
          <p:cNvPr id="20" name="Shape 18"/>
          <p:cNvSpPr/>
          <p:nvPr/>
        </p:nvSpPr>
        <p:spPr>
          <a:xfrm>
            <a:off x="4472330" y="2176272"/>
            <a:ext cx="3384194" cy="3658"/>
          </a:xfrm>
          <a:prstGeom prst="rect">
            <a:avLst/>
          </a:prstGeom>
          <a:solidFill>
            <a:srgbClr val="222E48"/>
          </a:solidFill>
          <a:ln/>
        </p:spPr>
      </p:sp>
      <p:sp>
        <p:nvSpPr>
          <p:cNvPr id="21" name="Text 19"/>
          <p:cNvSpPr/>
          <p:nvPr/>
        </p:nvSpPr>
        <p:spPr>
          <a:xfrm>
            <a:off x="4490618" y="2231136"/>
            <a:ext cx="3347618" cy="704088"/>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Gerar múltiplas versões de títulos para anúncios em segundos com o Copy.ai.</a:t>
            </a:r>
            <a:endParaRPr lang="en-US" sz="1300" dirty="0"/>
          </a:p>
        </p:txBody>
      </p:sp>
      <p:sp>
        <p:nvSpPr>
          <p:cNvPr id="22" name="Shape 20"/>
          <p:cNvSpPr/>
          <p:nvPr/>
        </p:nvSpPr>
        <p:spPr>
          <a:xfrm>
            <a:off x="8158277" y="1572768"/>
            <a:ext cx="3603650" cy="1527048"/>
          </a:xfrm>
          <a:prstGeom prst="roundRect">
            <a:avLst>
              <a:gd name="adj" fmla="val 5988"/>
            </a:avLst>
          </a:prstGeom>
          <a:solidFill>
            <a:srgbClr val="000000"/>
          </a:solidFill>
          <a:ln/>
        </p:spPr>
      </p:sp>
      <p:sp>
        <p:nvSpPr>
          <p:cNvPr id="23" name="Shape 21"/>
          <p:cNvSpPr/>
          <p:nvPr/>
        </p:nvSpPr>
        <p:spPr>
          <a:xfrm>
            <a:off x="8130845" y="1536192"/>
            <a:ext cx="3603650" cy="1527048"/>
          </a:xfrm>
          <a:prstGeom prst="roundRect">
            <a:avLst>
              <a:gd name="adj" fmla="val 5988"/>
            </a:avLst>
          </a:prstGeom>
          <a:solidFill>
            <a:srgbClr val="141E34"/>
          </a:solidFill>
          <a:ln/>
        </p:spPr>
      </p:sp>
      <p:sp>
        <p:nvSpPr>
          <p:cNvPr id="24" name="Shape 22"/>
          <p:cNvSpPr/>
          <p:nvPr/>
        </p:nvSpPr>
        <p:spPr>
          <a:xfrm>
            <a:off x="8130845" y="1536192"/>
            <a:ext cx="3603650" cy="45720"/>
          </a:xfrm>
          <a:prstGeom prst="rect">
            <a:avLst>
              <a:gd name="adj" fmla="val 200000"/>
            </a:avLst>
          </a:prstGeom>
          <a:solidFill>
            <a:srgbClr val="10B981"/>
          </a:solidFill>
          <a:ln/>
        </p:spPr>
      </p:sp>
      <p:sp>
        <p:nvSpPr>
          <p:cNvPr id="25" name="Shape 23"/>
          <p:cNvSpPr/>
          <p:nvPr/>
        </p:nvSpPr>
        <p:spPr>
          <a:xfrm>
            <a:off x="8240573" y="1700784"/>
            <a:ext cx="384048" cy="384048"/>
          </a:xfrm>
          <a:prstGeom prst="roundRect">
            <a:avLst>
              <a:gd name="adj" fmla="val 19048"/>
            </a:avLst>
          </a:prstGeom>
          <a:solidFill>
            <a:srgbClr val="10B981"/>
          </a:solidFill>
          <a:ln/>
        </p:spPr>
      </p:sp>
      <p:sp>
        <p:nvSpPr>
          <p:cNvPr id="26" name="Text 24"/>
          <p:cNvSpPr/>
          <p:nvPr/>
        </p:nvSpPr>
        <p:spPr>
          <a:xfrm>
            <a:off x="8240573" y="1700784"/>
            <a:ext cx="384048" cy="384048"/>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27" name="Text 25"/>
          <p:cNvSpPr/>
          <p:nvPr/>
        </p:nvSpPr>
        <p:spPr>
          <a:xfrm>
            <a:off x="8716061" y="1664208"/>
            <a:ext cx="2890418" cy="457200"/>
          </a:xfrm>
          <a:prstGeom prst="rect">
            <a:avLst/>
          </a:prstGeom>
          <a:noFill/>
          <a:ln/>
        </p:spPr>
        <p:txBody>
          <a:bodyPr wrap="square" rtlCol="0" anchor="ctr"/>
          <a:lstStyle/>
          <a:p>
            <a:pPr indent="0" marL="0">
              <a:buNone/>
            </a:pPr>
            <a:r>
              <a:rPr lang="en-US" sz="1500" b="1" dirty="0">
                <a:solidFill>
                  <a:srgbClr val="10B981"/>
                </a:solidFill>
                <a:latin typeface="Montserrat" pitchFamily="34" charset="0"/>
                <a:ea typeface="Montserrat" pitchFamily="34" charset="-122"/>
                <a:cs typeface="Montserrat" pitchFamily="34" charset="-120"/>
              </a:rPr>
              <a:t>Vendas</a:t>
            </a:r>
            <a:endParaRPr lang="en-US" sz="1500" dirty="0"/>
          </a:p>
        </p:txBody>
      </p:sp>
      <p:sp>
        <p:nvSpPr>
          <p:cNvPr id="28" name="Shape 26"/>
          <p:cNvSpPr/>
          <p:nvPr/>
        </p:nvSpPr>
        <p:spPr>
          <a:xfrm>
            <a:off x="8240573" y="2176272"/>
            <a:ext cx="3384194" cy="3658"/>
          </a:xfrm>
          <a:prstGeom prst="rect">
            <a:avLst/>
          </a:prstGeom>
          <a:solidFill>
            <a:srgbClr val="222E48"/>
          </a:solidFill>
          <a:ln/>
        </p:spPr>
      </p:sp>
      <p:sp>
        <p:nvSpPr>
          <p:cNvPr id="29" name="Text 27"/>
          <p:cNvSpPr/>
          <p:nvPr/>
        </p:nvSpPr>
        <p:spPr>
          <a:xfrm>
            <a:off x="8258861" y="2231136"/>
            <a:ext cx="3347618" cy="704088"/>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Utilizar chatbot para qualificar leads 24 horas por dia, agendando reuniões automaticamente.</a:t>
            </a:r>
            <a:endParaRPr lang="en-US" sz="1300" dirty="0"/>
          </a:p>
        </p:txBody>
      </p:sp>
      <p:sp>
        <p:nvSpPr>
          <p:cNvPr id="30" name="Shape 28"/>
          <p:cNvSpPr/>
          <p:nvPr/>
        </p:nvSpPr>
        <p:spPr>
          <a:xfrm>
            <a:off x="621792" y="3264408"/>
            <a:ext cx="3603650" cy="1527048"/>
          </a:xfrm>
          <a:prstGeom prst="roundRect">
            <a:avLst>
              <a:gd name="adj" fmla="val 5988"/>
            </a:avLst>
          </a:prstGeom>
          <a:solidFill>
            <a:srgbClr val="000000"/>
          </a:solidFill>
          <a:ln/>
        </p:spPr>
      </p:sp>
      <p:sp>
        <p:nvSpPr>
          <p:cNvPr id="31" name="Shape 29"/>
          <p:cNvSpPr/>
          <p:nvPr/>
        </p:nvSpPr>
        <p:spPr>
          <a:xfrm>
            <a:off x="594360" y="3227832"/>
            <a:ext cx="3603650" cy="1527048"/>
          </a:xfrm>
          <a:prstGeom prst="roundRect">
            <a:avLst>
              <a:gd name="adj" fmla="val 5988"/>
            </a:avLst>
          </a:prstGeom>
          <a:solidFill>
            <a:srgbClr val="141E34"/>
          </a:solidFill>
          <a:ln/>
        </p:spPr>
      </p:sp>
      <p:sp>
        <p:nvSpPr>
          <p:cNvPr id="32" name="Shape 30"/>
          <p:cNvSpPr/>
          <p:nvPr/>
        </p:nvSpPr>
        <p:spPr>
          <a:xfrm>
            <a:off x="594360" y="3227832"/>
            <a:ext cx="3603650" cy="45720"/>
          </a:xfrm>
          <a:prstGeom prst="rect">
            <a:avLst>
              <a:gd name="adj" fmla="val 200000"/>
            </a:avLst>
          </a:prstGeom>
          <a:solidFill>
            <a:srgbClr val="F59E0B"/>
          </a:solidFill>
          <a:ln/>
        </p:spPr>
      </p:sp>
      <p:sp>
        <p:nvSpPr>
          <p:cNvPr id="33" name="Shape 31"/>
          <p:cNvSpPr/>
          <p:nvPr/>
        </p:nvSpPr>
        <p:spPr>
          <a:xfrm>
            <a:off x="704088" y="3392424"/>
            <a:ext cx="384048" cy="384048"/>
          </a:xfrm>
          <a:prstGeom prst="roundRect">
            <a:avLst>
              <a:gd name="adj" fmla="val 19048"/>
            </a:avLst>
          </a:prstGeom>
          <a:solidFill>
            <a:srgbClr val="F59E0B"/>
          </a:solidFill>
          <a:ln/>
        </p:spPr>
      </p:sp>
      <p:sp>
        <p:nvSpPr>
          <p:cNvPr id="34" name="Text 32"/>
          <p:cNvSpPr/>
          <p:nvPr/>
        </p:nvSpPr>
        <p:spPr>
          <a:xfrm>
            <a:off x="704088" y="3392424"/>
            <a:ext cx="384048" cy="384048"/>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4</a:t>
            </a:r>
            <a:endParaRPr lang="en-US" sz="1600" dirty="0"/>
          </a:p>
        </p:txBody>
      </p:sp>
      <p:sp>
        <p:nvSpPr>
          <p:cNvPr id="35" name="Text 33"/>
          <p:cNvSpPr/>
          <p:nvPr/>
        </p:nvSpPr>
        <p:spPr>
          <a:xfrm>
            <a:off x="1179576" y="3355848"/>
            <a:ext cx="2890418" cy="457200"/>
          </a:xfrm>
          <a:prstGeom prst="rect">
            <a:avLst/>
          </a:prstGeom>
          <a:noFill/>
          <a:ln/>
        </p:spPr>
        <p:txBody>
          <a:bodyPr wrap="square" rtlCol="0" anchor="ctr"/>
          <a:lstStyle/>
          <a:p>
            <a:pPr indent="0" marL="0">
              <a:buNone/>
            </a:pPr>
            <a:r>
              <a:rPr lang="en-US" sz="1500" b="1" dirty="0">
                <a:solidFill>
                  <a:srgbClr val="F59E0B"/>
                </a:solidFill>
                <a:latin typeface="Montserrat" pitchFamily="34" charset="0"/>
                <a:ea typeface="Montserrat" pitchFamily="34" charset="-122"/>
                <a:cs typeface="Montserrat" pitchFamily="34" charset="-120"/>
              </a:rPr>
              <a:t>Recursos Humanos</a:t>
            </a:r>
            <a:endParaRPr lang="en-US" sz="1500" dirty="0"/>
          </a:p>
        </p:txBody>
      </p:sp>
      <p:sp>
        <p:nvSpPr>
          <p:cNvPr id="36" name="Shape 34"/>
          <p:cNvSpPr/>
          <p:nvPr/>
        </p:nvSpPr>
        <p:spPr>
          <a:xfrm>
            <a:off x="704088" y="3867912"/>
            <a:ext cx="3384194" cy="3658"/>
          </a:xfrm>
          <a:prstGeom prst="rect">
            <a:avLst/>
          </a:prstGeom>
          <a:solidFill>
            <a:srgbClr val="222E48"/>
          </a:solidFill>
          <a:ln/>
        </p:spPr>
      </p:sp>
      <p:sp>
        <p:nvSpPr>
          <p:cNvPr id="37" name="Text 35"/>
          <p:cNvSpPr/>
          <p:nvPr/>
        </p:nvSpPr>
        <p:spPr>
          <a:xfrm>
            <a:off x="722376" y="3922776"/>
            <a:ext cx="3347618" cy="704088"/>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Automatizar o envio de e-mails de boas-vindas para novos funcionários com o Zapier.</a:t>
            </a:r>
            <a:endParaRPr lang="en-US" sz="1300" dirty="0"/>
          </a:p>
        </p:txBody>
      </p:sp>
      <p:sp>
        <p:nvSpPr>
          <p:cNvPr id="38" name="Shape 36"/>
          <p:cNvSpPr/>
          <p:nvPr/>
        </p:nvSpPr>
        <p:spPr>
          <a:xfrm>
            <a:off x="4390034" y="3264408"/>
            <a:ext cx="3603650" cy="1527048"/>
          </a:xfrm>
          <a:prstGeom prst="roundRect">
            <a:avLst>
              <a:gd name="adj" fmla="val 5988"/>
            </a:avLst>
          </a:prstGeom>
          <a:solidFill>
            <a:srgbClr val="000000"/>
          </a:solidFill>
          <a:ln/>
        </p:spPr>
      </p:sp>
      <p:sp>
        <p:nvSpPr>
          <p:cNvPr id="39" name="Shape 37"/>
          <p:cNvSpPr/>
          <p:nvPr/>
        </p:nvSpPr>
        <p:spPr>
          <a:xfrm>
            <a:off x="4362602" y="3227832"/>
            <a:ext cx="3603650" cy="1527048"/>
          </a:xfrm>
          <a:prstGeom prst="roundRect">
            <a:avLst>
              <a:gd name="adj" fmla="val 5988"/>
            </a:avLst>
          </a:prstGeom>
          <a:solidFill>
            <a:srgbClr val="141E34"/>
          </a:solidFill>
          <a:ln/>
        </p:spPr>
      </p:sp>
      <p:sp>
        <p:nvSpPr>
          <p:cNvPr id="40" name="Shape 38"/>
          <p:cNvSpPr/>
          <p:nvPr/>
        </p:nvSpPr>
        <p:spPr>
          <a:xfrm>
            <a:off x="4362602" y="3227832"/>
            <a:ext cx="3603650" cy="45720"/>
          </a:xfrm>
          <a:prstGeom prst="rect">
            <a:avLst>
              <a:gd name="adj" fmla="val 200000"/>
            </a:avLst>
          </a:prstGeom>
          <a:solidFill>
            <a:srgbClr val="06B6D4"/>
          </a:solidFill>
          <a:ln/>
        </p:spPr>
      </p:sp>
      <p:sp>
        <p:nvSpPr>
          <p:cNvPr id="41" name="Shape 39"/>
          <p:cNvSpPr/>
          <p:nvPr/>
        </p:nvSpPr>
        <p:spPr>
          <a:xfrm>
            <a:off x="4472330" y="3392424"/>
            <a:ext cx="384048" cy="384048"/>
          </a:xfrm>
          <a:prstGeom prst="roundRect">
            <a:avLst>
              <a:gd name="adj" fmla="val 19048"/>
            </a:avLst>
          </a:prstGeom>
          <a:solidFill>
            <a:srgbClr val="06B6D4"/>
          </a:solidFill>
          <a:ln/>
        </p:spPr>
      </p:sp>
      <p:sp>
        <p:nvSpPr>
          <p:cNvPr id="42" name="Text 40"/>
          <p:cNvSpPr/>
          <p:nvPr/>
        </p:nvSpPr>
        <p:spPr>
          <a:xfrm>
            <a:off x="4472330" y="3392424"/>
            <a:ext cx="384048" cy="384048"/>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5</a:t>
            </a:r>
            <a:endParaRPr lang="en-US" sz="1600" dirty="0"/>
          </a:p>
        </p:txBody>
      </p:sp>
      <p:sp>
        <p:nvSpPr>
          <p:cNvPr id="43" name="Text 41"/>
          <p:cNvSpPr/>
          <p:nvPr/>
        </p:nvSpPr>
        <p:spPr>
          <a:xfrm>
            <a:off x="4947818" y="3355848"/>
            <a:ext cx="2890418" cy="457200"/>
          </a:xfrm>
          <a:prstGeom prst="rect">
            <a:avLst/>
          </a:prstGeom>
          <a:noFill/>
          <a:ln/>
        </p:spPr>
        <p:txBody>
          <a:bodyPr wrap="square" rtlCol="0" anchor="ctr"/>
          <a:lstStyle/>
          <a:p>
            <a:pPr indent="0" marL="0">
              <a:buNone/>
            </a:pPr>
            <a:r>
              <a:rPr lang="en-US" sz="1500" b="1" dirty="0">
                <a:solidFill>
                  <a:srgbClr val="06B6D4"/>
                </a:solidFill>
                <a:latin typeface="Montserrat" pitchFamily="34" charset="0"/>
                <a:ea typeface="Montserrat" pitchFamily="34" charset="-122"/>
                <a:cs typeface="Montserrat" pitchFamily="34" charset="-120"/>
              </a:rPr>
              <a:t>Atendimento ao Cliente</a:t>
            </a:r>
            <a:endParaRPr lang="en-US" sz="1500" dirty="0"/>
          </a:p>
        </p:txBody>
      </p:sp>
      <p:sp>
        <p:nvSpPr>
          <p:cNvPr id="44" name="Shape 42"/>
          <p:cNvSpPr/>
          <p:nvPr/>
        </p:nvSpPr>
        <p:spPr>
          <a:xfrm>
            <a:off x="4472330" y="3867912"/>
            <a:ext cx="3384194" cy="3658"/>
          </a:xfrm>
          <a:prstGeom prst="rect">
            <a:avLst/>
          </a:prstGeom>
          <a:solidFill>
            <a:srgbClr val="222E48"/>
          </a:solidFill>
          <a:ln/>
        </p:spPr>
      </p:sp>
      <p:sp>
        <p:nvSpPr>
          <p:cNvPr id="45" name="Text 43"/>
          <p:cNvSpPr/>
          <p:nvPr/>
        </p:nvSpPr>
        <p:spPr>
          <a:xfrm>
            <a:off x="4490618" y="3922776"/>
            <a:ext cx="3347618" cy="704088"/>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Implementar assistente virtual para responder perguntas frequentes com o Botsify.</a:t>
            </a:r>
            <a:endParaRPr lang="en-US" sz="1300" dirty="0"/>
          </a:p>
        </p:txBody>
      </p:sp>
      <p:sp>
        <p:nvSpPr>
          <p:cNvPr id="46" name="Shape 44"/>
          <p:cNvSpPr/>
          <p:nvPr/>
        </p:nvSpPr>
        <p:spPr>
          <a:xfrm>
            <a:off x="8158277" y="3264408"/>
            <a:ext cx="3603650" cy="1527048"/>
          </a:xfrm>
          <a:prstGeom prst="roundRect">
            <a:avLst>
              <a:gd name="adj" fmla="val 5988"/>
            </a:avLst>
          </a:prstGeom>
          <a:solidFill>
            <a:srgbClr val="000000"/>
          </a:solidFill>
          <a:ln/>
        </p:spPr>
      </p:sp>
      <p:sp>
        <p:nvSpPr>
          <p:cNvPr id="47" name="Shape 45"/>
          <p:cNvSpPr/>
          <p:nvPr/>
        </p:nvSpPr>
        <p:spPr>
          <a:xfrm>
            <a:off x="8130845" y="3227832"/>
            <a:ext cx="3603650" cy="1527048"/>
          </a:xfrm>
          <a:prstGeom prst="roundRect">
            <a:avLst>
              <a:gd name="adj" fmla="val 5988"/>
            </a:avLst>
          </a:prstGeom>
          <a:solidFill>
            <a:srgbClr val="141E34"/>
          </a:solidFill>
          <a:ln/>
        </p:spPr>
      </p:sp>
      <p:sp>
        <p:nvSpPr>
          <p:cNvPr id="48" name="Shape 46"/>
          <p:cNvSpPr/>
          <p:nvPr/>
        </p:nvSpPr>
        <p:spPr>
          <a:xfrm>
            <a:off x="8130845" y="3227832"/>
            <a:ext cx="3603650" cy="45720"/>
          </a:xfrm>
          <a:prstGeom prst="rect">
            <a:avLst>
              <a:gd name="adj" fmla="val 200000"/>
            </a:avLst>
          </a:prstGeom>
          <a:solidFill>
            <a:srgbClr val="6C63FF"/>
          </a:solidFill>
          <a:ln/>
        </p:spPr>
      </p:sp>
      <p:sp>
        <p:nvSpPr>
          <p:cNvPr id="49" name="Shape 47"/>
          <p:cNvSpPr/>
          <p:nvPr/>
        </p:nvSpPr>
        <p:spPr>
          <a:xfrm>
            <a:off x="8240573" y="3392424"/>
            <a:ext cx="384048" cy="384048"/>
          </a:xfrm>
          <a:prstGeom prst="roundRect">
            <a:avLst>
              <a:gd name="adj" fmla="val 19048"/>
            </a:avLst>
          </a:prstGeom>
          <a:solidFill>
            <a:srgbClr val="6C63FF"/>
          </a:solidFill>
          <a:ln/>
        </p:spPr>
      </p:sp>
      <p:sp>
        <p:nvSpPr>
          <p:cNvPr id="50" name="Text 48"/>
          <p:cNvSpPr/>
          <p:nvPr/>
        </p:nvSpPr>
        <p:spPr>
          <a:xfrm>
            <a:off x="8240573" y="3392424"/>
            <a:ext cx="384048" cy="384048"/>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6</a:t>
            </a:r>
            <a:endParaRPr lang="en-US" sz="1600" dirty="0"/>
          </a:p>
        </p:txBody>
      </p:sp>
      <p:sp>
        <p:nvSpPr>
          <p:cNvPr id="51" name="Text 49"/>
          <p:cNvSpPr/>
          <p:nvPr/>
        </p:nvSpPr>
        <p:spPr>
          <a:xfrm>
            <a:off x="8716061" y="3355848"/>
            <a:ext cx="2890418" cy="457200"/>
          </a:xfrm>
          <a:prstGeom prst="rect">
            <a:avLst/>
          </a:prstGeom>
          <a:noFill/>
          <a:ln/>
        </p:spPr>
        <p:txBody>
          <a:bodyPr wrap="square" rtlCol="0" anchor="ctr"/>
          <a:lstStyle/>
          <a:p>
            <a:pPr indent="0" marL="0">
              <a:buNone/>
            </a:pPr>
            <a:r>
              <a:rPr lang="en-US" sz="1500" b="1" dirty="0">
                <a:solidFill>
                  <a:srgbClr val="6C63FF"/>
                </a:solidFill>
                <a:latin typeface="Montserrat" pitchFamily="34" charset="0"/>
                <a:ea typeface="Montserrat" pitchFamily="34" charset="-122"/>
                <a:cs typeface="Montserrat" pitchFamily="34" charset="-120"/>
              </a:rPr>
              <a:t>Gestão de Projetos</a:t>
            </a:r>
            <a:endParaRPr lang="en-US" sz="1500" dirty="0"/>
          </a:p>
        </p:txBody>
      </p:sp>
      <p:sp>
        <p:nvSpPr>
          <p:cNvPr id="52" name="Shape 50"/>
          <p:cNvSpPr/>
          <p:nvPr/>
        </p:nvSpPr>
        <p:spPr>
          <a:xfrm>
            <a:off x="8240573" y="3867912"/>
            <a:ext cx="3384194" cy="3658"/>
          </a:xfrm>
          <a:prstGeom prst="rect">
            <a:avLst/>
          </a:prstGeom>
          <a:solidFill>
            <a:srgbClr val="222E48"/>
          </a:solidFill>
          <a:ln/>
        </p:spPr>
      </p:sp>
      <p:sp>
        <p:nvSpPr>
          <p:cNvPr id="53" name="Text 51"/>
          <p:cNvSpPr/>
          <p:nvPr/>
        </p:nvSpPr>
        <p:spPr>
          <a:xfrm>
            <a:off x="8258861" y="3922776"/>
            <a:ext cx="3347618" cy="704088"/>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Conectar planilhas de tarefas com ferramentas de comunicação via Make.</a:t>
            </a:r>
            <a:endParaRPr lang="en-US" sz="1300" dirty="0"/>
          </a:p>
        </p:txBody>
      </p:sp>
      <p:sp>
        <p:nvSpPr>
          <p:cNvPr id="54" name="Shape 52"/>
          <p:cNvSpPr/>
          <p:nvPr/>
        </p:nvSpPr>
        <p:spPr>
          <a:xfrm>
            <a:off x="621792" y="4956048"/>
            <a:ext cx="3603650" cy="1527048"/>
          </a:xfrm>
          <a:prstGeom prst="roundRect">
            <a:avLst>
              <a:gd name="adj" fmla="val 5988"/>
            </a:avLst>
          </a:prstGeom>
          <a:solidFill>
            <a:srgbClr val="000000"/>
          </a:solidFill>
          <a:ln/>
        </p:spPr>
      </p:sp>
      <p:sp>
        <p:nvSpPr>
          <p:cNvPr id="55" name="Shape 53"/>
          <p:cNvSpPr/>
          <p:nvPr/>
        </p:nvSpPr>
        <p:spPr>
          <a:xfrm>
            <a:off x="594360" y="4919472"/>
            <a:ext cx="3603650" cy="1527048"/>
          </a:xfrm>
          <a:prstGeom prst="roundRect">
            <a:avLst>
              <a:gd name="adj" fmla="val 5988"/>
            </a:avLst>
          </a:prstGeom>
          <a:solidFill>
            <a:srgbClr val="141E34"/>
          </a:solidFill>
          <a:ln/>
        </p:spPr>
      </p:sp>
      <p:sp>
        <p:nvSpPr>
          <p:cNvPr id="56" name="Shape 54"/>
          <p:cNvSpPr/>
          <p:nvPr/>
        </p:nvSpPr>
        <p:spPr>
          <a:xfrm>
            <a:off x="594360" y="4919472"/>
            <a:ext cx="3603650" cy="45720"/>
          </a:xfrm>
          <a:prstGeom prst="rect">
            <a:avLst>
              <a:gd name="adj" fmla="val 200000"/>
            </a:avLst>
          </a:prstGeom>
          <a:solidFill>
            <a:srgbClr val="3B82F6"/>
          </a:solidFill>
          <a:ln/>
        </p:spPr>
      </p:sp>
      <p:sp>
        <p:nvSpPr>
          <p:cNvPr id="57" name="Shape 55"/>
          <p:cNvSpPr/>
          <p:nvPr/>
        </p:nvSpPr>
        <p:spPr>
          <a:xfrm>
            <a:off x="704088" y="5084064"/>
            <a:ext cx="384048" cy="384048"/>
          </a:xfrm>
          <a:prstGeom prst="roundRect">
            <a:avLst>
              <a:gd name="adj" fmla="val 19048"/>
            </a:avLst>
          </a:prstGeom>
          <a:solidFill>
            <a:srgbClr val="3B82F6"/>
          </a:solidFill>
          <a:ln/>
        </p:spPr>
      </p:sp>
      <p:sp>
        <p:nvSpPr>
          <p:cNvPr id="58" name="Text 56"/>
          <p:cNvSpPr/>
          <p:nvPr/>
        </p:nvSpPr>
        <p:spPr>
          <a:xfrm>
            <a:off x="704088" y="5084064"/>
            <a:ext cx="384048" cy="384048"/>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7</a:t>
            </a:r>
            <a:endParaRPr lang="en-US" sz="1600" dirty="0"/>
          </a:p>
        </p:txBody>
      </p:sp>
      <p:sp>
        <p:nvSpPr>
          <p:cNvPr id="59" name="Text 57"/>
          <p:cNvSpPr/>
          <p:nvPr/>
        </p:nvSpPr>
        <p:spPr>
          <a:xfrm>
            <a:off x="1179576" y="5047488"/>
            <a:ext cx="2890418" cy="457200"/>
          </a:xfrm>
          <a:prstGeom prst="rect">
            <a:avLst/>
          </a:prstGeom>
          <a:noFill/>
          <a:ln/>
        </p:spPr>
        <p:txBody>
          <a:bodyPr wrap="square" rtlCol="0" anchor="ctr"/>
          <a:lstStyle/>
          <a:p>
            <a:pPr indent="0" marL="0">
              <a:buNone/>
            </a:pPr>
            <a:r>
              <a:rPr lang="en-US" sz="1500" b="1" dirty="0">
                <a:solidFill>
                  <a:srgbClr val="3B82F6"/>
                </a:solidFill>
                <a:latin typeface="Montserrat" pitchFamily="34" charset="0"/>
                <a:ea typeface="Montserrat" pitchFamily="34" charset="-122"/>
                <a:cs typeface="Montserrat" pitchFamily="34" charset="-120"/>
              </a:rPr>
              <a:t>Educação</a:t>
            </a:r>
            <a:endParaRPr lang="en-US" sz="1500" dirty="0"/>
          </a:p>
        </p:txBody>
      </p:sp>
      <p:sp>
        <p:nvSpPr>
          <p:cNvPr id="60" name="Shape 58"/>
          <p:cNvSpPr/>
          <p:nvPr/>
        </p:nvSpPr>
        <p:spPr>
          <a:xfrm>
            <a:off x="704088" y="5559552"/>
            <a:ext cx="3384194" cy="3658"/>
          </a:xfrm>
          <a:prstGeom prst="rect">
            <a:avLst/>
          </a:prstGeom>
          <a:solidFill>
            <a:srgbClr val="222E48"/>
          </a:solidFill>
          <a:ln/>
        </p:spPr>
      </p:sp>
      <p:sp>
        <p:nvSpPr>
          <p:cNvPr id="61" name="Text 59"/>
          <p:cNvSpPr/>
          <p:nvPr/>
        </p:nvSpPr>
        <p:spPr>
          <a:xfrm>
            <a:off x="722376" y="5614416"/>
            <a:ext cx="3347618" cy="704088"/>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Criar resumos de artigos científicos ou material didático rapidamente com o ChatGPT.</a:t>
            </a:r>
            <a:endParaRPr lang="en-US" sz="1300" dirty="0"/>
          </a:p>
        </p:txBody>
      </p:sp>
      <p:sp>
        <p:nvSpPr>
          <p:cNvPr id="62" name="Shape 60"/>
          <p:cNvSpPr/>
          <p:nvPr/>
        </p:nvSpPr>
        <p:spPr>
          <a:xfrm>
            <a:off x="0" y="6601968"/>
            <a:ext cx="2041093" cy="4572"/>
          </a:xfrm>
          <a:prstGeom prst="rect">
            <a:avLst/>
          </a:prstGeom>
          <a:solidFill>
            <a:srgbClr val="6C63FF"/>
          </a:solidFill>
          <a:ln/>
        </p:spPr>
      </p:sp>
      <p:sp>
        <p:nvSpPr>
          <p:cNvPr id="63" name="Shape 61"/>
          <p:cNvSpPr/>
          <p:nvPr/>
        </p:nvSpPr>
        <p:spPr>
          <a:xfrm>
            <a:off x="2031949" y="6601968"/>
            <a:ext cx="2041093" cy="4572"/>
          </a:xfrm>
          <a:prstGeom prst="rect">
            <a:avLst/>
          </a:prstGeom>
          <a:solidFill>
            <a:srgbClr val="6C63FF"/>
          </a:solidFill>
          <a:ln/>
        </p:spPr>
      </p:sp>
      <p:sp>
        <p:nvSpPr>
          <p:cNvPr id="64" name="Shape 62"/>
          <p:cNvSpPr/>
          <p:nvPr/>
        </p:nvSpPr>
        <p:spPr>
          <a:xfrm>
            <a:off x="4063898" y="6601968"/>
            <a:ext cx="2041093" cy="4572"/>
          </a:xfrm>
          <a:prstGeom prst="rect">
            <a:avLst/>
          </a:prstGeom>
          <a:solidFill>
            <a:srgbClr val="6C63FF"/>
          </a:solidFill>
          <a:ln/>
        </p:spPr>
      </p:sp>
      <p:sp>
        <p:nvSpPr>
          <p:cNvPr id="65" name="Shape 63"/>
          <p:cNvSpPr/>
          <p:nvPr/>
        </p:nvSpPr>
        <p:spPr>
          <a:xfrm>
            <a:off x="6095848" y="6601968"/>
            <a:ext cx="2041093" cy="4572"/>
          </a:xfrm>
          <a:prstGeom prst="rect">
            <a:avLst/>
          </a:prstGeom>
          <a:solidFill>
            <a:srgbClr val="6C63FF"/>
          </a:solidFill>
          <a:ln/>
        </p:spPr>
      </p:sp>
      <p:sp>
        <p:nvSpPr>
          <p:cNvPr id="66" name="Shape 64"/>
          <p:cNvSpPr/>
          <p:nvPr/>
        </p:nvSpPr>
        <p:spPr>
          <a:xfrm>
            <a:off x="8127797" y="6601968"/>
            <a:ext cx="2041093" cy="4572"/>
          </a:xfrm>
          <a:prstGeom prst="rect">
            <a:avLst/>
          </a:prstGeom>
          <a:solidFill>
            <a:srgbClr val="6C63FF"/>
          </a:solidFill>
          <a:ln/>
        </p:spPr>
      </p:sp>
      <p:sp>
        <p:nvSpPr>
          <p:cNvPr id="67" name="Shape 65"/>
          <p:cNvSpPr/>
          <p:nvPr/>
        </p:nvSpPr>
        <p:spPr>
          <a:xfrm>
            <a:off x="10159746" y="6601968"/>
            <a:ext cx="2041093" cy="4572"/>
          </a:xfrm>
          <a:prstGeom prst="rect">
            <a:avLst/>
          </a:prstGeom>
          <a:solidFill>
            <a:srgbClr val="6C63FF"/>
          </a:solidFill>
          <a:ln/>
        </p:spPr>
      </p:sp>
      <p:sp>
        <p:nvSpPr>
          <p:cNvPr id="68" name="Shape 66"/>
          <p:cNvSpPr/>
          <p:nvPr/>
        </p:nvSpPr>
        <p:spPr>
          <a:xfrm>
            <a:off x="0" y="6606540"/>
            <a:ext cx="12191695" cy="2743"/>
          </a:xfrm>
          <a:prstGeom prst="rect">
            <a:avLst/>
          </a:prstGeom>
          <a:solidFill>
            <a:srgbClr val="222E48"/>
          </a:solidFill>
          <a:ln/>
        </p:spPr>
      </p:sp>
      <p:sp>
        <p:nvSpPr>
          <p:cNvPr id="69" name="Text 67"/>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70" name="Shape 68"/>
          <p:cNvSpPr/>
          <p:nvPr/>
        </p:nvSpPr>
        <p:spPr>
          <a:xfrm>
            <a:off x="10436047" y="6693408"/>
            <a:ext cx="73152" cy="73152"/>
          </a:xfrm>
          <a:prstGeom prst="ellipse">
            <a:avLst/>
          </a:prstGeom>
          <a:solidFill>
            <a:srgbClr val="6C63FF"/>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C0392B"/>
          </a:solidFill>
          <a:ln/>
        </p:spPr>
      </p:sp>
      <p:sp>
        <p:nvSpPr>
          <p:cNvPr id="3" name="Shape 1"/>
          <p:cNvSpPr/>
          <p:nvPr/>
        </p:nvSpPr>
        <p:spPr>
          <a:xfrm>
            <a:off x="64008" y="0"/>
            <a:ext cx="18288" cy="6858000"/>
          </a:xfrm>
          <a:prstGeom prst="rect">
            <a:avLst/>
          </a:prstGeom>
          <a:solidFill>
            <a:srgbClr val="C0392B"/>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C0392B"/>
                </a:solidFill>
                <a:latin typeface="Open Sans" pitchFamily="34" charset="0"/>
                <a:ea typeface="Open Sans" pitchFamily="34" charset="-122"/>
                <a:cs typeface="Open Sans" pitchFamily="34" charset="-120"/>
              </a:rPr>
              <a:t>DESAFIOS E CUIDADOS</a:t>
            </a:r>
            <a:endParaRPr lang="en-US" sz="900" dirty="0"/>
          </a:p>
        </p:txBody>
      </p:sp>
      <p:sp>
        <p:nvSpPr>
          <p:cNvPr id="5" name="Shape 3"/>
          <p:cNvSpPr/>
          <p:nvPr/>
        </p:nvSpPr>
        <p:spPr>
          <a:xfrm>
            <a:off x="502920" y="493776"/>
            <a:ext cx="640080" cy="21946"/>
          </a:xfrm>
          <a:prstGeom prst="rect">
            <a:avLst/>
          </a:prstGeom>
          <a:solidFill>
            <a:srgbClr val="C0392B"/>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Desafios e cuidados</a:t>
            </a:r>
            <a:endParaRPr lang="en-US" sz="2800" dirty="0"/>
          </a:p>
        </p:txBody>
      </p:sp>
      <p:sp>
        <p:nvSpPr>
          <p:cNvPr id="7" name="Shape 5"/>
          <p:cNvSpPr/>
          <p:nvPr/>
        </p:nvSpPr>
        <p:spPr>
          <a:xfrm>
            <a:off x="502920" y="1389888"/>
            <a:ext cx="11185855" cy="7315"/>
          </a:xfrm>
          <a:prstGeom prst="rect">
            <a:avLst/>
          </a:prstGeom>
          <a:solidFill>
            <a:srgbClr val="C0392B"/>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10820095" y="320040"/>
            <a:ext cx="731520" cy="731520"/>
          </a:xfrm>
          <a:prstGeom prst="roundRect">
            <a:avLst>
              <a:gd name="adj" fmla="val 15000"/>
            </a:avLst>
          </a:prstGeom>
          <a:solidFill>
            <a:srgbClr val="FEF2F2"/>
          </a:solidFill>
          <a:ln/>
        </p:spPr>
      </p:sp>
      <p:sp>
        <p:nvSpPr>
          <p:cNvPr id="10" name="Text 8"/>
          <p:cNvSpPr/>
          <p:nvPr/>
        </p:nvSpPr>
        <p:spPr>
          <a:xfrm>
            <a:off x="10820095" y="320040"/>
            <a:ext cx="731520" cy="73152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1" name="Shape 9"/>
          <p:cNvSpPr/>
          <p:nvPr/>
        </p:nvSpPr>
        <p:spPr>
          <a:xfrm>
            <a:off x="621792" y="1572768"/>
            <a:ext cx="11140135" cy="720852"/>
          </a:xfrm>
          <a:prstGeom prst="roundRect">
            <a:avLst>
              <a:gd name="adj" fmla="val 12685"/>
            </a:avLst>
          </a:prstGeom>
          <a:solidFill>
            <a:srgbClr val="000000"/>
          </a:solidFill>
          <a:ln/>
        </p:spPr>
      </p:sp>
      <p:sp>
        <p:nvSpPr>
          <p:cNvPr id="12" name="Shape 10"/>
          <p:cNvSpPr/>
          <p:nvPr/>
        </p:nvSpPr>
        <p:spPr>
          <a:xfrm>
            <a:off x="594360" y="1536192"/>
            <a:ext cx="11140135" cy="720852"/>
          </a:xfrm>
          <a:prstGeom prst="roundRect">
            <a:avLst>
              <a:gd name="adj" fmla="val 10148"/>
            </a:avLst>
          </a:prstGeom>
          <a:solidFill>
            <a:srgbClr val="FFF5F5"/>
          </a:solidFill>
          <a:ln/>
        </p:spPr>
      </p:sp>
      <p:sp>
        <p:nvSpPr>
          <p:cNvPr id="13" name="Shape 11"/>
          <p:cNvSpPr/>
          <p:nvPr/>
        </p:nvSpPr>
        <p:spPr>
          <a:xfrm>
            <a:off x="594360" y="1536192"/>
            <a:ext cx="54864" cy="720852"/>
          </a:xfrm>
          <a:prstGeom prst="rect">
            <a:avLst>
              <a:gd name="adj" fmla="val 133333"/>
            </a:avLst>
          </a:prstGeom>
          <a:solidFill>
            <a:srgbClr val="E74C3C"/>
          </a:solidFill>
          <a:ln/>
        </p:spPr>
      </p:sp>
      <p:sp>
        <p:nvSpPr>
          <p:cNvPr id="14" name="Text 12"/>
          <p:cNvSpPr/>
          <p:nvPr/>
        </p:nvSpPr>
        <p:spPr>
          <a:xfrm>
            <a:off x="795528" y="1563624"/>
            <a:ext cx="10865815" cy="665988"/>
          </a:xfrm>
          <a:prstGeom prst="rect">
            <a:avLst/>
          </a:prstGeom>
          <a:noFill/>
          <a:ln/>
        </p:spPr>
        <p:txBody>
          <a:bodyPr wrap="square" rtlCol="0" anchor="ctr"/>
          <a:lstStyle/>
          <a:p>
            <a:pPr indent="0" marL="0">
              <a:lnSpc>
                <a:spcPct val="120000"/>
              </a:lnSpc>
              <a:buNone/>
            </a:pPr>
            <a:r>
              <a:rPr lang="en-US" sz="1600" dirty="0">
                <a:solidFill>
                  <a:srgbClr val="E8EDF5"/>
                </a:solidFill>
                <a:latin typeface="Open Sans" pitchFamily="34" charset="0"/>
                <a:ea typeface="Open Sans" pitchFamily="34" charset="-122"/>
                <a:cs typeface="Open Sans" pitchFamily="34" charset="-120"/>
              </a:rPr>
              <a:t>A integração da IA requer atenção para evitar armadilhas.</a:t>
            </a:r>
            <a:endParaRPr lang="en-US" sz="1600" dirty="0"/>
          </a:p>
        </p:txBody>
      </p:sp>
      <p:sp>
        <p:nvSpPr>
          <p:cNvPr id="15" name="Shape 13"/>
          <p:cNvSpPr/>
          <p:nvPr/>
        </p:nvSpPr>
        <p:spPr>
          <a:xfrm>
            <a:off x="621792" y="2403348"/>
            <a:ext cx="11140135" cy="720852"/>
          </a:xfrm>
          <a:prstGeom prst="roundRect">
            <a:avLst>
              <a:gd name="adj" fmla="val 12685"/>
            </a:avLst>
          </a:prstGeom>
          <a:solidFill>
            <a:srgbClr val="000000"/>
          </a:solidFill>
          <a:ln/>
        </p:spPr>
      </p:sp>
      <p:sp>
        <p:nvSpPr>
          <p:cNvPr id="16" name="Shape 14"/>
          <p:cNvSpPr/>
          <p:nvPr/>
        </p:nvSpPr>
        <p:spPr>
          <a:xfrm>
            <a:off x="594360" y="2366772"/>
            <a:ext cx="11140135" cy="720852"/>
          </a:xfrm>
          <a:prstGeom prst="roundRect">
            <a:avLst>
              <a:gd name="adj" fmla="val 10148"/>
            </a:avLst>
          </a:prstGeom>
          <a:solidFill>
            <a:srgbClr val="141E34"/>
          </a:solidFill>
          <a:ln/>
        </p:spPr>
      </p:sp>
      <p:sp>
        <p:nvSpPr>
          <p:cNvPr id="17" name="Shape 15"/>
          <p:cNvSpPr/>
          <p:nvPr/>
        </p:nvSpPr>
        <p:spPr>
          <a:xfrm>
            <a:off x="594360" y="2366772"/>
            <a:ext cx="54864" cy="720852"/>
          </a:xfrm>
          <a:prstGeom prst="rect">
            <a:avLst>
              <a:gd name="adj" fmla="val 133333"/>
            </a:avLst>
          </a:prstGeom>
          <a:solidFill>
            <a:srgbClr val="E74C3C"/>
          </a:solidFill>
          <a:ln/>
        </p:spPr>
      </p:sp>
      <p:sp>
        <p:nvSpPr>
          <p:cNvPr id="18" name="Text 16"/>
          <p:cNvSpPr/>
          <p:nvPr/>
        </p:nvSpPr>
        <p:spPr>
          <a:xfrm>
            <a:off x="795528" y="2394204"/>
            <a:ext cx="10865815" cy="665988"/>
          </a:xfrm>
          <a:prstGeom prst="rect">
            <a:avLst/>
          </a:prstGeom>
          <a:noFill/>
          <a:ln/>
        </p:spPr>
        <p:txBody>
          <a:bodyPr wrap="square" rtlCol="0" anchor="ctr"/>
          <a:lstStyle/>
          <a:p>
            <a:pPr indent="0" marL="0">
              <a:lnSpc>
                <a:spcPct val="120000"/>
              </a:lnSpc>
              <a:buNone/>
            </a:pPr>
            <a:r>
              <a:rPr lang="en-US" sz="1600" dirty="0">
                <a:solidFill>
                  <a:srgbClr val="E8EDF5"/>
                </a:solidFill>
                <a:latin typeface="Open Sans" pitchFamily="34" charset="0"/>
                <a:ea typeface="Open Sans" pitchFamily="34" charset="-122"/>
                <a:cs typeface="Open Sans" pitchFamily="34" charset="-120"/>
              </a:rPr>
              <a:t>Identifique Tarefas Repetitivas: Liste atividades que consomem tempo e são padronizadas.</a:t>
            </a:r>
            <a:endParaRPr lang="en-US" sz="1600" dirty="0"/>
          </a:p>
        </p:txBody>
      </p:sp>
      <p:sp>
        <p:nvSpPr>
          <p:cNvPr id="19" name="Shape 17"/>
          <p:cNvSpPr/>
          <p:nvPr/>
        </p:nvSpPr>
        <p:spPr>
          <a:xfrm>
            <a:off x="621792" y="3233928"/>
            <a:ext cx="11140135" cy="720852"/>
          </a:xfrm>
          <a:prstGeom prst="roundRect">
            <a:avLst>
              <a:gd name="adj" fmla="val 12685"/>
            </a:avLst>
          </a:prstGeom>
          <a:solidFill>
            <a:srgbClr val="000000"/>
          </a:solidFill>
          <a:ln/>
        </p:spPr>
      </p:sp>
      <p:sp>
        <p:nvSpPr>
          <p:cNvPr id="20" name="Shape 18"/>
          <p:cNvSpPr/>
          <p:nvPr/>
        </p:nvSpPr>
        <p:spPr>
          <a:xfrm>
            <a:off x="594360" y="3197352"/>
            <a:ext cx="11140135" cy="720852"/>
          </a:xfrm>
          <a:prstGeom prst="roundRect">
            <a:avLst>
              <a:gd name="adj" fmla="val 10148"/>
            </a:avLst>
          </a:prstGeom>
          <a:solidFill>
            <a:srgbClr val="FFF5F5"/>
          </a:solidFill>
          <a:ln/>
        </p:spPr>
      </p:sp>
      <p:sp>
        <p:nvSpPr>
          <p:cNvPr id="21" name="Shape 19"/>
          <p:cNvSpPr/>
          <p:nvPr/>
        </p:nvSpPr>
        <p:spPr>
          <a:xfrm>
            <a:off x="594360" y="3197352"/>
            <a:ext cx="54864" cy="720852"/>
          </a:xfrm>
          <a:prstGeom prst="rect">
            <a:avLst>
              <a:gd name="adj" fmla="val 133333"/>
            </a:avLst>
          </a:prstGeom>
          <a:solidFill>
            <a:srgbClr val="E74C3C"/>
          </a:solidFill>
          <a:ln/>
        </p:spPr>
      </p:sp>
      <p:sp>
        <p:nvSpPr>
          <p:cNvPr id="22" name="Text 20"/>
          <p:cNvSpPr/>
          <p:nvPr/>
        </p:nvSpPr>
        <p:spPr>
          <a:xfrm>
            <a:off x="795528" y="3224784"/>
            <a:ext cx="10865815" cy="665988"/>
          </a:xfrm>
          <a:prstGeom prst="rect">
            <a:avLst/>
          </a:prstGeom>
          <a:noFill/>
          <a:ln/>
        </p:spPr>
        <p:txBody>
          <a:bodyPr wrap="square" rtlCol="0" anchor="ctr"/>
          <a:lstStyle/>
          <a:p>
            <a:pPr indent="0" marL="0">
              <a:lnSpc>
                <a:spcPct val="120000"/>
              </a:lnSpc>
              <a:buNone/>
            </a:pPr>
            <a:r>
              <a:rPr lang="en-US" sz="1600" dirty="0">
                <a:solidFill>
                  <a:srgbClr val="E8EDF5"/>
                </a:solidFill>
                <a:latin typeface="Open Sans" pitchFamily="34" charset="0"/>
                <a:ea typeface="Open Sans" pitchFamily="34" charset="-122"/>
                <a:cs typeface="Open Sans" pitchFamily="34" charset="-120"/>
              </a:rPr>
              <a:t>Escolha a Ferramenta Certa: Pesquise ferramentas No-Code que se encaixam nas suas necessidades.</a:t>
            </a:r>
            <a:endParaRPr lang="en-US" sz="1600" dirty="0"/>
          </a:p>
        </p:txBody>
      </p:sp>
      <p:sp>
        <p:nvSpPr>
          <p:cNvPr id="23" name="Shape 21"/>
          <p:cNvSpPr/>
          <p:nvPr/>
        </p:nvSpPr>
        <p:spPr>
          <a:xfrm>
            <a:off x="621792" y="4064508"/>
            <a:ext cx="11140135" cy="720852"/>
          </a:xfrm>
          <a:prstGeom prst="roundRect">
            <a:avLst>
              <a:gd name="adj" fmla="val 12685"/>
            </a:avLst>
          </a:prstGeom>
          <a:solidFill>
            <a:srgbClr val="000000"/>
          </a:solidFill>
          <a:ln/>
        </p:spPr>
      </p:sp>
      <p:sp>
        <p:nvSpPr>
          <p:cNvPr id="24" name="Shape 22"/>
          <p:cNvSpPr/>
          <p:nvPr/>
        </p:nvSpPr>
        <p:spPr>
          <a:xfrm>
            <a:off x="594360" y="4027932"/>
            <a:ext cx="11140135" cy="720852"/>
          </a:xfrm>
          <a:prstGeom prst="roundRect">
            <a:avLst>
              <a:gd name="adj" fmla="val 10148"/>
            </a:avLst>
          </a:prstGeom>
          <a:solidFill>
            <a:srgbClr val="141E34"/>
          </a:solidFill>
          <a:ln/>
        </p:spPr>
      </p:sp>
      <p:sp>
        <p:nvSpPr>
          <p:cNvPr id="25" name="Shape 23"/>
          <p:cNvSpPr/>
          <p:nvPr/>
        </p:nvSpPr>
        <p:spPr>
          <a:xfrm>
            <a:off x="594360" y="4027932"/>
            <a:ext cx="54864" cy="720852"/>
          </a:xfrm>
          <a:prstGeom prst="rect">
            <a:avLst>
              <a:gd name="adj" fmla="val 133333"/>
            </a:avLst>
          </a:prstGeom>
          <a:solidFill>
            <a:srgbClr val="E74C3C"/>
          </a:solidFill>
          <a:ln/>
        </p:spPr>
      </p:sp>
      <p:sp>
        <p:nvSpPr>
          <p:cNvPr id="26" name="Text 24"/>
          <p:cNvSpPr/>
          <p:nvPr/>
        </p:nvSpPr>
        <p:spPr>
          <a:xfrm>
            <a:off x="795528" y="4055364"/>
            <a:ext cx="10865815" cy="665988"/>
          </a:xfrm>
          <a:prstGeom prst="rect">
            <a:avLst/>
          </a:prstGeom>
          <a:noFill/>
          <a:ln/>
        </p:spPr>
        <p:txBody>
          <a:bodyPr wrap="square" rtlCol="0" anchor="ctr"/>
          <a:lstStyle/>
          <a:p>
            <a:pPr indent="0" marL="0">
              <a:lnSpc>
                <a:spcPct val="120000"/>
              </a:lnSpc>
              <a:buNone/>
            </a:pPr>
            <a:r>
              <a:rPr lang="en-US" sz="1600" dirty="0">
                <a:solidFill>
                  <a:srgbClr val="E8EDF5"/>
                </a:solidFill>
                <a:latin typeface="Open Sans" pitchFamily="34" charset="0"/>
                <a:ea typeface="Open Sans" pitchFamily="34" charset="-122"/>
                <a:cs typeface="Open Sans" pitchFamily="34" charset="-120"/>
              </a:rPr>
              <a:t>Comece Pequeno: Implemente a IA em um processo pequeno e de baixo risco, monitorando resultados.</a:t>
            </a:r>
            <a:endParaRPr lang="en-US" sz="1600" dirty="0"/>
          </a:p>
        </p:txBody>
      </p:sp>
      <p:sp>
        <p:nvSpPr>
          <p:cNvPr id="27" name="Shape 25"/>
          <p:cNvSpPr/>
          <p:nvPr/>
        </p:nvSpPr>
        <p:spPr>
          <a:xfrm>
            <a:off x="621792" y="4895088"/>
            <a:ext cx="11140135" cy="720852"/>
          </a:xfrm>
          <a:prstGeom prst="roundRect">
            <a:avLst>
              <a:gd name="adj" fmla="val 12685"/>
            </a:avLst>
          </a:prstGeom>
          <a:solidFill>
            <a:srgbClr val="000000"/>
          </a:solidFill>
          <a:ln/>
        </p:spPr>
      </p:sp>
      <p:sp>
        <p:nvSpPr>
          <p:cNvPr id="28" name="Shape 26"/>
          <p:cNvSpPr/>
          <p:nvPr/>
        </p:nvSpPr>
        <p:spPr>
          <a:xfrm>
            <a:off x="594360" y="4858512"/>
            <a:ext cx="11140135" cy="720852"/>
          </a:xfrm>
          <a:prstGeom prst="roundRect">
            <a:avLst>
              <a:gd name="adj" fmla="val 10148"/>
            </a:avLst>
          </a:prstGeom>
          <a:solidFill>
            <a:srgbClr val="FFF5F5"/>
          </a:solidFill>
          <a:ln/>
        </p:spPr>
      </p:sp>
      <p:sp>
        <p:nvSpPr>
          <p:cNvPr id="29" name="Shape 27"/>
          <p:cNvSpPr/>
          <p:nvPr/>
        </p:nvSpPr>
        <p:spPr>
          <a:xfrm>
            <a:off x="594360" y="4858512"/>
            <a:ext cx="54864" cy="720852"/>
          </a:xfrm>
          <a:prstGeom prst="rect">
            <a:avLst>
              <a:gd name="adj" fmla="val 133333"/>
            </a:avLst>
          </a:prstGeom>
          <a:solidFill>
            <a:srgbClr val="E74C3C"/>
          </a:solidFill>
          <a:ln/>
        </p:spPr>
      </p:sp>
      <p:sp>
        <p:nvSpPr>
          <p:cNvPr id="30" name="Text 28"/>
          <p:cNvSpPr/>
          <p:nvPr/>
        </p:nvSpPr>
        <p:spPr>
          <a:xfrm>
            <a:off x="795528" y="4885944"/>
            <a:ext cx="10865815" cy="665988"/>
          </a:xfrm>
          <a:prstGeom prst="rect">
            <a:avLst/>
          </a:prstGeom>
          <a:noFill/>
          <a:ln/>
        </p:spPr>
        <p:txBody>
          <a:bodyPr wrap="square" rtlCol="0" anchor="ctr"/>
          <a:lstStyle/>
          <a:p>
            <a:pPr indent="0" marL="0">
              <a:lnSpc>
                <a:spcPct val="120000"/>
              </a:lnSpc>
              <a:buNone/>
            </a:pPr>
            <a:r>
              <a:rPr lang="en-US" sz="1600" dirty="0">
                <a:solidFill>
                  <a:srgbClr val="E8EDF5"/>
                </a:solidFill>
                <a:latin typeface="Open Sans" pitchFamily="34" charset="0"/>
                <a:ea typeface="Open Sans" pitchFamily="34" charset="-122"/>
                <a:cs typeface="Open Sans" pitchFamily="34" charset="-120"/>
              </a:rPr>
              <a:t>Capacitação Contínua: Mantenha-se atualizado sobre novas ferramentas e funcionalidades de IA.</a:t>
            </a:r>
            <a:endParaRPr lang="en-US" sz="1600" dirty="0"/>
          </a:p>
        </p:txBody>
      </p:sp>
      <p:sp>
        <p:nvSpPr>
          <p:cNvPr id="31" name="Shape 29"/>
          <p:cNvSpPr/>
          <p:nvPr/>
        </p:nvSpPr>
        <p:spPr>
          <a:xfrm>
            <a:off x="621792" y="5725668"/>
            <a:ext cx="11140135" cy="720852"/>
          </a:xfrm>
          <a:prstGeom prst="roundRect">
            <a:avLst>
              <a:gd name="adj" fmla="val 12685"/>
            </a:avLst>
          </a:prstGeom>
          <a:solidFill>
            <a:srgbClr val="000000"/>
          </a:solidFill>
          <a:ln/>
        </p:spPr>
      </p:sp>
      <p:sp>
        <p:nvSpPr>
          <p:cNvPr id="32" name="Shape 30"/>
          <p:cNvSpPr/>
          <p:nvPr/>
        </p:nvSpPr>
        <p:spPr>
          <a:xfrm>
            <a:off x="594360" y="5689092"/>
            <a:ext cx="11140135" cy="720852"/>
          </a:xfrm>
          <a:prstGeom prst="roundRect">
            <a:avLst>
              <a:gd name="adj" fmla="val 10148"/>
            </a:avLst>
          </a:prstGeom>
          <a:solidFill>
            <a:srgbClr val="141E34"/>
          </a:solidFill>
          <a:ln/>
        </p:spPr>
      </p:sp>
      <p:sp>
        <p:nvSpPr>
          <p:cNvPr id="33" name="Shape 31"/>
          <p:cNvSpPr/>
          <p:nvPr/>
        </p:nvSpPr>
        <p:spPr>
          <a:xfrm>
            <a:off x="594360" y="5689092"/>
            <a:ext cx="54864" cy="720852"/>
          </a:xfrm>
          <a:prstGeom prst="rect">
            <a:avLst>
              <a:gd name="adj" fmla="val 133333"/>
            </a:avLst>
          </a:prstGeom>
          <a:solidFill>
            <a:srgbClr val="E74C3C"/>
          </a:solidFill>
          <a:ln/>
        </p:spPr>
      </p:sp>
      <p:sp>
        <p:nvSpPr>
          <p:cNvPr id="34" name="Text 32"/>
          <p:cNvSpPr/>
          <p:nvPr/>
        </p:nvSpPr>
        <p:spPr>
          <a:xfrm>
            <a:off x="795528" y="5716524"/>
            <a:ext cx="10865815" cy="665988"/>
          </a:xfrm>
          <a:prstGeom prst="rect">
            <a:avLst/>
          </a:prstGeom>
          <a:noFill/>
          <a:ln/>
        </p:spPr>
        <p:txBody>
          <a:bodyPr wrap="square" rtlCol="0" anchor="ctr"/>
          <a:lstStyle/>
          <a:p>
            <a:pPr indent="0" marL="0">
              <a:lnSpc>
                <a:spcPct val="120000"/>
              </a:lnSpc>
              <a:buNone/>
            </a:pPr>
            <a:r>
              <a:rPr lang="en-US" sz="1600" dirty="0">
                <a:solidFill>
                  <a:srgbClr val="E8EDF5"/>
                </a:solidFill>
                <a:latin typeface="Open Sans" pitchFamily="34" charset="0"/>
                <a:ea typeface="Open Sans" pitchFamily="34" charset="-122"/>
                <a:cs typeface="Open Sans" pitchFamily="34" charset="-120"/>
              </a:rPr>
              <a:t>💭 Pare um momento e reflita: Quais tarefas do seu dia a dia profissional poderiam ser otimizadas ou automatizadas com o uso de uma ferramenta de IA sem código?</a:t>
            </a:r>
            <a:endParaRPr lang="en-US" sz="1600" dirty="0"/>
          </a:p>
        </p:txBody>
      </p:sp>
      <p:sp>
        <p:nvSpPr>
          <p:cNvPr id="35" name="Shape 33"/>
          <p:cNvSpPr/>
          <p:nvPr/>
        </p:nvSpPr>
        <p:spPr>
          <a:xfrm>
            <a:off x="0" y="6601968"/>
            <a:ext cx="2041093" cy="4572"/>
          </a:xfrm>
          <a:prstGeom prst="rect">
            <a:avLst/>
          </a:prstGeom>
          <a:solidFill>
            <a:srgbClr val="6C63FF"/>
          </a:solidFill>
          <a:ln/>
        </p:spPr>
      </p:sp>
      <p:sp>
        <p:nvSpPr>
          <p:cNvPr id="36" name="Shape 34"/>
          <p:cNvSpPr/>
          <p:nvPr/>
        </p:nvSpPr>
        <p:spPr>
          <a:xfrm>
            <a:off x="2031949" y="6601968"/>
            <a:ext cx="2041093" cy="4572"/>
          </a:xfrm>
          <a:prstGeom prst="rect">
            <a:avLst/>
          </a:prstGeom>
          <a:solidFill>
            <a:srgbClr val="6C63FF"/>
          </a:solidFill>
          <a:ln/>
        </p:spPr>
      </p:sp>
      <p:sp>
        <p:nvSpPr>
          <p:cNvPr id="37" name="Shape 35"/>
          <p:cNvSpPr/>
          <p:nvPr/>
        </p:nvSpPr>
        <p:spPr>
          <a:xfrm>
            <a:off x="4063898" y="6601968"/>
            <a:ext cx="2041093" cy="4572"/>
          </a:xfrm>
          <a:prstGeom prst="rect">
            <a:avLst/>
          </a:prstGeom>
          <a:solidFill>
            <a:srgbClr val="6C63FF"/>
          </a:solidFill>
          <a:ln/>
        </p:spPr>
      </p:sp>
      <p:sp>
        <p:nvSpPr>
          <p:cNvPr id="38" name="Shape 36"/>
          <p:cNvSpPr/>
          <p:nvPr/>
        </p:nvSpPr>
        <p:spPr>
          <a:xfrm>
            <a:off x="6095848" y="6601968"/>
            <a:ext cx="2041093" cy="4572"/>
          </a:xfrm>
          <a:prstGeom prst="rect">
            <a:avLst/>
          </a:prstGeom>
          <a:solidFill>
            <a:srgbClr val="6C63FF"/>
          </a:solidFill>
          <a:ln/>
        </p:spPr>
      </p:sp>
      <p:sp>
        <p:nvSpPr>
          <p:cNvPr id="39" name="Shape 37"/>
          <p:cNvSpPr/>
          <p:nvPr/>
        </p:nvSpPr>
        <p:spPr>
          <a:xfrm>
            <a:off x="8127797" y="6601968"/>
            <a:ext cx="2041093" cy="4572"/>
          </a:xfrm>
          <a:prstGeom prst="rect">
            <a:avLst/>
          </a:prstGeom>
          <a:solidFill>
            <a:srgbClr val="6C63FF"/>
          </a:solidFill>
          <a:ln/>
        </p:spPr>
      </p:sp>
      <p:sp>
        <p:nvSpPr>
          <p:cNvPr id="40" name="Shape 38"/>
          <p:cNvSpPr/>
          <p:nvPr/>
        </p:nvSpPr>
        <p:spPr>
          <a:xfrm>
            <a:off x="10159746" y="6601968"/>
            <a:ext cx="2041093" cy="4572"/>
          </a:xfrm>
          <a:prstGeom prst="rect">
            <a:avLst/>
          </a:prstGeom>
          <a:solidFill>
            <a:srgbClr val="6C63FF"/>
          </a:solidFill>
          <a:ln/>
        </p:spPr>
      </p:sp>
      <p:sp>
        <p:nvSpPr>
          <p:cNvPr id="41" name="Shape 39"/>
          <p:cNvSpPr/>
          <p:nvPr/>
        </p:nvSpPr>
        <p:spPr>
          <a:xfrm>
            <a:off x="0" y="6606540"/>
            <a:ext cx="12191695" cy="2743"/>
          </a:xfrm>
          <a:prstGeom prst="rect">
            <a:avLst/>
          </a:prstGeom>
          <a:solidFill>
            <a:srgbClr val="222E48"/>
          </a:solidFill>
          <a:ln/>
        </p:spPr>
      </p:sp>
      <p:sp>
        <p:nvSpPr>
          <p:cNvPr id="42" name="Text 40"/>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43" name="Shape 41"/>
          <p:cNvSpPr/>
          <p:nvPr/>
        </p:nvSpPr>
        <p:spPr>
          <a:xfrm>
            <a:off x="10436047" y="6693408"/>
            <a:ext cx="73152" cy="73152"/>
          </a:xfrm>
          <a:prstGeom prst="ellipse">
            <a:avLst/>
          </a:prstGeom>
          <a:solidFill>
            <a:srgbClr val="6C63FF"/>
          </a:solidFill>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6C63FF"/>
          </a:solidFill>
          <a:ln/>
        </p:spPr>
      </p:sp>
      <p:sp>
        <p:nvSpPr>
          <p:cNvPr id="3" name="Text 1"/>
          <p:cNvSpPr/>
          <p:nvPr/>
        </p:nvSpPr>
        <p:spPr>
          <a:xfrm>
            <a:off x="685800" y="274320"/>
            <a:ext cx="5486400" cy="219456"/>
          </a:xfrm>
          <a:prstGeom prst="rect">
            <a:avLst/>
          </a:prstGeom>
          <a:noFill/>
          <a:ln/>
        </p:spPr>
        <p:txBody>
          <a:bodyPr wrap="square" rtlCol="0" anchor="ctr"/>
          <a:lstStyle/>
          <a:p>
            <a:pPr indent="0" marL="0">
              <a:buNone/>
            </a:pPr>
            <a:r>
              <a:rPr lang="en-US" sz="1000" b="1" spc="500" kern="0" dirty="0">
                <a:solidFill>
                  <a:srgbClr val="6C63FF"/>
                </a:solidFill>
                <a:latin typeface="Open Sans" pitchFamily="34" charset="0"/>
                <a:ea typeface="Open Sans" pitchFamily="34" charset="-122"/>
                <a:cs typeface="Open Sans" pitchFamily="34" charset="-120"/>
              </a:rPr>
              <a:t>RESUMO DO MÓDULO</a:t>
            </a:r>
            <a:endParaRPr lang="en-US" sz="1000" dirty="0"/>
          </a:p>
        </p:txBody>
      </p:sp>
      <p:sp>
        <p:nvSpPr>
          <p:cNvPr id="4" name="Shape 2"/>
          <p:cNvSpPr/>
          <p:nvPr/>
        </p:nvSpPr>
        <p:spPr>
          <a:xfrm>
            <a:off x="685800" y="521208"/>
            <a:ext cx="822960" cy="18288"/>
          </a:xfrm>
          <a:prstGeom prst="rect">
            <a:avLst/>
          </a:prstGeom>
          <a:solidFill>
            <a:srgbClr val="6C63FF"/>
          </a:solidFill>
          <a:ln/>
        </p:spPr>
      </p:sp>
      <p:sp>
        <p:nvSpPr>
          <p:cNvPr id="5" name="Text 3"/>
          <p:cNvSpPr/>
          <p:nvPr/>
        </p:nvSpPr>
        <p:spPr>
          <a:xfrm>
            <a:off x="685800" y="621792"/>
            <a:ext cx="11048695" cy="685800"/>
          </a:xfrm>
          <a:prstGeom prst="rect">
            <a:avLst/>
          </a:prstGeom>
          <a:noFill/>
          <a:ln/>
        </p:spPr>
        <p:txBody>
          <a:bodyPr wrap="square" rtlCol="0" anchor="ctr"/>
          <a:lstStyle/>
          <a:p>
            <a:pPr indent="0" marL="0">
              <a:buNone/>
            </a:pPr>
            <a:r>
              <a:rPr lang="en-US" sz="2800" b="1" dirty="0">
                <a:solidFill>
                  <a:srgbClr val="E8EDF5"/>
                </a:solidFill>
                <a:latin typeface="Montserrat" pitchFamily="34" charset="0"/>
                <a:ea typeface="Montserrat" pitchFamily="34" charset="-122"/>
                <a:cs typeface="Montserrat" pitchFamily="34" charset="-120"/>
              </a:rPr>
              <a:t>Resumo do Módulo</a:t>
            </a:r>
            <a:endParaRPr lang="en-US" sz="2800" dirty="0"/>
          </a:p>
        </p:txBody>
      </p:sp>
      <p:sp>
        <p:nvSpPr>
          <p:cNvPr id="6" name="Shape 4"/>
          <p:cNvSpPr/>
          <p:nvPr/>
        </p:nvSpPr>
        <p:spPr>
          <a:xfrm>
            <a:off x="713232" y="1499616"/>
            <a:ext cx="11048695" cy="1371600"/>
          </a:xfrm>
          <a:prstGeom prst="roundRect">
            <a:avLst>
              <a:gd name="adj" fmla="val 6667"/>
            </a:avLst>
          </a:prstGeom>
          <a:solidFill>
            <a:srgbClr val="000000"/>
          </a:solidFill>
          <a:ln/>
        </p:spPr>
      </p:sp>
      <p:sp>
        <p:nvSpPr>
          <p:cNvPr id="7" name="Shape 5"/>
          <p:cNvSpPr/>
          <p:nvPr/>
        </p:nvSpPr>
        <p:spPr>
          <a:xfrm>
            <a:off x="685800" y="1463040"/>
            <a:ext cx="11048695" cy="1371600"/>
          </a:xfrm>
          <a:prstGeom prst="roundRect">
            <a:avLst>
              <a:gd name="adj" fmla="val 6667"/>
            </a:avLst>
          </a:prstGeom>
          <a:solidFill>
            <a:srgbClr val="141E34"/>
          </a:solidFill>
          <a:ln/>
        </p:spPr>
      </p:sp>
      <p:sp>
        <p:nvSpPr>
          <p:cNvPr id="8" name="Shape 6"/>
          <p:cNvSpPr/>
          <p:nvPr/>
        </p:nvSpPr>
        <p:spPr>
          <a:xfrm>
            <a:off x="685800" y="1463040"/>
            <a:ext cx="45720" cy="1371600"/>
          </a:xfrm>
          <a:prstGeom prst="rect">
            <a:avLst>
              <a:gd name="adj" fmla="val 200000"/>
            </a:avLst>
          </a:prstGeom>
          <a:solidFill>
            <a:srgbClr val="6C63FF"/>
          </a:solidFill>
          <a:ln/>
        </p:spPr>
      </p:sp>
      <p:sp>
        <p:nvSpPr>
          <p:cNvPr id="9" name="Shape 7"/>
          <p:cNvSpPr/>
          <p:nvPr/>
        </p:nvSpPr>
        <p:spPr>
          <a:xfrm>
            <a:off x="813816" y="1572768"/>
            <a:ext cx="365760" cy="365760"/>
          </a:xfrm>
          <a:prstGeom prst="roundRect">
            <a:avLst>
              <a:gd name="adj" fmla="val 20000"/>
            </a:avLst>
          </a:prstGeom>
          <a:solidFill>
            <a:srgbClr val="6C63FF"/>
          </a:solidFill>
          <a:ln/>
        </p:spPr>
      </p:sp>
      <p:sp>
        <p:nvSpPr>
          <p:cNvPr id="10" name="Text 8"/>
          <p:cNvSpPr/>
          <p:nvPr/>
        </p:nvSpPr>
        <p:spPr>
          <a:xfrm>
            <a:off x="813816" y="1572768"/>
            <a:ext cx="365760" cy="365760"/>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1</a:t>
            </a:r>
            <a:endParaRPr lang="en-US" sz="1600" dirty="0"/>
          </a:p>
        </p:txBody>
      </p:sp>
      <p:sp>
        <p:nvSpPr>
          <p:cNvPr id="11" name="Text 9"/>
          <p:cNvSpPr/>
          <p:nvPr/>
        </p:nvSpPr>
        <p:spPr>
          <a:xfrm>
            <a:off x="813816" y="1993392"/>
            <a:ext cx="10792663" cy="731520"/>
          </a:xfrm>
          <a:prstGeom prst="rect">
            <a:avLst/>
          </a:prstGeom>
          <a:noFill/>
          <a:ln/>
        </p:spPr>
        <p:txBody>
          <a:bodyPr wrap="square" rtlCol="0" anchor="t"/>
          <a:lstStyle/>
          <a:p>
            <a:pPr indent="0" marL="0">
              <a:lnSpc>
                <a:spcPct val="125000"/>
              </a:lnSpc>
              <a:buNone/>
            </a:pPr>
            <a:r>
              <a:rPr lang="en-US" sz="1700" dirty="0">
                <a:solidFill>
                  <a:srgbClr val="E8EDF5"/>
                </a:solidFill>
                <a:latin typeface="Open Sans" pitchFamily="34" charset="0"/>
                <a:ea typeface="Open Sans" pitchFamily="34" charset="-122"/>
                <a:cs typeface="Open Sans" pitchFamily="34" charset="-120"/>
              </a:rPr>
              <a:t>Este módulo explorou as ferramentas de IA acessíveis e sem código, demonstrando como elas democratizam o acesso à inteligência artificial.</a:t>
            </a:r>
            <a:endParaRPr lang="en-US" sz="1700" dirty="0"/>
          </a:p>
        </p:txBody>
      </p:sp>
      <p:sp>
        <p:nvSpPr>
          <p:cNvPr id="12" name="Shape 10"/>
          <p:cNvSpPr/>
          <p:nvPr/>
        </p:nvSpPr>
        <p:spPr>
          <a:xfrm>
            <a:off x="713232" y="2980944"/>
            <a:ext cx="11048695" cy="1371600"/>
          </a:xfrm>
          <a:prstGeom prst="roundRect">
            <a:avLst>
              <a:gd name="adj" fmla="val 6667"/>
            </a:avLst>
          </a:prstGeom>
          <a:solidFill>
            <a:srgbClr val="000000"/>
          </a:solidFill>
          <a:ln/>
        </p:spPr>
      </p:sp>
      <p:sp>
        <p:nvSpPr>
          <p:cNvPr id="13" name="Shape 11"/>
          <p:cNvSpPr/>
          <p:nvPr/>
        </p:nvSpPr>
        <p:spPr>
          <a:xfrm>
            <a:off x="685800" y="2944368"/>
            <a:ext cx="11048695" cy="1371600"/>
          </a:xfrm>
          <a:prstGeom prst="roundRect">
            <a:avLst>
              <a:gd name="adj" fmla="val 6667"/>
            </a:avLst>
          </a:prstGeom>
          <a:solidFill>
            <a:srgbClr val="141E34"/>
          </a:solidFill>
          <a:ln/>
        </p:spPr>
      </p:sp>
      <p:sp>
        <p:nvSpPr>
          <p:cNvPr id="14" name="Shape 12"/>
          <p:cNvSpPr/>
          <p:nvPr/>
        </p:nvSpPr>
        <p:spPr>
          <a:xfrm>
            <a:off x="685800" y="2944368"/>
            <a:ext cx="45720" cy="1371600"/>
          </a:xfrm>
          <a:prstGeom prst="rect">
            <a:avLst>
              <a:gd name="adj" fmla="val 200000"/>
            </a:avLst>
          </a:prstGeom>
          <a:solidFill>
            <a:srgbClr val="3B82F6"/>
          </a:solidFill>
          <a:ln/>
        </p:spPr>
      </p:sp>
      <p:sp>
        <p:nvSpPr>
          <p:cNvPr id="15" name="Shape 13"/>
          <p:cNvSpPr/>
          <p:nvPr/>
        </p:nvSpPr>
        <p:spPr>
          <a:xfrm>
            <a:off x="813816" y="3054096"/>
            <a:ext cx="365760" cy="365760"/>
          </a:xfrm>
          <a:prstGeom prst="roundRect">
            <a:avLst>
              <a:gd name="adj" fmla="val 20000"/>
            </a:avLst>
          </a:prstGeom>
          <a:solidFill>
            <a:srgbClr val="3B82F6"/>
          </a:solidFill>
          <a:ln/>
        </p:spPr>
      </p:sp>
      <p:sp>
        <p:nvSpPr>
          <p:cNvPr id="16" name="Text 14"/>
          <p:cNvSpPr/>
          <p:nvPr/>
        </p:nvSpPr>
        <p:spPr>
          <a:xfrm>
            <a:off x="813816" y="3054096"/>
            <a:ext cx="365760" cy="365760"/>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sp>
        <p:nvSpPr>
          <p:cNvPr id="17" name="Text 15"/>
          <p:cNvSpPr/>
          <p:nvPr/>
        </p:nvSpPr>
        <p:spPr>
          <a:xfrm>
            <a:off x="813816" y="3474720"/>
            <a:ext cx="10792663" cy="731520"/>
          </a:xfrm>
          <a:prstGeom prst="rect">
            <a:avLst/>
          </a:prstGeom>
          <a:noFill/>
          <a:ln/>
        </p:spPr>
        <p:txBody>
          <a:bodyPr wrap="square" rtlCol="0" anchor="t"/>
          <a:lstStyle/>
          <a:p>
            <a:pPr indent="0" marL="0">
              <a:lnSpc>
                <a:spcPct val="125000"/>
              </a:lnSpc>
              <a:buNone/>
            </a:pPr>
            <a:r>
              <a:rPr lang="en-US" sz="1700" dirty="0">
                <a:solidFill>
                  <a:srgbClr val="E8EDF5"/>
                </a:solidFill>
                <a:latin typeface="Open Sans" pitchFamily="34" charset="0"/>
                <a:ea typeface="Open Sans" pitchFamily="34" charset="-122"/>
                <a:cs typeface="Open Sans" pitchFamily="34" charset="-120"/>
              </a:rPr>
              <a:t>Abordamos as diferentes categorias de ferramentas e suas aplicações práticas no ambiente profissional.</a:t>
            </a:r>
            <a:endParaRPr lang="en-US" sz="1700" dirty="0"/>
          </a:p>
        </p:txBody>
      </p:sp>
      <p:sp>
        <p:nvSpPr>
          <p:cNvPr id="18" name="Shape 16"/>
          <p:cNvSpPr/>
          <p:nvPr/>
        </p:nvSpPr>
        <p:spPr>
          <a:xfrm>
            <a:off x="713232" y="4462272"/>
            <a:ext cx="11048695" cy="1371600"/>
          </a:xfrm>
          <a:prstGeom prst="roundRect">
            <a:avLst>
              <a:gd name="adj" fmla="val 6667"/>
            </a:avLst>
          </a:prstGeom>
          <a:solidFill>
            <a:srgbClr val="000000"/>
          </a:solidFill>
          <a:ln/>
        </p:spPr>
      </p:sp>
      <p:sp>
        <p:nvSpPr>
          <p:cNvPr id="19" name="Shape 17"/>
          <p:cNvSpPr/>
          <p:nvPr/>
        </p:nvSpPr>
        <p:spPr>
          <a:xfrm>
            <a:off x="685800" y="4425696"/>
            <a:ext cx="11048695" cy="1371600"/>
          </a:xfrm>
          <a:prstGeom prst="roundRect">
            <a:avLst>
              <a:gd name="adj" fmla="val 6667"/>
            </a:avLst>
          </a:prstGeom>
          <a:solidFill>
            <a:srgbClr val="141E34"/>
          </a:solidFill>
          <a:ln/>
        </p:spPr>
      </p:sp>
      <p:sp>
        <p:nvSpPr>
          <p:cNvPr id="20" name="Shape 18"/>
          <p:cNvSpPr/>
          <p:nvPr/>
        </p:nvSpPr>
        <p:spPr>
          <a:xfrm>
            <a:off x="685800" y="4425696"/>
            <a:ext cx="45720" cy="1371600"/>
          </a:xfrm>
          <a:prstGeom prst="rect">
            <a:avLst>
              <a:gd name="adj" fmla="val 200000"/>
            </a:avLst>
          </a:prstGeom>
          <a:solidFill>
            <a:srgbClr val="10B981"/>
          </a:solidFill>
          <a:ln/>
        </p:spPr>
      </p:sp>
      <p:sp>
        <p:nvSpPr>
          <p:cNvPr id="21" name="Shape 19"/>
          <p:cNvSpPr/>
          <p:nvPr/>
        </p:nvSpPr>
        <p:spPr>
          <a:xfrm>
            <a:off x="813816" y="4535424"/>
            <a:ext cx="365760" cy="365760"/>
          </a:xfrm>
          <a:prstGeom prst="roundRect">
            <a:avLst>
              <a:gd name="adj" fmla="val 20000"/>
            </a:avLst>
          </a:prstGeom>
          <a:solidFill>
            <a:srgbClr val="10B981"/>
          </a:solidFill>
          <a:ln/>
        </p:spPr>
      </p:sp>
      <p:sp>
        <p:nvSpPr>
          <p:cNvPr id="22" name="Text 20"/>
          <p:cNvSpPr/>
          <p:nvPr/>
        </p:nvSpPr>
        <p:spPr>
          <a:xfrm>
            <a:off x="813816" y="4535424"/>
            <a:ext cx="365760" cy="365760"/>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23" name="Text 21"/>
          <p:cNvSpPr/>
          <p:nvPr/>
        </p:nvSpPr>
        <p:spPr>
          <a:xfrm>
            <a:off x="813816" y="4956048"/>
            <a:ext cx="10792663" cy="731520"/>
          </a:xfrm>
          <a:prstGeom prst="rect">
            <a:avLst/>
          </a:prstGeom>
          <a:noFill/>
          <a:ln/>
        </p:spPr>
        <p:txBody>
          <a:bodyPr wrap="square" rtlCol="0" anchor="t"/>
          <a:lstStyle/>
          <a:p>
            <a:pPr indent="0" marL="0">
              <a:lnSpc>
                <a:spcPct val="125000"/>
              </a:lnSpc>
              <a:buNone/>
            </a:pPr>
            <a:r>
              <a:rPr lang="en-US" sz="1700" dirty="0">
                <a:solidFill>
                  <a:srgbClr val="E8EDF5"/>
                </a:solidFill>
                <a:latin typeface="Open Sans" pitchFamily="34" charset="0"/>
                <a:ea typeface="Open Sans" pitchFamily="34" charset="-122"/>
                <a:cs typeface="Open Sans" pitchFamily="34" charset="-120"/>
              </a:rPr>
              <a:t>A IA sem a necessidade de programação capacita profissionais a otimizar processos, gerar conteúdo, analisar dados e automatizar tarefas, transformando o dia a dia de forma eficiente e estratégica.</a:t>
            </a:r>
            <a:endParaRPr lang="en-US" sz="1700" dirty="0"/>
          </a:p>
        </p:txBody>
      </p:sp>
      <p:sp>
        <p:nvSpPr>
          <p:cNvPr id="24" name="Shape 22"/>
          <p:cNvSpPr/>
          <p:nvPr/>
        </p:nvSpPr>
        <p:spPr>
          <a:xfrm>
            <a:off x="0" y="6601968"/>
            <a:ext cx="2041093" cy="4572"/>
          </a:xfrm>
          <a:prstGeom prst="rect">
            <a:avLst/>
          </a:prstGeom>
          <a:solidFill>
            <a:srgbClr val="6C63FF"/>
          </a:solidFill>
          <a:ln/>
        </p:spPr>
      </p:sp>
      <p:sp>
        <p:nvSpPr>
          <p:cNvPr id="25" name="Shape 23"/>
          <p:cNvSpPr/>
          <p:nvPr/>
        </p:nvSpPr>
        <p:spPr>
          <a:xfrm>
            <a:off x="2031949" y="6601968"/>
            <a:ext cx="2041093" cy="4572"/>
          </a:xfrm>
          <a:prstGeom prst="rect">
            <a:avLst/>
          </a:prstGeom>
          <a:solidFill>
            <a:srgbClr val="6C63FF"/>
          </a:solidFill>
          <a:ln/>
        </p:spPr>
      </p:sp>
      <p:sp>
        <p:nvSpPr>
          <p:cNvPr id="26" name="Shape 24"/>
          <p:cNvSpPr/>
          <p:nvPr/>
        </p:nvSpPr>
        <p:spPr>
          <a:xfrm>
            <a:off x="4063898" y="6601968"/>
            <a:ext cx="2041093" cy="4572"/>
          </a:xfrm>
          <a:prstGeom prst="rect">
            <a:avLst/>
          </a:prstGeom>
          <a:solidFill>
            <a:srgbClr val="6C63FF"/>
          </a:solidFill>
          <a:ln/>
        </p:spPr>
      </p:sp>
      <p:sp>
        <p:nvSpPr>
          <p:cNvPr id="27" name="Shape 25"/>
          <p:cNvSpPr/>
          <p:nvPr/>
        </p:nvSpPr>
        <p:spPr>
          <a:xfrm>
            <a:off x="6095848" y="6601968"/>
            <a:ext cx="2041093" cy="4572"/>
          </a:xfrm>
          <a:prstGeom prst="rect">
            <a:avLst/>
          </a:prstGeom>
          <a:solidFill>
            <a:srgbClr val="6C63FF"/>
          </a:solidFill>
          <a:ln/>
        </p:spPr>
      </p:sp>
      <p:sp>
        <p:nvSpPr>
          <p:cNvPr id="28" name="Shape 26"/>
          <p:cNvSpPr/>
          <p:nvPr/>
        </p:nvSpPr>
        <p:spPr>
          <a:xfrm>
            <a:off x="8127797" y="6601968"/>
            <a:ext cx="2041093" cy="4572"/>
          </a:xfrm>
          <a:prstGeom prst="rect">
            <a:avLst/>
          </a:prstGeom>
          <a:solidFill>
            <a:srgbClr val="6C63FF"/>
          </a:solidFill>
          <a:ln/>
        </p:spPr>
      </p:sp>
      <p:sp>
        <p:nvSpPr>
          <p:cNvPr id="29" name="Shape 27"/>
          <p:cNvSpPr/>
          <p:nvPr/>
        </p:nvSpPr>
        <p:spPr>
          <a:xfrm>
            <a:off x="10159746" y="6601968"/>
            <a:ext cx="2041093" cy="4572"/>
          </a:xfrm>
          <a:prstGeom prst="rect">
            <a:avLst/>
          </a:prstGeom>
          <a:solidFill>
            <a:srgbClr val="6C63FF"/>
          </a:solidFill>
          <a:ln/>
        </p:spPr>
      </p:sp>
      <p:sp>
        <p:nvSpPr>
          <p:cNvPr id="30" name="Shape 28"/>
          <p:cNvSpPr/>
          <p:nvPr/>
        </p:nvSpPr>
        <p:spPr>
          <a:xfrm>
            <a:off x="0" y="6606540"/>
            <a:ext cx="12191695" cy="2743"/>
          </a:xfrm>
          <a:prstGeom prst="rect">
            <a:avLst/>
          </a:prstGeom>
          <a:solidFill>
            <a:srgbClr val="222E48"/>
          </a:solidFill>
          <a:ln/>
        </p:spPr>
      </p:sp>
      <p:sp>
        <p:nvSpPr>
          <p:cNvPr id="31" name="Text 29"/>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32" name="Shape 30"/>
          <p:cNvSpPr/>
          <p:nvPr/>
        </p:nvSpPr>
        <p:spPr>
          <a:xfrm>
            <a:off x="10436047" y="6693408"/>
            <a:ext cx="73152" cy="73152"/>
          </a:xfrm>
          <a:prstGeom prst="ellipse">
            <a:avLst/>
          </a:prstGeom>
          <a:solidFill>
            <a:srgbClr val="6C63FF"/>
          </a:solidFill>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50A18"/>
        </a:solidFill>
      </p:bgPr>
    </p:bg>
    <p:spTree>
      <p:nvGrpSpPr>
        <p:cNvPr id="1" name=""/>
        <p:cNvGrpSpPr/>
        <p:nvPr/>
      </p:nvGrpSpPr>
      <p:grpSpPr>
        <a:xfrm>
          <a:off x="0" y="0"/>
          <a:ext cx="0" cy="0"/>
          <a:chOff x="0" y="0"/>
          <a:chExt cx="0" cy="0"/>
        </a:xfrm>
      </p:grpSpPr>
      <p:sp>
        <p:nvSpPr>
          <p:cNvPr id="2" name="Shape 0"/>
          <p:cNvSpPr/>
          <p:nvPr/>
        </p:nvSpPr>
        <p:spPr>
          <a:xfrm>
            <a:off x="0" y="36576"/>
            <a:ext cx="12191695" cy="41148"/>
          </a:xfrm>
          <a:prstGeom prst="rect">
            <a:avLst/>
          </a:prstGeom>
          <a:solidFill>
            <a:srgbClr val="06B6D4"/>
          </a:solidFill>
          <a:ln/>
        </p:spPr>
      </p:sp>
      <p:sp>
        <p:nvSpPr>
          <p:cNvPr id="3" name="Text 1"/>
          <p:cNvSpPr/>
          <p:nvPr/>
        </p:nvSpPr>
        <p:spPr>
          <a:xfrm>
            <a:off x="594360" y="256032"/>
            <a:ext cx="5486400" cy="219456"/>
          </a:xfrm>
          <a:prstGeom prst="rect">
            <a:avLst/>
          </a:prstGeom>
          <a:noFill/>
          <a:ln/>
        </p:spPr>
        <p:txBody>
          <a:bodyPr wrap="square" rtlCol="0" anchor="ctr"/>
          <a:lstStyle/>
          <a:p>
            <a:pPr indent="0" marL="0">
              <a:buNone/>
            </a:pPr>
            <a:r>
              <a:rPr lang="en-US" sz="1000" b="1" spc="600" kern="0" dirty="0">
                <a:solidFill>
                  <a:srgbClr val="06B6D4"/>
                </a:solidFill>
                <a:latin typeface="Open Sans" pitchFamily="34" charset="0"/>
                <a:ea typeface="Open Sans" pitchFamily="34" charset="-122"/>
                <a:cs typeface="Open Sans" pitchFamily="34" charset="-120"/>
              </a:rPr>
              <a:t>KEY TAKEAWAYS</a:t>
            </a:r>
            <a:endParaRPr lang="en-US" sz="1000" dirty="0"/>
          </a:p>
        </p:txBody>
      </p:sp>
      <p:sp>
        <p:nvSpPr>
          <p:cNvPr id="4" name="Text 2"/>
          <p:cNvSpPr/>
          <p:nvPr/>
        </p:nvSpPr>
        <p:spPr>
          <a:xfrm>
            <a:off x="594360" y="530352"/>
            <a:ext cx="11002975" cy="640080"/>
          </a:xfrm>
          <a:prstGeom prst="rect">
            <a:avLst/>
          </a:prstGeom>
          <a:noFill/>
          <a:ln/>
        </p:spPr>
        <p:txBody>
          <a:bodyPr wrap="square"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Key Takeaways</a:t>
            </a:r>
            <a:endParaRPr lang="en-US" sz="2800" dirty="0"/>
          </a:p>
        </p:txBody>
      </p:sp>
      <p:sp>
        <p:nvSpPr>
          <p:cNvPr id="5" name="Shape 3"/>
          <p:cNvSpPr/>
          <p:nvPr/>
        </p:nvSpPr>
        <p:spPr>
          <a:xfrm>
            <a:off x="594360" y="1234440"/>
            <a:ext cx="1645920" cy="22860"/>
          </a:xfrm>
          <a:prstGeom prst="rect">
            <a:avLst/>
          </a:prstGeom>
          <a:solidFill>
            <a:srgbClr val="06B6D4"/>
          </a:solidFill>
          <a:ln/>
        </p:spPr>
      </p:sp>
      <p:sp>
        <p:nvSpPr>
          <p:cNvPr id="6" name="Shape 4"/>
          <p:cNvSpPr/>
          <p:nvPr/>
        </p:nvSpPr>
        <p:spPr>
          <a:xfrm>
            <a:off x="612648" y="1536192"/>
            <a:ext cx="3628034" cy="1645920"/>
          </a:xfrm>
          <a:prstGeom prst="roundRect">
            <a:avLst>
              <a:gd name="adj" fmla="val 6667"/>
            </a:avLst>
          </a:prstGeom>
          <a:solidFill>
            <a:srgbClr val="000000"/>
          </a:solidFill>
          <a:ln/>
        </p:spPr>
      </p:sp>
      <p:sp>
        <p:nvSpPr>
          <p:cNvPr id="7" name="Shape 5"/>
          <p:cNvSpPr/>
          <p:nvPr/>
        </p:nvSpPr>
        <p:spPr>
          <a:xfrm>
            <a:off x="594360" y="1508760"/>
            <a:ext cx="3628034" cy="1645920"/>
          </a:xfrm>
          <a:prstGeom prst="roundRect">
            <a:avLst>
              <a:gd name="adj" fmla="val 6667"/>
            </a:avLst>
          </a:prstGeom>
          <a:solidFill>
            <a:srgbClr val="111D38"/>
          </a:solidFill>
          <a:ln/>
        </p:spPr>
      </p:sp>
      <p:sp>
        <p:nvSpPr>
          <p:cNvPr id="8" name="Shape 6"/>
          <p:cNvSpPr/>
          <p:nvPr/>
        </p:nvSpPr>
        <p:spPr>
          <a:xfrm>
            <a:off x="594360" y="1508760"/>
            <a:ext cx="45720" cy="1645920"/>
          </a:xfrm>
          <a:prstGeom prst="rect">
            <a:avLst>
              <a:gd name="adj" fmla="val 240000"/>
            </a:avLst>
          </a:prstGeom>
          <a:solidFill>
            <a:srgbClr val="6C63FF"/>
          </a:solidFill>
          <a:ln/>
        </p:spPr>
      </p:sp>
      <p:sp>
        <p:nvSpPr>
          <p:cNvPr id="9" name="Shape 7"/>
          <p:cNvSpPr/>
          <p:nvPr/>
        </p:nvSpPr>
        <p:spPr>
          <a:xfrm>
            <a:off x="740664" y="1655064"/>
            <a:ext cx="384048" cy="384048"/>
          </a:xfrm>
          <a:prstGeom prst="roundRect">
            <a:avLst>
              <a:gd name="adj" fmla="val 19048"/>
            </a:avLst>
          </a:prstGeom>
          <a:solidFill>
            <a:srgbClr val="6C63FF"/>
          </a:solidFill>
          <a:ln/>
        </p:spPr>
      </p:sp>
      <p:sp>
        <p:nvSpPr>
          <p:cNvPr id="10" name="Text 8"/>
          <p:cNvSpPr/>
          <p:nvPr/>
        </p:nvSpPr>
        <p:spPr>
          <a:xfrm>
            <a:off x="740664" y="1655064"/>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1</a:t>
            </a:r>
            <a:endParaRPr lang="en-US" sz="1800" dirty="0"/>
          </a:p>
        </p:txBody>
      </p:sp>
      <p:sp>
        <p:nvSpPr>
          <p:cNvPr id="11" name="Text 9"/>
          <p:cNvSpPr/>
          <p:nvPr/>
        </p:nvSpPr>
        <p:spPr>
          <a:xfrm>
            <a:off x="740664" y="2130552"/>
            <a:ext cx="3335426" cy="896112"/>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A Inteligência Artificial acessível democratiza o uso da IA para todos os profissionais.</a:t>
            </a:r>
            <a:endParaRPr lang="en-US" sz="1400" dirty="0"/>
          </a:p>
        </p:txBody>
      </p:sp>
      <p:sp>
        <p:nvSpPr>
          <p:cNvPr id="12" name="Shape 10"/>
          <p:cNvSpPr/>
          <p:nvPr/>
        </p:nvSpPr>
        <p:spPr>
          <a:xfrm>
            <a:off x="4368698" y="1536192"/>
            <a:ext cx="3628034" cy="1645920"/>
          </a:xfrm>
          <a:prstGeom prst="roundRect">
            <a:avLst>
              <a:gd name="adj" fmla="val 6667"/>
            </a:avLst>
          </a:prstGeom>
          <a:solidFill>
            <a:srgbClr val="000000"/>
          </a:solidFill>
          <a:ln/>
        </p:spPr>
      </p:sp>
      <p:sp>
        <p:nvSpPr>
          <p:cNvPr id="13" name="Shape 11"/>
          <p:cNvSpPr/>
          <p:nvPr/>
        </p:nvSpPr>
        <p:spPr>
          <a:xfrm>
            <a:off x="4350410" y="1508760"/>
            <a:ext cx="3628034" cy="1645920"/>
          </a:xfrm>
          <a:prstGeom prst="roundRect">
            <a:avLst>
              <a:gd name="adj" fmla="val 6667"/>
            </a:avLst>
          </a:prstGeom>
          <a:solidFill>
            <a:srgbClr val="111D38"/>
          </a:solidFill>
          <a:ln/>
        </p:spPr>
      </p:sp>
      <p:sp>
        <p:nvSpPr>
          <p:cNvPr id="14" name="Shape 12"/>
          <p:cNvSpPr/>
          <p:nvPr/>
        </p:nvSpPr>
        <p:spPr>
          <a:xfrm>
            <a:off x="4350410" y="1508760"/>
            <a:ext cx="45720" cy="1645920"/>
          </a:xfrm>
          <a:prstGeom prst="rect">
            <a:avLst>
              <a:gd name="adj" fmla="val 240000"/>
            </a:avLst>
          </a:prstGeom>
          <a:solidFill>
            <a:srgbClr val="3B82F6"/>
          </a:solidFill>
          <a:ln/>
        </p:spPr>
      </p:sp>
      <p:sp>
        <p:nvSpPr>
          <p:cNvPr id="15" name="Shape 13"/>
          <p:cNvSpPr/>
          <p:nvPr/>
        </p:nvSpPr>
        <p:spPr>
          <a:xfrm>
            <a:off x="4496714" y="1655064"/>
            <a:ext cx="384048" cy="384048"/>
          </a:xfrm>
          <a:prstGeom prst="roundRect">
            <a:avLst>
              <a:gd name="adj" fmla="val 19048"/>
            </a:avLst>
          </a:prstGeom>
          <a:solidFill>
            <a:srgbClr val="3B82F6"/>
          </a:solidFill>
          <a:ln/>
        </p:spPr>
      </p:sp>
      <p:sp>
        <p:nvSpPr>
          <p:cNvPr id="16" name="Text 14"/>
          <p:cNvSpPr/>
          <p:nvPr/>
        </p:nvSpPr>
        <p:spPr>
          <a:xfrm>
            <a:off x="4496714" y="1655064"/>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2</a:t>
            </a:r>
            <a:endParaRPr lang="en-US" sz="1800" dirty="0"/>
          </a:p>
        </p:txBody>
      </p:sp>
      <p:sp>
        <p:nvSpPr>
          <p:cNvPr id="17" name="Text 15"/>
          <p:cNvSpPr/>
          <p:nvPr/>
        </p:nvSpPr>
        <p:spPr>
          <a:xfrm>
            <a:off x="4496714" y="2130552"/>
            <a:ext cx="3335426" cy="896112"/>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Ferramentas No-Code eliminam a necessidade de conhecimentos de programação, facilitando a adoção.</a:t>
            </a:r>
            <a:endParaRPr lang="en-US" sz="1400" dirty="0"/>
          </a:p>
        </p:txBody>
      </p:sp>
      <p:sp>
        <p:nvSpPr>
          <p:cNvPr id="18" name="Shape 16"/>
          <p:cNvSpPr/>
          <p:nvPr/>
        </p:nvSpPr>
        <p:spPr>
          <a:xfrm>
            <a:off x="8124749" y="1536192"/>
            <a:ext cx="3628034" cy="1645920"/>
          </a:xfrm>
          <a:prstGeom prst="roundRect">
            <a:avLst>
              <a:gd name="adj" fmla="val 6667"/>
            </a:avLst>
          </a:prstGeom>
          <a:solidFill>
            <a:srgbClr val="000000"/>
          </a:solidFill>
          <a:ln/>
        </p:spPr>
      </p:sp>
      <p:sp>
        <p:nvSpPr>
          <p:cNvPr id="19" name="Shape 17"/>
          <p:cNvSpPr/>
          <p:nvPr/>
        </p:nvSpPr>
        <p:spPr>
          <a:xfrm>
            <a:off x="8106461" y="1508760"/>
            <a:ext cx="3628034" cy="1645920"/>
          </a:xfrm>
          <a:prstGeom prst="roundRect">
            <a:avLst>
              <a:gd name="adj" fmla="val 6667"/>
            </a:avLst>
          </a:prstGeom>
          <a:solidFill>
            <a:srgbClr val="111D38"/>
          </a:solidFill>
          <a:ln/>
        </p:spPr>
      </p:sp>
      <p:sp>
        <p:nvSpPr>
          <p:cNvPr id="20" name="Shape 18"/>
          <p:cNvSpPr/>
          <p:nvPr/>
        </p:nvSpPr>
        <p:spPr>
          <a:xfrm>
            <a:off x="8106461" y="1508760"/>
            <a:ext cx="45720" cy="1645920"/>
          </a:xfrm>
          <a:prstGeom prst="rect">
            <a:avLst>
              <a:gd name="adj" fmla="val 240000"/>
            </a:avLst>
          </a:prstGeom>
          <a:solidFill>
            <a:srgbClr val="10B981"/>
          </a:solidFill>
          <a:ln/>
        </p:spPr>
      </p:sp>
      <p:sp>
        <p:nvSpPr>
          <p:cNvPr id="21" name="Shape 19"/>
          <p:cNvSpPr/>
          <p:nvPr/>
        </p:nvSpPr>
        <p:spPr>
          <a:xfrm>
            <a:off x="8252765" y="1655064"/>
            <a:ext cx="384048" cy="384048"/>
          </a:xfrm>
          <a:prstGeom prst="roundRect">
            <a:avLst>
              <a:gd name="adj" fmla="val 19048"/>
            </a:avLst>
          </a:prstGeom>
          <a:solidFill>
            <a:srgbClr val="10B981"/>
          </a:solidFill>
          <a:ln/>
        </p:spPr>
      </p:sp>
      <p:sp>
        <p:nvSpPr>
          <p:cNvPr id="22" name="Text 20"/>
          <p:cNvSpPr/>
          <p:nvPr/>
        </p:nvSpPr>
        <p:spPr>
          <a:xfrm>
            <a:off x="8252765" y="1655064"/>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3</a:t>
            </a:r>
            <a:endParaRPr lang="en-US" sz="1800" dirty="0"/>
          </a:p>
        </p:txBody>
      </p:sp>
      <p:sp>
        <p:nvSpPr>
          <p:cNvPr id="23" name="Text 21"/>
          <p:cNvSpPr/>
          <p:nvPr/>
        </p:nvSpPr>
        <p:spPr>
          <a:xfrm>
            <a:off x="8252765" y="2130552"/>
            <a:ext cx="3335426" cy="896112"/>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Assistentes virtuais e chatbots aprimoram o atendimento e a comunicação interna nas empresas.</a:t>
            </a:r>
            <a:endParaRPr lang="en-US" sz="1400" dirty="0"/>
          </a:p>
        </p:txBody>
      </p:sp>
      <p:sp>
        <p:nvSpPr>
          <p:cNvPr id="24" name="Shape 22"/>
          <p:cNvSpPr/>
          <p:nvPr/>
        </p:nvSpPr>
        <p:spPr>
          <a:xfrm>
            <a:off x="612648" y="3310128"/>
            <a:ext cx="3628034" cy="1645920"/>
          </a:xfrm>
          <a:prstGeom prst="roundRect">
            <a:avLst>
              <a:gd name="adj" fmla="val 6667"/>
            </a:avLst>
          </a:prstGeom>
          <a:solidFill>
            <a:srgbClr val="000000"/>
          </a:solidFill>
          <a:ln/>
        </p:spPr>
      </p:sp>
      <p:sp>
        <p:nvSpPr>
          <p:cNvPr id="25" name="Shape 23"/>
          <p:cNvSpPr/>
          <p:nvPr/>
        </p:nvSpPr>
        <p:spPr>
          <a:xfrm>
            <a:off x="594360" y="3282696"/>
            <a:ext cx="3628034" cy="1645920"/>
          </a:xfrm>
          <a:prstGeom prst="roundRect">
            <a:avLst>
              <a:gd name="adj" fmla="val 6667"/>
            </a:avLst>
          </a:prstGeom>
          <a:solidFill>
            <a:srgbClr val="111D38"/>
          </a:solidFill>
          <a:ln/>
        </p:spPr>
      </p:sp>
      <p:sp>
        <p:nvSpPr>
          <p:cNvPr id="26" name="Shape 24"/>
          <p:cNvSpPr/>
          <p:nvPr/>
        </p:nvSpPr>
        <p:spPr>
          <a:xfrm>
            <a:off x="594360" y="3282696"/>
            <a:ext cx="45720" cy="1645920"/>
          </a:xfrm>
          <a:prstGeom prst="rect">
            <a:avLst>
              <a:gd name="adj" fmla="val 240000"/>
            </a:avLst>
          </a:prstGeom>
          <a:solidFill>
            <a:srgbClr val="F59E0B"/>
          </a:solidFill>
          <a:ln/>
        </p:spPr>
      </p:sp>
      <p:sp>
        <p:nvSpPr>
          <p:cNvPr id="27" name="Shape 25"/>
          <p:cNvSpPr/>
          <p:nvPr/>
        </p:nvSpPr>
        <p:spPr>
          <a:xfrm>
            <a:off x="740664" y="3429000"/>
            <a:ext cx="384048" cy="384048"/>
          </a:xfrm>
          <a:prstGeom prst="roundRect">
            <a:avLst>
              <a:gd name="adj" fmla="val 19048"/>
            </a:avLst>
          </a:prstGeom>
          <a:solidFill>
            <a:srgbClr val="F59E0B"/>
          </a:solidFill>
          <a:ln/>
        </p:spPr>
      </p:sp>
      <p:sp>
        <p:nvSpPr>
          <p:cNvPr id="28" name="Text 26"/>
          <p:cNvSpPr/>
          <p:nvPr/>
        </p:nvSpPr>
        <p:spPr>
          <a:xfrm>
            <a:off x="740664" y="3429000"/>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4</a:t>
            </a:r>
            <a:endParaRPr lang="en-US" sz="1800" dirty="0"/>
          </a:p>
        </p:txBody>
      </p:sp>
      <p:sp>
        <p:nvSpPr>
          <p:cNvPr id="29" name="Text 27"/>
          <p:cNvSpPr/>
          <p:nvPr/>
        </p:nvSpPr>
        <p:spPr>
          <a:xfrm>
            <a:off x="740664" y="3904488"/>
            <a:ext cx="3335426" cy="896112"/>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Ferramentas de automação de texto agilizam a criação de conteúdo e a comunicação escrita.</a:t>
            </a:r>
            <a:endParaRPr lang="en-US" sz="1400" dirty="0"/>
          </a:p>
        </p:txBody>
      </p:sp>
      <p:sp>
        <p:nvSpPr>
          <p:cNvPr id="30" name="Shape 28"/>
          <p:cNvSpPr/>
          <p:nvPr/>
        </p:nvSpPr>
        <p:spPr>
          <a:xfrm>
            <a:off x="4368698" y="3310128"/>
            <a:ext cx="3628034" cy="1645920"/>
          </a:xfrm>
          <a:prstGeom prst="roundRect">
            <a:avLst>
              <a:gd name="adj" fmla="val 6667"/>
            </a:avLst>
          </a:prstGeom>
          <a:solidFill>
            <a:srgbClr val="000000"/>
          </a:solidFill>
          <a:ln/>
        </p:spPr>
      </p:sp>
      <p:sp>
        <p:nvSpPr>
          <p:cNvPr id="31" name="Shape 29"/>
          <p:cNvSpPr/>
          <p:nvPr/>
        </p:nvSpPr>
        <p:spPr>
          <a:xfrm>
            <a:off x="4350410" y="3282696"/>
            <a:ext cx="3628034" cy="1645920"/>
          </a:xfrm>
          <a:prstGeom prst="roundRect">
            <a:avLst>
              <a:gd name="adj" fmla="val 6667"/>
            </a:avLst>
          </a:prstGeom>
          <a:solidFill>
            <a:srgbClr val="111D38"/>
          </a:solidFill>
          <a:ln/>
        </p:spPr>
      </p:sp>
      <p:sp>
        <p:nvSpPr>
          <p:cNvPr id="32" name="Shape 30"/>
          <p:cNvSpPr/>
          <p:nvPr/>
        </p:nvSpPr>
        <p:spPr>
          <a:xfrm>
            <a:off x="4350410" y="3282696"/>
            <a:ext cx="45720" cy="1645920"/>
          </a:xfrm>
          <a:prstGeom prst="rect">
            <a:avLst>
              <a:gd name="adj" fmla="val 240000"/>
            </a:avLst>
          </a:prstGeom>
          <a:solidFill>
            <a:srgbClr val="06B6D4"/>
          </a:solidFill>
          <a:ln/>
        </p:spPr>
      </p:sp>
      <p:sp>
        <p:nvSpPr>
          <p:cNvPr id="33" name="Shape 31"/>
          <p:cNvSpPr/>
          <p:nvPr/>
        </p:nvSpPr>
        <p:spPr>
          <a:xfrm>
            <a:off x="4496714" y="3429000"/>
            <a:ext cx="384048" cy="384048"/>
          </a:xfrm>
          <a:prstGeom prst="roundRect">
            <a:avLst>
              <a:gd name="adj" fmla="val 19048"/>
            </a:avLst>
          </a:prstGeom>
          <a:solidFill>
            <a:srgbClr val="06B6D4"/>
          </a:solidFill>
          <a:ln/>
        </p:spPr>
      </p:sp>
      <p:sp>
        <p:nvSpPr>
          <p:cNvPr id="34" name="Text 32"/>
          <p:cNvSpPr/>
          <p:nvPr/>
        </p:nvSpPr>
        <p:spPr>
          <a:xfrm>
            <a:off x="4496714" y="3429000"/>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5</a:t>
            </a:r>
            <a:endParaRPr lang="en-US" sz="1800" dirty="0"/>
          </a:p>
        </p:txBody>
      </p:sp>
      <p:sp>
        <p:nvSpPr>
          <p:cNvPr id="35" name="Text 33"/>
          <p:cNvSpPr/>
          <p:nvPr/>
        </p:nvSpPr>
        <p:spPr>
          <a:xfrm>
            <a:off x="4496714" y="3904488"/>
            <a:ext cx="3335426" cy="896112"/>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A análise de dados simplificada permite percepções valiosas para tomada de decisões estratégicas.</a:t>
            </a:r>
            <a:endParaRPr lang="en-US" sz="1400" dirty="0"/>
          </a:p>
        </p:txBody>
      </p:sp>
      <p:sp>
        <p:nvSpPr>
          <p:cNvPr id="36" name="Shape 34"/>
          <p:cNvSpPr/>
          <p:nvPr/>
        </p:nvSpPr>
        <p:spPr>
          <a:xfrm>
            <a:off x="8124749" y="3310128"/>
            <a:ext cx="3628034" cy="1645920"/>
          </a:xfrm>
          <a:prstGeom prst="roundRect">
            <a:avLst>
              <a:gd name="adj" fmla="val 6667"/>
            </a:avLst>
          </a:prstGeom>
          <a:solidFill>
            <a:srgbClr val="000000"/>
          </a:solidFill>
          <a:ln/>
        </p:spPr>
      </p:sp>
      <p:sp>
        <p:nvSpPr>
          <p:cNvPr id="37" name="Shape 35"/>
          <p:cNvSpPr/>
          <p:nvPr/>
        </p:nvSpPr>
        <p:spPr>
          <a:xfrm>
            <a:off x="8106461" y="3282696"/>
            <a:ext cx="3628034" cy="1645920"/>
          </a:xfrm>
          <a:prstGeom prst="roundRect">
            <a:avLst>
              <a:gd name="adj" fmla="val 6667"/>
            </a:avLst>
          </a:prstGeom>
          <a:solidFill>
            <a:srgbClr val="111D38"/>
          </a:solidFill>
          <a:ln/>
        </p:spPr>
      </p:sp>
      <p:sp>
        <p:nvSpPr>
          <p:cNvPr id="38" name="Shape 36"/>
          <p:cNvSpPr/>
          <p:nvPr/>
        </p:nvSpPr>
        <p:spPr>
          <a:xfrm>
            <a:off x="8106461" y="3282696"/>
            <a:ext cx="45720" cy="1645920"/>
          </a:xfrm>
          <a:prstGeom prst="rect">
            <a:avLst>
              <a:gd name="adj" fmla="val 240000"/>
            </a:avLst>
          </a:prstGeom>
          <a:solidFill>
            <a:srgbClr val="6C63FF"/>
          </a:solidFill>
          <a:ln/>
        </p:spPr>
      </p:sp>
      <p:sp>
        <p:nvSpPr>
          <p:cNvPr id="39" name="Shape 37"/>
          <p:cNvSpPr/>
          <p:nvPr/>
        </p:nvSpPr>
        <p:spPr>
          <a:xfrm>
            <a:off x="8252765" y="3429000"/>
            <a:ext cx="384048" cy="384048"/>
          </a:xfrm>
          <a:prstGeom prst="roundRect">
            <a:avLst>
              <a:gd name="adj" fmla="val 19048"/>
            </a:avLst>
          </a:prstGeom>
          <a:solidFill>
            <a:srgbClr val="6C63FF"/>
          </a:solidFill>
          <a:ln/>
        </p:spPr>
      </p:sp>
      <p:sp>
        <p:nvSpPr>
          <p:cNvPr id="40" name="Text 38"/>
          <p:cNvSpPr/>
          <p:nvPr/>
        </p:nvSpPr>
        <p:spPr>
          <a:xfrm>
            <a:off x="8252765" y="3429000"/>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6</a:t>
            </a:r>
            <a:endParaRPr lang="en-US" sz="1800" dirty="0"/>
          </a:p>
        </p:txBody>
      </p:sp>
      <p:sp>
        <p:nvSpPr>
          <p:cNvPr id="41" name="Text 39"/>
          <p:cNvSpPr/>
          <p:nvPr/>
        </p:nvSpPr>
        <p:spPr>
          <a:xfrm>
            <a:off x="8252765" y="3904488"/>
            <a:ext cx="3335426" cy="896112"/>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A automação de fluxos de trabalho (RPA No-Code) otimiza tarefas repetitivas e libera tempo.</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50A1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58851" y="0"/>
            <a:ext cx="4632844" cy="6858000"/>
          </a:xfrm>
          <a:prstGeom prst="rect">
            <a:avLst/>
          </a:prstGeom>
        </p:spPr>
      </p:pic>
      <p:sp>
        <p:nvSpPr>
          <p:cNvPr id="3" name="Shape 0"/>
          <p:cNvSpPr/>
          <p:nvPr/>
        </p:nvSpPr>
        <p:spPr>
          <a:xfrm>
            <a:off x="7558851" y="0"/>
            <a:ext cx="4632844" cy="6858000"/>
          </a:xfrm>
          <a:prstGeom prst="rect">
            <a:avLst/>
          </a:prstGeom>
          <a:solidFill>
            <a:srgbClr val="10B981"/>
          </a:solidFill>
          <a:ln/>
        </p:spPr>
      </p:sp>
      <p:sp>
        <p:nvSpPr>
          <p:cNvPr id="4" name="Shape 1"/>
          <p:cNvSpPr/>
          <p:nvPr/>
        </p:nvSpPr>
        <p:spPr>
          <a:xfrm>
            <a:off x="7558851" y="0"/>
            <a:ext cx="4632844" cy="6858000"/>
          </a:xfrm>
          <a:prstGeom prst="rect">
            <a:avLst/>
          </a:prstGeom>
          <a:solidFill>
            <a:srgbClr val="050A18"/>
          </a:solidFill>
          <a:ln/>
        </p:spPr>
      </p:sp>
      <p:sp>
        <p:nvSpPr>
          <p:cNvPr id="5" name="Shape 2"/>
          <p:cNvSpPr/>
          <p:nvPr/>
        </p:nvSpPr>
        <p:spPr>
          <a:xfrm>
            <a:off x="7558851" y="0"/>
            <a:ext cx="36576" cy="6858000"/>
          </a:xfrm>
          <a:prstGeom prst="rect">
            <a:avLst/>
          </a:prstGeom>
          <a:solidFill>
            <a:srgbClr val="10B981"/>
          </a:solidFill>
          <a:ln/>
        </p:spPr>
      </p:sp>
      <p:sp>
        <p:nvSpPr>
          <p:cNvPr id="6" name="Text 3"/>
          <p:cNvSpPr/>
          <p:nvPr/>
        </p:nvSpPr>
        <p:spPr>
          <a:xfrm>
            <a:off x="8534095" y="6565392"/>
            <a:ext cx="3291840" cy="201168"/>
          </a:xfrm>
          <a:prstGeom prst="rect">
            <a:avLst/>
          </a:prstGeom>
          <a:noFill/>
          <a:ln/>
        </p:spPr>
        <p:txBody>
          <a:bodyPr wrap="square" rtlCol="0" anchor="ctr"/>
          <a:lstStyle/>
          <a:p>
            <a:pPr algn="r" indent="0" marL="0">
              <a:buNone/>
            </a:pPr>
            <a:r>
              <a:rPr lang="en-US" sz="700" dirty="0">
                <a:solidFill>
                  <a:srgbClr val="FFFFFF">
                    <a:alpha val="50000"/>
                  </a:srgbClr>
                </a:solidFill>
                <a:latin typeface="Open Sans" pitchFamily="34" charset="0"/>
                <a:ea typeface="Open Sans" pitchFamily="34" charset="-122"/>
                <a:cs typeface="Open Sans" pitchFamily="34" charset="-120"/>
              </a:rPr>
              <a:t>Foto: 1981 Digital / Unsplash</a:t>
            </a:r>
            <a:endParaRPr lang="en-US" sz="700" dirty="0"/>
          </a:p>
        </p:txBody>
      </p:sp>
      <p:sp>
        <p:nvSpPr>
          <p:cNvPr id="7" name="Shape 4"/>
          <p:cNvSpPr/>
          <p:nvPr/>
        </p:nvSpPr>
        <p:spPr>
          <a:xfrm>
            <a:off x="4535311" y="0"/>
            <a:ext cx="3401483" cy="1152144"/>
          </a:xfrm>
          <a:prstGeom prst="rect">
            <a:avLst/>
          </a:prstGeom>
          <a:solidFill>
            <a:srgbClr val="10B981"/>
          </a:solidFill>
          <a:ln/>
        </p:spPr>
      </p:sp>
      <p:sp>
        <p:nvSpPr>
          <p:cNvPr id="8" name="Shape 5"/>
          <p:cNvSpPr/>
          <p:nvPr/>
        </p:nvSpPr>
        <p:spPr>
          <a:xfrm>
            <a:off x="4535311" y="1143000"/>
            <a:ext cx="3401483" cy="1152144"/>
          </a:xfrm>
          <a:prstGeom prst="rect">
            <a:avLst/>
          </a:prstGeom>
          <a:solidFill>
            <a:srgbClr val="10B981"/>
          </a:solidFill>
          <a:ln/>
        </p:spPr>
      </p:sp>
      <p:sp>
        <p:nvSpPr>
          <p:cNvPr id="9" name="Shape 6"/>
          <p:cNvSpPr/>
          <p:nvPr/>
        </p:nvSpPr>
        <p:spPr>
          <a:xfrm>
            <a:off x="4535311" y="2286000"/>
            <a:ext cx="3401483" cy="1152144"/>
          </a:xfrm>
          <a:prstGeom prst="rect">
            <a:avLst/>
          </a:prstGeom>
          <a:solidFill>
            <a:srgbClr val="10B981"/>
          </a:solidFill>
          <a:ln/>
        </p:spPr>
      </p:sp>
      <p:sp>
        <p:nvSpPr>
          <p:cNvPr id="10" name="Shape 7"/>
          <p:cNvSpPr/>
          <p:nvPr/>
        </p:nvSpPr>
        <p:spPr>
          <a:xfrm>
            <a:off x="4535311" y="3429000"/>
            <a:ext cx="3401483" cy="1152144"/>
          </a:xfrm>
          <a:prstGeom prst="rect">
            <a:avLst/>
          </a:prstGeom>
          <a:solidFill>
            <a:srgbClr val="10B981"/>
          </a:solidFill>
          <a:ln/>
        </p:spPr>
      </p:sp>
      <p:sp>
        <p:nvSpPr>
          <p:cNvPr id="11" name="Shape 8"/>
          <p:cNvSpPr/>
          <p:nvPr/>
        </p:nvSpPr>
        <p:spPr>
          <a:xfrm>
            <a:off x="4535311" y="4572000"/>
            <a:ext cx="3401483" cy="1152144"/>
          </a:xfrm>
          <a:prstGeom prst="rect">
            <a:avLst/>
          </a:prstGeom>
          <a:solidFill>
            <a:srgbClr val="10B981"/>
          </a:solidFill>
          <a:ln/>
        </p:spPr>
      </p:sp>
      <p:sp>
        <p:nvSpPr>
          <p:cNvPr id="12" name="Shape 9"/>
          <p:cNvSpPr/>
          <p:nvPr/>
        </p:nvSpPr>
        <p:spPr>
          <a:xfrm>
            <a:off x="4535311" y="5715000"/>
            <a:ext cx="3401483" cy="1152144"/>
          </a:xfrm>
          <a:prstGeom prst="rect">
            <a:avLst/>
          </a:prstGeom>
          <a:solidFill>
            <a:srgbClr val="10B981"/>
          </a:solidFill>
          <a:ln/>
        </p:spPr>
      </p:sp>
      <p:sp>
        <p:nvSpPr>
          <p:cNvPr id="13" name="Shape 10"/>
          <p:cNvSpPr/>
          <p:nvPr/>
        </p:nvSpPr>
        <p:spPr>
          <a:xfrm>
            <a:off x="731520" y="1005840"/>
            <a:ext cx="45720" cy="2103120"/>
          </a:xfrm>
          <a:prstGeom prst="rect">
            <a:avLst/>
          </a:prstGeom>
          <a:solidFill>
            <a:srgbClr val="10B981"/>
          </a:solidFill>
          <a:ln/>
        </p:spPr>
      </p:sp>
      <p:sp>
        <p:nvSpPr>
          <p:cNvPr id="14" name="Shape 11"/>
          <p:cNvSpPr/>
          <p:nvPr/>
        </p:nvSpPr>
        <p:spPr>
          <a:xfrm>
            <a:off x="804672" y="1005840"/>
            <a:ext cx="13716" cy="2103120"/>
          </a:xfrm>
          <a:prstGeom prst="rect">
            <a:avLst/>
          </a:prstGeom>
          <a:solidFill>
            <a:srgbClr val="10B981"/>
          </a:solidFill>
          <a:ln/>
        </p:spPr>
      </p:sp>
      <p:sp>
        <p:nvSpPr>
          <p:cNvPr id="15" name="Text 12"/>
          <p:cNvSpPr/>
          <p:nvPr/>
        </p:nvSpPr>
        <p:spPr>
          <a:xfrm>
            <a:off x="1005840" y="1097280"/>
            <a:ext cx="4572000" cy="256032"/>
          </a:xfrm>
          <a:prstGeom prst="rect">
            <a:avLst/>
          </a:prstGeom>
          <a:noFill/>
          <a:ln/>
        </p:spPr>
        <p:txBody>
          <a:bodyPr wrap="square" rtlCol="0" anchor="ctr"/>
          <a:lstStyle/>
          <a:p>
            <a:pPr indent="0" marL="0">
              <a:buNone/>
            </a:pPr>
            <a:r>
              <a:rPr lang="en-US" sz="1100" b="1" spc="800" kern="0" dirty="0">
                <a:solidFill>
                  <a:srgbClr val="10B981"/>
                </a:solidFill>
                <a:latin typeface="Open Sans" pitchFamily="34" charset="0"/>
                <a:ea typeface="Open Sans" pitchFamily="34" charset="-122"/>
                <a:cs typeface="Open Sans" pitchFamily="34" charset="-120"/>
              </a:rPr>
              <a:t>MÓDULO 03</a:t>
            </a:r>
            <a:endParaRPr lang="en-US" sz="1100" dirty="0"/>
          </a:p>
        </p:txBody>
      </p:sp>
      <p:sp>
        <p:nvSpPr>
          <p:cNvPr id="16" name="Shape 13"/>
          <p:cNvSpPr/>
          <p:nvPr/>
        </p:nvSpPr>
        <p:spPr>
          <a:xfrm>
            <a:off x="1005840" y="1481328"/>
            <a:ext cx="1280160" cy="20117"/>
          </a:xfrm>
          <a:prstGeom prst="rect">
            <a:avLst/>
          </a:prstGeom>
          <a:solidFill>
            <a:srgbClr val="10B981"/>
          </a:solidFill>
          <a:ln/>
        </p:spPr>
      </p:sp>
      <p:sp>
        <p:nvSpPr>
          <p:cNvPr id="17" name="Text 14"/>
          <p:cNvSpPr/>
          <p:nvPr/>
        </p:nvSpPr>
        <p:spPr>
          <a:xfrm>
            <a:off x="1005840" y="1691640"/>
            <a:ext cx="5669138" cy="2286000"/>
          </a:xfrm>
          <a:prstGeom prst="rect">
            <a:avLst/>
          </a:prstGeom>
          <a:noFill/>
          <a:ln/>
        </p:spPr>
        <p:txBody>
          <a:bodyPr wrap="square" rtlCol="0" anchor="t"/>
          <a:lstStyle/>
          <a:p>
            <a:pPr indent="0" marL="0">
              <a:lnSpc>
                <a:spcPct val="102000"/>
              </a:lnSpc>
              <a:buNone/>
            </a:pPr>
            <a:r>
              <a:rPr lang="en-US" sz="3600" b="1" dirty="0">
                <a:solidFill>
                  <a:srgbClr val="FFFFFF"/>
                </a:solidFill>
                <a:latin typeface="Montserrat" pitchFamily="34" charset="0"/>
                <a:ea typeface="Montserrat" pitchFamily="34" charset="-122"/>
                <a:cs typeface="Montserrat" pitchFamily="34" charset="-120"/>
              </a:rPr>
              <a:t>IA para Análise de Dados e Geração de Insights Estratégicos</a:t>
            </a:r>
            <a:endParaRPr lang="en-US" sz="3600" dirty="0"/>
          </a:p>
        </p:txBody>
      </p:sp>
      <p:sp>
        <p:nvSpPr>
          <p:cNvPr id="18" name="Shape 15"/>
          <p:cNvSpPr/>
          <p:nvPr/>
        </p:nvSpPr>
        <p:spPr>
          <a:xfrm>
            <a:off x="1005840" y="4142232"/>
            <a:ext cx="2011680" cy="10973"/>
          </a:xfrm>
          <a:prstGeom prst="rect">
            <a:avLst/>
          </a:prstGeom>
          <a:solidFill>
            <a:srgbClr val="10B981"/>
          </a:solidFill>
          <a:ln/>
        </p:spPr>
      </p:sp>
      <p:sp>
        <p:nvSpPr>
          <p:cNvPr id="19" name="Text 16"/>
          <p:cNvSpPr/>
          <p:nvPr/>
        </p:nvSpPr>
        <p:spPr>
          <a:xfrm>
            <a:off x="1005840" y="4251960"/>
            <a:ext cx="4572000" cy="201168"/>
          </a:xfrm>
          <a:prstGeom prst="rect">
            <a:avLst/>
          </a:prstGeom>
          <a:noFill/>
          <a:ln/>
        </p:spPr>
        <p:txBody>
          <a:bodyPr wrap="square" rtlCol="0" anchor="ctr"/>
          <a:lstStyle/>
          <a:p>
            <a:pPr indent="0" marL="0">
              <a:buNone/>
            </a:pPr>
            <a:r>
              <a:rPr lang="en-US" sz="800" b="1" spc="500" kern="0" dirty="0">
                <a:solidFill>
                  <a:srgbClr val="10B981"/>
                </a:solidFill>
                <a:latin typeface="Open Sans" pitchFamily="34" charset="0"/>
                <a:ea typeface="Open Sans" pitchFamily="34" charset="-122"/>
                <a:cs typeface="Open Sans" pitchFamily="34" charset="-120"/>
              </a:rPr>
              <a:t>O QUE VOCÊ VAI APRENDER</a:t>
            </a:r>
            <a:endParaRPr lang="en-US" sz="800" dirty="0"/>
          </a:p>
        </p:txBody>
      </p:sp>
      <p:sp>
        <p:nvSpPr>
          <p:cNvPr id="20" name="Shape 17"/>
          <p:cNvSpPr/>
          <p:nvPr/>
        </p:nvSpPr>
        <p:spPr>
          <a:xfrm>
            <a:off x="1005840" y="4590288"/>
            <a:ext cx="109728" cy="109728"/>
          </a:xfrm>
          <a:prstGeom prst="roundRect">
            <a:avLst>
              <a:gd name="adj" fmla="val 16667"/>
            </a:avLst>
          </a:prstGeom>
          <a:solidFill>
            <a:srgbClr val="10B981"/>
          </a:solidFill>
          <a:ln/>
        </p:spPr>
      </p:sp>
      <p:sp>
        <p:nvSpPr>
          <p:cNvPr id="21" name="Text 18"/>
          <p:cNvSpPr/>
          <p:nvPr/>
        </p:nvSpPr>
        <p:spPr>
          <a:xfrm>
            <a:off x="1234440" y="4544568"/>
            <a:ext cx="5291196" cy="347472"/>
          </a:xfrm>
          <a:prstGeom prst="rect">
            <a:avLst/>
          </a:prstGeom>
          <a:noFill/>
          <a:ln/>
        </p:spPr>
        <p:txBody>
          <a:bodyPr wrap="square" rtlCol="0" anchor="ctr"/>
          <a:lstStyle/>
          <a:p>
            <a:pPr indent="0" marL="0">
              <a:lnSpc>
                <a:spcPct val="112000"/>
              </a:lnSpc>
              <a:buNone/>
            </a:pPr>
            <a:r>
              <a:rPr lang="en-US" sz="1100" dirty="0">
                <a:solidFill>
                  <a:srgbClr val="94A3C0"/>
                </a:solidFill>
                <a:latin typeface="Open Sans" pitchFamily="34" charset="0"/>
                <a:ea typeface="Open Sans" pitchFamily="34" charset="-122"/>
                <a:cs typeface="Open Sans" pitchFamily="34" charset="-120"/>
              </a:rPr>
              <a:t>Entender como a Inteligência Artificial revoluciona a análise de dados.</a:t>
            </a:r>
            <a:endParaRPr lang="en-US" sz="1100" dirty="0"/>
          </a:p>
        </p:txBody>
      </p:sp>
      <p:sp>
        <p:nvSpPr>
          <p:cNvPr id="22" name="Shape 19"/>
          <p:cNvSpPr/>
          <p:nvPr/>
        </p:nvSpPr>
        <p:spPr>
          <a:xfrm>
            <a:off x="1005840" y="4992624"/>
            <a:ext cx="109728" cy="109728"/>
          </a:xfrm>
          <a:prstGeom prst="roundRect">
            <a:avLst>
              <a:gd name="adj" fmla="val 16667"/>
            </a:avLst>
          </a:prstGeom>
          <a:solidFill>
            <a:srgbClr val="10B981"/>
          </a:solidFill>
          <a:ln/>
        </p:spPr>
      </p:sp>
      <p:sp>
        <p:nvSpPr>
          <p:cNvPr id="23" name="Text 20"/>
          <p:cNvSpPr/>
          <p:nvPr/>
        </p:nvSpPr>
        <p:spPr>
          <a:xfrm>
            <a:off x="1234440" y="4946904"/>
            <a:ext cx="5291196" cy="347472"/>
          </a:xfrm>
          <a:prstGeom prst="rect">
            <a:avLst/>
          </a:prstGeom>
          <a:noFill/>
          <a:ln/>
        </p:spPr>
        <p:txBody>
          <a:bodyPr wrap="square" rtlCol="0" anchor="ctr"/>
          <a:lstStyle/>
          <a:p>
            <a:pPr indent="0" marL="0">
              <a:lnSpc>
                <a:spcPct val="112000"/>
              </a:lnSpc>
              <a:buNone/>
            </a:pPr>
            <a:r>
              <a:rPr lang="en-US" sz="1100" dirty="0">
                <a:solidFill>
                  <a:srgbClr val="94A3C0"/>
                </a:solidFill>
                <a:latin typeface="Open Sans" pitchFamily="34" charset="0"/>
                <a:ea typeface="Open Sans" pitchFamily="34" charset="-122"/>
                <a:cs typeface="Open Sans" pitchFamily="34" charset="-120"/>
              </a:rPr>
              <a:t>Desenvolver a capacidade de extrair percepções valiosas e identificar tendências ocultas com IA.</a:t>
            </a:r>
            <a:endParaRPr lang="en-US" sz="1100" dirty="0"/>
          </a:p>
        </p:txBody>
      </p:sp>
      <p:sp>
        <p:nvSpPr>
          <p:cNvPr id="24" name="Shape 21"/>
          <p:cNvSpPr/>
          <p:nvPr/>
        </p:nvSpPr>
        <p:spPr>
          <a:xfrm>
            <a:off x="1005840" y="5394960"/>
            <a:ext cx="109728" cy="109728"/>
          </a:xfrm>
          <a:prstGeom prst="roundRect">
            <a:avLst>
              <a:gd name="adj" fmla="val 16667"/>
            </a:avLst>
          </a:prstGeom>
          <a:solidFill>
            <a:srgbClr val="10B981"/>
          </a:solidFill>
          <a:ln/>
        </p:spPr>
      </p:sp>
      <p:sp>
        <p:nvSpPr>
          <p:cNvPr id="25" name="Text 22"/>
          <p:cNvSpPr/>
          <p:nvPr/>
        </p:nvSpPr>
        <p:spPr>
          <a:xfrm>
            <a:off x="1234440" y="5349240"/>
            <a:ext cx="5291196" cy="347472"/>
          </a:xfrm>
          <a:prstGeom prst="rect">
            <a:avLst/>
          </a:prstGeom>
          <a:noFill/>
          <a:ln/>
        </p:spPr>
        <p:txBody>
          <a:bodyPr wrap="square" rtlCol="0" anchor="ctr"/>
          <a:lstStyle/>
          <a:p>
            <a:pPr indent="0" marL="0">
              <a:lnSpc>
                <a:spcPct val="112000"/>
              </a:lnSpc>
              <a:buNone/>
            </a:pPr>
            <a:r>
              <a:rPr lang="en-US" sz="1100" dirty="0">
                <a:solidFill>
                  <a:srgbClr val="94A3C0"/>
                </a:solidFill>
                <a:latin typeface="Open Sans" pitchFamily="34" charset="0"/>
                <a:ea typeface="Open Sans" pitchFamily="34" charset="-122"/>
                <a:cs typeface="Open Sans" pitchFamily="34" charset="-120"/>
              </a:rPr>
              <a:t>Aplicar o conhecimento para embasar decisões estratégicas com precisão e agilidade.</a:t>
            </a:r>
            <a:endParaRPr lang="en-US" sz="1100" dirty="0"/>
          </a:p>
        </p:txBody>
      </p:sp>
      <p:sp>
        <p:nvSpPr>
          <p:cNvPr id="26" name="Shape 23"/>
          <p:cNvSpPr/>
          <p:nvPr/>
        </p:nvSpPr>
        <p:spPr>
          <a:xfrm>
            <a:off x="731520" y="6446520"/>
            <a:ext cx="542544" cy="7315"/>
          </a:xfrm>
          <a:prstGeom prst="rect">
            <a:avLst/>
          </a:prstGeom>
          <a:solidFill>
            <a:srgbClr val="10B981"/>
          </a:solidFill>
          <a:ln/>
        </p:spPr>
      </p:sp>
      <p:sp>
        <p:nvSpPr>
          <p:cNvPr id="27" name="Shape 24"/>
          <p:cNvSpPr/>
          <p:nvPr/>
        </p:nvSpPr>
        <p:spPr>
          <a:xfrm>
            <a:off x="1264920" y="6446520"/>
            <a:ext cx="542544" cy="7315"/>
          </a:xfrm>
          <a:prstGeom prst="rect">
            <a:avLst/>
          </a:prstGeom>
          <a:solidFill>
            <a:srgbClr val="10B981"/>
          </a:solidFill>
          <a:ln/>
        </p:spPr>
      </p:sp>
      <p:sp>
        <p:nvSpPr>
          <p:cNvPr id="28" name="Shape 25"/>
          <p:cNvSpPr/>
          <p:nvPr/>
        </p:nvSpPr>
        <p:spPr>
          <a:xfrm>
            <a:off x="1798320" y="6446520"/>
            <a:ext cx="542544" cy="7315"/>
          </a:xfrm>
          <a:prstGeom prst="rect">
            <a:avLst/>
          </a:prstGeom>
          <a:solidFill>
            <a:srgbClr val="10B981"/>
          </a:solidFill>
          <a:ln/>
        </p:spPr>
      </p:sp>
      <p:sp>
        <p:nvSpPr>
          <p:cNvPr id="29" name="Shape 26"/>
          <p:cNvSpPr/>
          <p:nvPr/>
        </p:nvSpPr>
        <p:spPr>
          <a:xfrm>
            <a:off x="2331720" y="6446520"/>
            <a:ext cx="542544" cy="7315"/>
          </a:xfrm>
          <a:prstGeom prst="rect">
            <a:avLst/>
          </a:prstGeom>
          <a:solidFill>
            <a:srgbClr val="10B981"/>
          </a:solidFill>
          <a:ln/>
        </p:spPr>
      </p:sp>
      <p:sp>
        <p:nvSpPr>
          <p:cNvPr id="30" name="Shape 27"/>
          <p:cNvSpPr/>
          <p:nvPr/>
        </p:nvSpPr>
        <p:spPr>
          <a:xfrm>
            <a:off x="2865120" y="6446520"/>
            <a:ext cx="542544" cy="7315"/>
          </a:xfrm>
          <a:prstGeom prst="rect">
            <a:avLst/>
          </a:prstGeom>
          <a:solidFill>
            <a:srgbClr val="10B981"/>
          </a:solidFill>
          <a:ln/>
        </p:spPr>
      </p:sp>
      <p:sp>
        <p:nvSpPr>
          <p:cNvPr id="31" name="Shape 28"/>
          <p:cNvSpPr/>
          <p:nvPr/>
        </p:nvSpPr>
        <p:spPr>
          <a:xfrm>
            <a:off x="3398520" y="6446520"/>
            <a:ext cx="542544" cy="7315"/>
          </a:xfrm>
          <a:prstGeom prst="rect">
            <a:avLst/>
          </a:prstGeom>
          <a:solidFill>
            <a:srgbClr val="10B981"/>
          </a:solidFill>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Shape 1"/>
          <p:cNvSpPr/>
          <p:nvPr/>
        </p:nvSpPr>
        <p:spPr>
          <a:xfrm>
            <a:off x="64008" y="0"/>
            <a:ext cx="18288" cy="6858000"/>
          </a:xfrm>
          <a:prstGeom prst="rect">
            <a:avLst/>
          </a:prstGeom>
          <a:solidFill>
            <a:srgbClr val="10B981"/>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10B981"/>
                </a:solidFill>
                <a:latin typeface="Open Sans" pitchFamily="34" charset="0"/>
                <a:ea typeface="Open Sans" pitchFamily="34" charset="-122"/>
                <a:cs typeface="Open Sans" pitchFamily="34" charset="-120"/>
              </a:rPr>
              <a:t>FUNDAMENTOS</a:t>
            </a:r>
            <a:endParaRPr lang="en-US" sz="900" dirty="0"/>
          </a:p>
        </p:txBody>
      </p:sp>
      <p:sp>
        <p:nvSpPr>
          <p:cNvPr id="5" name="Shape 3"/>
          <p:cNvSpPr/>
          <p:nvPr/>
        </p:nvSpPr>
        <p:spPr>
          <a:xfrm>
            <a:off x="502920" y="493776"/>
            <a:ext cx="640080" cy="21946"/>
          </a:xfrm>
          <a:prstGeom prst="rect">
            <a:avLst/>
          </a:prstGeom>
          <a:solidFill>
            <a:srgbClr val="10B981"/>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Fundamentos</a:t>
            </a:r>
            <a:endParaRPr lang="en-US" sz="2800" dirty="0"/>
          </a:p>
        </p:txBody>
      </p:sp>
      <p:sp>
        <p:nvSpPr>
          <p:cNvPr id="7" name="Shape 5"/>
          <p:cNvSpPr/>
          <p:nvPr/>
        </p:nvSpPr>
        <p:spPr>
          <a:xfrm>
            <a:off x="502920" y="1389888"/>
            <a:ext cx="11185855" cy="7315"/>
          </a:xfrm>
          <a:prstGeom prst="rect">
            <a:avLst/>
          </a:prstGeom>
          <a:solidFill>
            <a:srgbClr val="10B981"/>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621792" y="1572768"/>
            <a:ext cx="11140135" cy="1188720"/>
          </a:xfrm>
          <a:prstGeom prst="roundRect">
            <a:avLst>
              <a:gd name="adj" fmla="val 7692"/>
            </a:avLst>
          </a:prstGeom>
          <a:solidFill>
            <a:srgbClr val="000000"/>
          </a:solidFill>
          <a:ln/>
        </p:spPr>
      </p:sp>
      <p:sp>
        <p:nvSpPr>
          <p:cNvPr id="10" name="Shape 8"/>
          <p:cNvSpPr/>
          <p:nvPr/>
        </p:nvSpPr>
        <p:spPr>
          <a:xfrm>
            <a:off x="594360" y="1536192"/>
            <a:ext cx="11140135" cy="1188720"/>
          </a:xfrm>
          <a:prstGeom prst="roundRect">
            <a:avLst>
              <a:gd name="adj" fmla="val 7692"/>
            </a:avLst>
          </a:prstGeom>
          <a:solidFill>
            <a:srgbClr val="050A18"/>
          </a:solidFill>
          <a:ln/>
        </p:spPr>
      </p:sp>
      <p:sp>
        <p:nvSpPr>
          <p:cNvPr id="11" name="Shape 9"/>
          <p:cNvSpPr/>
          <p:nvPr/>
        </p:nvSpPr>
        <p:spPr>
          <a:xfrm>
            <a:off x="594360" y="1536192"/>
            <a:ext cx="54864" cy="1188720"/>
          </a:xfrm>
          <a:prstGeom prst="rect">
            <a:avLst>
              <a:gd name="adj" fmla="val 166667"/>
            </a:avLst>
          </a:prstGeom>
          <a:solidFill>
            <a:srgbClr val="10B981"/>
          </a:solidFill>
          <a:ln/>
        </p:spPr>
      </p:sp>
      <p:sp>
        <p:nvSpPr>
          <p:cNvPr id="12" name="Text 10"/>
          <p:cNvSpPr/>
          <p:nvPr/>
        </p:nvSpPr>
        <p:spPr>
          <a:xfrm>
            <a:off x="685800" y="1444752"/>
            <a:ext cx="457200" cy="548640"/>
          </a:xfrm>
          <a:prstGeom prst="rect">
            <a:avLst/>
          </a:prstGeom>
          <a:noFill/>
          <a:ln/>
        </p:spPr>
        <p:txBody>
          <a:bodyPr wrap="square" rtlCol="0" anchor="ctr"/>
          <a:lstStyle/>
          <a:p>
            <a:pPr indent="0" marL="0">
              <a:buNone/>
            </a:pPr>
            <a:r>
              <a:rPr lang="en-US" sz="4800" b="1" dirty="0">
                <a:solidFill>
                  <a:srgbClr val="10B981">
                    <a:alpha val="75000"/>
                  </a:srgbClr>
                </a:solidFill>
                <a:latin typeface="Montserrat" pitchFamily="34" charset="0"/>
                <a:ea typeface="Montserrat" pitchFamily="34" charset="-122"/>
                <a:cs typeface="Montserrat" pitchFamily="34" charset="-120"/>
              </a:rPr>
              <a:t>“</a:t>
            </a:r>
            <a:endParaRPr lang="en-US" sz="4800" dirty="0"/>
          </a:p>
        </p:txBody>
      </p:sp>
      <p:sp>
        <p:nvSpPr>
          <p:cNvPr id="13" name="Text 11"/>
          <p:cNvSpPr/>
          <p:nvPr/>
        </p:nvSpPr>
        <p:spPr>
          <a:xfrm>
            <a:off x="868680" y="1572768"/>
            <a:ext cx="10682935" cy="1097280"/>
          </a:xfrm>
          <a:prstGeom prst="rect">
            <a:avLst/>
          </a:prstGeom>
          <a:noFill/>
          <a:ln/>
        </p:spPr>
        <p:txBody>
          <a:bodyPr wrap="square" rtlCol="0" anchor="ctr"/>
          <a:lstStyle/>
          <a:p>
            <a:pPr indent="0" marL="0">
              <a:lnSpc>
                <a:spcPct val="135000"/>
              </a:lnSpc>
              <a:buNone/>
            </a:pPr>
            <a:r>
              <a:rPr lang="en-US" sz="1900" i="1" dirty="0">
                <a:solidFill>
                  <a:srgbClr val="FFFFFF"/>
                </a:solidFill>
                <a:latin typeface="Open Sans" pitchFamily="34" charset="0"/>
                <a:ea typeface="Open Sans" pitchFamily="34" charset="-122"/>
                <a:cs typeface="Open Sans" pitchFamily="34" charset="-120"/>
              </a:rPr>
              <a:t>A Inteligência Artificial democratiza a análise de dados, tornando-a acessível a profissionais não técnicos.</a:t>
            </a:r>
            <a:endParaRPr lang="en-US" sz="1900" dirty="0"/>
          </a:p>
        </p:txBody>
      </p:sp>
      <p:sp>
        <p:nvSpPr>
          <p:cNvPr id="14" name="Shape 12"/>
          <p:cNvSpPr/>
          <p:nvPr/>
        </p:nvSpPr>
        <p:spPr>
          <a:xfrm>
            <a:off x="621792" y="2980944"/>
            <a:ext cx="5496916" cy="3502152"/>
          </a:xfrm>
          <a:prstGeom prst="roundRect">
            <a:avLst>
              <a:gd name="adj" fmla="val 2611"/>
            </a:avLst>
          </a:prstGeom>
          <a:solidFill>
            <a:srgbClr val="000000"/>
          </a:solidFill>
          <a:ln/>
        </p:spPr>
      </p:sp>
      <p:sp>
        <p:nvSpPr>
          <p:cNvPr id="15" name="Shape 13"/>
          <p:cNvSpPr/>
          <p:nvPr/>
        </p:nvSpPr>
        <p:spPr>
          <a:xfrm>
            <a:off x="594360" y="2944368"/>
            <a:ext cx="5496916" cy="3502152"/>
          </a:xfrm>
          <a:prstGeom prst="roundRect">
            <a:avLst>
              <a:gd name="adj" fmla="val 2089"/>
            </a:avLst>
          </a:prstGeom>
          <a:solidFill>
            <a:srgbClr val="141E34"/>
          </a:solidFill>
          <a:ln/>
        </p:spPr>
      </p:sp>
      <p:sp>
        <p:nvSpPr>
          <p:cNvPr id="16" name="Shape 14"/>
          <p:cNvSpPr/>
          <p:nvPr/>
        </p:nvSpPr>
        <p:spPr>
          <a:xfrm>
            <a:off x="594360" y="2944368"/>
            <a:ext cx="5496916" cy="45720"/>
          </a:xfrm>
          <a:prstGeom prst="rect">
            <a:avLst>
              <a:gd name="adj" fmla="val 160000"/>
            </a:avLst>
          </a:prstGeom>
          <a:solidFill>
            <a:srgbClr val="6C63FF"/>
          </a:solidFill>
          <a:ln/>
        </p:spPr>
      </p:sp>
      <p:sp>
        <p:nvSpPr>
          <p:cNvPr id="17" name="Shape 15"/>
          <p:cNvSpPr/>
          <p:nvPr/>
        </p:nvSpPr>
        <p:spPr>
          <a:xfrm>
            <a:off x="685800" y="3072384"/>
            <a:ext cx="310896" cy="310896"/>
          </a:xfrm>
          <a:prstGeom prst="roundRect">
            <a:avLst>
              <a:gd name="adj" fmla="val 17647"/>
            </a:avLst>
          </a:prstGeom>
          <a:solidFill>
            <a:srgbClr val="6C63FF"/>
          </a:solidFill>
          <a:ln/>
        </p:spPr>
      </p:sp>
      <p:sp>
        <p:nvSpPr>
          <p:cNvPr id="18" name="Text 16"/>
          <p:cNvSpPr/>
          <p:nvPr/>
        </p:nvSpPr>
        <p:spPr>
          <a:xfrm>
            <a:off x="685800" y="3072384"/>
            <a:ext cx="310896" cy="310896"/>
          </a:xfrm>
          <a:prstGeom prst="rect">
            <a:avLst/>
          </a:prstGeom>
          <a:noFill/>
          <a:ln/>
        </p:spPr>
        <p:txBody>
          <a:bodyPr wrap="square"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2</a:t>
            </a:r>
            <a:endParaRPr lang="en-US" sz="1500" dirty="0"/>
          </a:p>
        </p:txBody>
      </p:sp>
      <p:sp>
        <p:nvSpPr>
          <p:cNvPr id="19" name="Text 17"/>
          <p:cNvSpPr/>
          <p:nvPr/>
        </p:nvSpPr>
        <p:spPr>
          <a:xfrm>
            <a:off x="722376" y="3447288"/>
            <a:ext cx="5240884" cy="2953512"/>
          </a:xfrm>
          <a:prstGeom prst="rect">
            <a:avLst/>
          </a:prstGeom>
          <a:noFill/>
          <a:ln/>
        </p:spPr>
        <p:txBody>
          <a:bodyPr wrap="square" rtlCol="0" anchor="t"/>
          <a:lstStyle/>
          <a:p>
            <a:pPr indent="0" marL="0">
              <a:lnSpc>
                <a:spcPct val="122000"/>
              </a:lnSpc>
              <a:buNone/>
            </a:pPr>
            <a:r>
              <a:rPr lang="en-US" sz="1300" dirty="0">
                <a:solidFill>
                  <a:srgbClr val="E8EDF5"/>
                </a:solidFill>
                <a:latin typeface="Open Sans" pitchFamily="34" charset="0"/>
                <a:ea typeface="Open Sans" pitchFamily="34" charset="-122"/>
                <a:cs typeface="Open Sans" pitchFamily="34" charset="-120"/>
              </a:rPr>
              <a:t>Ela transforma dados brutos em conhecimento acionável, impulsionando a inovação e a eficácia.</a:t>
            </a:r>
            <a:endParaRPr lang="en-US" sz="1300" dirty="0"/>
          </a:p>
        </p:txBody>
      </p:sp>
      <p:sp>
        <p:nvSpPr>
          <p:cNvPr id="20" name="Shape 18"/>
          <p:cNvSpPr/>
          <p:nvPr/>
        </p:nvSpPr>
        <p:spPr>
          <a:xfrm>
            <a:off x="6265012" y="2980944"/>
            <a:ext cx="5496916" cy="3502152"/>
          </a:xfrm>
          <a:prstGeom prst="roundRect">
            <a:avLst>
              <a:gd name="adj" fmla="val 2611"/>
            </a:avLst>
          </a:prstGeom>
          <a:solidFill>
            <a:srgbClr val="000000"/>
          </a:solidFill>
          <a:ln/>
        </p:spPr>
      </p:sp>
      <p:sp>
        <p:nvSpPr>
          <p:cNvPr id="21" name="Shape 19"/>
          <p:cNvSpPr/>
          <p:nvPr/>
        </p:nvSpPr>
        <p:spPr>
          <a:xfrm>
            <a:off x="6237580" y="2944368"/>
            <a:ext cx="5496916" cy="3502152"/>
          </a:xfrm>
          <a:prstGeom prst="roundRect">
            <a:avLst>
              <a:gd name="adj" fmla="val 2089"/>
            </a:avLst>
          </a:prstGeom>
          <a:solidFill>
            <a:srgbClr val="141E34"/>
          </a:solidFill>
          <a:ln/>
        </p:spPr>
      </p:sp>
      <p:sp>
        <p:nvSpPr>
          <p:cNvPr id="22" name="Shape 20"/>
          <p:cNvSpPr/>
          <p:nvPr/>
        </p:nvSpPr>
        <p:spPr>
          <a:xfrm>
            <a:off x="6237580" y="2944368"/>
            <a:ext cx="5496916" cy="45720"/>
          </a:xfrm>
          <a:prstGeom prst="rect">
            <a:avLst>
              <a:gd name="adj" fmla="val 160000"/>
            </a:avLst>
          </a:prstGeom>
          <a:solidFill>
            <a:srgbClr val="3B82F6"/>
          </a:solidFill>
          <a:ln/>
        </p:spPr>
      </p:sp>
      <p:sp>
        <p:nvSpPr>
          <p:cNvPr id="23" name="Shape 21"/>
          <p:cNvSpPr/>
          <p:nvPr/>
        </p:nvSpPr>
        <p:spPr>
          <a:xfrm>
            <a:off x="6329020" y="3072384"/>
            <a:ext cx="310896" cy="310896"/>
          </a:xfrm>
          <a:prstGeom prst="roundRect">
            <a:avLst>
              <a:gd name="adj" fmla="val 17647"/>
            </a:avLst>
          </a:prstGeom>
          <a:solidFill>
            <a:srgbClr val="3B82F6"/>
          </a:solidFill>
          <a:ln/>
        </p:spPr>
      </p:sp>
      <p:sp>
        <p:nvSpPr>
          <p:cNvPr id="24" name="Text 22"/>
          <p:cNvSpPr/>
          <p:nvPr/>
        </p:nvSpPr>
        <p:spPr>
          <a:xfrm>
            <a:off x="6329020" y="3072384"/>
            <a:ext cx="310896" cy="310896"/>
          </a:xfrm>
          <a:prstGeom prst="rect">
            <a:avLst/>
          </a:prstGeom>
          <a:noFill/>
          <a:ln/>
        </p:spPr>
        <p:txBody>
          <a:bodyPr wrap="square"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3</a:t>
            </a:r>
            <a:endParaRPr lang="en-US" sz="1500" dirty="0"/>
          </a:p>
        </p:txBody>
      </p:sp>
      <p:sp>
        <p:nvSpPr>
          <p:cNvPr id="25" name="Text 23"/>
          <p:cNvSpPr/>
          <p:nvPr/>
        </p:nvSpPr>
        <p:spPr>
          <a:xfrm>
            <a:off x="6365596" y="3447288"/>
            <a:ext cx="5240884" cy="2953512"/>
          </a:xfrm>
          <a:prstGeom prst="rect">
            <a:avLst/>
          </a:prstGeom>
          <a:noFill/>
          <a:ln/>
        </p:spPr>
        <p:txBody>
          <a:bodyPr wrap="square" rtlCol="0" anchor="t"/>
          <a:lstStyle/>
          <a:p>
            <a:pPr indent="0" marL="0">
              <a:lnSpc>
                <a:spcPct val="122000"/>
              </a:lnSpc>
              <a:buNone/>
            </a:pPr>
            <a:r>
              <a:rPr lang="en-US" sz="1300" dirty="0">
                <a:solidFill>
                  <a:srgbClr val="E8EDF5"/>
                </a:solidFill>
                <a:latin typeface="Open Sans" pitchFamily="34" charset="0"/>
                <a:ea typeface="Open Sans" pitchFamily="34" charset="-122"/>
                <a:cs typeface="Open Sans" pitchFamily="34" charset="-120"/>
              </a:rPr>
              <a:t>Este módulo capacita você a utilizar a IA como uma extensão da sua capacidade de tomada de decisão.</a:t>
            </a:r>
            <a:endParaRPr lang="en-US" sz="1300" dirty="0"/>
          </a:p>
        </p:txBody>
      </p:sp>
      <p:sp>
        <p:nvSpPr>
          <p:cNvPr id="26" name="Shape 24"/>
          <p:cNvSpPr/>
          <p:nvPr/>
        </p:nvSpPr>
        <p:spPr>
          <a:xfrm>
            <a:off x="0" y="6601968"/>
            <a:ext cx="2041093" cy="4572"/>
          </a:xfrm>
          <a:prstGeom prst="rect">
            <a:avLst/>
          </a:prstGeom>
          <a:solidFill>
            <a:srgbClr val="6C63FF"/>
          </a:solidFill>
          <a:ln/>
        </p:spPr>
      </p:sp>
      <p:sp>
        <p:nvSpPr>
          <p:cNvPr id="27" name="Shape 25"/>
          <p:cNvSpPr/>
          <p:nvPr/>
        </p:nvSpPr>
        <p:spPr>
          <a:xfrm>
            <a:off x="2031949" y="6601968"/>
            <a:ext cx="2041093" cy="4572"/>
          </a:xfrm>
          <a:prstGeom prst="rect">
            <a:avLst/>
          </a:prstGeom>
          <a:solidFill>
            <a:srgbClr val="6C63FF"/>
          </a:solidFill>
          <a:ln/>
        </p:spPr>
      </p:sp>
      <p:sp>
        <p:nvSpPr>
          <p:cNvPr id="28" name="Shape 26"/>
          <p:cNvSpPr/>
          <p:nvPr/>
        </p:nvSpPr>
        <p:spPr>
          <a:xfrm>
            <a:off x="4063898" y="6601968"/>
            <a:ext cx="2041093" cy="4572"/>
          </a:xfrm>
          <a:prstGeom prst="rect">
            <a:avLst/>
          </a:prstGeom>
          <a:solidFill>
            <a:srgbClr val="6C63FF"/>
          </a:solidFill>
          <a:ln/>
        </p:spPr>
      </p:sp>
      <p:sp>
        <p:nvSpPr>
          <p:cNvPr id="29" name="Shape 27"/>
          <p:cNvSpPr/>
          <p:nvPr/>
        </p:nvSpPr>
        <p:spPr>
          <a:xfrm>
            <a:off x="6095848" y="6601968"/>
            <a:ext cx="2041093" cy="4572"/>
          </a:xfrm>
          <a:prstGeom prst="rect">
            <a:avLst/>
          </a:prstGeom>
          <a:solidFill>
            <a:srgbClr val="6C63FF"/>
          </a:solidFill>
          <a:ln/>
        </p:spPr>
      </p:sp>
      <p:sp>
        <p:nvSpPr>
          <p:cNvPr id="30" name="Shape 28"/>
          <p:cNvSpPr/>
          <p:nvPr/>
        </p:nvSpPr>
        <p:spPr>
          <a:xfrm>
            <a:off x="8127797" y="6601968"/>
            <a:ext cx="2041093" cy="4572"/>
          </a:xfrm>
          <a:prstGeom prst="rect">
            <a:avLst/>
          </a:prstGeom>
          <a:solidFill>
            <a:srgbClr val="6C63FF"/>
          </a:solidFill>
          <a:ln/>
        </p:spPr>
      </p:sp>
      <p:sp>
        <p:nvSpPr>
          <p:cNvPr id="31" name="Shape 29"/>
          <p:cNvSpPr/>
          <p:nvPr/>
        </p:nvSpPr>
        <p:spPr>
          <a:xfrm>
            <a:off x="10159746" y="6601968"/>
            <a:ext cx="2041093" cy="4572"/>
          </a:xfrm>
          <a:prstGeom prst="rect">
            <a:avLst/>
          </a:prstGeom>
          <a:solidFill>
            <a:srgbClr val="6C63FF"/>
          </a:solidFill>
          <a:ln/>
        </p:spPr>
      </p:sp>
      <p:sp>
        <p:nvSpPr>
          <p:cNvPr id="32" name="Shape 30"/>
          <p:cNvSpPr/>
          <p:nvPr/>
        </p:nvSpPr>
        <p:spPr>
          <a:xfrm>
            <a:off x="0" y="6606540"/>
            <a:ext cx="12191695" cy="2743"/>
          </a:xfrm>
          <a:prstGeom prst="rect">
            <a:avLst/>
          </a:prstGeom>
          <a:solidFill>
            <a:srgbClr val="222E48"/>
          </a:solidFill>
          <a:ln/>
        </p:spPr>
      </p:sp>
      <p:sp>
        <p:nvSpPr>
          <p:cNvPr id="33" name="Text 31"/>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34" name="Shape 32"/>
          <p:cNvSpPr/>
          <p:nvPr/>
        </p:nvSpPr>
        <p:spPr>
          <a:xfrm>
            <a:off x="10436047" y="6693408"/>
            <a:ext cx="73152" cy="73152"/>
          </a:xfrm>
          <a:prstGeom prst="ellipse">
            <a:avLst/>
          </a:prstGeom>
          <a:solidFill>
            <a:srgbClr val="6C63FF"/>
          </a:solidFill>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50A18"/>
        </a:solidFill>
      </p:bgPr>
    </p:bg>
    <p:spTree>
      <p:nvGrpSpPr>
        <p:cNvPr id="1" name=""/>
        <p:cNvGrpSpPr/>
        <p:nvPr/>
      </p:nvGrpSpPr>
      <p:grpSpPr>
        <a:xfrm>
          <a:off x="0" y="0"/>
          <a:ext cx="0" cy="0"/>
          <a:chOff x="0" y="0"/>
          <a:chExt cx="0" cy="0"/>
        </a:xfrm>
      </p:grpSpPr>
      <p:sp>
        <p:nvSpPr>
          <p:cNvPr id="2" name="Text 0"/>
          <p:cNvSpPr/>
          <p:nvPr/>
        </p:nvSpPr>
        <p:spPr>
          <a:xfrm>
            <a:off x="502920" y="274320"/>
            <a:ext cx="5486400" cy="219456"/>
          </a:xfrm>
          <a:prstGeom prst="rect">
            <a:avLst/>
          </a:prstGeom>
          <a:noFill/>
          <a:ln/>
        </p:spPr>
        <p:txBody>
          <a:bodyPr wrap="square" rtlCol="0" anchor="ctr"/>
          <a:lstStyle/>
          <a:p>
            <a:pPr indent="0" marL="0">
              <a:buNone/>
            </a:pPr>
            <a:r>
              <a:rPr lang="en-US" sz="1000" b="1" spc="500" kern="0" dirty="0">
                <a:solidFill>
                  <a:srgbClr val="10B981"/>
                </a:solidFill>
                <a:latin typeface="Open Sans" pitchFamily="34" charset="0"/>
                <a:ea typeface="Open Sans" pitchFamily="34" charset="-122"/>
                <a:cs typeface="Open Sans" pitchFamily="34" charset="-120"/>
              </a:rPr>
              <a:t>COMO FUNCIONA</a:t>
            </a:r>
            <a:endParaRPr lang="en-US" sz="1000" dirty="0"/>
          </a:p>
        </p:txBody>
      </p:sp>
      <p:sp>
        <p:nvSpPr>
          <p:cNvPr id="3" name="Shape 1"/>
          <p:cNvSpPr/>
          <p:nvPr/>
        </p:nvSpPr>
        <p:spPr>
          <a:xfrm>
            <a:off x="502920" y="521208"/>
            <a:ext cx="914400" cy="18288"/>
          </a:xfrm>
          <a:prstGeom prst="rect">
            <a:avLst/>
          </a:prstGeom>
          <a:solidFill>
            <a:srgbClr val="10B981"/>
          </a:solidFill>
          <a:ln/>
        </p:spPr>
      </p:sp>
      <p:sp>
        <p:nvSpPr>
          <p:cNvPr id="4" name="Text 2"/>
          <p:cNvSpPr/>
          <p:nvPr/>
        </p:nvSpPr>
        <p:spPr>
          <a:xfrm>
            <a:off x="502920" y="621792"/>
            <a:ext cx="11185855" cy="640080"/>
          </a:xfrm>
          <a:prstGeom prst="rect">
            <a:avLst/>
          </a:prstGeom>
          <a:noFill/>
          <a:ln/>
        </p:spPr>
        <p:txBody>
          <a:bodyPr wrap="square" rtlCol="0" anchor="ctr"/>
          <a:lstStyle/>
          <a:p>
            <a:pPr indent="0" marL="0">
              <a:buNone/>
            </a:pPr>
            <a:r>
              <a:rPr lang="en-US" sz="2600" b="1" dirty="0">
                <a:solidFill>
                  <a:srgbClr val="FFFFFF"/>
                </a:solidFill>
                <a:latin typeface="Montserrat" pitchFamily="34" charset="0"/>
                <a:ea typeface="Montserrat" pitchFamily="34" charset="-122"/>
                <a:cs typeface="Montserrat" pitchFamily="34" charset="-120"/>
              </a:rPr>
              <a:t>Como funciona</a:t>
            </a:r>
            <a:endParaRPr lang="en-US" sz="2600" dirty="0"/>
          </a:p>
        </p:txBody>
      </p:sp>
      <p:sp>
        <p:nvSpPr>
          <p:cNvPr id="5" name="Shape 3"/>
          <p:cNvSpPr/>
          <p:nvPr/>
        </p:nvSpPr>
        <p:spPr>
          <a:xfrm>
            <a:off x="502920" y="3373679"/>
            <a:ext cx="11323015" cy="36576"/>
          </a:xfrm>
          <a:prstGeom prst="rect">
            <a:avLst/>
          </a:prstGeom>
          <a:solidFill>
            <a:srgbClr val="10B981"/>
          </a:solidFill>
          <a:ln/>
        </p:spPr>
      </p:sp>
      <p:sp>
        <p:nvSpPr>
          <p:cNvPr id="6" name="Shape 4"/>
          <p:cNvSpPr/>
          <p:nvPr/>
        </p:nvSpPr>
        <p:spPr>
          <a:xfrm>
            <a:off x="521208" y="1746504"/>
            <a:ext cx="2515286" cy="4727448"/>
          </a:xfrm>
          <a:prstGeom prst="roundRect">
            <a:avLst>
              <a:gd name="adj" fmla="val 4362"/>
            </a:avLst>
          </a:prstGeom>
          <a:solidFill>
            <a:srgbClr val="000000"/>
          </a:solidFill>
          <a:ln/>
        </p:spPr>
      </p:sp>
      <p:sp>
        <p:nvSpPr>
          <p:cNvPr id="7" name="Shape 5"/>
          <p:cNvSpPr/>
          <p:nvPr/>
        </p:nvSpPr>
        <p:spPr>
          <a:xfrm>
            <a:off x="502920" y="1719072"/>
            <a:ext cx="2515286" cy="4727448"/>
          </a:xfrm>
          <a:prstGeom prst="roundRect">
            <a:avLst>
              <a:gd name="adj" fmla="val 4362"/>
            </a:avLst>
          </a:prstGeom>
          <a:solidFill>
            <a:srgbClr val="111D38"/>
          </a:solidFill>
          <a:ln/>
        </p:spPr>
      </p:sp>
      <p:sp>
        <p:nvSpPr>
          <p:cNvPr id="8" name="Shape 6"/>
          <p:cNvSpPr/>
          <p:nvPr/>
        </p:nvSpPr>
        <p:spPr>
          <a:xfrm>
            <a:off x="502920" y="1719072"/>
            <a:ext cx="2515286" cy="45720"/>
          </a:xfrm>
          <a:prstGeom prst="rect">
            <a:avLst>
              <a:gd name="adj" fmla="val 240000"/>
            </a:avLst>
          </a:prstGeom>
          <a:solidFill>
            <a:srgbClr val="6C63FF"/>
          </a:solidFill>
          <a:ln/>
        </p:spPr>
      </p:sp>
      <p:sp>
        <p:nvSpPr>
          <p:cNvPr id="9" name="Shape 7"/>
          <p:cNvSpPr/>
          <p:nvPr/>
        </p:nvSpPr>
        <p:spPr>
          <a:xfrm>
            <a:off x="1577683" y="1847088"/>
            <a:ext cx="365760" cy="365760"/>
          </a:xfrm>
          <a:prstGeom prst="roundRect">
            <a:avLst>
              <a:gd name="adj" fmla="val 20000"/>
            </a:avLst>
          </a:prstGeom>
          <a:solidFill>
            <a:srgbClr val="6C63FF"/>
          </a:solidFill>
          <a:ln/>
        </p:spPr>
      </p:sp>
      <p:sp>
        <p:nvSpPr>
          <p:cNvPr id="10" name="Text 8"/>
          <p:cNvSpPr/>
          <p:nvPr/>
        </p:nvSpPr>
        <p:spPr>
          <a:xfrm>
            <a:off x="1577683" y="1847088"/>
            <a:ext cx="365760" cy="365760"/>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1</a:t>
            </a:r>
            <a:endParaRPr lang="en-US" sz="1600" dirty="0"/>
          </a:p>
        </p:txBody>
      </p:sp>
      <p:sp>
        <p:nvSpPr>
          <p:cNvPr id="11" name="Shape 9"/>
          <p:cNvSpPr/>
          <p:nvPr/>
        </p:nvSpPr>
        <p:spPr>
          <a:xfrm>
            <a:off x="3045638" y="3355391"/>
            <a:ext cx="310896" cy="36576"/>
          </a:xfrm>
          <a:prstGeom prst="rect">
            <a:avLst/>
          </a:prstGeom>
          <a:solidFill>
            <a:srgbClr val="6C63FF"/>
          </a:solidFill>
          <a:ln/>
        </p:spPr>
      </p:sp>
      <p:sp>
        <p:nvSpPr>
          <p:cNvPr id="12" name="Shape 10"/>
          <p:cNvSpPr/>
          <p:nvPr/>
        </p:nvSpPr>
        <p:spPr>
          <a:xfrm rot="2700000">
            <a:off x="3246806" y="3318815"/>
            <a:ext cx="109728" cy="109728"/>
          </a:xfrm>
          <a:prstGeom prst="rect">
            <a:avLst/>
          </a:prstGeom>
          <a:solidFill>
            <a:srgbClr val="6C63FF"/>
          </a:solidFill>
          <a:ln/>
        </p:spPr>
      </p:sp>
      <p:sp>
        <p:nvSpPr>
          <p:cNvPr id="13" name="Text 11"/>
          <p:cNvSpPr/>
          <p:nvPr/>
        </p:nvSpPr>
        <p:spPr>
          <a:xfrm>
            <a:off x="594360" y="2286000"/>
            <a:ext cx="2332406" cy="365760"/>
          </a:xfrm>
          <a:prstGeom prst="rect">
            <a:avLst/>
          </a:prstGeom>
          <a:noFill/>
          <a:ln/>
        </p:spPr>
        <p:txBody>
          <a:bodyPr wrap="square" rtlCol="0" anchor="ctr"/>
          <a:lstStyle/>
          <a:p>
            <a:pPr algn="ctr" indent="0" marL="0">
              <a:buNone/>
            </a:pPr>
            <a:r>
              <a:rPr lang="en-US" sz="1500" b="1" dirty="0">
                <a:solidFill>
                  <a:srgbClr val="6C63FF"/>
                </a:solidFill>
                <a:latin typeface="Montserrat" pitchFamily="34" charset="0"/>
                <a:ea typeface="Montserrat" pitchFamily="34" charset="-122"/>
                <a:cs typeface="Montserrat" pitchFamily="34" charset="-120"/>
              </a:rPr>
              <a:t>A Análise de Dados</a:t>
            </a:r>
            <a:endParaRPr lang="en-US" sz="1500" dirty="0"/>
          </a:p>
        </p:txBody>
      </p:sp>
      <p:sp>
        <p:nvSpPr>
          <p:cNvPr id="14" name="Text 12"/>
          <p:cNvSpPr/>
          <p:nvPr/>
        </p:nvSpPr>
        <p:spPr>
          <a:xfrm>
            <a:off x="594360" y="2651760"/>
            <a:ext cx="2332406" cy="3721608"/>
          </a:xfrm>
          <a:prstGeom prst="rect">
            <a:avLst/>
          </a:prstGeom>
          <a:noFill/>
          <a:ln/>
        </p:spPr>
        <p:txBody>
          <a:bodyPr wrap="square" rtlCol="0" anchor="t"/>
          <a:lstStyle/>
          <a:p>
            <a:pPr algn="ctr" indent="0" marL="0">
              <a:lnSpc>
                <a:spcPct val="122000"/>
              </a:lnSpc>
              <a:buNone/>
            </a:pPr>
            <a:r>
              <a:rPr lang="en-US" sz="1300" dirty="0">
                <a:solidFill>
                  <a:srgbClr val="94A3C0"/>
                </a:solidFill>
                <a:latin typeface="Open Sans" pitchFamily="34" charset="0"/>
                <a:ea typeface="Open Sans" pitchFamily="34" charset="-122"/>
                <a:cs typeface="Open Sans" pitchFamily="34" charset="-120"/>
              </a:rPr>
              <a:t>com IA para não técnicos simplifica a extração de informações significativas.</a:t>
            </a:r>
            <a:endParaRPr lang="en-US" sz="1300" dirty="0"/>
          </a:p>
        </p:txBody>
      </p:sp>
      <p:sp>
        <p:nvSpPr>
          <p:cNvPr id="15" name="Shape 13"/>
          <p:cNvSpPr/>
          <p:nvPr/>
        </p:nvSpPr>
        <p:spPr>
          <a:xfrm>
            <a:off x="3457118" y="1746504"/>
            <a:ext cx="2515286" cy="4727448"/>
          </a:xfrm>
          <a:prstGeom prst="roundRect">
            <a:avLst>
              <a:gd name="adj" fmla="val 4362"/>
            </a:avLst>
          </a:prstGeom>
          <a:solidFill>
            <a:srgbClr val="000000"/>
          </a:solidFill>
          <a:ln/>
        </p:spPr>
      </p:sp>
      <p:sp>
        <p:nvSpPr>
          <p:cNvPr id="16" name="Shape 14"/>
          <p:cNvSpPr/>
          <p:nvPr/>
        </p:nvSpPr>
        <p:spPr>
          <a:xfrm>
            <a:off x="3438830" y="1719072"/>
            <a:ext cx="2515286" cy="4727448"/>
          </a:xfrm>
          <a:prstGeom prst="roundRect">
            <a:avLst>
              <a:gd name="adj" fmla="val 4362"/>
            </a:avLst>
          </a:prstGeom>
          <a:solidFill>
            <a:srgbClr val="111D38"/>
          </a:solidFill>
          <a:ln/>
        </p:spPr>
      </p:sp>
      <p:sp>
        <p:nvSpPr>
          <p:cNvPr id="17" name="Shape 15"/>
          <p:cNvSpPr/>
          <p:nvPr/>
        </p:nvSpPr>
        <p:spPr>
          <a:xfrm>
            <a:off x="3438830" y="1719072"/>
            <a:ext cx="2515286" cy="45720"/>
          </a:xfrm>
          <a:prstGeom prst="rect">
            <a:avLst>
              <a:gd name="adj" fmla="val 240000"/>
            </a:avLst>
          </a:prstGeom>
          <a:solidFill>
            <a:srgbClr val="3B82F6"/>
          </a:solidFill>
          <a:ln/>
        </p:spPr>
      </p:sp>
      <p:sp>
        <p:nvSpPr>
          <p:cNvPr id="18" name="Shape 16"/>
          <p:cNvSpPr/>
          <p:nvPr/>
        </p:nvSpPr>
        <p:spPr>
          <a:xfrm>
            <a:off x="4513593" y="1847088"/>
            <a:ext cx="365760" cy="365760"/>
          </a:xfrm>
          <a:prstGeom prst="roundRect">
            <a:avLst>
              <a:gd name="adj" fmla="val 20000"/>
            </a:avLst>
          </a:prstGeom>
          <a:solidFill>
            <a:srgbClr val="3B82F6"/>
          </a:solidFill>
          <a:ln/>
        </p:spPr>
      </p:sp>
      <p:sp>
        <p:nvSpPr>
          <p:cNvPr id="19" name="Text 17"/>
          <p:cNvSpPr/>
          <p:nvPr/>
        </p:nvSpPr>
        <p:spPr>
          <a:xfrm>
            <a:off x="4513593" y="1847088"/>
            <a:ext cx="365760" cy="365760"/>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sp>
        <p:nvSpPr>
          <p:cNvPr id="20" name="Shape 18"/>
          <p:cNvSpPr/>
          <p:nvPr/>
        </p:nvSpPr>
        <p:spPr>
          <a:xfrm>
            <a:off x="5981548" y="3355391"/>
            <a:ext cx="310896" cy="36576"/>
          </a:xfrm>
          <a:prstGeom prst="rect">
            <a:avLst/>
          </a:prstGeom>
          <a:solidFill>
            <a:srgbClr val="3B82F6"/>
          </a:solidFill>
          <a:ln/>
        </p:spPr>
      </p:sp>
      <p:sp>
        <p:nvSpPr>
          <p:cNvPr id="21" name="Shape 19"/>
          <p:cNvSpPr/>
          <p:nvPr/>
        </p:nvSpPr>
        <p:spPr>
          <a:xfrm rot="2700000">
            <a:off x="6182716" y="3318815"/>
            <a:ext cx="109728" cy="109728"/>
          </a:xfrm>
          <a:prstGeom prst="rect">
            <a:avLst/>
          </a:prstGeom>
          <a:solidFill>
            <a:srgbClr val="3B82F6"/>
          </a:solidFill>
          <a:ln/>
        </p:spPr>
      </p:sp>
      <p:sp>
        <p:nvSpPr>
          <p:cNvPr id="22" name="Text 20"/>
          <p:cNvSpPr/>
          <p:nvPr/>
        </p:nvSpPr>
        <p:spPr>
          <a:xfrm>
            <a:off x="3530270" y="2286000"/>
            <a:ext cx="2332406" cy="365760"/>
          </a:xfrm>
          <a:prstGeom prst="rect">
            <a:avLst/>
          </a:prstGeom>
          <a:noFill/>
          <a:ln/>
        </p:spPr>
        <p:txBody>
          <a:bodyPr wrap="square" rtlCol="0" anchor="ctr"/>
          <a:lstStyle/>
          <a:p>
            <a:pPr algn="ctr" indent="0" marL="0">
              <a:buNone/>
            </a:pPr>
            <a:r>
              <a:rPr lang="en-US" sz="1500" b="1" dirty="0">
                <a:solidFill>
                  <a:srgbClr val="3B82F6"/>
                </a:solidFill>
                <a:latin typeface="Montserrat" pitchFamily="34" charset="0"/>
                <a:ea typeface="Montserrat" pitchFamily="34" charset="-122"/>
                <a:cs typeface="Montserrat" pitchFamily="34" charset="-120"/>
              </a:rPr>
              <a:t>Ferramentas e plataformas de</a:t>
            </a:r>
            <a:endParaRPr lang="en-US" sz="1500" dirty="0"/>
          </a:p>
        </p:txBody>
      </p:sp>
      <p:sp>
        <p:nvSpPr>
          <p:cNvPr id="23" name="Text 21"/>
          <p:cNvSpPr/>
          <p:nvPr/>
        </p:nvSpPr>
        <p:spPr>
          <a:xfrm>
            <a:off x="3530270" y="2651760"/>
            <a:ext cx="2332406" cy="3721608"/>
          </a:xfrm>
          <a:prstGeom prst="rect">
            <a:avLst/>
          </a:prstGeom>
          <a:noFill/>
          <a:ln/>
        </p:spPr>
        <p:txBody>
          <a:bodyPr wrap="square" rtlCol="0" anchor="t"/>
          <a:lstStyle/>
          <a:p>
            <a:pPr algn="ctr" indent="0" marL="0">
              <a:lnSpc>
                <a:spcPct val="122000"/>
              </a:lnSpc>
              <a:buNone/>
            </a:pPr>
            <a:r>
              <a:rPr lang="en-US" sz="1300" dirty="0">
                <a:solidFill>
                  <a:srgbClr val="94A3C0"/>
                </a:solidFill>
                <a:latin typeface="Open Sans" pitchFamily="34" charset="0"/>
                <a:ea typeface="Open Sans" pitchFamily="34" charset="-122"/>
                <a:cs typeface="Open Sans" pitchFamily="34" charset="-120"/>
              </a:rPr>
              <a:t>IA traduzem algoritmos complexos em ações intuitivas.</a:t>
            </a:r>
            <a:endParaRPr lang="en-US" sz="1300" dirty="0"/>
          </a:p>
        </p:txBody>
      </p:sp>
      <p:sp>
        <p:nvSpPr>
          <p:cNvPr id="24" name="Shape 22"/>
          <p:cNvSpPr/>
          <p:nvPr/>
        </p:nvSpPr>
        <p:spPr>
          <a:xfrm>
            <a:off x="6393028" y="1746504"/>
            <a:ext cx="2515286" cy="4727448"/>
          </a:xfrm>
          <a:prstGeom prst="roundRect">
            <a:avLst>
              <a:gd name="adj" fmla="val 4362"/>
            </a:avLst>
          </a:prstGeom>
          <a:solidFill>
            <a:srgbClr val="000000"/>
          </a:solidFill>
          <a:ln/>
        </p:spPr>
      </p:sp>
      <p:sp>
        <p:nvSpPr>
          <p:cNvPr id="25" name="Shape 23"/>
          <p:cNvSpPr/>
          <p:nvPr/>
        </p:nvSpPr>
        <p:spPr>
          <a:xfrm>
            <a:off x="6374740" y="1719072"/>
            <a:ext cx="2515286" cy="4727448"/>
          </a:xfrm>
          <a:prstGeom prst="roundRect">
            <a:avLst>
              <a:gd name="adj" fmla="val 4362"/>
            </a:avLst>
          </a:prstGeom>
          <a:solidFill>
            <a:srgbClr val="111D38"/>
          </a:solidFill>
          <a:ln/>
        </p:spPr>
      </p:sp>
      <p:sp>
        <p:nvSpPr>
          <p:cNvPr id="26" name="Shape 24"/>
          <p:cNvSpPr/>
          <p:nvPr/>
        </p:nvSpPr>
        <p:spPr>
          <a:xfrm>
            <a:off x="6374740" y="1719072"/>
            <a:ext cx="2515286" cy="45720"/>
          </a:xfrm>
          <a:prstGeom prst="rect">
            <a:avLst>
              <a:gd name="adj" fmla="val 240000"/>
            </a:avLst>
          </a:prstGeom>
          <a:solidFill>
            <a:srgbClr val="10B981"/>
          </a:solidFill>
          <a:ln/>
        </p:spPr>
      </p:sp>
      <p:sp>
        <p:nvSpPr>
          <p:cNvPr id="27" name="Shape 25"/>
          <p:cNvSpPr/>
          <p:nvPr/>
        </p:nvSpPr>
        <p:spPr>
          <a:xfrm>
            <a:off x="7449503" y="1847088"/>
            <a:ext cx="365760" cy="365760"/>
          </a:xfrm>
          <a:prstGeom prst="roundRect">
            <a:avLst>
              <a:gd name="adj" fmla="val 20000"/>
            </a:avLst>
          </a:prstGeom>
          <a:solidFill>
            <a:srgbClr val="10B981"/>
          </a:solidFill>
          <a:ln/>
        </p:spPr>
      </p:sp>
      <p:sp>
        <p:nvSpPr>
          <p:cNvPr id="28" name="Text 26"/>
          <p:cNvSpPr/>
          <p:nvPr/>
        </p:nvSpPr>
        <p:spPr>
          <a:xfrm>
            <a:off x="7449503" y="1847088"/>
            <a:ext cx="365760" cy="365760"/>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29" name="Shape 27"/>
          <p:cNvSpPr/>
          <p:nvPr/>
        </p:nvSpPr>
        <p:spPr>
          <a:xfrm>
            <a:off x="8917457" y="3355391"/>
            <a:ext cx="310896" cy="36576"/>
          </a:xfrm>
          <a:prstGeom prst="rect">
            <a:avLst/>
          </a:prstGeom>
          <a:solidFill>
            <a:srgbClr val="10B981"/>
          </a:solidFill>
          <a:ln/>
        </p:spPr>
      </p:sp>
      <p:sp>
        <p:nvSpPr>
          <p:cNvPr id="30" name="Shape 28"/>
          <p:cNvSpPr/>
          <p:nvPr/>
        </p:nvSpPr>
        <p:spPr>
          <a:xfrm rot="2700000">
            <a:off x="9118625" y="3318815"/>
            <a:ext cx="109728" cy="109728"/>
          </a:xfrm>
          <a:prstGeom prst="rect">
            <a:avLst/>
          </a:prstGeom>
          <a:solidFill>
            <a:srgbClr val="10B981"/>
          </a:solidFill>
          <a:ln/>
        </p:spPr>
      </p:sp>
      <p:sp>
        <p:nvSpPr>
          <p:cNvPr id="31" name="Text 29"/>
          <p:cNvSpPr/>
          <p:nvPr/>
        </p:nvSpPr>
        <p:spPr>
          <a:xfrm>
            <a:off x="6466180" y="2286000"/>
            <a:ext cx="2332406" cy="365760"/>
          </a:xfrm>
          <a:prstGeom prst="rect">
            <a:avLst/>
          </a:prstGeom>
          <a:noFill/>
          <a:ln/>
        </p:spPr>
        <p:txBody>
          <a:bodyPr wrap="square" rtlCol="0" anchor="ctr"/>
          <a:lstStyle/>
          <a:p>
            <a:pPr algn="ctr" indent="0" marL="0">
              <a:buNone/>
            </a:pPr>
            <a:r>
              <a:rPr lang="en-US" sz="1500" b="1" dirty="0">
                <a:solidFill>
                  <a:srgbClr val="10B981"/>
                </a:solidFill>
                <a:latin typeface="Montserrat" pitchFamily="34" charset="0"/>
                <a:ea typeface="Montserrat" pitchFamily="34" charset="-122"/>
                <a:cs typeface="Montserrat" pitchFamily="34" charset="-120"/>
              </a:rPr>
              <a:t>O foco está na</a:t>
            </a:r>
            <a:endParaRPr lang="en-US" sz="1500" dirty="0"/>
          </a:p>
        </p:txBody>
      </p:sp>
      <p:sp>
        <p:nvSpPr>
          <p:cNvPr id="32" name="Text 30"/>
          <p:cNvSpPr/>
          <p:nvPr/>
        </p:nvSpPr>
        <p:spPr>
          <a:xfrm>
            <a:off x="6466180" y="2651760"/>
            <a:ext cx="2332406" cy="3721608"/>
          </a:xfrm>
          <a:prstGeom prst="rect">
            <a:avLst/>
          </a:prstGeom>
          <a:noFill/>
          <a:ln/>
        </p:spPr>
        <p:txBody>
          <a:bodyPr wrap="square" rtlCol="0" anchor="t"/>
          <a:lstStyle/>
          <a:p>
            <a:pPr algn="ctr" indent="0" marL="0">
              <a:lnSpc>
                <a:spcPct val="122000"/>
              </a:lnSpc>
              <a:buNone/>
            </a:pPr>
            <a:r>
              <a:rPr lang="en-US" sz="1300" dirty="0">
                <a:solidFill>
                  <a:srgbClr val="94A3C0"/>
                </a:solidFill>
                <a:latin typeface="Open Sans" pitchFamily="34" charset="0"/>
                <a:ea typeface="Open Sans" pitchFamily="34" charset="-122"/>
                <a:cs typeface="Open Sans" pitchFamily="34" charset="-120"/>
              </a:rPr>
              <a:t>interpretação dos resultados e na aplicação prática dos percepções geradas.</a:t>
            </a:r>
            <a:endParaRPr lang="en-US" sz="1300" dirty="0"/>
          </a:p>
        </p:txBody>
      </p:sp>
      <p:sp>
        <p:nvSpPr>
          <p:cNvPr id="33" name="Shape 31"/>
          <p:cNvSpPr/>
          <p:nvPr/>
        </p:nvSpPr>
        <p:spPr>
          <a:xfrm>
            <a:off x="9328937" y="1746504"/>
            <a:ext cx="2515286" cy="4727448"/>
          </a:xfrm>
          <a:prstGeom prst="roundRect">
            <a:avLst>
              <a:gd name="adj" fmla="val 4362"/>
            </a:avLst>
          </a:prstGeom>
          <a:solidFill>
            <a:srgbClr val="000000"/>
          </a:solidFill>
          <a:ln/>
        </p:spPr>
      </p:sp>
      <p:sp>
        <p:nvSpPr>
          <p:cNvPr id="34" name="Shape 32"/>
          <p:cNvSpPr/>
          <p:nvPr/>
        </p:nvSpPr>
        <p:spPr>
          <a:xfrm>
            <a:off x="9310649" y="1719072"/>
            <a:ext cx="2515286" cy="4727448"/>
          </a:xfrm>
          <a:prstGeom prst="roundRect">
            <a:avLst>
              <a:gd name="adj" fmla="val 4362"/>
            </a:avLst>
          </a:prstGeom>
          <a:solidFill>
            <a:srgbClr val="111D38"/>
          </a:solidFill>
          <a:ln/>
        </p:spPr>
      </p:sp>
      <p:sp>
        <p:nvSpPr>
          <p:cNvPr id="35" name="Shape 33"/>
          <p:cNvSpPr/>
          <p:nvPr/>
        </p:nvSpPr>
        <p:spPr>
          <a:xfrm>
            <a:off x="9310649" y="1719072"/>
            <a:ext cx="2515286" cy="45720"/>
          </a:xfrm>
          <a:prstGeom prst="rect">
            <a:avLst>
              <a:gd name="adj" fmla="val 240000"/>
            </a:avLst>
          </a:prstGeom>
          <a:solidFill>
            <a:srgbClr val="F59E0B"/>
          </a:solidFill>
          <a:ln/>
        </p:spPr>
      </p:sp>
      <p:sp>
        <p:nvSpPr>
          <p:cNvPr id="36" name="Shape 34"/>
          <p:cNvSpPr/>
          <p:nvPr/>
        </p:nvSpPr>
        <p:spPr>
          <a:xfrm>
            <a:off x="10385412" y="1847088"/>
            <a:ext cx="365760" cy="365760"/>
          </a:xfrm>
          <a:prstGeom prst="roundRect">
            <a:avLst>
              <a:gd name="adj" fmla="val 20000"/>
            </a:avLst>
          </a:prstGeom>
          <a:solidFill>
            <a:srgbClr val="F59E0B"/>
          </a:solidFill>
          <a:ln/>
        </p:spPr>
      </p:sp>
      <p:sp>
        <p:nvSpPr>
          <p:cNvPr id="37" name="Text 35"/>
          <p:cNvSpPr/>
          <p:nvPr/>
        </p:nvSpPr>
        <p:spPr>
          <a:xfrm>
            <a:off x="10385412" y="1847088"/>
            <a:ext cx="365760" cy="365760"/>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4</a:t>
            </a:r>
            <a:endParaRPr lang="en-US" sz="1600" dirty="0"/>
          </a:p>
        </p:txBody>
      </p:sp>
      <p:sp>
        <p:nvSpPr>
          <p:cNvPr id="38" name="Text 36"/>
          <p:cNvSpPr/>
          <p:nvPr/>
        </p:nvSpPr>
        <p:spPr>
          <a:xfrm>
            <a:off x="9402089" y="2286000"/>
            <a:ext cx="2332406" cy="365760"/>
          </a:xfrm>
          <a:prstGeom prst="rect">
            <a:avLst/>
          </a:prstGeom>
          <a:noFill/>
          <a:ln/>
        </p:spPr>
        <p:txBody>
          <a:bodyPr wrap="square" rtlCol="0" anchor="ctr"/>
          <a:lstStyle/>
          <a:p>
            <a:pPr algn="ctr" indent="0" marL="0">
              <a:buNone/>
            </a:pPr>
            <a:r>
              <a:rPr lang="en-US" sz="1500" b="1" dirty="0">
                <a:solidFill>
                  <a:srgbClr val="F59E0B"/>
                </a:solidFill>
                <a:latin typeface="Montserrat" pitchFamily="34" charset="0"/>
                <a:ea typeface="Montserrat" pitchFamily="34" charset="-122"/>
                <a:cs typeface="Montserrat" pitchFamily="34" charset="-120"/>
              </a:rPr>
              <a:t>Interfaces simplificadas são pilares</a:t>
            </a:r>
            <a:endParaRPr lang="en-US" sz="1500" dirty="0"/>
          </a:p>
        </p:txBody>
      </p:sp>
      <p:sp>
        <p:nvSpPr>
          <p:cNvPr id="39" name="Text 37"/>
          <p:cNvSpPr/>
          <p:nvPr/>
        </p:nvSpPr>
        <p:spPr>
          <a:xfrm>
            <a:off x="9402089" y="2651760"/>
            <a:ext cx="2332406" cy="3721608"/>
          </a:xfrm>
          <a:prstGeom prst="rect">
            <a:avLst/>
          </a:prstGeom>
          <a:noFill/>
          <a:ln/>
        </p:spPr>
        <p:txBody>
          <a:bodyPr wrap="square" rtlCol="0" anchor="t"/>
          <a:lstStyle/>
          <a:p>
            <a:pPr algn="ctr" indent="0" marL="0">
              <a:lnSpc>
                <a:spcPct val="122000"/>
              </a:lnSpc>
              <a:buNone/>
            </a:pPr>
            <a:r>
              <a:rPr lang="en-US" sz="1300" dirty="0">
                <a:solidFill>
                  <a:srgbClr val="94A3C0"/>
                </a:solidFill>
                <a:latin typeface="Open Sans" pitchFamily="34" charset="0"/>
                <a:ea typeface="Open Sans" pitchFamily="34" charset="-122"/>
                <a:cs typeface="Open Sans" pitchFamily="34" charset="-120"/>
              </a:rPr>
              <a:t>fundamentais das ferramentas de IA para não técnicos.</a:t>
            </a:r>
            <a:endParaRPr lang="en-US" sz="1300" dirty="0"/>
          </a:p>
        </p:txBody>
      </p:sp>
      <p:sp>
        <p:nvSpPr>
          <p:cNvPr id="40" name="Shape 38"/>
          <p:cNvSpPr/>
          <p:nvPr/>
        </p:nvSpPr>
        <p:spPr>
          <a:xfrm>
            <a:off x="0" y="6601968"/>
            <a:ext cx="2041093" cy="4572"/>
          </a:xfrm>
          <a:prstGeom prst="rect">
            <a:avLst/>
          </a:prstGeom>
          <a:solidFill>
            <a:srgbClr val="6C63FF"/>
          </a:solidFill>
          <a:ln/>
        </p:spPr>
      </p:sp>
      <p:sp>
        <p:nvSpPr>
          <p:cNvPr id="41" name="Shape 39"/>
          <p:cNvSpPr/>
          <p:nvPr/>
        </p:nvSpPr>
        <p:spPr>
          <a:xfrm>
            <a:off x="2031949" y="6601968"/>
            <a:ext cx="2041093" cy="4572"/>
          </a:xfrm>
          <a:prstGeom prst="rect">
            <a:avLst/>
          </a:prstGeom>
          <a:solidFill>
            <a:srgbClr val="6C63FF"/>
          </a:solidFill>
          <a:ln/>
        </p:spPr>
      </p:sp>
      <p:sp>
        <p:nvSpPr>
          <p:cNvPr id="42" name="Shape 40"/>
          <p:cNvSpPr/>
          <p:nvPr/>
        </p:nvSpPr>
        <p:spPr>
          <a:xfrm>
            <a:off x="4063898" y="6601968"/>
            <a:ext cx="2041093" cy="4572"/>
          </a:xfrm>
          <a:prstGeom prst="rect">
            <a:avLst/>
          </a:prstGeom>
          <a:solidFill>
            <a:srgbClr val="6C63FF"/>
          </a:solidFill>
          <a:ln/>
        </p:spPr>
      </p:sp>
      <p:sp>
        <p:nvSpPr>
          <p:cNvPr id="43" name="Shape 41"/>
          <p:cNvSpPr/>
          <p:nvPr/>
        </p:nvSpPr>
        <p:spPr>
          <a:xfrm>
            <a:off x="6095848" y="6601968"/>
            <a:ext cx="2041093" cy="4572"/>
          </a:xfrm>
          <a:prstGeom prst="rect">
            <a:avLst/>
          </a:prstGeom>
          <a:solidFill>
            <a:srgbClr val="6C63FF"/>
          </a:solidFill>
          <a:ln/>
        </p:spPr>
      </p:sp>
      <p:sp>
        <p:nvSpPr>
          <p:cNvPr id="44" name="Shape 42"/>
          <p:cNvSpPr/>
          <p:nvPr/>
        </p:nvSpPr>
        <p:spPr>
          <a:xfrm>
            <a:off x="8127797" y="6601968"/>
            <a:ext cx="2041093" cy="4572"/>
          </a:xfrm>
          <a:prstGeom prst="rect">
            <a:avLst/>
          </a:prstGeom>
          <a:solidFill>
            <a:srgbClr val="6C63FF"/>
          </a:solidFill>
          <a:ln/>
        </p:spPr>
      </p:sp>
      <p:sp>
        <p:nvSpPr>
          <p:cNvPr id="45" name="Shape 43"/>
          <p:cNvSpPr/>
          <p:nvPr/>
        </p:nvSpPr>
        <p:spPr>
          <a:xfrm>
            <a:off x="10159746" y="6601968"/>
            <a:ext cx="2041093" cy="4572"/>
          </a:xfrm>
          <a:prstGeom prst="rect">
            <a:avLst/>
          </a:prstGeom>
          <a:solidFill>
            <a:srgbClr val="6C63FF"/>
          </a:solidFill>
          <a:ln/>
        </p:spPr>
      </p:sp>
      <p:sp>
        <p:nvSpPr>
          <p:cNvPr id="46" name="Shape 44"/>
          <p:cNvSpPr/>
          <p:nvPr/>
        </p:nvSpPr>
        <p:spPr>
          <a:xfrm>
            <a:off x="0" y="6606540"/>
            <a:ext cx="12191695" cy="2743"/>
          </a:xfrm>
          <a:prstGeom prst="rect">
            <a:avLst/>
          </a:prstGeom>
          <a:solidFill>
            <a:srgbClr val="222E48"/>
          </a:solidFill>
          <a:ln/>
        </p:spPr>
      </p:sp>
      <p:sp>
        <p:nvSpPr>
          <p:cNvPr id="47" name="Text 45"/>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48" name="Shape 46"/>
          <p:cNvSpPr/>
          <p:nvPr/>
        </p:nvSpPr>
        <p:spPr>
          <a:xfrm>
            <a:off x="10436047" y="6693408"/>
            <a:ext cx="73152" cy="73152"/>
          </a:xfrm>
          <a:prstGeom prst="ellipse">
            <a:avLst/>
          </a:prstGeom>
          <a:solidFill>
            <a:srgbClr val="6C63FF"/>
          </a:solidFill>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Shape 1"/>
          <p:cNvSpPr/>
          <p:nvPr/>
        </p:nvSpPr>
        <p:spPr>
          <a:xfrm>
            <a:off x="64008" y="0"/>
            <a:ext cx="18288" cy="6858000"/>
          </a:xfrm>
          <a:prstGeom prst="rect">
            <a:avLst/>
          </a:prstGeom>
          <a:solidFill>
            <a:srgbClr val="10B981"/>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10B981"/>
                </a:solidFill>
                <a:latin typeface="Open Sans" pitchFamily="34" charset="0"/>
                <a:ea typeface="Open Sans" pitchFamily="34" charset="-122"/>
                <a:cs typeface="Open Sans" pitchFamily="34" charset="-120"/>
              </a:rPr>
              <a:t>COMO FUNCIONA</a:t>
            </a:r>
            <a:endParaRPr lang="en-US" sz="900" dirty="0"/>
          </a:p>
        </p:txBody>
      </p:sp>
      <p:sp>
        <p:nvSpPr>
          <p:cNvPr id="5" name="Shape 3"/>
          <p:cNvSpPr/>
          <p:nvPr/>
        </p:nvSpPr>
        <p:spPr>
          <a:xfrm>
            <a:off x="502920" y="493776"/>
            <a:ext cx="640080" cy="21946"/>
          </a:xfrm>
          <a:prstGeom prst="rect">
            <a:avLst/>
          </a:prstGeom>
          <a:solidFill>
            <a:srgbClr val="10B981"/>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Como funciona (Parte 2)</a:t>
            </a:r>
            <a:endParaRPr lang="en-US" sz="2800" dirty="0"/>
          </a:p>
        </p:txBody>
      </p:sp>
      <p:sp>
        <p:nvSpPr>
          <p:cNvPr id="7" name="Shape 5"/>
          <p:cNvSpPr/>
          <p:nvPr/>
        </p:nvSpPr>
        <p:spPr>
          <a:xfrm>
            <a:off x="502920" y="1389888"/>
            <a:ext cx="11185855" cy="7315"/>
          </a:xfrm>
          <a:prstGeom prst="rect">
            <a:avLst/>
          </a:prstGeom>
          <a:solidFill>
            <a:srgbClr val="10B981"/>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683971" y="1517904"/>
            <a:ext cx="21946" cy="4919472"/>
          </a:xfrm>
          <a:prstGeom prst="rect">
            <a:avLst/>
          </a:prstGeom>
          <a:solidFill>
            <a:srgbClr val="222E48"/>
          </a:solidFill>
          <a:ln/>
        </p:spPr>
      </p:sp>
      <p:sp>
        <p:nvSpPr>
          <p:cNvPr id="10" name="Shape 8"/>
          <p:cNvSpPr/>
          <p:nvPr/>
        </p:nvSpPr>
        <p:spPr>
          <a:xfrm>
            <a:off x="594360" y="1732026"/>
            <a:ext cx="201168" cy="201168"/>
          </a:xfrm>
          <a:prstGeom prst="roundRect">
            <a:avLst>
              <a:gd name="adj" fmla="val 22727"/>
            </a:avLst>
          </a:prstGeom>
          <a:solidFill>
            <a:srgbClr val="6C63FF"/>
          </a:solidFill>
          <a:ln/>
        </p:spPr>
      </p:sp>
      <p:sp>
        <p:nvSpPr>
          <p:cNvPr id="11" name="Text 9"/>
          <p:cNvSpPr/>
          <p:nvPr/>
        </p:nvSpPr>
        <p:spPr>
          <a:xfrm>
            <a:off x="594360" y="1732026"/>
            <a:ext cx="201168" cy="201168"/>
          </a:xfrm>
          <a:prstGeom prst="rect">
            <a:avLst/>
          </a:prstGeom>
          <a:noFill/>
          <a:ln/>
        </p:spPr>
        <p:txBody>
          <a:bodyPr wrap="square" rtlCol="0" anchor="ctr"/>
          <a:lstStyle/>
          <a:p>
            <a:pPr algn="ctr" indent="0" marL="0">
              <a:buNone/>
            </a:pPr>
            <a:r>
              <a:rPr lang="en-US" sz="1000" b="1" dirty="0">
                <a:solidFill>
                  <a:srgbClr val="FFFFFF"/>
                </a:solidFill>
                <a:latin typeface="Montserrat" pitchFamily="34" charset="0"/>
                <a:ea typeface="Montserrat" pitchFamily="34" charset="-122"/>
                <a:cs typeface="Montserrat" pitchFamily="34" charset="-120"/>
              </a:rPr>
              <a:t>1</a:t>
            </a:r>
            <a:endParaRPr lang="en-US" sz="1000" dirty="0"/>
          </a:p>
        </p:txBody>
      </p:sp>
      <p:sp>
        <p:nvSpPr>
          <p:cNvPr id="12" name="Shape 10"/>
          <p:cNvSpPr/>
          <p:nvPr/>
        </p:nvSpPr>
        <p:spPr>
          <a:xfrm>
            <a:off x="969264" y="1453896"/>
            <a:ext cx="10884103" cy="812292"/>
          </a:xfrm>
          <a:prstGeom prst="roundRect">
            <a:avLst>
              <a:gd name="adj" fmla="val 11257"/>
            </a:avLst>
          </a:prstGeom>
          <a:solidFill>
            <a:srgbClr val="000000"/>
          </a:solidFill>
          <a:ln/>
        </p:spPr>
      </p:sp>
      <p:sp>
        <p:nvSpPr>
          <p:cNvPr id="13" name="Shape 11"/>
          <p:cNvSpPr/>
          <p:nvPr/>
        </p:nvSpPr>
        <p:spPr>
          <a:xfrm>
            <a:off x="941832" y="1417320"/>
            <a:ext cx="10884103" cy="812292"/>
          </a:xfrm>
          <a:prstGeom prst="roundRect">
            <a:avLst>
              <a:gd name="adj" fmla="val 6754"/>
            </a:avLst>
          </a:prstGeom>
          <a:solidFill>
            <a:srgbClr val="141E34"/>
          </a:solidFill>
          <a:ln/>
        </p:spPr>
      </p:sp>
      <p:sp>
        <p:nvSpPr>
          <p:cNvPr id="14" name="Shape 12"/>
          <p:cNvSpPr/>
          <p:nvPr/>
        </p:nvSpPr>
        <p:spPr>
          <a:xfrm>
            <a:off x="941832" y="1417320"/>
            <a:ext cx="45720" cy="812292"/>
          </a:xfrm>
          <a:prstGeom prst="rect">
            <a:avLst>
              <a:gd name="adj" fmla="val 120000"/>
            </a:avLst>
          </a:prstGeom>
          <a:solidFill>
            <a:srgbClr val="6C63FF"/>
          </a:solidFill>
          <a:ln/>
        </p:spPr>
      </p:sp>
      <p:sp>
        <p:nvSpPr>
          <p:cNvPr id="15" name="Text 13"/>
          <p:cNvSpPr/>
          <p:nvPr/>
        </p:nvSpPr>
        <p:spPr>
          <a:xfrm>
            <a:off x="1097280" y="1417320"/>
            <a:ext cx="10637215" cy="812292"/>
          </a:xfrm>
          <a:prstGeom prst="rect">
            <a:avLst/>
          </a:prstGeom>
          <a:noFill/>
          <a:ln/>
        </p:spPr>
        <p:txBody>
          <a:bodyPr wrap="square" rtlCol="0" anchor="ctr"/>
          <a:lstStyle/>
          <a:p>
            <a:pPr indent="0" marL="0">
              <a:lnSpc>
                <a:spcPct val="112000"/>
              </a:lnSpc>
              <a:buNone/>
            </a:pPr>
            <a:r>
              <a:rPr lang="en-US" sz="1500" dirty="0">
                <a:solidFill>
                  <a:srgbClr val="E8EDF5"/>
                </a:solidFill>
                <a:latin typeface="Open Sans" pitchFamily="34" charset="0"/>
                <a:ea typeface="Open Sans" pitchFamily="34" charset="-122"/>
                <a:cs typeface="Open Sans" pitchFamily="34" charset="-120"/>
              </a:rPr>
              <a:t>A IA consegue identificar padrões e anomalias invisíveis aos métodos tradicionais.</a:t>
            </a:r>
            <a:endParaRPr lang="en-US" sz="1500" dirty="0"/>
          </a:p>
        </p:txBody>
      </p:sp>
      <p:sp>
        <p:nvSpPr>
          <p:cNvPr id="16" name="Shape 14"/>
          <p:cNvSpPr/>
          <p:nvPr/>
        </p:nvSpPr>
        <p:spPr>
          <a:xfrm>
            <a:off x="594360" y="2590038"/>
            <a:ext cx="201168" cy="201168"/>
          </a:xfrm>
          <a:prstGeom prst="roundRect">
            <a:avLst>
              <a:gd name="adj" fmla="val 22727"/>
            </a:avLst>
          </a:prstGeom>
          <a:solidFill>
            <a:srgbClr val="3B82F6"/>
          </a:solidFill>
          <a:ln/>
        </p:spPr>
      </p:sp>
      <p:sp>
        <p:nvSpPr>
          <p:cNvPr id="17" name="Text 15"/>
          <p:cNvSpPr/>
          <p:nvPr/>
        </p:nvSpPr>
        <p:spPr>
          <a:xfrm>
            <a:off x="594360" y="2590038"/>
            <a:ext cx="201168" cy="201168"/>
          </a:xfrm>
          <a:prstGeom prst="rect">
            <a:avLst/>
          </a:prstGeom>
          <a:noFill/>
          <a:ln/>
        </p:spPr>
        <p:txBody>
          <a:bodyPr wrap="square" rtlCol="0" anchor="ctr"/>
          <a:lstStyle/>
          <a:p>
            <a:pPr algn="ctr" indent="0" marL="0">
              <a:buNone/>
            </a:pPr>
            <a:r>
              <a:rPr lang="en-US" sz="1000" b="1" dirty="0">
                <a:solidFill>
                  <a:srgbClr val="FFFFFF"/>
                </a:solidFill>
                <a:latin typeface="Montserrat" pitchFamily="34" charset="0"/>
                <a:ea typeface="Montserrat" pitchFamily="34" charset="-122"/>
                <a:cs typeface="Montserrat" pitchFamily="34" charset="-120"/>
              </a:rPr>
              <a:t>2</a:t>
            </a:r>
            <a:endParaRPr lang="en-US" sz="1000" dirty="0"/>
          </a:p>
        </p:txBody>
      </p:sp>
      <p:sp>
        <p:nvSpPr>
          <p:cNvPr id="18" name="Shape 16"/>
          <p:cNvSpPr/>
          <p:nvPr/>
        </p:nvSpPr>
        <p:spPr>
          <a:xfrm>
            <a:off x="969264" y="2311908"/>
            <a:ext cx="10884103" cy="812292"/>
          </a:xfrm>
          <a:prstGeom prst="roundRect">
            <a:avLst>
              <a:gd name="adj" fmla="val 11257"/>
            </a:avLst>
          </a:prstGeom>
          <a:solidFill>
            <a:srgbClr val="000000"/>
          </a:solidFill>
          <a:ln/>
        </p:spPr>
      </p:sp>
      <p:sp>
        <p:nvSpPr>
          <p:cNvPr id="19" name="Shape 17"/>
          <p:cNvSpPr/>
          <p:nvPr/>
        </p:nvSpPr>
        <p:spPr>
          <a:xfrm>
            <a:off x="941832" y="2275332"/>
            <a:ext cx="10884103" cy="812292"/>
          </a:xfrm>
          <a:prstGeom prst="roundRect">
            <a:avLst>
              <a:gd name="adj" fmla="val 6754"/>
            </a:avLst>
          </a:prstGeom>
          <a:solidFill>
            <a:srgbClr val="141E34"/>
          </a:solidFill>
          <a:ln/>
        </p:spPr>
      </p:sp>
      <p:sp>
        <p:nvSpPr>
          <p:cNvPr id="20" name="Shape 18"/>
          <p:cNvSpPr/>
          <p:nvPr/>
        </p:nvSpPr>
        <p:spPr>
          <a:xfrm>
            <a:off x="941832" y="2275332"/>
            <a:ext cx="45720" cy="812292"/>
          </a:xfrm>
          <a:prstGeom prst="rect">
            <a:avLst>
              <a:gd name="adj" fmla="val 120000"/>
            </a:avLst>
          </a:prstGeom>
          <a:solidFill>
            <a:srgbClr val="3B82F6"/>
          </a:solidFill>
          <a:ln/>
        </p:spPr>
      </p:sp>
      <p:sp>
        <p:nvSpPr>
          <p:cNvPr id="21" name="Text 19"/>
          <p:cNvSpPr/>
          <p:nvPr/>
        </p:nvSpPr>
        <p:spPr>
          <a:xfrm>
            <a:off x="1097280" y="2275332"/>
            <a:ext cx="10637215" cy="812292"/>
          </a:xfrm>
          <a:prstGeom prst="rect">
            <a:avLst/>
          </a:prstGeom>
          <a:noFill/>
          <a:ln/>
        </p:spPr>
        <p:txBody>
          <a:bodyPr wrap="square" rtlCol="0" anchor="ctr"/>
          <a:lstStyle/>
          <a:p>
            <a:pPr indent="0" marL="0">
              <a:lnSpc>
                <a:spcPct val="112000"/>
              </a:lnSpc>
              <a:buNone/>
            </a:pPr>
            <a:r>
              <a:rPr lang="en-US" sz="1500" dirty="0">
                <a:solidFill>
                  <a:srgbClr val="E8EDF5"/>
                </a:solidFill>
                <a:latin typeface="Open Sans" pitchFamily="34" charset="0"/>
                <a:ea typeface="Open Sans" pitchFamily="34" charset="-122"/>
                <a:cs typeface="Open Sans" pitchFamily="34" charset="-120"/>
              </a:rPr>
              <a:t>Profissionais podem focar no "porquê" e no "como" usar a informação. ".</a:t>
            </a:r>
            <a:endParaRPr lang="en-US" sz="1500" dirty="0"/>
          </a:p>
        </p:txBody>
      </p:sp>
      <p:sp>
        <p:nvSpPr>
          <p:cNvPr id="22" name="Shape 20"/>
          <p:cNvSpPr/>
          <p:nvPr/>
        </p:nvSpPr>
        <p:spPr>
          <a:xfrm>
            <a:off x="594360" y="3448050"/>
            <a:ext cx="201168" cy="201168"/>
          </a:xfrm>
          <a:prstGeom prst="roundRect">
            <a:avLst>
              <a:gd name="adj" fmla="val 22727"/>
            </a:avLst>
          </a:prstGeom>
          <a:solidFill>
            <a:srgbClr val="10B981"/>
          </a:solidFill>
          <a:ln/>
        </p:spPr>
      </p:sp>
      <p:sp>
        <p:nvSpPr>
          <p:cNvPr id="23" name="Text 21"/>
          <p:cNvSpPr/>
          <p:nvPr/>
        </p:nvSpPr>
        <p:spPr>
          <a:xfrm>
            <a:off x="594360" y="3448050"/>
            <a:ext cx="201168" cy="201168"/>
          </a:xfrm>
          <a:prstGeom prst="rect">
            <a:avLst/>
          </a:prstGeom>
          <a:noFill/>
          <a:ln/>
        </p:spPr>
        <p:txBody>
          <a:bodyPr wrap="square" rtlCol="0" anchor="ctr"/>
          <a:lstStyle/>
          <a:p>
            <a:pPr algn="ctr" indent="0" marL="0">
              <a:buNone/>
            </a:pPr>
            <a:r>
              <a:rPr lang="en-US" sz="1000" b="1" dirty="0">
                <a:solidFill>
                  <a:srgbClr val="FFFFFF"/>
                </a:solidFill>
                <a:latin typeface="Montserrat" pitchFamily="34" charset="0"/>
                <a:ea typeface="Montserrat" pitchFamily="34" charset="-122"/>
                <a:cs typeface="Montserrat" pitchFamily="34" charset="-120"/>
              </a:rPr>
              <a:t>3</a:t>
            </a:r>
            <a:endParaRPr lang="en-US" sz="1000" dirty="0"/>
          </a:p>
        </p:txBody>
      </p:sp>
      <p:sp>
        <p:nvSpPr>
          <p:cNvPr id="24" name="Shape 22"/>
          <p:cNvSpPr/>
          <p:nvPr/>
        </p:nvSpPr>
        <p:spPr>
          <a:xfrm>
            <a:off x="969264" y="3169920"/>
            <a:ext cx="10884103" cy="812292"/>
          </a:xfrm>
          <a:prstGeom prst="roundRect">
            <a:avLst>
              <a:gd name="adj" fmla="val 11257"/>
            </a:avLst>
          </a:prstGeom>
          <a:solidFill>
            <a:srgbClr val="000000"/>
          </a:solidFill>
          <a:ln/>
        </p:spPr>
      </p:sp>
      <p:sp>
        <p:nvSpPr>
          <p:cNvPr id="25" name="Shape 23"/>
          <p:cNvSpPr/>
          <p:nvPr/>
        </p:nvSpPr>
        <p:spPr>
          <a:xfrm>
            <a:off x="941832" y="3133344"/>
            <a:ext cx="10884103" cy="812292"/>
          </a:xfrm>
          <a:prstGeom prst="roundRect">
            <a:avLst>
              <a:gd name="adj" fmla="val 6754"/>
            </a:avLst>
          </a:prstGeom>
          <a:solidFill>
            <a:srgbClr val="141E34"/>
          </a:solidFill>
          <a:ln/>
        </p:spPr>
      </p:sp>
      <p:sp>
        <p:nvSpPr>
          <p:cNvPr id="26" name="Shape 24"/>
          <p:cNvSpPr/>
          <p:nvPr/>
        </p:nvSpPr>
        <p:spPr>
          <a:xfrm>
            <a:off x="941832" y="3133344"/>
            <a:ext cx="45720" cy="812292"/>
          </a:xfrm>
          <a:prstGeom prst="rect">
            <a:avLst>
              <a:gd name="adj" fmla="val 120000"/>
            </a:avLst>
          </a:prstGeom>
          <a:solidFill>
            <a:srgbClr val="10B981"/>
          </a:solidFill>
          <a:ln/>
        </p:spPr>
      </p:sp>
      <p:sp>
        <p:nvSpPr>
          <p:cNvPr id="27" name="Text 25"/>
          <p:cNvSpPr/>
          <p:nvPr/>
        </p:nvSpPr>
        <p:spPr>
          <a:xfrm>
            <a:off x="1097280" y="3133344"/>
            <a:ext cx="10637215" cy="812292"/>
          </a:xfrm>
          <a:prstGeom prst="rect">
            <a:avLst/>
          </a:prstGeom>
          <a:noFill/>
          <a:ln/>
        </p:spPr>
        <p:txBody>
          <a:bodyPr wrap="square" rtlCol="0" anchor="ctr"/>
          <a:lstStyle/>
          <a:p>
            <a:pPr indent="0" marL="0">
              <a:lnSpc>
                <a:spcPct val="112000"/>
              </a:lnSpc>
              <a:buNone/>
            </a:pPr>
            <a:r>
              <a:rPr lang="en-US" sz="1500" dirty="0">
                <a:solidFill>
                  <a:srgbClr val="E8EDF5"/>
                </a:solidFill>
                <a:latin typeface="Open Sans" pitchFamily="34" charset="0"/>
                <a:ea typeface="Open Sans" pitchFamily="34" charset="-122"/>
                <a:cs typeface="Open Sans" pitchFamily="34" charset="-120"/>
              </a:rPr>
              <a:t>Ela identifica correlações, tendências e relações que escapariam à análise humana ou a softwares simples.</a:t>
            </a:r>
            <a:endParaRPr lang="en-US" sz="1500" dirty="0"/>
          </a:p>
        </p:txBody>
      </p:sp>
      <p:sp>
        <p:nvSpPr>
          <p:cNvPr id="28" name="Shape 26"/>
          <p:cNvSpPr/>
          <p:nvPr/>
        </p:nvSpPr>
        <p:spPr>
          <a:xfrm>
            <a:off x="594360" y="4306062"/>
            <a:ext cx="201168" cy="201168"/>
          </a:xfrm>
          <a:prstGeom prst="roundRect">
            <a:avLst>
              <a:gd name="adj" fmla="val 22727"/>
            </a:avLst>
          </a:prstGeom>
          <a:solidFill>
            <a:srgbClr val="F59E0B"/>
          </a:solidFill>
          <a:ln/>
        </p:spPr>
      </p:sp>
      <p:sp>
        <p:nvSpPr>
          <p:cNvPr id="29" name="Text 27"/>
          <p:cNvSpPr/>
          <p:nvPr/>
        </p:nvSpPr>
        <p:spPr>
          <a:xfrm>
            <a:off x="594360" y="4306062"/>
            <a:ext cx="201168" cy="201168"/>
          </a:xfrm>
          <a:prstGeom prst="rect">
            <a:avLst/>
          </a:prstGeom>
          <a:noFill/>
          <a:ln/>
        </p:spPr>
        <p:txBody>
          <a:bodyPr wrap="square" rtlCol="0" anchor="ctr"/>
          <a:lstStyle/>
          <a:p>
            <a:pPr algn="ctr" indent="0" marL="0">
              <a:buNone/>
            </a:pPr>
            <a:r>
              <a:rPr lang="en-US" sz="1000" b="1" dirty="0">
                <a:solidFill>
                  <a:srgbClr val="FFFFFF"/>
                </a:solidFill>
                <a:latin typeface="Montserrat" pitchFamily="34" charset="0"/>
                <a:ea typeface="Montserrat" pitchFamily="34" charset="-122"/>
                <a:cs typeface="Montserrat" pitchFamily="34" charset="-120"/>
              </a:rPr>
              <a:t>4</a:t>
            </a:r>
            <a:endParaRPr lang="en-US" sz="1000" dirty="0"/>
          </a:p>
        </p:txBody>
      </p:sp>
      <p:sp>
        <p:nvSpPr>
          <p:cNvPr id="30" name="Shape 28"/>
          <p:cNvSpPr/>
          <p:nvPr/>
        </p:nvSpPr>
        <p:spPr>
          <a:xfrm>
            <a:off x="969264" y="4027932"/>
            <a:ext cx="10884103" cy="812292"/>
          </a:xfrm>
          <a:prstGeom prst="roundRect">
            <a:avLst>
              <a:gd name="adj" fmla="val 11257"/>
            </a:avLst>
          </a:prstGeom>
          <a:solidFill>
            <a:srgbClr val="000000"/>
          </a:solidFill>
          <a:ln/>
        </p:spPr>
      </p:sp>
      <p:sp>
        <p:nvSpPr>
          <p:cNvPr id="31" name="Shape 29"/>
          <p:cNvSpPr/>
          <p:nvPr/>
        </p:nvSpPr>
        <p:spPr>
          <a:xfrm>
            <a:off x="941832" y="3991356"/>
            <a:ext cx="10884103" cy="812292"/>
          </a:xfrm>
          <a:prstGeom prst="roundRect">
            <a:avLst>
              <a:gd name="adj" fmla="val 6754"/>
            </a:avLst>
          </a:prstGeom>
          <a:solidFill>
            <a:srgbClr val="141E34"/>
          </a:solidFill>
          <a:ln/>
        </p:spPr>
      </p:sp>
      <p:sp>
        <p:nvSpPr>
          <p:cNvPr id="32" name="Shape 30"/>
          <p:cNvSpPr/>
          <p:nvPr/>
        </p:nvSpPr>
        <p:spPr>
          <a:xfrm>
            <a:off x="941832" y="3991356"/>
            <a:ext cx="45720" cy="812292"/>
          </a:xfrm>
          <a:prstGeom prst="rect">
            <a:avLst>
              <a:gd name="adj" fmla="val 120000"/>
            </a:avLst>
          </a:prstGeom>
          <a:solidFill>
            <a:srgbClr val="F59E0B"/>
          </a:solidFill>
          <a:ln/>
        </p:spPr>
      </p:sp>
      <p:sp>
        <p:nvSpPr>
          <p:cNvPr id="33" name="Text 31"/>
          <p:cNvSpPr/>
          <p:nvPr/>
        </p:nvSpPr>
        <p:spPr>
          <a:xfrm>
            <a:off x="1097280" y="3991356"/>
            <a:ext cx="10637215" cy="812292"/>
          </a:xfrm>
          <a:prstGeom prst="rect">
            <a:avLst/>
          </a:prstGeom>
          <a:noFill/>
          <a:ln/>
        </p:spPr>
        <p:txBody>
          <a:bodyPr wrap="square" rtlCol="0" anchor="ctr"/>
          <a:lstStyle/>
          <a:p>
            <a:pPr indent="0" marL="0">
              <a:lnSpc>
                <a:spcPct val="112000"/>
              </a:lnSpc>
              <a:buNone/>
            </a:pPr>
            <a:r>
              <a:rPr lang="en-US" sz="1500" dirty="0">
                <a:solidFill>
                  <a:srgbClr val="E8EDF5"/>
                </a:solidFill>
                <a:latin typeface="Open Sans" pitchFamily="34" charset="0"/>
                <a:ea typeface="Open Sans" pitchFamily="34" charset="-122"/>
                <a:cs typeface="Open Sans" pitchFamily="34" charset="-120"/>
              </a:rPr>
              <a:t>Isso permite a descoberta de percepções valiosas de dados aparentemente desconectados.</a:t>
            </a:r>
            <a:endParaRPr lang="en-US" sz="1500" dirty="0"/>
          </a:p>
        </p:txBody>
      </p:sp>
      <p:sp>
        <p:nvSpPr>
          <p:cNvPr id="34" name="Shape 32"/>
          <p:cNvSpPr/>
          <p:nvPr/>
        </p:nvSpPr>
        <p:spPr>
          <a:xfrm>
            <a:off x="594360" y="5164074"/>
            <a:ext cx="201168" cy="201168"/>
          </a:xfrm>
          <a:prstGeom prst="roundRect">
            <a:avLst>
              <a:gd name="adj" fmla="val 22727"/>
            </a:avLst>
          </a:prstGeom>
          <a:solidFill>
            <a:srgbClr val="06B6D4"/>
          </a:solidFill>
          <a:ln/>
        </p:spPr>
      </p:sp>
      <p:sp>
        <p:nvSpPr>
          <p:cNvPr id="35" name="Text 33"/>
          <p:cNvSpPr/>
          <p:nvPr/>
        </p:nvSpPr>
        <p:spPr>
          <a:xfrm>
            <a:off x="594360" y="5164074"/>
            <a:ext cx="201168" cy="201168"/>
          </a:xfrm>
          <a:prstGeom prst="rect">
            <a:avLst/>
          </a:prstGeom>
          <a:noFill/>
          <a:ln/>
        </p:spPr>
        <p:txBody>
          <a:bodyPr wrap="square" rtlCol="0" anchor="ctr"/>
          <a:lstStyle/>
          <a:p>
            <a:pPr algn="ctr" indent="0" marL="0">
              <a:buNone/>
            </a:pPr>
            <a:r>
              <a:rPr lang="en-US" sz="1000" b="1" dirty="0">
                <a:solidFill>
                  <a:srgbClr val="FFFFFF"/>
                </a:solidFill>
                <a:latin typeface="Montserrat" pitchFamily="34" charset="0"/>
                <a:ea typeface="Montserrat" pitchFamily="34" charset="-122"/>
                <a:cs typeface="Montserrat" pitchFamily="34" charset="-120"/>
              </a:rPr>
              <a:t>5</a:t>
            </a:r>
            <a:endParaRPr lang="en-US" sz="1000" dirty="0"/>
          </a:p>
        </p:txBody>
      </p:sp>
      <p:sp>
        <p:nvSpPr>
          <p:cNvPr id="36" name="Shape 34"/>
          <p:cNvSpPr/>
          <p:nvPr/>
        </p:nvSpPr>
        <p:spPr>
          <a:xfrm>
            <a:off x="969264" y="4885944"/>
            <a:ext cx="10884103" cy="812292"/>
          </a:xfrm>
          <a:prstGeom prst="roundRect">
            <a:avLst>
              <a:gd name="adj" fmla="val 11257"/>
            </a:avLst>
          </a:prstGeom>
          <a:solidFill>
            <a:srgbClr val="000000"/>
          </a:solidFill>
          <a:ln/>
        </p:spPr>
      </p:sp>
      <p:sp>
        <p:nvSpPr>
          <p:cNvPr id="37" name="Shape 35"/>
          <p:cNvSpPr/>
          <p:nvPr/>
        </p:nvSpPr>
        <p:spPr>
          <a:xfrm>
            <a:off x="941832" y="4849368"/>
            <a:ext cx="10884103" cy="812292"/>
          </a:xfrm>
          <a:prstGeom prst="roundRect">
            <a:avLst>
              <a:gd name="adj" fmla="val 6754"/>
            </a:avLst>
          </a:prstGeom>
          <a:solidFill>
            <a:srgbClr val="141E34"/>
          </a:solidFill>
          <a:ln/>
        </p:spPr>
      </p:sp>
      <p:sp>
        <p:nvSpPr>
          <p:cNvPr id="38" name="Shape 36"/>
          <p:cNvSpPr/>
          <p:nvPr/>
        </p:nvSpPr>
        <p:spPr>
          <a:xfrm>
            <a:off x="941832" y="4849368"/>
            <a:ext cx="45720" cy="812292"/>
          </a:xfrm>
          <a:prstGeom prst="rect">
            <a:avLst>
              <a:gd name="adj" fmla="val 120000"/>
            </a:avLst>
          </a:prstGeom>
          <a:solidFill>
            <a:srgbClr val="06B6D4"/>
          </a:solidFill>
          <a:ln/>
        </p:spPr>
      </p:sp>
      <p:sp>
        <p:nvSpPr>
          <p:cNvPr id="39" name="Text 37"/>
          <p:cNvSpPr/>
          <p:nvPr/>
        </p:nvSpPr>
        <p:spPr>
          <a:xfrm>
            <a:off x="1097280" y="4849368"/>
            <a:ext cx="10637215" cy="812292"/>
          </a:xfrm>
          <a:prstGeom prst="rect">
            <a:avLst/>
          </a:prstGeom>
          <a:noFill/>
          <a:ln/>
        </p:spPr>
        <p:txBody>
          <a:bodyPr wrap="square" rtlCol="0" anchor="ctr"/>
          <a:lstStyle/>
          <a:p>
            <a:pPr indent="0" marL="0">
              <a:lnSpc>
                <a:spcPct val="112000"/>
              </a:lnSpc>
              <a:buNone/>
            </a:pPr>
            <a:r>
              <a:rPr lang="en-US" sz="1500" dirty="0">
                <a:solidFill>
                  <a:srgbClr val="E8EDF5"/>
                </a:solidFill>
                <a:latin typeface="Open Sans" pitchFamily="34" charset="0"/>
                <a:ea typeface="Open Sans" pitchFamily="34" charset="-122"/>
                <a:cs typeface="Open Sans" pitchFamily="34" charset="-120"/>
              </a:rPr>
              <a:t>A IA varre petabytes de dados em busca de informações relevantes.</a:t>
            </a:r>
            <a:endParaRPr lang="en-US" sz="1500" dirty="0"/>
          </a:p>
        </p:txBody>
      </p:sp>
      <p:sp>
        <p:nvSpPr>
          <p:cNvPr id="40" name="Shape 38"/>
          <p:cNvSpPr/>
          <p:nvPr/>
        </p:nvSpPr>
        <p:spPr>
          <a:xfrm>
            <a:off x="594360" y="6022086"/>
            <a:ext cx="201168" cy="201168"/>
          </a:xfrm>
          <a:prstGeom prst="roundRect">
            <a:avLst>
              <a:gd name="adj" fmla="val 22727"/>
            </a:avLst>
          </a:prstGeom>
          <a:solidFill>
            <a:srgbClr val="6C63FF"/>
          </a:solidFill>
          <a:ln/>
        </p:spPr>
      </p:sp>
      <p:sp>
        <p:nvSpPr>
          <p:cNvPr id="41" name="Text 39"/>
          <p:cNvSpPr/>
          <p:nvPr/>
        </p:nvSpPr>
        <p:spPr>
          <a:xfrm>
            <a:off x="594360" y="6022086"/>
            <a:ext cx="201168" cy="201168"/>
          </a:xfrm>
          <a:prstGeom prst="rect">
            <a:avLst/>
          </a:prstGeom>
          <a:noFill/>
          <a:ln/>
        </p:spPr>
        <p:txBody>
          <a:bodyPr wrap="square" rtlCol="0" anchor="ctr"/>
          <a:lstStyle/>
          <a:p>
            <a:pPr algn="ctr" indent="0" marL="0">
              <a:buNone/>
            </a:pPr>
            <a:r>
              <a:rPr lang="en-US" sz="1000" b="1" dirty="0">
                <a:solidFill>
                  <a:srgbClr val="FFFFFF"/>
                </a:solidFill>
                <a:latin typeface="Montserrat" pitchFamily="34" charset="0"/>
                <a:ea typeface="Montserrat" pitchFamily="34" charset="-122"/>
                <a:cs typeface="Montserrat" pitchFamily="34" charset="-120"/>
              </a:rPr>
              <a:t>6</a:t>
            </a:r>
            <a:endParaRPr lang="en-US" sz="1000" dirty="0"/>
          </a:p>
        </p:txBody>
      </p:sp>
      <p:sp>
        <p:nvSpPr>
          <p:cNvPr id="42" name="Shape 40"/>
          <p:cNvSpPr/>
          <p:nvPr/>
        </p:nvSpPr>
        <p:spPr>
          <a:xfrm>
            <a:off x="969264" y="5743956"/>
            <a:ext cx="10884103" cy="812292"/>
          </a:xfrm>
          <a:prstGeom prst="roundRect">
            <a:avLst>
              <a:gd name="adj" fmla="val 11257"/>
            </a:avLst>
          </a:prstGeom>
          <a:solidFill>
            <a:srgbClr val="000000"/>
          </a:solidFill>
          <a:ln/>
        </p:spPr>
      </p:sp>
      <p:sp>
        <p:nvSpPr>
          <p:cNvPr id="43" name="Shape 41"/>
          <p:cNvSpPr/>
          <p:nvPr/>
        </p:nvSpPr>
        <p:spPr>
          <a:xfrm>
            <a:off x="941832" y="5707380"/>
            <a:ext cx="10884103" cy="812292"/>
          </a:xfrm>
          <a:prstGeom prst="roundRect">
            <a:avLst>
              <a:gd name="adj" fmla="val 6754"/>
            </a:avLst>
          </a:prstGeom>
          <a:solidFill>
            <a:srgbClr val="141E34"/>
          </a:solidFill>
          <a:ln/>
        </p:spPr>
      </p:sp>
      <p:sp>
        <p:nvSpPr>
          <p:cNvPr id="44" name="Shape 42"/>
          <p:cNvSpPr/>
          <p:nvPr/>
        </p:nvSpPr>
        <p:spPr>
          <a:xfrm>
            <a:off x="941832" y="5707380"/>
            <a:ext cx="45720" cy="812292"/>
          </a:xfrm>
          <a:prstGeom prst="rect">
            <a:avLst>
              <a:gd name="adj" fmla="val 120000"/>
            </a:avLst>
          </a:prstGeom>
          <a:solidFill>
            <a:srgbClr val="6C63FF"/>
          </a:solidFill>
          <a:ln/>
        </p:spPr>
      </p:sp>
      <p:sp>
        <p:nvSpPr>
          <p:cNvPr id="45" name="Text 43"/>
          <p:cNvSpPr/>
          <p:nvPr/>
        </p:nvSpPr>
        <p:spPr>
          <a:xfrm>
            <a:off x="1097280" y="5707380"/>
            <a:ext cx="10637215" cy="812292"/>
          </a:xfrm>
          <a:prstGeom prst="rect">
            <a:avLst/>
          </a:prstGeom>
          <a:noFill/>
          <a:ln/>
        </p:spPr>
        <p:txBody>
          <a:bodyPr wrap="square" rtlCol="0" anchor="ctr"/>
          <a:lstStyle/>
          <a:p>
            <a:pPr indent="0" marL="0">
              <a:lnSpc>
                <a:spcPct val="112000"/>
              </a:lnSpc>
              <a:buNone/>
            </a:pPr>
            <a:r>
              <a:rPr lang="en-US" sz="1500" dirty="0">
                <a:solidFill>
                  <a:srgbClr val="E8EDF5"/>
                </a:solidFill>
                <a:latin typeface="Open Sans" pitchFamily="34" charset="0"/>
                <a:ea typeface="Open Sans" pitchFamily="34" charset="-122"/>
                <a:cs typeface="Open Sans" pitchFamily="34" charset="-120"/>
              </a:rPr>
              <a:t>Ela descobre correlações não óbvias entre variáveis diversas. Economiza tempo e recursos pela automação da análise.</a:t>
            </a:r>
            <a:endParaRPr lang="en-US" sz="1500" dirty="0"/>
          </a:p>
        </p:txBody>
      </p:sp>
      <p:sp>
        <p:nvSpPr>
          <p:cNvPr id="46" name="Shape 44"/>
          <p:cNvSpPr/>
          <p:nvPr/>
        </p:nvSpPr>
        <p:spPr>
          <a:xfrm>
            <a:off x="0" y="6601968"/>
            <a:ext cx="2041093" cy="4572"/>
          </a:xfrm>
          <a:prstGeom prst="rect">
            <a:avLst/>
          </a:prstGeom>
          <a:solidFill>
            <a:srgbClr val="6C63FF"/>
          </a:solidFill>
          <a:ln/>
        </p:spPr>
      </p:sp>
      <p:sp>
        <p:nvSpPr>
          <p:cNvPr id="47" name="Shape 45"/>
          <p:cNvSpPr/>
          <p:nvPr/>
        </p:nvSpPr>
        <p:spPr>
          <a:xfrm>
            <a:off x="2031949" y="6601968"/>
            <a:ext cx="2041093" cy="4572"/>
          </a:xfrm>
          <a:prstGeom prst="rect">
            <a:avLst/>
          </a:prstGeom>
          <a:solidFill>
            <a:srgbClr val="6C63FF"/>
          </a:solidFill>
          <a:ln/>
        </p:spPr>
      </p:sp>
      <p:sp>
        <p:nvSpPr>
          <p:cNvPr id="48" name="Shape 46"/>
          <p:cNvSpPr/>
          <p:nvPr/>
        </p:nvSpPr>
        <p:spPr>
          <a:xfrm>
            <a:off x="4063898" y="6601968"/>
            <a:ext cx="2041093" cy="4572"/>
          </a:xfrm>
          <a:prstGeom prst="rect">
            <a:avLst/>
          </a:prstGeom>
          <a:solidFill>
            <a:srgbClr val="6C63FF"/>
          </a:solidFill>
          <a:ln/>
        </p:spPr>
      </p:sp>
      <p:sp>
        <p:nvSpPr>
          <p:cNvPr id="49" name="Shape 47"/>
          <p:cNvSpPr/>
          <p:nvPr/>
        </p:nvSpPr>
        <p:spPr>
          <a:xfrm>
            <a:off x="6095848" y="6601968"/>
            <a:ext cx="2041093" cy="4572"/>
          </a:xfrm>
          <a:prstGeom prst="rect">
            <a:avLst/>
          </a:prstGeom>
          <a:solidFill>
            <a:srgbClr val="6C63FF"/>
          </a:solidFill>
          <a:ln/>
        </p:spPr>
      </p:sp>
      <p:sp>
        <p:nvSpPr>
          <p:cNvPr id="50" name="Shape 48"/>
          <p:cNvSpPr/>
          <p:nvPr/>
        </p:nvSpPr>
        <p:spPr>
          <a:xfrm>
            <a:off x="8127797" y="6601968"/>
            <a:ext cx="2041093" cy="4572"/>
          </a:xfrm>
          <a:prstGeom prst="rect">
            <a:avLst/>
          </a:prstGeom>
          <a:solidFill>
            <a:srgbClr val="6C63FF"/>
          </a:solidFill>
          <a:ln/>
        </p:spPr>
      </p:sp>
      <p:sp>
        <p:nvSpPr>
          <p:cNvPr id="51" name="Shape 49"/>
          <p:cNvSpPr/>
          <p:nvPr/>
        </p:nvSpPr>
        <p:spPr>
          <a:xfrm>
            <a:off x="10159746" y="6601968"/>
            <a:ext cx="2041093" cy="4572"/>
          </a:xfrm>
          <a:prstGeom prst="rect">
            <a:avLst/>
          </a:prstGeom>
          <a:solidFill>
            <a:srgbClr val="6C63FF"/>
          </a:solidFill>
          <a:ln/>
        </p:spPr>
      </p:sp>
      <p:sp>
        <p:nvSpPr>
          <p:cNvPr id="52" name="Shape 50"/>
          <p:cNvSpPr/>
          <p:nvPr/>
        </p:nvSpPr>
        <p:spPr>
          <a:xfrm>
            <a:off x="0" y="6606540"/>
            <a:ext cx="12191695" cy="2743"/>
          </a:xfrm>
          <a:prstGeom prst="rect">
            <a:avLst/>
          </a:prstGeom>
          <a:solidFill>
            <a:srgbClr val="222E48"/>
          </a:solidFill>
          <a:ln/>
        </p:spPr>
      </p:sp>
      <p:sp>
        <p:nvSpPr>
          <p:cNvPr id="53" name="Text 51"/>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54" name="Shape 52"/>
          <p:cNvSpPr/>
          <p:nvPr/>
        </p:nvSpPr>
        <p:spPr>
          <a:xfrm>
            <a:off x="10436047" y="6693408"/>
            <a:ext cx="73152" cy="73152"/>
          </a:xfrm>
          <a:prstGeom prst="ellipse">
            <a:avLst/>
          </a:prstGeom>
          <a:solidFill>
            <a:srgbClr val="6C63FF"/>
          </a:solidFill>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6C63FF"/>
          </a:solidFill>
          <a:ln/>
        </p:spPr>
      </p:sp>
      <p:sp>
        <p:nvSpPr>
          <p:cNvPr id="3" name="Shape 1"/>
          <p:cNvSpPr/>
          <p:nvPr/>
        </p:nvSpPr>
        <p:spPr>
          <a:xfrm>
            <a:off x="64008" y="0"/>
            <a:ext cx="18288" cy="6858000"/>
          </a:xfrm>
          <a:prstGeom prst="rect">
            <a:avLst/>
          </a:prstGeom>
          <a:solidFill>
            <a:srgbClr val="6C63FF"/>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6C63FF"/>
                </a:solidFill>
                <a:latin typeface="Open Sans" pitchFamily="34" charset="0"/>
                <a:ea typeface="Open Sans" pitchFamily="34" charset="-122"/>
                <a:cs typeface="Open Sans" pitchFamily="34" charset="-120"/>
              </a:rPr>
              <a:t>MODELOS E TIPOS</a:t>
            </a:r>
            <a:endParaRPr lang="en-US" sz="900" dirty="0"/>
          </a:p>
        </p:txBody>
      </p:sp>
      <p:sp>
        <p:nvSpPr>
          <p:cNvPr id="5" name="Shape 3"/>
          <p:cNvSpPr/>
          <p:nvPr/>
        </p:nvSpPr>
        <p:spPr>
          <a:xfrm>
            <a:off x="502920" y="493776"/>
            <a:ext cx="640080" cy="21946"/>
          </a:xfrm>
          <a:prstGeom prst="rect">
            <a:avLst/>
          </a:prstGeom>
          <a:solidFill>
            <a:srgbClr val="6C63FF"/>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Modelos / Tipos</a:t>
            </a:r>
            <a:endParaRPr lang="en-US" sz="2800" dirty="0"/>
          </a:p>
        </p:txBody>
      </p:sp>
      <p:sp>
        <p:nvSpPr>
          <p:cNvPr id="7" name="Shape 5"/>
          <p:cNvSpPr/>
          <p:nvPr/>
        </p:nvSpPr>
        <p:spPr>
          <a:xfrm>
            <a:off x="502920" y="1389888"/>
            <a:ext cx="11185855" cy="7315"/>
          </a:xfrm>
          <a:prstGeom prst="rect">
            <a:avLst/>
          </a:prstGeom>
          <a:solidFill>
            <a:srgbClr val="6C63FF"/>
          </a:solidFill>
          <a:ln/>
        </p:spPr>
      </p:sp>
      <p:sp>
        <p:nvSpPr>
          <p:cNvPr id="8" name="Shape 6"/>
          <p:cNvSpPr/>
          <p:nvPr/>
        </p:nvSpPr>
        <p:spPr>
          <a:xfrm>
            <a:off x="502920" y="1408176"/>
            <a:ext cx="11185855" cy="3658"/>
          </a:xfrm>
          <a:prstGeom prst="rect">
            <a:avLst/>
          </a:prstGeom>
          <a:solidFill>
            <a:srgbClr val="222E48"/>
          </a:solidFill>
          <a:ln/>
        </p:spPr>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94360" y="1536192"/>
          <a:ext cx="11140135" cy="914400"/>
        </p:xfrm>
        <a:graphic>
          <a:graphicData uri="http://schemas.openxmlformats.org/drawingml/2006/table">
            <a:tbl>
              <a:tblPr/>
              <a:tblGrid>
                <a:gridCol w="3713378"/>
                <a:gridCol w="3713378"/>
                <a:gridCol w="3713378"/>
              </a:tblGrid>
              <a:tr h="438912">
                <a:tc>
                  <a:txBody>
                    <a:bodyP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Aspecto</a:t>
                      </a:r>
                      <a:endParaRPr lang="en-US" sz="1300" dirty="0">
                        <a:latin typeface="Montserrat" charset="0"/>
                        <a:ea typeface="Montserrat" charset="0"/>
                        <a:cs typeface="Montserrat"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6C63FF"/>
                    </a:solidFill>
                  </a:tcPr>
                </a:tc>
                <a:tc>
                  <a:txBody>
                    <a:bodyP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Ferramenta</a:t>
                      </a:r>
                      <a:endParaRPr lang="en-US" sz="1300" dirty="0">
                        <a:latin typeface="Montserrat" charset="0"/>
                        <a:ea typeface="Montserrat" charset="0"/>
                        <a:cs typeface="Montserrat"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6C63FF"/>
                    </a:solidFill>
                  </a:tcPr>
                </a:tc>
                <a:tc>
                  <a:txBody>
                    <a:bodyP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Foco Principal</a:t>
                      </a:r>
                      <a:endParaRPr lang="en-US" sz="1300" dirty="0">
                        <a:latin typeface="Montserrat" charset="0"/>
                        <a:ea typeface="Montserrat" charset="0"/>
                        <a:cs typeface="Montserrat"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6C63FF"/>
                    </a:solidFill>
                  </a:tcPr>
                </a:tc>
              </a:tr>
              <a:tr h="438912">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 Visualização</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Tableau</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Dashboards interativos e insights com IA</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r>
              <a:tr h="438912">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 Conectividade</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A2848"/>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Microsoft Power BI</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A2848"/>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Conexão com diversas fontes, ML</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A2848"/>
                    </a:solidFill>
                  </a:tcPr>
                </a:tc>
              </a:tr>
              <a:tr h="438912">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 Relatórios</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Google Looker Studio</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Relatórios e painéis intuitivos e gratuitos</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r>
              <a:tr h="438912">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 Self-Service</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A2848"/>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Qlik Sense</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A2848"/>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Análises self-service e associações inteligentes</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A2848"/>
                    </a:solidFill>
                  </a:tcPr>
                </a:tc>
              </a:tr>
              <a:tr h="438912">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 Nuvem</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SAP Analytics Cloud</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BI, planejamento e análises preditivas na nuvem</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r>
            </a:tbl>
          </a:graphicData>
        </a:graphic>
      </p:graphicFrame>
      <p:sp>
        <p:nvSpPr>
          <p:cNvPr id="10" name="Shape 7"/>
          <p:cNvSpPr/>
          <p:nvPr/>
        </p:nvSpPr>
        <p:spPr>
          <a:xfrm>
            <a:off x="0" y="6601968"/>
            <a:ext cx="2041093" cy="4572"/>
          </a:xfrm>
          <a:prstGeom prst="rect">
            <a:avLst/>
          </a:prstGeom>
          <a:solidFill>
            <a:srgbClr val="6C63FF"/>
          </a:solidFill>
          <a:ln/>
        </p:spPr>
      </p:sp>
      <p:sp>
        <p:nvSpPr>
          <p:cNvPr id="11" name="Shape 8"/>
          <p:cNvSpPr/>
          <p:nvPr/>
        </p:nvSpPr>
        <p:spPr>
          <a:xfrm>
            <a:off x="2031949" y="6601968"/>
            <a:ext cx="2041093" cy="4572"/>
          </a:xfrm>
          <a:prstGeom prst="rect">
            <a:avLst/>
          </a:prstGeom>
          <a:solidFill>
            <a:srgbClr val="6C63FF"/>
          </a:solidFill>
          <a:ln/>
        </p:spPr>
      </p:sp>
      <p:sp>
        <p:nvSpPr>
          <p:cNvPr id="12" name="Shape 9"/>
          <p:cNvSpPr/>
          <p:nvPr/>
        </p:nvSpPr>
        <p:spPr>
          <a:xfrm>
            <a:off x="4063898" y="6601968"/>
            <a:ext cx="2041093" cy="4572"/>
          </a:xfrm>
          <a:prstGeom prst="rect">
            <a:avLst/>
          </a:prstGeom>
          <a:solidFill>
            <a:srgbClr val="6C63FF"/>
          </a:solidFill>
          <a:ln/>
        </p:spPr>
      </p:sp>
      <p:sp>
        <p:nvSpPr>
          <p:cNvPr id="13" name="Shape 10"/>
          <p:cNvSpPr/>
          <p:nvPr/>
        </p:nvSpPr>
        <p:spPr>
          <a:xfrm>
            <a:off x="6095848" y="6601968"/>
            <a:ext cx="2041093" cy="4572"/>
          </a:xfrm>
          <a:prstGeom prst="rect">
            <a:avLst/>
          </a:prstGeom>
          <a:solidFill>
            <a:srgbClr val="6C63FF"/>
          </a:solidFill>
          <a:ln/>
        </p:spPr>
      </p:sp>
      <p:sp>
        <p:nvSpPr>
          <p:cNvPr id="14" name="Shape 11"/>
          <p:cNvSpPr/>
          <p:nvPr/>
        </p:nvSpPr>
        <p:spPr>
          <a:xfrm>
            <a:off x="8127797" y="6601968"/>
            <a:ext cx="2041093" cy="4572"/>
          </a:xfrm>
          <a:prstGeom prst="rect">
            <a:avLst/>
          </a:prstGeom>
          <a:solidFill>
            <a:srgbClr val="6C63FF"/>
          </a:solidFill>
          <a:ln/>
        </p:spPr>
      </p:sp>
      <p:sp>
        <p:nvSpPr>
          <p:cNvPr id="15" name="Shape 12"/>
          <p:cNvSpPr/>
          <p:nvPr/>
        </p:nvSpPr>
        <p:spPr>
          <a:xfrm>
            <a:off x="10159746" y="6601968"/>
            <a:ext cx="2041093" cy="4572"/>
          </a:xfrm>
          <a:prstGeom prst="rect">
            <a:avLst/>
          </a:prstGeom>
          <a:solidFill>
            <a:srgbClr val="6C63FF"/>
          </a:solidFill>
          <a:ln/>
        </p:spPr>
      </p:sp>
      <p:sp>
        <p:nvSpPr>
          <p:cNvPr id="16" name="Shape 13"/>
          <p:cNvSpPr/>
          <p:nvPr/>
        </p:nvSpPr>
        <p:spPr>
          <a:xfrm>
            <a:off x="0" y="6606540"/>
            <a:ext cx="12191695" cy="2743"/>
          </a:xfrm>
          <a:prstGeom prst="rect">
            <a:avLst/>
          </a:prstGeom>
          <a:solidFill>
            <a:srgbClr val="222E48"/>
          </a:solidFill>
          <a:ln/>
        </p:spPr>
      </p:sp>
      <p:sp>
        <p:nvSpPr>
          <p:cNvPr id="17" name="Text 14"/>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18" name="Shape 15"/>
          <p:cNvSpPr/>
          <p:nvPr/>
        </p:nvSpPr>
        <p:spPr>
          <a:xfrm>
            <a:off x="10436047" y="6693408"/>
            <a:ext cx="73152" cy="73152"/>
          </a:xfrm>
          <a:prstGeom prst="ellipse">
            <a:avLst/>
          </a:prstGeom>
          <a:solidFill>
            <a:srgbClr val="6C63FF"/>
          </a:solidFill>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50A18"/>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111D38"/>
          </a:solidFill>
          <a:ln/>
        </p:spPr>
      </p:sp>
      <p:sp>
        <p:nvSpPr>
          <p:cNvPr id="3" name="Shape 1"/>
          <p:cNvSpPr/>
          <p:nvPr/>
        </p:nvSpPr>
        <p:spPr>
          <a:xfrm>
            <a:off x="164592" y="1417320"/>
            <a:ext cx="128016" cy="128016"/>
          </a:xfrm>
          <a:prstGeom prst="ellipse">
            <a:avLst/>
          </a:prstGeom>
          <a:solidFill>
            <a:srgbClr val="3B82F6"/>
          </a:solidFill>
          <a:ln/>
        </p:spPr>
      </p:sp>
      <p:sp>
        <p:nvSpPr>
          <p:cNvPr id="4" name="Shape 2"/>
          <p:cNvSpPr/>
          <p:nvPr/>
        </p:nvSpPr>
        <p:spPr>
          <a:xfrm>
            <a:off x="219456" y="1554480"/>
            <a:ext cx="18288" cy="1469136"/>
          </a:xfrm>
          <a:prstGeom prst="rect">
            <a:avLst/>
          </a:prstGeom>
          <a:solidFill>
            <a:srgbClr val="3B82F6"/>
          </a:solidFill>
          <a:ln/>
        </p:spPr>
      </p:sp>
      <p:sp>
        <p:nvSpPr>
          <p:cNvPr id="5" name="Shape 3"/>
          <p:cNvSpPr/>
          <p:nvPr/>
        </p:nvSpPr>
        <p:spPr>
          <a:xfrm>
            <a:off x="164592" y="3032760"/>
            <a:ext cx="128016" cy="128016"/>
          </a:xfrm>
          <a:prstGeom prst="ellipse">
            <a:avLst/>
          </a:prstGeom>
          <a:solidFill>
            <a:srgbClr val="F59E0B"/>
          </a:solidFill>
          <a:ln/>
        </p:spPr>
      </p:sp>
      <p:sp>
        <p:nvSpPr>
          <p:cNvPr id="6" name="Shape 4"/>
          <p:cNvSpPr/>
          <p:nvPr/>
        </p:nvSpPr>
        <p:spPr>
          <a:xfrm>
            <a:off x="219456" y="3169920"/>
            <a:ext cx="18288" cy="1469136"/>
          </a:xfrm>
          <a:prstGeom prst="rect">
            <a:avLst/>
          </a:prstGeom>
          <a:solidFill>
            <a:srgbClr val="F59E0B"/>
          </a:solidFill>
          <a:ln/>
        </p:spPr>
      </p:sp>
      <p:sp>
        <p:nvSpPr>
          <p:cNvPr id="7" name="Shape 5"/>
          <p:cNvSpPr/>
          <p:nvPr/>
        </p:nvSpPr>
        <p:spPr>
          <a:xfrm>
            <a:off x="164592" y="4648200"/>
            <a:ext cx="128016" cy="128016"/>
          </a:xfrm>
          <a:prstGeom prst="ellipse">
            <a:avLst/>
          </a:prstGeom>
          <a:solidFill>
            <a:srgbClr val="6C63FF"/>
          </a:solidFill>
          <a:ln/>
        </p:spPr>
      </p:sp>
      <p:sp>
        <p:nvSpPr>
          <p:cNvPr id="8" name="Shape 6"/>
          <p:cNvSpPr/>
          <p:nvPr/>
        </p:nvSpPr>
        <p:spPr>
          <a:xfrm>
            <a:off x="219456" y="4785360"/>
            <a:ext cx="18288" cy="1469136"/>
          </a:xfrm>
          <a:prstGeom prst="rect">
            <a:avLst/>
          </a:prstGeom>
          <a:solidFill>
            <a:srgbClr val="6C63FF"/>
          </a:solidFill>
          <a:ln/>
        </p:spPr>
      </p:sp>
      <p:sp>
        <p:nvSpPr>
          <p:cNvPr id="9" name="Shape 7"/>
          <p:cNvSpPr/>
          <p:nvPr/>
        </p:nvSpPr>
        <p:spPr>
          <a:xfrm>
            <a:off x="164592" y="6263640"/>
            <a:ext cx="128016" cy="128016"/>
          </a:xfrm>
          <a:prstGeom prst="ellipse">
            <a:avLst/>
          </a:prstGeom>
          <a:solidFill>
            <a:srgbClr val="10B981"/>
          </a:solidFill>
          <a:ln/>
        </p:spPr>
      </p:sp>
      <p:sp>
        <p:nvSpPr>
          <p:cNvPr id="10" name="Shape 8"/>
          <p:cNvSpPr/>
          <p:nvPr/>
        </p:nvSpPr>
        <p:spPr>
          <a:xfrm>
            <a:off x="731520" y="384048"/>
            <a:ext cx="1371600" cy="256032"/>
          </a:xfrm>
          <a:prstGeom prst="roundRect">
            <a:avLst>
              <a:gd name="adj" fmla="val 50000"/>
            </a:avLst>
          </a:prstGeom>
          <a:solidFill>
            <a:srgbClr val="F59E0B"/>
          </a:solidFill>
          <a:ln/>
        </p:spPr>
      </p:sp>
      <p:sp>
        <p:nvSpPr>
          <p:cNvPr id="11" name="Text 9"/>
          <p:cNvSpPr/>
          <p:nvPr/>
        </p:nvSpPr>
        <p:spPr>
          <a:xfrm>
            <a:off x="731520" y="384048"/>
            <a:ext cx="1371600" cy="256032"/>
          </a:xfrm>
          <a:prstGeom prst="rect">
            <a:avLst/>
          </a:prstGeom>
          <a:noFill/>
          <a:ln/>
        </p:spPr>
        <p:txBody>
          <a:bodyPr wrap="square" rtlCol="0" anchor="ctr"/>
          <a:lstStyle/>
          <a:p>
            <a:pPr algn="ctr" indent="0" marL="0">
              <a:buNone/>
            </a:pPr>
            <a:r>
              <a:rPr lang="en-US" sz="800" b="1" spc="400" kern="0" dirty="0">
                <a:solidFill>
                  <a:srgbClr val="FFFFFF"/>
                </a:solidFill>
                <a:latin typeface="Open Sans" pitchFamily="34" charset="0"/>
                <a:ea typeface="Open Sans" pitchFamily="34" charset="-122"/>
                <a:cs typeface="Open Sans" pitchFamily="34" charset="-120"/>
              </a:rPr>
              <a:t>ESTUDO DE CASO</a:t>
            </a:r>
            <a:endParaRPr lang="en-US" sz="800" dirty="0"/>
          </a:p>
        </p:txBody>
      </p:sp>
      <p:sp>
        <p:nvSpPr>
          <p:cNvPr id="12" name="Text 10"/>
          <p:cNvSpPr/>
          <p:nvPr/>
        </p:nvSpPr>
        <p:spPr>
          <a:xfrm>
            <a:off x="731520" y="731520"/>
            <a:ext cx="10820095" cy="548640"/>
          </a:xfrm>
          <a:prstGeom prst="rect">
            <a:avLst/>
          </a:prstGeom>
          <a:noFill/>
          <a:ln/>
        </p:spPr>
        <p:txBody>
          <a:bodyPr wrap="square" rtlCol="0" anchor="ctr"/>
          <a:lstStyle/>
          <a:p>
            <a:pPr indent="0" marL="0">
              <a:buNone/>
            </a:pPr>
            <a:r>
              <a:rPr lang="en-US" sz="2400" b="1" dirty="0">
                <a:solidFill>
                  <a:srgbClr val="FFFFFF"/>
                </a:solidFill>
                <a:latin typeface="Montserrat" pitchFamily="34" charset="0"/>
                <a:ea typeface="Montserrat" pitchFamily="34" charset="-122"/>
                <a:cs typeface="Montserrat" pitchFamily="34" charset="-120"/>
              </a:rPr>
              <a:t>Exemplo prático</a:t>
            </a:r>
            <a:endParaRPr lang="en-US" sz="2400" dirty="0"/>
          </a:p>
        </p:txBody>
      </p:sp>
      <p:sp>
        <p:nvSpPr>
          <p:cNvPr id="13" name="Shape 11"/>
          <p:cNvSpPr/>
          <p:nvPr/>
        </p:nvSpPr>
        <p:spPr>
          <a:xfrm>
            <a:off x="731520" y="1298448"/>
            <a:ext cx="3200400" cy="18288"/>
          </a:xfrm>
          <a:prstGeom prst="rect">
            <a:avLst/>
          </a:prstGeom>
          <a:solidFill>
            <a:srgbClr val="F59E0B"/>
          </a:solidFill>
          <a:ln/>
        </p:spPr>
      </p:sp>
      <p:sp>
        <p:nvSpPr>
          <p:cNvPr id="14" name="Shape 12"/>
          <p:cNvSpPr/>
          <p:nvPr/>
        </p:nvSpPr>
        <p:spPr>
          <a:xfrm>
            <a:off x="758952" y="1499616"/>
            <a:ext cx="10820095" cy="1152144"/>
          </a:xfrm>
          <a:prstGeom prst="roundRect">
            <a:avLst>
              <a:gd name="adj" fmla="val 7937"/>
            </a:avLst>
          </a:prstGeom>
          <a:solidFill>
            <a:srgbClr val="000000"/>
          </a:solidFill>
          <a:ln/>
        </p:spPr>
      </p:sp>
      <p:sp>
        <p:nvSpPr>
          <p:cNvPr id="15" name="Shape 13"/>
          <p:cNvSpPr/>
          <p:nvPr/>
        </p:nvSpPr>
        <p:spPr>
          <a:xfrm>
            <a:off x="731520" y="1463040"/>
            <a:ext cx="10820095" cy="1152144"/>
          </a:xfrm>
          <a:prstGeom prst="roundRect">
            <a:avLst>
              <a:gd name="adj" fmla="val 6349"/>
            </a:avLst>
          </a:prstGeom>
          <a:solidFill>
            <a:srgbClr val="111D38"/>
          </a:solidFill>
          <a:ln/>
        </p:spPr>
      </p:sp>
      <p:sp>
        <p:nvSpPr>
          <p:cNvPr id="16" name="Shape 14"/>
          <p:cNvSpPr/>
          <p:nvPr/>
        </p:nvSpPr>
        <p:spPr>
          <a:xfrm>
            <a:off x="731520" y="1517904"/>
            <a:ext cx="45720" cy="1042416"/>
          </a:xfrm>
          <a:prstGeom prst="rect">
            <a:avLst>
              <a:gd name="adj" fmla="val 60000"/>
            </a:avLst>
          </a:prstGeom>
          <a:solidFill>
            <a:srgbClr val="3B82F6"/>
          </a:solidFill>
          <a:ln/>
        </p:spPr>
      </p:sp>
      <p:sp>
        <p:nvSpPr>
          <p:cNvPr id="17" name="Shape 15"/>
          <p:cNvSpPr/>
          <p:nvPr/>
        </p:nvSpPr>
        <p:spPr>
          <a:xfrm>
            <a:off x="932688" y="1883664"/>
            <a:ext cx="310896" cy="310896"/>
          </a:xfrm>
          <a:prstGeom prst="roundRect">
            <a:avLst>
              <a:gd name="adj" fmla="val 17647"/>
            </a:avLst>
          </a:prstGeom>
          <a:solidFill>
            <a:srgbClr val="3B82F6"/>
          </a:solidFill>
          <a:ln/>
        </p:spPr>
      </p:sp>
      <p:sp>
        <p:nvSpPr>
          <p:cNvPr id="18" name="Text 16"/>
          <p:cNvSpPr/>
          <p:nvPr/>
        </p:nvSpPr>
        <p:spPr>
          <a:xfrm>
            <a:off x="932688" y="1883664"/>
            <a:ext cx="310896" cy="310896"/>
          </a:xfrm>
          <a:prstGeom prst="rect">
            <a:avLst/>
          </a:prstGeom>
          <a:noFill/>
          <a:ln/>
        </p:spPr>
        <p:txBody>
          <a:bodyPr wrap="square" rtlCol="0" anchor="ctr"/>
          <a:lstStyle/>
          <a:p>
            <a:pPr algn="ctr" indent="0" marL="0">
              <a:buNone/>
            </a:pPr>
            <a:r>
              <a:rPr lang="en-US" sz="1300" dirty="0">
                <a:solidFill>
                  <a:srgbClr val="3B82F6"/>
                </a:solidFill>
                <a:latin typeface="Open Sans" pitchFamily="34" charset="0"/>
                <a:ea typeface="Open Sans" pitchFamily="34" charset="-122"/>
                <a:cs typeface="Open Sans" pitchFamily="34" charset="-120"/>
              </a:rPr>
              <a:t>●</a:t>
            </a:r>
            <a:endParaRPr lang="en-US" sz="1300" dirty="0"/>
          </a:p>
        </p:txBody>
      </p:sp>
      <p:sp>
        <p:nvSpPr>
          <p:cNvPr id="19" name="Text 17"/>
          <p:cNvSpPr/>
          <p:nvPr/>
        </p:nvSpPr>
        <p:spPr>
          <a:xfrm>
            <a:off x="1325880" y="1517904"/>
            <a:ext cx="1463040" cy="237744"/>
          </a:xfrm>
          <a:prstGeom prst="rect">
            <a:avLst/>
          </a:prstGeom>
          <a:noFill/>
          <a:ln/>
        </p:spPr>
        <p:txBody>
          <a:bodyPr wrap="square" rtlCol="0" anchor="ctr"/>
          <a:lstStyle/>
          <a:p>
            <a:pPr indent="0" marL="0">
              <a:buNone/>
            </a:pPr>
            <a:r>
              <a:rPr lang="en-US" sz="900" b="1" spc="300" kern="0" dirty="0">
                <a:solidFill>
                  <a:srgbClr val="3B82F6"/>
                </a:solidFill>
                <a:latin typeface="Montserrat" pitchFamily="34" charset="0"/>
                <a:ea typeface="Montserrat" pitchFamily="34" charset="-122"/>
                <a:cs typeface="Montserrat" pitchFamily="34" charset="-120"/>
              </a:rPr>
              <a:t>CONTEXTO</a:t>
            </a:r>
            <a:endParaRPr lang="en-US" sz="900" dirty="0"/>
          </a:p>
        </p:txBody>
      </p:sp>
      <p:sp>
        <p:nvSpPr>
          <p:cNvPr id="20" name="Text 18"/>
          <p:cNvSpPr/>
          <p:nvPr/>
        </p:nvSpPr>
        <p:spPr>
          <a:xfrm>
            <a:off x="1325880" y="1737360"/>
            <a:ext cx="9997135" cy="804672"/>
          </a:xfrm>
          <a:prstGeom prst="rect">
            <a:avLst/>
          </a:prstGeom>
          <a:noFill/>
          <a:ln/>
        </p:spPr>
        <p:txBody>
          <a:bodyPr wrap="square" rtlCol="0" anchor="t"/>
          <a:lstStyle/>
          <a:p>
            <a:pPr indent="0" marL="0">
              <a:lnSpc>
                <a:spcPct val="122000"/>
              </a:lnSpc>
              <a:buNone/>
            </a:pPr>
            <a:r>
              <a:rPr lang="en-US" sz="1700" dirty="0">
                <a:solidFill>
                  <a:srgbClr val="94A3C0"/>
                </a:solidFill>
                <a:latin typeface="Open Sans" pitchFamily="34" charset="0"/>
                <a:ea typeface="Open Sans" pitchFamily="34" charset="-122"/>
                <a:cs typeface="Open Sans" pitchFamily="34" charset="-120"/>
              </a:rPr>
              <a:t>Imagine uma empresa de e-commerce que usa IA para analisar o histórico de compras de seus clientes.</a:t>
            </a:r>
            <a:endParaRPr lang="en-US" sz="1700" dirty="0"/>
          </a:p>
        </p:txBody>
      </p:sp>
      <p:sp>
        <p:nvSpPr>
          <p:cNvPr id="21" name="Shape 19"/>
          <p:cNvSpPr/>
          <p:nvPr/>
        </p:nvSpPr>
        <p:spPr>
          <a:xfrm rot="2700000">
            <a:off x="1060704" y="2638044"/>
            <a:ext cx="64008" cy="64008"/>
          </a:xfrm>
          <a:prstGeom prst="rect">
            <a:avLst/>
          </a:prstGeom>
          <a:solidFill>
            <a:srgbClr val="3B82F6"/>
          </a:solidFill>
          <a:ln/>
        </p:spPr>
      </p:sp>
      <p:sp>
        <p:nvSpPr>
          <p:cNvPr id="22" name="Shape 20"/>
          <p:cNvSpPr/>
          <p:nvPr/>
        </p:nvSpPr>
        <p:spPr>
          <a:xfrm>
            <a:off x="758952" y="2761488"/>
            <a:ext cx="10820095" cy="1152144"/>
          </a:xfrm>
          <a:prstGeom prst="roundRect">
            <a:avLst>
              <a:gd name="adj" fmla="val 7937"/>
            </a:avLst>
          </a:prstGeom>
          <a:solidFill>
            <a:srgbClr val="000000"/>
          </a:solidFill>
          <a:ln/>
        </p:spPr>
      </p:sp>
      <p:sp>
        <p:nvSpPr>
          <p:cNvPr id="23" name="Shape 21"/>
          <p:cNvSpPr/>
          <p:nvPr/>
        </p:nvSpPr>
        <p:spPr>
          <a:xfrm>
            <a:off x="731520" y="2724912"/>
            <a:ext cx="10820095" cy="1152144"/>
          </a:xfrm>
          <a:prstGeom prst="roundRect">
            <a:avLst>
              <a:gd name="adj" fmla="val 6349"/>
            </a:avLst>
          </a:prstGeom>
          <a:solidFill>
            <a:srgbClr val="111D38"/>
          </a:solidFill>
          <a:ln/>
        </p:spPr>
      </p:sp>
      <p:sp>
        <p:nvSpPr>
          <p:cNvPr id="24" name="Shape 22"/>
          <p:cNvSpPr/>
          <p:nvPr/>
        </p:nvSpPr>
        <p:spPr>
          <a:xfrm>
            <a:off x="731520" y="2779776"/>
            <a:ext cx="45720" cy="1042416"/>
          </a:xfrm>
          <a:prstGeom prst="rect">
            <a:avLst>
              <a:gd name="adj" fmla="val 60000"/>
            </a:avLst>
          </a:prstGeom>
          <a:solidFill>
            <a:srgbClr val="F59E0B"/>
          </a:solidFill>
          <a:ln/>
        </p:spPr>
      </p:sp>
      <p:sp>
        <p:nvSpPr>
          <p:cNvPr id="25" name="Shape 23"/>
          <p:cNvSpPr/>
          <p:nvPr/>
        </p:nvSpPr>
        <p:spPr>
          <a:xfrm>
            <a:off x="932688" y="3145536"/>
            <a:ext cx="310896" cy="310896"/>
          </a:xfrm>
          <a:prstGeom prst="roundRect">
            <a:avLst>
              <a:gd name="adj" fmla="val 17647"/>
            </a:avLst>
          </a:prstGeom>
          <a:solidFill>
            <a:srgbClr val="F59E0B"/>
          </a:solidFill>
          <a:ln/>
        </p:spPr>
      </p:sp>
      <p:sp>
        <p:nvSpPr>
          <p:cNvPr id="26" name="Text 24"/>
          <p:cNvSpPr/>
          <p:nvPr/>
        </p:nvSpPr>
        <p:spPr>
          <a:xfrm>
            <a:off x="932688" y="3145536"/>
            <a:ext cx="310896" cy="310896"/>
          </a:xfrm>
          <a:prstGeom prst="rect">
            <a:avLst/>
          </a:prstGeom>
          <a:noFill/>
          <a:ln/>
        </p:spPr>
        <p:txBody>
          <a:bodyPr wrap="square" rtlCol="0" anchor="ctr"/>
          <a:lstStyle/>
          <a:p>
            <a:pPr algn="ctr" indent="0" marL="0">
              <a:buNone/>
            </a:pPr>
            <a:r>
              <a:rPr lang="en-US" sz="1300" dirty="0">
                <a:solidFill>
                  <a:srgbClr val="F59E0B"/>
                </a:solidFill>
                <a:latin typeface="Open Sans" pitchFamily="34" charset="0"/>
                <a:ea typeface="Open Sans" pitchFamily="34" charset="-122"/>
                <a:cs typeface="Open Sans" pitchFamily="34" charset="-120"/>
              </a:rPr>
              <a:t>▲</a:t>
            </a:r>
            <a:endParaRPr lang="en-US" sz="1300" dirty="0"/>
          </a:p>
        </p:txBody>
      </p:sp>
      <p:sp>
        <p:nvSpPr>
          <p:cNvPr id="27" name="Text 25"/>
          <p:cNvSpPr/>
          <p:nvPr/>
        </p:nvSpPr>
        <p:spPr>
          <a:xfrm>
            <a:off x="1325880" y="2779776"/>
            <a:ext cx="1463040" cy="237744"/>
          </a:xfrm>
          <a:prstGeom prst="rect">
            <a:avLst/>
          </a:prstGeom>
          <a:noFill/>
          <a:ln/>
        </p:spPr>
        <p:txBody>
          <a:bodyPr wrap="square" rtlCol="0" anchor="ctr"/>
          <a:lstStyle/>
          <a:p>
            <a:pPr indent="0" marL="0">
              <a:buNone/>
            </a:pPr>
            <a:r>
              <a:rPr lang="en-US" sz="900" b="1" spc="300" kern="0" dirty="0">
                <a:solidFill>
                  <a:srgbClr val="F59E0B"/>
                </a:solidFill>
                <a:latin typeface="Montserrat" pitchFamily="34" charset="0"/>
                <a:ea typeface="Montserrat" pitchFamily="34" charset="-122"/>
                <a:cs typeface="Montserrat" pitchFamily="34" charset="-120"/>
              </a:rPr>
              <a:t>DESAFIO</a:t>
            </a:r>
            <a:endParaRPr lang="en-US" sz="900" dirty="0"/>
          </a:p>
        </p:txBody>
      </p:sp>
      <p:sp>
        <p:nvSpPr>
          <p:cNvPr id="28" name="Text 26"/>
          <p:cNvSpPr/>
          <p:nvPr/>
        </p:nvSpPr>
        <p:spPr>
          <a:xfrm>
            <a:off x="1325880" y="2999232"/>
            <a:ext cx="9997135" cy="804672"/>
          </a:xfrm>
          <a:prstGeom prst="rect">
            <a:avLst/>
          </a:prstGeom>
          <a:noFill/>
          <a:ln/>
        </p:spPr>
        <p:txBody>
          <a:bodyPr wrap="square" rtlCol="0" anchor="t"/>
          <a:lstStyle/>
          <a:p>
            <a:pPr indent="0" marL="0">
              <a:lnSpc>
                <a:spcPct val="122000"/>
              </a:lnSpc>
              <a:buNone/>
            </a:pPr>
            <a:r>
              <a:rPr lang="en-US" sz="1700" dirty="0">
                <a:solidFill>
                  <a:srgbClr val="94A3C0"/>
                </a:solidFill>
                <a:latin typeface="Open Sans" pitchFamily="34" charset="0"/>
                <a:ea typeface="Open Sans" pitchFamily="34" charset="-122"/>
                <a:cs typeface="Open Sans" pitchFamily="34" charset="-120"/>
              </a:rPr>
              <a:t>A IA identifica padrões de comportamento e recomenda produtos personalizados, aumentando as chances de compra.</a:t>
            </a:r>
            <a:endParaRPr lang="en-US" sz="1700" dirty="0"/>
          </a:p>
        </p:txBody>
      </p:sp>
      <p:sp>
        <p:nvSpPr>
          <p:cNvPr id="29" name="Shape 27"/>
          <p:cNvSpPr/>
          <p:nvPr/>
        </p:nvSpPr>
        <p:spPr>
          <a:xfrm rot="2700000">
            <a:off x="1060704" y="3899916"/>
            <a:ext cx="64008" cy="64008"/>
          </a:xfrm>
          <a:prstGeom prst="rect">
            <a:avLst/>
          </a:prstGeom>
          <a:solidFill>
            <a:srgbClr val="F59E0B"/>
          </a:solidFill>
          <a:ln/>
        </p:spPr>
      </p:sp>
      <p:sp>
        <p:nvSpPr>
          <p:cNvPr id="30" name="Shape 28"/>
          <p:cNvSpPr/>
          <p:nvPr/>
        </p:nvSpPr>
        <p:spPr>
          <a:xfrm>
            <a:off x="758952" y="4023360"/>
            <a:ext cx="10820095" cy="1152144"/>
          </a:xfrm>
          <a:prstGeom prst="roundRect">
            <a:avLst>
              <a:gd name="adj" fmla="val 7937"/>
            </a:avLst>
          </a:prstGeom>
          <a:solidFill>
            <a:srgbClr val="000000"/>
          </a:solidFill>
          <a:ln/>
        </p:spPr>
      </p:sp>
      <p:sp>
        <p:nvSpPr>
          <p:cNvPr id="31" name="Shape 29"/>
          <p:cNvSpPr/>
          <p:nvPr/>
        </p:nvSpPr>
        <p:spPr>
          <a:xfrm>
            <a:off x="731520" y="3986784"/>
            <a:ext cx="10820095" cy="1152144"/>
          </a:xfrm>
          <a:prstGeom prst="roundRect">
            <a:avLst>
              <a:gd name="adj" fmla="val 6349"/>
            </a:avLst>
          </a:prstGeom>
          <a:solidFill>
            <a:srgbClr val="111D38"/>
          </a:solidFill>
          <a:ln/>
        </p:spPr>
      </p:sp>
      <p:sp>
        <p:nvSpPr>
          <p:cNvPr id="32" name="Shape 30"/>
          <p:cNvSpPr/>
          <p:nvPr/>
        </p:nvSpPr>
        <p:spPr>
          <a:xfrm>
            <a:off x="731520" y="4041648"/>
            <a:ext cx="45720" cy="1042416"/>
          </a:xfrm>
          <a:prstGeom prst="rect">
            <a:avLst>
              <a:gd name="adj" fmla="val 60000"/>
            </a:avLst>
          </a:prstGeom>
          <a:solidFill>
            <a:srgbClr val="6C63FF"/>
          </a:solidFill>
          <a:ln/>
        </p:spPr>
      </p:sp>
      <p:sp>
        <p:nvSpPr>
          <p:cNvPr id="33" name="Shape 31"/>
          <p:cNvSpPr/>
          <p:nvPr/>
        </p:nvSpPr>
        <p:spPr>
          <a:xfrm>
            <a:off x="932688" y="4407408"/>
            <a:ext cx="310896" cy="310896"/>
          </a:xfrm>
          <a:prstGeom prst="roundRect">
            <a:avLst>
              <a:gd name="adj" fmla="val 17647"/>
            </a:avLst>
          </a:prstGeom>
          <a:solidFill>
            <a:srgbClr val="6C63FF"/>
          </a:solidFill>
          <a:ln/>
        </p:spPr>
      </p:sp>
      <p:sp>
        <p:nvSpPr>
          <p:cNvPr id="34" name="Text 32"/>
          <p:cNvSpPr/>
          <p:nvPr/>
        </p:nvSpPr>
        <p:spPr>
          <a:xfrm>
            <a:off x="932688" y="4407408"/>
            <a:ext cx="310896" cy="310896"/>
          </a:xfrm>
          <a:prstGeom prst="rect">
            <a:avLst/>
          </a:prstGeom>
          <a:noFill/>
          <a:ln/>
        </p:spPr>
        <p:txBody>
          <a:bodyPr wrap="square" rtlCol="0" anchor="ctr"/>
          <a:lstStyle/>
          <a:p>
            <a:pPr algn="ctr" indent="0" marL="0">
              <a:buNone/>
            </a:pPr>
            <a:r>
              <a:rPr lang="en-US" sz="1300" dirty="0">
                <a:solidFill>
                  <a:srgbClr val="6C63FF"/>
                </a:solidFill>
                <a:latin typeface="Open Sans" pitchFamily="34" charset="0"/>
                <a:ea typeface="Open Sans" pitchFamily="34" charset="-122"/>
                <a:cs typeface="Open Sans" pitchFamily="34" charset="-120"/>
              </a:rPr>
              <a:t>◆</a:t>
            </a:r>
            <a:endParaRPr lang="en-US" sz="1300" dirty="0"/>
          </a:p>
        </p:txBody>
      </p:sp>
      <p:sp>
        <p:nvSpPr>
          <p:cNvPr id="35" name="Text 33"/>
          <p:cNvSpPr/>
          <p:nvPr/>
        </p:nvSpPr>
        <p:spPr>
          <a:xfrm>
            <a:off x="1325880" y="4041648"/>
            <a:ext cx="1463040" cy="237744"/>
          </a:xfrm>
          <a:prstGeom prst="rect">
            <a:avLst/>
          </a:prstGeom>
          <a:noFill/>
          <a:ln/>
        </p:spPr>
        <p:txBody>
          <a:bodyPr wrap="square" rtlCol="0" anchor="ctr"/>
          <a:lstStyle/>
          <a:p>
            <a:pPr indent="0" marL="0">
              <a:buNone/>
            </a:pPr>
            <a:r>
              <a:rPr lang="en-US" sz="900" b="1" spc="300" kern="0" dirty="0">
                <a:solidFill>
                  <a:srgbClr val="6C63FF"/>
                </a:solidFill>
                <a:latin typeface="Montserrat" pitchFamily="34" charset="0"/>
                <a:ea typeface="Montserrat" pitchFamily="34" charset="-122"/>
                <a:cs typeface="Montserrat" pitchFamily="34" charset="-120"/>
              </a:rPr>
              <a:t>SOLUÇÃO</a:t>
            </a:r>
            <a:endParaRPr lang="en-US" sz="900" dirty="0"/>
          </a:p>
        </p:txBody>
      </p:sp>
      <p:sp>
        <p:nvSpPr>
          <p:cNvPr id="36" name="Text 34"/>
          <p:cNvSpPr/>
          <p:nvPr/>
        </p:nvSpPr>
        <p:spPr>
          <a:xfrm>
            <a:off x="1325880" y="4261104"/>
            <a:ext cx="9997135" cy="804672"/>
          </a:xfrm>
          <a:prstGeom prst="rect">
            <a:avLst/>
          </a:prstGeom>
          <a:noFill/>
          <a:ln/>
        </p:spPr>
        <p:txBody>
          <a:bodyPr wrap="square" rtlCol="0" anchor="t"/>
          <a:lstStyle/>
          <a:p>
            <a:pPr indent="0" marL="0">
              <a:lnSpc>
                <a:spcPct val="122000"/>
              </a:lnSpc>
              <a:buNone/>
            </a:pPr>
            <a:r>
              <a:rPr lang="en-US" sz="1700" dirty="0">
                <a:solidFill>
                  <a:srgbClr val="94A3C0"/>
                </a:solidFill>
                <a:latin typeface="Open Sans" pitchFamily="34" charset="0"/>
                <a:ea typeface="Open Sans" pitchFamily="34" charset="-122"/>
                <a:cs typeface="Open Sans" pitchFamily="34" charset="-120"/>
              </a:rPr>
              <a:t>Ela processa milhões de transações rapidamente e sugere itens relevantes.</a:t>
            </a:r>
            <a:endParaRPr lang="en-US" sz="1700" dirty="0"/>
          </a:p>
        </p:txBody>
      </p:sp>
      <p:sp>
        <p:nvSpPr>
          <p:cNvPr id="37" name="Shape 35"/>
          <p:cNvSpPr/>
          <p:nvPr/>
        </p:nvSpPr>
        <p:spPr>
          <a:xfrm rot="2700000">
            <a:off x="1060704" y="5161788"/>
            <a:ext cx="64008" cy="64008"/>
          </a:xfrm>
          <a:prstGeom prst="rect">
            <a:avLst/>
          </a:prstGeom>
          <a:solidFill>
            <a:srgbClr val="6C63FF"/>
          </a:solidFill>
          <a:ln/>
        </p:spPr>
      </p:sp>
      <p:sp>
        <p:nvSpPr>
          <p:cNvPr id="38" name="Shape 36"/>
          <p:cNvSpPr/>
          <p:nvPr/>
        </p:nvSpPr>
        <p:spPr>
          <a:xfrm>
            <a:off x="758952" y="5285232"/>
            <a:ext cx="10820095" cy="1152144"/>
          </a:xfrm>
          <a:prstGeom prst="roundRect">
            <a:avLst>
              <a:gd name="adj" fmla="val 7937"/>
            </a:avLst>
          </a:prstGeom>
          <a:solidFill>
            <a:srgbClr val="000000"/>
          </a:solidFill>
          <a:ln/>
        </p:spPr>
      </p:sp>
      <p:sp>
        <p:nvSpPr>
          <p:cNvPr id="39" name="Shape 37"/>
          <p:cNvSpPr/>
          <p:nvPr/>
        </p:nvSpPr>
        <p:spPr>
          <a:xfrm>
            <a:off x="731520" y="5248656"/>
            <a:ext cx="10820095" cy="1152144"/>
          </a:xfrm>
          <a:prstGeom prst="roundRect">
            <a:avLst>
              <a:gd name="adj" fmla="val 6349"/>
            </a:avLst>
          </a:prstGeom>
          <a:solidFill>
            <a:srgbClr val="111D38"/>
          </a:solidFill>
          <a:ln/>
        </p:spPr>
      </p:sp>
      <p:sp>
        <p:nvSpPr>
          <p:cNvPr id="40" name="Shape 38"/>
          <p:cNvSpPr/>
          <p:nvPr/>
        </p:nvSpPr>
        <p:spPr>
          <a:xfrm>
            <a:off x="731520" y="5303520"/>
            <a:ext cx="45720" cy="1042416"/>
          </a:xfrm>
          <a:prstGeom prst="rect">
            <a:avLst>
              <a:gd name="adj" fmla="val 60000"/>
            </a:avLst>
          </a:prstGeom>
          <a:solidFill>
            <a:srgbClr val="10B981"/>
          </a:solidFill>
          <a:ln/>
        </p:spPr>
      </p:sp>
      <p:sp>
        <p:nvSpPr>
          <p:cNvPr id="41" name="Shape 39"/>
          <p:cNvSpPr/>
          <p:nvPr/>
        </p:nvSpPr>
        <p:spPr>
          <a:xfrm>
            <a:off x="932688" y="5669280"/>
            <a:ext cx="310896" cy="310896"/>
          </a:xfrm>
          <a:prstGeom prst="roundRect">
            <a:avLst>
              <a:gd name="adj" fmla="val 17647"/>
            </a:avLst>
          </a:prstGeom>
          <a:solidFill>
            <a:srgbClr val="10B981"/>
          </a:solidFill>
          <a:ln/>
        </p:spPr>
      </p:sp>
      <p:sp>
        <p:nvSpPr>
          <p:cNvPr id="42" name="Text 40"/>
          <p:cNvSpPr/>
          <p:nvPr/>
        </p:nvSpPr>
        <p:spPr>
          <a:xfrm>
            <a:off x="932688" y="5669280"/>
            <a:ext cx="310896" cy="310896"/>
          </a:xfrm>
          <a:prstGeom prst="rect">
            <a:avLst/>
          </a:prstGeom>
          <a:noFill/>
          <a:ln/>
        </p:spPr>
        <p:txBody>
          <a:bodyPr wrap="square" rtlCol="0" anchor="ctr"/>
          <a:lstStyle/>
          <a:p>
            <a:pPr algn="ctr" indent="0" marL="0">
              <a:buNone/>
            </a:pPr>
            <a:r>
              <a:rPr lang="en-US" sz="1300" dirty="0">
                <a:solidFill>
                  <a:srgbClr val="10B981"/>
                </a:solidFill>
                <a:latin typeface="Open Sans" pitchFamily="34" charset="0"/>
                <a:ea typeface="Open Sans" pitchFamily="34" charset="-122"/>
                <a:cs typeface="Open Sans" pitchFamily="34" charset="-120"/>
              </a:rPr>
              <a:t>■</a:t>
            </a:r>
            <a:endParaRPr lang="en-US" sz="1300" dirty="0"/>
          </a:p>
        </p:txBody>
      </p:sp>
      <p:sp>
        <p:nvSpPr>
          <p:cNvPr id="43" name="Text 41"/>
          <p:cNvSpPr/>
          <p:nvPr/>
        </p:nvSpPr>
        <p:spPr>
          <a:xfrm>
            <a:off x="1325880" y="5303520"/>
            <a:ext cx="1463040" cy="237744"/>
          </a:xfrm>
          <a:prstGeom prst="rect">
            <a:avLst/>
          </a:prstGeom>
          <a:noFill/>
          <a:ln/>
        </p:spPr>
        <p:txBody>
          <a:bodyPr wrap="square" rtlCol="0" anchor="ctr"/>
          <a:lstStyle/>
          <a:p>
            <a:pPr indent="0" marL="0">
              <a:buNone/>
            </a:pPr>
            <a:r>
              <a:rPr lang="en-US" sz="900" b="1" spc="300" kern="0" dirty="0">
                <a:solidFill>
                  <a:srgbClr val="10B981"/>
                </a:solidFill>
                <a:latin typeface="Montserrat" pitchFamily="34" charset="0"/>
                <a:ea typeface="Montserrat" pitchFamily="34" charset="-122"/>
                <a:cs typeface="Montserrat" pitchFamily="34" charset="-120"/>
              </a:rPr>
              <a:t>💭 PARE UM MOMENTO E REFLITA</a:t>
            </a:r>
            <a:endParaRPr lang="en-US" sz="900" dirty="0"/>
          </a:p>
        </p:txBody>
      </p:sp>
      <p:sp>
        <p:nvSpPr>
          <p:cNvPr id="44" name="Text 42"/>
          <p:cNvSpPr/>
          <p:nvPr/>
        </p:nvSpPr>
        <p:spPr>
          <a:xfrm>
            <a:off x="1325880" y="5522976"/>
            <a:ext cx="9997135" cy="804672"/>
          </a:xfrm>
          <a:prstGeom prst="rect">
            <a:avLst/>
          </a:prstGeom>
          <a:noFill/>
          <a:ln/>
        </p:spPr>
        <p:txBody>
          <a:bodyPr wrap="square" rtlCol="0" anchor="t"/>
          <a:lstStyle/>
          <a:p>
            <a:pPr indent="0" marL="0">
              <a:lnSpc>
                <a:spcPct val="122000"/>
              </a:lnSpc>
              <a:buNone/>
            </a:pPr>
            <a:r>
              <a:rPr lang="en-US" sz="1700" dirty="0">
                <a:solidFill>
                  <a:srgbClr val="94A3C0"/>
                </a:solidFill>
                <a:latin typeface="Open Sans" pitchFamily="34" charset="0"/>
                <a:ea typeface="Open Sans" pitchFamily="34" charset="-122"/>
                <a:cs typeface="Open Sans" pitchFamily="34" charset="-120"/>
              </a:rPr>
              <a:t>Como a automação da análise de dados por IA poderia otimizar as decisões estratégicas em sua própria área de atuação, transformando a forma como você aborda os desafios?</a:t>
            </a:r>
            <a:endParaRPr lang="en-US" sz="1700" dirty="0"/>
          </a:p>
        </p:txBody>
      </p:sp>
      <p:sp>
        <p:nvSpPr>
          <p:cNvPr id="45" name="Shape 43"/>
          <p:cNvSpPr/>
          <p:nvPr/>
        </p:nvSpPr>
        <p:spPr>
          <a:xfrm>
            <a:off x="0" y="6601968"/>
            <a:ext cx="2041093" cy="4572"/>
          </a:xfrm>
          <a:prstGeom prst="rect">
            <a:avLst/>
          </a:prstGeom>
          <a:solidFill>
            <a:srgbClr val="6C63FF"/>
          </a:solidFill>
          <a:ln/>
        </p:spPr>
      </p:sp>
      <p:sp>
        <p:nvSpPr>
          <p:cNvPr id="46" name="Shape 44"/>
          <p:cNvSpPr/>
          <p:nvPr/>
        </p:nvSpPr>
        <p:spPr>
          <a:xfrm>
            <a:off x="2031949" y="6601968"/>
            <a:ext cx="2041093" cy="4572"/>
          </a:xfrm>
          <a:prstGeom prst="rect">
            <a:avLst/>
          </a:prstGeom>
          <a:solidFill>
            <a:srgbClr val="6C63FF"/>
          </a:solidFill>
          <a:ln/>
        </p:spPr>
      </p:sp>
      <p:sp>
        <p:nvSpPr>
          <p:cNvPr id="47" name="Shape 45"/>
          <p:cNvSpPr/>
          <p:nvPr/>
        </p:nvSpPr>
        <p:spPr>
          <a:xfrm>
            <a:off x="4063898" y="6601968"/>
            <a:ext cx="2041093" cy="4572"/>
          </a:xfrm>
          <a:prstGeom prst="rect">
            <a:avLst/>
          </a:prstGeom>
          <a:solidFill>
            <a:srgbClr val="6C63FF"/>
          </a:solidFill>
          <a:ln/>
        </p:spPr>
      </p:sp>
      <p:sp>
        <p:nvSpPr>
          <p:cNvPr id="48" name="Shape 46"/>
          <p:cNvSpPr/>
          <p:nvPr/>
        </p:nvSpPr>
        <p:spPr>
          <a:xfrm>
            <a:off x="6095848" y="6601968"/>
            <a:ext cx="2041093" cy="4572"/>
          </a:xfrm>
          <a:prstGeom prst="rect">
            <a:avLst/>
          </a:prstGeom>
          <a:solidFill>
            <a:srgbClr val="6C63FF"/>
          </a:solidFill>
          <a:ln/>
        </p:spPr>
      </p:sp>
      <p:sp>
        <p:nvSpPr>
          <p:cNvPr id="49" name="Shape 47"/>
          <p:cNvSpPr/>
          <p:nvPr/>
        </p:nvSpPr>
        <p:spPr>
          <a:xfrm>
            <a:off x="8127797" y="6601968"/>
            <a:ext cx="2041093" cy="4572"/>
          </a:xfrm>
          <a:prstGeom prst="rect">
            <a:avLst/>
          </a:prstGeom>
          <a:solidFill>
            <a:srgbClr val="6C63FF"/>
          </a:solidFill>
          <a:ln/>
        </p:spPr>
      </p:sp>
      <p:sp>
        <p:nvSpPr>
          <p:cNvPr id="50" name="Shape 48"/>
          <p:cNvSpPr/>
          <p:nvPr/>
        </p:nvSpPr>
        <p:spPr>
          <a:xfrm>
            <a:off x="10159746" y="6601968"/>
            <a:ext cx="2041093" cy="4572"/>
          </a:xfrm>
          <a:prstGeom prst="rect">
            <a:avLst/>
          </a:prstGeom>
          <a:solidFill>
            <a:srgbClr val="6C63FF"/>
          </a:solidFill>
          <a:ln/>
        </p:spPr>
      </p:sp>
      <p:sp>
        <p:nvSpPr>
          <p:cNvPr id="51" name="Shape 49"/>
          <p:cNvSpPr/>
          <p:nvPr/>
        </p:nvSpPr>
        <p:spPr>
          <a:xfrm>
            <a:off x="0" y="6606540"/>
            <a:ext cx="12191695" cy="2743"/>
          </a:xfrm>
          <a:prstGeom prst="rect">
            <a:avLst/>
          </a:prstGeom>
          <a:solidFill>
            <a:srgbClr val="222E48"/>
          </a:solidFill>
          <a:ln/>
        </p:spPr>
      </p:sp>
      <p:sp>
        <p:nvSpPr>
          <p:cNvPr id="52" name="Text 50"/>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53" name="Shape 51"/>
          <p:cNvSpPr/>
          <p:nvPr/>
        </p:nvSpPr>
        <p:spPr>
          <a:xfrm>
            <a:off x="10436047" y="6693408"/>
            <a:ext cx="73152" cy="73152"/>
          </a:xfrm>
          <a:prstGeom prst="ellipse">
            <a:avLst/>
          </a:prstGeom>
          <a:solidFill>
            <a:srgbClr val="6C63FF"/>
          </a:solidFill>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F59E0B"/>
          </a:solidFill>
          <a:ln/>
        </p:spPr>
      </p:sp>
      <p:sp>
        <p:nvSpPr>
          <p:cNvPr id="3" name="Shape 1"/>
          <p:cNvSpPr/>
          <p:nvPr/>
        </p:nvSpPr>
        <p:spPr>
          <a:xfrm>
            <a:off x="64008" y="0"/>
            <a:ext cx="18288" cy="6858000"/>
          </a:xfrm>
          <a:prstGeom prst="rect">
            <a:avLst/>
          </a:prstGeom>
          <a:solidFill>
            <a:srgbClr val="F59E0B"/>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F59E0B"/>
                </a:solidFill>
                <a:latin typeface="Open Sans" pitchFamily="34" charset="0"/>
                <a:ea typeface="Open Sans" pitchFamily="34" charset="-122"/>
                <a:cs typeface="Open Sans" pitchFamily="34" charset="-120"/>
              </a:rPr>
              <a:t>APLICAÇÕES REAIS</a:t>
            </a:r>
            <a:endParaRPr lang="en-US" sz="900" dirty="0"/>
          </a:p>
        </p:txBody>
      </p:sp>
      <p:sp>
        <p:nvSpPr>
          <p:cNvPr id="5" name="Shape 3"/>
          <p:cNvSpPr/>
          <p:nvPr/>
        </p:nvSpPr>
        <p:spPr>
          <a:xfrm>
            <a:off x="502920" y="493776"/>
            <a:ext cx="640080" cy="21946"/>
          </a:xfrm>
          <a:prstGeom prst="rect">
            <a:avLst/>
          </a:prstGeom>
          <a:solidFill>
            <a:srgbClr val="F59E0B"/>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Aplicações reais</a:t>
            </a:r>
            <a:endParaRPr lang="en-US" sz="2800" dirty="0"/>
          </a:p>
        </p:txBody>
      </p:sp>
      <p:sp>
        <p:nvSpPr>
          <p:cNvPr id="7" name="Shape 5"/>
          <p:cNvSpPr/>
          <p:nvPr/>
        </p:nvSpPr>
        <p:spPr>
          <a:xfrm>
            <a:off x="502920" y="1389888"/>
            <a:ext cx="11185855" cy="7315"/>
          </a:xfrm>
          <a:prstGeom prst="rect">
            <a:avLst/>
          </a:prstGeom>
          <a:solidFill>
            <a:srgbClr val="F59E0B"/>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621792" y="1572768"/>
            <a:ext cx="3603650" cy="2286000"/>
          </a:xfrm>
          <a:prstGeom prst="roundRect">
            <a:avLst>
              <a:gd name="adj" fmla="val 4000"/>
            </a:avLst>
          </a:prstGeom>
          <a:solidFill>
            <a:srgbClr val="000000"/>
          </a:solidFill>
          <a:ln/>
        </p:spPr>
      </p:sp>
      <p:sp>
        <p:nvSpPr>
          <p:cNvPr id="10" name="Shape 8"/>
          <p:cNvSpPr/>
          <p:nvPr/>
        </p:nvSpPr>
        <p:spPr>
          <a:xfrm>
            <a:off x="594360" y="1536192"/>
            <a:ext cx="3603650" cy="2286000"/>
          </a:xfrm>
          <a:prstGeom prst="roundRect">
            <a:avLst>
              <a:gd name="adj" fmla="val 4000"/>
            </a:avLst>
          </a:prstGeom>
          <a:solidFill>
            <a:srgbClr val="141E34"/>
          </a:solidFill>
          <a:ln/>
        </p:spPr>
      </p:sp>
      <p:sp>
        <p:nvSpPr>
          <p:cNvPr id="11" name="Shape 9"/>
          <p:cNvSpPr/>
          <p:nvPr/>
        </p:nvSpPr>
        <p:spPr>
          <a:xfrm>
            <a:off x="594360" y="1536192"/>
            <a:ext cx="3603650" cy="45720"/>
          </a:xfrm>
          <a:prstGeom prst="rect">
            <a:avLst>
              <a:gd name="adj" fmla="val 200000"/>
            </a:avLst>
          </a:prstGeom>
          <a:solidFill>
            <a:srgbClr val="6C63FF"/>
          </a:solidFill>
          <a:ln/>
        </p:spPr>
      </p:sp>
      <p:sp>
        <p:nvSpPr>
          <p:cNvPr id="12" name="Text 10"/>
          <p:cNvSpPr/>
          <p:nvPr/>
        </p:nvSpPr>
        <p:spPr>
          <a:xfrm>
            <a:off x="3603650" y="1627632"/>
            <a:ext cx="502920" cy="365760"/>
          </a:xfrm>
          <a:prstGeom prst="rect">
            <a:avLst/>
          </a:prstGeom>
          <a:noFill/>
          <a:ln/>
        </p:spPr>
        <p:txBody>
          <a:bodyPr wrap="square" rtlCol="0" anchor="ctr"/>
          <a:lstStyle/>
          <a:p>
            <a:pPr algn="r" indent="0" marL="0">
              <a:buNone/>
            </a:pPr>
            <a:r>
              <a:rPr lang="en-US" sz="2400" b="1" dirty="0">
                <a:solidFill>
                  <a:srgbClr val="6C63FF">
                    <a:alpha val="75000"/>
                  </a:srgbClr>
                </a:solidFill>
                <a:latin typeface="Montserrat" pitchFamily="34" charset="0"/>
                <a:ea typeface="Montserrat" pitchFamily="34" charset="-122"/>
                <a:cs typeface="Montserrat" pitchFamily="34" charset="-120"/>
              </a:rPr>
              <a:t>01</a:t>
            </a:r>
            <a:endParaRPr lang="en-US" sz="2400" dirty="0"/>
          </a:p>
        </p:txBody>
      </p:sp>
      <p:sp>
        <p:nvSpPr>
          <p:cNvPr id="13" name="Text 11"/>
          <p:cNvSpPr/>
          <p:nvPr/>
        </p:nvSpPr>
        <p:spPr>
          <a:xfrm>
            <a:off x="722376" y="1682496"/>
            <a:ext cx="2835554" cy="201168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A IA é aplicada em diversas indústrias para análise de dados, gerando percepções estratégicos.</a:t>
            </a:r>
            <a:endParaRPr lang="en-US" sz="1300" dirty="0"/>
          </a:p>
        </p:txBody>
      </p:sp>
      <p:sp>
        <p:nvSpPr>
          <p:cNvPr id="14" name="Shape 12"/>
          <p:cNvSpPr/>
          <p:nvPr/>
        </p:nvSpPr>
        <p:spPr>
          <a:xfrm>
            <a:off x="4390034" y="1572768"/>
            <a:ext cx="3603650" cy="2286000"/>
          </a:xfrm>
          <a:prstGeom prst="roundRect">
            <a:avLst>
              <a:gd name="adj" fmla="val 4000"/>
            </a:avLst>
          </a:prstGeom>
          <a:solidFill>
            <a:srgbClr val="000000"/>
          </a:solidFill>
          <a:ln/>
        </p:spPr>
      </p:sp>
      <p:sp>
        <p:nvSpPr>
          <p:cNvPr id="15" name="Shape 13"/>
          <p:cNvSpPr/>
          <p:nvPr/>
        </p:nvSpPr>
        <p:spPr>
          <a:xfrm>
            <a:off x="4362602" y="1536192"/>
            <a:ext cx="3603650" cy="2286000"/>
          </a:xfrm>
          <a:prstGeom prst="roundRect">
            <a:avLst>
              <a:gd name="adj" fmla="val 4000"/>
            </a:avLst>
          </a:prstGeom>
          <a:solidFill>
            <a:srgbClr val="141E34"/>
          </a:solidFill>
          <a:ln/>
        </p:spPr>
      </p:sp>
      <p:sp>
        <p:nvSpPr>
          <p:cNvPr id="16" name="Shape 14"/>
          <p:cNvSpPr/>
          <p:nvPr/>
        </p:nvSpPr>
        <p:spPr>
          <a:xfrm>
            <a:off x="4362602" y="1536192"/>
            <a:ext cx="3603650" cy="45720"/>
          </a:xfrm>
          <a:prstGeom prst="rect">
            <a:avLst>
              <a:gd name="adj" fmla="val 200000"/>
            </a:avLst>
          </a:prstGeom>
          <a:solidFill>
            <a:srgbClr val="3B82F6"/>
          </a:solidFill>
          <a:ln/>
        </p:spPr>
      </p:sp>
      <p:sp>
        <p:nvSpPr>
          <p:cNvPr id="17" name="Text 15"/>
          <p:cNvSpPr/>
          <p:nvPr/>
        </p:nvSpPr>
        <p:spPr>
          <a:xfrm>
            <a:off x="7371893" y="1627632"/>
            <a:ext cx="502920" cy="365760"/>
          </a:xfrm>
          <a:prstGeom prst="rect">
            <a:avLst/>
          </a:prstGeom>
          <a:noFill/>
          <a:ln/>
        </p:spPr>
        <p:txBody>
          <a:bodyPr wrap="square" rtlCol="0" anchor="ctr"/>
          <a:lstStyle/>
          <a:p>
            <a:pPr algn="r" indent="0" marL="0">
              <a:buNone/>
            </a:pPr>
            <a:r>
              <a:rPr lang="en-US" sz="2400" b="1" dirty="0">
                <a:solidFill>
                  <a:srgbClr val="3B82F6">
                    <a:alpha val="75000"/>
                  </a:srgbClr>
                </a:solidFill>
                <a:latin typeface="Montserrat" pitchFamily="34" charset="0"/>
                <a:ea typeface="Montserrat" pitchFamily="34" charset="-122"/>
                <a:cs typeface="Montserrat" pitchFamily="34" charset="-120"/>
              </a:rPr>
              <a:t>02</a:t>
            </a:r>
            <a:endParaRPr lang="en-US" sz="2400" dirty="0"/>
          </a:p>
        </p:txBody>
      </p:sp>
      <p:sp>
        <p:nvSpPr>
          <p:cNvPr id="18" name="Text 16"/>
          <p:cNvSpPr/>
          <p:nvPr/>
        </p:nvSpPr>
        <p:spPr>
          <a:xfrm>
            <a:off x="4490618" y="1682496"/>
            <a:ext cx="2835554" cy="201168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Ela melhora a tomada de decisão e a eficiência operacional.</a:t>
            </a:r>
            <a:endParaRPr lang="en-US" sz="1300" dirty="0"/>
          </a:p>
        </p:txBody>
      </p:sp>
      <p:sp>
        <p:nvSpPr>
          <p:cNvPr id="19" name="Shape 17"/>
          <p:cNvSpPr/>
          <p:nvPr/>
        </p:nvSpPr>
        <p:spPr>
          <a:xfrm>
            <a:off x="8158277" y="1572768"/>
            <a:ext cx="3603650" cy="2286000"/>
          </a:xfrm>
          <a:prstGeom prst="roundRect">
            <a:avLst>
              <a:gd name="adj" fmla="val 4000"/>
            </a:avLst>
          </a:prstGeom>
          <a:solidFill>
            <a:srgbClr val="000000"/>
          </a:solidFill>
          <a:ln/>
        </p:spPr>
      </p:sp>
      <p:sp>
        <p:nvSpPr>
          <p:cNvPr id="20" name="Shape 18"/>
          <p:cNvSpPr/>
          <p:nvPr/>
        </p:nvSpPr>
        <p:spPr>
          <a:xfrm>
            <a:off x="8130845" y="1536192"/>
            <a:ext cx="3603650" cy="2286000"/>
          </a:xfrm>
          <a:prstGeom prst="roundRect">
            <a:avLst>
              <a:gd name="adj" fmla="val 4000"/>
            </a:avLst>
          </a:prstGeom>
          <a:solidFill>
            <a:srgbClr val="141E34"/>
          </a:solidFill>
          <a:ln/>
        </p:spPr>
      </p:sp>
      <p:sp>
        <p:nvSpPr>
          <p:cNvPr id="21" name="Shape 19"/>
          <p:cNvSpPr/>
          <p:nvPr/>
        </p:nvSpPr>
        <p:spPr>
          <a:xfrm>
            <a:off x="8130845" y="1536192"/>
            <a:ext cx="3603650" cy="45720"/>
          </a:xfrm>
          <a:prstGeom prst="rect">
            <a:avLst>
              <a:gd name="adj" fmla="val 200000"/>
            </a:avLst>
          </a:prstGeom>
          <a:solidFill>
            <a:srgbClr val="10B981"/>
          </a:solidFill>
          <a:ln/>
        </p:spPr>
      </p:sp>
      <p:sp>
        <p:nvSpPr>
          <p:cNvPr id="22" name="Shape 20"/>
          <p:cNvSpPr/>
          <p:nvPr/>
        </p:nvSpPr>
        <p:spPr>
          <a:xfrm>
            <a:off x="8240573" y="1700784"/>
            <a:ext cx="384048" cy="384048"/>
          </a:xfrm>
          <a:prstGeom prst="roundRect">
            <a:avLst>
              <a:gd name="adj" fmla="val 19048"/>
            </a:avLst>
          </a:prstGeom>
          <a:solidFill>
            <a:srgbClr val="10B981"/>
          </a:solidFill>
          <a:ln/>
        </p:spPr>
      </p:sp>
      <p:sp>
        <p:nvSpPr>
          <p:cNvPr id="23" name="Text 21"/>
          <p:cNvSpPr/>
          <p:nvPr/>
        </p:nvSpPr>
        <p:spPr>
          <a:xfrm>
            <a:off x="8240573" y="1700784"/>
            <a:ext cx="384048" cy="384048"/>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24" name="Text 22"/>
          <p:cNvSpPr/>
          <p:nvPr/>
        </p:nvSpPr>
        <p:spPr>
          <a:xfrm>
            <a:off x="8716061" y="1664208"/>
            <a:ext cx="2890418" cy="457200"/>
          </a:xfrm>
          <a:prstGeom prst="rect">
            <a:avLst/>
          </a:prstGeom>
          <a:noFill/>
          <a:ln/>
        </p:spPr>
        <p:txBody>
          <a:bodyPr wrap="square" rtlCol="0" anchor="ctr"/>
          <a:lstStyle/>
          <a:p>
            <a:pPr indent="0" marL="0">
              <a:buNone/>
            </a:pPr>
            <a:r>
              <a:rPr lang="en-US" sz="1500" b="1" dirty="0">
                <a:solidFill>
                  <a:srgbClr val="10B981"/>
                </a:solidFill>
                <a:latin typeface="Montserrat" pitchFamily="34" charset="0"/>
                <a:ea typeface="Montserrat" pitchFamily="34" charset="-122"/>
                <a:cs typeface="Montserrat" pitchFamily="34" charset="-120"/>
              </a:rPr>
              <a:t>Marketing e Vendas</a:t>
            </a:r>
            <a:endParaRPr lang="en-US" sz="1500" dirty="0"/>
          </a:p>
        </p:txBody>
      </p:sp>
      <p:sp>
        <p:nvSpPr>
          <p:cNvPr id="25" name="Shape 23"/>
          <p:cNvSpPr/>
          <p:nvPr/>
        </p:nvSpPr>
        <p:spPr>
          <a:xfrm>
            <a:off x="8240573" y="2176272"/>
            <a:ext cx="3384194" cy="3658"/>
          </a:xfrm>
          <a:prstGeom prst="rect">
            <a:avLst/>
          </a:prstGeom>
          <a:solidFill>
            <a:srgbClr val="222E48"/>
          </a:solidFill>
          <a:ln/>
        </p:spPr>
      </p:sp>
      <p:sp>
        <p:nvSpPr>
          <p:cNvPr id="26" name="Text 24"/>
          <p:cNvSpPr/>
          <p:nvPr/>
        </p:nvSpPr>
        <p:spPr>
          <a:xfrm>
            <a:off x="8258861" y="2231136"/>
            <a:ext cx="3347618" cy="146304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A IA recomenda produtos personalizados e otimiza campanhas de marketing.</a:t>
            </a:r>
            <a:endParaRPr lang="en-US" sz="1300" dirty="0"/>
          </a:p>
        </p:txBody>
      </p:sp>
      <p:sp>
        <p:nvSpPr>
          <p:cNvPr id="27" name="Shape 25"/>
          <p:cNvSpPr/>
          <p:nvPr/>
        </p:nvSpPr>
        <p:spPr>
          <a:xfrm>
            <a:off x="621792" y="4023360"/>
            <a:ext cx="3603650" cy="2286000"/>
          </a:xfrm>
          <a:prstGeom prst="roundRect">
            <a:avLst>
              <a:gd name="adj" fmla="val 4000"/>
            </a:avLst>
          </a:prstGeom>
          <a:solidFill>
            <a:srgbClr val="000000"/>
          </a:solidFill>
          <a:ln/>
        </p:spPr>
      </p:sp>
      <p:sp>
        <p:nvSpPr>
          <p:cNvPr id="28" name="Shape 26"/>
          <p:cNvSpPr/>
          <p:nvPr/>
        </p:nvSpPr>
        <p:spPr>
          <a:xfrm>
            <a:off x="594360" y="3986784"/>
            <a:ext cx="3603650" cy="2286000"/>
          </a:xfrm>
          <a:prstGeom prst="roundRect">
            <a:avLst>
              <a:gd name="adj" fmla="val 4000"/>
            </a:avLst>
          </a:prstGeom>
          <a:solidFill>
            <a:srgbClr val="141E34"/>
          </a:solidFill>
          <a:ln/>
        </p:spPr>
      </p:sp>
      <p:sp>
        <p:nvSpPr>
          <p:cNvPr id="29" name="Shape 27"/>
          <p:cNvSpPr/>
          <p:nvPr/>
        </p:nvSpPr>
        <p:spPr>
          <a:xfrm>
            <a:off x="594360" y="3986784"/>
            <a:ext cx="3603650" cy="45720"/>
          </a:xfrm>
          <a:prstGeom prst="rect">
            <a:avLst>
              <a:gd name="adj" fmla="val 200000"/>
            </a:avLst>
          </a:prstGeom>
          <a:solidFill>
            <a:srgbClr val="F59E0B"/>
          </a:solidFill>
          <a:ln/>
        </p:spPr>
      </p:sp>
      <p:sp>
        <p:nvSpPr>
          <p:cNvPr id="30" name="Text 28"/>
          <p:cNvSpPr/>
          <p:nvPr/>
        </p:nvSpPr>
        <p:spPr>
          <a:xfrm>
            <a:off x="3603650" y="4078224"/>
            <a:ext cx="502920" cy="365760"/>
          </a:xfrm>
          <a:prstGeom prst="rect">
            <a:avLst/>
          </a:prstGeom>
          <a:noFill/>
          <a:ln/>
        </p:spPr>
        <p:txBody>
          <a:bodyPr wrap="square" rtlCol="0" anchor="ctr"/>
          <a:lstStyle/>
          <a:p>
            <a:pPr algn="r" indent="0" marL="0">
              <a:buNone/>
            </a:pPr>
            <a:r>
              <a:rPr lang="en-US" sz="2400" b="1" dirty="0">
                <a:solidFill>
                  <a:srgbClr val="F59E0B">
                    <a:alpha val="75000"/>
                  </a:srgbClr>
                </a:solidFill>
                <a:latin typeface="Montserrat" pitchFamily="34" charset="0"/>
                <a:ea typeface="Montserrat" pitchFamily="34" charset="-122"/>
                <a:cs typeface="Montserrat" pitchFamily="34" charset="-120"/>
              </a:rPr>
              <a:t>04</a:t>
            </a:r>
            <a:endParaRPr lang="en-US" sz="2400" dirty="0"/>
          </a:p>
        </p:txBody>
      </p:sp>
      <p:sp>
        <p:nvSpPr>
          <p:cNvPr id="31" name="Text 29"/>
          <p:cNvSpPr/>
          <p:nvPr/>
        </p:nvSpPr>
        <p:spPr>
          <a:xfrm>
            <a:off x="722376" y="4133088"/>
            <a:ext cx="2835554" cy="201168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Ela usa o histórico de navegação para aumentar o valor do carrinho.</a:t>
            </a:r>
            <a:endParaRPr lang="en-US" sz="1300" dirty="0"/>
          </a:p>
        </p:txBody>
      </p:sp>
      <p:sp>
        <p:nvSpPr>
          <p:cNvPr id="32" name="Shape 30"/>
          <p:cNvSpPr/>
          <p:nvPr/>
        </p:nvSpPr>
        <p:spPr>
          <a:xfrm>
            <a:off x="4390034" y="4023360"/>
            <a:ext cx="3603650" cy="2286000"/>
          </a:xfrm>
          <a:prstGeom prst="roundRect">
            <a:avLst>
              <a:gd name="adj" fmla="val 4000"/>
            </a:avLst>
          </a:prstGeom>
          <a:solidFill>
            <a:srgbClr val="000000"/>
          </a:solidFill>
          <a:ln/>
        </p:spPr>
      </p:sp>
      <p:sp>
        <p:nvSpPr>
          <p:cNvPr id="33" name="Shape 31"/>
          <p:cNvSpPr/>
          <p:nvPr/>
        </p:nvSpPr>
        <p:spPr>
          <a:xfrm>
            <a:off x="4362602" y="3986784"/>
            <a:ext cx="3603650" cy="2286000"/>
          </a:xfrm>
          <a:prstGeom prst="roundRect">
            <a:avLst>
              <a:gd name="adj" fmla="val 4000"/>
            </a:avLst>
          </a:prstGeom>
          <a:solidFill>
            <a:srgbClr val="141E34"/>
          </a:solidFill>
          <a:ln/>
        </p:spPr>
      </p:sp>
      <p:sp>
        <p:nvSpPr>
          <p:cNvPr id="34" name="Shape 32"/>
          <p:cNvSpPr/>
          <p:nvPr/>
        </p:nvSpPr>
        <p:spPr>
          <a:xfrm>
            <a:off x="4362602" y="3986784"/>
            <a:ext cx="3603650" cy="45720"/>
          </a:xfrm>
          <a:prstGeom prst="rect">
            <a:avLst>
              <a:gd name="adj" fmla="val 200000"/>
            </a:avLst>
          </a:prstGeom>
          <a:solidFill>
            <a:srgbClr val="06B6D4"/>
          </a:solidFill>
          <a:ln/>
        </p:spPr>
      </p:sp>
      <p:sp>
        <p:nvSpPr>
          <p:cNvPr id="35" name="Shape 33"/>
          <p:cNvSpPr/>
          <p:nvPr/>
        </p:nvSpPr>
        <p:spPr>
          <a:xfrm>
            <a:off x="4472330" y="4151376"/>
            <a:ext cx="384048" cy="384048"/>
          </a:xfrm>
          <a:prstGeom prst="roundRect">
            <a:avLst>
              <a:gd name="adj" fmla="val 19048"/>
            </a:avLst>
          </a:prstGeom>
          <a:solidFill>
            <a:srgbClr val="06B6D4"/>
          </a:solidFill>
          <a:ln/>
        </p:spPr>
      </p:sp>
      <p:sp>
        <p:nvSpPr>
          <p:cNvPr id="36" name="Text 34"/>
          <p:cNvSpPr/>
          <p:nvPr/>
        </p:nvSpPr>
        <p:spPr>
          <a:xfrm>
            <a:off x="4472330" y="4151376"/>
            <a:ext cx="384048" cy="384048"/>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5</a:t>
            </a:r>
            <a:endParaRPr lang="en-US" sz="1600" dirty="0"/>
          </a:p>
        </p:txBody>
      </p:sp>
      <p:sp>
        <p:nvSpPr>
          <p:cNvPr id="37" name="Text 35"/>
          <p:cNvSpPr/>
          <p:nvPr/>
        </p:nvSpPr>
        <p:spPr>
          <a:xfrm>
            <a:off x="4947818" y="4114800"/>
            <a:ext cx="2890418" cy="457200"/>
          </a:xfrm>
          <a:prstGeom prst="rect">
            <a:avLst/>
          </a:prstGeom>
          <a:noFill/>
          <a:ln/>
        </p:spPr>
        <p:txBody>
          <a:bodyPr wrap="square" rtlCol="0" anchor="ctr"/>
          <a:lstStyle/>
          <a:p>
            <a:pPr indent="0" marL="0">
              <a:buNone/>
            </a:pPr>
            <a:r>
              <a:rPr lang="en-US" sz="1500" b="1" dirty="0">
                <a:solidFill>
                  <a:srgbClr val="06B6D4"/>
                </a:solidFill>
                <a:latin typeface="Montserrat" pitchFamily="34" charset="0"/>
                <a:ea typeface="Montserrat" pitchFamily="34" charset="-122"/>
                <a:cs typeface="Montserrat" pitchFamily="34" charset="-120"/>
              </a:rPr>
              <a:t>Gestão Financeira</a:t>
            </a:r>
            <a:endParaRPr lang="en-US" sz="1500" dirty="0"/>
          </a:p>
        </p:txBody>
      </p:sp>
      <p:sp>
        <p:nvSpPr>
          <p:cNvPr id="38" name="Shape 36"/>
          <p:cNvSpPr/>
          <p:nvPr/>
        </p:nvSpPr>
        <p:spPr>
          <a:xfrm>
            <a:off x="4472330" y="4626864"/>
            <a:ext cx="3384194" cy="3658"/>
          </a:xfrm>
          <a:prstGeom prst="rect">
            <a:avLst/>
          </a:prstGeom>
          <a:solidFill>
            <a:srgbClr val="222E48"/>
          </a:solidFill>
          <a:ln/>
        </p:spPr>
      </p:sp>
      <p:sp>
        <p:nvSpPr>
          <p:cNvPr id="39" name="Text 37"/>
          <p:cNvSpPr/>
          <p:nvPr/>
        </p:nvSpPr>
        <p:spPr>
          <a:xfrm>
            <a:off x="4490618" y="4681728"/>
            <a:ext cx="3347618" cy="146304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Softwares de IA detectam fraudes, identificam despesas excessivas e projetam o fluxo de caixa.</a:t>
            </a:r>
            <a:endParaRPr lang="en-US" sz="1300" dirty="0"/>
          </a:p>
        </p:txBody>
      </p:sp>
      <p:sp>
        <p:nvSpPr>
          <p:cNvPr id="40" name="Shape 38"/>
          <p:cNvSpPr/>
          <p:nvPr/>
        </p:nvSpPr>
        <p:spPr>
          <a:xfrm>
            <a:off x="8158277" y="4023360"/>
            <a:ext cx="3603650" cy="2286000"/>
          </a:xfrm>
          <a:prstGeom prst="roundRect">
            <a:avLst>
              <a:gd name="adj" fmla="val 4000"/>
            </a:avLst>
          </a:prstGeom>
          <a:solidFill>
            <a:srgbClr val="000000"/>
          </a:solidFill>
          <a:ln/>
        </p:spPr>
      </p:sp>
      <p:sp>
        <p:nvSpPr>
          <p:cNvPr id="41" name="Shape 39"/>
          <p:cNvSpPr/>
          <p:nvPr/>
        </p:nvSpPr>
        <p:spPr>
          <a:xfrm>
            <a:off x="8130845" y="3986784"/>
            <a:ext cx="3603650" cy="2286000"/>
          </a:xfrm>
          <a:prstGeom prst="roundRect">
            <a:avLst>
              <a:gd name="adj" fmla="val 4000"/>
            </a:avLst>
          </a:prstGeom>
          <a:solidFill>
            <a:srgbClr val="141E34"/>
          </a:solidFill>
          <a:ln/>
        </p:spPr>
      </p:sp>
      <p:sp>
        <p:nvSpPr>
          <p:cNvPr id="42" name="Shape 40"/>
          <p:cNvSpPr/>
          <p:nvPr/>
        </p:nvSpPr>
        <p:spPr>
          <a:xfrm>
            <a:off x="8130845" y="3986784"/>
            <a:ext cx="3603650" cy="45720"/>
          </a:xfrm>
          <a:prstGeom prst="rect">
            <a:avLst>
              <a:gd name="adj" fmla="val 200000"/>
            </a:avLst>
          </a:prstGeom>
          <a:solidFill>
            <a:srgbClr val="6C63FF"/>
          </a:solidFill>
          <a:ln/>
        </p:spPr>
      </p:sp>
      <p:sp>
        <p:nvSpPr>
          <p:cNvPr id="43" name="Text 41"/>
          <p:cNvSpPr/>
          <p:nvPr/>
        </p:nvSpPr>
        <p:spPr>
          <a:xfrm>
            <a:off x="11140135" y="4078224"/>
            <a:ext cx="502920" cy="365760"/>
          </a:xfrm>
          <a:prstGeom prst="rect">
            <a:avLst/>
          </a:prstGeom>
          <a:noFill/>
          <a:ln/>
        </p:spPr>
        <p:txBody>
          <a:bodyPr wrap="square" rtlCol="0" anchor="ctr"/>
          <a:lstStyle/>
          <a:p>
            <a:pPr algn="r" indent="0" marL="0">
              <a:buNone/>
            </a:pPr>
            <a:r>
              <a:rPr lang="en-US" sz="2400" b="1" dirty="0">
                <a:solidFill>
                  <a:srgbClr val="6C63FF">
                    <a:alpha val="75000"/>
                  </a:srgbClr>
                </a:solidFill>
                <a:latin typeface="Montserrat" pitchFamily="34" charset="0"/>
                <a:ea typeface="Montserrat" pitchFamily="34" charset="-122"/>
                <a:cs typeface="Montserrat" pitchFamily="34" charset="-120"/>
              </a:rPr>
              <a:t>06</a:t>
            </a:r>
            <a:endParaRPr lang="en-US" sz="2400" dirty="0"/>
          </a:p>
        </p:txBody>
      </p:sp>
      <p:sp>
        <p:nvSpPr>
          <p:cNvPr id="44" name="Text 42"/>
          <p:cNvSpPr/>
          <p:nvPr/>
        </p:nvSpPr>
        <p:spPr>
          <a:xfrm>
            <a:off x="8258861" y="4133088"/>
            <a:ext cx="2835554" cy="201168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Eles otimizam decisões sobre investimentos.</a:t>
            </a:r>
            <a:endParaRPr lang="en-US" sz="1300" dirty="0"/>
          </a:p>
        </p:txBody>
      </p:sp>
      <p:sp>
        <p:nvSpPr>
          <p:cNvPr id="45" name="Shape 43"/>
          <p:cNvSpPr/>
          <p:nvPr/>
        </p:nvSpPr>
        <p:spPr>
          <a:xfrm>
            <a:off x="0" y="6601968"/>
            <a:ext cx="2041093" cy="4572"/>
          </a:xfrm>
          <a:prstGeom prst="rect">
            <a:avLst/>
          </a:prstGeom>
          <a:solidFill>
            <a:srgbClr val="6C63FF"/>
          </a:solidFill>
          <a:ln/>
        </p:spPr>
      </p:sp>
      <p:sp>
        <p:nvSpPr>
          <p:cNvPr id="46" name="Shape 44"/>
          <p:cNvSpPr/>
          <p:nvPr/>
        </p:nvSpPr>
        <p:spPr>
          <a:xfrm>
            <a:off x="2031949" y="6601968"/>
            <a:ext cx="2041093" cy="4572"/>
          </a:xfrm>
          <a:prstGeom prst="rect">
            <a:avLst/>
          </a:prstGeom>
          <a:solidFill>
            <a:srgbClr val="6C63FF"/>
          </a:solidFill>
          <a:ln/>
        </p:spPr>
      </p:sp>
      <p:sp>
        <p:nvSpPr>
          <p:cNvPr id="47" name="Shape 45"/>
          <p:cNvSpPr/>
          <p:nvPr/>
        </p:nvSpPr>
        <p:spPr>
          <a:xfrm>
            <a:off x="4063898" y="6601968"/>
            <a:ext cx="2041093" cy="4572"/>
          </a:xfrm>
          <a:prstGeom prst="rect">
            <a:avLst/>
          </a:prstGeom>
          <a:solidFill>
            <a:srgbClr val="6C63FF"/>
          </a:solidFill>
          <a:ln/>
        </p:spPr>
      </p:sp>
      <p:sp>
        <p:nvSpPr>
          <p:cNvPr id="48" name="Shape 46"/>
          <p:cNvSpPr/>
          <p:nvPr/>
        </p:nvSpPr>
        <p:spPr>
          <a:xfrm>
            <a:off x="6095848" y="6601968"/>
            <a:ext cx="2041093" cy="4572"/>
          </a:xfrm>
          <a:prstGeom prst="rect">
            <a:avLst/>
          </a:prstGeom>
          <a:solidFill>
            <a:srgbClr val="6C63FF"/>
          </a:solidFill>
          <a:ln/>
        </p:spPr>
      </p:sp>
      <p:sp>
        <p:nvSpPr>
          <p:cNvPr id="49" name="Shape 47"/>
          <p:cNvSpPr/>
          <p:nvPr/>
        </p:nvSpPr>
        <p:spPr>
          <a:xfrm>
            <a:off x="8127797" y="6601968"/>
            <a:ext cx="2041093" cy="4572"/>
          </a:xfrm>
          <a:prstGeom prst="rect">
            <a:avLst/>
          </a:prstGeom>
          <a:solidFill>
            <a:srgbClr val="6C63FF"/>
          </a:solidFill>
          <a:ln/>
        </p:spPr>
      </p:sp>
      <p:sp>
        <p:nvSpPr>
          <p:cNvPr id="50" name="Shape 48"/>
          <p:cNvSpPr/>
          <p:nvPr/>
        </p:nvSpPr>
        <p:spPr>
          <a:xfrm>
            <a:off x="10159746" y="6601968"/>
            <a:ext cx="2041093" cy="4572"/>
          </a:xfrm>
          <a:prstGeom prst="rect">
            <a:avLst/>
          </a:prstGeom>
          <a:solidFill>
            <a:srgbClr val="6C63FF"/>
          </a:solidFill>
          <a:ln/>
        </p:spPr>
      </p:sp>
      <p:sp>
        <p:nvSpPr>
          <p:cNvPr id="51" name="Shape 49"/>
          <p:cNvSpPr/>
          <p:nvPr/>
        </p:nvSpPr>
        <p:spPr>
          <a:xfrm>
            <a:off x="0" y="6606540"/>
            <a:ext cx="12191695" cy="2743"/>
          </a:xfrm>
          <a:prstGeom prst="rect">
            <a:avLst/>
          </a:prstGeom>
          <a:solidFill>
            <a:srgbClr val="222E48"/>
          </a:solidFill>
          <a:ln/>
        </p:spPr>
      </p:sp>
      <p:sp>
        <p:nvSpPr>
          <p:cNvPr id="52" name="Text 50"/>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53" name="Shape 51"/>
          <p:cNvSpPr/>
          <p:nvPr/>
        </p:nvSpPr>
        <p:spPr>
          <a:xfrm>
            <a:off x="10436047" y="6693408"/>
            <a:ext cx="73152" cy="73152"/>
          </a:xfrm>
          <a:prstGeom prst="ellipse">
            <a:avLst/>
          </a:prstGeom>
          <a:solidFill>
            <a:srgbClr val="6C63FF"/>
          </a:solidFill>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F59E0B"/>
          </a:solidFill>
          <a:ln/>
        </p:spPr>
      </p:sp>
      <p:sp>
        <p:nvSpPr>
          <p:cNvPr id="3" name="Shape 1"/>
          <p:cNvSpPr/>
          <p:nvPr/>
        </p:nvSpPr>
        <p:spPr>
          <a:xfrm>
            <a:off x="64008" y="0"/>
            <a:ext cx="18288" cy="6858000"/>
          </a:xfrm>
          <a:prstGeom prst="rect">
            <a:avLst/>
          </a:prstGeom>
          <a:solidFill>
            <a:srgbClr val="F59E0B"/>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F59E0B"/>
                </a:solidFill>
                <a:latin typeface="Open Sans" pitchFamily="34" charset="0"/>
                <a:ea typeface="Open Sans" pitchFamily="34" charset="-122"/>
                <a:cs typeface="Open Sans" pitchFamily="34" charset="-120"/>
              </a:rPr>
              <a:t>APLICAÇÕES REAIS</a:t>
            </a:r>
            <a:endParaRPr lang="en-US" sz="900" dirty="0"/>
          </a:p>
        </p:txBody>
      </p:sp>
      <p:sp>
        <p:nvSpPr>
          <p:cNvPr id="5" name="Shape 3"/>
          <p:cNvSpPr/>
          <p:nvPr/>
        </p:nvSpPr>
        <p:spPr>
          <a:xfrm>
            <a:off x="502920" y="493776"/>
            <a:ext cx="640080" cy="21946"/>
          </a:xfrm>
          <a:prstGeom prst="rect">
            <a:avLst/>
          </a:prstGeom>
          <a:solidFill>
            <a:srgbClr val="F59E0B"/>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Aplicações reais (Parte 2)</a:t>
            </a:r>
            <a:endParaRPr lang="en-US" sz="2800" dirty="0"/>
          </a:p>
        </p:txBody>
      </p:sp>
      <p:sp>
        <p:nvSpPr>
          <p:cNvPr id="7" name="Shape 5"/>
          <p:cNvSpPr/>
          <p:nvPr/>
        </p:nvSpPr>
        <p:spPr>
          <a:xfrm>
            <a:off x="502920" y="1389888"/>
            <a:ext cx="11185855" cy="7315"/>
          </a:xfrm>
          <a:prstGeom prst="rect">
            <a:avLst/>
          </a:prstGeom>
          <a:solidFill>
            <a:srgbClr val="F59E0B"/>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6132424" y="1536192"/>
            <a:ext cx="18288" cy="4910328"/>
          </a:xfrm>
          <a:prstGeom prst="rect">
            <a:avLst/>
          </a:prstGeom>
          <a:solidFill>
            <a:srgbClr val="F59E0B"/>
          </a:solidFill>
          <a:ln/>
        </p:spPr>
      </p:sp>
      <p:sp>
        <p:nvSpPr>
          <p:cNvPr id="10" name="Shape 8"/>
          <p:cNvSpPr/>
          <p:nvPr/>
        </p:nvSpPr>
        <p:spPr>
          <a:xfrm>
            <a:off x="6095848" y="3945636"/>
            <a:ext cx="91440" cy="91440"/>
          </a:xfrm>
          <a:prstGeom prst="ellipse">
            <a:avLst/>
          </a:prstGeom>
          <a:solidFill>
            <a:srgbClr val="F59E0B"/>
          </a:solidFill>
          <a:ln/>
        </p:spPr>
      </p:sp>
      <p:sp>
        <p:nvSpPr>
          <p:cNvPr id="11" name="Shape 9"/>
          <p:cNvSpPr/>
          <p:nvPr/>
        </p:nvSpPr>
        <p:spPr>
          <a:xfrm>
            <a:off x="621792" y="1572768"/>
            <a:ext cx="5387188" cy="987552"/>
          </a:xfrm>
          <a:prstGeom prst="roundRect">
            <a:avLst>
              <a:gd name="adj" fmla="val 9259"/>
            </a:avLst>
          </a:prstGeom>
          <a:solidFill>
            <a:srgbClr val="000000"/>
          </a:solidFill>
          <a:ln/>
        </p:spPr>
      </p:sp>
      <p:sp>
        <p:nvSpPr>
          <p:cNvPr id="12" name="Shape 10"/>
          <p:cNvSpPr/>
          <p:nvPr/>
        </p:nvSpPr>
        <p:spPr>
          <a:xfrm>
            <a:off x="594360" y="1536192"/>
            <a:ext cx="5387188" cy="987552"/>
          </a:xfrm>
          <a:prstGeom prst="roundRect">
            <a:avLst>
              <a:gd name="adj" fmla="val 5556"/>
            </a:avLst>
          </a:prstGeom>
          <a:solidFill>
            <a:srgbClr val="141E34"/>
          </a:solidFill>
          <a:ln/>
        </p:spPr>
      </p:sp>
      <p:sp>
        <p:nvSpPr>
          <p:cNvPr id="13" name="Shape 11"/>
          <p:cNvSpPr/>
          <p:nvPr/>
        </p:nvSpPr>
        <p:spPr>
          <a:xfrm>
            <a:off x="594360" y="1536192"/>
            <a:ext cx="45720" cy="987552"/>
          </a:xfrm>
          <a:prstGeom prst="rect">
            <a:avLst>
              <a:gd name="adj" fmla="val 120000"/>
            </a:avLst>
          </a:prstGeom>
          <a:solidFill>
            <a:srgbClr val="6C63FF"/>
          </a:solidFill>
          <a:ln/>
        </p:spPr>
      </p:sp>
      <p:sp>
        <p:nvSpPr>
          <p:cNvPr id="14" name="Shape 12"/>
          <p:cNvSpPr/>
          <p:nvPr/>
        </p:nvSpPr>
        <p:spPr>
          <a:xfrm>
            <a:off x="722376" y="1892808"/>
            <a:ext cx="274320" cy="274320"/>
          </a:xfrm>
          <a:prstGeom prst="roundRect">
            <a:avLst>
              <a:gd name="adj" fmla="val 20000"/>
            </a:avLst>
          </a:prstGeom>
          <a:solidFill>
            <a:srgbClr val="6C63FF"/>
          </a:solidFill>
          <a:ln/>
        </p:spPr>
      </p:sp>
      <p:sp>
        <p:nvSpPr>
          <p:cNvPr id="15" name="Text 13"/>
          <p:cNvSpPr/>
          <p:nvPr/>
        </p:nvSpPr>
        <p:spPr>
          <a:xfrm>
            <a:off x="722376" y="1892808"/>
            <a:ext cx="274320" cy="274320"/>
          </a:xfrm>
          <a:prstGeom prst="rect">
            <a:avLst/>
          </a:prstGeom>
          <a:noFill/>
          <a:ln/>
        </p:spPr>
        <p:txBody>
          <a:bodyPr wrap="square"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1</a:t>
            </a:r>
            <a:endParaRPr lang="en-US" sz="1100" dirty="0"/>
          </a:p>
        </p:txBody>
      </p:sp>
      <p:sp>
        <p:nvSpPr>
          <p:cNvPr id="16" name="Text 14"/>
          <p:cNvSpPr/>
          <p:nvPr/>
        </p:nvSpPr>
        <p:spPr>
          <a:xfrm>
            <a:off x="1069848" y="1563624"/>
            <a:ext cx="4838548" cy="932688"/>
          </a:xfrm>
          <a:prstGeom prst="rect">
            <a:avLst/>
          </a:prstGeom>
          <a:noFill/>
          <a:ln/>
        </p:spPr>
        <p:txBody>
          <a:bodyPr wrap="square" rtlCol="0" anchor="ctr"/>
          <a:lstStyle/>
          <a:p>
            <a:pPr indent="0" marL="0">
              <a:lnSpc>
                <a:spcPct val="118000"/>
              </a:lnSpc>
              <a:buNone/>
            </a:pPr>
            <a:r>
              <a:rPr lang="en-US" sz="1500" dirty="0">
                <a:solidFill>
                  <a:srgbClr val="E8EDF5"/>
                </a:solidFill>
                <a:latin typeface="Open Sans" pitchFamily="34" charset="0"/>
                <a:ea typeface="Open Sans" pitchFamily="34" charset="-122"/>
                <a:cs typeface="Open Sans" pitchFamily="34" charset="-120"/>
              </a:rPr>
              <a:t>Recursos Humanos: A IA agiliza a triagem de currículos e identifica padrões de sucesso para prever desempenho de candidatos.</a:t>
            </a:r>
            <a:endParaRPr lang="en-US" sz="1500" dirty="0"/>
          </a:p>
        </p:txBody>
      </p:sp>
      <p:sp>
        <p:nvSpPr>
          <p:cNvPr id="17" name="Shape 15"/>
          <p:cNvSpPr/>
          <p:nvPr/>
        </p:nvSpPr>
        <p:spPr>
          <a:xfrm>
            <a:off x="621792" y="2633472"/>
            <a:ext cx="5387188" cy="987552"/>
          </a:xfrm>
          <a:prstGeom prst="roundRect">
            <a:avLst>
              <a:gd name="adj" fmla="val 9259"/>
            </a:avLst>
          </a:prstGeom>
          <a:solidFill>
            <a:srgbClr val="000000"/>
          </a:solidFill>
          <a:ln/>
        </p:spPr>
      </p:sp>
      <p:sp>
        <p:nvSpPr>
          <p:cNvPr id="18" name="Shape 16"/>
          <p:cNvSpPr/>
          <p:nvPr/>
        </p:nvSpPr>
        <p:spPr>
          <a:xfrm>
            <a:off x="594360" y="2596896"/>
            <a:ext cx="5387188" cy="987552"/>
          </a:xfrm>
          <a:prstGeom prst="roundRect">
            <a:avLst>
              <a:gd name="adj" fmla="val 5556"/>
            </a:avLst>
          </a:prstGeom>
          <a:solidFill>
            <a:srgbClr val="141E34"/>
          </a:solidFill>
          <a:ln/>
        </p:spPr>
      </p:sp>
      <p:sp>
        <p:nvSpPr>
          <p:cNvPr id="19" name="Shape 17"/>
          <p:cNvSpPr/>
          <p:nvPr/>
        </p:nvSpPr>
        <p:spPr>
          <a:xfrm>
            <a:off x="594360" y="2596896"/>
            <a:ext cx="45720" cy="987552"/>
          </a:xfrm>
          <a:prstGeom prst="rect">
            <a:avLst>
              <a:gd name="adj" fmla="val 120000"/>
            </a:avLst>
          </a:prstGeom>
          <a:solidFill>
            <a:srgbClr val="3B82F6"/>
          </a:solidFill>
          <a:ln/>
        </p:spPr>
      </p:sp>
      <p:sp>
        <p:nvSpPr>
          <p:cNvPr id="20" name="Shape 18"/>
          <p:cNvSpPr/>
          <p:nvPr/>
        </p:nvSpPr>
        <p:spPr>
          <a:xfrm>
            <a:off x="722376" y="2953512"/>
            <a:ext cx="274320" cy="274320"/>
          </a:xfrm>
          <a:prstGeom prst="roundRect">
            <a:avLst>
              <a:gd name="adj" fmla="val 20000"/>
            </a:avLst>
          </a:prstGeom>
          <a:solidFill>
            <a:srgbClr val="3B82F6"/>
          </a:solidFill>
          <a:ln/>
        </p:spPr>
      </p:sp>
      <p:sp>
        <p:nvSpPr>
          <p:cNvPr id="21" name="Text 19"/>
          <p:cNvSpPr/>
          <p:nvPr/>
        </p:nvSpPr>
        <p:spPr>
          <a:xfrm>
            <a:off x="722376" y="2953512"/>
            <a:ext cx="274320" cy="274320"/>
          </a:xfrm>
          <a:prstGeom prst="rect">
            <a:avLst/>
          </a:prstGeom>
          <a:noFill/>
          <a:ln/>
        </p:spPr>
        <p:txBody>
          <a:bodyPr wrap="square"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2</a:t>
            </a:r>
            <a:endParaRPr lang="en-US" sz="1100" dirty="0"/>
          </a:p>
        </p:txBody>
      </p:sp>
      <p:sp>
        <p:nvSpPr>
          <p:cNvPr id="22" name="Text 20"/>
          <p:cNvSpPr/>
          <p:nvPr/>
        </p:nvSpPr>
        <p:spPr>
          <a:xfrm>
            <a:off x="1069848" y="2624328"/>
            <a:ext cx="4838548" cy="932688"/>
          </a:xfrm>
          <a:prstGeom prst="rect">
            <a:avLst/>
          </a:prstGeom>
          <a:noFill/>
          <a:ln/>
        </p:spPr>
        <p:txBody>
          <a:bodyPr wrap="square" rtlCol="0" anchor="ctr"/>
          <a:lstStyle/>
          <a:p>
            <a:pPr indent="0" marL="0">
              <a:lnSpc>
                <a:spcPct val="118000"/>
              </a:lnSpc>
              <a:buNone/>
            </a:pPr>
            <a:r>
              <a:rPr lang="en-US" sz="1500" dirty="0">
                <a:solidFill>
                  <a:srgbClr val="E8EDF5"/>
                </a:solidFill>
                <a:latin typeface="Open Sans" pitchFamily="34" charset="0"/>
                <a:ea typeface="Open Sans" pitchFamily="34" charset="-122"/>
                <a:cs typeface="Open Sans" pitchFamily="34" charset="-120"/>
              </a:rPr>
              <a:t>Ela melhora a retenção de talentos.</a:t>
            </a:r>
            <a:endParaRPr lang="en-US" sz="1500" dirty="0"/>
          </a:p>
        </p:txBody>
      </p:sp>
      <p:sp>
        <p:nvSpPr>
          <p:cNvPr id="23" name="Shape 21"/>
          <p:cNvSpPr/>
          <p:nvPr/>
        </p:nvSpPr>
        <p:spPr>
          <a:xfrm>
            <a:off x="621792" y="3694176"/>
            <a:ext cx="5387188" cy="987552"/>
          </a:xfrm>
          <a:prstGeom prst="roundRect">
            <a:avLst>
              <a:gd name="adj" fmla="val 9259"/>
            </a:avLst>
          </a:prstGeom>
          <a:solidFill>
            <a:srgbClr val="000000"/>
          </a:solidFill>
          <a:ln/>
        </p:spPr>
      </p:sp>
      <p:sp>
        <p:nvSpPr>
          <p:cNvPr id="24" name="Shape 22"/>
          <p:cNvSpPr/>
          <p:nvPr/>
        </p:nvSpPr>
        <p:spPr>
          <a:xfrm>
            <a:off x="594360" y="3657600"/>
            <a:ext cx="5387188" cy="987552"/>
          </a:xfrm>
          <a:prstGeom prst="roundRect">
            <a:avLst>
              <a:gd name="adj" fmla="val 5556"/>
            </a:avLst>
          </a:prstGeom>
          <a:solidFill>
            <a:srgbClr val="141E34"/>
          </a:solidFill>
          <a:ln/>
        </p:spPr>
      </p:sp>
      <p:sp>
        <p:nvSpPr>
          <p:cNvPr id="25" name="Shape 23"/>
          <p:cNvSpPr/>
          <p:nvPr/>
        </p:nvSpPr>
        <p:spPr>
          <a:xfrm>
            <a:off x="594360" y="3657600"/>
            <a:ext cx="45720" cy="987552"/>
          </a:xfrm>
          <a:prstGeom prst="rect">
            <a:avLst>
              <a:gd name="adj" fmla="val 120000"/>
            </a:avLst>
          </a:prstGeom>
          <a:solidFill>
            <a:srgbClr val="10B981"/>
          </a:solidFill>
          <a:ln/>
        </p:spPr>
      </p:sp>
      <p:sp>
        <p:nvSpPr>
          <p:cNvPr id="26" name="Shape 24"/>
          <p:cNvSpPr/>
          <p:nvPr/>
        </p:nvSpPr>
        <p:spPr>
          <a:xfrm>
            <a:off x="722376" y="4014216"/>
            <a:ext cx="274320" cy="274320"/>
          </a:xfrm>
          <a:prstGeom prst="roundRect">
            <a:avLst>
              <a:gd name="adj" fmla="val 20000"/>
            </a:avLst>
          </a:prstGeom>
          <a:solidFill>
            <a:srgbClr val="10B981"/>
          </a:solidFill>
          <a:ln/>
        </p:spPr>
      </p:sp>
      <p:sp>
        <p:nvSpPr>
          <p:cNvPr id="27" name="Text 25"/>
          <p:cNvSpPr/>
          <p:nvPr/>
        </p:nvSpPr>
        <p:spPr>
          <a:xfrm>
            <a:off x="722376" y="4014216"/>
            <a:ext cx="274320" cy="274320"/>
          </a:xfrm>
          <a:prstGeom prst="rect">
            <a:avLst/>
          </a:prstGeom>
          <a:noFill/>
          <a:ln/>
        </p:spPr>
        <p:txBody>
          <a:bodyPr wrap="square"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3</a:t>
            </a:r>
            <a:endParaRPr lang="en-US" sz="1100" dirty="0"/>
          </a:p>
        </p:txBody>
      </p:sp>
      <p:sp>
        <p:nvSpPr>
          <p:cNvPr id="28" name="Text 26"/>
          <p:cNvSpPr/>
          <p:nvPr/>
        </p:nvSpPr>
        <p:spPr>
          <a:xfrm>
            <a:off x="1069848" y="3685032"/>
            <a:ext cx="4838548" cy="932688"/>
          </a:xfrm>
          <a:prstGeom prst="rect">
            <a:avLst/>
          </a:prstGeom>
          <a:noFill/>
          <a:ln/>
        </p:spPr>
        <p:txBody>
          <a:bodyPr wrap="square" rtlCol="0" anchor="ctr"/>
          <a:lstStyle/>
          <a:p>
            <a:pPr indent="0" marL="0">
              <a:lnSpc>
                <a:spcPct val="118000"/>
              </a:lnSpc>
              <a:buNone/>
            </a:pPr>
            <a:r>
              <a:rPr lang="en-US" sz="1500" dirty="0">
                <a:solidFill>
                  <a:srgbClr val="E8EDF5"/>
                </a:solidFill>
                <a:latin typeface="Open Sans" pitchFamily="34" charset="0"/>
                <a:ea typeface="Open Sans" pitchFamily="34" charset="-122"/>
                <a:cs typeface="Open Sans" pitchFamily="34" charset="-120"/>
              </a:rPr>
              <a:t>Saúde: Sistemas de IA analisam dados de pacientes e identificam propensão a doenças, permitindo intervenções preventivas.</a:t>
            </a:r>
            <a:endParaRPr lang="en-US" sz="1500" dirty="0"/>
          </a:p>
        </p:txBody>
      </p:sp>
      <p:sp>
        <p:nvSpPr>
          <p:cNvPr id="29" name="Shape 27"/>
          <p:cNvSpPr/>
          <p:nvPr/>
        </p:nvSpPr>
        <p:spPr>
          <a:xfrm>
            <a:off x="6329020" y="1572768"/>
            <a:ext cx="5387188" cy="987552"/>
          </a:xfrm>
          <a:prstGeom prst="roundRect">
            <a:avLst>
              <a:gd name="adj" fmla="val 9259"/>
            </a:avLst>
          </a:prstGeom>
          <a:solidFill>
            <a:srgbClr val="000000"/>
          </a:solidFill>
          <a:ln/>
        </p:spPr>
      </p:sp>
      <p:sp>
        <p:nvSpPr>
          <p:cNvPr id="30" name="Shape 28"/>
          <p:cNvSpPr/>
          <p:nvPr/>
        </p:nvSpPr>
        <p:spPr>
          <a:xfrm>
            <a:off x="6301588" y="1536192"/>
            <a:ext cx="5387188" cy="987552"/>
          </a:xfrm>
          <a:prstGeom prst="roundRect">
            <a:avLst>
              <a:gd name="adj" fmla="val 5556"/>
            </a:avLst>
          </a:prstGeom>
          <a:solidFill>
            <a:srgbClr val="141E34"/>
          </a:solidFill>
          <a:ln/>
        </p:spPr>
      </p:sp>
      <p:sp>
        <p:nvSpPr>
          <p:cNvPr id="31" name="Shape 29"/>
          <p:cNvSpPr/>
          <p:nvPr/>
        </p:nvSpPr>
        <p:spPr>
          <a:xfrm>
            <a:off x="6301588" y="1536192"/>
            <a:ext cx="45720" cy="987552"/>
          </a:xfrm>
          <a:prstGeom prst="rect">
            <a:avLst>
              <a:gd name="adj" fmla="val 120000"/>
            </a:avLst>
          </a:prstGeom>
          <a:solidFill>
            <a:srgbClr val="F59E0B"/>
          </a:solidFill>
          <a:ln/>
        </p:spPr>
      </p:sp>
      <p:sp>
        <p:nvSpPr>
          <p:cNvPr id="32" name="Shape 30"/>
          <p:cNvSpPr/>
          <p:nvPr/>
        </p:nvSpPr>
        <p:spPr>
          <a:xfrm>
            <a:off x="6429604" y="1892808"/>
            <a:ext cx="274320" cy="274320"/>
          </a:xfrm>
          <a:prstGeom prst="roundRect">
            <a:avLst>
              <a:gd name="adj" fmla="val 20000"/>
            </a:avLst>
          </a:prstGeom>
          <a:solidFill>
            <a:srgbClr val="F59E0B"/>
          </a:solidFill>
          <a:ln/>
        </p:spPr>
      </p:sp>
      <p:sp>
        <p:nvSpPr>
          <p:cNvPr id="33" name="Text 31"/>
          <p:cNvSpPr/>
          <p:nvPr/>
        </p:nvSpPr>
        <p:spPr>
          <a:xfrm>
            <a:off x="6429604" y="1892808"/>
            <a:ext cx="274320" cy="274320"/>
          </a:xfrm>
          <a:prstGeom prst="rect">
            <a:avLst/>
          </a:prstGeom>
          <a:noFill/>
          <a:ln/>
        </p:spPr>
        <p:txBody>
          <a:bodyPr wrap="square"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4</a:t>
            </a:r>
            <a:endParaRPr lang="en-US" sz="1100" dirty="0"/>
          </a:p>
        </p:txBody>
      </p:sp>
      <p:sp>
        <p:nvSpPr>
          <p:cNvPr id="34" name="Text 32"/>
          <p:cNvSpPr/>
          <p:nvPr/>
        </p:nvSpPr>
        <p:spPr>
          <a:xfrm>
            <a:off x="6777076" y="1563624"/>
            <a:ext cx="4838548" cy="932688"/>
          </a:xfrm>
          <a:prstGeom prst="rect">
            <a:avLst/>
          </a:prstGeom>
          <a:noFill/>
          <a:ln/>
        </p:spPr>
        <p:txBody>
          <a:bodyPr wrap="square" rtlCol="0" anchor="ctr"/>
          <a:lstStyle/>
          <a:p>
            <a:pPr indent="0" marL="0">
              <a:lnSpc>
                <a:spcPct val="118000"/>
              </a:lnSpc>
              <a:buNone/>
            </a:pPr>
            <a:r>
              <a:rPr lang="en-US" sz="1500" dirty="0">
                <a:solidFill>
                  <a:srgbClr val="E8EDF5"/>
                </a:solidFill>
                <a:latin typeface="Open Sans" pitchFamily="34" charset="0"/>
                <a:ea typeface="Open Sans" pitchFamily="34" charset="-122"/>
                <a:cs typeface="Open Sans" pitchFamily="34" charset="-120"/>
              </a:rPr>
              <a:t>Eles personalizam tratamentos.</a:t>
            </a:r>
            <a:endParaRPr lang="en-US" sz="1500" dirty="0"/>
          </a:p>
        </p:txBody>
      </p:sp>
      <p:sp>
        <p:nvSpPr>
          <p:cNvPr id="35" name="Shape 33"/>
          <p:cNvSpPr/>
          <p:nvPr/>
        </p:nvSpPr>
        <p:spPr>
          <a:xfrm>
            <a:off x="6329020" y="2633472"/>
            <a:ext cx="5387188" cy="987552"/>
          </a:xfrm>
          <a:prstGeom prst="roundRect">
            <a:avLst>
              <a:gd name="adj" fmla="val 9259"/>
            </a:avLst>
          </a:prstGeom>
          <a:solidFill>
            <a:srgbClr val="000000"/>
          </a:solidFill>
          <a:ln/>
        </p:spPr>
      </p:sp>
      <p:sp>
        <p:nvSpPr>
          <p:cNvPr id="36" name="Shape 34"/>
          <p:cNvSpPr/>
          <p:nvPr/>
        </p:nvSpPr>
        <p:spPr>
          <a:xfrm>
            <a:off x="6301588" y="2596896"/>
            <a:ext cx="5387188" cy="987552"/>
          </a:xfrm>
          <a:prstGeom prst="roundRect">
            <a:avLst>
              <a:gd name="adj" fmla="val 5556"/>
            </a:avLst>
          </a:prstGeom>
          <a:solidFill>
            <a:srgbClr val="141E34"/>
          </a:solidFill>
          <a:ln/>
        </p:spPr>
      </p:sp>
      <p:sp>
        <p:nvSpPr>
          <p:cNvPr id="37" name="Shape 35"/>
          <p:cNvSpPr/>
          <p:nvPr/>
        </p:nvSpPr>
        <p:spPr>
          <a:xfrm>
            <a:off x="6301588" y="2596896"/>
            <a:ext cx="45720" cy="987552"/>
          </a:xfrm>
          <a:prstGeom prst="rect">
            <a:avLst>
              <a:gd name="adj" fmla="val 120000"/>
            </a:avLst>
          </a:prstGeom>
          <a:solidFill>
            <a:srgbClr val="06B6D4"/>
          </a:solidFill>
          <a:ln/>
        </p:spPr>
      </p:sp>
      <p:sp>
        <p:nvSpPr>
          <p:cNvPr id="38" name="Shape 36"/>
          <p:cNvSpPr/>
          <p:nvPr/>
        </p:nvSpPr>
        <p:spPr>
          <a:xfrm>
            <a:off x="6429604" y="2953512"/>
            <a:ext cx="274320" cy="274320"/>
          </a:xfrm>
          <a:prstGeom prst="roundRect">
            <a:avLst>
              <a:gd name="adj" fmla="val 20000"/>
            </a:avLst>
          </a:prstGeom>
          <a:solidFill>
            <a:srgbClr val="06B6D4"/>
          </a:solidFill>
          <a:ln/>
        </p:spPr>
      </p:sp>
      <p:sp>
        <p:nvSpPr>
          <p:cNvPr id="39" name="Text 37"/>
          <p:cNvSpPr/>
          <p:nvPr/>
        </p:nvSpPr>
        <p:spPr>
          <a:xfrm>
            <a:off x="6429604" y="2953512"/>
            <a:ext cx="274320" cy="274320"/>
          </a:xfrm>
          <a:prstGeom prst="rect">
            <a:avLst/>
          </a:prstGeom>
          <a:noFill/>
          <a:ln/>
        </p:spPr>
        <p:txBody>
          <a:bodyPr wrap="square"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5</a:t>
            </a:r>
            <a:endParaRPr lang="en-US" sz="1100" dirty="0"/>
          </a:p>
        </p:txBody>
      </p:sp>
      <p:sp>
        <p:nvSpPr>
          <p:cNvPr id="40" name="Text 38"/>
          <p:cNvSpPr/>
          <p:nvPr/>
        </p:nvSpPr>
        <p:spPr>
          <a:xfrm>
            <a:off x="6777076" y="2624328"/>
            <a:ext cx="4838548" cy="932688"/>
          </a:xfrm>
          <a:prstGeom prst="rect">
            <a:avLst/>
          </a:prstGeom>
          <a:noFill/>
          <a:ln/>
        </p:spPr>
        <p:txBody>
          <a:bodyPr wrap="square" rtlCol="0" anchor="ctr"/>
          <a:lstStyle/>
          <a:p>
            <a:pPr indent="0" marL="0">
              <a:lnSpc>
                <a:spcPct val="118000"/>
              </a:lnSpc>
              <a:buNone/>
            </a:pPr>
            <a:r>
              <a:rPr lang="en-US" sz="1500" dirty="0">
                <a:solidFill>
                  <a:srgbClr val="E8EDF5"/>
                </a:solidFill>
                <a:latin typeface="Open Sans" pitchFamily="34" charset="0"/>
                <a:ea typeface="Open Sans" pitchFamily="34" charset="-122"/>
                <a:cs typeface="Open Sans" pitchFamily="34" charset="-120"/>
              </a:rPr>
              <a:t>Educação: A IA analisa o desempenho de alunos, identifica pontos fracos e fortes. Ela permite criar planos de aprendizado personalizados.</a:t>
            </a:r>
            <a:endParaRPr lang="en-US" sz="1500" dirty="0"/>
          </a:p>
        </p:txBody>
      </p:sp>
      <p:sp>
        <p:nvSpPr>
          <p:cNvPr id="41" name="Shape 39"/>
          <p:cNvSpPr/>
          <p:nvPr/>
        </p:nvSpPr>
        <p:spPr>
          <a:xfrm>
            <a:off x="6329020" y="3694176"/>
            <a:ext cx="5387188" cy="987552"/>
          </a:xfrm>
          <a:prstGeom prst="roundRect">
            <a:avLst>
              <a:gd name="adj" fmla="val 9259"/>
            </a:avLst>
          </a:prstGeom>
          <a:solidFill>
            <a:srgbClr val="000000"/>
          </a:solidFill>
          <a:ln/>
        </p:spPr>
      </p:sp>
      <p:sp>
        <p:nvSpPr>
          <p:cNvPr id="42" name="Shape 40"/>
          <p:cNvSpPr/>
          <p:nvPr/>
        </p:nvSpPr>
        <p:spPr>
          <a:xfrm>
            <a:off x="6301588" y="3657600"/>
            <a:ext cx="5387188" cy="987552"/>
          </a:xfrm>
          <a:prstGeom prst="roundRect">
            <a:avLst>
              <a:gd name="adj" fmla="val 5556"/>
            </a:avLst>
          </a:prstGeom>
          <a:solidFill>
            <a:srgbClr val="141E34"/>
          </a:solidFill>
          <a:ln/>
        </p:spPr>
      </p:sp>
      <p:sp>
        <p:nvSpPr>
          <p:cNvPr id="43" name="Shape 41"/>
          <p:cNvSpPr/>
          <p:nvPr/>
        </p:nvSpPr>
        <p:spPr>
          <a:xfrm>
            <a:off x="6301588" y="3657600"/>
            <a:ext cx="45720" cy="987552"/>
          </a:xfrm>
          <a:prstGeom prst="rect">
            <a:avLst>
              <a:gd name="adj" fmla="val 120000"/>
            </a:avLst>
          </a:prstGeom>
          <a:solidFill>
            <a:srgbClr val="6C63FF"/>
          </a:solidFill>
          <a:ln/>
        </p:spPr>
      </p:sp>
      <p:sp>
        <p:nvSpPr>
          <p:cNvPr id="44" name="Shape 42"/>
          <p:cNvSpPr/>
          <p:nvPr/>
        </p:nvSpPr>
        <p:spPr>
          <a:xfrm>
            <a:off x="6429604" y="4014216"/>
            <a:ext cx="274320" cy="274320"/>
          </a:xfrm>
          <a:prstGeom prst="roundRect">
            <a:avLst>
              <a:gd name="adj" fmla="val 20000"/>
            </a:avLst>
          </a:prstGeom>
          <a:solidFill>
            <a:srgbClr val="6C63FF"/>
          </a:solidFill>
          <a:ln/>
        </p:spPr>
      </p:sp>
      <p:sp>
        <p:nvSpPr>
          <p:cNvPr id="45" name="Text 43"/>
          <p:cNvSpPr/>
          <p:nvPr/>
        </p:nvSpPr>
        <p:spPr>
          <a:xfrm>
            <a:off x="6429604" y="4014216"/>
            <a:ext cx="274320" cy="274320"/>
          </a:xfrm>
          <a:prstGeom prst="rect">
            <a:avLst/>
          </a:prstGeom>
          <a:noFill/>
          <a:ln/>
        </p:spPr>
        <p:txBody>
          <a:bodyPr wrap="square"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6</a:t>
            </a:r>
            <a:endParaRPr lang="en-US" sz="1100" dirty="0"/>
          </a:p>
        </p:txBody>
      </p:sp>
      <p:sp>
        <p:nvSpPr>
          <p:cNvPr id="46" name="Text 44"/>
          <p:cNvSpPr/>
          <p:nvPr/>
        </p:nvSpPr>
        <p:spPr>
          <a:xfrm>
            <a:off x="6777076" y="3685032"/>
            <a:ext cx="4838548" cy="932688"/>
          </a:xfrm>
          <a:prstGeom prst="rect">
            <a:avLst/>
          </a:prstGeom>
          <a:noFill/>
          <a:ln/>
        </p:spPr>
        <p:txBody>
          <a:bodyPr wrap="square" rtlCol="0" anchor="ctr"/>
          <a:lstStyle/>
          <a:p>
            <a:pPr indent="0" marL="0">
              <a:lnSpc>
                <a:spcPct val="118000"/>
              </a:lnSpc>
              <a:buNone/>
            </a:pPr>
            <a:r>
              <a:rPr lang="en-US" sz="1500" dirty="0">
                <a:solidFill>
                  <a:srgbClr val="E8EDF5"/>
                </a:solidFill>
                <a:latin typeface="Open Sans" pitchFamily="34" charset="0"/>
                <a:ea typeface="Open Sans" pitchFamily="34" charset="-122"/>
                <a:cs typeface="Open Sans" pitchFamily="34" charset="-120"/>
              </a:rPr>
              <a:t>A IA consegue também reconhecer tendências e padrões ocultos, que não são imediatamente aparentes.</a:t>
            </a:r>
            <a:endParaRPr lang="en-US" sz="1500" dirty="0"/>
          </a:p>
        </p:txBody>
      </p:sp>
      <p:sp>
        <p:nvSpPr>
          <p:cNvPr id="47" name="Shape 45"/>
          <p:cNvSpPr/>
          <p:nvPr/>
        </p:nvSpPr>
        <p:spPr>
          <a:xfrm>
            <a:off x="0" y="6601968"/>
            <a:ext cx="2041093" cy="4572"/>
          </a:xfrm>
          <a:prstGeom prst="rect">
            <a:avLst/>
          </a:prstGeom>
          <a:solidFill>
            <a:srgbClr val="6C63FF"/>
          </a:solidFill>
          <a:ln/>
        </p:spPr>
      </p:sp>
      <p:sp>
        <p:nvSpPr>
          <p:cNvPr id="48" name="Shape 46"/>
          <p:cNvSpPr/>
          <p:nvPr/>
        </p:nvSpPr>
        <p:spPr>
          <a:xfrm>
            <a:off x="2031949" y="6601968"/>
            <a:ext cx="2041093" cy="4572"/>
          </a:xfrm>
          <a:prstGeom prst="rect">
            <a:avLst/>
          </a:prstGeom>
          <a:solidFill>
            <a:srgbClr val="6C63FF"/>
          </a:solidFill>
          <a:ln/>
        </p:spPr>
      </p:sp>
      <p:sp>
        <p:nvSpPr>
          <p:cNvPr id="49" name="Shape 47"/>
          <p:cNvSpPr/>
          <p:nvPr/>
        </p:nvSpPr>
        <p:spPr>
          <a:xfrm>
            <a:off x="4063898" y="6601968"/>
            <a:ext cx="2041093" cy="4572"/>
          </a:xfrm>
          <a:prstGeom prst="rect">
            <a:avLst/>
          </a:prstGeom>
          <a:solidFill>
            <a:srgbClr val="6C63FF"/>
          </a:solidFill>
          <a:ln/>
        </p:spPr>
      </p:sp>
      <p:sp>
        <p:nvSpPr>
          <p:cNvPr id="50" name="Shape 48"/>
          <p:cNvSpPr/>
          <p:nvPr/>
        </p:nvSpPr>
        <p:spPr>
          <a:xfrm>
            <a:off x="6095848" y="6601968"/>
            <a:ext cx="2041093" cy="4572"/>
          </a:xfrm>
          <a:prstGeom prst="rect">
            <a:avLst/>
          </a:prstGeom>
          <a:solidFill>
            <a:srgbClr val="6C63FF"/>
          </a:solidFill>
          <a:ln/>
        </p:spPr>
      </p:sp>
      <p:sp>
        <p:nvSpPr>
          <p:cNvPr id="51" name="Shape 49"/>
          <p:cNvSpPr/>
          <p:nvPr/>
        </p:nvSpPr>
        <p:spPr>
          <a:xfrm>
            <a:off x="8127797" y="6601968"/>
            <a:ext cx="2041093" cy="4572"/>
          </a:xfrm>
          <a:prstGeom prst="rect">
            <a:avLst/>
          </a:prstGeom>
          <a:solidFill>
            <a:srgbClr val="6C63FF"/>
          </a:solidFill>
          <a:ln/>
        </p:spPr>
      </p:sp>
      <p:sp>
        <p:nvSpPr>
          <p:cNvPr id="52" name="Shape 50"/>
          <p:cNvSpPr/>
          <p:nvPr/>
        </p:nvSpPr>
        <p:spPr>
          <a:xfrm>
            <a:off x="10159746" y="6601968"/>
            <a:ext cx="2041093" cy="4572"/>
          </a:xfrm>
          <a:prstGeom prst="rect">
            <a:avLst/>
          </a:prstGeom>
          <a:solidFill>
            <a:srgbClr val="6C63FF"/>
          </a:solidFill>
          <a:ln/>
        </p:spPr>
      </p:sp>
      <p:sp>
        <p:nvSpPr>
          <p:cNvPr id="53" name="Shape 51"/>
          <p:cNvSpPr/>
          <p:nvPr/>
        </p:nvSpPr>
        <p:spPr>
          <a:xfrm>
            <a:off x="0" y="6606540"/>
            <a:ext cx="12191695" cy="2743"/>
          </a:xfrm>
          <a:prstGeom prst="rect">
            <a:avLst/>
          </a:prstGeom>
          <a:solidFill>
            <a:srgbClr val="222E48"/>
          </a:solidFill>
          <a:ln/>
        </p:spPr>
      </p:sp>
      <p:sp>
        <p:nvSpPr>
          <p:cNvPr id="54" name="Text 52"/>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55" name="Shape 53"/>
          <p:cNvSpPr/>
          <p:nvPr/>
        </p:nvSpPr>
        <p:spPr>
          <a:xfrm>
            <a:off x="10436047" y="6693408"/>
            <a:ext cx="73152" cy="73152"/>
          </a:xfrm>
          <a:prstGeom prst="ellipse">
            <a:avLst/>
          </a:prstGeom>
          <a:solidFill>
            <a:srgbClr val="6C63FF"/>
          </a:solidFill>
          <a:ln/>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F59E0B"/>
          </a:solidFill>
          <a:ln/>
        </p:spPr>
      </p:sp>
      <p:sp>
        <p:nvSpPr>
          <p:cNvPr id="3" name="Shape 1"/>
          <p:cNvSpPr/>
          <p:nvPr/>
        </p:nvSpPr>
        <p:spPr>
          <a:xfrm>
            <a:off x="64008" y="0"/>
            <a:ext cx="18288" cy="6858000"/>
          </a:xfrm>
          <a:prstGeom prst="rect">
            <a:avLst/>
          </a:prstGeom>
          <a:solidFill>
            <a:srgbClr val="F59E0B"/>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F59E0B"/>
                </a:solidFill>
                <a:latin typeface="Open Sans" pitchFamily="34" charset="0"/>
                <a:ea typeface="Open Sans" pitchFamily="34" charset="-122"/>
                <a:cs typeface="Open Sans" pitchFamily="34" charset="-120"/>
              </a:rPr>
              <a:t>APLICAÇÕES REAIS</a:t>
            </a:r>
            <a:endParaRPr lang="en-US" sz="900" dirty="0"/>
          </a:p>
        </p:txBody>
      </p:sp>
      <p:sp>
        <p:nvSpPr>
          <p:cNvPr id="5" name="Shape 3"/>
          <p:cNvSpPr/>
          <p:nvPr/>
        </p:nvSpPr>
        <p:spPr>
          <a:xfrm>
            <a:off x="502920" y="493776"/>
            <a:ext cx="640080" cy="21946"/>
          </a:xfrm>
          <a:prstGeom prst="rect">
            <a:avLst/>
          </a:prstGeom>
          <a:solidFill>
            <a:srgbClr val="F59E0B"/>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Aplicações reais (Parte 3)</a:t>
            </a:r>
            <a:endParaRPr lang="en-US" sz="2800" dirty="0"/>
          </a:p>
        </p:txBody>
      </p:sp>
      <p:sp>
        <p:nvSpPr>
          <p:cNvPr id="7" name="Shape 5"/>
          <p:cNvSpPr/>
          <p:nvPr/>
        </p:nvSpPr>
        <p:spPr>
          <a:xfrm>
            <a:off x="502920" y="1389888"/>
            <a:ext cx="11185855" cy="7315"/>
          </a:xfrm>
          <a:prstGeom prst="rect">
            <a:avLst/>
          </a:prstGeom>
          <a:solidFill>
            <a:srgbClr val="F59E0B"/>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621792" y="1572768"/>
            <a:ext cx="3603650" cy="2286000"/>
          </a:xfrm>
          <a:prstGeom prst="roundRect">
            <a:avLst>
              <a:gd name="adj" fmla="val 4000"/>
            </a:avLst>
          </a:prstGeom>
          <a:solidFill>
            <a:srgbClr val="000000"/>
          </a:solidFill>
          <a:ln/>
        </p:spPr>
      </p:sp>
      <p:sp>
        <p:nvSpPr>
          <p:cNvPr id="10" name="Shape 8"/>
          <p:cNvSpPr/>
          <p:nvPr/>
        </p:nvSpPr>
        <p:spPr>
          <a:xfrm>
            <a:off x="594360" y="1536192"/>
            <a:ext cx="3603650" cy="2286000"/>
          </a:xfrm>
          <a:prstGeom prst="roundRect">
            <a:avLst>
              <a:gd name="adj" fmla="val 4000"/>
            </a:avLst>
          </a:prstGeom>
          <a:solidFill>
            <a:srgbClr val="141E34"/>
          </a:solidFill>
          <a:ln/>
        </p:spPr>
      </p:sp>
      <p:sp>
        <p:nvSpPr>
          <p:cNvPr id="11" name="Shape 9"/>
          <p:cNvSpPr/>
          <p:nvPr/>
        </p:nvSpPr>
        <p:spPr>
          <a:xfrm>
            <a:off x="594360" y="1536192"/>
            <a:ext cx="3603650" cy="45720"/>
          </a:xfrm>
          <a:prstGeom prst="rect">
            <a:avLst>
              <a:gd name="adj" fmla="val 200000"/>
            </a:avLst>
          </a:prstGeom>
          <a:solidFill>
            <a:srgbClr val="6C63FF"/>
          </a:solidFill>
          <a:ln/>
        </p:spPr>
      </p:sp>
      <p:sp>
        <p:nvSpPr>
          <p:cNvPr id="12" name="Text 10"/>
          <p:cNvSpPr/>
          <p:nvPr/>
        </p:nvSpPr>
        <p:spPr>
          <a:xfrm>
            <a:off x="3603650" y="1627632"/>
            <a:ext cx="502920" cy="365760"/>
          </a:xfrm>
          <a:prstGeom prst="rect">
            <a:avLst/>
          </a:prstGeom>
          <a:noFill/>
          <a:ln/>
        </p:spPr>
        <p:txBody>
          <a:bodyPr wrap="square" rtlCol="0" anchor="ctr"/>
          <a:lstStyle/>
          <a:p>
            <a:pPr algn="r" indent="0" marL="0">
              <a:buNone/>
            </a:pPr>
            <a:r>
              <a:rPr lang="en-US" sz="2400" b="1" dirty="0">
                <a:solidFill>
                  <a:srgbClr val="6C63FF">
                    <a:alpha val="75000"/>
                  </a:srgbClr>
                </a:solidFill>
                <a:latin typeface="Montserrat" pitchFamily="34" charset="0"/>
                <a:ea typeface="Montserrat" pitchFamily="34" charset="-122"/>
                <a:cs typeface="Montserrat" pitchFamily="34" charset="-120"/>
              </a:rPr>
              <a:t>01</a:t>
            </a:r>
            <a:endParaRPr lang="en-US" sz="2400" dirty="0"/>
          </a:p>
        </p:txBody>
      </p:sp>
      <p:sp>
        <p:nvSpPr>
          <p:cNvPr id="13" name="Text 11"/>
          <p:cNvSpPr/>
          <p:nvPr/>
        </p:nvSpPr>
        <p:spPr>
          <a:xfrm>
            <a:off x="722376" y="1682496"/>
            <a:ext cx="2835554" cy="201168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Isso inclui desde mudanças no comportamento do consumidor até a detecção de fraudes.</a:t>
            </a:r>
            <a:endParaRPr lang="en-US" sz="1300" dirty="0"/>
          </a:p>
        </p:txBody>
      </p:sp>
      <p:sp>
        <p:nvSpPr>
          <p:cNvPr id="14" name="Shape 12"/>
          <p:cNvSpPr/>
          <p:nvPr/>
        </p:nvSpPr>
        <p:spPr>
          <a:xfrm>
            <a:off x="4390034" y="1572768"/>
            <a:ext cx="3603650" cy="2286000"/>
          </a:xfrm>
          <a:prstGeom prst="roundRect">
            <a:avLst>
              <a:gd name="adj" fmla="val 4000"/>
            </a:avLst>
          </a:prstGeom>
          <a:solidFill>
            <a:srgbClr val="000000"/>
          </a:solidFill>
          <a:ln/>
        </p:spPr>
      </p:sp>
      <p:sp>
        <p:nvSpPr>
          <p:cNvPr id="15" name="Shape 13"/>
          <p:cNvSpPr/>
          <p:nvPr/>
        </p:nvSpPr>
        <p:spPr>
          <a:xfrm>
            <a:off x="4362602" y="1536192"/>
            <a:ext cx="3603650" cy="2286000"/>
          </a:xfrm>
          <a:prstGeom prst="roundRect">
            <a:avLst>
              <a:gd name="adj" fmla="val 4000"/>
            </a:avLst>
          </a:prstGeom>
          <a:solidFill>
            <a:srgbClr val="141E34"/>
          </a:solidFill>
          <a:ln/>
        </p:spPr>
      </p:sp>
      <p:sp>
        <p:nvSpPr>
          <p:cNvPr id="16" name="Shape 14"/>
          <p:cNvSpPr/>
          <p:nvPr/>
        </p:nvSpPr>
        <p:spPr>
          <a:xfrm>
            <a:off x="4362602" y="1536192"/>
            <a:ext cx="3603650" cy="45720"/>
          </a:xfrm>
          <a:prstGeom prst="rect">
            <a:avLst>
              <a:gd name="adj" fmla="val 200000"/>
            </a:avLst>
          </a:prstGeom>
          <a:solidFill>
            <a:srgbClr val="3B82F6"/>
          </a:solidFill>
          <a:ln/>
        </p:spPr>
      </p:sp>
      <p:sp>
        <p:nvSpPr>
          <p:cNvPr id="17" name="Text 15"/>
          <p:cNvSpPr/>
          <p:nvPr/>
        </p:nvSpPr>
        <p:spPr>
          <a:xfrm>
            <a:off x="7371893" y="1627632"/>
            <a:ext cx="502920" cy="365760"/>
          </a:xfrm>
          <a:prstGeom prst="rect">
            <a:avLst/>
          </a:prstGeom>
          <a:noFill/>
          <a:ln/>
        </p:spPr>
        <p:txBody>
          <a:bodyPr wrap="square" rtlCol="0" anchor="ctr"/>
          <a:lstStyle/>
          <a:p>
            <a:pPr algn="r" indent="0" marL="0">
              <a:buNone/>
            </a:pPr>
            <a:r>
              <a:rPr lang="en-US" sz="2400" b="1" dirty="0">
                <a:solidFill>
                  <a:srgbClr val="3B82F6">
                    <a:alpha val="75000"/>
                  </a:srgbClr>
                </a:solidFill>
                <a:latin typeface="Montserrat" pitchFamily="34" charset="0"/>
                <a:ea typeface="Montserrat" pitchFamily="34" charset="-122"/>
                <a:cs typeface="Montserrat" pitchFamily="34" charset="-120"/>
              </a:rPr>
              <a:t>02</a:t>
            </a:r>
            <a:endParaRPr lang="en-US" sz="2400" dirty="0"/>
          </a:p>
        </p:txBody>
      </p:sp>
      <p:sp>
        <p:nvSpPr>
          <p:cNvPr id="18" name="Text 16"/>
          <p:cNvSpPr/>
          <p:nvPr/>
        </p:nvSpPr>
        <p:spPr>
          <a:xfrm>
            <a:off x="4490618" y="1682496"/>
            <a:ext cx="2835554" cy="201168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Algoritmos de IA são projetados para encontrar regularidades e anomalias nos dados.</a:t>
            </a:r>
            <a:endParaRPr lang="en-US" sz="1300" dirty="0"/>
          </a:p>
        </p:txBody>
      </p:sp>
      <p:sp>
        <p:nvSpPr>
          <p:cNvPr id="19" name="Shape 17"/>
          <p:cNvSpPr/>
          <p:nvPr/>
        </p:nvSpPr>
        <p:spPr>
          <a:xfrm>
            <a:off x="8158277" y="1572768"/>
            <a:ext cx="3603650" cy="2286000"/>
          </a:xfrm>
          <a:prstGeom prst="roundRect">
            <a:avLst>
              <a:gd name="adj" fmla="val 4000"/>
            </a:avLst>
          </a:prstGeom>
          <a:solidFill>
            <a:srgbClr val="000000"/>
          </a:solidFill>
          <a:ln/>
        </p:spPr>
      </p:sp>
      <p:sp>
        <p:nvSpPr>
          <p:cNvPr id="20" name="Shape 18"/>
          <p:cNvSpPr/>
          <p:nvPr/>
        </p:nvSpPr>
        <p:spPr>
          <a:xfrm>
            <a:off x="8130845" y="1536192"/>
            <a:ext cx="3603650" cy="2286000"/>
          </a:xfrm>
          <a:prstGeom prst="roundRect">
            <a:avLst>
              <a:gd name="adj" fmla="val 4000"/>
            </a:avLst>
          </a:prstGeom>
          <a:solidFill>
            <a:srgbClr val="141E34"/>
          </a:solidFill>
          <a:ln/>
        </p:spPr>
      </p:sp>
      <p:sp>
        <p:nvSpPr>
          <p:cNvPr id="21" name="Shape 19"/>
          <p:cNvSpPr/>
          <p:nvPr/>
        </p:nvSpPr>
        <p:spPr>
          <a:xfrm>
            <a:off x="8130845" y="1536192"/>
            <a:ext cx="3603650" cy="45720"/>
          </a:xfrm>
          <a:prstGeom prst="rect">
            <a:avLst>
              <a:gd name="adj" fmla="val 200000"/>
            </a:avLst>
          </a:prstGeom>
          <a:solidFill>
            <a:srgbClr val="10B981"/>
          </a:solidFill>
          <a:ln/>
        </p:spPr>
      </p:sp>
      <p:sp>
        <p:nvSpPr>
          <p:cNvPr id="22" name="Text 20"/>
          <p:cNvSpPr/>
          <p:nvPr/>
        </p:nvSpPr>
        <p:spPr>
          <a:xfrm>
            <a:off x="11140135" y="1627632"/>
            <a:ext cx="502920" cy="365760"/>
          </a:xfrm>
          <a:prstGeom prst="rect">
            <a:avLst/>
          </a:prstGeom>
          <a:noFill/>
          <a:ln/>
        </p:spPr>
        <p:txBody>
          <a:bodyPr wrap="square" rtlCol="0" anchor="ctr"/>
          <a:lstStyle/>
          <a:p>
            <a:pPr algn="r" indent="0" marL="0">
              <a:buNone/>
            </a:pPr>
            <a:r>
              <a:rPr lang="en-US" sz="2400" b="1" dirty="0">
                <a:solidFill>
                  <a:srgbClr val="10B981">
                    <a:alpha val="75000"/>
                  </a:srgbClr>
                </a:solidFill>
                <a:latin typeface="Montserrat" pitchFamily="34" charset="0"/>
                <a:ea typeface="Montserrat" pitchFamily="34" charset="-122"/>
                <a:cs typeface="Montserrat" pitchFamily="34" charset="-120"/>
              </a:rPr>
              <a:t>03</a:t>
            </a:r>
            <a:endParaRPr lang="en-US" sz="2400" dirty="0"/>
          </a:p>
        </p:txBody>
      </p:sp>
      <p:sp>
        <p:nvSpPr>
          <p:cNvPr id="23" name="Text 21"/>
          <p:cNvSpPr/>
          <p:nvPr/>
        </p:nvSpPr>
        <p:spPr>
          <a:xfrm>
            <a:off x="8258861" y="1682496"/>
            <a:ext cx="2835554" cy="201168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Algoritmos de IA preveem a sazonalidade de produtos com base em históricos.</a:t>
            </a:r>
            <a:endParaRPr lang="en-US" sz="1300" dirty="0"/>
          </a:p>
        </p:txBody>
      </p:sp>
      <p:sp>
        <p:nvSpPr>
          <p:cNvPr id="24" name="Shape 22"/>
          <p:cNvSpPr/>
          <p:nvPr/>
        </p:nvSpPr>
        <p:spPr>
          <a:xfrm>
            <a:off x="621792" y="4023360"/>
            <a:ext cx="3603650" cy="2286000"/>
          </a:xfrm>
          <a:prstGeom prst="roundRect">
            <a:avLst>
              <a:gd name="adj" fmla="val 4000"/>
            </a:avLst>
          </a:prstGeom>
          <a:solidFill>
            <a:srgbClr val="000000"/>
          </a:solidFill>
          <a:ln/>
        </p:spPr>
      </p:sp>
      <p:sp>
        <p:nvSpPr>
          <p:cNvPr id="25" name="Shape 23"/>
          <p:cNvSpPr/>
          <p:nvPr/>
        </p:nvSpPr>
        <p:spPr>
          <a:xfrm>
            <a:off x="594360" y="3986784"/>
            <a:ext cx="3603650" cy="2286000"/>
          </a:xfrm>
          <a:prstGeom prst="roundRect">
            <a:avLst>
              <a:gd name="adj" fmla="val 4000"/>
            </a:avLst>
          </a:prstGeom>
          <a:solidFill>
            <a:srgbClr val="141E34"/>
          </a:solidFill>
          <a:ln/>
        </p:spPr>
      </p:sp>
      <p:sp>
        <p:nvSpPr>
          <p:cNvPr id="26" name="Shape 24"/>
          <p:cNvSpPr/>
          <p:nvPr/>
        </p:nvSpPr>
        <p:spPr>
          <a:xfrm>
            <a:off x="594360" y="3986784"/>
            <a:ext cx="3603650" cy="45720"/>
          </a:xfrm>
          <a:prstGeom prst="rect">
            <a:avLst>
              <a:gd name="adj" fmla="val 200000"/>
            </a:avLst>
          </a:prstGeom>
          <a:solidFill>
            <a:srgbClr val="F59E0B"/>
          </a:solidFill>
          <a:ln/>
        </p:spPr>
      </p:sp>
      <p:sp>
        <p:nvSpPr>
          <p:cNvPr id="27" name="Text 25"/>
          <p:cNvSpPr/>
          <p:nvPr/>
        </p:nvSpPr>
        <p:spPr>
          <a:xfrm>
            <a:off x="3603650" y="4078224"/>
            <a:ext cx="502920" cy="365760"/>
          </a:xfrm>
          <a:prstGeom prst="rect">
            <a:avLst/>
          </a:prstGeom>
          <a:noFill/>
          <a:ln/>
        </p:spPr>
        <p:txBody>
          <a:bodyPr wrap="square" rtlCol="0" anchor="ctr"/>
          <a:lstStyle/>
          <a:p>
            <a:pPr algn="r" indent="0" marL="0">
              <a:buNone/>
            </a:pPr>
            <a:r>
              <a:rPr lang="en-US" sz="2400" b="1" dirty="0">
                <a:solidFill>
                  <a:srgbClr val="F59E0B">
                    <a:alpha val="75000"/>
                  </a:srgbClr>
                </a:solidFill>
                <a:latin typeface="Montserrat" pitchFamily="34" charset="0"/>
                <a:ea typeface="Montserrat" pitchFamily="34" charset="-122"/>
                <a:cs typeface="Montserrat" pitchFamily="34" charset="-120"/>
              </a:rPr>
              <a:t>04</a:t>
            </a:r>
            <a:endParaRPr lang="en-US" sz="2400" dirty="0"/>
          </a:p>
        </p:txBody>
      </p:sp>
      <p:sp>
        <p:nvSpPr>
          <p:cNvPr id="28" name="Text 26"/>
          <p:cNvSpPr/>
          <p:nvPr/>
        </p:nvSpPr>
        <p:spPr>
          <a:xfrm>
            <a:off x="722376" y="4133088"/>
            <a:ext cx="2835554" cy="201168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Em marketing, a IA identifica padrões de engajamento em plataformas digitais.</a:t>
            </a:r>
            <a:endParaRPr lang="en-US" sz="1300" dirty="0"/>
          </a:p>
        </p:txBody>
      </p:sp>
      <p:sp>
        <p:nvSpPr>
          <p:cNvPr id="29" name="Shape 27"/>
          <p:cNvSpPr/>
          <p:nvPr/>
        </p:nvSpPr>
        <p:spPr>
          <a:xfrm>
            <a:off x="4390034" y="4023360"/>
            <a:ext cx="3603650" cy="2286000"/>
          </a:xfrm>
          <a:prstGeom prst="roundRect">
            <a:avLst>
              <a:gd name="adj" fmla="val 4000"/>
            </a:avLst>
          </a:prstGeom>
          <a:solidFill>
            <a:srgbClr val="000000"/>
          </a:solidFill>
          <a:ln/>
        </p:spPr>
      </p:sp>
      <p:sp>
        <p:nvSpPr>
          <p:cNvPr id="30" name="Shape 28"/>
          <p:cNvSpPr/>
          <p:nvPr/>
        </p:nvSpPr>
        <p:spPr>
          <a:xfrm>
            <a:off x="4362602" y="3986784"/>
            <a:ext cx="3603650" cy="2286000"/>
          </a:xfrm>
          <a:prstGeom prst="roundRect">
            <a:avLst>
              <a:gd name="adj" fmla="val 4000"/>
            </a:avLst>
          </a:prstGeom>
          <a:solidFill>
            <a:srgbClr val="141E34"/>
          </a:solidFill>
          <a:ln/>
        </p:spPr>
      </p:sp>
      <p:sp>
        <p:nvSpPr>
          <p:cNvPr id="31" name="Shape 29"/>
          <p:cNvSpPr/>
          <p:nvPr/>
        </p:nvSpPr>
        <p:spPr>
          <a:xfrm>
            <a:off x="4362602" y="3986784"/>
            <a:ext cx="3603650" cy="45720"/>
          </a:xfrm>
          <a:prstGeom prst="rect">
            <a:avLst>
              <a:gd name="adj" fmla="val 200000"/>
            </a:avLst>
          </a:prstGeom>
          <a:solidFill>
            <a:srgbClr val="06B6D4"/>
          </a:solidFill>
          <a:ln/>
        </p:spPr>
      </p:sp>
      <p:sp>
        <p:nvSpPr>
          <p:cNvPr id="32" name="Text 30"/>
          <p:cNvSpPr/>
          <p:nvPr/>
        </p:nvSpPr>
        <p:spPr>
          <a:xfrm>
            <a:off x="7371893" y="4078224"/>
            <a:ext cx="502920" cy="365760"/>
          </a:xfrm>
          <a:prstGeom prst="rect">
            <a:avLst/>
          </a:prstGeom>
          <a:noFill/>
          <a:ln/>
        </p:spPr>
        <p:txBody>
          <a:bodyPr wrap="square" rtlCol="0" anchor="ctr"/>
          <a:lstStyle/>
          <a:p>
            <a:pPr algn="r" indent="0" marL="0">
              <a:buNone/>
            </a:pPr>
            <a:r>
              <a:rPr lang="en-US" sz="2400" b="1" dirty="0">
                <a:solidFill>
                  <a:srgbClr val="06B6D4">
                    <a:alpha val="75000"/>
                  </a:srgbClr>
                </a:solidFill>
                <a:latin typeface="Montserrat" pitchFamily="34" charset="0"/>
                <a:ea typeface="Montserrat" pitchFamily="34" charset="-122"/>
                <a:cs typeface="Montserrat" pitchFamily="34" charset="-120"/>
              </a:rPr>
              <a:t>05</a:t>
            </a:r>
            <a:endParaRPr lang="en-US" sz="2400" dirty="0"/>
          </a:p>
        </p:txBody>
      </p:sp>
      <p:sp>
        <p:nvSpPr>
          <p:cNvPr id="33" name="Text 31"/>
          <p:cNvSpPr/>
          <p:nvPr/>
        </p:nvSpPr>
        <p:spPr>
          <a:xfrm>
            <a:off x="4490618" y="4133088"/>
            <a:ext cx="2835554" cy="201168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A detecção de desvios em padrões normais indica problemas ou oportunidades.</a:t>
            </a:r>
            <a:endParaRPr lang="en-US" sz="1300" dirty="0"/>
          </a:p>
        </p:txBody>
      </p:sp>
      <p:sp>
        <p:nvSpPr>
          <p:cNvPr id="34" name="Shape 32"/>
          <p:cNvSpPr/>
          <p:nvPr/>
        </p:nvSpPr>
        <p:spPr>
          <a:xfrm>
            <a:off x="0" y="6601968"/>
            <a:ext cx="2041093" cy="4572"/>
          </a:xfrm>
          <a:prstGeom prst="rect">
            <a:avLst/>
          </a:prstGeom>
          <a:solidFill>
            <a:srgbClr val="6C63FF"/>
          </a:solidFill>
          <a:ln/>
        </p:spPr>
      </p:sp>
      <p:sp>
        <p:nvSpPr>
          <p:cNvPr id="35" name="Shape 33"/>
          <p:cNvSpPr/>
          <p:nvPr/>
        </p:nvSpPr>
        <p:spPr>
          <a:xfrm>
            <a:off x="2031949" y="6601968"/>
            <a:ext cx="2041093" cy="4572"/>
          </a:xfrm>
          <a:prstGeom prst="rect">
            <a:avLst/>
          </a:prstGeom>
          <a:solidFill>
            <a:srgbClr val="6C63FF"/>
          </a:solidFill>
          <a:ln/>
        </p:spPr>
      </p:sp>
      <p:sp>
        <p:nvSpPr>
          <p:cNvPr id="36" name="Shape 34"/>
          <p:cNvSpPr/>
          <p:nvPr/>
        </p:nvSpPr>
        <p:spPr>
          <a:xfrm>
            <a:off x="4063898" y="6601968"/>
            <a:ext cx="2041093" cy="4572"/>
          </a:xfrm>
          <a:prstGeom prst="rect">
            <a:avLst/>
          </a:prstGeom>
          <a:solidFill>
            <a:srgbClr val="6C63FF"/>
          </a:solidFill>
          <a:ln/>
        </p:spPr>
      </p:sp>
      <p:sp>
        <p:nvSpPr>
          <p:cNvPr id="37" name="Shape 35"/>
          <p:cNvSpPr/>
          <p:nvPr/>
        </p:nvSpPr>
        <p:spPr>
          <a:xfrm>
            <a:off x="6095848" y="6601968"/>
            <a:ext cx="2041093" cy="4572"/>
          </a:xfrm>
          <a:prstGeom prst="rect">
            <a:avLst/>
          </a:prstGeom>
          <a:solidFill>
            <a:srgbClr val="6C63FF"/>
          </a:solidFill>
          <a:ln/>
        </p:spPr>
      </p:sp>
      <p:sp>
        <p:nvSpPr>
          <p:cNvPr id="38" name="Shape 36"/>
          <p:cNvSpPr/>
          <p:nvPr/>
        </p:nvSpPr>
        <p:spPr>
          <a:xfrm>
            <a:off x="8127797" y="6601968"/>
            <a:ext cx="2041093" cy="4572"/>
          </a:xfrm>
          <a:prstGeom prst="rect">
            <a:avLst/>
          </a:prstGeom>
          <a:solidFill>
            <a:srgbClr val="6C63FF"/>
          </a:solidFill>
          <a:ln/>
        </p:spPr>
      </p:sp>
      <p:sp>
        <p:nvSpPr>
          <p:cNvPr id="39" name="Shape 37"/>
          <p:cNvSpPr/>
          <p:nvPr/>
        </p:nvSpPr>
        <p:spPr>
          <a:xfrm>
            <a:off x="10159746" y="6601968"/>
            <a:ext cx="2041093" cy="4572"/>
          </a:xfrm>
          <a:prstGeom prst="rect">
            <a:avLst/>
          </a:prstGeom>
          <a:solidFill>
            <a:srgbClr val="6C63FF"/>
          </a:solidFill>
          <a:ln/>
        </p:spPr>
      </p:sp>
      <p:sp>
        <p:nvSpPr>
          <p:cNvPr id="40" name="Shape 38"/>
          <p:cNvSpPr/>
          <p:nvPr/>
        </p:nvSpPr>
        <p:spPr>
          <a:xfrm>
            <a:off x="0" y="6606540"/>
            <a:ext cx="12191695" cy="2743"/>
          </a:xfrm>
          <a:prstGeom prst="rect">
            <a:avLst/>
          </a:prstGeom>
          <a:solidFill>
            <a:srgbClr val="222E48"/>
          </a:solidFill>
          <a:ln/>
        </p:spPr>
      </p:sp>
      <p:sp>
        <p:nvSpPr>
          <p:cNvPr id="41" name="Text 39"/>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42" name="Shape 40"/>
          <p:cNvSpPr/>
          <p:nvPr/>
        </p:nvSpPr>
        <p:spPr>
          <a:xfrm>
            <a:off x="10436047" y="6693408"/>
            <a:ext cx="73152" cy="73152"/>
          </a:xfrm>
          <a:prstGeom prst="ellipse">
            <a:avLst/>
          </a:prstGeom>
          <a:solidFill>
            <a:srgbClr val="6C63FF"/>
          </a:solidFill>
          <a:ln/>
        </p:spPr>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Shape 1"/>
          <p:cNvSpPr/>
          <p:nvPr/>
        </p:nvSpPr>
        <p:spPr>
          <a:xfrm>
            <a:off x="64008" y="0"/>
            <a:ext cx="18288" cy="6858000"/>
          </a:xfrm>
          <a:prstGeom prst="rect">
            <a:avLst/>
          </a:prstGeom>
          <a:solidFill>
            <a:srgbClr val="10B981"/>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10B981"/>
                </a:solidFill>
                <a:latin typeface="Open Sans" pitchFamily="34" charset="0"/>
                <a:ea typeface="Open Sans" pitchFamily="34" charset="-122"/>
                <a:cs typeface="Open Sans" pitchFamily="34" charset="-120"/>
              </a:rPr>
              <a:t>APLICAÇÕES REAIS</a:t>
            </a:r>
            <a:endParaRPr lang="en-US" sz="900" dirty="0"/>
          </a:p>
        </p:txBody>
      </p:sp>
      <p:sp>
        <p:nvSpPr>
          <p:cNvPr id="5" name="Shape 3"/>
          <p:cNvSpPr/>
          <p:nvPr/>
        </p:nvSpPr>
        <p:spPr>
          <a:xfrm>
            <a:off x="502920" y="493776"/>
            <a:ext cx="640080" cy="21946"/>
          </a:xfrm>
          <a:prstGeom prst="rect">
            <a:avLst/>
          </a:prstGeom>
          <a:solidFill>
            <a:srgbClr val="10B981"/>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Aplicações reais</a:t>
            </a:r>
            <a:endParaRPr lang="en-US" sz="2800" dirty="0"/>
          </a:p>
        </p:txBody>
      </p:sp>
      <p:sp>
        <p:nvSpPr>
          <p:cNvPr id="7" name="Shape 5"/>
          <p:cNvSpPr/>
          <p:nvPr/>
        </p:nvSpPr>
        <p:spPr>
          <a:xfrm>
            <a:off x="502920" y="1389888"/>
            <a:ext cx="11185855" cy="7315"/>
          </a:xfrm>
          <a:prstGeom prst="rect">
            <a:avLst/>
          </a:prstGeom>
          <a:solidFill>
            <a:srgbClr val="10B981"/>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621792" y="1572768"/>
            <a:ext cx="11140135" cy="1188720"/>
          </a:xfrm>
          <a:prstGeom prst="roundRect">
            <a:avLst>
              <a:gd name="adj" fmla="val 7692"/>
            </a:avLst>
          </a:prstGeom>
          <a:solidFill>
            <a:srgbClr val="000000"/>
          </a:solidFill>
          <a:ln/>
        </p:spPr>
      </p:sp>
      <p:sp>
        <p:nvSpPr>
          <p:cNvPr id="10" name="Shape 8"/>
          <p:cNvSpPr/>
          <p:nvPr/>
        </p:nvSpPr>
        <p:spPr>
          <a:xfrm>
            <a:off x="594360" y="1536192"/>
            <a:ext cx="11140135" cy="1188720"/>
          </a:xfrm>
          <a:prstGeom prst="roundRect">
            <a:avLst>
              <a:gd name="adj" fmla="val 7692"/>
            </a:avLst>
          </a:prstGeom>
          <a:solidFill>
            <a:srgbClr val="050A18"/>
          </a:solidFill>
          <a:ln/>
        </p:spPr>
      </p:sp>
      <p:sp>
        <p:nvSpPr>
          <p:cNvPr id="11" name="Shape 9"/>
          <p:cNvSpPr/>
          <p:nvPr/>
        </p:nvSpPr>
        <p:spPr>
          <a:xfrm>
            <a:off x="594360" y="1536192"/>
            <a:ext cx="54864" cy="1188720"/>
          </a:xfrm>
          <a:prstGeom prst="rect">
            <a:avLst>
              <a:gd name="adj" fmla="val 166667"/>
            </a:avLst>
          </a:prstGeom>
          <a:solidFill>
            <a:srgbClr val="10B981"/>
          </a:solidFill>
          <a:ln/>
        </p:spPr>
      </p:sp>
      <p:sp>
        <p:nvSpPr>
          <p:cNvPr id="12" name="Text 10"/>
          <p:cNvSpPr/>
          <p:nvPr/>
        </p:nvSpPr>
        <p:spPr>
          <a:xfrm>
            <a:off x="685800" y="1444752"/>
            <a:ext cx="457200" cy="548640"/>
          </a:xfrm>
          <a:prstGeom prst="rect">
            <a:avLst/>
          </a:prstGeom>
          <a:noFill/>
          <a:ln/>
        </p:spPr>
        <p:txBody>
          <a:bodyPr wrap="square" rtlCol="0" anchor="ctr"/>
          <a:lstStyle/>
          <a:p>
            <a:pPr indent="0" marL="0">
              <a:buNone/>
            </a:pPr>
            <a:r>
              <a:rPr lang="en-US" sz="4800" b="1" dirty="0">
                <a:solidFill>
                  <a:srgbClr val="10B981">
                    <a:alpha val="75000"/>
                  </a:srgbClr>
                </a:solidFill>
                <a:latin typeface="Montserrat" pitchFamily="34" charset="0"/>
                <a:ea typeface="Montserrat" pitchFamily="34" charset="-122"/>
                <a:cs typeface="Montserrat" pitchFamily="34" charset="-120"/>
              </a:rPr>
              <a:t>“</a:t>
            </a:r>
            <a:endParaRPr lang="en-US" sz="4800" dirty="0"/>
          </a:p>
        </p:txBody>
      </p:sp>
      <p:sp>
        <p:nvSpPr>
          <p:cNvPr id="13" name="Text 11"/>
          <p:cNvSpPr/>
          <p:nvPr/>
        </p:nvSpPr>
        <p:spPr>
          <a:xfrm>
            <a:off x="868680" y="1572768"/>
            <a:ext cx="10682935" cy="1097280"/>
          </a:xfrm>
          <a:prstGeom prst="rect">
            <a:avLst/>
          </a:prstGeom>
          <a:noFill/>
          <a:ln/>
        </p:spPr>
        <p:txBody>
          <a:bodyPr wrap="square" rtlCol="0" anchor="ctr"/>
          <a:lstStyle/>
          <a:p>
            <a:pPr indent="0" marL="0">
              <a:lnSpc>
                <a:spcPct val="135000"/>
              </a:lnSpc>
              <a:buNone/>
            </a:pPr>
            <a:r>
              <a:rPr lang="en-US" sz="1900" i="1" dirty="0">
                <a:solidFill>
                  <a:srgbClr val="FFFFFF"/>
                </a:solidFill>
                <a:latin typeface="Open Sans" pitchFamily="34" charset="0"/>
                <a:ea typeface="Open Sans" pitchFamily="34" charset="-122"/>
                <a:cs typeface="Open Sans" pitchFamily="34" charset="-120"/>
              </a:rPr>
              <a:t>O reconhecimento facial em vídeos de segurança é um exemplo de identificação visual.</a:t>
            </a:r>
            <a:endParaRPr lang="en-US" sz="1900" dirty="0"/>
          </a:p>
        </p:txBody>
      </p:sp>
      <p:sp>
        <p:nvSpPr>
          <p:cNvPr id="14" name="Shape 12"/>
          <p:cNvSpPr/>
          <p:nvPr/>
        </p:nvSpPr>
        <p:spPr>
          <a:xfrm>
            <a:off x="621792" y="2980944"/>
            <a:ext cx="2110984" cy="3502152"/>
          </a:xfrm>
          <a:prstGeom prst="roundRect">
            <a:avLst>
              <a:gd name="adj" fmla="val 4332"/>
            </a:avLst>
          </a:prstGeom>
          <a:solidFill>
            <a:srgbClr val="000000"/>
          </a:solidFill>
          <a:ln/>
        </p:spPr>
      </p:sp>
      <p:sp>
        <p:nvSpPr>
          <p:cNvPr id="15" name="Shape 13"/>
          <p:cNvSpPr/>
          <p:nvPr/>
        </p:nvSpPr>
        <p:spPr>
          <a:xfrm>
            <a:off x="594360" y="2944368"/>
            <a:ext cx="2110984" cy="3502152"/>
          </a:xfrm>
          <a:prstGeom prst="roundRect">
            <a:avLst>
              <a:gd name="adj" fmla="val 3465"/>
            </a:avLst>
          </a:prstGeom>
          <a:solidFill>
            <a:srgbClr val="141E34"/>
          </a:solidFill>
          <a:ln/>
        </p:spPr>
      </p:sp>
      <p:sp>
        <p:nvSpPr>
          <p:cNvPr id="16" name="Shape 14"/>
          <p:cNvSpPr/>
          <p:nvPr/>
        </p:nvSpPr>
        <p:spPr>
          <a:xfrm>
            <a:off x="594360" y="2944368"/>
            <a:ext cx="2110984" cy="45720"/>
          </a:xfrm>
          <a:prstGeom prst="rect">
            <a:avLst>
              <a:gd name="adj" fmla="val 160000"/>
            </a:avLst>
          </a:prstGeom>
          <a:solidFill>
            <a:srgbClr val="6C63FF"/>
          </a:solidFill>
          <a:ln/>
        </p:spPr>
      </p:sp>
      <p:sp>
        <p:nvSpPr>
          <p:cNvPr id="17" name="Shape 15"/>
          <p:cNvSpPr/>
          <p:nvPr/>
        </p:nvSpPr>
        <p:spPr>
          <a:xfrm>
            <a:off x="685800" y="3072384"/>
            <a:ext cx="310896" cy="310896"/>
          </a:xfrm>
          <a:prstGeom prst="roundRect">
            <a:avLst>
              <a:gd name="adj" fmla="val 17647"/>
            </a:avLst>
          </a:prstGeom>
          <a:solidFill>
            <a:srgbClr val="6C63FF"/>
          </a:solidFill>
          <a:ln/>
        </p:spPr>
      </p:sp>
      <p:sp>
        <p:nvSpPr>
          <p:cNvPr id="18" name="Text 16"/>
          <p:cNvSpPr/>
          <p:nvPr/>
        </p:nvSpPr>
        <p:spPr>
          <a:xfrm>
            <a:off x="685800" y="3072384"/>
            <a:ext cx="310896" cy="310896"/>
          </a:xfrm>
          <a:prstGeom prst="rect">
            <a:avLst/>
          </a:prstGeom>
          <a:noFill/>
          <a:ln/>
        </p:spPr>
        <p:txBody>
          <a:bodyPr wrap="square"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2</a:t>
            </a:r>
            <a:endParaRPr lang="en-US" sz="1500" dirty="0"/>
          </a:p>
        </p:txBody>
      </p:sp>
      <p:sp>
        <p:nvSpPr>
          <p:cNvPr id="19" name="Text 17"/>
          <p:cNvSpPr/>
          <p:nvPr/>
        </p:nvSpPr>
        <p:spPr>
          <a:xfrm>
            <a:off x="722376" y="3447288"/>
            <a:ext cx="1854952" cy="2953512"/>
          </a:xfrm>
          <a:prstGeom prst="rect">
            <a:avLst/>
          </a:prstGeom>
          <a:noFill/>
          <a:ln/>
        </p:spPr>
        <p:txBody>
          <a:bodyPr wrap="square" rtlCol="0" anchor="t"/>
          <a:lstStyle/>
          <a:p>
            <a:pPr indent="0" marL="0">
              <a:lnSpc>
                <a:spcPct val="122000"/>
              </a:lnSpc>
              <a:buNone/>
            </a:pPr>
            <a:r>
              <a:rPr lang="en-US" sz="1300" dirty="0">
                <a:solidFill>
                  <a:srgbClr val="E8EDF5"/>
                </a:solidFill>
                <a:latin typeface="Open Sans" pitchFamily="34" charset="0"/>
                <a:ea typeface="Open Sans" pitchFamily="34" charset="-122"/>
                <a:cs typeface="Open Sans" pitchFamily="34" charset="-120"/>
              </a:rPr>
              <a:t>A Inteligência Artificial não apenas analisa o passado, mas também projeta o futuro (análise preditiva).</a:t>
            </a:r>
            <a:endParaRPr lang="en-US" sz="1300" dirty="0"/>
          </a:p>
        </p:txBody>
      </p:sp>
      <p:sp>
        <p:nvSpPr>
          <p:cNvPr id="20" name="Shape 18"/>
          <p:cNvSpPr/>
          <p:nvPr/>
        </p:nvSpPr>
        <p:spPr>
          <a:xfrm>
            <a:off x="2879080" y="2980944"/>
            <a:ext cx="2110984" cy="3502152"/>
          </a:xfrm>
          <a:prstGeom prst="roundRect">
            <a:avLst>
              <a:gd name="adj" fmla="val 4332"/>
            </a:avLst>
          </a:prstGeom>
          <a:solidFill>
            <a:srgbClr val="000000"/>
          </a:solidFill>
          <a:ln/>
        </p:spPr>
      </p:sp>
      <p:sp>
        <p:nvSpPr>
          <p:cNvPr id="21" name="Shape 19"/>
          <p:cNvSpPr/>
          <p:nvPr/>
        </p:nvSpPr>
        <p:spPr>
          <a:xfrm>
            <a:off x="2851648" y="2944368"/>
            <a:ext cx="2110984" cy="3502152"/>
          </a:xfrm>
          <a:prstGeom prst="roundRect">
            <a:avLst>
              <a:gd name="adj" fmla="val 3465"/>
            </a:avLst>
          </a:prstGeom>
          <a:solidFill>
            <a:srgbClr val="141E34"/>
          </a:solidFill>
          <a:ln/>
        </p:spPr>
      </p:sp>
      <p:sp>
        <p:nvSpPr>
          <p:cNvPr id="22" name="Shape 20"/>
          <p:cNvSpPr/>
          <p:nvPr/>
        </p:nvSpPr>
        <p:spPr>
          <a:xfrm>
            <a:off x="2851648" y="2944368"/>
            <a:ext cx="2110984" cy="45720"/>
          </a:xfrm>
          <a:prstGeom prst="rect">
            <a:avLst>
              <a:gd name="adj" fmla="val 160000"/>
            </a:avLst>
          </a:prstGeom>
          <a:solidFill>
            <a:srgbClr val="3B82F6"/>
          </a:solidFill>
          <a:ln/>
        </p:spPr>
      </p:sp>
      <p:sp>
        <p:nvSpPr>
          <p:cNvPr id="23" name="Shape 21"/>
          <p:cNvSpPr/>
          <p:nvPr/>
        </p:nvSpPr>
        <p:spPr>
          <a:xfrm>
            <a:off x="2943088" y="3072384"/>
            <a:ext cx="310896" cy="310896"/>
          </a:xfrm>
          <a:prstGeom prst="roundRect">
            <a:avLst>
              <a:gd name="adj" fmla="val 17647"/>
            </a:avLst>
          </a:prstGeom>
          <a:solidFill>
            <a:srgbClr val="3B82F6"/>
          </a:solidFill>
          <a:ln/>
        </p:spPr>
      </p:sp>
      <p:sp>
        <p:nvSpPr>
          <p:cNvPr id="24" name="Text 22"/>
          <p:cNvSpPr/>
          <p:nvPr/>
        </p:nvSpPr>
        <p:spPr>
          <a:xfrm>
            <a:off x="2943088" y="3072384"/>
            <a:ext cx="310896" cy="310896"/>
          </a:xfrm>
          <a:prstGeom prst="rect">
            <a:avLst/>
          </a:prstGeom>
          <a:noFill/>
          <a:ln/>
        </p:spPr>
        <p:txBody>
          <a:bodyPr wrap="square"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3</a:t>
            </a:r>
            <a:endParaRPr lang="en-US" sz="1500" dirty="0"/>
          </a:p>
        </p:txBody>
      </p:sp>
      <p:sp>
        <p:nvSpPr>
          <p:cNvPr id="25" name="Text 23"/>
          <p:cNvSpPr/>
          <p:nvPr/>
        </p:nvSpPr>
        <p:spPr>
          <a:xfrm>
            <a:off x="2979664" y="3447288"/>
            <a:ext cx="1854952" cy="2953512"/>
          </a:xfrm>
          <a:prstGeom prst="rect">
            <a:avLst/>
          </a:prstGeom>
          <a:noFill/>
          <a:ln/>
        </p:spPr>
        <p:txBody>
          <a:bodyPr wrap="square" rtlCol="0" anchor="t"/>
          <a:lstStyle/>
          <a:p>
            <a:pPr indent="0" marL="0">
              <a:lnSpc>
                <a:spcPct val="122000"/>
              </a:lnSpc>
              <a:buNone/>
            </a:pPr>
            <a:r>
              <a:rPr lang="en-US" sz="1300" dirty="0">
                <a:solidFill>
                  <a:srgbClr val="E8EDF5"/>
                </a:solidFill>
                <a:latin typeface="Open Sans" pitchFamily="34" charset="0"/>
                <a:ea typeface="Open Sans" pitchFamily="34" charset="-122"/>
                <a:cs typeface="Open Sans" pitchFamily="34" charset="-120"/>
              </a:rPr>
              <a:t>Isso é crucial para o planejamento estratégico e a tomada de decisões proativas.</a:t>
            </a:r>
            <a:endParaRPr lang="en-US" sz="1300" dirty="0"/>
          </a:p>
        </p:txBody>
      </p:sp>
      <p:sp>
        <p:nvSpPr>
          <p:cNvPr id="26" name="Shape 24"/>
          <p:cNvSpPr/>
          <p:nvPr/>
        </p:nvSpPr>
        <p:spPr>
          <a:xfrm>
            <a:off x="5136368" y="2980944"/>
            <a:ext cx="2110984" cy="3502152"/>
          </a:xfrm>
          <a:prstGeom prst="roundRect">
            <a:avLst>
              <a:gd name="adj" fmla="val 4332"/>
            </a:avLst>
          </a:prstGeom>
          <a:solidFill>
            <a:srgbClr val="000000"/>
          </a:solidFill>
          <a:ln/>
        </p:spPr>
      </p:sp>
      <p:sp>
        <p:nvSpPr>
          <p:cNvPr id="27" name="Shape 25"/>
          <p:cNvSpPr/>
          <p:nvPr/>
        </p:nvSpPr>
        <p:spPr>
          <a:xfrm>
            <a:off x="5108936" y="2944368"/>
            <a:ext cx="2110984" cy="3502152"/>
          </a:xfrm>
          <a:prstGeom prst="roundRect">
            <a:avLst>
              <a:gd name="adj" fmla="val 3465"/>
            </a:avLst>
          </a:prstGeom>
          <a:solidFill>
            <a:srgbClr val="141E34"/>
          </a:solidFill>
          <a:ln/>
        </p:spPr>
      </p:sp>
      <p:sp>
        <p:nvSpPr>
          <p:cNvPr id="28" name="Shape 26"/>
          <p:cNvSpPr/>
          <p:nvPr/>
        </p:nvSpPr>
        <p:spPr>
          <a:xfrm>
            <a:off x="5108936" y="2944368"/>
            <a:ext cx="2110984" cy="45720"/>
          </a:xfrm>
          <a:prstGeom prst="rect">
            <a:avLst>
              <a:gd name="adj" fmla="val 160000"/>
            </a:avLst>
          </a:prstGeom>
          <a:solidFill>
            <a:srgbClr val="10B981"/>
          </a:solidFill>
          <a:ln/>
        </p:spPr>
      </p:sp>
      <p:sp>
        <p:nvSpPr>
          <p:cNvPr id="29" name="Shape 27"/>
          <p:cNvSpPr/>
          <p:nvPr/>
        </p:nvSpPr>
        <p:spPr>
          <a:xfrm>
            <a:off x="5200376" y="3072384"/>
            <a:ext cx="310896" cy="310896"/>
          </a:xfrm>
          <a:prstGeom prst="roundRect">
            <a:avLst>
              <a:gd name="adj" fmla="val 17647"/>
            </a:avLst>
          </a:prstGeom>
          <a:solidFill>
            <a:srgbClr val="10B981"/>
          </a:solidFill>
          <a:ln/>
        </p:spPr>
      </p:sp>
      <p:sp>
        <p:nvSpPr>
          <p:cNvPr id="30" name="Text 28"/>
          <p:cNvSpPr/>
          <p:nvPr/>
        </p:nvSpPr>
        <p:spPr>
          <a:xfrm>
            <a:off x="5200376" y="3072384"/>
            <a:ext cx="310896" cy="310896"/>
          </a:xfrm>
          <a:prstGeom prst="rect">
            <a:avLst/>
          </a:prstGeom>
          <a:noFill/>
          <a:ln/>
        </p:spPr>
        <p:txBody>
          <a:bodyPr wrap="square"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4</a:t>
            </a:r>
            <a:endParaRPr lang="en-US" sz="1500" dirty="0"/>
          </a:p>
        </p:txBody>
      </p:sp>
      <p:sp>
        <p:nvSpPr>
          <p:cNvPr id="31" name="Text 29"/>
          <p:cNvSpPr/>
          <p:nvPr/>
        </p:nvSpPr>
        <p:spPr>
          <a:xfrm>
            <a:off x="5236952" y="3447288"/>
            <a:ext cx="1854952" cy="2953512"/>
          </a:xfrm>
          <a:prstGeom prst="rect">
            <a:avLst/>
          </a:prstGeom>
          <a:noFill/>
          <a:ln/>
        </p:spPr>
        <p:txBody>
          <a:bodyPr wrap="square" rtlCol="0" anchor="t"/>
          <a:lstStyle/>
          <a:p>
            <a:pPr indent="0" marL="0">
              <a:lnSpc>
                <a:spcPct val="122000"/>
              </a:lnSpc>
              <a:buNone/>
            </a:pPr>
            <a:r>
              <a:rPr lang="en-US" sz="1300" dirty="0">
                <a:solidFill>
                  <a:srgbClr val="E8EDF5"/>
                </a:solidFill>
                <a:latin typeface="Open Sans" pitchFamily="34" charset="0"/>
                <a:ea typeface="Open Sans" pitchFamily="34" charset="-122"/>
                <a:cs typeface="Open Sans" pitchFamily="34" charset="-120"/>
              </a:rPr>
              <a:t>Modelos preditivos utilizam algoritmos para estimar probabilidades e resultados futuros.</a:t>
            </a:r>
            <a:endParaRPr lang="en-US" sz="1300" dirty="0"/>
          </a:p>
        </p:txBody>
      </p:sp>
      <p:sp>
        <p:nvSpPr>
          <p:cNvPr id="32" name="Shape 30"/>
          <p:cNvSpPr/>
          <p:nvPr/>
        </p:nvSpPr>
        <p:spPr>
          <a:xfrm>
            <a:off x="7393656" y="2980944"/>
            <a:ext cx="2110984" cy="3502152"/>
          </a:xfrm>
          <a:prstGeom prst="roundRect">
            <a:avLst>
              <a:gd name="adj" fmla="val 4332"/>
            </a:avLst>
          </a:prstGeom>
          <a:solidFill>
            <a:srgbClr val="000000"/>
          </a:solidFill>
          <a:ln/>
        </p:spPr>
      </p:sp>
      <p:sp>
        <p:nvSpPr>
          <p:cNvPr id="33" name="Shape 31"/>
          <p:cNvSpPr/>
          <p:nvPr/>
        </p:nvSpPr>
        <p:spPr>
          <a:xfrm>
            <a:off x="7366224" y="2944368"/>
            <a:ext cx="2110984" cy="3502152"/>
          </a:xfrm>
          <a:prstGeom prst="roundRect">
            <a:avLst>
              <a:gd name="adj" fmla="val 3465"/>
            </a:avLst>
          </a:prstGeom>
          <a:solidFill>
            <a:srgbClr val="141E34"/>
          </a:solidFill>
          <a:ln/>
        </p:spPr>
      </p:sp>
      <p:sp>
        <p:nvSpPr>
          <p:cNvPr id="34" name="Shape 32"/>
          <p:cNvSpPr/>
          <p:nvPr/>
        </p:nvSpPr>
        <p:spPr>
          <a:xfrm>
            <a:off x="7366224" y="2944368"/>
            <a:ext cx="2110984" cy="45720"/>
          </a:xfrm>
          <a:prstGeom prst="rect">
            <a:avLst>
              <a:gd name="adj" fmla="val 160000"/>
            </a:avLst>
          </a:prstGeom>
          <a:solidFill>
            <a:srgbClr val="F59E0B"/>
          </a:solidFill>
          <a:ln/>
        </p:spPr>
      </p:sp>
      <p:sp>
        <p:nvSpPr>
          <p:cNvPr id="35" name="Shape 33"/>
          <p:cNvSpPr/>
          <p:nvPr/>
        </p:nvSpPr>
        <p:spPr>
          <a:xfrm>
            <a:off x="7457664" y="3072384"/>
            <a:ext cx="310896" cy="310896"/>
          </a:xfrm>
          <a:prstGeom prst="roundRect">
            <a:avLst>
              <a:gd name="adj" fmla="val 17647"/>
            </a:avLst>
          </a:prstGeom>
          <a:solidFill>
            <a:srgbClr val="F59E0B"/>
          </a:solidFill>
          <a:ln/>
        </p:spPr>
      </p:sp>
      <p:sp>
        <p:nvSpPr>
          <p:cNvPr id="36" name="Text 34"/>
          <p:cNvSpPr/>
          <p:nvPr/>
        </p:nvSpPr>
        <p:spPr>
          <a:xfrm>
            <a:off x="7457664" y="3072384"/>
            <a:ext cx="310896" cy="310896"/>
          </a:xfrm>
          <a:prstGeom prst="rect">
            <a:avLst/>
          </a:prstGeom>
          <a:noFill/>
          <a:ln/>
        </p:spPr>
        <p:txBody>
          <a:bodyPr wrap="square"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5</a:t>
            </a:r>
            <a:endParaRPr lang="en-US" sz="1500" dirty="0"/>
          </a:p>
        </p:txBody>
      </p:sp>
      <p:sp>
        <p:nvSpPr>
          <p:cNvPr id="37" name="Text 35"/>
          <p:cNvSpPr/>
          <p:nvPr/>
        </p:nvSpPr>
        <p:spPr>
          <a:xfrm>
            <a:off x="7494240" y="3447288"/>
            <a:ext cx="1854952" cy="2953512"/>
          </a:xfrm>
          <a:prstGeom prst="rect">
            <a:avLst/>
          </a:prstGeom>
          <a:noFill/>
          <a:ln/>
        </p:spPr>
        <p:txBody>
          <a:bodyPr wrap="square" rtlCol="0" anchor="t"/>
          <a:lstStyle/>
          <a:p>
            <a:pPr indent="0" marL="0">
              <a:lnSpc>
                <a:spcPct val="122000"/>
              </a:lnSpc>
              <a:buNone/>
            </a:pPr>
            <a:r>
              <a:rPr lang="en-US" sz="1300" dirty="0">
                <a:solidFill>
                  <a:srgbClr val="E8EDF5"/>
                </a:solidFill>
                <a:latin typeface="Open Sans" pitchFamily="34" charset="0"/>
                <a:ea typeface="Open Sans" pitchFamily="34" charset="-122"/>
                <a:cs typeface="Open Sans" pitchFamily="34" charset="-120"/>
              </a:rPr>
              <a:t>A previsão de demanda otimiza o estoque e a produção. No setor financeiro, a IA pode prever o risco de inadimplência de um cliente.</a:t>
            </a:r>
            <a:endParaRPr lang="en-US" sz="1300" dirty="0"/>
          </a:p>
        </p:txBody>
      </p:sp>
      <p:sp>
        <p:nvSpPr>
          <p:cNvPr id="38" name="Shape 36"/>
          <p:cNvSpPr/>
          <p:nvPr/>
        </p:nvSpPr>
        <p:spPr>
          <a:xfrm>
            <a:off x="9650943" y="2980944"/>
            <a:ext cx="2110984" cy="3502152"/>
          </a:xfrm>
          <a:prstGeom prst="roundRect">
            <a:avLst>
              <a:gd name="adj" fmla="val 4332"/>
            </a:avLst>
          </a:prstGeom>
          <a:solidFill>
            <a:srgbClr val="000000"/>
          </a:solidFill>
          <a:ln/>
        </p:spPr>
      </p:sp>
      <p:sp>
        <p:nvSpPr>
          <p:cNvPr id="39" name="Shape 37"/>
          <p:cNvSpPr/>
          <p:nvPr/>
        </p:nvSpPr>
        <p:spPr>
          <a:xfrm>
            <a:off x="9623511" y="2944368"/>
            <a:ext cx="2110984" cy="3502152"/>
          </a:xfrm>
          <a:prstGeom prst="roundRect">
            <a:avLst>
              <a:gd name="adj" fmla="val 3465"/>
            </a:avLst>
          </a:prstGeom>
          <a:solidFill>
            <a:srgbClr val="141E34"/>
          </a:solidFill>
          <a:ln/>
        </p:spPr>
      </p:sp>
      <p:sp>
        <p:nvSpPr>
          <p:cNvPr id="40" name="Shape 38"/>
          <p:cNvSpPr/>
          <p:nvPr/>
        </p:nvSpPr>
        <p:spPr>
          <a:xfrm>
            <a:off x="9623511" y="2944368"/>
            <a:ext cx="2110984" cy="45720"/>
          </a:xfrm>
          <a:prstGeom prst="rect">
            <a:avLst>
              <a:gd name="adj" fmla="val 160000"/>
            </a:avLst>
          </a:prstGeom>
          <a:solidFill>
            <a:srgbClr val="06B6D4"/>
          </a:solidFill>
          <a:ln/>
        </p:spPr>
      </p:sp>
      <p:sp>
        <p:nvSpPr>
          <p:cNvPr id="41" name="Shape 39"/>
          <p:cNvSpPr/>
          <p:nvPr/>
        </p:nvSpPr>
        <p:spPr>
          <a:xfrm>
            <a:off x="9714951" y="3072384"/>
            <a:ext cx="310896" cy="310896"/>
          </a:xfrm>
          <a:prstGeom prst="roundRect">
            <a:avLst>
              <a:gd name="adj" fmla="val 17647"/>
            </a:avLst>
          </a:prstGeom>
          <a:solidFill>
            <a:srgbClr val="06B6D4"/>
          </a:solidFill>
          <a:ln/>
        </p:spPr>
      </p:sp>
      <p:sp>
        <p:nvSpPr>
          <p:cNvPr id="42" name="Text 40"/>
          <p:cNvSpPr/>
          <p:nvPr/>
        </p:nvSpPr>
        <p:spPr>
          <a:xfrm>
            <a:off x="9714951" y="3072384"/>
            <a:ext cx="310896" cy="310896"/>
          </a:xfrm>
          <a:prstGeom prst="rect">
            <a:avLst/>
          </a:prstGeom>
          <a:noFill/>
          <a:ln/>
        </p:spPr>
        <p:txBody>
          <a:bodyPr wrap="square"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6</a:t>
            </a:r>
            <a:endParaRPr lang="en-US" sz="1500" dirty="0"/>
          </a:p>
        </p:txBody>
      </p:sp>
      <p:sp>
        <p:nvSpPr>
          <p:cNvPr id="43" name="Text 41"/>
          <p:cNvSpPr/>
          <p:nvPr/>
        </p:nvSpPr>
        <p:spPr>
          <a:xfrm>
            <a:off x="9751527" y="3447288"/>
            <a:ext cx="1854952" cy="2953512"/>
          </a:xfrm>
          <a:prstGeom prst="rect">
            <a:avLst/>
          </a:prstGeom>
          <a:noFill/>
          <a:ln/>
        </p:spPr>
        <p:txBody>
          <a:bodyPr wrap="square" rtlCol="0" anchor="t"/>
          <a:lstStyle/>
          <a:p>
            <a:pPr indent="0" marL="0">
              <a:lnSpc>
                <a:spcPct val="122000"/>
              </a:lnSpc>
              <a:buNone/>
            </a:pPr>
            <a:r>
              <a:rPr lang="en-US" sz="1300" dirty="0">
                <a:solidFill>
                  <a:srgbClr val="E8EDF5"/>
                </a:solidFill>
                <a:latin typeface="Open Sans" pitchFamily="34" charset="0"/>
                <a:ea typeface="Open Sans" pitchFamily="34" charset="-122"/>
                <a:cs typeface="Open Sans" pitchFamily="34" charset="-120"/>
              </a:rPr>
              <a:t>A previsão de churn permite ações proativas para reter clientes.</a:t>
            </a:r>
            <a:endParaRPr lang="en-US" sz="1300" dirty="0"/>
          </a:p>
        </p:txBody>
      </p:sp>
      <p:sp>
        <p:nvSpPr>
          <p:cNvPr id="44" name="Shape 42"/>
          <p:cNvSpPr/>
          <p:nvPr/>
        </p:nvSpPr>
        <p:spPr>
          <a:xfrm>
            <a:off x="0" y="6601968"/>
            <a:ext cx="2041093" cy="4572"/>
          </a:xfrm>
          <a:prstGeom prst="rect">
            <a:avLst/>
          </a:prstGeom>
          <a:solidFill>
            <a:srgbClr val="6C63FF"/>
          </a:solidFill>
          <a:ln/>
        </p:spPr>
      </p:sp>
      <p:sp>
        <p:nvSpPr>
          <p:cNvPr id="45" name="Shape 43"/>
          <p:cNvSpPr/>
          <p:nvPr/>
        </p:nvSpPr>
        <p:spPr>
          <a:xfrm>
            <a:off x="2031949" y="6601968"/>
            <a:ext cx="2041093" cy="4572"/>
          </a:xfrm>
          <a:prstGeom prst="rect">
            <a:avLst/>
          </a:prstGeom>
          <a:solidFill>
            <a:srgbClr val="6C63FF"/>
          </a:solidFill>
          <a:ln/>
        </p:spPr>
      </p:sp>
      <p:sp>
        <p:nvSpPr>
          <p:cNvPr id="46" name="Shape 44"/>
          <p:cNvSpPr/>
          <p:nvPr/>
        </p:nvSpPr>
        <p:spPr>
          <a:xfrm>
            <a:off x="4063898" y="6601968"/>
            <a:ext cx="2041093" cy="4572"/>
          </a:xfrm>
          <a:prstGeom prst="rect">
            <a:avLst/>
          </a:prstGeom>
          <a:solidFill>
            <a:srgbClr val="6C63FF"/>
          </a:solidFill>
          <a:ln/>
        </p:spPr>
      </p:sp>
      <p:sp>
        <p:nvSpPr>
          <p:cNvPr id="47" name="Shape 45"/>
          <p:cNvSpPr/>
          <p:nvPr/>
        </p:nvSpPr>
        <p:spPr>
          <a:xfrm>
            <a:off x="6095848" y="6601968"/>
            <a:ext cx="2041093" cy="4572"/>
          </a:xfrm>
          <a:prstGeom prst="rect">
            <a:avLst/>
          </a:prstGeom>
          <a:solidFill>
            <a:srgbClr val="6C63FF"/>
          </a:solidFill>
          <a:ln/>
        </p:spPr>
      </p:sp>
      <p:sp>
        <p:nvSpPr>
          <p:cNvPr id="48" name="Shape 46"/>
          <p:cNvSpPr/>
          <p:nvPr/>
        </p:nvSpPr>
        <p:spPr>
          <a:xfrm>
            <a:off x="8127797" y="6601968"/>
            <a:ext cx="2041093" cy="4572"/>
          </a:xfrm>
          <a:prstGeom prst="rect">
            <a:avLst/>
          </a:prstGeom>
          <a:solidFill>
            <a:srgbClr val="6C63FF"/>
          </a:solidFill>
          <a:ln/>
        </p:spPr>
      </p:sp>
      <p:sp>
        <p:nvSpPr>
          <p:cNvPr id="49" name="Shape 47"/>
          <p:cNvSpPr/>
          <p:nvPr/>
        </p:nvSpPr>
        <p:spPr>
          <a:xfrm>
            <a:off x="10159746" y="6601968"/>
            <a:ext cx="2041093" cy="4572"/>
          </a:xfrm>
          <a:prstGeom prst="rect">
            <a:avLst/>
          </a:prstGeom>
          <a:solidFill>
            <a:srgbClr val="6C63FF"/>
          </a:solidFill>
          <a:ln/>
        </p:spPr>
      </p:sp>
      <p:sp>
        <p:nvSpPr>
          <p:cNvPr id="50" name="Shape 48"/>
          <p:cNvSpPr/>
          <p:nvPr/>
        </p:nvSpPr>
        <p:spPr>
          <a:xfrm>
            <a:off x="0" y="6606540"/>
            <a:ext cx="12191695" cy="2743"/>
          </a:xfrm>
          <a:prstGeom prst="rect">
            <a:avLst/>
          </a:prstGeom>
          <a:solidFill>
            <a:srgbClr val="222E48"/>
          </a:solidFill>
          <a:ln/>
        </p:spPr>
      </p:sp>
      <p:sp>
        <p:nvSpPr>
          <p:cNvPr id="51" name="Text 49"/>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52" name="Shape 50"/>
          <p:cNvSpPr/>
          <p:nvPr/>
        </p:nvSpPr>
        <p:spPr>
          <a:xfrm>
            <a:off x="10436047" y="6693408"/>
            <a:ext cx="73152" cy="73152"/>
          </a:xfrm>
          <a:prstGeom prst="ellipse">
            <a:avLst/>
          </a:prstGeom>
          <a:solidFill>
            <a:srgbClr val="6C63FF"/>
          </a:solidFill>
          <a:ln/>
        </p:spPr>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F59E0B"/>
          </a:solidFill>
          <a:ln/>
        </p:spPr>
      </p:sp>
      <p:sp>
        <p:nvSpPr>
          <p:cNvPr id="3" name="Shape 1"/>
          <p:cNvSpPr/>
          <p:nvPr/>
        </p:nvSpPr>
        <p:spPr>
          <a:xfrm>
            <a:off x="64008" y="0"/>
            <a:ext cx="18288" cy="6858000"/>
          </a:xfrm>
          <a:prstGeom prst="rect">
            <a:avLst/>
          </a:prstGeom>
          <a:solidFill>
            <a:srgbClr val="F59E0B"/>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F59E0B"/>
                </a:solidFill>
                <a:latin typeface="Open Sans" pitchFamily="34" charset="0"/>
                <a:ea typeface="Open Sans" pitchFamily="34" charset="-122"/>
                <a:cs typeface="Open Sans" pitchFamily="34" charset="-120"/>
              </a:rPr>
              <a:t>APLICAÇÕES REAIS</a:t>
            </a:r>
            <a:endParaRPr lang="en-US" sz="900" dirty="0"/>
          </a:p>
        </p:txBody>
      </p:sp>
      <p:sp>
        <p:nvSpPr>
          <p:cNvPr id="5" name="Shape 3"/>
          <p:cNvSpPr/>
          <p:nvPr/>
        </p:nvSpPr>
        <p:spPr>
          <a:xfrm>
            <a:off x="502920" y="493776"/>
            <a:ext cx="640080" cy="21946"/>
          </a:xfrm>
          <a:prstGeom prst="rect">
            <a:avLst/>
          </a:prstGeom>
          <a:solidFill>
            <a:srgbClr val="F59E0B"/>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Aplicações reais (Parte 2)</a:t>
            </a:r>
            <a:endParaRPr lang="en-US" sz="2800" dirty="0"/>
          </a:p>
        </p:txBody>
      </p:sp>
      <p:sp>
        <p:nvSpPr>
          <p:cNvPr id="7" name="Shape 5"/>
          <p:cNvSpPr/>
          <p:nvPr/>
        </p:nvSpPr>
        <p:spPr>
          <a:xfrm>
            <a:off x="502920" y="1389888"/>
            <a:ext cx="11185855" cy="7315"/>
          </a:xfrm>
          <a:prstGeom prst="rect">
            <a:avLst/>
          </a:prstGeom>
          <a:solidFill>
            <a:srgbClr val="F59E0B"/>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621792" y="1572768"/>
            <a:ext cx="3603650" cy="1527048"/>
          </a:xfrm>
          <a:prstGeom prst="roundRect">
            <a:avLst>
              <a:gd name="adj" fmla="val 5988"/>
            </a:avLst>
          </a:prstGeom>
          <a:solidFill>
            <a:srgbClr val="000000"/>
          </a:solidFill>
          <a:ln/>
        </p:spPr>
      </p:sp>
      <p:sp>
        <p:nvSpPr>
          <p:cNvPr id="10" name="Shape 8"/>
          <p:cNvSpPr/>
          <p:nvPr/>
        </p:nvSpPr>
        <p:spPr>
          <a:xfrm>
            <a:off x="594360" y="1536192"/>
            <a:ext cx="3603650" cy="1527048"/>
          </a:xfrm>
          <a:prstGeom prst="roundRect">
            <a:avLst>
              <a:gd name="adj" fmla="val 5988"/>
            </a:avLst>
          </a:prstGeom>
          <a:solidFill>
            <a:srgbClr val="141E34"/>
          </a:solidFill>
          <a:ln/>
        </p:spPr>
      </p:sp>
      <p:sp>
        <p:nvSpPr>
          <p:cNvPr id="11" name="Shape 9"/>
          <p:cNvSpPr/>
          <p:nvPr/>
        </p:nvSpPr>
        <p:spPr>
          <a:xfrm>
            <a:off x="594360" y="1536192"/>
            <a:ext cx="3603650" cy="45720"/>
          </a:xfrm>
          <a:prstGeom prst="rect">
            <a:avLst>
              <a:gd name="adj" fmla="val 200000"/>
            </a:avLst>
          </a:prstGeom>
          <a:solidFill>
            <a:srgbClr val="6C63FF"/>
          </a:solidFill>
          <a:ln/>
        </p:spPr>
      </p:sp>
      <p:sp>
        <p:nvSpPr>
          <p:cNvPr id="12" name="Text 10"/>
          <p:cNvSpPr/>
          <p:nvPr/>
        </p:nvSpPr>
        <p:spPr>
          <a:xfrm>
            <a:off x="3603650" y="1627632"/>
            <a:ext cx="502920" cy="365760"/>
          </a:xfrm>
          <a:prstGeom prst="rect">
            <a:avLst/>
          </a:prstGeom>
          <a:noFill/>
          <a:ln/>
        </p:spPr>
        <p:txBody>
          <a:bodyPr wrap="square" rtlCol="0" anchor="ctr"/>
          <a:lstStyle/>
          <a:p>
            <a:pPr algn="r" indent="0" marL="0">
              <a:buNone/>
            </a:pPr>
            <a:r>
              <a:rPr lang="en-US" sz="2400" b="1" dirty="0">
                <a:solidFill>
                  <a:srgbClr val="6C63FF">
                    <a:alpha val="75000"/>
                  </a:srgbClr>
                </a:solidFill>
                <a:latin typeface="Montserrat" pitchFamily="34" charset="0"/>
                <a:ea typeface="Montserrat" pitchFamily="34" charset="-122"/>
                <a:cs typeface="Montserrat" pitchFamily="34" charset="-120"/>
              </a:rPr>
              <a:t>01</a:t>
            </a:r>
            <a:endParaRPr lang="en-US" sz="2400" dirty="0"/>
          </a:p>
        </p:txBody>
      </p:sp>
      <p:sp>
        <p:nvSpPr>
          <p:cNvPr id="13" name="Text 11"/>
          <p:cNvSpPr/>
          <p:nvPr/>
        </p:nvSpPr>
        <p:spPr>
          <a:xfrm>
            <a:off x="722376" y="1682496"/>
            <a:ext cx="2835554" cy="1252728"/>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Capacita organizações a agir antes dos eventos, minimizando riscos e maximizando oportunidades.</a:t>
            </a:r>
            <a:endParaRPr lang="en-US" sz="1300" dirty="0"/>
          </a:p>
        </p:txBody>
      </p:sp>
      <p:sp>
        <p:nvSpPr>
          <p:cNvPr id="14" name="Shape 12"/>
          <p:cNvSpPr/>
          <p:nvPr/>
        </p:nvSpPr>
        <p:spPr>
          <a:xfrm>
            <a:off x="4390034" y="1572768"/>
            <a:ext cx="3603650" cy="1527048"/>
          </a:xfrm>
          <a:prstGeom prst="roundRect">
            <a:avLst>
              <a:gd name="adj" fmla="val 5988"/>
            </a:avLst>
          </a:prstGeom>
          <a:solidFill>
            <a:srgbClr val="000000"/>
          </a:solidFill>
          <a:ln/>
        </p:spPr>
      </p:sp>
      <p:sp>
        <p:nvSpPr>
          <p:cNvPr id="15" name="Shape 13"/>
          <p:cNvSpPr/>
          <p:nvPr/>
        </p:nvSpPr>
        <p:spPr>
          <a:xfrm>
            <a:off x="4362602" y="1536192"/>
            <a:ext cx="3603650" cy="1527048"/>
          </a:xfrm>
          <a:prstGeom prst="roundRect">
            <a:avLst>
              <a:gd name="adj" fmla="val 5988"/>
            </a:avLst>
          </a:prstGeom>
          <a:solidFill>
            <a:srgbClr val="141E34"/>
          </a:solidFill>
          <a:ln/>
        </p:spPr>
      </p:sp>
      <p:sp>
        <p:nvSpPr>
          <p:cNvPr id="16" name="Shape 14"/>
          <p:cNvSpPr/>
          <p:nvPr/>
        </p:nvSpPr>
        <p:spPr>
          <a:xfrm>
            <a:off x="4362602" y="1536192"/>
            <a:ext cx="3603650" cy="45720"/>
          </a:xfrm>
          <a:prstGeom prst="rect">
            <a:avLst>
              <a:gd name="adj" fmla="val 200000"/>
            </a:avLst>
          </a:prstGeom>
          <a:solidFill>
            <a:srgbClr val="3B82F6"/>
          </a:solidFill>
          <a:ln/>
        </p:spPr>
      </p:sp>
      <p:sp>
        <p:nvSpPr>
          <p:cNvPr id="17" name="Text 15"/>
          <p:cNvSpPr/>
          <p:nvPr/>
        </p:nvSpPr>
        <p:spPr>
          <a:xfrm>
            <a:off x="7371893" y="1627632"/>
            <a:ext cx="502920" cy="365760"/>
          </a:xfrm>
          <a:prstGeom prst="rect">
            <a:avLst/>
          </a:prstGeom>
          <a:noFill/>
          <a:ln/>
        </p:spPr>
        <p:txBody>
          <a:bodyPr wrap="square" rtlCol="0" anchor="ctr"/>
          <a:lstStyle/>
          <a:p>
            <a:pPr algn="r" indent="0" marL="0">
              <a:buNone/>
            </a:pPr>
            <a:r>
              <a:rPr lang="en-US" sz="2400" b="1" dirty="0">
                <a:solidFill>
                  <a:srgbClr val="3B82F6">
                    <a:alpha val="75000"/>
                  </a:srgbClr>
                </a:solidFill>
                <a:latin typeface="Montserrat" pitchFamily="34" charset="0"/>
                <a:ea typeface="Montserrat" pitchFamily="34" charset="-122"/>
                <a:cs typeface="Montserrat" pitchFamily="34" charset="-120"/>
              </a:rPr>
              <a:t>02</a:t>
            </a:r>
            <a:endParaRPr lang="en-US" sz="2400" dirty="0"/>
          </a:p>
        </p:txBody>
      </p:sp>
      <p:sp>
        <p:nvSpPr>
          <p:cNvPr id="18" name="Text 16"/>
          <p:cNvSpPr/>
          <p:nvPr/>
        </p:nvSpPr>
        <p:spPr>
          <a:xfrm>
            <a:off x="4490618" y="1682496"/>
            <a:ext cx="2835554" cy="1252728"/>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A capacidade da IA de fornecer percepções rápidos e precisos impacta a qualidade e a velocidade das decisões estratégicas.</a:t>
            </a:r>
            <a:endParaRPr lang="en-US" sz="1300" dirty="0"/>
          </a:p>
        </p:txBody>
      </p:sp>
      <p:sp>
        <p:nvSpPr>
          <p:cNvPr id="19" name="Shape 17"/>
          <p:cNvSpPr/>
          <p:nvPr/>
        </p:nvSpPr>
        <p:spPr>
          <a:xfrm>
            <a:off x="8158277" y="1572768"/>
            <a:ext cx="3603650" cy="1527048"/>
          </a:xfrm>
          <a:prstGeom prst="roundRect">
            <a:avLst>
              <a:gd name="adj" fmla="val 5988"/>
            </a:avLst>
          </a:prstGeom>
          <a:solidFill>
            <a:srgbClr val="000000"/>
          </a:solidFill>
          <a:ln/>
        </p:spPr>
      </p:sp>
      <p:sp>
        <p:nvSpPr>
          <p:cNvPr id="20" name="Shape 18"/>
          <p:cNvSpPr/>
          <p:nvPr/>
        </p:nvSpPr>
        <p:spPr>
          <a:xfrm>
            <a:off x="8130845" y="1536192"/>
            <a:ext cx="3603650" cy="1527048"/>
          </a:xfrm>
          <a:prstGeom prst="roundRect">
            <a:avLst>
              <a:gd name="adj" fmla="val 5988"/>
            </a:avLst>
          </a:prstGeom>
          <a:solidFill>
            <a:srgbClr val="141E34"/>
          </a:solidFill>
          <a:ln/>
        </p:spPr>
      </p:sp>
      <p:sp>
        <p:nvSpPr>
          <p:cNvPr id="21" name="Shape 19"/>
          <p:cNvSpPr/>
          <p:nvPr/>
        </p:nvSpPr>
        <p:spPr>
          <a:xfrm>
            <a:off x="8130845" y="1536192"/>
            <a:ext cx="3603650" cy="45720"/>
          </a:xfrm>
          <a:prstGeom prst="rect">
            <a:avLst>
              <a:gd name="adj" fmla="val 200000"/>
            </a:avLst>
          </a:prstGeom>
          <a:solidFill>
            <a:srgbClr val="10B981"/>
          </a:solidFill>
          <a:ln/>
        </p:spPr>
      </p:sp>
      <p:sp>
        <p:nvSpPr>
          <p:cNvPr id="22" name="Text 20"/>
          <p:cNvSpPr/>
          <p:nvPr/>
        </p:nvSpPr>
        <p:spPr>
          <a:xfrm>
            <a:off x="11140135" y="1627632"/>
            <a:ext cx="502920" cy="365760"/>
          </a:xfrm>
          <a:prstGeom prst="rect">
            <a:avLst/>
          </a:prstGeom>
          <a:noFill/>
          <a:ln/>
        </p:spPr>
        <p:txBody>
          <a:bodyPr wrap="square" rtlCol="0" anchor="ctr"/>
          <a:lstStyle/>
          <a:p>
            <a:pPr algn="r" indent="0" marL="0">
              <a:buNone/>
            </a:pPr>
            <a:r>
              <a:rPr lang="en-US" sz="2400" b="1" dirty="0">
                <a:solidFill>
                  <a:srgbClr val="10B981">
                    <a:alpha val="75000"/>
                  </a:srgbClr>
                </a:solidFill>
                <a:latin typeface="Montserrat" pitchFamily="34" charset="0"/>
                <a:ea typeface="Montserrat" pitchFamily="34" charset="-122"/>
                <a:cs typeface="Montserrat" pitchFamily="34" charset="-120"/>
              </a:rPr>
              <a:t>03</a:t>
            </a:r>
            <a:endParaRPr lang="en-US" sz="2400" dirty="0"/>
          </a:p>
        </p:txBody>
      </p:sp>
      <p:sp>
        <p:nvSpPr>
          <p:cNvPr id="23" name="Text 21"/>
          <p:cNvSpPr/>
          <p:nvPr/>
        </p:nvSpPr>
        <p:spPr>
          <a:xfrm>
            <a:off x="8258861" y="1682496"/>
            <a:ext cx="2835554" cy="1252728"/>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Ela reduz a subjetividade e a dependência da intuição. Dados concretos e claros substituem suposições no processo decisório.</a:t>
            </a:r>
            <a:endParaRPr lang="en-US" sz="1300" dirty="0"/>
          </a:p>
        </p:txBody>
      </p:sp>
      <p:sp>
        <p:nvSpPr>
          <p:cNvPr id="24" name="Shape 22"/>
          <p:cNvSpPr/>
          <p:nvPr/>
        </p:nvSpPr>
        <p:spPr>
          <a:xfrm>
            <a:off x="621792" y="3264408"/>
            <a:ext cx="3603650" cy="1527048"/>
          </a:xfrm>
          <a:prstGeom prst="roundRect">
            <a:avLst>
              <a:gd name="adj" fmla="val 5988"/>
            </a:avLst>
          </a:prstGeom>
          <a:solidFill>
            <a:srgbClr val="000000"/>
          </a:solidFill>
          <a:ln/>
        </p:spPr>
      </p:sp>
      <p:sp>
        <p:nvSpPr>
          <p:cNvPr id="25" name="Shape 23"/>
          <p:cNvSpPr/>
          <p:nvPr/>
        </p:nvSpPr>
        <p:spPr>
          <a:xfrm>
            <a:off x="594360" y="3227832"/>
            <a:ext cx="3603650" cy="1527048"/>
          </a:xfrm>
          <a:prstGeom prst="roundRect">
            <a:avLst>
              <a:gd name="adj" fmla="val 5988"/>
            </a:avLst>
          </a:prstGeom>
          <a:solidFill>
            <a:srgbClr val="141E34"/>
          </a:solidFill>
          <a:ln/>
        </p:spPr>
      </p:sp>
      <p:sp>
        <p:nvSpPr>
          <p:cNvPr id="26" name="Shape 24"/>
          <p:cNvSpPr/>
          <p:nvPr/>
        </p:nvSpPr>
        <p:spPr>
          <a:xfrm>
            <a:off x="594360" y="3227832"/>
            <a:ext cx="3603650" cy="45720"/>
          </a:xfrm>
          <a:prstGeom prst="rect">
            <a:avLst>
              <a:gd name="adj" fmla="val 200000"/>
            </a:avLst>
          </a:prstGeom>
          <a:solidFill>
            <a:srgbClr val="F59E0B"/>
          </a:solidFill>
          <a:ln/>
        </p:spPr>
      </p:sp>
      <p:sp>
        <p:nvSpPr>
          <p:cNvPr id="27" name="Text 25"/>
          <p:cNvSpPr/>
          <p:nvPr/>
        </p:nvSpPr>
        <p:spPr>
          <a:xfrm>
            <a:off x="3603650" y="3319272"/>
            <a:ext cx="502920" cy="365760"/>
          </a:xfrm>
          <a:prstGeom prst="rect">
            <a:avLst/>
          </a:prstGeom>
          <a:noFill/>
          <a:ln/>
        </p:spPr>
        <p:txBody>
          <a:bodyPr wrap="square" rtlCol="0" anchor="ctr"/>
          <a:lstStyle/>
          <a:p>
            <a:pPr algn="r" indent="0" marL="0">
              <a:buNone/>
            </a:pPr>
            <a:r>
              <a:rPr lang="en-US" sz="2400" b="1" dirty="0">
                <a:solidFill>
                  <a:srgbClr val="F59E0B">
                    <a:alpha val="75000"/>
                  </a:srgbClr>
                </a:solidFill>
                <a:latin typeface="Montserrat" pitchFamily="34" charset="0"/>
                <a:ea typeface="Montserrat" pitchFamily="34" charset="-122"/>
                <a:cs typeface="Montserrat" pitchFamily="34" charset="-120"/>
              </a:rPr>
              <a:t>04</a:t>
            </a:r>
            <a:endParaRPr lang="en-US" sz="2400" dirty="0"/>
          </a:p>
        </p:txBody>
      </p:sp>
      <p:sp>
        <p:nvSpPr>
          <p:cNvPr id="28" name="Text 26"/>
          <p:cNvSpPr/>
          <p:nvPr/>
        </p:nvSpPr>
        <p:spPr>
          <a:xfrm>
            <a:off x="722376" y="3374136"/>
            <a:ext cx="2835554" cy="1252728"/>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A velocidade na geração de percepções permite respostas rápidas a mudanças de mercado.</a:t>
            </a:r>
            <a:endParaRPr lang="en-US" sz="1300" dirty="0"/>
          </a:p>
        </p:txBody>
      </p:sp>
      <p:sp>
        <p:nvSpPr>
          <p:cNvPr id="29" name="Shape 27"/>
          <p:cNvSpPr/>
          <p:nvPr/>
        </p:nvSpPr>
        <p:spPr>
          <a:xfrm>
            <a:off x="4390034" y="3264408"/>
            <a:ext cx="3603650" cy="1527048"/>
          </a:xfrm>
          <a:prstGeom prst="roundRect">
            <a:avLst>
              <a:gd name="adj" fmla="val 5988"/>
            </a:avLst>
          </a:prstGeom>
          <a:solidFill>
            <a:srgbClr val="000000"/>
          </a:solidFill>
          <a:ln/>
        </p:spPr>
      </p:sp>
      <p:sp>
        <p:nvSpPr>
          <p:cNvPr id="30" name="Shape 28"/>
          <p:cNvSpPr/>
          <p:nvPr/>
        </p:nvSpPr>
        <p:spPr>
          <a:xfrm>
            <a:off x="4362602" y="3227832"/>
            <a:ext cx="3603650" cy="1527048"/>
          </a:xfrm>
          <a:prstGeom prst="roundRect">
            <a:avLst>
              <a:gd name="adj" fmla="val 5988"/>
            </a:avLst>
          </a:prstGeom>
          <a:solidFill>
            <a:srgbClr val="141E34"/>
          </a:solidFill>
          <a:ln/>
        </p:spPr>
      </p:sp>
      <p:sp>
        <p:nvSpPr>
          <p:cNvPr id="31" name="Shape 29"/>
          <p:cNvSpPr/>
          <p:nvPr/>
        </p:nvSpPr>
        <p:spPr>
          <a:xfrm>
            <a:off x="4362602" y="3227832"/>
            <a:ext cx="3603650" cy="45720"/>
          </a:xfrm>
          <a:prstGeom prst="rect">
            <a:avLst>
              <a:gd name="adj" fmla="val 200000"/>
            </a:avLst>
          </a:prstGeom>
          <a:solidFill>
            <a:srgbClr val="06B6D4"/>
          </a:solidFill>
          <a:ln/>
        </p:spPr>
      </p:sp>
      <p:sp>
        <p:nvSpPr>
          <p:cNvPr id="32" name="Text 30"/>
          <p:cNvSpPr/>
          <p:nvPr/>
        </p:nvSpPr>
        <p:spPr>
          <a:xfrm>
            <a:off x="7371893" y="3319272"/>
            <a:ext cx="502920" cy="365760"/>
          </a:xfrm>
          <a:prstGeom prst="rect">
            <a:avLst/>
          </a:prstGeom>
          <a:noFill/>
          <a:ln/>
        </p:spPr>
        <p:txBody>
          <a:bodyPr wrap="square" rtlCol="0" anchor="ctr"/>
          <a:lstStyle/>
          <a:p>
            <a:pPr algn="r" indent="0" marL="0">
              <a:buNone/>
            </a:pPr>
            <a:r>
              <a:rPr lang="en-US" sz="2400" b="1" dirty="0">
                <a:solidFill>
                  <a:srgbClr val="06B6D4">
                    <a:alpha val="75000"/>
                  </a:srgbClr>
                </a:solidFill>
                <a:latin typeface="Montserrat" pitchFamily="34" charset="0"/>
                <a:ea typeface="Montserrat" pitchFamily="34" charset="-122"/>
                <a:cs typeface="Montserrat" pitchFamily="34" charset="-120"/>
              </a:rPr>
              <a:t>05</a:t>
            </a:r>
            <a:endParaRPr lang="en-US" sz="2400" dirty="0"/>
          </a:p>
        </p:txBody>
      </p:sp>
      <p:sp>
        <p:nvSpPr>
          <p:cNvPr id="33" name="Text 31"/>
          <p:cNvSpPr/>
          <p:nvPr/>
        </p:nvSpPr>
        <p:spPr>
          <a:xfrm>
            <a:off x="4490618" y="3374136"/>
            <a:ext cx="2835554" cy="1252728"/>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Decisões de negócios são otimizadas para maximizar lucros e minimizar custos.</a:t>
            </a:r>
            <a:endParaRPr lang="en-US" sz="1300" dirty="0"/>
          </a:p>
        </p:txBody>
      </p:sp>
      <p:sp>
        <p:nvSpPr>
          <p:cNvPr id="34" name="Shape 32"/>
          <p:cNvSpPr/>
          <p:nvPr/>
        </p:nvSpPr>
        <p:spPr>
          <a:xfrm>
            <a:off x="8158277" y="3264408"/>
            <a:ext cx="3603650" cy="1527048"/>
          </a:xfrm>
          <a:prstGeom prst="roundRect">
            <a:avLst>
              <a:gd name="adj" fmla="val 5988"/>
            </a:avLst>
          </a:prstGeom>
          <a:solidFill>
            <a:srgbClr val="000000"/>
          </a:solidFill>
          <a:ln/>
        </p:spPr>
      </p:sp>
      <p:sp>
        <p:nvSpPr>
          <p:cNvPr id="35" name="Shape 33"/>
          <p:cNvSpPr/>
          <p:nvPr/>
        </p:nvSpPr>
        <p:spPr>
          <a:xfrm>
            <a:off x="8130845" y="3227832"/>
            <a:ext cx="3603650" cy="1527048"/>
          </a:xfrm>
          <a:prstGeom prst="roundRect">
            <a:avLst>
              <a:gd name="adj" fmla="val 5988"/>
            </a:avLst>
          </a:prstGeom>
          <a:solidFill>
            <a:srgbClr val="141E34"/>
          </a:solidFill>
          <a:ln/>
        </p:spPr>
      </p:sp>
      <p:sp>
        <p:nvSpPr>
          <p:cNvPr id="36" name="Shape 34"/>
          <p:cNvSpPr/>
          <p:nvPr/>
        </p:nvSpPr>
        <p:spPr>
          <a:xfrm>
            <a:off x="8130845" y="3227832"/>
            <a:ext cx="3603650" cy="45720"/>
          </a:xfrm>
          <a:prstGeom prst="rect">
            <a:avLst>
              <a:gd name="adj" fmla="val 200000"/>
            </a:avLst>
          </a:prstGeom>
          <a:solidFill>
            <a:srgbClr val="6C63FF"/>
          </a:solidFill>
          <a:ln/>
        </p:spPr>
      </p:sp>
      <p:sp>
        <p:nvSpPr>
          <p:cNvPr id="37" name="Text 35"/>
          <p:cNvSpPr/>
          <p:nvPr/>
        </p:nvSpPr>
        <p:spPr>
          <a:xfrm>
            <a:off x="11140135" y="3319272"/>
            <a:ext cx="502920" cy="365760"/>
          </a:xfrm>
          <a:prstGeom prst="rect">
            <a:avLst/>
          </a:prstGeom>
          <a:noFill/>
          <a:ln/>
        </p:spPr>
        <p:txBody>
          <a:bodyPr wrap="square" rtlCol="0" anchor="ctr"/>
          <a:lstStyle/>
          <a:p>
            <a:pPr algn="r" indent="0" marL="0">
              <a:buNone/>
            </a:pPr>
            <a:r>
              <a:rPr lang="en-US" sz="2400" b="1" dirty="0">
                <a:solidFill>
                  <a:srgbClr val="6C63FF">
                    <a:alpha val="75000"/>
                  </a:srgbClr>
                </a:solidFill>
                <a:latin typeface="Montserrat" pitchFamily="34" charset="0"/>
                <a:ea typeface="Montserrat" pitchFamily="34" charset="-122"/>
                <a:cs typeface="Montserrat" pitchFamily="34" charset="-120"/>
              </a:rPr>
              <a:t>06</a:t>
            </a:r>
            <a:endParaRPr lang="en-US" sz="2400" dirty="0"/>
          </a:p>
        </p:txBody>
      </p:sp>
      <p:sp>
        <p:nvSpPr>
          <p:cNvPr id="38" name="Text 36"/>
          <p:cNvSpPr/>
          <p:nvPr/>
        </p:nvSpPr>
        <p:spPr>
          <a:xfrm>
            <a:off x="8258861" y="3374136"/>
            <a:ext cx="2835554" cy="1252728"/>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A IA ajuda a justificar escolhas para partes interessadas com dados concretos.</a:t>
            </a:r>
            <a:endParaRPr lang="en-US" sz="1300" dirty="0"/>
          </a:p>
        </p:txBody>
      </p:sp>
      <p:sp>
        <p:nvSpPr>
          <p:cNvPr id="39" name="Shape 37"/>
          <p:cNvSpPr/>
          <p:nvPr/>
        </p:nvSpPr>
        <p:spPr>
          <a:xfrm>
            <a:off x="621792" y="4956048"/>
            <a:ext cx="3603650" cy="1527048"/>
          </a:xfrm>
          <a:prstGeom prst="roundRect">
            <a:avLst>
              <a:gd name="adj" fmla="val 5988"/>
            </a:avLst>
          </a:prstGeom>
          <a:solidFill>
            <a:srgbClr val="000000"/>
          </a:solidFill>
          <a:ln/>
        </p:spPr>
      </p:sp>
      <p:sp>
        <p:nvSpPr>
          <p:cNvPr id="40" name="Shape 38"/>
          <p:cNvSpPr/>
          <p:nvPr/>
        </p:nvSpPr>
        <p:spPr>
          <a:xfrm>
            <a:off x="594360" y="4919472"/>
            <a:ext cx="3603650" cy="1527048"/>
          </a:xfrm>
          <a:prstGeom prst="roundRect">
            <a:avLst>
              <a:gd name="adj" fmla="val 5988"/>
            </a:avLst>
          </a:prstGeom>
          <a:solidFill>
            <a:srgbClr val="141E34"/>
          </a:solidFill>
          <a:ln/>
        </p:spPr>
      </p:sp>
      <p:sp>
        <p:nvSpPr>
          <p:cNvPr id="41" name="Shape 39"/>
          <p:cNvSpPr/>
          <p:nvPr/>
        </p:nvSpPr>
        <p:spPr>
          <a:xfrm>
            <a:off x="594360" y="4919472"/>
            <a:ext cx="3603650" cy="45720"/>
          </a:xfrm>
          <a:prstGeom prst="rect">
            <a:avLst>
              <a:gd name="adj" fmla="val 200000"/>
            </a:avLst>
          </a:prstGeom>
          <a:solidFill>
            <a:srgbClr val="3B82F6"/>
          </a:solidFill>
          <a:ln/>
        </p:spPr>
      </p:sp>
      <p:sp>
        <p:nvSpPr>
          <p:cNvPr id="42" name="Text 40"/>
          <p:cNvSpPr/>
          <p:nvPr/>
        </p:nvSpPr>
        <p:spPr>
          <a:xfrm>
            <a:off x="3603650" y="5010912"/>
            <a:ext cx="502920" cy="365760"/>
          </a:xfrm>
          <a:prstGeom prst="rect">
            <a:avLst/>
          </a:prstGeom>
          <a:noFill/>
          <a:ln/>
        </p:spPr>
        <p:txBody>
          <a:bodyPr wrap="square" rtlCol="0" anchor="ctr"/>
          <a:lstStyle/>
          <a:p>
            <a:pPr algn="r" indent="0" marL="0">
              <a:buNone/>
            </a:pPr>
            <a:r>
              <a:rPr lang="en-US" sz="2400" b="1" dirty="0">
                <a:solidFill>
                  <a:srgbClr val="3B82F6">
                    <a:alpha val="75000"/>
                  </a:srgbClr>
                </a:solidFill>
                <a:latin typeface="Montserrat" pitchFamily="34" charset="0"/>
                <a:ea typeface="Montserrat" pitchFamily="34" charset="-122"/>
                <a:cs typeface="Montserrat" pitchFamily="34" charset="-120"/>
              </a:rPr>
              <a:t>07</a:t>
            </a:r>
            <a:endParaRPr lang="en-US" sz="2400" dirty="0"/>
          </a:p>
        </p:txBody>
      </p:sp>
      <p:sp>
        <p:nvSpPr>
          <p:cNvPr id="43" name="Text 41"/>
          <p:cNvSpPr/>
          <p:nvPr/>
        </p:nvSpPr>
        <p:spPr>
          <a:xfrm>
            <a:off x="722376" y="5065776"/>
            <a:ext cx="2835554" cy="1252728"/>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Resulta em maior confiança nas decisões e alocação eficiente de recursos.</a:t>
            </a:r>
            <a:endParaRPr lang="en-US" sz="1300" dirty="0"/>
          </a:p>
        </p:txBody>
      </p:sp>
      <p:sp>
        <p:nvSpPr>
          <p:cNvPr id="44" name="Shape 42"/>
          <p:cNvSpPr/>
          <p:nvPr/>
        </p:nvSpPr>
        <p:spPr>
          <a:xfrm>
            <a:off x="0" y="6601968"/>
            <a:ext cx="2041093" cy="4572"/>
          </a:xfrm>
          <a:prstGeom prst="rect">
            <a:avLst/>
          </a:prstGeom>
          <a:solidFill>
            <a:srgbClr val="6C63FF"/>
          </a:solidFill>
          <a:ln/>
        </p:spPr>
      </p:sp>
      <p:sp>
        <p:nvSpPr>
          <p:cNvPr id="45" name="Shape 43"/>
          <p:cNvSpPr/>
          <p:nvPr/>
        </p:nvSpPr>
        <p:spPr>
          <a:xfrm>
            <a:off x="2031949" y="6601968"/>
            <a:ext cx="2041093" cy="4572"/>
          </a:xfrm>
          <a:prstGeom prst="rect">
            <a:avLst/>
          </a:prstGeom>
          <a:solidFill>
            <a:srgbClr val="6C63FF"/>
          </a:solidFill>
          <a:ln/>
        </p:spPr>
      </p:sp>
      <p:sp>
        <p:nvSpPr>
          <p:cNvPr id="46" name="Shape 44"/>
          <p:cNvSpPr/>
          <p:nvPr/>
        </p:nvSpPr>
        <p:spPr>
          <a:xfrm>
            <a:off x="4063898" y="6601968"/>
            <a:ext cx="2041093" cy="4572"/>
          </a:xfrm>
          <a:prstGeom prst="rect">
            <a:avLst/>
          </a:prstGeom>
          <a:solidFill>
            <a:srgbClr val="6C63FF"/>
          </a:solidFill>
          <a:ln/>
        </p:spPr>
      </p:sp>
      <p:sp>
        <p:nvSpPr>
          <p:cNvPr id="47" name="Shape 45"/>
          <p:cNvSpPr/>
          <p:nvPr/>
        </p:nvSpPr>
        <p:spPr>
          <a:xfrm>
            <a:off x="6095848" y="6601968"/>
            <a:ext cx="2041093" cy="4572"/>
          </a:xfrm>
          <a:prstGeom prst="rect">
            <a:avLst/>
          </a:prstGeom>
          <a:solidFill>
            <a:srgbClr val="6C63FF"/>
          </a:solidFill>
          <a:ln/>
        </p:spPr>
      </p:sp>
      <p:sp>
        <p:nvSpPr>
          <p:cNvPr id="48" name="Shape 46"/>
          <p:cNvSpPr/>
          <p:nvPr/>
        </p:nvSpPr>
        <p:spPr>
          <a:xfrm>
            <a:off x="8127797" y="6601968"/>
            <a:ext cx="2041093" cy="4572"/>
          </a:xfrm>
          <a:prstGeom prst="rect">
            <a:avLst/>
          </a:prstGeom>
          <a:solidFill>
            <a:srgbClr val="6C63FF"/>
          </a:solidFill>
          <a:ln/>
        </p:spPr>
      </p:sp>
      <p:sp>
        <p:nvSpPr>
          <p:cNvPr id="49" name="Shape 47"/>
          <p:cNvSpPr/>
          <p:nvPr/>
        </p:nvSpPr>
        <p:spPr>
          <a:xfrm>
            <a:off x="10159746" y="6601968"/>
            <a:ext cx="2041093" cy="4572"/>
          </a:xfrm>
          <a:prstGeom prst="rect">
            <a:avLst/>
          </a:prstGeom>
          <a:solidFill>
            <a:srgbClr val="6C63FF"/>
          </a:solidFill>
          <a:ln/>
        </p:spPr>
      </p:sp>
      <p:sp>
        <p:nvSpPr>
          <p:cNvPr id="50" name="Shape 48"/>
          <p:cNvSpPr/>
          <p:nvPr/>
        </p:nvSpPr>
        <p:spPr>
          <a:xfrm>
            <a:off x="0" y="6606540"/>
            <a:ext cx="12191695" cy="2743"/>
          </a:xfrm>
          <a:prstGeom prst="rect">
            <a:avLst/>
          </a:prstGeom>
          <a:solidFill>
            <a:srgbClr val="222E48"/>
          </a:solidFill>
          <a:ln/>
        </p:spPr>
      </p:sp>
      <p:sp>
        <p:nvSpPr>
          <p:cNvPr id="51" name="Text 49"/>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52" name="Shape 50"/>
          <p:cNvSpPr/>
          <p:nvPr/>
        </p:nvSpPr>
        <p:spPr>
          <a:xfrm>
            <a:off x="10436047" y="6693408"/>
            <a:ext cx="73152" cy="73152"/>
          </a:xfrm>
          <a:prstGeom prst="ellipse">
            <a:avLst/>
          </a:prstGeom>
          <a:solidFill>
            <a:srgbClr val="6C63FF"/>
          </a:solidFill>
          <a:ln/>
        </p:spPr>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C0392B"/>
          </a:solidFill>
          <a:ln/>
        </p:spPr>
      </p:sp>
      <p:sp>
        <p:nvSpPr>
          <p:cNvPr id="3" name="Shape 1"/>
          <p:cNvSpPr/>
          <p:nvPr/>
        </p:nvSpPr>
        <p:spPr>
          <a:xfrm>
            <a:off x="64008" y="0"/>
            <a:ext cx="18288" cy="6858000"/>
          </a:xfrm>
          <a:prstGeom prst="rect">
            <a:avLst/>
          </a:prstGeom>
          <a:solidFill>
            <a:srgbClr val="C0392B"/>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C0392B"/>
                </a:solidFill>
                <a:latin typeface="Open Sans" pitchFamily="34" charset="0"/>
                <a:ea typeface="Open Sans" pitchFamily="34" charset="-122"/>
                <a:cs typeface="Open Sans" pitchFamily="34" charset="-120"/>
              </a:rPr>
              <a:t>DESAFIOS E CUIDADOS</a:t>
            </a:r>
            <a:endParaRPr lang="en-US" sz="900" dirty="0"/>
          </a:p>
        </p:txBody>
      </p:sp>
      <p:sp>
        <p:nvSpPr>
          <p:cNvPr id="5" name="Shape 3"/>
          <p:cNvSpPr/>
          <p:nvPr/>
        </p:nvSpPr>
        <p:spPr>
          <a:xfrm>
            <a:off x="502920" y="493776"/>
            <a:ext cx="640080" cy="21946"/>
          </a:xfrm>
          <a:prstGeom prst="rect">
            <a:avLst/>
          </a:prstGeom>
          <a:solidFill>
            <a:srgbClr val="C0392B"/>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Desafios e cuidados</a:t>
            </a:r>
            <a:endParaRPr lang="en-US" sz="2800" dirty="0"/>
          </a:p>
        </p:txBody>
      </p:sp>
      <p:sp>
        <p:nvSpPr>
          <p:cNvPr id="7" name="Shape 5"/>
          <p:cNvSpPr/>
          <p:nvPr/>
        </p:nvSpPr>
        <p:spPr>
          <a:xfrm>
            <a:off x="502920" y="1389888"/>
            <a:ext cx="11185855" cy="7315"/>
          </a:xfrm>
          <a:prstGeom prst="rect">
            <a:avLst/>
          </a:prstGeom>
          <a:solidFill>
            <a:srgbClr val="C0392B"/>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10820095" y="320040"/>
            <a:ext cx="731520" cy="731520"/>
          </a:xfrm>
          <a:prstGeom prst="roundRect">
            <a:avLst>
              <a:gd name="adj" fmla="val 15000"/>
            </a:avLst>
          </a:prstGeom>
          <a:solidFill>
            <a:srgbClr val="FEF2F2"/>
          </a:solidFill>
          <a:ln/>
        </p:spPr>
      </p:sp>
      <p:sp>
        <p:nvSpPr>
          <p:cNvPr id="10" name="Text 8"/>
          <p:cNvSpPr/>
          <p:nvPr/>
        </p:nvSpPr>
        <p:spPr>
          <a:xfrm>
            <a:off x="10820095" y="320040"/>
            <a:ext cx="731520" cy="73152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1" name="Shape 9"/>
          <p:cNvSpPr/>
          <p:nvPr/>
        </p:nvSpPr>
        <p:spPr>
          <a:xfrm>
            <a:off x="621792" y="1572768"/>
            <a:ext cx="11140135" cy="720852"/>
          </a:xfrm>
          <a:prstGeom prst="roundRect">
            <a:avLst>
              <a:gd name="adj" fmla="val 12685"/>
            </a:avLst>
          </a:prstGeom>
          <a:solidFill>
            <a:srgbClr val="000000"/>
          </a:solidFill>
          <a:ln/>
        </p:spPr>
      </p:sp>
      <p:sp>
        <p:nvSpPr>
          <p:cNvPr id="12" name="Shape 10"/>
          <p:cNvSpPr/>
          <p:nvPr/>
        </p:nvSpPr>
        <p:spPr>
          <a:xfrm>
            <a:off x="594360" y="1536192"/>
            <a:ext cx="11140135" cy="720852"/>
          </a:xfrm>
          <a:prstGeom prst="roundRect">
            <a:avLst>
              <a:gd name="adj" fmla="val 10148"/>
            </a:avLst>
          </a:prstGeom>
          <a:solidFill>
            <a:srgbClr val="FFF5F5"/>
          </a:solidFill>
          <a:ln/>
        </p:spPr>
      </p:sp>
      <p:sp>
        <p:nvSpPr>
          <p:cNvPr id="13" name="Shape 11"/>
          <p:cNvSpPr/>
          <p:nvPr/>
        </p:nvSpPr>
        <p:spPr>
          <a:xfrm>
            <a:off x="594360" y="1536192"/>
            <a:ext cx="54864" cy="720852"/>
          </a:xfrm>
          <a:prstGeom prst="rect">
            <a:avLst>
              <a:gd name="adj" fmla="val 133333"/>
            </a:avLst>
          </a:prstGeom>
          <a:solidFill>
            <a:srgbClr val="E74C3C"/>
          </a:solidFill>
          <a:ln/>
        </p:spPr>
      </p:sp>
      <p:sp>
        <p:nvSpPr>
          <p:cNvPr id="14" name="Text 12"/>
          <p:cNvSpPr/>
          <p:nvPr/>
        </p:nvSpPr>
        <p:spPr>
          <a:xfrm>
            <a:off x="795528" y="1563624"/>
            <a:ext cx="10865815" cy="665988"/>
          </a:xfrm>
          <a:prstGeom prst="rect">
            <a:avLst/>
          </a:prstGeom>
          <a:noFill/>
          <a:ln/>
        </p:spPr>
        <p:txBody>
          <a:bodyPr wrap="square" rtlCol="0" anchor="ctr"/>
          <a:lstStyle/>
          <a:p>
            <a:pPr indent="0" marL="0">
              <a:lnSpc>
                <a:spcPct val="120000"/>
              </a:lnSpc>
              <a:buNone/>
            </a:pPr>
            <a:r>
              <a:rPr lang="en-US" sz="1600" dirty="0">
                <a:solidFill>
                  <a:srgbClr val="E8EDF5"/>
                </a:solidFill>
                <a:latin typeface="Open Sans" pitchFamily="34" charset="0"/>
                <a:ea typeface="Open Sans" pitchFamily="34" charset="-122"/>
                <a:cs typeface="Open Sans" pitchFamily="34" charset="-120"/>
              </a:rPr>
              <a:t>É fundamental garantir a qualidade dos dados alimentados aos sistemas de IA. Dados incorretos ou viesados podem levar a percepções distorcidos e decisões errôneas.</a:t>
            </a:r>
            <a:endParaRPr lang="en-US" sz="1600" dirty="0"/>
          </a:p>
        </p:txBody>
      </p:sp>
      <p:sp>
        <p:nvSpPr>
          <p:cNvPr id="15" name="Shape 13"/>
          <p:cNvSpPr/>
          <p:nvPr/>
        </p:nvSpPr>
        <p:spPr>
          <a:xfrm>
            <a:off x="621792" y="2403348"/>
            <a:ext cx="11140135" cy="720852"/>
          </a:xfrm>
          <a:prstGeom prst="roundRect">
            <a:avLst>
              <a:gd name="adj" fmla="val 12685"/>
            </a:avLst>
          </a:prstGeom>
          <a:solidFill>
            <a:srgbClr val="000000"/>
          </a:solidFill>
          <a:ln/>
        </p:spPr>
      </p:sp>
      <p:sp>
        <p:nvSpPr>
          <p:cNvPr id="16" name="Shape 14"/>
          <p:cNvSpPr/>
          <p:nvPr/>
        </p:nvSpPr>
        <p:spPr>
          <a:xfrm>
            <a:off x="594360" y="2366772"/>
            <a:ext cx="11140135" cy="720852"/>
          </a:xfrm>
          <a:prstGeom prst="roundRect">
            <a:avLst>
              <a:gd name="adj" fmla="val 10148"/>
            </a:avLst>
          </a:prstGeom>
          <a:solidFill>
            <a:srgbClr val="141E34"/>
          </a:solidFill>
          <a:ln/>
        </p:spPr>
      </p:sp>
      <p:sp>
        <p:nvSpPr>
          <p:cNvPr id="17" name="Shape 15"/>
          <p:cNvSpPr/>
          <p:nvPr/>
        </p:nvSpPr>
        <p:spPr>
          <a:xfrm>
            <a:off x="594360" y="2366772"/>
            <a:ext cx="54864" cy="720852"/>
          </a:xfrm>
          <a:prstGeom prst="rect">
            <a:avLst>
              <a:gd name="adj" fmla="val 133333"/>
            </a:avLst>
          </a:prstGeom>
          <a:solidFill>
            <a:srgbClr val="E74C3C"/>
          </a:solidFill>
          <a:ln/>
        </p:spPr>
      </p:sp>
      <p:sp>
        <p:nvSpPr>
          <p:cNvPr id="18" name="Text 16"/>
          <p:cNvSpPr/>
          <p:nvPr/>
        </p:nvSpPr>
        <p:spPr>
          <a:xfrm>
            <a:off x="795528" y="2394204"/>
            <a:ext cx="10865815" cy="665988"/>
          </a:xfrm>
          <a:prstGeom prst="rect">
            <a:avLst/>
          </a:prstGeom>
          <a:noFill/>
          <a:ln/>
        </p:spPr>
        <p:txBody>
          <a:bodyPr wrap="square" rtlCol="0" anchor="ctr"/>
          <a:lstStyle/>
          <a:p>
            <a:pPr indent="0" marL="0">
              <a:lnSpc>
                <a:spcPct val="120000"/>
              </a:lnSpc>
              <a:buNone/>
            </a:pPr>
            <a:r>
              <a:rPr lang="en-US" sz="1600" dirty="0">
                <a:solidFill>
                  <a:srgbClr val="E8EDF5"/>
                </a:solidFill>
                <a:latin typeface="Open Sans" pitchFamily="34" charset="0"/>
                <a:ea typeface="Open Sans" pitchFamily="34" charset="-122"/>
                <a:cs typeface="Open Sans" pitchFamily="34" charset="-120"/>
              </a:rPr>
              <a:t>A interpretação humana dos resultados da IA continua sendo crucial para um uso eficaz e ético.</a:t>
            </a:r>
            <a:endParaRPr lang="en-US" sz="1600" dirty="0"/>
          </a:p>
        </p:txBody>
      </p:sp>
      <p:sp>
        <p:nvSpPr>
          <p:cNvPr id="19" name="Shape 17"/>
          <p:cNvSpPr/>
          <p:nvPr/>
        </p:nvSpPr>
        <p:spPr>
          <a:xfrm>
            <a:off x="621792" y="3233928"/>
            <a:ext cx="11140135" cy="720852"/>
          </a:xfrm>
          <a:prstGeom prst="roundRect">
            <a:avLst>
              <a:gd name="adj" fmla="val 12685"/>
            </a:avLst>
          </a:prstGeom>
          <a:solidFill>
            <a:srgbClr val="000000"/>
          </a:solidFill>
          <a:ln/>
        </p:spPr>
      </p:sp>
      <p:sp>
        <p:nvSpPr>
          <p:cNvPr id="20" name="Shape 18"/>
          <p:cNvSpPr/>
          <p:nvPr/>
        </p:nvSpPr>
        <p:spPr>
          <a:xfrm>
            <a:off x="594360" y="3197352"/>
            <a:ext cx="11140135" cy="720852"/>
          </a:xfrm>
          <a:prstGeom prst="roundRect">
            <a:avLst>
              <a:gd name="adj" fmla="val 10148"/>
            </a:avLst>
          </a:prstGeom>
          <a:solidFill>
            <a:srgbClr val="FFF5F5"/>
          </a:solidFill>
          <a:ln/>
        </p:spPr>
      </p:sp>
      <p:sp>
        <p:nvSpPr>
          <p:cNvPr id="21" name="Shape 19"/>
          <p:cNvSpPr/>
          <p:nvPr/>
        </p:nvSpPr>
        <p:spPr>
          <a:xfrm>
            <a:off x="594360" y="3197352"/>
            <a:ext cx="54864" cy="720852"/>
          </a:xfrm>
          <a:prstGeom prst="rect">
            <a:avLst>
              <a:gd name="adj" fmla="val 133333"/>
            </a:avLst>
          </a:prstGeom>
          <a:solidFill>
            <a:srgbClr val="E74C3C"/>
          </a:solidFill>
          <a:ln/>
        </p:spPr>
      </p:sp>
      <p:sp>
        <p:nvSpPr>
          <p:cNvPr id="22" name="Text 20"/>
          <p:cNvSpPr/>
          <p:nvPr/>
        </p:nvSpPr>
        <p:spPr>
          <a:xfrm>
            <a:off x="795528" y="3224784"/>
            <a:ext cx="10865815" cy="665988"/>
          </a:xfrm>
          <a:prstGeom prst="rect">
            <a:avLst/>
          </a:prstGeom>
          <a:noFill/>
          <a:ln/>
        </p:spPr>
        <p:txBody>
          <a:bodyPr wrap="square" rtlCol="0" anchor="ctr"/>
          <a:lstStyle/>
          <a:p>
            <a:pPr indent="0" marL="0">
              <a:lnSpc>
                <a:spcPct val="120000"/>
              </a:lnSpc>
              <a:buNone/>
            </a:pPr>
            <a:r>
              <a:rPr lang="en-US" sz="1600" dirty="0">
                <a:solidFill>
                  <a:srgbClr val="E8EDF5"/>
                </a:solidFill>
                <a:latin typeface="Open Sans" pitchFamily="34" charset="0"/>
                <a:ea typeface="Open Sans" pitchFamily="34" charset="-122"/>
                <a:cs typeface="Open Sans" pitchFamily="34" charset="-120"/>
              </a:rPr>
              <a:t>A privacidade dos dados é uma preocupação ética fundamental na análise por IA.</a:t>
            </a:r>
            <a:endParaRPr lang="en-US" sz="1600" dirty="0"/>
          </a:p>
        </p:txBody>
      </p:sp>
      <p:sp>
        <p:nvSpPr>
          <p:cNvPr id="23" name="Shape 21"/>
          <p:cNvSpPr/>
          <p:nvPr/>
        </p:nvSpPr>
        <p:spPr>
          <a:xfrm>
            <a:off x="621792" y="4064508"/>
            <a:ext cx="11140135" cy="720852"/>
          </a:xfrm>
          <a:prstGeom prst="roundRect">
            <a:avLst>
              <a:gd name="adj" fmla="val 12685"/>
            </a:avLst>
          </a:prstGeom>
          <a:solidFill>
            <a:srgbClr val="000000"/>
          </a:solidFill>
          <a:ln/>
        </p:spPr>
      </p:sp>
      <p:sp>
        <p:nvSpPr>
          <p:cNvPr id="24" name="Shape 22"/>
          <p:cNvSpPr/>
          <p:nvPr/>
        </p:nvSpPr>
        <p:spPr>
          <a:xfrm>
            <a:off x="594360" y="4027932"/>
            <a:ext cx="11140135" cy="720852"/>
          </a:xfrm>
          <a:prstGeom prst="roundRect">
            <a:avLst>
              <a:gd name="adj" fmla="val 10148"/>
            </a:avLst>
          </a:prstGeom>
          <a:solidFill>
            <a:srgbClr val="141E34"/>
          </a:solidFill>
          <a:ln/>
        </p:spPr>
      </p:sp>
      <p:sp>
        <p:nvSpPr>
          <p:cNvPr id="25" name="Shape 23"/>
          <p:cNvSpPr/>
          <p:nvPr/>
        </p:nvSpPr>
        <p:spPr>
          <a:xfrm>
            <a:off x="594360" y="4027932"/>
            <a:ext cx="54864" cy="720852"/>
          </a:xfrm>
          <a:prstGeom prst="rect">
            <a:avLst>
              <a:gd name="adj" fmla="val 133333"/>
            </a:avLst>
          </a:prstGeom>
          <a:solidFill>
            <a:srgbClr val="E74C3C"/>
          </a:solidFill>
          <a:ln/>
        </p:spPr>
      </p:sp>
      <p:sp>
        <p:nvSpPr>
          <p:cNvPr id="26" name="Text 24"/>
          <p:cNvSpPr/>
          <p:nvPr/>
        </p:nvSpPr>
        <p:spPr>
          <a:xfrm>
            <a:off x="795528" y="4055364"/>
            <a:ext cx="10865815" cy="665988"/>
          </a:xfrm>
          <a:prstGeom prst="rect">
            <a:avLst/>
          </a:prstGeom>
          <a:noFill/>
          <a:ln/>
        </p:spPr>
        <p:txBody>
          <a:bodyPr wrap="square" rtlCol="0" anchor="ctr"/>
          <a:lstStyle/>
          <a:p>
            <a:pPr indent="0" marL="0">
              <a:lnSpc>
                <a:spcPct val="120000"/>
              </a:lnSpc>
              <a:buNone/>
            </a:pPr>
            <a:r>
              <a:rPr lang="en-US" sz="1600" dirty="0">
                <a:solidFill>
                  <a:srgbClr val="E8EDF5"/>
                </a:solidFill>
                <a:latin typeface="Open Sans" pitchFamily="34" charset="0"/>
                <a:ea typeface="Open Sans" pitchFamily="34" charset="-122"/>
                <a:cs typeface="Open Sans" pitchFamily="34" charset="-120"/>
              </a:rPr>
              <a:t>É essencial compreender as limitações dos modelos preditivos.</a:t>
            </a:r>
            <a:endParaRPr lang="en-US" sz="1600" dirty="0"/>
          </a:p>
        </p:txBody>
      </p:sp>
      <p:sp>
        <p:nvSpPr>
          <p:cNvPr id="27" name="Shape 25"/>
          <p:cNvSpPr/>
          <p:nvPr/>
        </p:nvSpPr>
        <p:spPr>
          <a:xfrm>
            <a:off x="621792" y="4895088"/>
            <a:ext cx="11140135" cy="720852"/>
          </a:xfrm>
          <a:prstGeom prst="roundRect">
            <a:avLst>
              <a:gd name="adj" fmla="val 12685"/>
            </a:avLst>
          </a:prstGeom>
          <a:solidFill>
            <a:srgbClr val="000000"/>
          </a:solidFill>
          <a:ln/>
        </p:spPr>
      </p:sp>
      <p:sp>
        <p:nvSpPr>
          <p:cNvPr id="28" name="Shape 26"/>
          <p:cNvSpPr/>
          <p:nvPr/>
        </p:nvSpPr>
        <p:spPr>
          <a:xfrm>
            <a:off x="594360" y="4858512"/>
            <a:ext cx="11140135" cy="720852"/>
          </a:xfrm>
          <a:prstGeom prst="roundRect">
            <a:avLst>
              <a:gd name="adj" fmla="val 10148"/>
            </a:avLst>
          </a:prstGeom>
          <a:solidFill>
            <a:srgbClr val="FFF5F5"/>
          </a:solidFill>
          <a:ln/>
        </p:spPr>
      </p:sp>
      <p:sp>
        <p:nvSpPr>
          <p:cNvPr id="29" name="Shape 27"/>
          <p:cNvSpPr/>
          <p:nvPr/>
        </p:nvSpPr>
        <p:spPr>
          <a:xfrm>
            <a:off x="594360" y="4858512"/>
            <a:ext cx="54864" cy="720852"/>
          </a:xfrm>
          <a:prstGeom prst="rect">
            <a:avLst>
              <a:gd name="adj" fmla="val 133333"/>
            </a:avLst>
          </a:prstGeom>
          <a:solidFill>
            <a:srgbClr val="E74C3C"/>
          </a:solidFill>
          <a:ln/>
        </p:spPr>
      </p:sp>
      <p:sp>
        <p:nvSpPr>
          <p:cNvPr id="30" name="Text 28"/>
          <p:cNvSpPr/>
          <p:nvPr/>
        </p:nvSpPr>
        <p:spPr>
          <a:xfrm>
            <a:off x="795528" y="4885944"/>
            <a:ext cx="10865815" cy="665988"/>
          </a:xfrm>
          <a:prstGeom prst="rect">
            <a:avLst/>
          </a:prstGeom>
          <a:noFill/>
          <a:ln/>
        </p:spPr>
        <p:txBody>
          <a:bodyPr wrap="square" rtlCol="0" anchor="ctr"/>
          <a:lstStyle/>
          <a:p>
            <a:pPr indent="0" marL="0">
              <a:lnSpc>
                <a:spcPct val="120000"/>
              </a:lnSpc>
              <a:buNone/>
            </a:pPr>
            <a:r>
              <a:rPr lang="en-US" sz="1600" dirty="0">
                <a:solidFill>
                  <a:srgbClr val="E8EDF5"/>
                </a:solidFill>
                <a:latin typeface="Open Sans" pitchFamily="34" charset="0"/>
                <a:ea typeface="Open Sans" pitchFamily="34" charset="-122"/>
                <a:cs typeface="Open Sans" pitchFamily="34" charset="-120"/>
              </a:rPr>
              <a:t>Evitar a dependência excessiva da IA sem validação humana é importante.</a:t>
            </a:r>
            <a:endParaRPr lang="en-US" sz="1600" dirty="0"/>
          </a:p>
        </p:txBody>
      </p:sp>
      <p:sp>
        <p:nvSpPr>
          <p:cNvPr id="31" name="Shape 29"/>
          <p:cNvSpPr/>
          <p:nvPr/>
        </p:nvSpPr>
        <p:spPr>
          <a:xfrm>
            <a:off x="621792" y="5725668"/>
            <a:ext cx="11140135" cy="720852"/>
          </a:xfrm>
          <a:prstGeom prst="roundRect">
            <a:avLst>
              <a:gd name="adj" fmla="val 12685"/>
            </a:avLst>
          </a:prstGeom>
          <a:solidFill>
            <a:srgbClr val="000000"/>
          </a:solidFill>
          <a:ln/>
        </p:spPr>
      </p:sp>
      <p:sp>
        <p:nvSpPr>
          <p:cNvPr id="32" name="Shape 30"/>
          <p:cNvSpPr/>
          <p:nvPr/>
        </p:nvSpPr>
        <p:spPr>
          <a:xfrm>
            <a:off x="594360" y="5689092"/>
            <a:ext cx="11140135" cy="720852"/>
          </a:xfrm>
          <a:prstGeom prst="roundRect">
            <a:avLst>
              <a:gd name="adj" fmla="val 10148"/>
            </a:avLst>
          </a:prstGeom>
          <a:solidFill>
            <a:srgbClr val="141E34"/>
          </a:solidFill>
          <a:ln/>
        </p:spPr>
      </p:sp>
      <p:sp>
        <p:nvSpPr>
          <p:cNvPr id="33" name="Shape 31"/>
          <p:cNvSpPr/>
          <p:nvPr/>
        </p:nvSpPr>
        <p:spPr>
          <a:xfrm>
            <a:off x="594360" y="5689092"/>
            <a:ext cx="54864" cy="720852"/>
          </a:xfrm>
          <a:prstGeom prst="rect">
            <a:avLst>
              <a:gd name="adj" fmla="val 133333"/>
            </a:avLst>
          </a:prstGeom>
          <a:solidFill>
            <a:srgbClr val="E74C3C"/>
          </a:solidFill>
          <a:ln/>
        </p:spPr>
      </p:sp>
      <p:sp>
        <p:nvSpPr>
          <p:cNvPr id="34" name="Text 32"/>
          <p:cNvSpPr/>
          <p:nvPr/>
        </p:nvSpPr>
        <p:spPr>
          <a:xfrm>
            <a:off x="795528" y="5716524"/>
            <a:ext cx="10865815" cy="665988"/>
          </a:xfrm>
          <a:prstGeom prst="rect">
            <a:avLst/>
          </a:prstGeom>
          <a:noFill/>
          <a:ln/>
        </p:spPr>
        <p:txBody>
          <a:bodyPr wrap="square" rtlCol="0" anchor="ctr"/>
          <a:lstStyle/>
          <a:p>
            <a:pPr indent="0" marL="0">
              <a:lnSpc>
                <a:spcPct val="120000"/>
              </a:lnSpc>
              <a:buNone/>
            </a:pPr>
            <a:r>
              <a:rPr lang="en-US" sz="1600" dirty="0">
                <a:solidFill>
                  <a:srgbClr val="E8EDF5"/>
                </a:solidFill>
                <a:latin typeface="Open Sans" pitchFamily="34" charset="0"/>
                <a:ea typeface="Open Sans" pitchFamily="34" charset="-122"/>
                <a:cs typeface="Open Sans" pitchFamily="34" charset="-120"/>
              </a:rPr>
              <a:t>A transparência sobre como a IA chega a certas conclusões ainda é um desafio.</a:t>
            </a:r>
            <a:endParaRPr lang="en-US" sz="1600" dirty="0"/>
          </a:p>
        </p:txBody>
      </p:sp>
      <p:sp>
        <p:nvSpPr>
          <p:cNvPr id="35" name="Shape 33"/>
          <p:cNvSpPr/>
          <p:nvPr/>
        </p:nvSpPr>
        <p:spPr>
          <a:xfrm>
            <a:off x="0" y="6601968"/>
            <a:ext cx="2041093" cy="4572"/>
          </a:xfrm>
          <a:prstGeom prst="rect">
            <a:avLst/>
          </a:prstGeom>
          <a:solidFill>
            <a:srgbClr val="6C63FF"/>
          </a:solidFill>
          <a:ln/>
        </p:spPr>
      </p:sp>
      <p:sp>
        <p:nvSpPr>
          <p:cNvPr id="36" name="Shape 34"/>
          <p:cNvSpPr/>
          <p:nvPr/>
        </p:nvSpPr>
        <p:spPr>
          <a:xfrm>
            <a:off x="2031949" y="6601968"/>
            <a:ext cx="2041093" cy="4572"/>
          </a:xfrm>
          <a:prstGeom prst="rect">
            <a:avLst/>
          </a:prstGeom>
          <a:solidFill>
            <a:srgbClr val="6C63FF"/>
          </a:solidFill>
          <a:ln/>
        </p:spPr>
      </p:sp>
      <p:sp>
        <p:nvSpPr>
          <p:cNvPr id="37" name="Shape 35"/>
          <p:cNvSpPr/>
          <p:nvPr/>
        </p:nvSpPr>
        <p:spPr>
          <a:xfrm>
            <a:off x="4063898" y="6601968"/>
            <a:ext cx="2041093" cy="4572"/>
          </a:xfrm>
          <a:prstGeom prst="rect">
            <a:avLst/>
          </a:prstGeom>
          <a:solidFill>
            <a:srgbClr val="6C63FF"/>
          </a:solidFill>
          <a:ln/>
        </p:spPr>
      </p:sp>
      <p:sp>
        <p:nvSpPr>
          <p:cNvPr id="38" name="Shape 36"/>
          <p:cNvSpPr/>
          <p:nvPr/>
        </p:nvSpPr>
        <p:spPr>
          <a:xfrm>
            <a:off x="6095848" y="6601968"/>
            <a:ext cx="2041093" cy="4572"/>
          </a:xfrm>
          <a:prstGeom prst="rect">
            <a:avLst/>
          </a:prstGeom>
          <a:solidFill>
            <a:srgbClr val="6C63FF"/>
          </a:solidFill>
          <a:ln/>
        </p:spPr>
      </p:sp>
      <p:sp>
        <p:nvSpPr>
          <p:cNvPr id="39" name="Shape 37"/>
          <p:cNvSpPr/>
          <p:nvPr/>
        </p:nvSpPr>
        <p:spPr>
          <a:xfrm>
            <a:off x="8127797" y="6601968"/>
            <a:ext cx="2041093" cy="4572"/>
          </a:xfrm>
          <a:prstGeom prst="rect">
            <a:avLst/>
          </a:prstGeom>
          <a:solidFill>
            <a:srgbClr val="6C63FF"/>
          </a:solidFill>
          <a:ln/>
        </p:spPr>
      </p:sp>
      <p:sp>
        <p:nvSpPr>
          <p:cNvPr id="40" name="Shape 38"/>
          <p:cNvSpPr/>
          <p:nvPr/>
        </p:nvSpPr>
        <p:spPr>
          <a:xfrm>
            <a:off x="10159746" y="6601968"/>
            <a:ext cx="2041093" cy="4572"/>
          </a:xfrm>
          <a:prstGeom prst="rect">
            <a:avLst/>
          </a:prstGeom>
          <a:solidFill>
            <a:srgbClr val="6C63FF"/>
          </a:solidFill>
          <a:ln/>
        </p:spPr>
      </p:sp>
      <p:sp>
        <p:nvSpPr>
          <p:cNvPr id="41" name="Shape 39"/>
          <p:cNvSpPr/>
          <p:nvPr/>
        </p:nvSpPr>
        <p:spPr>
          <a:xfrm>
            <a:off x="0" y="6606540"/>
            <a:ext cx="12191695" cy="2743"/>
          </a:xfrm>
          <a:prstGeom prst="rect">
            <a:avLst/>
          </a:prstGeom>
          <a:solidFill>
            <a:srgbClr val="222E48"/>
          </a:solidFill>
          <a:ln/>
        </p:spPr>
      </p:sp>
      <p:sp>
        <p:nvSpPr>
          <p:cNvPr id="42" name="Text 40"/>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43" name="Shape 41"/>
          <p:cNvSpPr/>
          <p:nvPr/>
        </p:nvSpPr>
        <p:spPr>
          <a:xfrm>
            <a:off x="10436047" y="6693408"/>
            <a:ext cx="73152" cy="73152"/>
          </a:xfrm>
          <a:prstGeom prst="ellipse">
            <a:avLst/>
          </a:prstGeom>
          <a:solidFill>
            <a:srgbClr val="6C63FF"/>
          </a:solidFill>
          <a:ln/>
        </p:spPr>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6C63FF"/>
          </a:solidFill>
          <a:ln/>
        </p:spPr>
      </p:sp>
      <p:sp>
        <p:nvSpPr>
          <p:cNvPr id="3" name="Text 1"/>
          <p:cNvSpPr/>
          <p:nvPr/>
        </p:nvSpPr>
        <p:spPr>
          <a:xfrm>
            <a:off x="685800" y="274320"/>
            <a:ext cx="5486400" cy="219456"/>
          </a:xfrm>
          <a:prstGeom prst="rect">
            <a:avLst/>
          </a:prstGeom>
          <a:noFill/>
          <a:ln/>
        </p:spPr>
        <p:txBody>
          <a:bodyPr wrap="square" rtlCol="0" anchor="ctr"/>
          <a:lstStyle/>
          <a:p>
            <a:pPr indent="0" marL="0">
              <a:buNone/>
            </a:pPr>
            <a:r>
              <a:rPr lang="en-US" sz="1000" b="1" spc="500" kern="0" dirty="0">
                <a:solidFill>
                  <a:srgbClr val="6C63FF"/>
                </a:solidFill>
                <a:latin typeface="Open Sans" pitchFamily="34" charset="0"/>
                <a:ea typeface="Open Sans" pitchFamily="34" charset="-122"/>
                <a:cs typeface="Open Sans" pitchFamily="34" charset="-120"/>
              </a:rPr>
              <a:t>RESUMO DO MÓDULO</a:t>
            </a:r>
            <a:endParaRPr lang="en-US" sz="1000" dirty="0"/>
          </a:p>
        </p:txBody>
      </p:sp>
      <p:sp>
        <p:nvSpPr>
          <p:cNvPr id="4" name="Shape 2"/>
          <p:cNvSpPr/>
          <p:nvPr/>
        </p:nvSpPr>
        <p:spPr>
          <a:xfrm>
            <a:off x="685800" y="521208"/>
            <a:ext cx="822960" cy="18288"/>
          </a:xfrm>
          <a:prstGeom prst="rect">
            <a:avLst/>
          </a:prstGeom>
          <a:solidFill>
            <a:srgbClr val="6C63FF"/>
          </a:solidFill>
          <a:ln/>
        </p:spPr>
      </p:sp>
      <p:sp>
        <p:nvSpPr>
          <p:cNvPr id="5" name="Text 3"/>
          <p:cNvSpPr/>
          <p:nvPr/>
        </p:nvSpPr>
        <p:spPr>
          <a:xfrm>
            <a:off x="685800" y="621792"/>
            <a:ext cx="11048695" cy="685800"/>
          </a:xfrm>
          <a:prstGeom prst="rect">
            <a:avLst/>
          </a:prstGeom>
          <a:noFill/>
          <a:ln/>
        </p:spPr>
        <p:txBody>
          <a:bodyPr wrap="square" rtlCol="0" anchor="ctr"/>
          <a:lstStyle/>
          <a:p>
            <a:pPr indent="0" marL="0">
              <a:buNone/>
            </a:pPr>
            <a:r>
              <a:rPr lang="en-US" sz="2800" b="1" dirty="0">
                <a:solidFill>
                  <a:srgbClr val="E8EDF5"/>
                </a:solidFill>
                <a:latin typeface="Montserrat" pitchFamily="34" charset="0"/>
                <a:ea typeface="Montserrat" pitchFamily="34" charset="-122"/>
                <a:cs typeface="Montserrat" pitchFamily="34" charset="-120"/>
              </a:rPr>
              <a:t>Resumo do Módulo</a:t>
            </a:r>
            <a:endParaRPr lang="en-US" sz="2800" dirty="0"/>
          </a:p>
        </p:txBody>
      </p:sp>
      <p:sp>
        <p:nvSpPr>
          <p:cNvPr id="6" name="Shape 4"/>
          <p:cNvSpPr/>
          <p:nvPr/>
        </p:nvSpPr>
        <p:spPr>
          <a:xfrm>
            <a:off x="713232" y="1499616"/>
            <a:ext cx="11048695" cy="1371600"/>
          </a:xfrm>
          <a:prstGeom prst="roundRect">
            <a:avLst>
              <a:gd name="adj" fmla="val 6667"/>
            </a:avLst>
          </a:prstGeom>
          <a:solidFill>
            <a:srgbClr val="000000"/>
          </a:solidFill>
          <a:ln/>
        </p:spPr>
      </p:sp>
      <p:sp>
        <p:nvSpPr>
          <p:cNvPr id="7" name="Shape 5"/>
          <p:cNvSpPr/>
          <p:nvPr/>
        </p:nvSpPr>
        <p:spPr>
          <a:xfrm>
            <a:off x="685800" y="1463040"/>
            <a:ext cx="11048695" cy="1371600"/>
          </a:xfrm>
          <a:prstGeom prst="roundRect">
            <a:avLst>
              <a:gd name="adj" fmla="val 6667"/>
            </a:avLst>
          </a:prstGeom>
          <a:solidFill>
            <a:srgbClr val="141E34"/>
          </a:solidFill>
          <a:ln/>
        </p:spPr>
      </p:sp>
      <p:sp>
        <p:nvSpPr>
          <p:cNvPr id="8" name="Shape 6"/>
          <p:cNvSpPr/>
          <p:nvPr/>
        </p:nvSpPr>
        <p:spPr>
          <a:xfrm>
            <a:off x="685800" y="1463040"/>
            <a:ext cx="45720" cy="1371600"/>
          </a:xfrm>
          <a:prstGeom prst="rect">
            <a:avLst>
              <a:gd name="adj" fmla="val 200000"/>
            </a:avLst>
          </a:prstGeom>
          <a:solidFill>
            <a:srgbClr val="6C63FF"/>
          </a:solidFill>
          <a:ln/>
        </p:spPr>
      </p:sp>
      <p:sp>
        <p:nvSpPr>
          <p:cNvPr id="9" name="Shape 7"/>
          <p:cNvSpPr/>
          <p:nvPr/>
        </p:nvSpPr>
        <p:spPr>
          <a:xfrm>
            <a:off x="813816" y="1572768"/>
            <a:ext cx="365760" cy="365760"/>
          </a:xfrm>
          <a:prstGeom prst="roundRect">
            <a:avLst>
              <a:gd name="adj" fmla="val 20000"/>
            </a:avLst>
          </a:prstGeom>
          <a:solidFill>
            <a:srgbClr val="6C63FF"/>
          </a:solidFill>
          <a:ln/>
        </p:spPr>
      </p:sp>
      <p:sp>
        <p:nvSpPr>
          <p:cNvPr id="10" name="Text 8"/>
          <p:cNvSpPr/>
          <p:nvPr/>
        </p:nvSpPr>
        <p:spPr>
          <a:xfrm>
            <a:off x="813816" y="1572768"/>
            <a:ext cx="365760" cy="365760"/>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1</a:t>
            </a:r>
            <a:endParaRPr lang="en-US" sz="1600" dirty="0"/>
          </a:p>
        </p:txBody>
      </p:sp>
      <p:sp>
        <p:nvSpPr>
          <p:cNvPr id="11" name="Text 9"/>
          <p:cNvSpPr/>
          <p:nvPr/>
        </p:nvSpPr>
        <p:spPr>
          <a:xfrm>
            <a:off x="813816" y="1993392"/>
            <a:ext cx="10792663" cy="731520"/>
          </a:xfrm>
          <a:prstGeom prst="rect">
            <a:avLst/>
          </a:prstGeom>
          <a:noFill/>
          <a:ln/>
        </p:spPr>
        <p:txBody>
          <a:bodyPr wrap="square" rtlCol="0" anchor="t"/>
          <a:lstStyle/>
          <a:p>
            <a:pPr indent="0" marL="0">
              <a:lnSpc>
                <a:spcPct val="125000"/>
              </a:lnSpc>
              <a:buNone/>
            </a:pPr>
            <a:r>
              <a:rPr lang="en-US" sz="1700" dirty="0">
                <a:solidFill>
                  <a:srgbClr val="E8EDF5"/>
                </a:solidFill>
                <a:latin typeface="Open Sans" pitchFamily="34" charset="0"/>
                <a:ea typeface="Open Sans" pitchFamily="34" charset="-122"/>
                <a:cs typeface="Open Sans" pitchFamily="34" charset="-120"/>
              </a:rPr>
              <a:t>A Inteligência Artificial revoluciona a análise de dados, tornando-a acessível a profissionais não técnicos por meio de ferramentas intuitivas.</a:t>
            </a:r>
            <a:endParaRPr lang="en-US" sz="1700" dirty="0"/>
          </a:p>
        </p:txBody>
      </p:sp>
      <p:sp>
        <p:nvSpPr>
          <p:cNvPr id="12" name="Shape 10"/>
          <p:cNvSpPr/>
          <p:nvPr/>
        </p:nvSpPr>
        <p:spPr>
          <a:xfrm>
            <a:off x="713232" y="2980944"/>
            <a:ext cx="11048695" cy="1371600"/>
          </a:xfrm>
          <a:prstGeom prst="roundRect">
            <a:avLst>
              <a:gd name="adj" fmla="val 6667"/>
            </a:avLst>
          </a:prstGeom>
          <a:solidFill>
            <a:srgbClr val="000000"/>
          </a:solidFill>
          <a:ln/>
        </p:spPr>
      </p:sp>
      <p:sp>
        <p:nvSpPr>
          <p:cNvPr id="13" name="Shape 11"/>
          <p:cNvSpPr/>
          <p:nvPr/>
        </p:nvSpPr>
        <p:spPr>
          <a:xfrm>
            <a:off x="685800" y="2944368"/>
            <a:ext cx="11048695" cy="1371600"/>
          </a:xfrm>
          <a:prstGeom prst="roundRect">
            <a:avLst>
              <a:gd name="adj" fmla="val 6667"/>
            </a:avLst>
          </a:prstGeom>
          <a:solidFill>
            <a:srgbClr val="141E34"/>
          </a:solidFill>
          <a:ln/>
        </p:spPr>
      </p:sp>
      <p:sp>
        <p:nvSpPr>
          <p:cNvPr id="14" name="Shape 12"/>
          <p:cNvSpPr/>
          <p:nvPr/>
        </p:nvSpPr>
        <p:spPr>
          <a:xfrm>
            <a:off x="685800" y="2944368"/>
            <a:ext cx="45720" cy="1371600"/>
          </a:xfrm>
          <a:prstGeom prst="rect">
            <a:avLst>
              <a:gd name="adj" fmla="val 200000"/>
            </a:avLst>
          </a:prstGeom>
          <a:solidFill>
            <a:srgbClr val="3B82F6"/>
          </a:solidFill>
          <a:ln/>
        </p:spPr>
      </p:sp>
      <p:sp>
        <p:nvSpPr>
          <p:cNvPr id="15" name="Shape 13"/>
          <p:cNvSpPr/>
          <p:nvPr/>
        </p:nvSpPr>
        <p:spPr>
          <a:xfrm>
            <a:off x="813816" y="3054096"/>
            <a:ext cx="365760" cy="365760"/>
          </a:xfrm>
          <a:prstGeom prst="roundRect">
            <a:avLst>
              <a:gd name="adj" fmla="val 20000"/>
            </a:avLst>
          </a:prstGeom>
          <a:solidFill>
            <a:srgbClr val="3B82F6"/>
          </a:solidFill>
          <a:ln/>
        </p:spPr>
      </p:sp>
      <p:sp>
        <p:nvSpPr>
          <p:cNvPr id="16" name="Text 14"/>
          <p:cNvSpPr/>
          <p:nvPr/>
        </p:nvSpPr>
        <p:spPr>
          <a:xfrm>
            <a:off x="813816" y="3054096"/>
            <a:ext cx="365760" cy="365760"/>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sp>
        <p:nvSpPr>
          <p:cNvPr id="17" name="Text 15"/>
          <p:cNvSpPr/>
          <p:nvPr/>
        </p:nvSpPr>
        <p:spPr>
          <a:xfrm>
            <a:off x="813816" y="3474720"/>
            <a:ext cx="10792663" cy="731520"/>
          </a:xfrm>
          <a:prstGeom prst="rect">
            <a:avLst/>
          </a:prstGeom>
          <a:noFill/>
          <a:ln/>
        </p:spPr>
        <p:txBody>
          <a:bodyPr wrap="square" rtlCol="0" anchor="t"/>
          <a:lstStyle/>
          <a:p>
            <a:pPr indent="0" marL="0">
              <a:lnSpc>
                <a:spcPct val="125000"/>
              </a:lnSpc>
              <a:buNone/>
            </a:pPr>
            <a:r>
              <a:rPr lang="en-US" sz="1700" dirty="0">
                <a:solidFill>
                  <a:srgbClr val="E8EDF5"/>
                </a:solidFill>
                <a:latin typeface="Open Sans" pitchFamily="34" charset="0"/>
                <a:ea typeface="Open Sans" pitchFamily="34" charset="-122"/>
                <a:cs typeface="Open Sans" pitchFamily="34" charset="-120"/>
              </a:rPr>
              <a:t>Ela permite a extração de percepções valiosas, identificação de tendências ocultas e previsão de resultados futuros.</a:t>
            </a:r>
            <a:endParaRPr lang="en-US" sz="1700" dirty="0"/>
          </a:p>
        </p:txBody>
      </p:sp>
      <p:sp>
        <p:nvSpPr>
          <p:cNvPr id="18" name="Shape 16"/>
          <p:cNvSpPr/>
          <p:nvPr/>
        </p:nvSpPr>
        <p:spPr>
          <a:xfrm>
            <a:off x="713232" y="4462272"/>
            <a:ext cx="11048695" cy="1371600"/>
          </a:xfrm>
          <a:prstGeom prst="roundRect">
            <a:avLst>
              <a:gd name="adj" fmla="val 6667"/>
            </a:avLst>
          </a:prstGeom>
          <a:solidFill>
            <a:srgbClr val="000000"/>
          </a:solidFill>
          <a:ln/>
        </p:spPr>
      </p:sp>
      <p:sp>
        <p:nvSpPr>
          <p:cNvPr id="19" name="Shape 17"/>
          <p:cNvSpPr/>
          <p:nvPr/>
        </p:nvSpPr>
        <p:spPr>
          <a:xfrm>
            <a:off x="685800" y="4425696"/>
            <a:ext cx="11048695" cy="1371600"/>
          </a:xfrm>
          <a:prstGeom prst="roundRect">
            <a:avLst>
              <a:gd name="adj" fmla="val 6667"/>
            </a:avLst>
          </a:prstGeom>
          <a:solidFill>
            <a:srgbClr val="141E34"/>
          </a:solidFill>
          <a:ln/>
        </p:spPr>
      </p:sp>
      <p:sp>
        <p:nvSpPr>
          <p:cNvPr id="20" name="Shape 18"/>
          <p:cNvSpPr/>
          <p:nvPr/>
        </p:nvSpPr>
        <p:spPr>
          <a:xfrm>
            <a:off x="685800" y="4425696"/>
            <a:ext cx="45720" cy="1371600"/>
          </a:xfrm>
          <a:prstGeom prst="rect">
            <a:avLst>
              <a:gd name="adj" fmla="val 200000"/>
            </a:avLst>
          </a:prstGeom>
          <a:solidFill>
            <a:srgbClr val="10B981"/>
          </a:solidFill>
          <a:ln/>
        </p:spPr>
      </p:sp>
      <p:sp>
        <p:nvSpPr>
          <p:cNvPr id="21" name="Shape 19"/>
          <p:cNvSpPr/>
          <p:nvPr/>
        </p:nvSpPr>
        <p:spPr>
          <a:xfrm>
            <a:off x="813816" y="4535424"/>
            <a:ext cx="365760" cy="365760"/>
          </a:xfrm>
          <a:prstGeom prst="roundRect">
            <a:avLst>
              <a:gd name="adj" fmla="val 20000"/>
            </a:avLst>
          </a:prstGeom>
          <a:solidFill>
            <a:srgbClr val="10B981"/>
          </a:solidFill>
          <a:ln/>
        </p:spPr>
      </p:sp>
      <p:sp>
        <p:nvSpPr>
          <p:cNvPr id="22" name="Text 20"/>
          <p:cNvSpPr/>
          <p:nvPr/>
        </p:nvSpPr>
        <p:spPr>
          <a:xfrm>
            <a:off x="813816" y="4535424"/>
            <a:ext cx="365760" cy="365760"/>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23" name="Text 21"/>
          <p:cNvSpPr/>
          <p:nvPr/>
        </p:nvSpPr>
        <p:spPr>
          <a:xfrm>
            <a:off x="813816" y="4956048"/>
            <a:ext cx="10792663" cy="731520"/>
          </a:xfrm>
          <a:prstGeom prst="rect">
            <a:avLst/>
          </a:prstGeom>
          <a:noFill/>
          <a:ln/>
        </p:spPr>
        <p:txBody>
          <a:bodyPr wrap="square" rtlCol="0" anchor="t"/>
          <a:lstStyle/>
          <a:p>
            <a:pPr indent="0" marL="0">
              <a:lnSpc>
                <a:spcPct val="125000"/>
              </a:lnSpc>
              <a:buNone/>
            </a:pPr>
            <a:r>
              <a:rPr lang="en-US" sz="1700" dirty="0">
                <a:solidFill>
                  <a:srgbClr val="E8EDF5"/>
                </a:solidFill>
                <a:latin typeface="Open Sans" pitchFamily="34" charset="0"/>
                <a:ea typeface="Open Sans" pitchFamily="34" charset="-122"/>
                <a:cs typeface="Open Sans" pitchFamily="34" charset="-120"/>
              </a:rPr>
              <a:t>Isso capacita a tomada de decisões estratégicas mais rápidas e precisas, transformando dados brutos em conhecimento acionável.</a:t>
            </a:r>
            <a:endParaRPr lang="en-US" sz="1700" dirty="0"/>
          </a:p>
        </p:txBody>
      </p:sp>
      <p:sp>
        <p:nvSpPr>
          <p:cNvPr id="24" name="Shape 22"/>
          <p:cNvSpPr/>
          <p:nvPr/>
        </p:nvSpPr>
        <p:spPr>
          <a:xfrm>
            <a:off x="0" y="6601968"/>
            <a:ext cx="2041093" cy="4572"/>
          </a:xfrm>
          <a:prstGeom prst="rect">
            <a:avLst/>
          </a:prstGeom>
          <a:solidFill>
            <a:srgbClr val="6C63FF"/>
          </a:solidFill>
          <a:ln/>
        </p:spPr>
      </p:sp>
      <p:sp>
        <p:nvSpPr>
          <p:cNvPr id="25" name="Shape 23"/>
          <p:cNvSpPr/>
          <p:nvPr/>
        </p:nvSpPr>
        <p:spPr>
          <a:xfrm>
            <a:off x="2031949" y="6601968"/>
            <a:ext cx="2041093" cy="4572"/>
          </a:xfrm>
          <a:prstGeom prst="rect">
            <a:avLst/>
          </a:prstGeom>
          <a:solidFill>
            <a:srgbClr val="6C63FF"/>
          </a:solidFill>
          <a:ln/>
        </p:spPr>
      </p:sp>
      <p:sp>
        <p:nvSpPr>
          <p:cNvPr id="26" name="Shape 24"/>
          <p:cNvSpPr/>
          <p:nvPr/>
        </p:nvSpPr>
        <p:spPr>
          <a:xfrm>
            <a:off x="4063898" y="6601968"/>
            <a:ext cx="2041093" cy="4572"/>
          </a:xfrm>
          <a:prstGeom prst="rect">
            <a:avLst/>
          </a:prstGeom>
          <a:solidFill>
            <a:srgbClr val="6C63FF"/>
          </a:solidFill>
          <a:ln/>
        </p:spPr>
      </p:sp>
      <p:sp>
        <p:nvSpPr>
          <p:cNvPr id="27" name="Shape 25"/>
          <p:cNvSpPr/>
          <p:nvPr/>
        </p:nvSpPr>
        <p:spPr>
          <a:xfrm>
            <a:off x="6095848" y="6601968"/>
            <a:ext cx="2041093" cy="4572"/>
          </a:xfrm>
          <a:prstGeom prst="rect">
            <a:avLst/>
          </a:prstGeom>
          <a:solidFill>
            <a:srgbClr val="6C63FF"/>
          </a:solidFill>
          <a:ln/>
        </p:spPr>
      </p:sp>
      <p:sp>
        <p:nvSpPr>
          <p:cNvPr id="28" name="Shape 26"/>
          <p:cNvSpPr/>
          <p:nvPr/>
        </p:nvSpPr>
        <p:spPr>
          <a:xfrm>
            <a:off x="8127797" y="6601968"/>
            <a:ext cx="2041093" cy="4572"/>
          </a:xfrm>
          <a:prstGeom prst="rect">
            <a:avLst/>
          </a:prstGeom>
          <a:solidFill>
            <a:srgbClr val="6C63FF"/>
          </a:solidFill>
          <a:ln/>
        </p:spPr>
      </p:sp>
      <p:sp>
        <p:nvSpPr>
          <p:cNvPr id="29" name="Shape 27"/>
          <p:cNvSpPr/>
          <p:nvPr/>
        </p:nvSpPr>
        <p:spPr>
          <a:xfrm>
            <a:off x="10159746" y="6601968"/>
            <a:ext cx="2041093" cy="4572"/>
          </a:xfrm>
          <a:prstGeom prst="rect">
            <a:avLst/>
          </a:prstGeom>
          <a:solidFill>
            <a:srgbClr val="6C63FF"/>
          </a:solidFill>
          <a:ln/>
        </p:spPr>
      </p:sp>
      <p:sp>
        <p:nvSpPr>
          <p:cNvPr id="30" name="Shape 28"/>
          <p:cNvSpPr/>
          <p:nvPr/>
        </p:nvSpPr>
        <p:spPr>
          <a:xfrm>
            <a:off x="0" y="6606540"/>
            <a:ext cx="12191695" cy="2743"/>
          </a:xfrm>
          <a:prstGeom prst="rect">
            <a:avLst/>
          </a:prstGeom>
          <a:solidFill>
            <a:srgbClr val="222E48"/>
          </a:solidFill>
          <a:ln/>
        </p:spPr>
      </p:sp>
      <p:sp>
        <p:nvSpPr>
          <p:cNvPr id="31" name="Text 29"/>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32" name="Shape 30"/>
          <p:cNvSpPr/>
          <p:nvPr/>
        </p:nvSpPr>
        <p:spPr>
          <a:xfrm>
            <a:off x="10436047" y="6693408"/>
            <a:ext cx="73152" cy="73152"/>
          </a:xfrm>
          <a:prstGeom prst="ellipse">
            <a:avLst/>
          </a:prstGeom>
          <a:solidFill>
            <a:srgbClr val="6C63FF"/>
          </a:solidFill>
          <a:ln/>
        </p:spPr>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50A18"/>
        </a:solidFill>
      </p:bgPr>
    </p:bg>
    <p:spTree>
      <p:nvGrpSpPr>
        <p:cNvPr id="1" name=""/>
        <p:cNvGrpSpPr/>
        <p:nvPr/>
      </p:nvGrpSpPr>
      <p:grpSpPr>
        <a:xfrm>
          <a:off x="0" y="0"/>
          <a:ext cx="0" cy="0"/>
          <a:chOff x="0" y="0"/>
          <a:chExt cx="0" cy="0"/>
        </a:xfrm>
      </p:grpSpPr>
      <p:sp>
        <p:nvSpPr>
          <p:cNvPr id="2" name="Shape 0"/>
          <p:cNvSpPr/>
          <p:nvPr/>
        </p:nvSpPr>
        <p:spPr>
          <a:xfrm>
            <a:off x="0" y="36576"/>
            <a:ext cx="12191695" cy="41148"/>
          </a:xfrm>
          <a:prstGeom prst="rect">
            <a:avLst/>
          </a:prstGeom>
          <a:solidFill>
            <a:srgbClr val="06B6D4"/>
          </a:solidFill>
          <a:ln/>
        </p:spPr>
      </p:sp>
      <p:sp>
        <p:nvSpPr>
          <p:cNvPr id="3" name="Text 1"/>
          <p:cNvSpPr/>
          <p:nvPr/>
        </p:nvSpPr>
        <p:spPr>
          <a:xfrm>
            <a:off x="594360" y="256032"/>
            <a:ext cx="5486400" cy="219456"/>
          </a:xfrm>
          <a:prstGeom prst="rect">
            <a:avLst/>
          </a:prstGeom>
          <a:noFill/>
          <a:ln/>
        </p:spPr>
        <p:txBody>
          <a:bodyPr wrap="square" rtlCol="0" anchor="ctr"/>
          <a:lstStyle/>
          <a:p>
            <a:pPr indent="0" marL="0">
              <a:buNone/>
            </a:pPr>
            <a:r>
              <a:rPr lang="en-US" sz="1000" b="1" spc="600" kern="0" dirty="0">
                <a:solidFill>
                  <a:srgbClr val="06B6D4"/>
                </a:solidFill>
                <a:latin typeface="Open Sans" pitchFamily="34" charset="0"/>
                <a:ea typeface="Open Sans" pitchFamily="34" charset="-122"/>
                <a:cs typeface="Open Sans" pitchFamily="34" charset="-120"/>
              </a:rPr>
              <a:t>KEY TAKEAWAYS</a:t>
            </a:r>
            <a:endParaRPr lang="en-US" sz="1000" dirty="0"/>
          </a:p>
        </p:txBody>
      </p:sp>
      <p:sp>
        <p:nvSpPr>
          <p:cNvPr id="4" name="Text 2"/>
          <p:cNvSpPr/>
          <p:nvPr/>
        </p:nvSpPr>
        <p:spPr>
          <a:xfrm>
            <a:off x="594360" y="530352"/>
            <a:ext cx="11002975" cy="640080"/>
          </a:xfrm>
          <a:prstGeom prst="rect">
            <a:avLst/>
          </a:prstGeom>
          <a:noFill/>
          <a:ln/>
        </p:spPr>
        <p:txBody>
          <a:bodyPr wrap="square"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Key Takeaways</a:t>
            </a:r>
            <a:endParaRPr lang="en-US" sz="2800" dirty="0"/>
          </a:p>
        </p:txBody>
      </p:sp>
      <p:sp>
        <p:nvSpPr>
          <p:cNvPr id="5" name="Shape 3"/>
          <p:cNvSpPr/>
          <p:nvPr/>
        </p:nvSpPr>
        <p:spPr>
          <a:xfrm>
            <a:off x="594360" y="1234440"/>
            <a:ext cx="1645920" cy="22860"/>
          </a:xfrm>
          <a:prstGeom prst="rect">
            <a:avLst/>
          </a:prstGeom>
          <a:solidFill>
            <a:srgbClr val="06B6D4"/>
          </a:solidFill>
          <a:ln/>
        </p:spPr>
      </p:sp>
      <p:sp>
        <p:nvSpPr>
          <p:cNvPr id="6" name="Shape 4"/>
          <p:cNvSpPr/>
          <p:nvPr/>
        </p:nvSpPr>
        <p:spPr>
          <a:xfrm>
            <a:off x="612648" y="1536192"/>
            <a:ext cx="3628034" cy="1645920"/>
          </a:xfrm>
          <a:prstGeom prst="roundRect">
            <a:avLst>
              <a:gd name="adj" fmla="val 6667"/>
            </a:avLst>
          </a:prstGeom>
          <a:solidFill>
            <a:srgbClr val="000000"/>
          </a:solidFill>
          <a:ln/>
        </p:spPr>
      </p:sp>
      <p:sp>
        <p:nvSpPr>
          <p:cNvPr id="7" name="Shape 5"/>
          <p:cNvSpPr/>
          <p:nvPr/>
        </p:nvSpPr>
        <p:spPr>
          <a:xfrm>
            <a:off x="594360" y="1508760"/>
            <a:ext cx="3628034" cy="1645920"/>
          </a:xfrm>
          <a:prstGeom prst="roundRect">
            <a:avLst>
              <a:gd name="adj" fmla="val 6667"/>
            </a:avLst>
          </a:prstGeom>
          <a:solidFill>
            <a:srgbClr val="111D38"/>
          </a:solidFill>
          <a:ln/>
        </p:spPr>
      </p:sp>
      <p:sp>
        <p:nvSpPr>
          <p:cNvPr id="8" name="Shape 6"/>
          <p:cNvSpPr/>
          <p:nvPr/>
        </p:nvSpPr>
        <p:spPr>
          <a:xfrm>
            <a:off x="594360" y="1508760"/>
            <a:ext cx="45720" cy="1645920"/>
          </a:xfrm>
          <a:prstGeom prst="rect">
            <a:avLst>
              <a:gd name="adj" fmla="val 240000"/>
            </a:avLst>
          </a:prstGeom>
          <a:solidFill>
            <a:srgbClr val="6C63FF"/>
          </a:solidFill>
          <a:ln/>
        </p:spPr>
      </p:sp>
      <p:sp>
        <p:nvSpPr>
          <p:cNvPr id="9" name="Shape 7"/>
          <p:cNvSpPr/>
          <p:nvPr/>
        </p:nvSpPr>
        <p:spPr>
          <a:xfrm>
            <a:off x="740664" y="1655064"/>
            <a:ext cx="384048" cy="384048"/>
          </a:xfrm>
          <a:prstGeom prst="roundRect">
            <a:avLst>
              <a:gd name="adj" fmla="val 19048"/>
            </a:avLst>
          </a:prstGeom>
          <a:solidFill>
            <a:srgbClr val="6C63FF"/>
          </a:solidFill>
          <a:ln/>
        </p:spPr>
      </p:sp>
      <p:sp>
        <p:nvSpPr>
          <p:cNvPr id="10" name="Text 8"/>
          <p:cNvSpPr/>
          <p:nvPr/>
        </p:nvSpPr>
        <p:spPr>
          <a:xfrm>
            <a:off x="740664" y="1655064"/>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1</a:t>
            </a:r>
            <a:endParaRPr lang="en-US" sz="1800" dirty="0"/>
          </a:p>
        </p:txBody>
      </p:sp>
      <p:sp>
        <p:nvSpPr>
          <p:cNvPr id="11" name="Text 9"/>
          <p:cNvSpPr/>
          <p:nvPr/>
        </p:nvSpPr>
        <p:spPr>
          <a:xfrm>
            <a:off x="740664" y="2130552"/>
            <a:ext cx="3335426" cy="896112"/>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A IA democratiza a análise de dados para profissionais não técnicos.</a:t>
            </a:r>
            <a:endParaRPr lang="en-US" sz="1400" dirty="0"/>
          </a:p>
        </p:txBody>
      </p:sp>
      <p:sp>
        <p:nvSpPr>
          <p:cNvPr id="12" name="Shape 10"/>
          <p:cNvSpPr/>
          <p:nvPr/>
        </p:nvSpPr>
        <p:spPr>
          <a:xfrm>
            <a:off x="4368698" y="1536192"/>
            <a:ext cx="3628034" cy="1645920"/>
          </a:xfrm>
          <a:prstGeom prst="roundRect">
            <a:avLst>
              <a:gd name="adj" fmla="val 6667"/>
            </a:avLst>
          </a:prstGeom>
          <a:solidFill>
            <a:srgbClr val="000000"/>
          </a:solidFill>
          <a:ln/>
        </p:spPr>
      </p:sp>
      <p:sp>
        <p:nvSpPr>
          <p:cNvPr id="13" name="Shape 11"/>
          <p:cNvSpPr/>
          <p:nvPr/>
        </p:nvSpPr>
        <p:spPr>
          <a:xfrm>
            <a:off x="4350410" y="1508760"/>
            <a:ext cx="3628034" cy="1645920"/>
          </a:xfrm>
          <a:prstGeom prst="roundRect">
            <a:avLst>
              <a:gd name="adj" fmla="val 6667"/>
            </a:avLst>
          </a:prstGeom>
          <a:solidFill>
            <a:srgbClr val="111D38"/>
          </a:solidFill>
          <a:ln/>
        </p:spPr>
      </p:sp>
      <p:sp>
        <p:nvSpPr>
          <p:cNvPr id="14" name="Shape 12"/>
          <p:cNvSpPr/>
          <p:nvPr/>
        </p:nvSpPr>
        <p:spPr>
          <a:xfrm>
            <a:off x="4350410" y="1508760"/>
            <a:ext cx="45720" cy="1645920"/>
          </a:xfrm>
          <a:prstGeom prst="rect">
            <a:avLst>
              <a:gd name="adj" fmla="val 240000"/>
            </a:avLst>
          </a:prstGeom>
          <a:solidFill>
            <a:srgbClr val="3B82F6"/>
          </a:solidFill>
          <a:ln/>
        </p:spPr>
      </p:sp>
      <p:sp>
        <p:nvSpPr>
          <p:cNvPr id="15" name="Shape 13"/>
          <p:cNvSpPr/>
          <p:nvPr/>
        </p:nvSpPr>
        <p:spPr>
          <a:xfrm>
            <a:off x="4496714" y="1655064"/>
            <a:ext cx="384048" cy="384048"/>
          </a:xfrm>
          <a:prstGeom prst="roundRect">
            <a:avLst>
              <a:gd name="adj" fmla="val 19048"/>
            </a:avLst>
          </a:prstGeom>
          <a:solidFill>
            <a:srgbClr val="3B82F6"/>
          </a:solidFill>
          <a:ln/>
        </p:spPr>
      </p:sp>
      <p:sp>
        <p:nvSpPr>
          <p:cNvPr id="16" name="Text 14"/>
          <p:cNvSpPr/>
          <p:nvPr/>
        </p:nvSpPr>
        <p:spPr>
          <a:xfrm>
            <a:off x="4496714" y="1655064"/>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2</a:t>
            </a:r>
            <a:endParaRPr lang="en-US" sz="1800" dirty="0"/>
          </a:p>
        </p:txBody>
      </p:sp>
      <p:sp>
        <p:nvSpPr>
          <p:cNvPr id="17" name="Text 15"/>
          <p:cNvSpPr/>
          <p:nvPr/>
        </p:nvSpPr>
        <p:spPr>
          <a:xfrm>
            <a:off x="4496714" y="2130552"/>
            <a:ext cx="3335426" cy="896112"/>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Profissionais não técnicos podem extrair percepções valiosas de grandes volumes de dados.</a:t>
            </a:r>
            <a:endParaRPr lang="en-US" sz="1400" dirty="0"/>
          </a:p>
        </p:txBody>
      </p:sp>
      <p:sp>
        <p:nvSpPr>
          <p:cNvPr id="18" name="Shape 16"/>
          <p:cNvSpPr/>
          <p:nvPr/>
        </p:nvSpPr>
        <p:spPr>
          <a:xfrm>
            <a:off x="8124749" y="1536192"/>
            <a:ext cx="3628034" cy="1645920"/>
          </a:xfrm>
          <a:prstGeom prst="roundRect">
            <a:avLst>
              <a:gd name="adj" fmla="val 6667"/>
            </a:avLst>
          </a:prstGeom>
          <a:solidFill>
            <a:srgbClr val="000000"/>
          </a:solidFill>
          <a:ln/>
        </p:spPr>
      </p:sp>
      <p:sp>
        <p:nvSpPr>
          <p:cNvPr id="19" name="Shape 17"/>
          <p:cNvSpPr/>
          <p:nvPr/>
        </p:nvSpPr>
        <p:spPr>
          <a:xfrm>
            <a:off x="8106461" y="1508760"/>
            <a:ext cx="3628034" cy="1645920"/>
          </a:xfrm>
          <a:prstGeom prst="roundRect">
            <a:avLst>
              <a:gd name="adj" fmla="val 6667"/>
            </a:avLst>
          </a:prstGeom>
          <a:solidFill>
            <a:srgbClr val="111D38"/>
          </a:solidFill>
          <a:ln/>
        </p:spPr>
      </p:sp>
      <p:sp>
        <p:nvSpPr>
          <p:cNvPr id="20" name="Shape 18"/>
          <p:cNvSpPr/>
          <p:nvPr/>
        </p:nvSpPr>
        <p:spPr>
          <a:xfrm>
            <a:off x="8106461" y="1508760"/>
            <a:ext cx="45720" cy="1645920"/>
          </a:xfrm>
          <a:prstGeom prst="rect">
            <a:avLst>
              <a:gd name="adj" fmla="val 240000"/>
            </a:avLst>
          </a:prstGeom>
          <a:solidFill>
            <a:srgbClr val="10B981"/>
          </a:solidFill>
          <a:ln/>
        </p:spPr>
      </p:sp>
      <p:sp>
        <p:nvSpPr>
          <p:cNvPr id="21" name="Shape 19"/>
          <p:cNvSpPr/>
          <p:nvPr/>
        </p:nvSpPr>
        <p:spPr>
          <a:xfrm>
            <a:off x="8252765" y="1655064"/>
            <a:ext cx="384048" cy="384048"/>
          </a:xfrm>
          <a:prstGeom prst="roundRect">
            <a:avLst>
              <a:gd name="adj" fmla="val 19048"/>
            </a:avLst>
          </a:prstGeom>
          <a:solidFill>
            <a:srgbClr val="10B981"/>
          </a:solidFill>
          <a:ln/>
        </p:spPr>
      </p:sp>
      <p:sp>
        <p:nvSpPr>
          <p:cNvPr id="22" name="Text 20"/>
          <p:cNvSpPr/>
          <p:nvPr/>
        </p:nvSpPr>
        <p:spPr>
          <a:xfrm>
            <a:off x="8252765" y="1655064"/>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3</a:t>
            </a:r>
            <a:endParaRPr lang="en-US" sz="1800" dirty="0"/>
          </a:p>
        </p:txBody>
      </p:sp>
      <p:sp>
        <p:nvSpPr>
          <p:cNvPr id="23" name="Text 21"/>
          <p:cNvSpPr/>
          <p:nvPr/>
        </p:nvSpPr>
        <p:spPr>
          <a:xfrm>
            <a:off x="8252765" y="2130552"/>
            <a:ext cx="3335426" cy="896112"/>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A IA identifica tendências e padrões ocultos não visíveis manualmente.</a:t>
            </a:r>
            <a:endParaRPr lang="en-US" sz="1400" dirty="0"/>
          </a:p>
        </p:txBody>
      </p:sp>
      <p:sp>
        <p:nvSpPr>
          <p:cNvPr id="24" name="Shape 22"/>
          <p:cNvSpPr/>
          <p:nvPr/>
        </p:nvSpPr>
        <p:spPr>
          <a:xfrm>
            <a:off x="612648" y="3310128"/>
            <a:ext cx="3628034" cy="1645920"/>
          </a:xfrm>
          <a:prstGeom prst="roundRect">
            <a:avLst>
              <a:gd name="adj" fmla="val 6667"/>
            </a:avLst>
          </a:prstGeom>
          <a:solidFill>
            <a:srgbClr val="000000"/>
          </a:solidFill>
          <a:ln/>
        </p:spPr>
      </p:sp>
      <p:sp>
        <p:nvSpPr>
          <p:cNvPr id="25" name="Shape 23"/>
          <p:cNvSpPr/>
          <p:nvPr/>
        </p:nvSpPr>
        <p:spPr>
          <a:xfrm>
            <a:off x="594360" y="3282696"/>
            <a:ext cx="3628034" cy="1645920"/>
          </a:xfrm>
          <a:prstGeom prst="roundRect">
            <a:avLst>
              <a:gd name="adj" fmla="val 6667"/>
            </a:avLst>
          </a:prstGeom>
          <a:solidFill>
            <a:srgbClr val="111D38"/>
          </a:solidFill>
          <a:ln/>
        </p:spPr>
      </p:sp>
      <p:sp>
        <p:nvSpPr>
          <p:cNvPr id="26" name="Shape 24"/>
          <p:cNvSpPr/>
          <p:nvPr/>
        </p:nvSpPr>
        <p:spPr>
          <a:xfrm>
            <a:off x="594360" y="3282696"/>
            <a:ext cx="45720" cy="1645920"/>
          </a:xfrm>
          <a:prstGeom prst="rect">
            <a:avLst>
              <a:gd name="adj" fmla="val 240000"/>
            </a:avLst>
          </a:prstGeom>
          <a:solidFill>
            <a:srgbClr val="F59E0B"/>
          </a:solidFill>
          <a:ln/>
        </p:spPr>
      </p:sp>
      <p:sp>
        <p:nvSpPr>
          <p:cNvPr id="27" name="Shape 25"/>
          <p:cNvSpPr/>
          <p:nvPr/>
        </p:nvSpPr>
        <p:spPr>
          <a:xfrm>
            <a:off x="740664" y="3429000"/>
            <a:ext cx="384048" cy="384048"/>
          </a:xfrm>
          <a:prstGeom prst="roundRect">
            <a:avLst>
              <a:gd name="adj" fmla="val 19048"/>
            </a:avLst>
          </a:prstGeom>
          <a:solidFill>
            <a:srgbClr val="F59E0B"/>
          </a:solidFill>
          <a:ln/>
        </p:spPr>
      </p:sp>
      <p:sp>
        <p:nvSpPr>
          <p:cNvPr id="28" name="Text 26"/>
          <p:cNvSpPr/>
          <p:nvPr/>
        </p:nvSpPr>
        <p:spPr>
          <a:xfrm>
            <a:off x="740664" y="3429000"/>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4</a:t>
            </a:r>
            <a:endParaRPr lang="en-US" sz="1800" dirty="0"/>
          </a:p>
        </p:txBody>
      </p:sp>
      <p:sp>
        <p:nvSpPr>
          <p:cNvPr id="29" name="Text 27"/>
          <p:cNvSpPr/>
          <p:nvPr/>
        </p:nvSpPr>
        <p:spPr>
          <a:xfrm>
            <a:off x="740664" y="3904488"/>
            <a:ext cx="3335426" cy="896112"/>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A capacidade preditiva da IA permite antecipar resultados proativamente.</a:t>
            </a:r>
            <a:endParaRPr lang="en-US" sz="1400" dirty="0"/>
          </a:p>
        </p:txBody>
      </p:sp>
      <p:sp>
        <p:nvSpPr>
          <p:cNvPr id="30" name="Shape 28"/>
          <p:cNvSpPr/>
          <p:nvPr/>
        </p:nvSpPr>
        <p:spPr>
          <a:xfrm>
            <a:off x="4368698" y="3310128"/>
            <a:ext cx="3628034" cy="1645920"/>
          </a:xfrm>
          <a:prstGeom prst="roundRect">
            <a:avLst>
              <a:gd name="adj" fmla="val 6667"/>
            </a:avLst>
          </a:prstGeom>
          <a:solidFill>
            <a:srgbClr val="000000"/>
          </a:solidFill>
          <a:ln/>
        </p:spPr>
      </p:sp>
      <p:sp>
        <p:nvSpPr>
          <p:cNvPr id="31" name="Shape 29"/>
          <p:cNvSpPr/>
          <p:nvPr/>
        </p:nvSpPr>
        <p:spPr>
          <a:xfrm>
            <a:off x="4350410" y="3282696"/>
            <a:ext cx="3628034" cy="1645920"/>
          </a:xfrm>
          <a:prstGeom prst="roundRect">
            <a:avLst>
              <a:gd name="adj" fmla="val 6667"/>
            </a:avLst>
          </a:prstGeom>
          <a:solidFill>
            <a:srgbClr val="111D38"/>
          </a:solidFill>
          <a:ln/>
        </p:spPr>
      </p:sp>
      <p:sp>
        <p:nvSpPr>
          <p:cNvPr id="32" name="Shape 30"/>
          <p:cNvSpPr/>
          <p:nvPr/>
        </p:nvSpPr>
        <p:spPr>
          <a:xfrm>
            <a:off x="4350410" y="3282696"/>
            <a:ext cx="45720" cy="1645920"/>
          </a:xfrm>
          <a:prstGeom prst="rect">
            <a:avLst>
              <a:gd name="adj" fmla="val 240000"/>
            </a:avLst>
          </a:prstGeom>
          <a:solidFill>
            <a:srgbClr val="06B6D4"/>
          </a:solidFill>
          <a:ln/>
        </p:spPr>
      </p:sp>
      <p:sp>
        <p:nvSpPr>
          <p:cNvPr id="33" name="Shape 31"/>
          <p:cNvSpPr/>
          <p:nvPr/>
        </p:nvSpPr>
        <p:spPr>
          <a:xfrm>
            <a:off x="4496714" y="3429000"/>
            <a:ext cx="384048" cy="384048"/>
          </a:xfrm>
          <a:prstGeom prst="roundRect">
            <a:avLst>
              <a:gd name="adj" fmla="val 19048"/>
            </a:avLst>
          </a:prstGeom>
          <a:solidFill>
            <a:srgbClr val="06B6D4"/>
          </a:solidFill>
          <a:ln/>
        </p:spPr>
      </p:sp>
      <p:sp>
        <p:nvSpPr>
          <p:cNvPr id="34" name="Text 32"/>
          <p:cNvSpPr/>
          <p:nvPr/>
        </p:nvSpPr>
        <p:spPr>
          <a:xfrm>
            <a:off x="4496714" y="3429000"/>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5</a:t>
            </a:r>
            <a:endParaRPr lang="en-US" sz="1800" dirty="0"/>
          </a:p>
        </p:txBody>
      </p:sp>
      <p:sp>
        <p:nvSpPr>
          <p:cNvPr id="35" name="Text 33"/>
          <p:cNvSpPr/>
          <p:nvPr/>
        </p:nvSpPr>
        <p:spPr>
          <a:xfrm>
            <a:off x="4496714" y="3904488"/>
            <a:ext cx="3335426" cy="896112"/>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percepções embasados por IA elevam a precisão nas decisões estratégicas.</a:t>
            </a:r>
            <a:endParaRPr lang="en-US" sz="1400" dirty="0"/>
          </a:p>
        </p:txBody>
      </p:sp>
      <p:sp>
        <p:nvSpPr>
          <p:cNvPr id="36" name="Shape 34"/>
          <p:cNvSpPr/>
          <p:nvPr/>
        </p:nvSpPr>
        <p:spPr>
          <a:xfrm>
            <a:off x="8124749" y="3310128"/>
            <a:ext cx="3628034" cy="1645920"/>
          </a:xfrm>
          <a:prstGeom prst="roundRect">
            <a:avLst>
              <a:gd name="adj" fmla="val 6667"/>
            </a:avLst>
          </a:prstGeom>
          <a:solidFill>
            <a:srgbClr val="000000"/>
          </a:solidFill>
          <a:ln/>
        </p:spPr>
      </p:sp>
      <p:sp>
        <p:nvSpPr>
          <p:cNvPr id="37" name="Shape 35"/>
          <p:cNvSpPr/>
          <p:nvPr/>
        </p:nvSpPr>
        <p:spPr>
          <a:xfrm>
            <a:off x="8106461" y="3282696"/>
            <a:ext cx="3628034" cy="1645920"/>
          </a:xfrm>
          <a:prstGeom prst="roundRect">
            <a:avLst>
              <a:gd name="adj" fmla="val 6667"/>
            </a:avLst>
          </a:prstGeom>
          <a:solidFill>
            <a:srgbClr val="111D38"/>
          </a:solidFill>
          <a:ln/>
        </p:spPr>
      </p:sp>
      <p:sp>
        <p:nvSpPr>
          <p:cNvPr id="38" name="Shape 36"/>
          <p:cNvSpPr/>
          <p:nvPr/>
        </p:nvSpPr>
        <p:spPr>
          <a:xfrm>
            <a:off x="8106461" y="3282696"/>
            <a:ext cx="45720" cy="1645920"/>
          </a:xfrm>
          <a:prstGeom prst="rect">
            <a:avLst>
              <a:gd name="adj" fmla="val 240000"/>
            </a:avLst>
          </a:prstGeom>
          <a:solidFill>
            <a:srgbClr val="6C63FF"/>
          </a:solidFill>
          <a:ln/>
        </p:spPr>
      </p:sp>
      <p:sp>
        <p:nvSpPr>
          <p:cNvPr id="39" name="Shape 37"/>
          <p:cNvSpPr/>
          <p:nvPr/>
        </p:nvSpPr>
        <p:spPr>
          <a:xfrm>
            <a:off x="8252765" y="3429000"/>
            <a:ext cx="384048" cy="384048"/>
          </a:xfrm>
          <a:prstGeom prst="roundRect">
            <a:avLst>
              <a:gd name="adj" fmla="val 19048"/>
            </a:avLst>
          </a:prstGeom>
          <a:solidFill>
            <a:srgbClr val="6C63FF"/>
          </a:solidFill>
          <a:ln/>
        </p:spPr>
      </p:sp>
      <p:sp>
        <p:nvSpPr>
          <p:cNvPr id="40" name="Text 38"/>
          <p:cNvSpPr/>
          <p:nvPr/>
        </p:nvSpPr>
        <p:spPr>
          <a:xfrm>
            <a:off x="8252765" y="3429000"/>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6</a:t>
            </a:r>
            <a:endParaRPr lang="en-US" sz="1800" dirty="0"/>
          </a:p>
        </p:txBody>
      </p:sp>
      <p:sp>
        <p:nvSpPr>
          <p:cNvPr id="41" name="Text 39"/>
          <p:cNvSpPr/>
          <p:nvPr/>
        </p:nvSpPr>
        <p:spPr>
          <a:xfrm>
            <a:off x="8252765" y="3904488"/>
            <a:ext cx="3335426" cy="896112"/>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Ferramentas "low-code" e "no-code" facilitam a aplicação da IA.".</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50A1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58851" y="0"/>
            <a:ext cx="4632844" cy="6858000"/>
          </a:xfrm>
          <a:prstGeom prst="rect">
            <a:avLst/>
          </a:prstGeom>
        </p:spPr>
      </p:pic>
      <p:sp>
        <p:nvSpPr>
          <p:cNvPr id="3" name="Shape 0"/>
          <p:cNvSpPr/>
          <p:nvPr/>
        </p:nvSpPr>
        <p:spPr>
          <a:xfrm>
            <a:off x="7558851" y="0"/>
            <a:ext cx="4632844" cy="6858000"/>
          </a:xfrm>
          <a:prstGeom prst="rect">
            <a:avLst/>
          </a:prstGeom>
          <a:solidFill>
            <a:srgbClr val="F59E0B"/>
          </a:solidFill>
          <a:ln/>
        </p:spPr>
      </p:sp>
      <p:sp>
        <p:nvSpPr>
          <p:cNvPr id="4" name="Shape 1"/>
          <p:cNvSpPr/>
          <p:nvPr/>
        </p:nvSpPr>
        <p:spPr>
          <a:xfrm>
            <a:off x="7558851" y="0"/>
            <a:ext cx="4632844" cy="6858000"/>
          </a:xfrm>
          <a:prstGeom prst="rect">
            <a:avLst/>
          </a:prstGeom>
          <a:solidFill>
            <a:srgbClr val="050A18"/>
          </a:solidFill>
          <a:ln/>
        </p:spPr>
      </p:sp>
      <p:sp>
        <p:nvSpPr>
          <p:cNvPr id="5" name="Shape 2"/>
          <p:cNvSpPr/>
          <p:nvPr/>
        </p:nvSpPr>
        <p:spPr>
          <a:xfrm>
            <a:off x="7558851" y="0"/>
            <a:ext cx="36576" cy="6858000"/>
          </a:xfrm>
          <a:prstGeom prst="rect">
            <a:avLst/>
          </a:prstGeom>
          <a:solidFill>
            <a:srgbClr val="F59E0B"/>
          </a:solidFill>
          <a:ln/>
        </p:spPr>
      </p:sp>
      <p:sp>
        <p:nvSpPr>
          <p:cNvPr id="6" name="Text 3"/>
          <p:cNvSpPr/>
          <p:nvPr/>
        </p:nvSpPr>
        <p:spPr>
          <a:xfrm>
            <a:off x="8534095" y="6565392"/>
            <a:ext cx="3291840" cy="201168"/>
          </a:xfrm>
          <a:prstGeom prst="rect">
            <a:avLst/>
          </a:prstGeom>
          <a:noFill/>
          <a:ln/>
        </p:spPr>
        <p:txBody>
          <a:bodyPr wrap="square" rtlCol="0" anchor="ctr"/>
          <a:lstStyle/>
          <a:p>
            <a:pPr algn="r" indent="0" marL="0">
              <a:buNone/>
            </a:pPr>
            <a:r>
              <a:rPr lang="en-US" sz="700" dirty="0">
                <a:solidFill>
                  <a:srgbClr val="FFFFFF">
                    <a:alpha val="50000"/>
                  </a:srgbClr>
                </a:solidFill>
                <a:latin typeface="Open Sans" pitchFamily="34" charset="0"/>
                <a:ea typeface="Open Sans" pitchFamily="34" charset="-122"/>
                <a:cs typeface="Open Sans" pitchFamily="34" charset="-120"/>
              </a:rPr>
              <a:t>Foto: Vitaly Gariev / Unsplash</a:t>
            </a:r>
            <a:endParaRPr lang="en-US" sz="700" dirty="0"/>
          </a:p>
        </p:txBody>
      </p:sp>
      <p:sp>
        <p:nvSpPr>
          <p:cNvPr id="7" name="Shape 4"/>
          <p:cNvSpPr/>
          <p:nvPr/>
        </p:nvSpPr>
        <p:spPr>
          <a:xfrm>
            <a:off x="4535311" y="0"/>
            <a:ext cx="3401483" cy="1152144"/>
          </a:xfrm>
          <a:prstGeom prst="rect">
            <a:avLst/>
          </a:prstGeom>
          <a:solidFill>
            <a:srgbClr val="F59E0B"/>
          </a:solidFill>
          <a:ln/>
        </p:spPr>
      </p:sp>
      <p:sp>
        <p:nvSpPr>
          <p:cNvPr id="8" name="Shape 5"/>
          <p:cNvSpPr/>
          <p:nvPr/>
        </p:nvSpPr>
        <p:spPr>
          <a:xfrm>
            <a:off x="4535311" y="1143000"/>
            <a:ext cx="3401483" cy="1152144"/>
          </a:xfrm>
          <a:prstGeom prst="rect">
            <a:avLst/>
          </a:prstGeom>
          <a:solidFill>
            <a:srgbClr val="F59E0B"/>
          </a:solidFill>
          <a:ln/>
        </p:spPr>
      </p:sp>
      <p:sp>
        <p:nvSpPr>
          <p:cNvPr id="9" name="Shape 6"/>
          <p:cNvSpPr/>
          <p:nvPr/>
        </p:nvSpPr>
        <p:spPr>
          <a:xfrm>
            <a:off x="4535311" y="2286000"/>
            <a:ext cx="3401483" cy="1152144"/>
          </a:xfrm>
          <a:prstGeom prst="rect">
            <a:avLst/>
          </a:prstGeom>
          <a:solidFill>
            <a:srgbClr val="F59E0B"/>
          </a:solidFill>
          <a:ln/>
        </p:spPr>
      </p:sp>
      <p:sp>
        <p:nvSpPr>
          <p:cNvPr id="10" name="Shape 7"/>
          <p:cNvSpPr/>
          <p:nvPr/>
        </p:nvSpPr>
        <p:spPr>
          <a:xfrm>
            <a:off x="4535311" y="3429000"/>
            <a:ext cx="3401483" cy="1152144"/>
          </a:xfrm>
          <a:prstGeom prst="rect">
            <a:avLst/>
          </a:prstGeom>
          <a:solidFill>
            <a:srgbClr val="F59E0B"/>
          </a:solidFill>
          <a:ln/>
        </p:spPr>
      </p:sp>
      <p:sp>
        <p:nvSpPr>
          <p:cNvPr id="11" name="Shape 8"/>
          <p:cNvSpPr/>
          <p:nvPr/>
        </p:nvSpPr>
        <p:spPr>
          <a:xfrm>
            <a:off x="4535311" y="4572000"/>
            <a:ext cx="3401483" cy="1152144"/>
          </a:xfrm>
          <a:prstGeom prst="rect">
            <a:avLst/>
          </a:prstGeom>
          <a:solidFill>
            <a:srgbClr val="F59E0B"/>
          </a:solidFill>
          <a:ln/>
        </p:spPr>
      </p:sp>
      <p:sp>
        <p:nvSpPr>
          <p:cNvPr id="12" name="Shape 9"/>
          <p:cNvSpPr/>
          <p:nvPr/>
        </p:nvSpPr>
        <p:spPr>
          <a:xfrm>
            <a:off x="4535311" y="5715000"/>
            <a:ext cx="3401483" cy="1152144"/>
          </a:xfrm>
          <a:prstGeom prst="rect">
            <a:avLst/>
          </a:prstGeom>
          <a:solidFill>
            <a:srgbClr val="F59E0B"/>
          </a:solidFill>
          <a:ln/>
        </p:spPr>
      </p:sp>
      <p:sp>
        <p:nvSpPr>
          <p:cNvPr id="13" name="Shape 10"/>
          <p:cNvSpPr/>
          <p:nvPr/>
        </p:nvSpPr>
        <p:spPr>
          <a:xfrm>
            <a:off x="731520" y="1005840"/>
            <a:ext cx="45720" cy="2103120"/>
          </a:xfrm>
          <a:prstGeom prst="rect">
            <a:avLst/>
          </a:prstGeom>
          <a:solidFill>
            <a:srgbClr val="F59E0B"/>
          </a:solidFill>
          <a:ln/>
        </p:spPr>
      </p:sp>
      <p:sp>
        <p:nvSpPr>
          <p:cNvPr id="14" name="Shape 11"/>
          <p:cNvSpPr/>
          <p:nvPr/>
        </p:nvSpPr>
        <p:spPr>
          <a:xfrm>
            <a:off x="804672" y="1005840"/>
            <a:ext cx="13716" cy="2103120"/>
          </a:xfrm>
          <a:prstGeom prst="rect">
            <a:avLst/>
          </a:prstGeom>
          <a:solidFill>
            <a:srgbClr val="F59E0B"/>
          </a:solidFill>
          <a:ln/>
        </p:spPr>
      </p:sp>
      <p:sp>
        <p:nvSpPr>
          <p:cNvPr id="15" name="Text 12"/>
          <p:cNvSpPr/>
          <p:nvPr/>
        </p:nvSpPr>
        <p:spPr>
          <a:xfrm>
            <a:off x="1005840" y="1097280"/>
            <a:ext cx="4572000" cy="256032"/>
          </a:xfrm>
          <a:prstGeom prst="rect">
            <a:avLst/>
          </a:prstGeom>
          <a:noFill/>
          <a:ln/>
        </p:spPr>
        <p:txBody>
          <a:bodyPr wrap="square" rtlCol="0" anchor="ctr"/>
          <a:lstStyle/>
          <a:p>
            <a:pPr indent="0" marL="0">
              <a:buNone/>
            </a:pPr>
            <a:r>
              <a:rPr lang="en-US" sz="1100" b="1" spc="800" kern="0" dirty="0">
                <a:solidFill>
                  <a:srgbClr val="F59E0B"/>
                </a:solidFill>
                <a:latin typeface="Open Sans" pitchFamily="34" charset="0"/>
                <a:ea typeface="Open Sans" pitchFamily="34" charset="-122"/>
                <a:cs typeface="Open Sans" pitchFamily="34" charset="-120"/>
              </a:rPr>
              <a:t>MÓDULO 04</a:t>
            </a:r>
            <a:endParaRPr lang="en-US" sz="1100" dirty="0"/>
          </a:p>
        </p:txBody>
      </p:sp>
      <p:sp>
        <p:nvSpPr>
          <p:cNvPr id="16" name="Shape 13"/>
          <p:cNvSpPr/>
          <p:nvPr/>
        </p:nvSpPr>
        <p:spPr>
          <a:xfrm>
            <a:off x="1005840" y="1481328"/>
            <a:ext cx="1280160" cy="20117"/>
          </a:xfrm>
          <a:prstGeom prst="rect">
            <a:avLst/>
          </a:prstGeom>
          <a:solidFill>
            <a:srgbClr val="F59E0B"/>
          </a:solidFill>
          <a:ln/>
        </p:spPr>
      </p:sp>
      <p:sp>
        <p:nvSpPr>
          <p:cNvPr id="17" name="Text 14"/>
          <p:cNvSpPr/>
          <p:nvPr/>
        </p:nvSpPr>
        <p:spPr>
          <a:xfrm>
            <a:off x="1005840" y="1691640"/>
            <a:ext cx="5669138" cy="2286000"/>
          </a:xfrm>
          <a:prstGeom prst="rect">
            <a:avLst/>
          </a:prstGeom>
          <a:noFill/>
          <a:ln/>
        </p:spPr>
        <p:txBody>
          <a:bodyPr wrap="square" rtlCol="0" anchor="t"/>
          <a:lstStyle/>
          <a:p>
            <a:pPr indent="0" marL="0">
              <a:lnSpc>
                <a:spcPct val="102000"/>
              </a:lnSpc>
              <a:buNone/>
            </a:pPr>
            <a:r>
              <a:rPr lang="en-US" sz="3600" b="1" dirty="0">
                <a:solidFill>
                  <a:srgbClr val="FFFFFF"/>
                </a:solidFill>
                <a:latin typeface="Montserrat" pitchFamily="34" charset="0"/>
                <a:ea typeface="Montserrat" pitchFamily="34" charset="-122"/>
                <a:cs typeface="Montserrat" pitchFamily="34" charset="-120"/>
              </a:rPr>
              <a:t>IA e a Otimização da Experiência do Cliente e do Engajamento</a:t>
            </a:r>
            <a:endParaRPr lang="en-US" sz="3600" dirty="0"/>
          </a:p>
        </p:txBody>
      </p:sp>
      <p:sp>
        <p:nvSpPr>
          <p:cNvPr id="18" name="Shape 15"/>
          <p:cNvSpPr/>
          <p:nvPr/>
        </p:nvSpPr>
        <p:spPr>
          <a:xfrm>
            <a:off x="1005840" y="4142232"/>
            <a:ext cx="2011680" cy="10973"/>
          </a:xfrm>
          <a:prstGeom prst="rect">
            <a:avLst/>
          </a:prstGeom>
          <a:solidFill>
            <a:srgbClr val="F59E0B"/>
          </a:solidFill>
          <a:ln/>
        </p:spPr>
      </p:sp>
      <p:sp>
        <p:nvSpPr>
          <p:cNvPr id="19" name="Text 16"/>
          <p:cNvSpPr/>
          <p:nvPr/>
        </p:nvSpPr>
        <p:spPr>
          <a:xfrm>
            <a:off x="1005840" y="4251960"/>
            <a:ext cx="4572000" cy="201168"/>
          </a:xfrm>
          <a:prstGeom prst="rect">
            <a:avLst/>
          </a:prstGeom>
          <a:noFill/>
          <a:ln/>
        </p:spPr>
        <p:txBody>
          <a:bodyPr wrap="square" rtlCol="0" anchor="ctr"/>
          <a:lstStyle/>
          <a:p>
            <a:pPr indent="0" marL="0">
              <a:buNone/>
            </a:pPr>
            <a:r>
              <a:rPr lang="en-US" sz="800" b="1" spc="500" kern="0" dirty="0">
                <a:solidFill>
                  <a:srgbClr val="F59E0B"/>
                </a:solidFill>
                <a:latin typeface="Open Sans" pitchFamily="34" charset="0"/>
                <a:ea typeface="Open Sans" pitchFamily="34" charset="-122"/>
                <a:cs typeface="Open Sans" pitchFamily="34" charset="-120"/>
              </a:rPr>
              <a:t>O QUE VOCÊ VAI APRENDER</a:t>
            </a:r>
            <a:endParaRPr lang="en-US" sz="800" dirty="0"/>
          </a:p>
        </p:txBody>
      </p:sp>
      <p:sp>
        <p:nvSpPr>
          <p:cNvPr id="20" name="Shape 17"/>
          <p:cNvSpPr/>
          <p:nvPr/>
        </p:nvSpPr>
        <p:spPr>
          <a:xfrm>
            <a:off x="1005840" y="4590288"/>
            <a:ext cx="109728" cy="109728"/>
          </a:xfrm>
          <a:prstGeom prst="roundRect">
            <a:avLst>
              <a:gd name="adj" fmla="val 16667"/>
            </a:avLst>
          </a:prstGeom>
          <a:solidFill>
            <a:srgbClr val="F59E0B"/>
          </a:solidFill>
          <a:ln/>
        </p:spPr>
      </p:sp>
      <p:sp>
        <p:nvSpPr>
          <p:cNvPr id="21" name="Text 18"/>
          <p:cNvSpPr/>
          <p:nvPr/>
        </p:nvSpPr>
        <p:spPr>
          <a:xfrm>
            <a:off x="1234440" y="4544568"/>
            <a:ext cx="5291196" cy="347472"/>
          </a:xfrm>
          <a:prstGeom prst="rect">
            <a:avLst/>
          </a:prstGeom>
          <a:noFill/>
          <a:ln/>
        </p:spPr>
        <p:txBody>
          <a:bodyPr wrap="square" rtlCol="0" anchor="ctr"/>
          <a:lstStyle/>
          <a:p>
            <a:pPr indent="0" marL="0">
              <a:lnSpc>
                <a:spcPct val="112000"/>
              </a:lnSpc>
              <a:buNone/>
            </a:pPr>
            <a:r>
              <a:rPr lang="en-US" sz="1100" dirty="0">
                <a:solidFill>
                  <a:srgbClr val="94A3C0"/>
                </a:solidFill>
                <a:latin typeface="Open Sans" pitchFamily="34" charset="0"/>
                <a:ea typeface="Open Sans" pitchFamily="34" charset="-122"/>
                <a:cs typeface="Open Sans" pitchFamily="34" charset="-120"/>
              </a:rPr>
              <a:t>Compreender como a IA transforma a experiência do cliente (CX) e o engajamento.</a:t>
            </a:r>
            <a:endParaRPr lang="en-US" sz="1100" dirty="0"/>
          </a:p>
        </p:txBody>
      </p:sp>
      <p:sp>
        <p:nvSpPr>
          <p:cNvPr id="22" name="Shape 19"/>
          <p:cNvSpPr/>
          <p:nvPr/>
        </p:nvSpPr>
        <p:spPr>
          <a:xfrm>
            <a:off x="1005840" y="4992624"/>
            <a:ext cx="109728" cy="109728"/>
          </a:xfrm>
          <a:prstGeom prst="roundRect">
            <a:avLst>
              <a:gd name="adj" fmla="val 16667"/>
            </a:avLst>
          </a:prstGeom>
          <a:solidFill>
            <a:srgbClr val="F59E0B"/>
          </a:solidFill>
          <a:ln/>
        </p:spPr>
      </p:sp>
      <p:sp>
        <p:nvSpPr>
          <p:cNvPr id="23" name="Text 20"/>
          <p:cNvSpPr/>
          <p:nvPr/>
        </p:nvSpPr>
        <p:spPr>
          <a:xfrm>
            <a:off x="1234440" y="4946904"/>
            <a:ext cx="5291196" cy="347472"/>
          </a:xfrm>
          <a:prstGeom prst="rect">
            <a:avLst/>
          </a:prstGeom>
          <a:noFill/>
          <a:ln/>
        </p:spPr>
        <p:txBody>
          <a:bodyPr wrap="square" rtlCol="0" anchor="ctr"/>
          <a:lstStyle/>
          <a:p>
            <a:pPr indent="0" marL="0">
              <a:lnSpc>
                <a:spcPct val="112000"/>
              </a:lnSpc>
              <a:buNone/>
            </a:pPr>
            <a:r>
              <a:rPr lang="en-US" sz="1100" dirty="0">
                <a:solidFill>
                  <a:srgbClr val="94A3C0"/>
                </a:solidFill>
                <a:latin typeface="Open Sans" pitchFamily="34" charset="0"/>
                <a:ea typeface="Open Sans" pitchFamily="34" charset="-122"/>
                <a:cs typeface="Open Sans" pitchFamily="34" charset="-120"/>
              </a:rPr>
              <a:t>Identificar aplicações práticas da IA para personalizar ofertas e otimizar o atendimento.</a:t>
            </a:r>
            <a:endParaRPr lang="en-US" sz="1100" dirty="0"/>
          </a:p>
        </p:txBody>
      </p:sp>
      <p:sp>
        <p:nvSpPr>
          <p:cNvPr id="24" name="Shape 21"/>
          <p:cNvSpPr/>
          <p:nvPr/>
        </p:nvSpPr>
        <p:spPr>
          <a:xfrm>
            <a:off x="1005840" y="5394960"/>
            <a:ext cx="109728" cy="109728"/>
          </a:xfrm>
          <a:prstGeom prst="roundRect">
            <a:avLst>
              <a:gd name="adj" fmla="val 16667"/>
            </a:avLst>
          </a:prstGeom>
          <a:solidFill>
            <a:srgbClr val="F59E0B"/>
          </a:solidFill>
          <a:ln/>
        </p:spPr>
      </p:sp>
      <p:sp>
        <p:nvSpPr>
          <p:cNvPr id="25" name="Text 22"/>
          <p:cNvSpPr/>
          <p:nvPr/>
        </p:nvSpPr>
        <p:spPr>
          <a:xfrm>
            <a:off x="1234440" y="5349240"/>
            <a:ext cx="5291196" cy="347472"/>
          </a:xfrm>
          <a:prstGeom prst="rect">
            <a:avLst/>
          </a:prstGeom>
          <a:noFill/>
          <a:ln/>
        </p:spPr>
        <p:txBody>
          <a:bodyPr wrap="square" rtlCol="0" anchor="ctr"/>
          <a:lstStyle/>
          <a:p>
            <a:pPr indent="0" marL="0">
              <a:lnSpc>
                <a:spcPct val="112000"/>
              </a:lnSpc>
              <a:buNone/>
            </a:pPr>
            <a:r>
              <a:rPr lang="en-US" sz="1100" dirty="0">
                <a:solidFill>
                  <a:srgbClr val="94A3C0"/>
                </a:solidFill>
                <a:latin typeface="Open Sans" pitchFamily="34" charset="0"/>
                <a:ea typeface="Open Sans" pitchFamily="34" charset="-122"/>
                <a:cs typeface="Open Sans" pitchFamily="34" charset="-120"/>
              </a:rPr>
              <a:t>Desenvolver a capacidade de aplicar soluções de IA em CX, mesmo sem formação técnica aprofundada.</a:t>
            </a:r>
            <a:endParaRPr lang="en-US" sz="1100" dirty="0"/>
          </a:p>
        </p:txBody>
      </p:sp>
      <p:sp>
        <p:nvSpPr>
          <p:cNvPr id="26" name="Shape 23"/>
          <p:cNvSpPr/>
          <p:nvPr/>
        </p:nvSpPr>
        <p:spPr>
          <a:xfrm>
            <a:off x="731520" y="6446520"/>
            <a:ext cx="542544" cy="7315"/>
          </a:xfrm>
          <a:prstGeom prst="rect">
            <a:avLst/>
          </a:prstGeom>
          <a:solidFill>
            <a:srgbClr val="F59E0B"/>
          </a:solidFill>
          <a:ln/>
        </p:spPr>
      </p:sp>
      <p:sp>
        <p:nvSpPr>
          <p:cNvPr id="27" name="Shape 24"/>
          <p:cNvSpPr/>
          <p:nvPr/>
        </p:nvSpPr>
        <p:spPr>
          <a:xfrm>
            <a:off x="1264920" y="6446520"/>
            <a:ext cx="542544" cy="7315"/>
          </a:xfrm>
          <a:prstGeom prst="rect">
            <a:avLst/>
          </a:prstGeom>
          <a:solidFill>
            <a:srgbClr val="F59E0B"/>
          </a:solidFill>
          <a:ln/>
        </p:spPr>
      </p:sp>
      <p:sp>
        <p:nvSpPr>
          <p:cNvPr id="28" name="Shape 25"/>
          <p:cNvSpPr/>
          <p:nvPr/>
        </p:nvSpPr>
        <p:spPr>
          <a:xfrm>
            <a:off x="1798320" y="6446520"/>
            <a:ext cx="542544" cy="7315"/>
          </a:xfrm>
          <a:prstGeom prst="rect">
            <a:avLst/>
          </a:prstGeom>
          <a:solidFill>
            <a:srgbClr val="F59E0B"/>
          </a:solidFill>
          <a:ln/>
        </p:spPr>
      </p:sp>
      <p:sp>
        <p:nvSpPr>
          <p:cNvPr id="29" name="Shape 26"/>
          <p:cNvSpPr/>
          <p:nvPr/>
        </p:nvSpPr>
        <p:spPr>
          <a:xfrm>
            <a:off x="2331720" y="6446520"/>
            <a:ext cx="542544" cy="7315"/>
          </a:xfrm>
          <a:prstGeom prst="rect">
            <a:avLst/>
          </a:prstGeom>
          <a:solidFill>
            <a:srgbClr val="F59E0B"/>
          </a:solidFill>
          <a:ln/>
        </p:spPr>
      </p:sp>
      <p:sp>
        <p:nvSpPr>
          <p:cNvPr id="30" name="Shape 27"/>
          <p:cNvSpPr/>
          <p:nvPr/>
        </p:nvSpPr>
        <p:spPr>
          <a:xfrm>
            <a:off x="2865120" y="6446520"/>
            <a:ext cx="542544" cy="7315"/>
          </a:xfrm>
          <a:prstGeom prst="rect">
            <a:avLst/>
          </a:prstGeom>
          <a:solidFill>
            <a:srgbClr val="F59E0B"/>
          </a:solidFill>
          <a:ln/>
        </p:spPr>
      </p:sp>
      <p:sp>
        <p:nvSpPr>
          <p:cNvPr id="31" name="Shape 28"/>
          <p:cNvSpPr/>
          <p:nvPr/>
        </p:nvSpPr>
        <p:spPr>
          <a:xfrm>
            <a:off x="3398520" y="6446520"/>
            <a:ext cx="542544" cy="7315"/>
          </a:xfrm>
          <a:prstGeom prst="rect">
            <a:avLst/>
          </a:prstGeom>
          <a:solidFill>
            <a:srgbClr val="F59E0B"/>
          </a:solidFill>
          <a:ln/>
        </p:spPr>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Shape 1"/>
          <p:cNvSpPr/>
          <p:nvPr/>
        </p:nvSpPr>
        <p:spPr>
          <a:xfrm>
            <a:off x="64008" y="0"/>
            <a:ext cx="18288" cy="6858000"/>
          </a:xfrm>
          <a:prstGeom prst="rect">
            <a:avLst/>
          </a:prstGeom>
          <a:solidFill>
            <a:srgbClr val="10B981"/>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10B981"/>
                </a:solidFill>
                <a:latin typeface="Open Sans" pitchFamily="34" charset="0"/>
                <a:ea typeface="Open Sans" pitchFamily="34" charset="-122"/>
                <a:cs typeface="Open Sans" pitchFamily="34" charset="-120"/>
              </a:rPr>
              <a:t>FUNDAMENTOS</a:t>
            </a:r>
            <a:endParaRPr lang="en-US" sz="900" dirty="0"/>
          </a:p>
        </p:txBody>
      </p:sp>
      <p:sp>
        <p:nvSpPr>
          <p:cNvPr id="5" name="Shape 3"/>
          <p:cNvSpPr/>
          <p:nvPr/>
        </p:nvSpPr>
        <p:spPr>
          <a:xfrm>
            <a:off x="502920" y="493776"/>
            <a:ext cx="640080" cy="21946"/>
          </a:xfrm>
          <a:prstGeom prst="rect">
            <a:avLst/>
          </a:prstGeom>
          <a:solidFill>
            <a:srgbClr val="10B981"/>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Fundamentos</a:t>
            </a:r>
            <a:endParaRPr lang="en-US" sz="2800" dirty="0"/>
          </a:p>
        </p:txBody>
      </p:sp>
      <p:sp>
        <p:nvSpPr>
          <p:cNvPr id="7" name="Shape 5"/>
          <p:cNvSpPr/>
          <p:nvPr/>
        </p:nvSpPr>
        <p:spPr>
          <a:xfrm>
            <a:off x="502920" y="1389888"/>
            <a:ext cx="11185855" cy="7315"/>
          </a:xfrm>
          <a:prstGeom prst="rect">
            <a:avLst/>
          </a:prstGeom>
          <a:solidFill>
            <a:srgbClr val="10B981"/>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621792" y="1572768"/>
            <a:ext cx="11140135" cy="1188720"/>
          </a:xfrm>
          <a:prstGeom prst="roundRect">
            <a:avLst>
              <a:gd name="adj" fmla="val 7692"/>
            </a:avLst>
          </a:prstGeom>
          <a:solidFill>
            <a:srgbClr val="000000"/>
          </a:solidFill>
          <a:ln/>
        </p:spPr>
      </p:sp>
      <p:sp>
        <p:nvSpPr>
          <p:cNvPr id="10" name="Shape 8"/>
          <p:cNvSpPr/>
          <p:nvPr/>
        </p:nvSpPr>
        <p:spPr>
          <a:xfrm>
            <a:off x="594360" y="1536192"/>
            <a:ext cx="11140135" cy="1188720"/>
          </a:xfrm>
          <a:prstGeom prst="roundRect">
            <a:avLst>
              <a:gd name="adj" fmla="val 7692"/>
            </a:avLst>
          </a:prstGeom>
          <a:solidFill>
            <a:srgbClr val="050A18"/>
          </a:solidFill>
          <a:ln/>
        </p:spPr>
      </p:sp>
      <p:sp>
        <p:nvSpPr>
          <p:cNvPr id="11" name="Shape 9"/>
          <p:cNvSpPr/>
          <p:nvPr/>
        </p:nvSpPr>
        <p:spPr>
          <a:xfrm>
            <a:off x="594360" y="1536192"/>
            <a:ext cx="54864" cy="1188720"/>
          </a:xfrm>
          <a:prstGeom prst="rect">
            <a:avLst>
              <a:gd name="adj" fmla="val 166667"/>
            </a:avLst>
          </a:prstGeom>
          <a:solidFill>
            <a:srgbClr val="10B981"/>
          </a:solidFill>
          <a:ln/>
        </p:spPr>
      </p:sp>
      <p:sp>
        <p:nvSpPr>
          <p:cNvPr id="12" name="Text 10"/>
          <p:cNvSpPr/>
          <p:nvPr/>
        </p:nvSpPr>
        <p:spPr>
          <a:xfrm>
            <a:off x="685800" y="1444752"/>
            <a:ext cx="457200" cy="548640"/>
          </a:xfrm>
          <a:prstGeom prst="rect">
            <a:avLst/>
          </a:prstGeom>
          <a:noFill/>
          <a:ln/>
        </p:spPr>
        <p:txBody>
          <a:bodyPr wrap="square" rtlCol="0" anchor="ctr"/>
          <a:lstStyle/>
          <a:p>
            <a:pPr indent="0" marL="0">
              <a:buNone/>
            </a:pPr>
            <a:r>
              <a:rPr lang="en-US" sz="4800" b="1" dirty="0">
                <a:solidFill>
                  <a:srgbClr val="10B981">
                    <a:alpha val="75000"/>
                  </a:srgbClr>
                </a:solidFill>
                <a:latin typeface="Montserrat" pitchFamily="34" charset="0"/>
                <a:ea typeface="Montserrat" pitchFamily="34" charset="-122"/>
                <a:cs typeface="Montserrat" pitchFamily="34" charset="-120"/>
              </a:rPr>
              <a:t>“</a:t>
            </a:r>
            <a:endParaRPr lang="en-US" sz="4800" dirty="0"/>
          </a:p>
        </p:txBody>
      </p:sp>
      <p:sp>
        <p:nvSpPr>
          <p:cNvPr id="13" name="Text 11"/>
          <p:cNvSpPr/>
          <p:nvPr/>
        </p:nvSpPr>
        <p:spPr>
          <a:xfrm>
            <a:off x="868680" y="1572768"/>
            <a:ext cx="10682935" cy="1097280"/>
          </a:xfrm>
          <a:prstGeom prst="rect">
            <a:avLst/>
          </a:prstGeom>
          <a:noFill/>
          <a:ln/>
        </p:spPr>
        <p:txBody>
          <a:bodyPr wrap="square" rtlCol="0" anchor="ctr"/>
          <a:lstStyle/>
          <a:p>
            <a:pPr indent="0" marL="0">
              <a:lnSpc>
                <a:spcPct val="135000"/>
              </a:lnSpc>
              <a:buNone/>
            </a:pPr>
            <a:r>
              <a:rPr lang="en-US" sz="1900" i="1" dirty="0">
                <a:solidFill>
                  <a:srgbClr val="FFFFFF"/>
                </a:solidFill>
                <a:latin typeface="Open Sans" pitchFamily="34" charset="0"/>
                <a:ea typeface="Open Sans" pitchFamily="34" charset="-122"/>
                <a:cs typeface="Open Sans" pitchFamily="34" charset="-120"/>
              </a:rPr>
              <a:t>Isso leva a interações mais personalizadas e eficientes.</a:t>
            </a:r>
            <a:endParaRPr lang="en-US" sz="1900" dirty="0"/>
          </a:p>
        </p:txBody>
      </p:sp>
      <p:sp>
        <p:nvSpPr>
          <p:cNvPr id="14" name="Shape 12"/>
          <p:cNvSpPr/>
          <p:nvPr/>
        </p:nvSpPr>
        <p:spPr>
          <a:xfrm>
            <a:off x="621792" y="2980944"/>
            <a:ext cx="11140135" cy="3502152"/>
          </a:xfrm>
          <a:prstGeom prst="roundRect">
            <a:avLst>
              <a:gd name="adj" fmla="val 2611"/>
            </a:avLst>
          </a:prstGeom>
          <a:solidFill>
            <a:srgbClr val="000000"/>
          </a:solidFill>
          <a:ln/>
        </p:spPr>
      </p:sp>
      <p:sp>
        <p:nvSpPr>
          <p:cNvPr id="15" name="Shape 13"/>
          <p:cNvSpPr/>
          <p:nvPr/>
        </p:nvSpPr>
        <p:spPr>
          <a:xfrm>
            <a:off x="594360" y="2944368"/>
            <a:ext cx="11140135" cy="3502152"/>
          </a:xfrm>
          <a:prstGeom prst="roundRect">
            <a:avLst>
              <a:gd name="adj" fmla="val 2089"/>
            </a:avLst>
          </a:prstGeom>
          <a:solidFill>
            <a:srgbClr val="141E34"/>
          </a:solidFill>
          <a:ln/>
        </p:spPr>
      </p:sp>
      <p:sp>
        <p:nvSpPr>
          <p:cNvPr id="16" name="Shape 14"/>
          <p:cNvSpPr/>
          <p:nvPr/>
        </p:nvSpPr>
        <p:spPr>
          <a:xfrm>
            <a:off x="594360" y="2944368"/>
            <a:ext cx="11140135" cy="45720"/>
          </a:xfrm>
          <a:prstGeom prst="rect">
            <a:avLst>
              <a:gd name="adj" fmla="val 160000"/>
            </a:avLst>
          </a:prstGeom>
          <a:solidFill>
            <a:srgbClr val="6C63FF"/>
          </a:solidFill>
          <a:ln/>
        </p:spPr>
      </p:sp>
      <p:sp>
        <p:nvSpPr>
          <p:cNvPr id="17" name="Shape 15"/>
          <p:cNvSpPr/>
          <p:nvPr/>
        </p:nvSpPr>
        <p:spPr>
          <a:xfrm>
            <a:off x="685800" y="3072384"/>
            <a:ext cx="310896" cy="310896"/>
          </a:xfrm>
          <a:prstGeom prst="roundRect">
            <a:avLst>
              <a:gd name="adj" fmla="val 17647"/>
            </a:avLst>
          </a:prstGeom>
          <a:solidFill>
            <a:srgbClr val="6C63FF"/>
          </a:solidFill>
          <a:ln/>
        </p:spPr>
      </p:sp>
      <p:sp>
        <p:nvSpPr>
          <p:cNvPr id="18" name="Text 16"/>
          <p:cNvSpPr/>
          <p:nvPr/>
        </p:nvSpPr>
        <p:spPr>
          <a:xfrm>
            <a:off x="685800" y="3072384"/>
            <a:ext cx="310896" cy="310896"/>
          </a:xfrm>
          <a:prstGeom prst="rect">
            <a:avLst/>
          </a:prstGeom>
          <a:noFill/>
          <a:ln/>
        </p:spPr>
        <p:txBody>
          <a:bodyPr wrap="square"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2</a:t>
            </a:r>
            <a:endParaRPr lang="en-US" sz="1500" dirty="0"/>
          </a:p>
        </p:txBody>
      </p:sp>
      <p:sp>
        <p:nvSpPr>
          <p:cNvPr id="19" name="Text 17"/>
          <p:cNvSpPr/>
          <p:nvPr/>
        </p:nvSpPr>
        <p:spPr>
          <a:xfrm>
            <a:off x="722376" y="3447288"/>
            <a:ext cx="10884103" cy="2953512"/>
          </a:xfrm>
          <a:prstGeom prst="rect">
            <a:avLst/>
          </a:prstGeom>
          <a:noFill/>
          <a:ln/>
        </p:spPr>
        <p:txBody>
          <a:bodyPr wrap="square" rtlCol="0" anchor="t"/>
          <a:lstStyle/>
          <a:p>
            <a:pPr indent="0" marL="0">
              <a:lnSpc>
                <a:spcPct val="122000"/>
              </a:lnSpc>
              <a:buNone/>
            </a:pPr>
            <a:r>
              <a:rPr lang="en-US" sz="1300" dirty="0">
                <a:solidFill>
                  <a:srgbClr val="E8EDF5"/>
                </a:solidFill>
                <a:latin typeface="Open Sans" pitchFamily="34" charset="0"/>
                <a:ea typeface="Open Sans" pitchFamily="34" charset="-122"/>
                <a:cs typeface="Open Sans" pitchFamily="34" charset="-120"/>
              </a:rPr>
              <a:t>A IA pode automatizar tarefas rotineiras, liberando as equipes para focar em problemas complexos e estratégicos.</a:t>
            </a:r>
            <a:endParaRPr lang="en-US" sz="1300" dirty="0"/>
          </a:p>
        </p:txBody>
      </p:sp>
      <p:sp>
        <p:nvSpPr>
          <p:cNvPr id="20" name="Shape 18"/>
          <p:cNvSpPr/>
          <p:nvPr/>
        </p:nvSpPr>
        <p:spPr>
          <a:xfrm>
            <a:off x="0" y="6601968"/>
            <a:ext cx="2041093" cy="4572"/>
          </a:xfrm>
          <a:prstGeom prst="rect">
            <a:avLst/>
          </a:prstGeom>
          <a:solidFill>
            <a:srgbClr val="6C63FF"/>
          </a:solidFill>
          <a:ln/>
        </p:spPr>
      </p:sp>
      <p:sp>
        <p:nvSpPr>
          <p:cNvPr id="21" name="Shape 19"/>
          <p:cNvSpPr/>
          <p:nvPr/>
        </p:nvSpPr>
        <p:spPr>
          <a:xfrm>
            <a:off x="2031949" y="6601968"/>
            <a:ext cx="2041093" cy="4572"/>
          </a:xfrm>
          <a:prstGeom prst="rect">
            <a:avLst/>
          </a:prstGeom>
          <a:solidFill>
            <a:srgbClr val="6C63FF"/>
          </a:solidFill>
          <a:ln/>
        </p:spPr>
      </p:sp>
      <p:sp>
        <p:nvSpPr>
          <p:cNvPr id="22" name="Shape 20"/>
          <p:cNvSpPr/>
          <p:nvPr/>
        </p:nvSpPr>
        <p:spPr>
          <a:xfrm>
            <a:off x="4063898" y="6601968"/>
            <a:ext cx="2041093" cy="4572"/>
          </a:xfrm>
          <a:prstGeom prst="rect">
            <a:avLst/>
          </a:prstGeom>
          <a:solidFill>
            <a:srgbClr val="6C63FF"/>
          </a:solidFill>
          <a:ln/>
        </p:spPr>
      </p:sp>
      <p:sp>
        <p:nvSpPr>
          <p:cNvPr id="23" name="Shape 21"/>
          <p:cNvSpPr/>
          <p:nvPr/>
        </p:nvSpPr>
        <p:spPr>
          <a:xfrm>
            <a:off x="6095848" y="6601968"/>
            <a:ext cx="2041093" cy="4572"/>
          </a:xfrm>
          <a:prstGeom prst="rect">
            <a:avLst/>
          </a:prstGeom>
          <a:solidFill>
            <a:srgbClr val="6C63FF"/>
          </a:solidFill>
          <a:ln/>
        </p:spPr>
      </p:sp>
      <p:sp>
        <p:nvSpPr>
          <p:cNvPr id="24" name="Shape 22"/>
          <p:cNvSpPr/>
          <p:nvPr/>
        </p:nvSpPr>
        <p:spPr>
          <a:xfrm>
            <a:off x="8127797" y="6601968"/>
            <a:ext cx="2041093" cy="4572"/>
          </a:xfrm>
          <a:prstGeom prst="rect">
            <a:avLst/>
          </a:prstGeom>
          <a:solidFill>
            <a:srgbClr val="6C63FF"/>
          </a:solidFill>
          <a:ln/>
        </p:spPr>
      </p:sp>
      <p:sp>
        <p:nvSpPr>
          <p:cNvPr id="25" name="Shape 23"/>
          <p:cNvSpPr/>
          <p:nvPr/>
        </p:nvSpPr>
        <p:spPr>
          <a:xfrm>
            <a:off x="10159746" y="6601968"/>
            <a:ext cx="2041093" cy="4572"/>
          </a:xfrm>
          <a:prstGeom prst="rect">
            <a:avLst/>
          </a:prstGeom>
          <a:solidFill>
            <a:srgbClr val="6C63FF"/>
          </a:solidFill>
          <a:ln/>
        </p:spPr>
      </p:sp>
      <p:sp>
        <p:nvSpPr>
          <p:cNvPr id="26" name="Shape 24"/>
          <p:cNvSpPr/>
          <p:nvPr/>
        </p:nvSpPr>
        <p:spPr>
          <a:xfrm>
            <a:off x="0" y="6606540"/>
            <a:ext cx="12191695" cy="2743"/>
          </a:xfrm>
          <a:prstGeom prst="rect">
            <a:avLst/>
          </a:prstGeom>
          <a:solidFill>
            <a:srgbClr val="222E48"/>
          </a:solidFill>
          <a:ln/>
        </p:spPr>
      </p:sp>
      <p:sp>
        <p:nvSpPr>
          <p:cNvPr id="27" name="Text 25"/>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28" name="Shape 26"/>
          <p:cNvSpPr/>
          <p:nvPr/>
        </p:nvSpPr>
        <p:spPr>
          <a:xfrm>
            <a:off x="10436047" y="6693408"/>
            <a:ext cx="73152" cy="73152"/>
          </a:xfrm>
          <a:prstGeom prst="ellipse">
            <a:avLst/>
          </a:prstGeom>
          <a:solidFill>
            <a:srgbClr val="6C63FF"/>
          </a:solidFill>
          <a:ln/>
        </p:spPr>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F59E0B"/>
          </a:solidFill>
          <a:ln/>
        </p:spPr>
      </p:sp>
      <p:sp>
        <p:nvSpPr>
          <p:cNvPr id="3" name="Shape 1"/>
          <p:cNvSpPr/>
          <p:nvPr/>
        </p:nvSpPr>
        <p:spPr>
          <a:xfrm>
            <a:off x="64008" y="0"/>
            <a:ext cx="18288" cy="6858000"/>
          </a:xfrm>
          <a:prstGeom prst="rect">
            <a:avLst/>
          </a:prstGeom>
          <a:solidFill>
            <a:srgbClr val="F59E0B"/>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F59E0B"/>
                </a:solidFill>
                <a:latin typeface="Open Sans" pitchFamily="34" charset="0"/>
                <a:ea typeface="Open Sans" pitchFamily="34" charset="-122"/>
                <a:cs typeface="Open Sans" pitchFamily="34" charset="-120"/>
              </a:rPr>
              <a:t>FUNDAMENTOS</a:t>
            </a:r>
            <a:endParaRPr lang="en-US" sz="900" dirty="0"/>
          </a:p>
        </p:txBody>
      </p:sp>
      <p:sp>
        <p:nvSpPr>
          <p:cNvPr id="5" name="Shape 3"/>
          <p:cNvSpPr/>
          <p:nvPr/>
        </p:nvSpPr>
        <p:spPr>
          <a:xfrm>
            <a:off x="502920" y="493776"/>
            <a:ext cx="640080" cy="21946"/>
          </a:xfrm>
          <a:prstGeom prst="rect">
            <a:avLst/>
          </a:prstGeom>
          <a:solidFill>
            <a:srgbClr val="F59E0B"/>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Fundamentos (Parte 2)</a:t>
            </a:r>
            <a:endParaRPr lang="en-US" sz="2800" dirty="0"/>
          </a:p>
        </p:txBody>
      </p:sp>
      <p:sp>
        <p:nvSpPr>
          <p:cNvPr id="7" name="Shape 5"/>
          <p:cNvSpPr/>
          <p:nvPr/>
        </p:nvSpPr>
        <p:spPr>
          <a:xfrm>
            <a:off x="502920" y="1389888"/>
            <a:ext cx="11185855" cy="7315"/>
          </a:xfrm>
          <a:prstGeom prst="rect">
            <a:avLst/>
          </a:prstGeom>
          <a:solidFill>
            <a:srgbClr val="F59E0B"/>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621792" y="1572768"/>
            <a:ext cx="3603650" cy="2286000"/>
          </a:xfrm>
          <a:prstGeom prst="roundRect">
            <a:avLst>
              <a:gd name="adj" fmla="val 4000"/>
            </a:avLst>
          </a:prstGeom>
          <a:solidFill>
            <a:srgbClr val="000000"/>
          </a:solidFill>
          <a:ln/>
        </p:spPr>
      </p:sp>
      <p:sp>
        <p:nvSpPr>
          <p:cNvPr id="10" name="Shape 8"/>
          <p:cNvSpPr/>
          <p:nvPr/>
        </p:nvSpPr>
        <p:spPr>
          <a:xfrm>
            <a:off x="594360" y="1536192"/>
            <a:ext cx="3603650" cy="2286000"/>
          </a:xfrm>
          <a:prstGeom prst="roundRect">
            <a:avLst>
              <a:gd name="adj" fmla="val 4000"/>
            </a:avLst>
          </a:prstGeom>
          <a:solidFill>
            <a:srgbClr val="141E34"/>
          </a:solidFill>
          <a:ln/>
        </p:spPr>
      </p:sp>
      <p:sp>
        <p:nvSpPr>
          <p:cNvPr id="11" name="Shape 9"/>
          <p:cNvSpPr/>
          <p:nvPr/>
        </p:nvSpPr>
        <p:spPr>
          <a:xfrm>
            <a:off x="594360" y="1536192"/>
            <a:ext cx="3603650" cy="45720"/>
          </a:xfrm>
          <a:prstGeom prst="rect">
            <a:avLst>
              <a:gd name="adj" fmla="val 200000"/>
            </a:avLst>
          </a:prstGeom>
          <a:solidFill>
            <a:srgbClr val="6C63FF"/>
          </a:solidFill>
          <a:ln/>
        </p:spPr>
      </p:sp>
      <p:sp>
        <p:nvSpPr>
          <p:cNvPr id="12" name="Text 10"/>
          <p:cNvSpPr/>
          <p:nvPr/>
        </p:nvSpPr>
        <p:spPr>
          <a:xfrm>
            <a:off x="3603650" y="1627632"/>
            <a:ext cx="502920" cy="365760"/>
          </a:xfrm>
          <a:prstGeom prst="rect">
            <a:avLst/>
          </a:prstGeom>
          <a:noFill/>
          <a:ln/>
        </p:spPr>
        <p:txBody>
          <a:bodyPr wrap="square" rtlCol="0" anchor="ctr"/>
          <a:lstStyle/>
          <a:p>
            <a:pPr algn="r" indent="0" marL="0">
              <a:buNone/>
            </a:pPr>
            <a:r>
              <a:rPr lang="en-US" sz="2400" b="1" dirty="0">
                <a:solidFill>
                  <a:srgbClr val="6C63FF">
                    <a:alpha val="75000"/>
                  </a:srgbClr>
                </a:solidFill>
                <a:latin typeface="Montserrat" pitchFamily="34" charset="0"/>
                <a:ea typeface="Montserrat" pitchFamily="34" charset="-122"/>
                <a:cs typeface="Montserrat" pitchFamily="34" charset="-120"/>
              </a:rPr>
              <a:t>01</a:t>
            </a:r>
            <a:endParaRPr lang="en-US" sz="2400" dirty="0"/>
          </a:p>
        </p:txBody>
      </p:sp>
      <p:sp>
        <p:nvSpPr>
          <p:cNvPr id="13" name="Text 11"/>
          <p:cNvSpPr/>
          <p:nvPr/>
        </p:nvSpPr>
        <p:spPr>
          <a:xfrm>
            <a:off x="722376" y="1682496"/>
            <a:ext cx="2835554" cy="201168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A Experiência do Cliente (CX) refere-se à percepção geral de um cliente sobre a interação com uma empresa.</a:t>
            </a:r>
            <a:endParaRPr lang="en-US" sz="1300" dirty="0"/>
          </a:p>
        </p:txBody>
      </p:sp>
      <p:sp>
        <p:nvSpPr>
          <p:cNvPr id="14" name="Shape 12"/>
          <p:cNvSpPr/>
          <p:nvPr/>
        </p:nvSpPr>
        <p:spPr>
          <a:xfrm>
            <a:off x="4390034" y="1572768"/>
            <a:ext cx="3603650" cy="2286000"/>
          </a:xfrm>
          <a:prstGeom prst="roundRect">
            <a:avLst>
              <a:gd name="adj" fmla="val 4000"/>
            </a:avLst>
          </a:prstGeom>
          <a:solidFill>
            <a:srgbClr val="000000"/>
          </a:solidFill>
          <a:ln/>
        </p:spPr>
      </p:sp>
      <p:sp>
        <p:nvSpPr>
          <p:cNvPr id="15" name="Shape 13"/>
          <p:cNvSpPr/>
          <p:nvPr/>
        </p:nvSpPr>
        <p:spPr>
          <a:xfrm>
            <a:off x="4362602" y="1536192"/>
            <a:ext cx="3603650" cy="2286000"/>
          </a:xfrm>
          <a:prstGeom prst="roundRect">
            <a:avLst>
              <a:gd name="adj" fmla="val 4000"/>
            </a:avLst>
          </a:prstGeom>
          <a:solidFill>
            <a:srgbClr val="141E34"/>
          </a:solidFill>
          <a:ln/>
        </p:spPr>
      </p:sp>
      <p:sp>
        <p:nvSpPr>
          <p:cNvPr id="16" name="Shape 14"/>
          <p:cNvSpPr/>
          <p:nvPr/>
        </p:nvSpPr>
        <p:spPr>
          <a:xfrm>
            <a:off x="4362602" y="1536192"/>
            <a:ext cx="3603650" cy="45720"/>
          </a:xfrm>
          <a:prstGeom prst="rect">
            <a:avLst>
              <a:gd name="adj" fmla="val 200000"/>
            </a:avLst>
          </a:prstGeom>
          <a:solidFill>
            <a:srgbClr val="3B82F6"/>
          </a:solidFill>
          <a:ln/>
        </p:spPr>
      </p:sp>
      <p:sp>
        <p:nvSpPr>
          <p:cNvPr id="17" name="Text 15"/>
          <p:cNvSpPr/>
          <p:nvPr/>
        </p:nvSpPr>
        <p:spPr>
          <a:xfrm>
            <a:off x="7371893" y="1627632"/>
            <a:ext cx="502920" cy="365760"/>
          </a:xfrm>
          <a:prstGeom prst="rect">
            <a:avLst/>
          </a:prstGeom>
          <a:noFill/>
          <a:ln/>
        </p:spPr>
        <p:txBody>
          <a:bodyPr wrap="square" rtlCol="0" anchor="ctr"/>
          <a:lstStyle/>
          <a:p>
            <a:pPr algn="r" indent="0" marL="0">
              <a:buNone/>
            </a:pPr>
            <a:r>
              <a:rPr lang="en-US" sz="2400" b="1" dirty="0">
                <a:solidFill>
                  <a:srgbClr val="3B82F6">
                    <a:alpha val="75000"/>
                  </a:srgbClr>
                </a:solidFill>
                <a:latin typeface="Montserrat" pitchFamily="34" charset="0"/>
                <a:ea typeface="Montserrat" pitchFamily="34" charset="-122"/>
                <a:cs typeface="Montserrat" pitchFamily="34" charset="-120"/>
              </a:rPr>
              <a:t>02</a:t>
            </a:r>
            <a:endParaRPr lang="en-US" sz="2400" dirty="0"/>
          </a:p>
        </p:txBody>
      </p:sp>
      <p:sp>
        <p:nvSpPr>
          <p:cNvPr id="18" name="Text 16"/>
          <p:cNvSpPr/>
          <p:nvPr/>
        </p:nvSpPr>
        <p:spPr>
          <a:xfrm>
            <a:off x="4490618" y="1682496"/>
            <a:ext cx="2835554" cy="201168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Uma CX positiva cultiva a lealdade, gera marketing boca a boca e impulsiona o crescimento.</a:t>
            </a:r>
            <a:endParaRPr lang="en-US" sz="1300" dirty="0"/>
          </a:p>
        </p:txBody>
      </p:sp>
      <p:sp>
        <p:nvSpPr>
          <p:cNvPr id="19" name="Shape 17"/>
          <p:cNvSpPr/>
          <p:nvPr/>
        </p:nvSpPr>
        <p:spPr>
          <a:xfrm>
            <a:off x="8158277" y="1572768"/>
            <a:ext cx="3603650" cy="2286000"/>
          </a:xfrm>
          <a:prstGeom prst="roundRect">
            <a:avLst>
              <a:gd name="adj" fmla="val 4000"/>
            </a:avLst>
          </a:prstGeom>
          <a:solidFill>
            <a:srgbClr val="000000"/>
          </a:solidFill>
          <a:ln/>
        </p:spPr>
      </p:sp>
      <p:sp>
        <p:nvSpPr>
          <p:cNvPr id="20" name="Shape 18"/>
          <p:cNvSpPr/>
          <p:nvPr/>
        </p:nvSpPr>
        <p:spPr>
          <a:xfrm>
            <a:off x="8130845" y="1536192"/>
            <a:ext cx="3603650" cy="2286000"/>
          </a:xfrm>
          <a:prstGeom prst="roundRect">
            <a:avLst>
              <a:gd name="adj" fmla="val 4000"/>
            </a:avLst>
          </a:prstGeom>
          <a:solidFill>
            <a:srgbClr val="141E34"/>
          </a:solidFill>
          <a:ln/>
        </p:spPr>
      </p:sp>
      <p:sp>
        <p:nvSpPr>
          <p:cNvPr id="21" name="Shape 19"/>
          <p:cNvSpPr/>
          <p:nvPr/>
        </p:nvSpPr>
        <p:spPr>
          <a:xfrm>
            <a:off x="8130845" y="1536192"/>
            <a:ext cx="3603650" cy="45720"/>
          </a:xfrm>
          <a:prstGeom prst="rect">
            <a:avLst>
              <a:gd name="adj" fmla="val 200000"/>
            </a:avLst>
          </a:prstGeom>
          <a:solidFill>
            <a:srgbClr val="10B981"/>
          </a:solidFill>
          <a:ln/>
        </p:spPr>
      </p:sp>
      <p:sp>
        <p:nvSpPr>
          <p:cNvPr id="22" name="Text 20"/>
          <p:cNvSpPr/>
          <p:nvPr/>
        </p:nvSpPr>
        <p:spPr>
          <a:xfrm>
            <a:off x="11140135" y="1627632"/>
            <a:ext cx="502920" cy="365760"/>
          </a:xfrm>
          <a:prstGeom prst="rect">
            <a:avLst/>
          </a:prstGeom>
          <a:noFill/>
          <a:ln/>
        </p:spPr>
        <p:txBody>
          <a:bodyPr wrap="square" rtlCol="0" anchor="ctr"/>
          <a:lstStyle/>
          <a:p>
            <a:pPr algn="r" indent="0" marL="0">
              <a:buNone/>
            </a:pPr>
            <a:r>
              <a:rPr lang="en-US" sz="2400" b="1" dirty="0">
                <a:solidFill>
                  <a:srgbClr val="10B981">
                    <a:alpha val="75000"/>
                  </a:srgbClr>
                </a:solidFill>
                <a:latin typeface="Montserrat" pitchFamily="34" charset="0"/>
                <a:ea typeface="Montserrat" pitchFamily="34" charset="-122"/>
                <a:cs typeface="Montserrat" pitchFamily="34" charset="-120"/>
              </a:rPr>
              <a:t>03</a:t>
            </a:r>
            <a:endParaRPr lang="en-US" sz="2400" dirty="0"/>
          </a:p>
        </p:txBody>
      </p:sp>
      <p:sp>
        <p:nvSpPr>
          <p:cNvPr id="23" name="Text 21"/>
          <p:cNvSpPr/>
          <p:nvPr/>
        </p:nvSpPr>
        <p:spPr>
          <a:xfrm>
            <a:off x="8258861" y="1682496"/>
            <a:ext cx="2835554" cy="201168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A Inteligência Artificial (IA) atua como um catalisador para aprimorar cada ponto de contato do cliente, permitindo uma compreensão mais profunda de suas necessidades.</a:t>
            </a:r>
            <a:endParaRPr lang="en-US" sz="1300" dirty="0"/>
          </a:p>
        </p:txBody>
      </p:sp>
      <p:sp>
        <p:nvSpPr>
          <p:cNvPr id="24" name="Shape 22"/>
          <p:cNvSpPr/>
          <p:nvPr/>
        </p:nvSpPr>
        <p:spPr>
          <a:xfrm>
            <a:off x="0" y="6601968"/>
            <a:ext cx="2041093" cy="4572"/>
          </a:xfrm>
          <a:prstGeom prst="rect">
            <a:avLst/>
          </a:prstGeom>
          <a:solidFill>
            <a:srgbClr val="6C63FF"/>
          </a:solidFill>
          <a:ln/>
        </p:spPr>
      </p:sp>
      <p:sp>
        <p:nvSpPr>
          <p:cNvPr id="25" name="Shape 23"/>
          <p:cNvSpPr/>
          <p:nvPr/>
        </p:nvSpPr>
        <p:spPr>
          <a:xfrm>
            <a:off x="2031949" y="6601968"/>
            <a:ext cx="2041093" cy="4572"/>
          </a:xfrm>
          <a:prstGeom prst="rect">
            <a:avLst/>
          </a:prstGeom>
          <a:solidFill>
            <a:srgbClr val="6C63FF"/>
          </a:solidFill>
          <a:ln/>
        </p:spPr>
      </p:sp>
      <p:sp>
        <p:nvSpPr>
          <p:cNvPr id="26" name="Shape 24"/>
          <p:cNvSpPr/>
          <p:nvPr/>
        </p:nvSpPr>
        <p:spPr>
          <a:xfrm>
            <a:off x="4063898" y="6601968"/>
            <a:ext cx="2041093" cy="4572"/>
          </a:xfrm>
          <a:prstGeom prst="rect">
            <a:avLst/>
          </a:prstGeom>
          <a:solidFill>
            <a:srgbClr val="6C63FF"/>
          </a:solidFill>
          <a:ln/>
        </p:spPr>
      </p:sp>
      <p:sp>
        <p:nvSpPr>
          <p:cNvPr id="27" name="Shape 25"/>
          <p:cNvSpPr/>
          <p:nvPr/>
        </p:nvSpPr>
        <p:spPr>
          <a:xfrm>
            <a:off x="6095848" y="6601968"/>
            <a:ext cx="2041093" cy="4572"/>
          </a:xfrm>
          <a:prstGeom prst="rect">
            <a:avLst/>
          </a:prstGeom>
          <a:solidFill>
            <a:srgbClr val="6C63FF"/>
          </a:solidFill>
          <a:ln/>
        </p:spPr>
      </p:sp>
      <p:sp>
        <p:nvSpPr>
          <p:cNvPr id="28" name="Shape 26"/>
          <p:cNvSpPr/>
          <p:nvPr/>
        </p:nvSpPr>
        <p:spPr>
          <a:xfrm>
            <a:off x="8127797" y="6601968"/>
            <a:ext cx="2041093" cy="4572"/>
          </a:xfrm>
          <a:prstGeom prst="rect">
            <a:avLst/>
          </a:prstGeom>
          <a:solidFill>
            <a:srgbClr val="6C63FF"/>
          </a:solidFill>
          <a:ln/>
        </p:spPr>
      </p:sp>
      <p:sp>
        <p:nvSpPr>
          <p:cNvPr id="29" name="Shape 27"/>
          <p:cNvSpPr/>
          <p:nvPr/>
        </p:nvSpPr>
        <p:spPr>
          <a:xfrm>
            <a:off x="10159746" y="6601968"/>
            <a:ext cx="2041093" cy="4572"/>
          </a:xfrm>
          <a:prstGeom prst="rect">
            <a:avLst/>
          </a:prstGeom>
          <a:solidFill>
            <a:srgbClr val="6C63FF"/>
          </a:solidFill>
          <a:ln/>
        </p:spPr>
      </p:sp>
      <p:sp>
        <p:nvSpPr>
          <p:cNvPr id="30" name="Shape 28"/>
          <p:cNvSpPr/>
          <p:nvPr/>
        </p:nvSpPr>
        <p:spPr>
          <a:xfrm>
            <a:off x="0" y="6606540"/>
            <a:ext cx="12191695" cy="2743"/>
          </a:xfrm>
          <a:prstGeom prst="rect">
            <a:avLst/>
          </a:prstGeom>
          <a:solidFill>
            <a:srgbClr val="222E48"/>
          </a:solidFill>
          <a:ln/>
        </p:spPr>
      </p:sp>
      <p:sp>
        <p:nvSpPr>
          <p:cNvPr id="31" name="Text 29"/>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32" name="Shape 30"/>
          <p:cNvSpPr/>
          <p:nvPr/>
        </p:nvSpPr>
        <p:spPr>
          <a:xfrm>
            <a:off x="10436047" y="6693408"/>
            <a:ext cx="73152" cy="73152"/>
          </a:xfrm>
          <a:prstGeom prst="ellipse">
            <a:avLst/>
          </a:prstGeom>
          <a:solidFill>
            <a:srgbClr val="6C63FF"/>
          </a:solidFill>
          <a:ln/>
        </p:spPr>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Shape 1"/>
          <p:cNvSpPr/>
          <p:nvPr/>
        </p:nvSpPr>
        <p:spPr>
          <a:xfrm>
            <a:off x="64008" y="0"/>
            <a:ext cx="18288" cy="6858000"/>
          </a:xfrm>
          <a:prstGeom prst="rect">
            <a:avLst/>
          </a:prstGeom>
          <a:solidFill>
            <a:srgbClr val="10B981"/>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10B981"/>
                </a:solidFill>
                <a:latin typeface="Open Sans" pitchFamily="34" charset="0"/>
                <a:ea typeface="Open Sans" pitchFamily="34" charset="-122"/>
                <a:cs typeface="Open Sans" pitchFamily="34" charset="-120"/>
              </a:rPr>
              <a:t>COMO FUNCIONA</a:t>
            </a:r>
            <a:endParaRPr lang="en-US" sz="900" dirty="0"/>
          </a:p>
        </p:txBody>
      </p:sp>
      <p:sp>
        <p:nvSpPr>
          <p:cNvPr id="5" name="Shape 3"/>
          <p:cNvSpPr/>
          <p:nvPr/>
        </p:nvSpPr>
        <p:spPr>
          <a:xfrm>
            <a:off x="502920" y="493776"/>
            <a:ext cx="640080" cy="21946"/>
          </a:xfrm>
          <a:prstGeom prst="rect">
            <a:avLst/>
          </a:prstGeom>
          <a:solidFill>
            <a:srgbClr val="10B981"/>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Como funciona</a:t>
            </a:r>
            <a:endParaRPr lang="en-US" sz="2800" dirty="0"/>
          </a:p>
        </p:txBody>
      </p:sp>
      <p:sp>
        <p:nvSpPr>
          <p:cNvPr id="7" name="Shape 5"/>
          <p:cNvSpPr/>
          <p:nvPr/>
        </p:nvSpPr>
        <p:spPr>
          <a:xfrm>
            <a:off x="502920" y="1389888"/>
            <a:ext cx="11185855" cy="7315"/>
          </a:xfrm>
          <a:prstGeom prst="rect">
            <a:avLst/>
          </a:prstGeom>
          <a:solidFill>
            <a:srgbClr val="10B981"/>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683971" y="1517904"/>
            <a:ext cx="21946" cy="4919472"/>
          </a:xfrm>
          <a:prstGeom prst="rect">
            <a:avLst/>
          </a:prstGeom>
          <a:solidFill>
            <a:srgbClr val="222E48"/>
          </a:solidFill>
          <a:ln/>
        </p:spPr>
      </p:sp>
      <p:sp>
        <p:nvSpPr>
          <p:cNvPr id="10" name="Shape 8"/>
          <p:cNvSpPr/>
          <p:nvPr/>
        </p:nvSpPr>
        <p:spPr>
          <a:xfrm>
            <a:off x="594360" y="1732026"/>
            <a:ext cx="201168" cy="201168"/>
          </a:xfrm>
          <a:prstGeom prst="roundRect">
            <a:avLst>
              <a:gd name="adj" fmla="val 22727"/>
            </a:avLst>
          </a:prstGeom>
          <a:solidFill>
            <a:srgbClr val="6C63FF"/>
          </a:solidFill>
          <a:ln/>
        </p:spPr>
      </p:sp>
      <p:sp>
        <p:nvSpPr>
          <p:cNvPr id="11" name="Text 9"/>
          <p:cNvSpPr/>
          <p:nvPr/>
        </p:nvSpPr>
        <p:spPr>
          <a:xfrm>
            <a:off x="594360" y="1732026"/>
            <a:ext cx="201168" cy="201168"/>
          </a:xfrm>
          <a:prstGeom prst="rect">
            <a:avLst/>
          </a:prstGeom>
          <a:noFill/>
          <a:ln/>
        </p:spPr>
        <p:txBody>
          <a:bodyPr wrap="square" rtlCol="0" anchor="ctr"/>
          <a:lstStyle/>
          <a:p>
            <a:pPr algn="ctr" indent="0" marL="0">
              <a:buNone/>
            </a:pPr>
            <a:r>
              <a:rPr lang="en-US" sz="1000" b="1" dirty="0">
                <a:solidFill>
                  <a:srgbClr val="FFFFFF"/>
                </a:solidFill>
                <a:latin typeface="Montserrat" pitchFamily="34" charset="0"/>
                <a:ea typeface="Montserrat" pitchFamily="34" charset="-122"/>
                <a:cs typeface="Montserrat" pitchFamily="34" charset="-120"/>
              </a:rPr>
              <a:t>1</a:t>
            </a:r>
            <a:endParaRPr lang="en-US" sz="1000" dirty="0"/>
          </a:p>
        </p:txBody>
      </p:sp>
      <p:sp>
        <p:nvSpPr>
          <p:cNvPr id="12" name="Shape 10"/>
          <p:cNvSpPr/>
          <p:nvPr/>
        </p:nvSpPr>
        <p:spPr>
          <a:xfrm>
            <a:off x="969264" y="1453896"/>
            <a:ext cx="10884103" cy="812292"/>
          </a:xfrm>
          <a:prstGeom prst="roundRect">
            <a:avLst>
              <a:gd name="adj" fmla="val 11257"/>
            </a:avLst>
          </a:prstGeom>
          <a:solidFill>
            <a:srgbClr val="000000"/>
          </a:solidFill>
          <a:ln/>
        </p:spPr>
      </p:sp>
      <p:sp>
        <p:nvSpPr>
          <p:cNvPr id="13" name="Shape 11"/>
          <p:cNvSpPr/>
          <p:nvPr/>
        </p:nvSpPr>
        <p:spPr>
          <a:xfrm>
            <a:off x="941832" y="1417320"/>
            <a:ext cx="10884103" cy="812292"/>
          </a:xfrm>
          <a:prstGeom prst="roundRect">
            <a:avLst>
              <a:gd name="adj" fmla="val 6754"/>
            </a:avLst>
          </a:prstGeom>
          <a:solidFill>
            <a:srgbClr val="141E34"/>
          </a:solidFill>
          <a:ln/>
        </p:spPr>
      </p:sp>
      <p:sp>
        <p:nvSpPr>
          <p:cNvPr id="14" name="Shape 12"/>
          <p:cNvSpPr/>
          <p:nvPr/>
        </p:nvSpPr>
        <p:spPr>
          <a:xfrm>
            <a:off x="941832" y="1417320"/>
            <a:ext cx="45720" cy="812292"/>
          </a:xfrm>
          <a:prstGeom prst="rect">
            <a:avLst>
              <a:gd name="adj" fmla="val 120000"/>
            </a:avLst>
          </a:prstGeom>
          <a:solidFill>
            <a:srgbClr val="6C63FF"/>
          </a:solidFill>
          <a:ln/>
        </p:spPr>
      </p:sp>
      <p:sp>
        <p:nvSpPr>
          <p:cNvPr id="15" name="Text 13"/>
          <p:cNvSpPr/>
          <p:nvPr/>
        </p:nvSpPr>
        <p:spPr>
          <a:xfrm>
            <a:off x="1097280" y="1417320"/>
            <a:ext cx="10637215" cy="812292"/>
          </a:xfrm>
          <a:prstGeom prst="rect">
            <a:avLst/>
          </a:prstGeom>
          <a:noFill/>
          <a:ln/>
        </p:spPr>
        <p:txBody>
          <a:bodyPr wrap="square" rtlCol="0" anchor="ctr"/>
          <a:lstStyle/>
          <a:p>
            <a:pPr indent="0" marL="0">
              <a:lnSpc>
                <a:spcPct val="112000"/>
              </a:lnSpc>
              <a:buNone/>
            </a:pPr>
            <a:r>
              <a:rPr lang="en-US" sz="1500" dirty="0">
                <a:solidFill>
                  <a:srgbClr val="E8EDF5"/>
                </a:solidFill>
                <a:latin typeface="Open Sans" pitchFamily="34" charset="0"/>
                <a:ea typeface="Open Sans" pitchFamily="34" charset="-122"/>
                <a:cs typeface="Open Sans" pitchFamily="34" charset="-120"/>
              </a:rPr>
              <a:t>A IA aprimora a CX em diversas frentes.</a:t>
            </a:r>
            <a:endParaRPr lang="en-US" sz="1500" dirty="0"/>
          </a:p>
        </p:txBody>
      </p:sp>
      <p:sp>
        <p:nvSpPr>
          <p:cNvPr id="16" name="Shape 14"/>
          <p:cNvSpPr/>
          <p:nvPr/>
        </p:nvSpPr>
        <p:spPr>
          <a:xfrm>
            <a:off x="594360" y="2590038"/>
            <a:ext cx="201168" cy="201168"/>
          </a:xfrm>
          <a:prstGeom prst="roundRect">
            <a:avLst>
              <a:gd name="adj" fmla="val 22727"/>
            </a:avLst>
          </a:prstGeom>
          <a:solidFill>
            <a:srgbClr val="3B82F6"/>
          </a:solidFill>
          <a:ln/>
        </p:spPr>
      </p:sp>
      <p:sp>
        <p:nvSpPr>
          <p:cNvPr id="17" name="Text 15"/>
          <p:cNvSpPr/>
          <p:nvPr/>
        </p:nvSpPr>
        <p:spPr>
          <a:xfrm>
            <a:off x="594360" y="2590038"/>
            <a:ext cx="201168" cy="201168"/>
          </a:xfrm>
          <a:prstGeom prst="rect">
            <a:avLst/>
          </a:prstGeom>
          <a:noFill/>
          <a:ln/>
        </p:spPr>
        <p:txBody>
          <a:bodyPr wrap="square" rtlCol="0" anchor="ctr"/>
          <a:lstStyle/>
          <a:p>
            <a:pPr algn="ctr" indent="0" marL="0">
              <a:buNone/>
            </a:pPr>
            <a:r>
              <a:rPr lang="en-US" sz="1000" b="1" dirty="0">
                <a:solidFill>
                  <a:srgbClr val="FFFFFF"/>
                </a:solidFill>
                <a:latin typeface="Montserrat" pitchFamily="34" charset="0"/>
                <a:ea typeface="Montserrat" pitchFamily="34" charset="-122"/>
                <a:cs typeface="Montserrat" pitchFamily="34" charset="-120"/>
              </a:rPr>
              <a:t>2</a:t>
            </a:r>
            <a:endParaRPr lang="en-US" sz="1000" dirty="0"/>
          </a:p>
        </p:txBody>
      </p:sp>
      <p:sp>
        <p:nvSpPr>
          <p:cNvPr id="18" name="Shape 16"/>
          <p:cNvSpPr/>
          <p:nvPr/>
        </p:nvSpPr>
        <p:spPr>
          <a:xfrm>
            <a:off x="969264" y="2311908"/>
            <a:ext cx="10884103" cy="812292"/>
          </a:xfrm>
          <a:prstGeom prst="roundRect">
            <a:avLst>
              <a:gd name="adj" fmla="val 11257"/>
            </a:avLst>
          </a:prstGeom>
          <a:solidFill>
            <a:srgbClr val="000000"/>
          </a:solidFill>
          <a:ln/>
        </p:spPr>
      </p:sp>
      <p:sp>
        <p:nvSpPr>
          <p:cNvPr id="19" name="Shape 17"/>
          <p:cNvSpPr/>
          <p:nvPr/>
        </p:nvSpPr>
        <p:spPr>
          <a:xfrm>
            <a:off x="941832" y="2275332"/>
            <a:ext cx="10884103" cy="812292"/>
          </a:xfrm>
          <a:prstGeom prst="roundRect">
            <a:avLst>
              <a:gd name="adj" fmla="val 6754"/>
            </a:avLst>
          </a:prstGeom>
          <a:solidFill>
            <a:srgbClr val="141E34"/>
          </a:solidFill>
          <a:ln/>
        </p:spPr>
      </p:sp>
      <p:sp>
        <p:nvSpPr>
          <p:cNvPr id="20" name="Shape 18"/>
          <p:cNvSpPr/>
          <p:nvPr/>
        </p:nvSpPr>
        <p:spPr>
          <a:xfrm>
            <a:off x="941832" y="2275332"/>
            <a:ext cx="45720" cy="812292"/>
          </a:xfrm>
          <a:prstGeom prst="rect">
            <a:avLst>
              <a:gd name="adj" fmla="val 120000"/>
            </a:avLst>
          </a:prstGeom>
          <a:solidFill>
            <a:srgbClr val="3B82F6"/>
          </a:solidFill>
          <a:ln/>
        </p:spPr>
      </p:sp>
      <p:sp>
        <p:nvSpPr>
          <p:cNvPr id="21" name="Text 19"/>
          <p:cNvSpPr/>
          <p:nvPr/>
        </p:nvSpPr>
        <p:spPr>
          <a:xfrm>
            <a:off x="1097280" y="2293620"/>
            <a:ext cx="10637215" cy="315620"/>
          </a:xfrm>
          <a:prstGeom prst="rect">
            <a:avLst/>
          </a:prstGeom>
          <a:noFill/>
          <a:ln/>
        </p:spPr>
        <p:txBody>
          <a:bodyPr wrap="square" rtlCol="0" anchor="b"/>
          <a:lstStyle/>
          <a:p>
            <a:pPr indent="0" marL="0">
              <a:buNone/>
            </a:pPr>
            <a:r>
              <a:rPr lang="en-US" sz="1500" b="1" dirty="0">
                <a:solidFill>
                  <a:srgbClr val="3B82F6"/>
                </a:solidFill>
                <a:latin typeface="Montserrat" pitchFamily="34" charset="0"/>
                <a:ea typeface="Montserrat" pitchFamily="34" charset="-122"/>
                <a:cs typeface="Montserrat" pitchFamily="34" charset="-120"/>
              </a:rPr>
              <a:t>Análise de Dados</a:t>
            </a:r>
            <a:endParaRPr lang="en-US" sz="1500" dirty="0"/>
          </a:p>
        </p:txBody>
      </p:sp>
      <p:sp>
        <p:nvSpPr>
          <p:cNvPr id="22" name="Text 20"/>
          <p:cNvSpPr/>
          <p:nvPr/>
        </p:nvSpPr>
        <p:spPr>
          <a:xfrm>
            <a:off x="1097280" y="2590952"/>
            <a:ext cx="10637215" cy="481736"/>
          </a:xfrm>
          <a:prstGeom prst="rect">
            <a:avLst/>
          </a:prstGeom>
          <a:noFill/>
          <a:ln/>
        </p:spPr>
        <p:txBody>
          <a:bodyPr wrap="square" rtlCol="0" anchor="t"/>
          <a:lstStyle/>
          <a:p>
            <a:pPr indent="0" marL="0">
              <a:lnSpc>
                <a:spcPct val="110000"/>
              </a:lnSpc>
              <a:buNone/>
            </a:pPr>
            <a:r>
              <a:rPr lang="en-US" sz="1400" dirty="0">
                <a:solidFill>
                  <a:srgbClr val="E8EDF5"/>
                </a:solidFill>
                <a:latin typeface="Open Sans" pitchFamily="34" charset="0"/>
                <a:ea typeface="Open Sans" pitchFamily="34" charset="-122"/>
                <a:cs typeface="Open Sans" pitchFamily="34" charset="-120"/>
              </a:rPr>
              <a:t>Processa grandes volumes de informações do cliente para identificar padrões.</a:t>
            </a:r>
            <a:endParaRPr lang="en-US" sz="1400" dirty="0"/>
          </a:p>
        </p:txBody>
      </p:sp>
      <p:sp>
        <p:nvSpPr>
          <p:cNvPr id="23" name="Shape 21"/>
          <p:cNvSpPr/>
          <p:nvPr/>
        </p:nvSpPr>
        <p:spPr>
          <a:xfrm>
            <a:off x="594360" y="3448050"/>
            <a:ext cx="201168" cy="201168"/>
          </a:xfrm>
          <a:prstGeom prst="roundRect">
            <a:avLst>
              <a:gd name="adj" fmla="val 22727"/>
            </a:avLst>
          </a:prstGeom>
          <a:solidFill>
            <a:srgbClr val="10B981"/>
          </a:solidFill>
          <a:ln/>
        </p:spPr>
      </p:sp>
      <p:sp>
        <p:nvSpPr>
          <p:cNvPr id="24" name="Text 22"/>
          <p:cNvSpPr/>
          <p:nvPr/>
        </p:nvSpPr>
        <p:spPr>
          <a:xfrm>
            <a:off x="594360" y="3448050"/>
            <a:ext cx="201168" cy="201168"/>
          </a:xfrm>
          <a:prstGeom prst="rect">
            <a:avLst/>
          </a:prstGeom>
          <a:noFill/>
          <a:ln/>
        </p:spPr>
        <p:txBody>
          <a:bodyPr wrap="square" rtlCol="0" anchor="ctr"/>
          <a:lstStyle/>
          <a:p>
            <a:pPr algn="ctr" indent="0" marL="0">
              <a:buNone/>
            </a:pPr>
            <a:r>
              <a:rPr lang="en-US" sz="1000" b="1" dirty="0">
                <a:solidFill>
                  <a:srgbClr val="FFFFFF"/>
                </a:solidFill>
                <a:latin typeface="Montserrat" pitchFamily="34" charset="0"/>
                <a:ea typeface="Montserrat" pitchFamily="34" charset="-122"/>
                <a:cs typeface="Montserrat" pitchFamily="34" charset="-120"/>
              </a:rPr>
              <a:t>3</a:t>
            </a:r>
            <a:endParaRPr lang="en-US" sz="1000" dirty="0"/>
          </a:p>
        </p:txBody>
      </p:sp>
      <p:sp>
        <p:nvSpPr>
          <p:cNvPr id="25" name="Shape 23"/>
          <p:cNvSpPr/>
          <p:nvPr/>
        </p:nvSpPr>
        <p:spPr>
          <a:xfrm>
            <a:off x="969264" y="3169920"/>
            <a:ext cx="10884103" cy="812292"/>
          </a:xfrm>
          <a:prstGeom prst="roundRect">
            <a:avLst>
              <a:gd name="adj" fmla="val 11257"/>
            </a:avLst>
          </a:prstGeom>
          <a:solidFill>
            <a:srgbClr val="000000"/>
          </a:solidFill>
          <a:ln/>
        </p:spPr>
      </p:sp>
      <p:sp>
        <p:nvSpPr>
          <p:cNvPr id="26" name="Shape 24"/>
          <p:cNvSpPr/>
          <p:nvPr/>
        </p:nvSpPr>
        <p:spPr>
          <a:xfrm>
            <a:off x="941832" y="3133344"/>
            <a:ext cx="10884103" cy="812292"/>
          </a:xfrm>
          <a:prstGeom prst="roundRect">
            <a:avLst>
              <a:gd name="adj" fmla="val 6754"/>
            </a:avLst>
          </a:prstGeom>
          <a:solidFill>
            <a:srgbClr val="141E34"/>
          </a:solidFill>
          <a:ln/>
        </p:spPr>
      </p:sp>
      <p:sp>
        <p:nvSpPr>
          <p:cNvPr id="27" name="Shape 25"/>
          <p:cNvSpPr/>
          <p:nvPr/>
        </p:nvSpPr>
        <p:spPr>
          <a:xfrm>
            <a:off x="941832" y="3133344"/>
            <a:ext cx="45720" cy="812292"/>
          </a:xfrm>
          <a:prstGeom prst="rect">
            <a:avLst>
              <a:gd name="adj" fmla="val 120000"/>
            </a:avLst>
          </a:prstGeom>
          <a:solidFill>
            <a:srgbClr val="10B981"/>
          </a:solidFill>
          <a:ln/>
        </p:spPr>
      </p:sp>
      <p:sp>
        <p:nvSpPr>
          <p:cNvPr id="28" name="Text 26"/>
          <p:cNvSpPr/>
          <p:nvPr/>
        </p:nvSpPr>
        <p:spPr>
          <a:xfrm>
            <a:off x="1097280" y="3151632"/>
            <a:ext cx="10637215" cy="315620"/>
          </a:xfrm>
          <a:prstGeom prst="rect">
            <a:avLst/>
          </a:prstGeom>
          <a:noFill/>
          <a:ln/>
        </p:spPr>
        <p:txBody>
          <a:bodyPr wrap="square" rtlCol="0" anchor="b"/>
          <a:lstStyle/>
          <a:p>
            <a:pPr indent="0" marL="0">
              <a:buNone/>
            </a:pPr>
            <a:r>
              <a:rPr lang="en-US" sz="1500" b="1" dirty="0">
                <a:solidFill>
                  <a:srgbClr val="10B981"/>
                </a:solidFill>
                <a:latin typeface="Montserrat" pitchFamily="34" charset="0"/>
                <a:ea typeface="Montserrat" pitchFamily="34" charset="-122"/>
                <a:cs typeface="Montserrat" pitchFamily="34" charset="-120"/>
              </a:rPr>
              <a:t>Personalização</a:t>
            </a:r>
            <a:endParaRPr lang="en-US" sz="1500" dirty="0"/>
          </a:p>
        </p:txBody>
      </p:sp>
      <p:sp>
        <p:nvSpPr>
          <p:cNvPr id="29" name="Text 27"/>
          <p:cNvSpPr/>
          <p:nvPr/>
        </p:nvSpPr>
        <p:spPr>
          <a:xfrm>
            <a:off x="1097280" y="3448964"/>
            <a:ext cx="10637215" cy="481736"/>
          </a:xfrm>
          <a:prstGeom prst="rect">
            <a:avLst/>
          </a:prstGeom>
          <a:noFill/>
          <a:ln/>
        </p:spPr>
        <p:txBody>
          <a:bodyPr wrap="square" rtlCol="0" anchor="t"/>
          <a:lstStyle/>
          <a:p>
            <a:pPr indent="0" marL="0">
              <a:lnSpc>
                <a:spcPct val="110000"/>
              </a:lnSpc>
              <a:buNone/>
            </a:pPr>
            <a:r>
              <a:rPr lang="en-US" sz="1400" dirty="0">
                <a:solidFill>
                  <a:srgbClr val="E8EDF5"/>
                </a:solidFill>
                <a:latin typeface="Open Sans" pitchFamily="34" charset="0"/>
                <a:ea typeface="Open Sans" pitchFamily="34" charset="-122"/>
                <a:cs typeface="Open Sans" pitchFamily="34" charset="-120"/>
              </a:rPr>
              <a:t>Adapta ofertas, mensagens e conteúdo com base no comportamento individual.</a:t>
            </a:r>
            <a:endParaRPr lang="en-US" sz="1400" dirty="0"/>
          </a:p>
        </p:txBody>
      </p:sp>
      <p:sp>
        <p:nvSpPr>
          <p:cNvPr id="30" name="Shape 28"/>
          <p:cNvSpPr/>
          <p:nvPr/>
        </p:nvSpPr>
        <p:spPr>
          <a:xfrm>
            <a:off x="594360" y="4306062"/>
            <a:ext cx="201168" cy="201168"/>
          </a:xfrm>
          <a:prstGeom prst="roundRect">
            <a:avLst>
              <a:gd name="adj" fmla="val 22727"/>
            </a:avLst>
          </a:prstGeom>
          <a:solidFill>
            <a:srgbClr val="F59E0B"/>
          </a:solidFill>
          <a:ln/>
        </p:spPr>
      </p:sp>
      <p:sp>
        <p:nvSpPr>
          <p:cNvPr id="31" name="Text 29"/>
          <p:cNvSpPr/>
          <p:nvPr/>
        </p:nvSpPr>
        <p:spPr>
          <a:xfrm>
            <a:off x="594360" y="4306062"/>
            <a:ext cx="201168" cy="201168"/>
          </a:xfrm>
          <a:prstGeom prst="rect">
            <a:avLst/>
          </a:prstGeom>
          <a:noFill/>
          <a:ln/>
        </p:spPr>
        <p:txBody>
          <a:bodyPr wrap="square" rtlCol="0" anchor="ctr"/>
          <a:lstStyle/>
          <a:p>
            <a:pPr algn="ctr" indent="0" marL="0">
              <a:buNone/>
            </a:pPr>
            <a:r>
              <a:rPr lang="en-US" sz="1000" b="1" dirty="0">
                <a:solidFill>
                  <a:srgbClr val="FFFFFF"/>
                </a:solidFill>
                <a:latin typeface="Montserrat" pitchFamily="34" charset="0"/>
                <a:ea typeface="Montserrat" pitchFamily="34" charset="-122"/>
                <a:cs typeface="Montserrat" pitchFamily="34" charset="-120"/>
              </a:rPr>
              <a:t>4</a:t>
            </a:r>
            <a:endParaRPr lang="en-US" sz="1000" dirty="0"/>
          </a:p>
        </p:txBody>
      </p:sp>
      <p:sp>
        <p:nvSpPr>
          <p:cNvPr id="32" name="Shape 30"/>
          <p:cNvSpPr/>
          <p:nvPr/>
        </p:nvSpPr>
        <p:spPr>
          <a:xfrm>
            <a:off x="969264" y="4027932"/>
            <a:ext cx="10884103" cy="812292"/>
          </a:xfrm>
          <a:prstGeom prst="roundRect">
            <a:avLst>
              <a:gd name="adj" fmla="val 11257"/>
            </a:avLst>
          </a:prstGeom>
          <a:solidFill>
            <a:srgbClr val="000000"/>
          </a:solidFill>
          <a:ln/>
        </p:spPr>
      </p:sp>
      <p:sp>
        <p:nvSpPr>
          <p:cNvPr id="33" name="Shape 31"/>
          <p:cNvSpPr/>
          <p:nvPr/>
        </p:nvSpPr>
        <p:spPr>
          <a:xfrm>
            <a:off x="941832" y="3991356"/>
            <a:ext cx="10884103" cy="812292"/>
          </a:xfrm>
          <a:prstGeom prst="roundRect">
            <a:avLst>
              <a:gd name="adj" fmla="val 6754"/>
            </a:avLst>
          </a:prstGeom>
          <a:solidFill>
            <a:srgbClr val="141E34"/>
          </a:solidFill>
          <a:ln/>
        </p:spPr>
      </p:sp>
      <p:sp>
        <p:nvSpPr>
          <p:cNvPr id="34" name="Shape 32"/>
          <p:cNvSpPr/>
          <p:nvPr/>
        </p:nvSpPr>
        <p:spPr>
          <a:xfrm>
            <a:off x="941832" y="3991356"/>
            <a:ext cx="45720" cy="812292"/>
          </a:xfrm>
          <a:prstGeom prst="rect">
            <a:avLst>
              <a:gd name="adj" fmla="val 120000"/>
            </a:avLst>
          </a:prstGeom>
          <a:solidFill>
            <a:srgbClr val="F59E0B"/>
          </a:solidFill>
          <a:ln/>
        </p:spPr>
      </p:sp>
      <p:sp>
        <p:nvSpPr>
          <p:cNvPr id="35" name="Text 33"/>
          <p:cNvSpPr/>
          <p:nvPr/>
        </p:nvSpPr>
        <p:spPr>
          <a:xfrm>
            <a:off x="1097280" y="4009644"/>
            <a:ext cx="10637215" cy="315620"/>
          </a:xfrm>
          <a:prstGeom prst="rect">
            <a:avLst/>
          </a:prstGeom>
          <a:noFill/>
          <a:ln/>
        </p:spPr>
        <p:txBody>
          <a:bodyPr wrap="square" rtlCol="0" anchor="b"/>
          <a:lstStyle/>
          <a:p>
            <a:pPr indent="0" marL="0">
              <a:buNone/>
            </a:pPr>
            <a:r>
              <a:rPr lang="en-US" sz="1500" b="1" dirty="0">
                <a:solidFill>
                  <a:srgbClr val="F59E0B"/>
                </a:solidFill>
                <a:latin typeface="Montserrat" pitchFamily="34" charset="0"/>
                <a:ea typeface="Montserrat" pitchFamily="34" charset="-122"/>
                <a:cs typeface="Montserrat" pitchFamily="34" charset="-120"/>
              </a:rPr>
              <a:t>Automação</a:t>
            </a:r>
            <a:endParaRPr lang="en-US" sz="1500" dirty="0"/>
          </a:p>
        </p:txBody>
      </p:sp>
      <p:sp>
        <p:nvSpPr>
          <p:cNvPr id="36" name="Text 34"/>
          <p:cNvSpPr/>
          <p:nvPr/>
        </p:nvSpPr>
        <p:spPr>
          <a:xfrm>
            <a:off x="1097280" y="4306976"/>
            <a:ext cx="10637215" cy="481736"/>
          </a:xfrm>
          <a:prstGeom prst="rect">
            <a:avLst/>
          </a:prstGeom>
          <a:noFill/>
          <a:ln/>
        </p:spPr>
        <p:txBody>
          <a:bodyPr wrap="square" rtlCol="0" anchor="t"/>
          <a:lstStyle/>
          <a:p>
            <a:pPr indent="0" marL="0">
              <a:lnSpc>
                <a:spcPct val="110000"/>
              </a:lnSpc>
              <a:buNone/>
            </a:pPr>
            <a:r>
              <a:rPr lang="en-US" sz="1400" dirty="0">
                <a:solidFill>
                  <a:srgbClr val="E8EDF5"/>
                </a:solidFill>
                <a:latin typeface="Open Sans" pitchFamily="34" charset="0"/>
                <a:ea typeface="Open Sans" pitchFamily="34" charset="-122"/>
                <a:cs typeface="Open Sans" pitchFamily="34" charset="-120"/>
              </a:rPr>
              <a:t>Gerencia tarefas repetitivas, como atendimento a dúvidas frequentes, com chatbots.</a:t>
            </a:r>
            <a:endParaRPr lang="en-US" sz="1400" dirty="0"/>
          </a:p>
        </p:txBody>
      </p:sp>
      <p:sp>
        <p:nvSpPr>
          <p:cNvPr id="37" name="Shape 35"/>
          <p:cNvSpPr/>
          <p:nvPr/>
        </p:nvSpPr>
        <p:spPr>
          <a:xfrm>
            <a:off x="594360" y="5164074"/>
            <a:ext cx="201168" cy="201168"/>
          </a:xfrm>
          <a:prstGeom prst="roundRect">
            <a:avLst>
              <a:gd name="adj" fmla="val 22727"/>
            </a:avLst>
          </a:prstGeom>
          <a:solidFill>
            <a:srgbClr val="06B6D4"/>
          </a:solidFill>
          <a:ln/>
        </p:spPr>
      </p:sp>
      <p:sp>
        <p:nvSpPr>
          <p:cNvPr id="38" name="Text 36"/>
          <p:cNvSpPr/>
          <p:nvPr/>
        </p:nvSpPr>
        <p:spPr>
          <a:xfrm>
            <a:off x="594360" y="5164074"/>
            <a:ext cx="201168" cy="201168"/>
          </a:xfrm>
          <a:prstGeom prst="rect">
            <a:avLst/>
          </a:prstGeom>
          <a:noFill/>
          <a:ln/>
        </p:spPr>
        <p:txBody>
          <a:bodyPr wrap="square" rtlCol="0" anchor="ctr"/>
          <a:lstStyle/>
          <a:p>
            <a:pPr algn="ctr" indent="0" marL="0">
              <a:buNone/>
            </a:pPr>
            <a:r>
              <a:rPr lang="en-US" sz="1000" b="1" dirty="0">
                <a:solidFill>
                  <a:srgbClr val="FFFFFF"/>
                </a:solidFill>
                <a:latin typeface="Montserrat" pitchFamily="34" charset="0"/>
                <a:ea typeface="Montserrat" pitchFamily="34" charset="-122"/>
                <a:cs typeface="Montserrat" pitchFamily="34" charset="-120"/>
              </a:rPr>
              <a:t>5</a:t>
            </a:r>
            <a:endParaRPr lang="en-US" sz="1000" dirty="0"/>
          </a:p>
        </p:txBody>
      </p:sp>
      <p:sp>
        <p:nvSpPr>
          <p:cNvPr id="39" name="Shape 37"/>
          <p:cNvSpPr/>
          <p:nvPr/>
        </p:nvSpPr>
        <p:spPr>
          <a:xfrm>
            <a:off x="969264" y="4885944"/>
            <a:ext cx="10884103" cy="812292"/>
          </a:xfrm>
          <a:prstGeom prst="roundRect">
            <a:avLst>
              <a:gd name="adj" fmla="val 11257"/>
            </a:avLst>
          </a:prstGeom>
          <a:solidFill>
            <a:srgbClr val="000000"/>
          </a:solidFill>
          <a:ln/>
        </p:spPr>
      </p:sp>
      <p:sp>
        <p:nvSpPr>
          <p:cNvPr id="40" name="Shape 38"/>
          <p:cNvSpPr/>
          <p:nvPr/>
        </p:nvSpPr>
        <p:spPr>
          <a:xfrm>
            <a:off x="941832" y="4849368"/>
            <a:ext cx="10884103" cy="812292"/>
          </a:xfrm>
          <a:prstGeom prst="roundRect">
            <a:avLst>
              <a:gd name="adj" fmla="val 6754"/>
            </a:avLst>
          </a:prstGeom>
          <a:solidFill>
            <a:srgbClr val="141E34"/>
          </a:solidFill>
          <a:ln/>
        </p:spPr>
      </p:sp>
      <p:sp>
        <p:nvSpPr>
          <p:cNvPr id="41" name="Shape 39"/>
          <p:cNvSpPr/>
          <p:nvPr/>
        </p:nvSpPr>
        <p:spPr>
          <a:xfrm>
            <a:off x="941832" y="4849368"/>
            <a:ext cx="45720" cy="812292"/>
          </a:xfrm>
          <a:prstGeom prst="rect">
            <a:avLst>
              <a:gd name="adj" fmla="val 120000"/>
            </a:avLst>
          </a:prstGeom>
          <a:solidFill>
            <a:srgbClr val="06B6D4"/>
          </a:solidFill>
          <a:ln/>
        </p:spPr>
      </p:sp>
      <p:sp>
        <p:nvSpPr>
          <p:cNvPr id="42" name="Text 40"/>
          <p:cNvSpPr/>
          <p:nvPr/>
        </p:nvSpPr>
        <p:spPr>
          <a:xfrm>
            <a:off x="1097280" y="4867656"/>
            <a:ext cx="10637215" cy="315620"/>
          </a:xfrm>
          <a:prstGeom prst="rect">
            <a:avLst/>
          </a:prstGeom>
          <a:noFill/>
          <a:ln/>
        </p:spPr>
        <p:txBody>
          <a:bodyPr wrap="square" rtlCol="0" anchor="b"/>
          <a:lstStyle/>
          <a:p>
            <a:pPr indent="0" marL="0">
              <a:buNone/>
            </a:pPr>
            <a:r>
              <a:rPr lang="en-US" sz="1500" b="1" dirty="0">
                <a:solidFill>
                  <a:srgbClr val="06B6D4"/>
                </a:solidFill>
                <a:latin typeface="Montserrat" pitchFamily="34" charset="0"/>
                <a:ea typeface="Montserrat" pitchFamily="34" charset="-122"/>
                <a:cs typeface="Montserrat" pitchFamily="34" charset="-120"/>
              </a:rPr>
              <a:t>Previsão</a:t>
            </a:r>
            <a:endParaRPr lang="en-US" sz="1500" dirty="0"/>
          </a:p>
        </p:txBody>
      </p:sp>
      <p:sp>
        <p:nvSpPr>
          <p:cNvPr id="43" name="Text 41"/>
          <p:cNvSpPr/>
          <p:nvPr/>
        </p:nvSpPr>
        <p:spPr>
          <a:xfrm>
            <a:off x="1097280" y="5164988"/>
            <a:ext cx="10637215" cy="481736"/>
          </a:xfrm>
          <a:prstGeom prst="rect">
            <a:avLst/>
          </a:prstGeom>
          <a:noFill/>
          <a:ln/>
        </p:spPr>
        <p:txBody>
          <a:bodyPr wrap="square" rtlCol="0" anchor="t"/>
          <a:lstStyle/>
          <a:p>
            <a:pPr indent="0" marL="0">
              <a:lnSpc>
                <a:spcPct val="110000"/>
              </a:lnSpc>
              <a:buNone/>
            </a:pPr>
            <a:r>
              <a:rPr lang="en-US" sz="1400" dirty="0">
                <a:solidFill>
                  <a:srgbClr val="E8EDF5"/>
                </a:solidFill>
                <a:latin typeface="Open Sans" pitchFamily="34" charset="0"/>
                <a:ea typeface="Open Sans" pitchFamily="34" charset="-122"/>
                <a:cs typeface="Open Sans" pitchFamily="34" charset="-120"/>
              </a:rPr>
              <a:t>Antecipa necessidades do cliente, comportamentos de compra e potenciais problemas.</a:t>
            </a:r>
            <a:endParaRPr lang="en-US" sz="1400" dirty="0"/>
          </a:p>
        </p:txBody>
      </p:sp>
      <p:sp>
        <p:nvSpPr>
          <p:cNvPr id="44" name="Shape 42"/>
          <p:cNvSpPr/>
          <p:nvPr/>
        </p:nvSpPr>
        <p:spPr>
          <a:xfrm>
            <a:off x="594360" y="6022086"/>
            <a:ext cx="201168" cy="201168"/>
          </a:xfrm>
          <a:prstGeom prst="roundRect">
            <a:avLst>
              <a:gd name="adj" fmla="val 22727"/>
            </a:avLst>
          </a:prstGeom>
          <a:solidFill>
            <a:srgbClr val="6C63FF"/>
          </a:solidFill>
          <a:ln/>
        </p:spPr>
      </p:sp>
      <p:sp>
        <p:nvSpPr>
          <p:cNvPr id="45" name="Text 43"/>
          <p:cNvSpPr/>
          <p:nvPr/>
        </p:nvSpPr>
        <p:spPr>
          <a:xfrm>
            <a:off x="594360" y="6022086"/>
            <a:ext cx="201168" cy="201168"/>
          </a:xfrm>
          <a:prstGeom prst="rect">
            <a:avLst/>
          </a:prstGeom>
          <a:noFill/>
          <a:ln/>
        </p:spPr>
        <p:txBody>
          <a:bodyPr wrap="square" rtlCol="0" anchor="ctr"/>
          <a:lstStyle/>
          <a:p>
            <a:pPr algn="ctr" indent="0" marL="0">
              <a:buNone/>
            </a:pPr>
            <a:r>
              <a:rPr lang="en-US" sz="1000" b="1" dirty="0">
                <a:solidFill>
                  <a:srgbClr val="FFFFFF"/>
                </a:solidFill>
                <a:latin typeface="Montserrat" pitchFamily="34" charset="0"/>
                <a:ea typeface="Montserrat" pitchFamily="34" charset="-122"/>
                <a:cs typeface="Montserrat" pitchFamily="34" charset="-120"/>
              </a:rPr>
              <a:t>6</a:t>
            </a:r>
            <a:endParaRPr lang="en-US" sz="1000" dirty="0"/>
          </a:p>
        </p:txBody>
      </p:sp>
      <p:sp>
        <p:nvSpPr>
          <p:cNvPr id="46" name="Shape 44"/>
          <p:cNvSpPr/>
          <p:nvPr/>
        </p:nvSpPr>
        <p:spPr>
          <a:xfrm>
            <a:off x="969264" y="5743956"/>
            <a:ext cx="10884103" cy="812292"/>
          </a:xfrm>
          <a:prstGeom prst="roundRect">
            <a:avLst>
              <a:gd name="adj" fmla="val 11257"/>
            </a:avLst>
          </a:prstGeom>
          <a:solidFill>
            <a:srgbClr val="000000"/>
          </a:solidFill>
          <a:ln/>
        </p:spPr>
      </p:sp>
      <p:sp>
        <p:nvSpPr>
          <p:cNvPr id="47" name="Shape 45"/>
          <p:cNvSpPr/>
          <p:nvPr/>
        </p:nvSpPr>
        <p:spPr>
          <a:xfrm>
            <a:off x="941832" y="5707380"/>
            <a:ext cx="10884103" cy="812292"/>
          </a:xfrm>
          <a:prstGeom prst="roundRect">
            <a:avLst>
              <a:gd name="adj" fmla="val 6754"/>
            </a:avLst>
          </a:prstGeom>
          <a:solidFill>
            <a:srgbClr val="141E34"/>
          </a:solidFill>
          <a:ln/>
        </p:spPr>
      </p:sp>
      <p:sp>
        <p:nvSpPr>
          <p:cNvPr id="48" name="Shape 46"/>
          <p:cNvSpPr/>
          <p:nvPr/>
        </p:nvSpPr>
        <p:spPr>
          <a:xfrm>
            <a:off x="941832" y="5707380"/>
            <a:ext cx="45720" cy="812292"/>
          </a:xfrm>
          <a:prstGeom prst="rect">
            <a:avLst>
              <a:gd name="adj" fmla="val 120000"/>
            </a:avLst>
          </a:prstGeom>
          <a:solidFill>
            <a:srgbClr val="6C63FF"/>
          </a:solidFill>
          <a:ln/>
        </p:spPr>
      </p:sp>
      <p:sp>
        <p:nvSpPr>
          <p:cNvPr id="49" name="Text 47"/>
          <p:cNvSpPr/>
          <p:nvPr/>
        </p:nvSpPr>
        <p:spPr>
          <a:xfrm>
            <a:off x="1097280" y="5725668"/>
            <a:ext cx="10637215" cy="315620"/>
          </a:xfrm>
          <a:prstGeom prst="rect">
            <a:avLst/>
          </a:prstGeom>
          <a:noFill/>
          <a:ln/>
        </p:spPr>
        <p:txBody>
          <a:bodyPr wrap="square" rtlCol="0" anchor="b"/>
          <a:lstStyle/>
          <a:p>
            <a:pPr indent="0" marL="0">
              <a:buNone/>
            </a:pPr>
            <a:r>
              <a:rPr lang="en-US" sz="1500" b="1" dirty="0">
                <a:solidFill>
                  <a:srgbClr val="6C63FF"/>
                </a:solidFill>
                <a:latin typeface="Montserrat" pitchFamily="34" charset="0"/>
                <a:ea typeface="Montserrat" pitchFamily="34" charset="-122"/>
                <a:cs typeface="Montserrat" pitchFamily="34" charset="-120"/>
              </a:rPr>
              <a:t>Monitoramento</a:t>
            </a:r>
            <a:endParaRPr lang="en-US" sz="1500" dirty="0"/>
          </a:p>
        </p:txBody>
      </p:sp>
      <p:sp>
        <p:nvSpPr>
          <p:cNvPr id="50" name="Text 48"/>
          <p:cNvSpPr/>
          <p:nvPr/>
        </p:nvSpPr>
        <p:spPr>
          <a:xfrm>
            <a:off x="1097280" y="6023000"/>
            <a:ext cx="10637215" cy="481736"/>
          </a:xfrm>
          <a:prstGeom prst="rect">
            <a:avLst/>
          </a:prstGeom>
          <a:noFill/>
          <a:ln/>
        </p:spPr>
        <p:txBody>
          <a:bodyPr wrap="square" rtlCol="0" anchor="t"/>
          <a:lstStyle/>
          <a:p>
            <a:pPr indent="0" marL="0">
              <a:lnSpc>
                <a:spcPct val="110000"/>
              </a:lnSpc>
              <a:buNone/>
            </a:pPr>
            <a:r>
              <a:rPr lang="en-US" sz="1400" dirty="0">
                <a:solidFill>
                  <a:srgbClr val="E8EDF5"/>
                </a:solidFill>
                <a:latin typeface="Open Sans" pitchFamily="34" charset="0"/>
                <a:ea typeface="Open Sans" pitchFamily="34" charset="-122"/>
                <a:cs typeface="Open Sans" pitchFamily="34" charset="-120"/>
              </a:rPr>
              <a:t>Acompanha retorno e sentimentos em tempo real em várias plataformas.</a:t>
            </a:r>
            <a:endParaRPr lang="en-US" sz="1400" dirty="0"/>
          </a:p>
        </p:txBody>
      </p:sp>
      <p:sp>
        <p:nvSpPr>
          <p:cNvPr id="51" name="Shape 49"/>
          <p:cNvSpPr/>
          <p:nvPr/>
        </p:nvSpPr>
        <p:spPr>
          <a:xfrm>
            <a:off x="0" y="6601968"/>
            <a:ext cx="2041093" cy="4572"/>
          </a:xfrm>
          <a:prstGeom prst="rect">
            <a:avLst/>
          </a:prstGeom>
          <a:solidFill>
            <a:srgbClr val="6C63FF"/>
          </a:solidFill>
          <a:ln/>
        </p:spPr>
      </p:sp>
      <p:sp>
        <p:nvSpPr>
          <p:cNvPr id="52" name="Shape 50"/>
          <p:cNvSpPr/>
          <p:nvPr/>
        </p:nvSpPr>
        <p:spPr>
          <a:xfrm>
            <a:off x="2031949" y="6601968"/>
            <a:ext cx="2041093" cy="4572"/>
          </a:xfrm>
          <a:prstGeom prst="rect">
            <a:avLst/>
          </a:prstGeom>
          <a:solidFill>
            <a:srgbClr val="6C63FF"/>
          </a:solidFill>
          <a:ln/>
        </p:spPr>
      </p:sp>
      <p:sp>
        <p:nvSpPr>
          <p:cNvPr id="53" name="Shape 51"/>
          <p:cNvSpPr/>
          <p:nvPr/>
        </p:nvSpPr>
        <p:spPr>
          <a:xfrm>
            <a:off x="4063898" y="6601968"/>
            <a:ext cx="2041093" cy="4572"/>
          </a:xfrm>
          <a:prstGeom prst="rect">
            <a:avLst/>
          </a:prstGeom>
          <a:solidFill>
            <a:srgbClr val="6C63FF"/>
          </a:solidFill>
          <a:ln/>
        </p:spPr>
      </p:sp>
      <p:sp>
        <p:nvSpPr>
          <p:cNvPr id="54" name="Shape 52"/>
          <p:cNvSpPr/>
          <p:nvPr/>
        </p:nvSpPr>
        <p:spPr>
          <a:xfrm>
            <a:off x="6095848" y="6601968"/>
            <a:ext cx="2041093" cy="4572"/>
          </a:xfrm>
          <a:prstGeom prst="rect">
            <a:avLst/>
          </a:prstGeom>
          <a:solidFill>
            <a:srgbClr val="6C63FF"/>
          </a:solidFill>
          <a:ln/>
        </p:spPr>
      </p:sp>
      <p:sp>
        <p:nvSpPr>
          <p:cNvPr id="55" name="Shape 53"/>
          <p:cNvSpPr/>
          <p:nvPr/>
        </p:nvSpPr>
        <p:spPr>
          <a:xfrm>
            <a:off x="8127797" y="6601968"/>
            <a:ext cx="2041093" cy="4572"/>
          </a:xfrm>
          <a:prstGeom prst="rect">
            <a:avLst/>
          </a:prstGeom>
          <a:solidFill>
            <a:srgbClr val="6C63FF"/>
          </a:solidFill>
          <a:ln/>
        </p:spPr>
      </p:sp>
      <p:sp>
        <p:nvSpPr>
          <p:cNvPr id="56" name="Shape 54"/>
          <p:cNvSpPr/>
          <p:nvPr/>
        </p:nvSpPr>
        <p:spPr>
          <a:xfrm>
            <a:off x="10159746" y="6601968"/>
            <a:ext cx="2041093" cy="4572"/>
          </a:xfrm>
          <a:prstGeom prst="rect">
            <a:avLst/>
          </a:prstGeom>
          <a:solidFill>
            <a:srgbClr val="6C63FF"/>
          </a:solidFill>
          <a:ln/>
        </p:spPr>
      </p:sp>
      <p:sp>
        <p:nvSpPr>
          <p:cNvPr id="57" name="Shape 55"/>
          <p:cNvSpPr/>
          <p:nvPr/>
        </p:nvSpPr>
        <p:spPr>
          <a:xfrm>
            <a:off x="0" y="6606540"/>
            <a:ext cx="12191695" cy="2743"/>
          </a:xfrm>
          <a:prstGeom prst="rect">
            <a:avLst/>
          </a:prstGeom>
          <a:solidFill>
            <a:srgbClr val="222E48"/>
          </a:solidFill>
          <a:ln/>
        </p:spPr>
      </p:sp>
      <p:sp>
        <p:nvSpPr>
          <p:cNvPr id="58" name="Text 56"/>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59" name="Shape 57"/>
          <p:cNvSpPr/>
          <p:nvPr/>
        </p:nvSpPr>
        <p:spPr>
          <a:xfrm>
            <a:off x="10436047" y="6693408"/>
            <a:ext cx="73152" cy="73152"/>
          </a:xfrm>
          <a:prstGeom prst="ellipse">
            <a:avLst/>
          </a:prstGeom>
          <a:solidFill>
            <a:srgbClr val="6C63FF"/>
          </a:solidFill>
          <a:ln/>
        </p:spPr>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6C63FF"/>
          </a:solidFill>
          <a:ln/>
        </p:spPr>
      </p:sp>
      <p:sp>
        <p:nvSpPr>
          <p:cNvPr id="3" name="Shape 1"/>
          <p:cNvSpPr/>
          <p:nvPr/>
        </p:nvSpPr>
        <p:spPr>
          <a:xfrm>
            <a:off x="64008" y="0"/>
            <a:ext cx="18288" cy="6858000"/>
          </a:xfrm>
          <a:prstGeom prst="rect">
            <a:avLst/>
          </a:prstGeom>
          <a:solidFill>
            <a:srgbClr val="6C63FF"/>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6C63FF"/>
                </a:solidFill>
                <a:latin typeface="Open Sans" pitchFamily="34" charset="0"/>
                <a:ea typeface="Open Sans" pitchFamily="34" charset="-122"/>
                <a:cs typeface="Open Sans" pitchFamily="34" charset="-120"/>
              </a:rPr>
              <a:t>MODELOS E TIPOS</a:t>
            </a:r>
            <a:endParaRPr lang="en-US" sz="900" dirty="0"/>
          </a:p>
        </p:txBody>
      </p:sp>
      <p:sp>
        <p:nvSpPr>
          <p:cNvPr id="5" name="Shape 3"/>
          <p:cNvSpPr/>
          <p:nvPr/>
        </p:nvSpPr>
        <p:spPr>
          <a:xfrm>
            <a:off x="502920" y="493776"/>
            <a:ext cx="640080" cy="21946"/>
          </a:xfrm>
          <a:prstGeom prst="rect">
            <a:avLst/>
          </a:prstGeom>
          <a:solidFill>
            <a:srgbClr val="6C63FF"/>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Modelos / Tipos</a:t>
            </a:r>
            <a:endParaRPr lang="en-US" sz="2800" dirty="0"/>
          </a:p>
        </p:txBody>
      </p:sp>
      <p:sp>
        <p:nvSpPr>
          <p:cNvPr id="7" name="Shape 5"/>
          <p:cNvSpPr/>
          <p:nvPr/>
        </p:nvSpPr>
        <p:spPr>
          <a:xfrm>
            <a:off x="502920" y="1389888"/>
            <a:ext cx="11185855" cy="7315"/>
          </a:xfrm>
          <a:prstGeom prst="rect">
            <a:avLst/>
          </a:prstGeom>
          <a:solidFill>
            <a:srgbClr val="6C63FF"/>
          </a:solidFill>
          <a:ln/>
        </p:spPr>
      </p:sp>
      <p:sp>
        <p:nvSpPr>
          <p:cNvPr id="8" name="Shape 6"/>
          <p:cNvSpPr/>
          <p:nvPr/>
        </p:nvSpPr>
        <p:spPr>
          <a:xfrm>
            <a:off x="502920" y="1408176"/>
            <a:ext cx="11185855" cy="3658"/>
          </a:xfrm>
          <a:prstGeom prst="rect">
            <a:avLst/>
          </a:prstGeom>
          <a:solidFill>
            <a:srgbClr val="222E48"/>
          </a:solidFill>
          <a:ln/>
        </p:spPr>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94360" y="1536192"/>
          <a:ext cx="11140135" cy="914400"/>
        </p:xfrm>
        <a:graphic>
          <a:graphicData uri="http://schemas.openxmlformats.org/drawingml/2006/table">
            <a:tbl>
              <a:tblPr/>
              <a:tblGrid>
                <a:gridCol w="3713378"/>
                <a:gridCol w="3713378"/>
                <a:gridCol w="3713378"/>
              </a:tblGrid>
              <a:tr h="438912">
                <a:tc>
                  <a:txBody>
                    <a:bodyP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Aspecto</a:t>
                      </a:r>
                      <a:endParaRPr lang="en-US" sz="1300" dirty="0">
                        <a:latin typeface="Montserrat" charset="0"/>
                        <a:ea typeface="Montserrat" charset="0"/>
                        <a:cs typeface="Montserrat"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6C63FF"/>
                    </a:solidFill>
                  </a:tcPr>
                </a:tc>
                <a:tc>
                  <a:txBody>
                    <a:bodyP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Chatbots</a:t>
                      </a:r>
                      <a:endParaRPr lang="en-US" sz="1300" dirty="0">
                        <a:latin typeface="Montserrat" charset="0"/>
                        <a:ea typeface="Montserrat" charset="0"/>
                        <a:cs typeface="Montserrat"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6C63FF"/>
                    </a:solidFill>
                  </a:tcPr>
                </a:tc>
                <a:tc>
                  <a:txBody>
                    <a:bodyP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Assistentes Virtuais</a:t>
                      </a:r>
                      <a:endParaRPr lang="en-US" sz="1300" dirty="0">
                        <a:latin typeface="Montserrat" charset="0"/>
                        <a:ea typeface="Montserrat" charset="0"/>
                        <a:cs typeface="Montserrat"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6C63FF"/>
                    </a:solidFill>
                  </a:tcPr>
                </a:tc>
              </a:tr>
              <a:tr h="438912">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 Definição</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Programas que simulam conversas humanas via texto ou voz.</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Capacitam múltiplos sistemas e oferecem diversas funcionalidades.</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r>
              <a:tr h="438912">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 Disponibilidade</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A2848"/>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Atendem 24/7, garantindo suporte constante.</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A2848"/>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Integrações em smart speakers e apps mais complexos.</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A2848"/>
                    </a:solidFill>
                  </a:tcPr>
                </a:tc>
              </a:tr>
              <a:tr h="438912">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 Funções</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Resolução de dúvidas comuns, encaminhamento inteligente.</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Agendamento de compromissos, controle de dispositivos, busca de informações.</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r>
              <a:tr h="438912">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 Complexidade</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A2848"/>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Geralmente focados em tarefas específicas e rotineiras.</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A2848"/>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Capazes de lidar com conversas mais complexas e multitarefas.</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A2848"/>
                    </a:solidFill>
                  </a:tcPr>
                </a:tc>
              </a:tr>
              <a:tr h="438912">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 Exemplo</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Chatbot de banco verifica saldo ou redefine senhas.</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Siri, Google Assistant, Alexa.</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r>
            </a:tbl>
          </a:graphicData>
        </a:graphic>
      </p:graphicFrame>
      <p:sp>
        <p:nvSpPr>
          <p:cNvPr id="10" name="Shape 7"/>
          <p:cNvSpPr/>
          <p:nvPr/>
        </p:nvSpPr>
        <p:spPr>
          <a:xfrm>
            <a:off x="0" y="6601968"/>
            <a:ext cx="2041093" cy="4572"/>
          </a:xfrm>
          <a:prstGeom prst="rect">
            <a:avLst/>
          </a:prstGeom>
          <a:solidFill>
            <a:srgbClr val="6C63FF"/>
          </a:solidFill>
          <a:ln/>
        </p:spPr>
      </p:sp>
      <p:sp>
        <p:nvSpPr>
          <p:cNvPr id="11" name="Shape 8"/>
          <p:cNvSpPr/>
          <p:nvPr/>
        </p:nvSpPr>
        <p:spPr>
          <a:xfrm>
            <a:off x="2031949" y="6601968"/>
            <a:ext cx="2041093" cy="4572"/>
          </a:xfrm>
          <a:prstGeom prst="rect">
            <a:avLst/>
          </a:prstGeom>
          <a:solidFill>
            <a:srgbClr val="6C63FF"/>
          </a:solidFill>
          <a:ln/>
        </p:spPr>
      </p:sp>
      <p:sp>
        <p:nvSpPr>
          <p:cNvPr id="12" name="Shape 9"/>
          <p:cNvSpPr/>
          <p:nvPr/>
        </p:nvSpPr>
        <p:spPr>
          <a:xfrm>
            <a:off x="4063898" y="6601968"/>
            <a:ext cx="2041093" cy="4572"/>
          </a:xfrm>
          <a:prstGeom prst="rect">
            <a:avLst/>
          </a:prstGeom>
          <a:solidFill>
            <a:srgbClr val="6C63FF"/>
          </a:solidFill>
          <a:ln/>
        </p:spPr>
      </p:sp>
      <p:sp>
        <p:nvSpPr>
          <p:cNvPr id="13" name="Shape 10"/>
          <p:cNvSpPr/>
          <p:nvPr/>
        </p:nvSpPr>
        <p:spPr>
          <a:xfrm>
            <a:off x="6095848" y="6601968"/>
            <a:ext cx="2041093" cy="4572"/>
          </a:xfrm>
          <a:prstGeom prst="rect">
            <a:avLst/>
          </a:prstGeom>
          <a:solidFill>
            <a:srgbClr val="6C63FF"/>
          </a:solidFill>
          <a:ln/>
        </p:spPr>
      </p:sp>
      <p:sp>
        <p:nvSpPr>
          <p:cNvPr id="14" name="Shape 11"/>
          <p:cNvSpPr/>
          <p:nvPr/>
        </p:nvSpPr>
        <p:spPr>
          <a:xfrm>
            <a:off x="8127797" y="6601968"/>
            <a:ext cx="2041093" cy="4572"/>
          </a:xfrm>
          <a:prstGeom prst="rect">
            <a:avLst/>
          </a:prstGeom>
          <a:solidFill>
            <a:srgbClr val="6C63FF"/>
          </a:solidFill>
          <a:ln/>
        </p:spPr>
      </p:sp>
      <p:sp>
        <p:nvSpPr>
          <p:cNvPr id="15" name="Shape 12"/>
          <p:cNvSpPr/>
          <p:nvPr/>
        </p:nvSpPr>
        <p:spPr>
          <a:xfrm>
            <a:off x="10159746" y="6601968"/>
            <a:ext cx="2041093" cy="4572"/>
          </a:xfrm>
          <a:prstGeom prst="rect">
            <a:avLst/>
          </a:prstGeom>
          <a:solidFill>
            <a:srgbClr val="6C63FF"/>
          </a:solidFill>
          <a:ln/>
        </p:spPr>
      </p:sp>
      <p:sp>
        <p:nvSpPr>
          <p:cNvPr id="16" name="Shape 13"/>
          <p:cNvSpPr/>
          <p:nvPr/>
        </p:nvSpPr>
        <p:spPr>
          <a:xfrm>
            <a:off x="0" y="6606540"/>
            <a:ext cx="12191695" cy="2743"/>
          </a:xfrm>
          <a:prstGeom prst="rect">
            <a:avLst/>
          </a:prstGeom>
          <a:solidFill>
            <a:srgbClr val="222E48"/>
          </a:solidFill>
          <a:ln/>
        </p:spPr>
      </p:sp>
      <p:sp>
        <p:nvSpPr>
          <p:cNvPr id="17" name="Text 14"/>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18" name="Shape 15"/>
          <p:cNvSpPr/>
          <p:nvPr/>
        </p:nvSpPr>
        <p:spPr>
          <a:xfrm>
            <a:off x="10436047" y="6693408"/>
            <a:ext cx="73152" cy="73152"/>
          </a:xfrm>
          <a:prstGeom prst="ellipse">
            <a:avLst/>
          </a:prstGeom>
          <a:solidFill>
            <a:srgbClr val="6C63FF"/>
          </a:solidFill>
          <a:ln/>
        </p:spPr>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50A18"/>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111D38"/>
          </a:solidFill>
          <a:ln/>
        </p:spPr>
      </p:sp>
      <p:sp>
        <p:nvSpPr>
          <p:cNvPr id="3" name="Shape 1"/>
          <p:cNvSpPr/>
          <p:nvPr/>
        </p:nvSpPr>
        <p:spPr>
          <a:xfrm>
            <a:off x="164592" y="1417320"/>
            <a:ext cx="128016" cy="128016"/>
          </a:xfrm>
          <a:prstGeom prst="ellipse">
            <a:avLst/>
          </a:prstGeom>
          <a:solidFill>
            <a:srgbClr val="3B82F6"/>
          </a:solidFill>
          <a:ln/>
        </p:spPr>
      </p:sp>
      <p:sp>
        <p:nvSpPr>
          <p:cNvPr id="4" name="Shape 2"/>
          <p:cNvSpPr/>
          <p:nvPr/>
        </p:nvSpPr>
        <p:spPr>
          <a:xfrm>
            <a:off x="219456" y="1554480"/>
            <a:ext cx="18288" cy="2276856"/>
          </a:xfrm>
          <a:prstGeom prst="rect">
            <a:avLst/>
          </a:prstGeom>
          <a:solidFill>
            <a:srgbClr val="3B82F6"/>
          </a:solidFill>
          <a:ln/>
        </p:spPr>
      </p:sp>
      <p:sp>
        <p:nvSpPr>
          <p:cNvPr id="5" name="Shape 3"/>
          <p:cNvSpPr/>
          <p:nvPr/>
        </p:nvSpPr>
        <p:spPr>
          <a:xfrm>
            <a:off x="164592" y="3840480"/>
            <a:ext cx="128016" cy="128016"/>
          </a:xfrm>
          <a:prstGeom prst="ellipse">
            <a:avLst/>
          </a:prstGeom>
          <a:solidFill>
            <a:srgbClr val="F59E0B"/>
          </a:solidFill>
          <a:ln/>
        </p:spPr>
      </p:sp>
      <p:sp>
        <p:nvSpPr>
          <p:cNvPr id="6" name="Shape 4"/>
          <p:cNvSpPr/>
          <p:nvPr/>
        </p:nvSpPr>
        <p:spPr>
          <a:xfrm>
            <a:off x="219456" y="3977640"/>
            <a:ext cx="18288" cy="2276856"/>
          </a:xfrm>
          <a:prstGeom prst="rect">
            <a:avLst/>
          </a:prstGeom>
          <a:solidFill>
            <a:srgbClr val="F59E0B"/>
          </a:solidFill>
          <a:ln/>
        </p:spPr>
      </p:sp>
      <p:sp>
        <p:nvSpPr>
          <p:cNvPr id="7" name="Shape 5"/>
          <p:cNvSpPr/>
          <p:nvPr/>
        </p:nvSpPr>
        <p:spPr>
          <a:xfrm>
            <a:off x="164592" y="6263640"/>
            <a:ext cx="128016" cy="128016"/>
          </a:xfrm>
          <a:prstGeom prst="ellipse">
            <a:avLst/>
          </a:prstGeom>
          <a:solidFill>
            <a:srgbClr val="6C63FF"/>
          </a:solidFill>
          <a:ln/>
        </p:spPr>
      </p:sp>
      <p:sp>
        <p:nvSpPr>
          <p:cNvPr id="8" name="Shape 6"/>
          <p:cNvSpPr/>
          <p:nvPr/>
        </p:nvSpPr>
        <p:spPr>
          <a:xfrm>
            <a:off x="731520" y="384048"/>
            <a:ext cx="1371600" cy="256032"/>
          </a:xfrm>
          <a:prstGeom prst="roundRect">
            <a:avLst>
              <a:gd name="adj" fmla="val 50000"/>
            </a:avLst>
          </a:prstGeom>
          <a:solidFill>
            <a:srgbClr val="F59E0B"/>
          </a:solidFill>
          <a:ln/>
        </p:spPr>
      </p:sp>
      <p:sp>
        <p:nvSpPr>
          <p:cNvPr id="9" name="Text 7"/>
          <p:cNvSpPr/>
          <p:nvPr/>
        </p:nvSpPr>
        <p:spPr>
          <a:xfrm>
            <a:off x="731520" y="384048"/>
            <a:ext cx="1371600" cy="256032"/>
          </a:xfrm>
          <a:prstGeom prst="rect">
            <a:avLst/>
          </a:prstGeom>
          <a:noFill/>
          <a:ln/>
        </p:spPr>
        <p:txBody>
          <a:bodyPr wrap="square" rtlCol="0" anchor="ctr"/>
          <a:lstStyle/>
          <a:p>
            <a:pPr algn="ctr" indent="0" marL="0">
              <a:buNone/>
            </a:pPr>
            <a:r>
              <a:rPr lang="en-US" sz="800" b="1" spc="400" kern="0" dirty="0">
                <a:solidFill>
                  <a:srgbClr val="FFFFFF"/>
                </a:solidFill>
                <a:latin typeface="Open Sans" pitchFamily="34" charset="0"/>
                <a:ea typeface="Open Sans" pitchFamily="34" charset="-122"/>
                <a:cs typeface="Open Sans" pitchFamily="34" charset="-120"/>
              </a:rPr>
              <a:t>ESTUDO DE CASO</a:t>
            </a:r>
            <a:endParaRPr lang="en-US" sz="800" dirty="0"/>
          </a:p>
        </p:txBody>
      </p:sp>
      <p:sp>
        <p:nvSpPr>
          <p:cNvPr id="10" name="Text 8"/>
          <p:cNvSpPr/>
          <p:nvPr/>
        </p:nvSpPr>
        <p:spPr>
          <a:xfrm>
            <a:off x="731520" y="731520"/>
            <a:ext cx="10820095" cy="548640"/>
          </a:xfrm>
          <a:prstGeom prst="rect">
            <a:avLst/>
          </a:prstGeom>
          <a:noFill/>
          <a:ln/>
        </p:spPr>
        <p:txBody>
          <a:bodyPr wrap="square" rtlCol="0" anchor="ctr"/>
          <a:lstStyle/>
          <a:p>
            <a:pPr indent="0" marL="0">
              <a:buNone/>
            </a:pPr>
            <a:r>
              <a:rPr lang="en-US" sz="2400" b="1" dirty="0">
                <a:solidFill>
                  <a:srgbClr val="FFFFFF"/>
                </a:solidFill>
                <a:latin typeface="Montserrat" pitchFamily="34" charset="0"/>
                <a:ea typeface="Montserrat" pitchFamily="34" charset="-122"/>
                <a:cs typeface="Montserrat" pitchFamily="34" charset="-120"/>
              </a:rPr>
              <a:t>Exemplo prático</a:t>
            </a:r>
            <a:endParaRPr lang="en-US" sz="2400" dirty="0"/>
          </a:p>
        </p:txBody>
      </p:sp>
      <p:sp>
        <p:nvSpPr>
          <p:cNvPr id="11" name="Shape 9"/>
          <p:cNvSpPr/>
          <p:nvPr/>
        </p:nvSpPr>
        <p:spPr>
          <a:xfrm>
            <a:off x="731520" y="1298448"/>
            <a:ext cx="3200400" cy="18288"/>
          </a:xfrm>
          <a:prstGeom prst="rect">
            <a:avLst/>
          </a:prstGeom>
          <a:solidFill>
            <a:srgbClr val="F59E0B"/>
          </a:solidFill>
          <a:ln/>
        </p:spPr>
      </p:sp>
      <p:sp>
        <p:nvSpPr>
          <p:cNvPr id="12" name="Shape 10"/>
          <p:cNvSpPr/>
          <p:nvPr/>
        </p:nvSpPr>
        <p:spPr>
          <a:xfrm>
            <a:off x="758952" y="1499616"/>
            <a:ext cx="10820095" cy="1188720"/>
          </a:xfrm>
          <a:prstGeom prst="roundRect">
            <a:avLst>
              <a:gd name="adj" fmla="val 7692"/>
            </a:avLst>
          </a:prstGeom>
          <a:solidFill>
            <a:srgbClr val="000000"/>
          </a:solidFill>
          <a:ln/>
        </p:spPr>
      </p:sp>
      <p:sp>
        <p:nvSpPr>
          <p:cNvPr id="13" name="Shape 11"/>
          <p:cNvSpPr/>
          <p:nvPr/>
        </p:nvSpPr>
        <p:spPr>
          <a:xfrm>
            <a:off x="731520" y="1463040"/>
            <a:ext cx="10820095" cy="1188720"/>
          </a:xfrm>
          <a:prstGeom prst="roundRect">
            <a:avLst>
              <a:gd name="adj" fmla="val 6154"/>
            </a:avLst>
          </a:prstGeom>
          <a:solidFill>
            <a:srgbClr val="111D38"/>
          </a:solidFill>
          <a:ln/>
        </p:spPr>
      </p:sp>
      <p:sp>
        <p:nvSpPr>
          <p:cNvPr id="14" name="Shape 12"/>
          <p:cNvSpPr/>
          <p:nvPr/>
        </p:nvSpPr>
        <p:spPr>
          <a:xfrm>
            <a:off x="731520" y="1517904"/>
            <a:ext cx="45720" cy="1078992"/>
          </a:xfrm>
          <a:prstGeom prst="rect">
            <a:avLst>
              <a:gd name="adj" fmla="val 60000"/>
            </a:avLst>
          </a:prstGeom>
          <a:solidFill>
            <a:srgbClr val="3B82F6"/>
          </a:solidFill>
          <a:ln/>
        </p:spPr>
      </p:sp>
      <p:sp>
        <p:nvSpPr>
          <p:cNvPr id="15" name="Shape 13"/>
          <p:cNvSpPr/>
          <p:nvPr/>
        </p:nvSpPr>
        <p:spPr>
          <a:xfrm>
            <a:off x="932688" y="1901952"/>
            <a:ext cx="310896" cy="310896"/>
          </a:xfrm>
          <a:prstGeom prst="roundRect">
            <a:avLst>
              <a:gd name="adj" fmla="val 17647"/>
            </a:avLst>
          </a:prstGeom>
          <a:solidFill>
            <a:srgbClr val="3B82F6"/>
          </a:solidFill>
          <a:ln/>
        </p:spPr>
      </p:sp>
      <p:sp>
        <p:nvSpPr>
          <p:cNvPr id="16" name="Text 14"/>
          <p:cNvSpPr/>
          <p:nvPr/>
        </p:nvSpPr>
        <p:spPr>
          <a:xfrm>
            <a:off x="932688" y="1901952"/>
            <a:ext cx="310896" cy="310896"/>
          </a:xfrm>
          <a:prstGeom prst="rect">
            <a:avLst/>
          </a:prstGeom>
          <a:noFill/>
          <a:ln/>
        </p:spPr>
        <p:txBody>
          <a:bodyPr wrap="square" rtlCol="0" anchor="ctr"/>
          <a:lstStyle/>
          <a:p>
            <a:pPr algn="ctr" indent="0" marL="0">
              <a:buNone/>
            </a:pPr>
            <a:r>
              <a:rPr lang="en-US" sz="1300" dirty="0">
                <a:solidFill>
                  <a:srgbClr val="3B82F6"/>
                </a:solidFill>
                <a:latin typeface="Open Sans" pitchFamily="34" charset="0"/>
                <a:ea typeface="Open Sans" pitchFamily="34" charset="-122"/>
                <a:cs typeface="Open Sans" pitchFamily="34" charset="-120"/>
              </a:rPr>
              <a:t>●</a:t>
            </a:r>
            <a:endParaRPr lang="en-US" sz="1300" dirty="0"/>
          </a:p>
        </p:txBody>
      </p:sp>
      <p:sp>
        <p:nvSpPr>
          <p:cNvPr id="17" name="Text 15"/>
          <p:cNvSpPr/>
          <p:nvPr/>
        </p:nvSpPr>
        <p:spPr>
          <a:xfrm>
            <a:off x="1325880" y="1517904"/>
            <a:ext cx="1463040" cy="237744"/>
          </a:xfrm>
          <a:prstGeom prst="rect">
            <a:avLst/>
          </a:prstGeom>
          <a:noFill/>
          <a:ln/>
        </p:spPr>
        <p:txBody>
          <a:bodyPr wrap="square" rtlCol="0" anchor="ctr"/>
          <a:lstStyle/>
          <a:p>
            <a:pPr indent="0" marL="0">
              <a:buNone/>
            </a:pPr>
            <a:r>
              <a:rPr lang="en-US" sz="900" b="1" spc="300" kern="0" dirty="0">
                <a:solidFill>
                  <a:srgbClr val="3B82F6"/>
                </a:solidFill>
                <a:latin typeface="Montserrat" pitchFamily="34" charset="0"/>
                <a:ea typeface="Montserrat" pitchFamily="34" charset="-122"/>
                <a:cs typeface="Montserrat" pitchFamily="34" charset="-120"/>
              </a:rPr>
              <a:t>CONTEXTO</a:t>
            </a:r>
            <a:endParaRPr lang="en-US" sz="900" dirty="0"/>
          </a:p>
        </p:txBody>
      </p:sp>
      <p:sp>
        <p:nvSpPr>
          <p:cNvPr id="18" name="Text 16"/>
          <p:cNvSpPr/>
          <p:nvPr/>
        </p:nvSpPr>
        <p:spPr>
          <a:xfrm>
            <a:off x="1325880" y="1737360"/>
            <a:ext cx="9997135" cy="841248"/>
          </a:xfrm>
          <a:prstGeom prst="rect">
            <a:avLst/>
          </a:prstGeom>
          <a:noFill/>
          <a:ln/>
        </p:spPr>
        <p:txBody>
          <a:bodyPr wrap="square" rtlCol="0" anchor="t"/>
          <a:lstStyle/>
          <a:p>
            <a:pPr indent="0" marL="0">
              <a:lnSpc>
                <a:spcPct val="122000"/>
              </a:lnSpc>
              <a:buNone/>
            </a:pPr>
            <a:r>
              <a:rPr lang="en-US" sz="1700" dirty="0">
                <a:solidFill>
                  <a:srgbClr val="94A3C0"/>
                </a:solidFill>
                <a:latin typeface="Open Sans" pitchFamily="34" charset="0"/>
                <a:ea typeface="Open Sans" pitchFamily="34" charset="-122"/>
                <a:cs typeface="Open Sans" pitchFamily="34" charset="-120"/>
              </a:rPr>
              <a:t>Um cliente compra livros de ficção científica em uma livraria online. Uma IA identifica esse padrão de compra.</a:t>
            </a:r>
            <a:endParaRPr lang="en-US" sz="1700" dirty="0"/>
          </a:p>
        </p:txBody>
      </p:sp>
      <p:sp>
        <p:nvSpPr>
          <p:cNvPr id="19" name="Shape 17"/>
          <p:cNvSpPr/>
          <p:nvPr/>
        </p:nvSpPr>
        <p:spPr>
          <a:xfrm rot="2700000">
            <a:off x="1060704" y="2674620"/>
            <a:ext cx="64008" cy="64008"/>
          </a:xfrm>
          <a:prstGeom prst="rect">
            <a:avLst/>
          </a:prstGeom>
          <a:solidFill>
            <a:srgbClr val="3B82F6"/>
          </a:solidFill>
          <a:ln/>
        </p:spPr>
      </p:sp>
      <p:sp>
        <p:nvSpPr>
          <p:cNvPr id="20" name="Shape 18"/>
          <p:cNvSpPr/>
          <p:nvPr/>
        </p:nvSpPr>
        <p:spPr>
          <a:xfrm>
            <a:off x="758952" y="2798064"/>
            <a:ext cx="10820095" cy="1188720"/>
          </a:xfrm>
          <a:prstGeom prst="roundRect">
            <a:avLst>
              <a:gd name="adj" fmla="val 7692"/>
            </a:avLst>
          </a:prstGeom>
          <a:solidFill>
            <a:srgbClr val="000000"/>
          </a:solidFill>
          <a:ln/>
        </p:spPr>
      </p:sp>
      <p:sp>
        <p:nvSpPr>
          <p:cNvPr id="21" name="Shape 19"/>
          <p:cNvSpPr/>
          <p:nvPr/>
        </p:nvSpPr>
        <p:spPr>
          <a:xfrm>
            <a:off x="731520" y="2761488"/>
            <a:ext cx="10820095" cy="1188720"/>
          </a:xfrm>
          <a:prstGeom prst="roundRect">
            <a:avLst>
              <a:gd name="adj" fmla="val 6154"/>
            </a:avLst>
          </a:prstGeom>
          <a:solidFill>
            <a:srgbClr val="111D38"/>
          </a:solidFill>
          <a:ln/>
        </p:spPr>
      </p:sp>
      <p:sp>
        <p:nvSpPr>
          <p:cNvPr id="22" name="Shape 20"/>
          <p:cNvSpPr/>
          <p:nvPr/>
        </p:nvSpPr>
        <p:spPr>
          <a:xfrm>
            <a:off x="731520" y="2816352"/>
            <a:ext cx="45720" cy="1078992"/>
          </a:xfrm>
          <a:prstGeom prst="rect">
            <a:avLst>
              <a:gd name="adj" fmla="val 60000"/>
            </a:avLst>
          </a:prstGeom>
          <a:solidFill>
            <a:srgbClr val="F59E0B"/>
          </a:solidFill>
          <a:ln/>
        </p:spPr>
      </p:sp>
      <p:sp>
        <p:nvSpPr>
          <p:cNvPr id="23" name="Shape 21"/>
          <p:cNvSpPr/>
          <p:nvPr/>
        </p:nvSpPr>
        <p:spPr>
          <a:xfrm>
            <a:off x="932688" y="3200400"/>
            <a:ext cx="310896" cy="310896"/>
          </a:xfrm>
          <a:prstGeom prst="roundRect">
            <a:avLst>
              <a:gd name="adj" fmla="val 17647"/>
            </a:avLst>
          </a:prstGeom>
          <a:solidFill>
            <a:srgbClr val="F59E0B"/>
          </a:solidFill>
          <a:ln/>
        </p:spPr>
      </p:sp>
      <p:sp>
        <p:nvSpPr>
          <p:cNvPr id="24" name="Text 22"/>
          <p:cNvSpPr/>
          <p:nvPr/>
        </p:nvSpPr>
        <p:spPr>
          <a:xfrm>
            <a:off x="932688" y="3200400"/>
            <a:ext cx="310896" cy="310896"/>
          </a:xfrm>
          <a:prstGeom prst="rect">
            <a:avLst/>
          </a:prstGeom>
          <a:noFill/>
          <a:ln/>
        </p:spPr>
        <p:txBody>
          <a:bodyPr wrap="square" rtlCol="0" anchor="ctr"/>
          <a:lstStyle/>
          <a:p>
            <a:pPr algn="ctr" indent="0" marL="0">
              <a:buNone/>
            </a:pPr>
            <a:r>
              <a:rPr lang="en-US" sz="1300" dirty="0">
                <a:solidFill>
                  <a:srgbClr val="F59E0B"/>
                </a:solidFill>
                <a:latin typeface="Open Sans" pitchFamily="34" charset="0"/>
                <a:ea typeface="Open Sans" pitchFamily="34" charset="-122"/>
                <a:cs typeface="Open Sans" pitchFamily="34" charset="-120"/>
              </a:rPr>
              <a:t>▲</a:t>
            </a:r>
            <a:endParaRPr lang="en-US" sz="1300" dirty="0"/>
          </a:p>
        </p:txBody>
      </p:sp>
      <p:sp>
        <p:nvSpPr>
          <p:cNvPr id="25" name="Text 23"/>
          <p:cNvSpPr/>
          <p:nvPr/>
        </p:nvSpPr>
        <p:spPr>
          <a:xfrm>
            <a:off x="1325880" y="2816352"/>
            <a:ext cx="1463040" cy="237744"/>
          </a:xfrm>
          <a:prstGeom prst="rect">
            <a:avLst/>
          </a:prstGeom>
          <a:noFill/>
          <a:ln/>
        </p:spPr>
        <p:txBody>
          <a:bodyPr wrap="square" rtlCol="0" anchor="ctr"/>
          <a:lstStyle/>
          <a:p>
            <a:pPr indent="0" marL="0">
              <a:buNone/>
            </a:pPr>
            <a:r>
              <a:rPr lang="en-US" sz="900" b="1" spc="300" kern="0" dirty="0">
                <a:solidFill>
                  <a:srgbClr val="F59E0B"/>
                </a:solidFill>
                <a:latin typeface="Montserrat" pitchFamily="34" charset="0"/>
                <a:ea typeface="Montserrat" pitchFamily="34" charset="-122"/>
                <a:cs typeface="Montserrat" pitchFamily="34" charset="-120"/>
              </a:rPr>
              <a:t>DESAFIO</a:t>
            </a:r>
            <a:endParaRPr lang="en-US" sz="900" dirty="0"/>
          </a:p>
        </p:txBody>
      </p:sp>
      <p:sp>
        <p:nvSpPr>
          <p:cNvPr id="26" name="Text 24"/>
          <p:cNvSpPr/>
          <p:nvPr/>
        </p:nvSpPr>
        <p:spPr>
          <a:xfrm>
            <a:off x="1325880" y="3035808"/>
            <a:ext cx="9997135" cy="841248"/>
          </a:xfrm>
          <a:prstGeom prst="rect">
            <a:avLst/>
          </a:prstGeom>
          <a:noFill/>
          <a:ln/>
        </p:spPr>
        <p:txBody>
          <a:bodyPr wrap="square" rtlCol="0" anchor="t"/>
          <a:lstStyle/>
          <a:p>
            <a:pPr indent="0" marL="0">
              <a:lnSpc>
                <a:spcPct val="122000"/>
              </a:lnSpc>
              <a:buNone/>
            </a:pPr>
            <a:r>
              <a:rPr lang="en-US" sz="1700" dirty="0">
                <a:solidFill>
                  <a:srgbClr val="94A3C0"/>
                </a:solidFill>
                <a:latin typeface="Open Sans" pitchFamily="34" charset="0"/>
                <a:ea typeface="Open Sans" pitchFamily="34" charset="-122"/>
                <a:cs typeface="Open Sans" pitchFamily="34" charset="-120"/>
              </a:rPr>
              <a:t>Automaticamente, a IA envia e-mails semanais com lançamentos e promoções desse gênero específico.</a:t>
            </a:r>
            <a:endParaRPr lang="en-US" sz="1700" dirty="0"/>
          </a:p>
        </p:txBody>
      </p:sp>
      <p:sp>
        <p:nvSpPr>
          <p:cNvPr id="27" name="Shape 25"/>
          <p:cNvSpPr/>
          <p:nvPr/>
        </p:nvSpPr>
        <p:spPr>
          <a:xfrm rot="2700000">
            <a:off x="1060704" y="3973068"/>
            <a:ext cx="64008" cy="64008"/>
          </a:xfrm>
          <a:prstGeom prst="rect">
            <a:avLst/>
          </a:prstGeom>
          <a:solidFill>
            <a:srgbClr val="F59E0B"/>
          </a:solidFill>
          <a:ln/>
        </p:spPr>
      </p:sp>
      <p:sp>
        <p:nvSpPr>
          <p:cNvPr id="28" name="Shape 26"/>
          <p:cNvSpPr/>
          <p:nvPr/>
        </p:nvSpPr>
        <p:spPr>
          <a:xfrm>
            <a:off x="758952" y="4096512"/>
            <a:ext cx="10820095" cy="1188720"/>
          </a:xfrm>
          <a:prstGeom prst="roundRect">
            <a:avLst>
              <a:gd name="adj" fmla="val 7692"/>
            </a:avLst>
          </a:prstGeom>
          <a:solidFill>
            <a:srgbClr val="000000"/>
          </a:solidFill>
          <a:ln/>
        </p:spPr>
      </p:sp>
      <p:sp>
        <p:nvSpPr>
          <p:cNvPr id="29" name="Shape 27"/>
          <p:cNvSpPr/>
          <p:nvPr/>
        </p:nvSpPr>
        <p:spPr>
          <a:xfrm>
            <a:off x="731520" y="4059936"/>
            <a:ext cx="10820095" cy="1188720"/>
          </a:xfrm>
          <a:prstGeom prst="roundRect">
            <a:avLst>
              <a:gd name="adj" fmla="val 6154"/>
            </a:avLst>
          </a:prstGeom>
          <a:solidFill>
            <a:srgbClr val="111D38"/>
          </a:solidFill>
          <a:ln/>
        </p:spPr>
      </p:sp>
      <p:sp>
        <p:nvSpPr>
          <p:cNvPr id="30" name="Shape 28"/>
          <p:cNvSpPr/>
          <p:nvPr/>
        </p:nvSpPr>
        <p:spPr>
          <a:xfrm>
            <a:off x="731520" y="4114800"/>
            <a:ext cx="45720" cy="1078992"/>
          </a:xfrm>
          <a:prstGeom prst="rect">
            <a:avLst>
              <a:gd name="adj" fmla="val 60000"/>
            </a:avLst>
          </a:prstGeom>
          <a:solidFill>
            <a:srgbClr val="6C63FF"/>
          </a:solidFill>
          <a:ln/>
        </p:spPr>
      </p:sp>
      <p:sp>
        <p:nvSpPr>
          <p:cNvPr id="31" name="Shape 29"/>
          <p:cNvSpPr/>
          <p:nvPr/>
        </p:nvSpPr>
        <p:spPr>
          <a:xfrm>
            <a:off x="932688" y="4498848"/>
            <a:ext cx="310896" cy="310896"/>
          </a:xfrm>
          <a:prstGeom prst="roundRect">
            <a:avLst>
              <a:gd name="adj" fmla="val 17647"/>
            </a:avLst>
          </a:prstGeom>
          <a:solidFill>
            <a:srgbClr val="6C63FF"/>
          </a:solidFill>
          <a:ln/>
        </p:spPr>
      </p:sp>
      <p:sp>
        <p:nvSpPr>
          <p:cNvPr id="32" name="Text 30"/>
          <p:cNvSpPr/>
          <p:nvPr/>
        </p:nvSpPr>
        <p:spPr>
          <a:xfrm>
            <a:off x="932688" y="4498848"/>
            <a:ext cx="310896" cy="310896"/>
          </a:xfrm>
          <a:prstGeom prst="rect">
            <a:avLst/>
          </a:prstGeom>
          <a:noFill/>
          <a:ln/>
        </p:spPr>
        <p:txBody>
          <a:bodyPr wrap="square" rtlCol="0" anchor="ctr"/>
          <a:lstStyle/>
          <a:p>
            <a:pPr algn="ctr" indent="0" marL="0">
              <a:buNone/>
            </a:pPr>
            <a:r>
              <a:rPr lang="en-US" sz="1300" dirty="0">
                <a:solidFill>
                  <a:srgbClr val="6C63FF"/>
                </a:solidFill>
                <a:latin typeface="Open Sans" pitchFamily="34" charset="0"/>
                <a:ea typeface="Open Sans" pitchFamily="34" charset="-122"/>
                <a:cs typeface="Open Sans" pitchFamily="34" charset="-120"/>
              </a:rPr>
              <a:t>◆</a:t>
            </a:r>
            <a:endParaRPr lang="en-US" sz="1300" dirty="0"/>
          </a:p>
        </p:txBody>
      </p:sp>
      <p:sp>
        <p:nvSpPr>
          <p:cNvPr id="33" name="Text 31"/>
          <p:cNvSpPr/>
          <p:nvPr/>
        </p:nvSpPr>
        <p:spPr>
          <a:xfrm>
            <a:off x="1325880" y="4114800"/>
            <a:ext cx="1463040" cy="237744"/>
          </a:xfrm>
          <a:prstGeom prst="rect">
            <a:avLst/>
          </a:prstGeom>
          <a:noFill/>
          <a:ln/>
        </p:spPr>
        <p:txBody>
          <a:bodyPr wrap="square" rtlCol="0" anchor="ctr"/>
          <a:lstStyle/>
          <a:p>
            <a:pPr indent="0" marL="0">
              <a:buNone/>
            </a:pPr>
            <a:r>
              <a:rPr lang="en-US" sz="900" b="1" spc="300" kern="0" dirty="0">
                <a:solidFill>
                  <a:srgbClr val="6C63FF"/>
                </a:solidFill>
                <a:latin typeface="Montserrat" pitchFamily="34" charset="0"/>
                <a:ea typeface="Montserrat" pitchFamily="34" charset="-122"/>
                <a:cs typeface="Montserrat" pitchFamily="34" charset="-120"/>
              </a:rPr>
              <a:t>SOLUÇÃO</a:t>
            </a:r>
            <a:endParaRPr lang="en-US" sz="900" dirty="0"/>
          </a:p>
        </p:txBody>
      </p:sp>
      <p:sp>
        <p:nvSpPr>
          <p:cNvPr id="34" name="Text 32"/>
          <p:cNvSpPr/>
          <p:nvPr/>
        </p:nvSpPr>
        <p:spPr>
          <a:xfrm>
            <a:off x="1325880" y="4334256"/>
            <a:ext cx="9997135" cy="841248"/>
          </a:xfrm>
          <a:prstGeom prst="rect">
            <a:avLst/>
          </a:prstGeom>
          <a:noFill/>
          <a:ln/>
        </p:spPr>
        <p:txBody>
          <a:bodyPr wrap="square" rtlCol="0" anchor="t"/>
          <a:lstStyle/>
          <a:p>
            <a:pPr indent="0" marL="0">
              <a:lnSpc>
                <a:spcPct val="122000"/>
              </a:lnSpc>
              <a:buNone/>
            </a:pPr>
            <a:r>
              <a:rPr lang="en-US" sz="1700" dirty="0">
                <a:solidFill>
                  <a:srgbClr val="94A3C0"/>
                </a:solidFill>
                <a:latin typeface="Open Sans" pitchFamily="34" charset="0"/>
                <a:ea typeface="Open Sans" pitchFamily="34" charset="-122"/>
                <a:cs typeface="Open Sans" pitchFamily="34" charset="-120"/>
              </a:rPr>
              <a:t>Isso aumenta a relevância da comunicação e a probabilidade de novas compras, melhorando a experiência do cliente.</a:t>
            </a:r>
            <a:endParaRPr lang="en-US" sz="1700" dirty="0"/>
          </a:p>
        </p:txBody>
      </p:sp>
      <p:sp>
        <p:nvSpPr>
          <p:cNvPr id="35" name="Shape 33"/>
          <p:cNvSpPr/>
          <p:nvPr/>
        </p:nvSpPr>
        <p:spPr>
          <a:xfrm>
            <a:off x="0" y="6601968"/>
            <a:ext cx="2041093" cy="4572"/>
          </a:xfrm>
          <a:prstGeom prst="rect">
            <a:avLst/>
          </a:prstGeom>
          <a:solidFill>
            <a:srgbClr val="6C63FF"/>
          </a:solidFill>
          <a:ln/>
        </p:spPr>
      </p:sp>
      <p:sp>
        <p:nvSpPr>
          <p:cNvPr id="36" name="Shape 34"/>
          <p:cNvSpPr/>
          <p:nvPr/>
        </p:nvSpPr>
        <p:spPr>
          <a:xfrm>
            <a:off x="2031949" y="6601968"/>
            <a:ext cx="2041093" cy="4572"/>
          </a:xfrm>
          <a:prstGeom prst="rect">
            <a:avLst/>
          </a:prstGeom>
          <a:solidFill>
            <a:srgbClr val="6C63FF"/>
          </a:solidFill>
          <a:ln/>
        </p:spPr>
      </p:sp>
      <p:sp>
        <p:nvSpPr>
          <p:cNvPr id="37" name="Shape 35"/>
          <p:cNvSpPr/>
          <p:nvPr/>
        </p:nvSpPr>
        <p:spPr>
          <a:xfrm>
            <a:off x="4063898" y="6601968"/>
            <a:ext cx="2041093" cy="4572"/>
          </a:xfrm>
          <a:prstGeom prst="rect">
            <a:avLst/>
          </a:prstGeom>
          <a:solidFill>
            <a:srgbClr val="6C63FF"/>
          </a:solidFill>
          <a:ln/>
        </p:spPr>
      </p:sp>
      <p:sp>
        <p:nvSpPr>
          <p:cNvPr id="38" name="Shape 36"/>
          <p:cNvSpPr/>
          <p:nvPr/>
        </p:nvSpPr>
        <p:spPr>
          <a:xfrm>
            <a:off x="6095848" y="6601968"/>
            <a:ext cx="2041093" cy="4572"/>
          </a:xfrm>
          <a:prstGeom prst="rect">
            <a:avLst/>
          </a:prstGeom>
          <a:solidFill>
            <a:srgbClr val="6C63FF"/>
          </a:solidFill>
          <a:ln/>
        </p:spPr>
      </p:sp>
      <p:sp>
        <p:nvSpPr>
          <p:cNvPr id="39" name="Shape 37"/>
          <p:cNvSpPr/>
          <p:nvPr/>
        </p:nvSpPr>
        <p:spPr>
          <a:xfrm>
            <a:off x="8127797" y="6601968"/>
            <a:ext cx="2041093" cy="4572"/>
          </a:xfrm>
          <a:prstGeom prst="rect">
            <a:avLst/>
          </a:prstGeom>
          <a:solidFill>
            <a:srgbClr val="6C63FF"/>
          </a:solidFill>
          <a:ln/>
        </p:spPr>
      </p:sp>
      <p:sp>
        <p:nvSpPr>
          <p:cNvPr id="40" name="Shape 38"/>
          <p:cNvSpPr/>
          <p:nvPr/>
        </p:nvSpPr>
        <p:spPr>
          <a:xfrm>
            <a:off x="10159746" y="6601968"/>
            <a:ext cx="2041093" cy="4572"/>
          </a:xfrm>
          <a:prstGeom prst="rect">
            <a:avLst/>
          </a:prstGeom>
          <a:solidFill>
            <a:srgbClr val="6C63FF"/>
          </a:solidFill>
          <a:ln/>
        </p:spPr>
      </p:sp>
      <p:sp>
        <p:nvSpPr>
          <p:cNvPr id="41" name="Shape 39"/>
          <p:cNvSpPr/>
          <p:nvPr/>
        </p:nvSpPr>
        <p:spPr>
          <a:xfrm>
            <a:off x="0" y="6606540"/>
            <a:ext cx="12191695" cy="2743"/>
          </a:xfrm>
          <a:prstGeom prst="rect">
            <a:avLst/>
          </a:prstGeom>
          <a:solidFill>
            <a:srgbClr val="222E48"/>
          </a:solidFill>
          <a:ln/>
        </p:spPr>
      </p:sp>
      <p:sp>
        <p:nvSpPr>
          <p:cNvPr id="42" name="Text 40"/>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43" name="Shape 41"/>
          <p:cNvSpPr/>
          <p:nvPr/>
        </p:nvSpPr>
        <p:spPr>
          <a:xfrm>
            <a:off x="10436047" y="6693408"/>
            <a:ext cx="73152" cy="73152"/>
          </a:xfrm>
          <a:prstGeom prst="ellipse">
            <a:avLst/>
          </a:prstGeom>
          <a:solidFill>
            <a:srgbClr val="6C63FF"/>
          </a:solidFill>
          <a:ln/>
        </p:spPr>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F59E0B"/>
          </a:solidFill>
          <a:ln/>
        </p:spPr>
      </p:sp>
      <p:sp>
        <p:nvSpPr>
          <p:cNvPr id="3" name="Shape 1"/>
          <p:cNvSpPr/>
          <p:nvPr/>
        </p:nvSpPr>
        <p:spPr>
          <a:xfrm>
            <a:off x="64008" y="0"/>
            <a:ext cx="18288" cy="6858000"/>
          </a:xfrm>
          <a:prstGeom prst="rect">
            <a:avLst/>
          </a:prstGeom>
          <a:solidFill>
            <a:srgbClr val="F59E0B"/>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F59E0B"/>
                </a:solidFill>
                <a:latin typeface="Open Sans" pitchFamily="34" charset="0"/>
                <a:ea typeface="Open Sans" pitchFamily="34" charset="-122"/>
                <a:cs typeface="Open Sans" pitchFamily="34" charset="-120"/>
              </a:rPr>
              <a:t>APLICAÇÕES REAIS</a:t>
            </a:r>
            <a:endParaRPr lang="en-US" sz="900" dirty="0"/>
          </a:p>
        </p:txBody>
      </p:sp>
      <p:sp>
        <p:nvSpPr>
          <p:cNvPr id="5" name="Shape 3"/>
          <p:cNvSpPr/>
          <p:nvPr/>
        </p:nvSpPr>
        <p:spPr>
          <a:xfrm>
            <a:off x="502920" y="493776"/>
            <a:ext cx="640080" cy="21946"/>
          </a:xfrm>
          <a:prstGeom prst="rect">
            <a:avLst/>
          </a:prstGeom>
          <a:solidFill>
            <a:srgbClr val="F59E0B"/>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Aplicações reais</a:t>
            </a:r>
            <a:endParaRPr lang="en-US" sz="2800" dirty="0"/>
          </a:p>
        </p:txBody>
      </p:sp>
      <p:sp>
        <p:nvSpPr>
          <p:cNvPr id="7" name="Shape 5"/>
          <p:cNvSpPr/>
          <p:nvPr/>
        </p:nvSpPr>
        <p:spPr>
          <a:xfrm>
            <a:off x="502920" y="1389888"/>
            <a:ext cx="11185855" cy="7315"/>
          </a:xfrm>
          <a:prstGeom prst="rect">
            <a:avLst/>
          </a:prstGeom>
          <a:solidFill>
            <a:srgbClr val="F59E0B"/>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621792" y="1572768"/>
            <a:ext cx="3603650" cy="2286000"/>
          </a:xfrm>
          <a:prstGeom prst="roundRect">
            <a:avLst>
              <a:gd name="adj" fmla="val 4000"/>
            </a:avLst>
          </a:prstGeom>
          <a:solidFill>
            <a:srgbClr val="000000"/>
          </a:solidFill>
          <a:ln/>
        </p:spPr>
      </p:sp>
      <p:sp>
        <p:nvSpPr>
          <p:cNvPr id="10" name="Shape 8"/>
          <p:cNvSpPr/>
          <p:nvPr/>
        </p:nvSpPr>
        <p:spPr>
          <a:xfrm>
            <a:off x="594360" y="1536192"/>
            <a:ext cx="3603650" cy="2286000"/>
          </a:xfrm>
          <a:prstGeom prst="roundRect">
            <a:avLst>
              <a:gd name="adj" fmla="val 4000"/>
            </a:avLst>
          </a:prstGeom>
          <a:solidFill>
            <a:srgbClr val="141E34"/>
          </a:solidFill>
          <a:ln/>
        </p:spPr>
      </p:sp>
      <p:sp>
        <p:nvSpPr>
          <p:cNvPr id="11" name="Shape 9"/>
          <p:cNvSpPr/>
          <p:nvPr/>
        </p:nvSpPr>
        <p:spPr>
          <a:xfrm>
            <a:off x="594360" y="1536192"/>
            <a:ext cx="3603650" cy="45720"/>
          </a:xfrm>
          <a:prstGeom prst="rect">
            <a:avLst>
              <a:gd name="adj" fmla="val 200000"/>
            </a:avLst>
          </a:prstGeom>
          <a:solidFill>
            <a:srgbClr val="6C63FF"/>
          </a:solidFill>
          <a:ln/>
        </p:spPr>
      </p:sp>
      <p:sp>
        <p:nvSpPr>
          <p:cNvPr id="12" name="Shape 10"/>
          <p:cNvSpPr/>
          <p:nvPr/>
        </p:nvSpPr>
        <p:spPr>
          <a:xfrm>
            <a:off x="704088" y="1700784"/>
            <a:ext cx="384048" cy="384048"/>
          </a:xfrm>
          <a:prstGeom prst="roundRect">
            <a:avLst>
              <a:gd name="adj" fmla="val 19048"/>
            </a:avLst>
          </a:prstGeom>
          <a:solidFill>
            <a:srgbClr val="6C63FF"/>
          </a:solidFill>
          <a:ln/>
        </p:spPr>
      </p:sp>
      <p:sp>
        <p:nvSpPr>
          <p:cNvPr id="13" name="Text 11"/>
          <p:cNvSpPr/>
          <p:nvPr/>
        </p:nvSpPr>
        <p:spPr>
          <a:xfrm>
            <a:off x="704088" y="1700784"/>
            <a:ext cx="384048" cy="384048"/>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1</a:t>
            </a:r>
            <a:endParaRPr lang="en-US" sz="1600" dirty="0"/>
          </a:p>
        </p:txBody>
      </p:sp>
      <p:sp>
        <p:nvSpPr>
          <p:cNvPr id="14" name="Text 12"/>
          <p:cNvSpPr/>
          <p:nvPr/>
        </p:nvSpPr>
        <p:spPr>
          <a:xfrm>
            <a:off x="1179576" y="1664208"/>
            <a:ext cx="2890418" cy="457200"/>
          </a:xfrm>
          <a:prstGeom prst="rect">
            <a:avLst/>
          </a:prstGeom>
          <a:noFill/>
          <a:ln/>
        </p:spPr>
        <p:txBody>
          <a:bodyPr wrap="square" rtlCol="0" anchor="ctr"/>
          <a:lstStyle/>
          <a:p>
            <a:pPr indent="0" marL="0">
              <a:buNone/>
            </a:pPr>
            <a:r>
              <a:rPr lang="en-US" sz="1500" b="1" dirty="0">
                <a:solidFill>
                  <a:srgbClr val="6C63FF"/>
                </a:solidFill>
                <a:latin typeface="Montserrat" pitchFamily="34" charset="0"/>
                <a:ea typeface="Montserrat" pitchFamily="34" charset="-122"/>
                <a:cs typeface="Montserrat" pitchFamily="34" charset="-120"/>
              </a:rPr>
              <a:t>Personalização de Ofertas</a:t>
            </a:r>
            <a:endParaRPr lang="en-US" sz="1500" dirty="0"/>
          </a:p>
        </p:txBody>
      </p:sp>
      <p:sp>
        <p:nvSpPr>
          <p:cNvPr id="15" name="Shape 13"/>
          <p:cNvSpPr/>
          <p:nvPr/>
        </p:nvSpPr>
        <p:spPr>
          <a:xfrm>
            <a:off x="704088" y="2176272"/>
            <a:ext cx="3384194" cy="3658"/>
          </a:xfrm>
          <a:prstGeom prst="rect">
            <a:avLst/>
          </a:prstGeom>
          <a:solidFill>
            <a:srgbClr val="222E48"/>
          </a:solidFill>
          <a:ln/>
        </p:spPr>
      </p:sp>
      <p:sp>
        <p:nvSpPr>
          <p:cNvPr id="16" name="Text 14"/>
          <p:cNvSpPr/>
          <p:nvPr/>
        </p:nvSpPr>
        <p:spPr>
          <a:xfrm>
            <a:off x="722376" y="2231136"/>
            <a:ext cx="3347618" cy="146304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Plataformas de e-commerce usam IA para recomendar produtos com base no histórico de compras e navegação do usuário.</a:t>
            </a:r>
            <a:endParaRPr lang="en-US" sz="1300" dirty="0"/>
          </a:p>
        </p:txBody>
      </p:sp>
      <p:sp>
        <p:nvSpPr>
          <p:cNvPr id="17" name="Shape 15"/>
          <p:cNvSpPr/>
          <p:nvPr/>
        </p:nvSpPr>
        <p:spPr>
          <a:xfrm>
            <a:off x="4390034" y="1572768"/>
            <a:ext cx="3603650" cy="2286000"/>
          </a:xfrm>
          <a:prstGeom prst="roundRect">
            <a:avLst>
              <a:gd name="adj" fmla="val 4000"/>
            </a:avLst>
          </a:prstGeom>
          <a:solidFill>
            <a:srgbClr val="000000"/>
          </a:solidFill>
          <a:ln/>
        </p:spPr>
      </p:sp>
      <p:sp>
        <p:nvSpPr>
          <p:cNvPr id="18" name="Shape 16"/>
          <p:cNvSpPr/>
          <p:nvPr/>
        </p:nvSpPr>
        <p:spPr>
          <a:xfrm>
            <a:off x="4362602" y="1536192"/>
            <a:ext cx="3603650" cy="2286000"/>
          </a:xfrm>
          <a:prstGeom prst="roundRect">
            <a:avLst>
              <a:gd name="adj" fmla="val 4000"/>
            </a:avLst>
          </a:prstGeom>
          <a:solidFill>
            <a:srgbClr val="141E34"/>
          </a:solidFill>
          <a:ln/>
        </p:spPr>
      </p:sp>
      <p:sp>
        <p:nvSpPr>
          <p:cNvPr id="19" name="Shape 17"/>
          <p:cNvSpPr/>
          <p:nvPr/>
        </p:nvSpPr>
        <p:spPr>
          <a:xfrm>
            <a:off x="4362602" y="1536192"/>
            <a:ext cx="3603650" cy="45720"/>
          </a:xfrm>
          <a:prstGeom prst="rect">
            <a:avLst>
              <a:gd name="adj" fmla="val 200000"/>
            </a:avLst>
          </a:prstGeom>
          <a:solidFill>
            <a:srgbClr val="3B82F6"/>
          </a:solidFill>
          <a:ln/>
        </p:spPr>
      </p:sp>
      <p:sp>
        <p:nvSpPr>
          <p:cNvPr id="20" name="Shape 18"/>
          <p:cNvSpPr/>
          <p:nvPr/>
        </p:nvSpPr>
        <p:spPr>
          <a:xfrm>
            <a:off x="4472330" y="1700784"/>
            <a:ext cx="384048" cy="384048"/>
          </a:xfrm>
          <a:prstGeom prst="roundRect">
            <a:avLst>
              <a:gd name="adj" fmla="val 19048"/>
            </a:avLst>
          </a:prstGeom>
          <a:solidFill>
            <a:srgbClr val="3B82F6"/>
          </a:solidFill>
          <a:ln/>
        </p:spPr>
      </p:sp>
      <p:sp>
        <p:nvSpPr>
          <p:cNvPr id="21" name="Text 19"/>
          <p:cNvSpPr/>
          <p:nvPr/>
        </p:nvSpPr>
        <p:spPr>
          <a:xfrm>
            <a:off x="4472330" y="1700784"/>
            <a:ext cx="384048" cy="384048"/>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sp>
        <p:nvSpPr>
          <p:cNvPr id="22" name="Text 20"/>
          <p:cNvSpPr/>
          <p:nvPr/>
        </p:nvSpPr>
        <p:spPr>
          <a:xfrm>
            <a:off x="4947818" y="1664208"/>
            <a:ext cx="2890418" cy="457200"/>
          </a:xfrm>
          <a:prstGeom prst="rect">
            <a:avLst/>
          </a:prstGeom>
          <a:noFill/>
          <a:ln/>
        </p:spPr>
        <p:txBody>
          <a:bodyPr wrap="square" rtlCol="0" anchor="ctr"/>
          <a:lstStyle/>
          <a:p>
            <a:pPr indent="0" marL="0">
              <a:buNone/>
            </a:pPr>
            <a:r>
              <a:rPr lang="en-US" sz="1500" b="1" dirty="0">
                <a:solidFill>
                  <a:srgbClr val="3B82F6"/>
                </a:solidFill>
                <a:latin typeface="Montserrat" pitchFamily="34" charset="0"/>
                <a:ea typeface="Montserrat" pitchFamily="34" charset="-122"/>
                <a:cs typeface="Montserrat" pitchFamily="34" charset="-120"/>
              </a:rPr>
              <a:t>Atendimento Automatizado</a:t>
            </a:r>
            <a:endParaRPr lang="en-US" sz="1500" dirty="0"/>
          </a:p>
        </p:txBody>
      </p:sp>
      <p:sp>
        <p:nvSpPr>
          <p:cNvPr id="23" name="Shape 21"/>
          <p:cNvSpPr/>
          <p:nvPr/>
        </p:nvSpPr>
        <p:spPr>
          <a:xfrm>
            <a:off x="4472330" y="2176272"/>
            <a:ext cx="3384194" cy="3658"/>
          </a:xfrm>
          <a:prstGeom prst="rect">
            <a:avLst/>
          </a:prstGeom>
          <a:solidFill>
            <a:srgbClr val="222E48"/>
          </a:solidFill>
          <a:ln/>
        </p:spPr>
      </p:sp>
      <p:sp>
        <p:nvSpPr>
          <p:cNvPr id="24" name="Text 22"/>
          <p:cNvSpPr/>
          <p:nvPr/>
        </p:nvSpPr>
        <p:spPr>
          <a:xfrm>
            <a:off x="4490618" y="2231136"/>
            <a:ext cx="3347618" cy="146304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Um chatbot em um site de banco auxilia clientes a verificar o saldo, redefinir senhas ou consultar extratos sem intervenção humana.</a:t>
            </a:r>
            <a:endParaRPr lang="en-US" sz="1300" dirty="0"/>
          </a:p>
        </p:txBody>
      </p:sp>
      <p:sp>
        <p:nvSpPr>
          <p:cNvPr id="25" name="Shape 23"/>
          <p:cNvSpPr/>
          <p:nvPr/>
        </p:nvSpPr>
        <p:spPr>
          <a:xfrm>
            <a:off x="8158277" y="1572768"/>
            <a:ext cx="3603650" cy="2286000"/>
          </a:xfrm>
          <a:prstGeom prst="roundRect">
            <a:avLst>
              <a:gd name="adj" fmla="val 4000"/>
            </a:avLst>
          </a:prstGeom>
          <a:solidFill>
            <a:srgbClr val="000000"/>
          </a:solidFill>
          <a:ln/>
        </p:spPr>
      </p:sp>
      <p:sp>
        <p:nvSpPr>
          <p:cNvPr id="26" name="Shape 24"/>
          <p:cNvSpPr/>
          <p:nvPr/>
        </p:nvSpPr>
        <p:spPr>
          <a:xfrm>
            <a:off x="8130845" y="1536192"/>
            <a:ext cx="3603650" cy="2286000"/>
          </a:xfrm>
          <a:prstGeom prst="roundRect">
            <a:avLst>
              <a:gd name="adj" fmla="val 4000"/>
            </a:avLst>
          </a:prstGeom>
          <a:solidFill>
            <a:srgbClr val="141E34"/>
          </a:solidFill>
          <a:ln/>
        </p:spPr>
      </p:sp>
      <p:sp>
        <p:nvSpPr>
          <p:cNvPr id="27" name="Shape 25"/>
          <p:cNvSpPr/>
          <p:nvPr/>
        </p:nvSpPr>
        <p:spPr>
          <a:xfrm>
            <a:off x="8130845" y="1536192"/>
            <a:ext cx="3603650" cy="45720"/>
          </a:xfrm>
          <a:prstGeom prst="rect">
            <a:avLst>
              <a:gd name="adj" fmla="val 200000"/>
            </a:avLst>
          </a:prstGeom>
          <a:solidFill>
            <a:srgbClr val="10B981"/>
          </a:solidFill>
          <a:ln/>
        </p:spPr>
      </p:sp>
      <p:sp>
        <p:nvSpPr>
          <p:cNvPr id="28" name="Shape 26"/>
          <p:cNvSpPr/>
          <p:nvPr/>
        </p:nvSpPr>
        <p:spPr>
          <a:xfrm>
            <a:off x="8240573" y="1700784"/>
            <a:ext cx="384048" cy="384048"/>
          </a:xfrm>
          <a:prstGeom prst="roundRect">
            <a:avLst>
              <a:gd name="adj" fmla="val 19048"/>
            </a:avLst>
          </a:prstGeom>
          <a:solidFill>
            <a:srgbClr val="10B981"/>
          </a:solidFill>
          <a:ln/>
        </p:spPr>
      </p:sp>
      <p:sp>
        <p:nvSpPr>
          <p:cNvPr id="29" name="Text 27"/>
          <p:cNvSpPr/>
          <p:nvPr/>
        </p:nvSpPr>
        <p:spPr>
          <a:xfrm>
            <a:off x="8240573" y="1700784"/>
            <a:ext cx="384048" cy="384048"/>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30" name="Text 28"/>
          <p:cNvSpPr/>
          <p:nvPr/>
        </p:nvSpPr>
        <p:spPr>
          <a:xfrm>
            <a:off x="8716061" y="1664208"/>
            <a:ext cx="2890418" cy="457200"/>
          </a:xfrm>
          <a:prstGeom prst="rect">
            <a:avLst/>
          </a:prstGeom>
          <a:noFill/>
          <a:ln/>
        </p:spPr>
        <p:txBody>
          <a:bodyPr wrap="square" rtlCol="0" anchor="ctr"/>
          <a:lstStyle/>
          <a:p>
            <a:pPr indent="0" marL="0">
              <a:buNone/>
            </a:pPr>
            <a:r>
              <a:rPr lang="en-US" sz="1500" b="1" dirty="0">
                <a:solidFill>
                  <a:srgbClr val="10B981"/>
                </a:solidFill>
                <a:latin typeface="Montserrat" pitchFamily="34" charset="0"/>
                <a:ea typeface="Montserrat" pitchFamily="34" charset="-122"/>
                <a:cs typeface="Montserrat" pitchFamily="34" charset="-120"/>
              </a:rPr>
              <a:t>Análise de retorno</a:t>
            </a:r>
            <a:endParaRPr lang="en-US" sz="1500" dirty="0"/>
          </a:p>
        </p:txBody>
      </p:sp>
      <p:sp>
        <p:nvSpPr>
          <p:cNvPr id="31" name="Shape 29"/>
          <p:cNvSpPr/>
          <p:nvPr/>
        </p:nvSpPr>
        <p:spPr>
          <a:xfrm>
            <a:off x="8240573" y="2176272"/>
            <a:ext cx="3384194" cy="3658"/>
          </a:xfrm>
          <a:prstGeom prst="rect">
            <a:avLst/>
          </a:prstGeom>
          <a:solidFill>
            <a:srgbClr val="222E48"/>
          </a:solidFill>
          <a:ln/>
        </p:spPr>
      </p:sp>
      <p:sp>
        <p:nvSpPr>
          <p:cNvPr id="32" name="Text 30"/>
          <p:cNvSpPr/>
          <p:nvPr/>
        </p:nvSpPr>
        <p:spPr>
          <a:xfrm>
            <a:off x="8258861" y="2231136"/>
            <a:ext cx="3347618" cy="146304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Uma empresa de software analisa comentários de usuários sobre uma nova atualização.</a:t>
            </a:r>
            <a:endParaRPr lang="en-US" sz="1300" dirty="0"/>
          </a:p>
        </p:txBody>
      </p:sp>
      <p:sp>
        <p:nvSpPr>
          <p:cNvPr id="33" name="Shape 31"/>
          <p:cNvSpPr/>
          <p:nvPr/>
        </p:nvSpPr>
        <p:spPr>
          <a:xfrm>
            <a:off x="621792" y="4023360"/>
            <a:ext cx="3603650" cy="2286000"/>
          </a:xfrm>
          <a:prstGeom prst="roundRect">
            <a:avLst>
              <a:gd name="adj" fmla="val 4000"/>
            </a:avLst>
          </a:prstGeom>
          <a:solidFill>
            <a:srgbClr val="000000"/>
          </a:solidFill>
          <a:ln/>
        </p:spPr>
      </p:sp>
      <p:sp>
        <p:nvSpPr>
          <p:cNvPr id="34" name="Shape 32"/>
          <p:cNvSpPr/>
          <p:nvPr/>
        </p:nvSpPr>
        <p:spPr>
          <a:xfrm>
            <a:off x="594360" y="3986784"/>
            <a:ext cx="3603650" cy="2286000"/>
          </a:xfrm>
          <a:prstGeom prst="roundRect">
            <a:avLst>
              <a:gd name="adj" fmla="val 4000"/>
            </a:avLst>
          </a:prstGeom>
          <a:solidFill>
            <a:srgbClr val="141E34"/>
          </a:solidFill>
          <a:ln/>
        </p:spPr>
      </p:sp>
      <p:sp>
        <p:nvSpPr>
          <p:cNvPr id="35" name="Shape 33"/>
          <p:cNvSpPr/>
          <p:nvPr/>
        </p:nvSpPr>
        <p:spPr>
          <a:xfrm>
            <a:off x="594360" y="3986784"/>
            <a:ext cx="3603650" cy="45720"/>
          </a:xfrm>
          <a:prstGeom prst="rect">
            <a:avLst>
              <a:gd name="adj" fmla="val 200000"/>
            </a:avLst>
          </a:prstGeom>
          <a:solidFill>
            <a:srgbClr val="F59E0B"/>
          </a:solidFill>
          <a:ln/>
        </p:spPr>
      </p:sp>
      <p:sp>
        <p:nvSpPr>
          <p:cNvPr id="36" name="Text 34"/>
          <p:cNvSpPr/>
          <p:nvPr/>
        </p:nvSpPr>
        <p:spPr>
          <a:xfrm>
            <a:off x="3603650" y="4078224"/>
            <a:ext cx="502920" cy="365760"/>
          </a:xfrm>
          <a:prstGeom prst="rect">
            <a:avLst/>
          </a:prstGeom>
          <a:noFill/>
          <a:ln/>
        </p:spPr>
        <p:txBody>
          <a:bodyPr wrap="square" rtlCol="0" anchor="ctr"/>
          <a:lstStyle/>
          <a:p>
            <a:pPr algn="r" indent="0" marL="0">
              <a:buNone/>
            </a:pPr>
            <a:r>
              <a:rPr lang="en-US" sz="2400" b="1" dirty="0">
                <a:solidFill>
                  <a:srgbClr val="F59E0B">
                    <a:alpha val="75000"/>
                  </a:srgbClr>
                </a:solidFill>
                <a:latin typeface="Montserrat" pitchFamily="34" charset="0"/>
                <a:ea typeface="Montserrat" pitchFamily="34" charset="-122"/>
                <a:cs typeface="Montserrat" pitchFamily="34" charset="-120"/>
              </a:rPr>
              <a:t>04</a:t>
            </a:r>
            <a:endParaRPr lang="en-US" sz="2400" dirty="0"/>
          </a:p>
        </p:txBody>
      </p:sp>
      <p:sp>
        <p:nvSpPr>
          <p:cNvPr id="37" name="Text 35"/>
          <p:cNvSpPr/>
          <p:nvPr/>
        </p:nvSpPr>
        <p:spPr>
          <a:xfrm>
            <a:off x="722376" y="4133088"/>
            <a:ext cx="2835554" cy="201168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A IA detecta rapidamente reclamações sobre uma função específica, alertando a equipe de desenvolvimento para revisá-la.</a:t>
            </a:r>
            <a:endParaRPr lang="en-US" sz="1300" dirty="0"/>
          </a:p>
        </p:txBody>
      </p:sp>
      <p:sp>
        <p:nvSpPr>
          <p:cNvPr id="38" name="Shape 36"/>
          <p:cNvSpPr/>
          <p:nvPr/>
        </p:nvSpPr>
        <p:spPr>
          <a:xfrm>
            <a:off x="4390034" y="4023360"/>
            <a:ext cx="3603650" cy="2286000"/>
          </a:xfrm>
          <a:prstGeom prst="roundRect">
            <a:avLst>
              <a:gd name="adj" fmla="val 4000"/>
            </a:avLst>
          </a:prstGeom>
          <a:solidFill>
            <a:srgbClr val="000000"/>
          </a:solidFill>
          <a:ln/>
        </p:spPr>
      </p:sp>
      <p:sp>
        <p:nvSpPr>
          <p:cNvPr id="39" name="Shape 37"/>
          <p:cNvSpPr/>
          <p:nvPr/>
        </p:nvSpPr>
        <p:spPr>
          <a:xfrm>
            <a:off x="4362602" y="3986784"/>
            <a:ext cx="3603650" cy="2286000"/>
          </a:xfrm>
          <a:prstGeom prst="roundRect">
            <a:avLst>
              <a:gd name="adj" fmla="val 4000"/>
            </a:avLst>
          </a:prstGeom>
          <a:solidFill>
            <a:srgbClr val="141E34"/>
          </a:solidFill>
          <a:ln/>
        </p:spPr>
      </p:sp>
      <p:sp>
        <p:nvSpPr>
          <p:cNvPr id="40" name="Shape 38"/>
          <p:cNvSpPr/>
          <p:nvPr/>
        </p:nvSpPr>
        <p:spPr>
          <a:xfrm>
            <a:off x="4362602" y="3986784"/>
            <a:ext cx="3603650" cy="45720"/>
          </a:xfrm>
          <a:prstGeom prst="rect">
            <a:avLst>
              <a:gd name="adj" fmla="val 200000"/>
            </a:avLst>
          </a:prstGeom>
          <a:solidFill>
            <a:srgbClr val="06B6D4"/>
          </a:solidFill>
          <a:ln/>
        </p:spPr>
      </p:sp>
      <p:sp>
        <p:nvSpPr>
          <p:cNvPr id="41" name="Shape 39"/>
          <p:cNvSpPr/>
          <p:nvPr/>
        </p:nvSpPr>
        <p:spPr>
          <a:xfrm>
            <a:off x="4472330" y="4151376"/>
            <a:ext cx="384048" cy="384048"/>
          </a:xfrm>
          <a:prstGeom prst="roundRect">
            <a:avLst>
              <a:gd name="adj" fmla="val 19048"/>
            </a:avLst>
          </a:prstGeom>
          <a:solidFill>
            <a:srgbClr val="06B6D4"/>
          </a:solidFill>
          <a:ln/>
        </p:spPr>
      </p:sp>
      <p:sp>
        <p:nvSpPr>
          <p:cNvPr id="42" name="Text 40"/>
          <p:cNvSpPr/>
          <p:nvPr/>
        </p:nvSpPr>
        <p:spPr>
          <a:xfrm>
            <a:off x="4472330" y="4151376"/>
            <a:ext cx="384048" cy="384048"/>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5</a:t>
            </a:r>
            <a:endParaRPr lang="en-US" sz="1600" dirty="0"/>
          </a:p>
        </p:txBody>
      </p:sp>
      <p:sp>
        <p:nvSpPr>
          <p:cNvPr id="43" name="Text 41"/>
          <p:cNvSpPr/>
          <p:nvPr/>
        </p:nvSpPr>
        <p:spPr>
          <a:xfrm>
            <a:off x="4947818" y="4114800"/>
            <a:ext cx="2890418" cy="457200"/>
          </a:xfrm>
          <a:prstGeom prst="rect">
            <a:avLst/>
          </a:prstGeom>
          <a:noFill/>
          <a:ln/>
        </p:spPr>
        <p:txBody>
          <a:bodyPr wrap="square" rtlCol="0" anchor="ctr"/>
          <a:lstStyle/>
          <a:p>
            <a:pPr indent="0" marL="0">
              <a:buNone/>
            </a:pPr>
            <a:r>
              <a:rPr lang="en-US" sz="1500" b="1" dirty="0">
                <a:solidFill>
                  <a:srgbClr val="06B6D4"/>
                </a:solidFill>
                <a:latin typeface="Montserrat" pitchFamily="34" charset="0"/>
                <a:ea typeface="Montserrat" pitchFamily="34" charset="-122"/>
                <a:cs typeface="Montserrat" pitchFamily="34" charset="-120"/>
              </a:rPr>
              <a:t>Engajamento em Streaming</a:t>
            </a:r>
            <a:endParaRPr lang="en-US" sz="1500" dirty="0"/>
          </a:p>
        </p:txBody>
      </p:sp>
      <p:sp>
        <p:nvSpPr>
          <p:cNvPr id="44" name="Shape 42"/>
          <p:cNvSpPr/>
          <p:nvPr/>
        </p:nvSpPr>
        <p:spPr>
          <a:xfrm>
            <a:off x="4472330" y="4626864"/>
            <a:ext cx="3384194" cy="3658"/>
          </a:xfrm>
          <a:prstGeom prst="rect">
            <a:avLst/>
          </a:prstGeom>
          <a:solidFill>
            <a:srgbClr val="222E48"/>
          </a:solidFill>
          <a:ln/>
        </p:spPr>
      </p:sp>
      <p:sp>
        <p:nvSpPr>
          <p:cNvPr id="45" name="Text 43"/>
          <p:cNvSpPr/>
          <p:nvPr/>
        </p:nvSpPr>
        <p:spPr>
          <a:xfrm>
            <a:off x="4490618" y="4681728"/>
            <a:ext cx="3347618" cy="146304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Plataformas como Netflix usam IA para recomendar filmes e séries.</a:t>
            </a:r>
            <a:endParaRPr lang="en-US" sz="1300" dirty="0"/>
          </a:p>
        </p:txBody>
      </p:sp>
      <p:sp>
        <p:nvSpPr>
          <p:cNvPr id="46" name="Shape 44"/>
          <p:cNvSpPr/>
          <p:nvPr/>
        </p:nvSpPr>
        <p:spPr>
          <a:xfrm>
            <a:off x="8158277" y="4023360"/>
            <a:ext cx="3603650" cy="2286000"/>
          </a:xfrm>
          <a:prstGeom prst="roundRect">
            <a:avLst>
              <a:gd name="adj" fmla="val 4000"/>
            </a:avLst>
          </a:prstGeom>
          <a:solidFill>
            <a:srgbClr val="000000"/>
          </a:solidFill>
          <a:ln/>
        </p:spPr>
      </p:sp>
      <p:sp>
        <p:nvSpPr>
          <p:cNvPr id="47" name="Shape 45"/>
          <p:cNvSpPr/>
          <p:nvPr/>
        </p:nvSpPr>
        <p:spPr>
          <a:xfrm>
            <a:off x="8130845" y="3986784"/>
            <a:ext cx="3603650" cy="2286000"/>
          </a:xfrm>
          <a:prstGeom prst="roundRect">
            <a:avLst>
              <a:gd name="adj" fmla="val 4000"/>
            </a:avLst>
          </a:prstGeom>
          <a:solidFill>
            <a:srgbClr val="141E34"/>
          </a:solidFill>
          <a:ln/>
        </p:spPr>
      </p:sp>
      <p:sp>
        <p:nvSpPr>
          <p:cNvPr id="48" name="Shape 46"/>
          <p:cNvSpPr/>
          <p:nvPr/>
        </p:nvSpPr>
        <p:spPr>
          <a:xfrm>
            <a:off x="8130845" y="3986784"/>
            <a:ext cx="3603650" cy="45720"/>
          </a:xfrm>
          <a:prstGeom prst="rect">
            <a:avLst>
              <a:gd name="adj" fmla="val 200000"/>
            </a:avLst>
          </a:prstGeom>
          <a:solidFill>
            <a:srgbClr val="6C63FF"/>
          </a:solidFill>
          <a:ln/>
        </p:spPr>
      </p:sp>
      <p:sp>
        <p:nvSpPr>
          <p:cNvPr id="49" name="Text 47"/>
          <p:cNvSpPr/>
          <p:nvPr/>
        </p:nvSpPr>
        <p:spPr>
          <a:xfrm>
            <a:off x="11140135" y="4078224"/>
            <a:ext cx="502920" cy="365760"/>
          </a:xfrm>
          <a:prstGeom prst="rect">
            <a:avLst/>
          </a:prstGeom>
          <a:noFill/>
          <a:ln/>
        </p:spPr>
        <p:txBody>
          <a:bodyPr wrap="square" rtlCol="0" anchor="ctr"/>
          <a:lstStyle/>
          <a:p>
            <a:pPr algn="r" indent="0" marL="0">
              <a:buNone/>
            </a:pPr>
            <a:r>
              <a:rPr lang="en-US" sz="2400" b="1" dirty="0">
                <a:solidFill>
                  <a:srgbClr val="6C63FF">
                    <a:alpha val="75000"/>
                  </a:srgbClr>
                </a:solidFill>
                <a:latin typeface="Montserrat" pitchFamily="34" charset="0"/>
                <a:ea typeface="Montserrat" pitchFamily="34" charset="-122"/>
                <a:cs typeface="Montserrat" pitchFamily="34" charset="-120"/>
              </a:rPr>
              <a:t>06</a:t>
            </a:r>
            <a:endParaRPr lang="en-US" sz="2400" dirty="0"/>
          </a:p>
        </p:txBody>
      </p:sp>
      <p:sp>
        <p:nvSpPr>
          <p:cNvPr id="50" name="Text 48"/>
          <p:cNvSpPr/>
          <p:nvPr/>
        </p:nvSpPr>
        <p:spPr>
          <a:xfrm>
            <a:off x="8258861" y="4133088"/>
            <a:ext cx="2835554" cy="201168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As recomendações são baseadas no histórico de visualizações e classificações do usuário, mantendo o cliente engajado.</a:t>
            </a:r>
            <a:endParaRPr lang="en-US" sz="1300" dirty="0"/>
          </a:p>
        </p:txBody>
      </p:sp>
      <p:sp>
        <p:nvSpPr>
          <p:cNvPr id="51" name="Shape 49"/>
          <p:cNvSpPr/>
          <p:nvPr/>
        </p:nvSpPr>
        <p:spPr>
          <a:xfrm>
            <a:off x="0" y="6601968"/>
            <a:ext cx="2041093" cy="4572"/>
          </a:xfrm>
          <a:prstGeom prst="rect">
            <a:avLst/>
          </a:prstGeom>
          <a:solidFill>
            <a:srgbClr val="6C63FF"/>
          </a:solidFill>
          <a:ln/>
        </p:spPr>
      </p:sp>
      <p:sp>
        <p:nvSpPr>
          <p:cNvPr id="52" name="Shape 50"/>
          <p:cNvSpPr/>
          <p:nvPr/>
        </p:nvSpPr>
        <p:spPr>
          <a:xfrm>
            <a:off x="2031949" y="6601968"/>
            <a:ext cx="2041093" cy="4572"/>
          </a:xfrm>
          <a:prstGeom prst="rect">
            <a:avLst/>
          </a:prstGeom>
          <a:solidFill>
            <a:srgbClr val="6C63FF"/>
          </a:solidFill>
          <a:ln/>
        </p:spPr>
      </p:sp>
      <p:sp>
        <p:nvSpPr>
          <p:cNvPr id="53" name="Shape 51"/>
          <p:cNvSpPr/>
          <p:nvPr/>
        </p:nvSpPr>
        <p:spPr>
          <a:xfrm>
            <a:off x="4063898" y="6601968"/>
            <a:ext cx="2041093" cy="4572"/>
          </a:xfrm>
          <a:prstGeom prst="rect">
            <a:avLst/>
          </a:prstGeom>
          <a:solidFill>
            <a:srgbClr val="6C63FF"/>
          </a:solidFill>
          <a:ln/>
        </p:spPr>
      </p:sp>
      <p:sp>
        <p:nvSpPr>
          <p:cNvPr id="54" name="Shape 52"/>
          <p:cNvSpPr/>
          <p:nvPr/>
        </p:nvSpPr>
        <p:spPr>
          <a:xfrm>
            <a:off x="6095848" y="6601968"/>
            <a:ext cx="2041093" cy="4572"/>
          </a:xfrm>
          <a:prstGeom prst="rect">
            <a:avLst/>
          </a:prstGeom>
          <a:solidFill>
            <a:srgbClr val="6C63FF"/>
          </a:solidFill>
          <a:ln/>
        </p:spPr>
      </p:sp>
      <p:sp>
        <p:nvSpPr>
          <p:cNvPr id="55" name="Shape 53"/>
          <p:cNvSpPr/>
          <p:nvPr/>
        </p:nvSpPr>
        <p:spPr>
          <a:xfrm>
            <a:off x="8127797" y="6601968"/>
            <a:ext cx="2041093" cy="4572"/>
          </a:xfrm>
          <a:prstGeom prst="rect">
            <a:avLst/>
          </a:prstGeom>
          <a:solidFill>
            <a:srgbClr val="6C63FF"/>
          </a:solidFill>
          <a:ln/>
        </p:spPr>
      </p:sp>
      <p:sp>
        <p:nvSpPr>
          <p:cNvPr id="56" name="Shape 54"/>
          <p:cNvSpPr/>
          <p:nvPr/>
        </p:nvSpPr>
        <p:spPr>
          <a:xfrm>
            <a:off x="10159746" y="6601968"/>
            <a:ext cx="2041093" cy="4572"/>
          </a:xfrm>
          <a:prstGeom prst="rect">
            <a:avLst/>
          </a:prstGeom>
          <a:solidFill>
            <a:srgbClr val="6C63FF"/>
          </a:solidFill>
          <a:ln/>
        </p:spPr>
      </p:sp>
      <p:sp>
        <p:nvSpPr>
          <p:cNvPr id="57" name="Shape 55"/>
          <p:cNvSpPr/>
          <p:nvPr/>
        </p:nvSpPr>
        <p:spPr>
          <a:xfrm>
            <a:off x="0" y="6606540"/>
            <a:ext cx="12191695" cy="2743"/>
          </a:xfrm>
          <a:prstGeom prst="rect">
            <a:avLst/>
          </a:prstGeom>
          <a:solidFill>
            <a:srgbClr val="222E48"/>
          </a:solidFill>
          <a:ln/>
        </p:spPr>
      </p:sp>
      <p:sp>
        <p:nvSpPr>
          <p:cNvPr id="58" name="Text 56"/>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59" name="Shape 57"/>
          <p:cNvSpPr/>
          <p:nvPr/>
        </p:nvSpPr>
        <p:spPr>
          <a:xfrm>
            <a:off x="10436047" y="6693408"/>
            <a:ext cx="73152" cy="73152"/>
          </a:xfrm>
          <a:prstGeom prst="ellipse">
            <a:avLst/>
          </a:prstGeom>
          <a:solidFill>
            <a:srgbClr val="6C63FF"/>
          </a:solidFill>
          <a:ln/>
        </p:spPr>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C0392B"/>
          </a:solidFill>
          <a:ln/>
        </p:spPr>
      </p:sp>
      <p:sp>
        <p:nvSpPr>
          <p:cNvPr id="3" name="Shape 1"/>
          <p:cNvSpPr/>
          <p:nvPr/>
        </p:nvSpPr>
        <p:spPr>
          <a:xfrm>
            <a:off x="64008" y="0"/>
            <a:ext cx="18288" cy="6858000"/>
          </a:xfrm>
          <a:prstGeom prst="rect">
            <a:avLst/>
          </a:prstGeom>
          <a:solidFill>
            <a:srgbClr val="C0392B"/>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C0392B"/>
                </a:solidFill>
                <a:latin typeface="Open Sans" pitchFamily="34" charset="0"/>
                <a:ea typeface="Open Sans" pitchFamily="34" charset="-122"/>
                <a:cs typeface="Open Sans" pitchFamily="34" charset="-120"/>
              </a:rPr>
              <a:t>DESAFIOS E CUIDADOS</a:t>
            </a:r>
            <a:endParaRPr lang="en-US" sz="900" dirty="0"/>
          </a:p>
        </p:txBody>
      </p:sp>
      <p:sp>
        <p:nvSpPr>
          <p:cNvPr id="5" name="Shape 3"/>
          <p:cNvSpPr/>
          <p:nvPr/>
        </p:nvSpPr>
        <p:spPr>
          <a:xfrm>
            <a:off x="502920" y="493776"/>
            <a:ext cx="640080" cy="21946"/>
          </a:xfrm>
          <a:prstGeom prst="rect">
            <a:avLst/>
          </a:prstGeom>
          <a:solidFill>
            <a:srgbClr val="C0392B"/>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Desafios e cuidados</a:t>
            </a:r>
            <a:endParaRPr lang="en-US" sz="2800" dirty="0"/>
          </a:p>
        </p:txBody>
      </p:sp>
      <p:sp>
        <p:nvSpPr>
          <p:cNvPr id="7" name="Shape 5"/>
          <p:cNvSpPr/>
          <p:nvPr/>
        </p:nvSpPr>
        <p:spPr>
          <a:xfrm>
            <a:off x="502920" y="1389888"/>
            <a:ext cx="11185855" cy="7315"/>
          </a:xfrm>
          <a:prstGeom prst="rect">
            <a:avLst/>
          </a:prstGeom>
          <a:solidFill>
            <a:srgbClr val="C0392B"/>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10820095" y="320040"/>
            <a:ext cx="731520" cy="731520"/>
          </a:xfrm>
          <a:prstGeom prst="roundRect">
            <a:avLst>
              <a:gd name="adj" fmla="val 15000"/>
            </a:avLst>
          </a:prstGeom>
          <a:solidFill>
            <a:srgbClr val="FEF2F2"/>
          </a:solidFill>
          <a:ln/>
        </p:spPr>
      </p:sp>
      <p:sp>
        <p:nvSpPr>
          <p:cNvPr id="10" name="Text 8"/>
          <p:cNvSpPr/>
          <p:nvPr/>
        </p:nvSpPr>
        <p:spPr>
          <a:xfrm>
            <a:off x="10820095" y="320040"/>
            <a:ext cx="731520" cy="73152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1" name="Shape 9"/>
          <p:cNvSpPr/>
          <p:nvPr/>
        </p:nvSpPr>
        <p:spPr>
          <a:xfrm>
            <a:off x="621792" y="1572768"/>
            <a:ext cx="11140135" cy="720852"/>
          </a:xfrm>
          <a:prstGeom prst="roundRect">
            <a:avLst>
              <a:gd name="adj" fmla="val 12685"/>
            </a:avLst>
          </a:prstGeom>
          <a:solidFill>
            <a:srgbClr val="000000"/>
          </a:solidFill>
          <a:ln/>
        </p:spPr>
      </p:sp>
      <p:sp>
        <p:nvSpPr>
          <p:cNvPr id="12" name="Shape 10"/>
          <p:cNvSpPr/>
          <p:nvPr/>
        </p:nvSpPr>
        <p:spPr>
          <a:xfrm>
            <a:off x="594360" y="1536192"/>
            <a:ext cx="11140135" cy="720852"/>
          </a:xfrm>
          <a:prstGeom prst="roundRect">
            <a:avLst>
              <a:gd name="adj" fmla="val 10148"/>
            </a:avLst>
          </a:prstGeom>
          <a:solidFill>
            <a:srgbClr val="FFF5F5"/>
          </a:solidFill>
          <a:ln/>
        </p:spPr>
      </p:sp>
      <p:sp>
        <p:nvSpPr>
          <p:cNvPr id="13" name="Shape 11"/>
          <p:cNvSpPr/>
          <p:nvPr/>
        </p:nvSpPr>
        <p:spPr>
          <a:xfrm>
            <a:off x="594360" y="1536192"/>
            <a:ext cx="54864" cy="720852"/>
          </a:xfrm>
          <a:prstGeom prst="rect">
            <a:avLst>
              <a:gd name="adj" fmla="val 133333"/>
            </a:avLst>
          </a:prstGeom>
          <a:solidFill>
            <a:srgbClr val="E74C3C"/>
          </a:solidFill>
          <a:ln/>
        </p:spPr>
      </p:sp>
      <p:sp>
        <p:nvSpPr>
          <p:cNvPr id="14" name="Text 12"/>
          <p:cNvSpPr/>
          <p:nvPr/>
        </p:nvSpPr>
        <p:spPr>
          <a:xfrm>
            <a:off x="795528" y="1563624"/>
            <a:ext cx="10865815" cy="665988"/>
          </a:xfrm>
          <a:prstGeom prst="rect">
            <a:avLst/>
          </a:prstGeom>
          <a:noFill/>
          <a:ln/>
        </p:spPr>
        <p:txBody>
          <a:bodyPr wrap="square" rtlCol="0" anchor="ctr"/>
          <a:lstStyle/>
          <a:p>
            <a:pPr indent="0" marL="0">
              <a:lnSpc>
                <a:spcPct val="120000"/>
              </a:lnSpc>
              <a:buNone/>
            </a:pPr>
            <a:r>
              <a:rPr lang="en-US" sz="1600" dirty="0">
                <a:solidFill>
                  <a:srgbClr val="E8EDF5"/>
                </a:solidFill>
                <a:latin typeface="Open Sans" pitchFamily="34" charset="0"/>
                <a:ea typeface="Open Sans" pitchFamily="34" charset="-122"/>
                <a:cs typeface="Open Sans" pitchFamily="34" charset="-120"/>
              </a:rPr>
              <a:t>Qualidade dos Dados: A precisão das análises da IA depende da qualidade dos dados de entrada. Dados imprecisos resultam em percepções distorcidos.</a:t>
            </a:r>
            <a:endParaRPr lang="en-US" sz="1600" dirty="0"/>
          </a:p>
        </p:txBody>
      </p:sp>
      <p:sp>
        <p:nvSpPr>
          <p:cNvPr id="15" name="Shape 13"/>
          <p:cNvSpPr/>
          <p:nvPr/>
        </p:nvSpPr>
        <p:spPr>
          <a:xfrm>
            <a:off x="621792" y="2403348"/>
            <a:ext cx="11140135" cy="720852"/>
          </a:xfrm>
          <a:prstGeom prst="roundRect">
            <a:avLst>
              <a:gd name="adj" fmla="val 12685"/>
            </a:avLst>
          </a:prstGeom>
          <a:solidFill>
            <a:srgbClr val="000000"/>
          </a:solidFill>
          <a:ln/>
        </p:spPr>
      </p:sp>
      <p:sp>
        <p:nvSpPr>
          <p:cNvPr id="16" name="Shape 14"/>
          <p:cNvSpPr/>
          <p:nvPr/>
        </p:nvSpPr>
        <p:spPr>
          <a:xfrm>
            <a:off x="594360" y="2366772"/>
            <a:ext cx="11140135" cy="720852"/>
          </a:xfrm>
          <a:prstGeom prst="roundRect">
            <a:avLst>
              <a:gd name="adj" fmla="val 10148"/>
            </a:avLst>
          </a:prstGeom>
          <a:solidFill>
            <a:srgbClr val="141E34"/>
          </a:solidFill>
          <a:ln/>
        </p:spPr>
      </p:sp>
      <p:sp>
        <p:nvSpPr>
          <p:cNvPr id="17" name="Shape 15"/>
          <p:cNvSpPr/>
          <p:nvPr/>
        </p:nvSpPr>
        <p:spPr>
          <a:xfrm>
            <a:off x="594360" y="2366772"/>
            <a:ext cx="54864" cy="720852"/>
          </a:xfrm>
          <a:prstGeom prst="rect">
            <a:avLst>
              <a:gd name="adj" fmla="val 133333"/>
            </a:avLst>
          </a:prstGeom>
          <a:solidFill>
            <a:srgbClr val="E74C3C"/>
          </a:solidFill>
          <a:ln/>
        </p:spPr>
      </p:sp>
      <p:sp>
        <p:nvSpPr>
          <p:cNvPr id="18" name="Text 16"/>
          <p:cNvSpPr/>
          <p:nvPr/>
        </p:nvSpPr>
        <p:spPr>
          <a:xfrm>
            <a:off x="795528" y="2394204"/>
            <a:ext cx="10865815" cy="665988"/>
          </a:xfrm>
          <a:prstGeom prst="rect">
            <a:avLst/>
          </a:prstGeom>
          <a:noFill/>
          <a:ln/>
        </p:spPr>
        <p:txBody>
          <a:bodyPr wrap="square" rtlCol="0" anchor="ctr"/>
          <a:lstStyle/>
          <a:p>
            <a:pPr indent="0" marL="0">
              <a:lnSpc>
                <a:spcPct val="120000"/>
              </a:lnSpc>
              <a:buNone/>
            </a:pPr>
            <a:r>
              <a:rPr lang="en-US" sz="1600" dirty="0">
                <a:solidFill>
                  <a:srgbClr val="E8EDF5"/>
                </a:solidFill>
                <a:latin typeface="Open Sans" pitchFamily="34" charset="0"/>
                <a:ea typeface="Open Sans" pitchFamily="34" charset="-122"/>
                <a:cs typeface="Open Sans" pitchFamily="34" charset="-120"/>
              </a:rPr>
              <a:t>Viés Algorítmico: Algoritmos podem perpetuar ou ampliar vieses existentes nos dados. Isso pode levar a experiências de cliente injustas ou ineficazes.</a:t>
            </a:r>
            <a:endParaRPr lang="en-US" sz="1600" dirty="0"/>
          </a:p>
        </p:txBody>
      </p:sp>
      <p:sp>
        <p:nvSpPr>
          <p:cNvPr id="19" name="Shape 17"/>
          <p:cNvSpPr/>
          <p:nvPr/>
        </p:nvSpPr>
        <p:spPr>
          <a:xfrm>
            <a:off x="621792" y="3233928"/>
            <a:ext cx="11140135" cy="720852"/>
          </a:xfrm>
          <a:prstGeom prst="roundRect">
            <a:avLst>
              <a:gd name="adj" fmla="val 12685"/>
            </a:avLst>
          </a:prstGeom>
          <a:solidFill>
            <a:srgbClr val="000000"/>
          </a:solidFill>
          <a:ln/>
        </p:spPr>
      </p:sp>
      <p:sp>
        <p:nvSpPr>
          <p:cNvPr id="20" name="Shape 18"/>
          <p:cNvSpPr/>
          <p:nvPr/>
        </p:nvSpPr>
        <p:spPr>
          <a:xfrm>
            <a:off x="594360" y="3197352"/>
            <a:ext cx="11140135" cy="720852"/>
          </a:xfrm>
          <a:prstGeom prst="roundRect">
            <a:avLst>
              <a:gd name="adj" fmla="val 10148"/>
            </a:avLst>
          </a:prstGeom>
          <a:solidFill>
            <a:srgbClr val="FFF5F5"/>
          </a:solidFill>
          <a:ln/>
        </p:spPr>
      </p:sp>
      <p:sp>
        <p:nvSpPr>
          <p:cNvPr id="21" name="Shape 19"/>
          <p:cNvSpPr/>
          <p:nvPr/>
        </p:nvSpPr>
        <p:spPr>
          <a:xfrm>
            <a:off x="594360" y="3197352"/>
            <a:ext cx="54864" cy="720852"/>
          </a:xfrm>
          <a:prstGeom prst="rect">
            <a:avLst>
              <a:gd name="adj" fmla="val 133333"/>
            </a:avLst>
          </a:prstGeom>
          <a:solidFill>
            <a:srgbClr val="E74C3C"/>
          </a:solidFill>
          <a:ln/>
        </p:spPr>
      </p:sp>
      <p:sp>
        <p:nvSpPr>
          <p:cNvPr id="22" name="Text 20"/>
          <p:cNvSpPr/>
          <p:nvPr/>
        </p:nvSpPr>
        <p:spPr>
          <a:xfrm>
            <a:off x="795528" y="3224784"/>
            <a:ext cx="10865815" cy="665988"/>
          </a:xfrm>
          <a:prstGeom prst="rect">
            <a:avLst/>
          </a:prstGeom>
          <a:noFill/>
          <a:ln/>
        </p:spPr>
        <p:txBody>
          <a:bodyPr wrap="square" rtlCol="0" anchor="ctr"/>
          <a:lstStyle/>
          <a:p>
            <a:pPr indent="0" marL="0">
              <a:lnSpc>
                <a:spcPct val="120000"/>
              </a:lnSpc>
              <a:buNone/>
            </a:pPr>
            <a:r>
              <a:rPr lang="en-US" sz="1600" dirty="0">
                <a:solidFill>
                  <a:srgbClr val="E8EDF5"/>
                </a:solidFill>
                <a:latin typeface="Open Sans" pitchFamily="34" charset="0"/>
                <a:ea typeface="Open Sans" pitchFamily="34" charset="-122"/>
                <a:cs typeface="Open Sans" pitchFamily="34" charset="-120"/>
              </a:rPr>
              <a:t>Manutenção do Toque Humano: Embora a IA automatize, o equilíbrio com a interação humana é crucial. A empatia e o cuidado humano são insubstituíveis em certas situações.</a:t>
            </a:r>
            <a:endParaRPr lang="en-US" sz="1600" dirty="0"/>
          </a:p>
        </p:txBody>
      </p:sp>
      <p:sp>
        <p:nvSpPr>
          <p:cNvPr id="23" name="Shape 21"/>
          <p:cNvSpPr/>
          <p:nvPr/>
        </p:nvSpPr>
        <p:spPr>
          <a:xfrm>
            <a:off x="621792" y="4064508"/>
            <a:ext cx="11140135" cy="720852"/>
          </a:xfrm>
          <a:prstGeom prst="roundRect">
            <a:avLst>
              <a:gd name="adj" fmla="val 12685"/>
            </a:avLst>
          </a:prstGeom>
          <a:solidFill>
            <a:srgbClr val="000000"/>
          </a:solidFill>
          <a:ln/>
        </p:spPr>
      </p:sp>
      <p:sp>
        <p:nvSpPr>
          <p:cNvPr id="24" name="Shape 22"/>
          <p:cNvSpPr/>
          <p:nvPr/>
        </p:nvSpPr>
        <p:spPr>
          <a:xfrm>
            <a:off x="594360" y="4027932"/>
            <a:ext cx="11140135" cy="720852"/>
          </a:xfrm>
          <a:prstGeom prst="roundRect">
            <a:avLst>
              <a:gd name="adj" fmla="val 10148"/>
            </a:avLst>
          </a:prstGeom>
          <a:solidFill>
            <a:srgbClr val="141E34"/>
          </a:solidFill>
          <a:ln/>
        </p:spPr>
      </p:sp>
      <p:sp>
        <p:nvSpPr>
          <p:cNvPr id="25" name="Shape 23"/>
          <p:cNvSpPr/>
          <p:nvPr/>
        </p:nvSpPr>
        <p:spPr>
          <a:xfrm>
            <a:off x="594360" y="4027932"/>
            <a:ext cx="54864" cy="720852"/>
          </a:xfrm>
          <a:prstGeom prst="rect">
            <a:avLst>
              <a:gd name="adj" fmla="val 133333"/>
            </a:avLst>
          </a:prstGeom>
          <a:solidFill>
            <a:srgbClr val="E74C3C"/>
          </a:solidFill>
          <a:ln/>
        </p:spPr>
      </p:sp>
      <p:sp>
        <p:nvSpPr>
          <p:cNvPr id="26" name="Text 24"/>
          <p:cNvSpPr/>
          <p:nvPr/>
        </p:nvSpPr>
        <p:spPr>
          <a:xfrm>
            <a:off x="795528" y="4055364"/>
            <a:ext cx="10865815" cy="665988"/>
          </a:xfrm>
          <a:prstGeom prst="rect">
            <a:avLst/>
          </a:prstGeom>
          <a:noFill/>
          <a:ln/>
        </p:spPr>
        <p:txBody>
          <a:bodyPr wrap="square" rtlCol="0" anchor="ctr"/>
          <a:lstStyle/>
          <a:p>
            <a:pPr indent="0" marL="0">
              <a:lnSpc>
                <a:spcPct val="120000"/>
              </a:lnSpc>
              <a:buNone/>
            </a:pPr>
            <a:r>
              <a:rPr lang="en-US" sz="1600" dirty="0">
                <a:solidFill>
                  <a:srgbClr val="E8EDF5"/>
                </a:solidFill>
                <a:latin typeface="Open Sans" pitchFamily="34" charset="0"/>
                <a:ea typeface="Open Sans" pitchFamily="34" charset="-122"/>
                <a:cs typeface="Open Sans" pitchFamily="34" charset="-120"/>
              </a:rPr>
              <a:t>Privacidade do Cliente: O uso de IA para coletar e analisar dados levanta questões de privacidade. É fundamental garantir conformidade com regulamentações como a LGPD.</a:t>
            </a:r>
            <a:endParaRPr lang="en-US" sz="1600" dirty="0"/>
          </a:p>
        </p:txBody>
      </p:sp>
      <p:sp>
        <p:nvSpPr>
          <p:cNvPr id="27" name="Shape 25"/>
          <p:cNvSpPr/>
          <p:nvPr/>
        </p:nvSpPr>
        <p:spPr>
          <a:xfrm>
            <a:off x="621792" y="4895088"/>
            <a:ext cx="11140135" cy="720852"/>
          </a:xfrm>
          <a:prstGeom prst="roundRect">
            <a:avLst>
              <a:gd name="adj" fmla="val 12685"/>
            </a:avLst>
          </a:prstGeom>
          <a:solidFill>
            <a:srgbClr val="000000"/>
          </a:solidFill>
          <a:ln/>
        </p:spPr>
      </p:sp>
      <p:sp>
        <p:nvSpPr>
          <p:cNvPr id="28" name="Shape 26"/>
          <p:cNvSpPr/>
          <p:nvPr/>
        </p:nvSpPr>
        <p:spPr>
          <a:xfrm>
            <a:off x="594360" y="4858512"/>
            <a:ext cx="11140135" cy="720852"/>
          </a:xfrm>
          <a:prstGeom prst="roundRect">
            <a:avLst>
              <a:gd name="adj" fmla="val 10148"/>
            </a:avLst>
          </a:prstGeom>
          <a:solidFill>
            <a:srgbClr val="FFF5F5"/>
          </a:solidFill>
          <a:ln/>
        </p:spPr>
      </p:sp>
      <p:sp>
        <p:nvSpPr>
          <p:cNvPr id="29" name="Shape 27"/>
          <p:cNvSpPr/>
          <p:nvPr/>
        </p:nvSpPr>
        <p:spPr>
          <a:xfrm>
            <a:off x="594360" y="4858512"/>
            <a:ext cx="54864" cy="720852"/>
          </a:xfrm>
          <a:prstGeom prst="rect">
            <a:avLst>
              <a:gd name="adj" fmla="val 133333"/>
            </a:avLst>
          </a:prstGeom>
          <a:solidFill>
            <a:srgbClr val="E74C3C"/>
          </a:solidFill>
          <a:ln/>
        </p:spPr>
      </p:sp>
      <p:sp>
        <p:nvSpPr>
          <p:cNvPr id="30" name="Text 28"/>
          <p:cNvSpPr/>
          <p:nvPr/>
        </p:nvSpPr>
        <p:spPr>
          <a:xfrm>
            <a:off x="795528" y="4885944"/>
            <a:ext cx="10865815" cy="665988"/>
          </a:xfrm>
          <a:prstGeom prst="rect">
            <a:avLst/>
          </a:prstGeom>
          <a:noFill/>
          <a:ln/>
        </p:spPr>
        <p:txBody>
          <a:bodyPr wrap="square" rtlCol="0" anchor="ctr"/>
          <a:lstStyle/>
          <a:p>
            <a:pPr indent="0" marL="0">
              <a:lnSpc>
                <a:spcPct val="120000"/>
              </a:lnSpc>
              <a:buNone/>
            </a:pPr>
            <a:r>
              <a:rPr lang="en-US" sz="1600" dirty="0">
                <a:solidFill>
                  <a:srgbClr val="E8EDF5"/>
                </a:solidFill>
                <a:latin typeface="Open Sans" pitchFamily="34" charset="0"/>
                <a:ea typeface="Open Sans" pitchFamily="34" charset="-122"/>
                <a:cs typeface="Open Sans" pitchFamily="34" charset="-120"/>
              </a:rPr>
              <a:t>Super-Automação: Automatizar demais pode remover oportunidades de conexão humana. Isso pode afetar negativamente a percepção de valor do cliente.</a:t>
            </a:r>
            <a:endParaRPr lang="en-US" sz="1600" dirty="0"/>
          </a:p>
        </p:txBody>
      </p:sp>
      <p:sp>
        <p:nvSpPr>
          <p:cNvPr id="31" name="Shape 29"/>
          <p:cNvSpPr/>
          <p:nvPr/>
        </p:nvSpPr>
        <p:spPr>
          <a:xfrm>
            <a:off x="621792" y="5725668"/>
            <a:ext cx="11140135" cy="720852"/>
          </a:xfrm>
          <a:prstGeom prst="roundRect">
            <a:avLst>
              <a:gd name="adj" fmla="val 12685"/>
            </a:avLst>
          </a:prstGeom>
          <a:solidFill>
            <a:srgbClr val="000000"/>
          </a:solidFill>
          <a:ln/>
        </p:spPr>
      </p:sp>
      <p:sp>
        <p:nvSpPr>
          <p:cNvPr id="32" name="Shape 30"/>
          <p:cNvSpPr/>
          <p:nvPr/>
        </p:nvSpPr>
        <p:spPr>
          <a:xfrm>
            <a:off x="594360" y="5689092"/>
            <a:ext cx="11140135" cy="720852"/>
          </a:xfrm>
          <a:prstGeom prst="roundRect">
            <a:avLst>
              <a:gd name="adj" fmla="val 10148"/>
            </a:avLst>
          </a:prstGeom>
          <a:solidFill>
            <a:srgbClr val="141E34"/>
          </a:solidFill>
          <a:ln/>
        </p:spPr>
      </p:sp>
      <p:sp>
        <p:nvSpPr>
          <p:cNvPr id="33" name="Shape 31"/>
          <p:cNvSpPr/>
          <p:nvPr/>
        </p:nvSpPr>
        <p:spPr>
          <a:xfrm>
            <a:off x="594360" y="5689092"/>
            <a:ext cx="54864" cy="720852"/>
          </a:xfrm>
          <a:prstGeom prst="rect">
            <a:avLst>
              <a:gd name="adj" fmla="val 133333"/>
            </a:avLst>
          </a:prstGeom>
          <a:solidFill>
            <a:srgbClr val="E74C3C"/>
          </a:solidFill>
          <a:ln/>
        </p:spPr>
      </p:sp>
      <p:sp>
        <p:nvSpPr>
          <p:cNvPr id="34" name="Text 32"/>
          <p:cNvSpPr/>
          <p:nvPr/>
        </p:nvSpPr>
        <p:spPr>
          <a:xfrm>
            <a:off x="795528" y="5716524"/>
            <a:ext cx="10865815" cy="665988"/>
          </a:xfrm>
          <a:prstGeom prst="rect">
            <a:avLst/>
          </a:prstGeom>
          <a:noFill/>
          <a:ln/>
        </p:spPr>
        <p:txBody>
          <a:bodyPr wrap="square" rtlCol="0" anchor="ctr"/>
          <a:lstStyle/>
          <a:p>
            <a:pPr indent="0" marL="0">
              <a:lnSpc>
                <a:spcPct val="120000"/>
              </a:lnSpc>
              <a:buNone/>
            </a:pPr>
            <a:r>
              <a:rPr lang="en-US" sz="1600" dirty="0">
                <a:solidFill>
                  <a:srgbClr val="E8EDF5"/>
                </a:solidFill>
                <a:latin typeface="Open Sans" pitchFamily="34" charset="0"/>
                <a:ea typeface="Open Sans" pitchFamily="34" charset="-122"/>
                <a:cs typeface="Open Sans" pitchFamily="34" charset="-120"/>
              </a:rPr>
              <a:t>💭 Pare um momento e reflita: Como as soluções de IA que você conheceu neste módulo poderiam ser aplicadas para resolver um desafio real de CX na sua área de atuação ou em uma empresa que você.</a:t>
            </a:r>
            <a:endParaRPr lang="en-US" sz="1600" dirty="0"/>
          </a:p>
        </p:txBody>
      </p:sp>
      <p:sp>
        <p:nvSpPr>
          <p:cNvPr id="35" name="Shape 33"/>
          <p:cNvSpPr/>
          <p:nvPr/>
        </p:nvSpPr>
        <p:spPr>
          <a:xfrm>
            <a:off x="0" y="6601968"/>
            <a:ext cx="2041093" cy="4572"/>
          </a:xfrm>
          <a:prstGeom prst="rect">
            <a:avLst/>
          </a:prstGeom>
          <a:solidFill>
            <a:srgbClr val="6C63FF"/>
          </a:solidFill>
          <a:ln/>
        </p:spPr>
      </p:sp>
      <p:sp>
        <p:nvSpPr>
          <p:cNvPr id="36" name="Shape 34"/>
          <p:cNvSpPr/>
          <p:nvPr/>
        </p:nvSpPr>
        <p:spPr>
          <a:xfrm>
            <a:off x="2031949" y="6601968"/>
            <a:ext cx="2041093" cy="4572"/>
          </a:xfrm>
          <a:prstGeom prst="rect">
            <a:avLst/>
          </a:prstGeom>
          <a:solidFill>
            <a:srgbClr val="6C63FF"/>
          </a:solidFill>
          <a:ln/>
        </p:spPr>
      </p:sp>
      <p:sp>
        <p:nvSpPr>
          <p:cNvPr id="37" name="Shape 35"/>
          <p:cNvSpPr/>
          <p:nvPr/>
        </p:nvSpPr>
        <p:spPr>
          <a:xfrm>
            <a:off x="4063898" y="6601968"/>
            <a:ext cx="2041093" cy="4572"/>
          </a:xfrm>
          <a:prstGeom prst="rect">
            <a:avLst/>
          </a:prstGeom>
          <a:solidFill>
            <a:srgbClr val="6C63FF"/>
          </a:solidFill>
          <a:ln/>
        </p:spPr>
      </p:sp>
      <p:sp>
        <p:nvSpPr>
          <p:cNvPr id="38" name="Shape 36"/>
          <p:cNvSpPr/>
          <p:nvPr/>
        </p:nvSpPr>
        <p:spPr>
          <a:xfrm>
            <a:off x="6095848" y="6601968"/>
            <a:ext cx="2041093" cy="4572"/>
          </a:xfrm>
          <a:prstGeom prst="rect">
            <a:avLst/>
          </a:prstGeom>
          <a:solidFill>
            <a:srgbClr val="6C63FF"/>
          </a:solidFill>
          <a:ln/>
        </p:spPr>
      </p:sp>
      <p:sp>
        <p:nvSpPr>
          <p:cNvPr id="39" name="Shape 37"/>
          <p:cNvSpPr/>
          <p:nvPr/>
        </p:nvSpPr>
        <p:spPr>
          <a:xfrm>
            <a:off x="8127797" y="6601968"/>
            <a:ext cx="2041093" cy="4572"/>
          </a:xfrm>
          <a:prstGeom prst="rect">
            <a:avLst/>
          </a:prstGeom>
          <a:solidFill>
            <a:srgbClr val="6C63FF"/>
          </a:solidFill>
          <a:ln/>
        </p:spPr>
      </p:sp>
      <p:sp>
        <p:nvSpPr>
          <p:cNvPr id="40" name="Shape 38"/>
          <p:cNvSpPr/>
          <p:nvPr/>
        </p:nvSpPr>
        <p:spPr>
          <a:xfrm>
            <a:off x="10159746" y="6601968"/>
            <a:ext cx="2041093" cy="4572"/>
          </a:xfrm>
          <a:prstGeom prst="rect">
            <a:avLst/>
          </a:prstGeom>
          <a:solidFill>
            <a:srgbClr val="6C63FF"/>
          </a:solidFill>
          <a:ln/>
        </p:spPr>
      </p:sp>
      <p:sp>
        <p:nvSpPr>
          <p:cNvPr id="41" name="Shape 39"/>
          <p:cNvSpPr/>
          <p:nvPr/>
        </p:nvSpPr>
        <p:spPr>
          <a:xfrm>
            <a:off x="0" y="6606540"/>
            <a:ext cx="12191695" cy="2743"/>
          </a:xfrm>
          <a:prstGeom prst="rect">
            <a:avLst/>
          </a:prstGeom>
          <a:solidFill>
            <a:srgbClr val="222E48"/>
          </a:solidFill>
          <a:ln/>
        </p:spPr>
      </p:sp>
      <p:sp>
        <p:nvSpPr>
          <p:cNvPr id="42" name="Text 40"/>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43" name="Shape 41"/>
          <p:cNvSpPr/>
          <p:nvPr/>
        </p:nvSpPr>
        <p:spPr>
          <a:xfrm>
            <a:off x="10436047" y="6693408"/>
            <a:ext cx="73152" cy="73152"/>
          </a:xfrm>
          <a:prstGeom prst="ellipse">
            <a:avLst/>
          </a:prstGeom>
          <a:solidFill>
            <a:srgbClr val="6C63FF"/>
          </a:solidFill>
          <a:ln/>
        </p:spPr>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6C63FF"/>
          </a:solidFill>
          <a:ln/>
        </p:spPr>
      </p:sp>
      <p:sp>
        <p:nvSpPr>
          <p:cNvPr id="3" name="Text 1"/>
          <p:cNvSpPr/>
          <p:nvPr/>
        </p:nvSpPr>
        <p:spPr>
          <a:xfrm>
            <a:off x="685800" y="274320"/>
            <a:ext cx="5486400" cy="219456"/>
          </a:xfrm>
          <a:prstGeom prst="rect">
            <a:avLst/>
          </a:prstGeom>
          <a:noFill/>
          <a:ln/>
        </p:spPr>
        <p:txBody>
          <a:bodyPr wrap="square" rtlCol="0" anchor="ctr"/>
          <a:lstStyle/>
          <a:p>
            <a:pPr indent="0" marL="0">
              <a:buNone/>
            </a:pPr>
            <a:r>
              <a:rPr lang="en-US" sz="1000" b="1" spc="500" kern="0" dirty="0">
                <a:solidFill>
                  <a:srgbClr val="6C63FF"/>
                </a:solidFill>
                <a:latin typeface="Open Sans" pitchFamily="34" charset="0"/>
                <a:ea typeface="Open Sans" pitchFamily="34" charset="-122"/>
                <a:cs typeface="Open Sans" pitchFamily="34" charset="-120"/>
              </a:rPr>
              <a:t>RESUMO DO MÓDULO</a:t>
            </a:r>
            <a:endParaRPr lang="en-US" sz="1000" dirty="0"/>
          </a:p>
        </p:txBody>
      </p:sp>
      <p:sp>
        <p:nvSpPr>
          <p:cNvPr id="4" name="Shape 2"/>
          <p:cNvSpPr/>
          <p:nvPr/>
        </p:nvSpPr>
        <p:spPr>
          <a:xfrm>
            <a:off x="685800" y="521208"/>
            <a:ext cx="822960" cy="18288"/>
          </a:xfrm>
          <a:prstGeom prst="rect">
            <a:avLst/>
          </a:prstGeom>
          <a:solidFill>
            <a:srgbClr val="6C63FF"/>
          </a:solidFill>
          <a:ln/>
        </p:spPr>
      </p:sp>
      <p:sp>
        <p:nvSpPr>
          <p:cNvPr id="5" name="Text 3"/>
          <p:cNvSpPr/>
          <p:nvPr/>
        </p:nvSpPr>
        <p:spPr>
          <a:xfrm>
            <a:off x="685800" y="621792"/>
            <a:ext cx="11048695" cy="685800"/>
          </a:xfrm>
          <a:prstGeom prst="rect">
            <a:avLst/>
          </a:prstGeom>
          <a:noFill/>
          <a:ln/>
        </p:spPr>
        <p:txBody>
          <a:bodyPr wrap="square" rtlCol="0" anchor="ctr"/>
          <a:lstStyle/>
          <a:p>
            <a:pPr indent="0" marL="0">
              <a:buNone/>
            </a:pPr>
            <a:r>
              <a:rPr lang="en-US" sz="2800" b="1" dirty="0">
                <a:solidFill>
                  <a:srgbClr val="E8EDF5"/>
                </a:solidFill>
                <a:latin typeface="Montserrat" pitchFamily="34" charset="0"/>
                <a:ea typeface="Montserrat" pitchFamily="34" charset="-122"/>
                <a:cs typeface="Montserrat" pitchFamily="34" charset="-120"/>
              </a:rPr>
              <a:t>Resumo do Módulo</a:t>
            </a:r>
            <a:endParaRPr lang="en-US" sz="2800" dirty="0"/>
          </a:p>
        </p:txBody>
      </p:sp>
      <p:sp>
        <p:nvSpPr>
          <p:cNvPr id="6" name="Shape 4"/>
          <p:cNvSpPr/>
          <p:nvPr/>
        </p:nvSpPr>
        <p:spPr>
          <a:xfrm>
            <a:off x="713232" y="1499616"/>
            <a:ext cx="11048695" cy="1371600"/>
          </a:xfrm>
          <a:prstGeom prst="roundRect">
            <a:avLst>
              <a:gd name="adj" fmla="val 6667"/>
            </a:avLst>
          </a:prstGeom>
          <a:solidFill>
            <a:srgbClr val="000000"/>
          </a:solidFill>
          <a:ln/>
        </p:spPr>
      </p:sp>
      <p:sp>
        <p:nvSpPr>
          <p:cNvPr id="7" name="Shape 5"/>
          <p:cNvSpPr/>
          <p:nvPr/>
        </p:nvSpPr>
        <p:spPr>
          <a:xfrm>
            <a:off x="685800" y="1463040"/>
            <a:ext cx="11048695" cy="1371600"/>
          </a:xfrm>
          <a:prstGeom prst="roundRect">
            <a:avLst>
              <a:gd name="adj" fmla="val 6667"/>
            </a:avLst>
          </a:prstGeom>
          <a:solidFill>
            <a:srgbClr val="141E34"/>
          </a:solidFill>
          <a:ln/>
        </p:spPr>
      </p:sp>
      <p:sp>
        <p:nvSpPr>
          <p:cNvPr id="8" name="Shape 6"/>
          <p:cNvSpPr/>
          <p:nvPr/>
        </p:nvSpPr>
        <p:spPr>
          <a:xfrm>
            <a:off x="685800" y="1463040"/>
            <a:ext cx="45720" cy="1371600"/>
          </a:xfrm>
          <a:prstGeom prst="rect">
            <a:avLst>
              <a:gd name="adj" fmla="val 200000"/>
            </a:avLst>
          </a:prstGeom>
          <a:solidFill>
            <a:srgbClr val="6C63FF"/>
          </a:solidFill>
          <a:ln/>
        </p:spPr>
      </p:sp>
      <p:sp>
        <p:nvSpPr>
          <p:cNvPr id="9" name="Shape 7"/>
          <p:cNvSpPr/>
          <p:nvPr/>
        </p:nvSpPr>
        <p:spPr>
          <a:xfrm>
            <a:off x="813816" y="1572768"/>
            <a:ext cx="365760" cy="365760"/>
          </a:xfrm>
          <a:prstGeom prst="roundRect">
            <a:avLst>
              <a:gd name="adj" fmla="val 20000"/>
            </a:avLst>
          </a:prstGeom>
          <a:solidFill>
            <a:srgbClr val="6C63FF"/>
          </a:solidFill>
          <a:ln/>
        </p:spPr>
      </p:sp>
      <p:sp>
        <p:nvSpPr>
          <p:cNvPr id="10" name="Text 8"/>
          <p:cNvSpPr/>
          <p:nvPr/>
        </p:nvSpPr>
        <p:spPr>
          <a:xfrm>
            <a:off x="813816" y="1572768"/>
            <a:ext cx="365760" cy="365760"/>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1</a:t>
            </a:r>
            <a:endParaRPr lang="en-US" sz="1600" dirty="0"/>
          </a:p>
        </p:txBody>
      </p:sp>
      <p:sp>
        <p:nvSpPr>
          <p:cNvPr id="11" name="Text 9"/>
          <p:cNvSpPr/>
          <p:nvPr/>
        </p:nvSpPr>
        <p:spPr>
          <a:xfrm>
            <a:off x="813816" y="1993392"/>
            <a:ext cx="10792663" cy="731520"/>
          </a:xfrm>
          <a:prstGeom prst="rect">
            <a:avLst/>
          </a:prstGeom>
          <a:noFill/>
          <a:ln/>
        </p:spPr>
        <p:txBody>
          <a:bodyPr wrap="square" rtlCol="0" anchor="t"/>
          <a:lstStyle/>
          <a:p>
            <a:pPr indent="0" marL="0">
              <a:lnSpc>
                <a:spcPct val="125000"/>
              </a:lnSpc>
              <a:buNone/>
            </a:pPr>
            <a:r>
              <a:rPr lang="en-US" sz="1700" dirty="0">
                <a:solidFill>
                  <a:srgbClr val="E8EDF5"/>
                </a:solidFill>
                <a:latin typeface="Open Sans" pitchFamily="34" charset="0"/>
                <a:ea typeface="Open Sans" pitchFamily="34" charset="-122"/>
                <a:cs typeface="Open Sans" pitchFamily="34" charset="-120"/>
              </a:rPr>
              <a:t>Exploramos como a Inteligência Artificial revoluciona a Experiência do Cliente (CX) e o engajamento.</a:t>
            </a:r>
            <a:endParaRPr lang="en-US" sz="1700" dirty="0"/>
          </a:p>
        </p:txBody>
      </p:sp>
      <p:sp>
        <p:nvSpPr>
          <p:cNvPr id="12" name="Shape 10"/>
          <p:cNvSpPr/>
          <p:nvPr/>
        </p:nvSpPr>
        <p:spPr>
          <a:xfrm>
            <a:off x="713232" y="2980944"/>
            <a:ext cx="11048695" cy="1371600"/>
          </a:xfrm>
          <a:prstGeom prst="roundRect">
            <a:avLst>
              <a:gd name="adj" fmla="val 6667"/>
            </a:avLst>
          </a:prstGeom>
          <a:solidFill>
            <a:srgbClr val="000000"/>
          </a:solidFill>
          <a:ln/>
        </p:spPr>
      </p:sp>
      <p:sp>
        <p:nvSpPr>
          <p:cNvPr id="13" name="Shape 11"/>
          <p:cNvSpPr/>
          <p:nvPr/>
        </p:nvSpPr>
        <p:spPr>
          <a:xfrm>
            <a:off x="685800" y="2944368"/>
            <a:ext cx="11048695" cy="1371600"/>
          </a:xfrm>
          <a:prstGeom prst="roundRect">
            <a:avLst>
              <a:gd name="adj" fmla="val 6667"/>
            </a:avLst>
          </a:prstGeom>
          <a:solidFill>
            <a:srgbClr val="141E34"/>
          </a:solidFill>
          <a:ln/>
        </p:spPr>
      </p:sp>
      <p:sp>
        <p:nvSpPr>
          <p:cNvPr id="14" name="Shape 12"/>
          <p:cNvSpPr/>
          <p:nvPr/>
        </p:nvSpPr>
        <p:spPr>
          <a:xfrm>
            <a:off x="685800" y="2944368"/>
            <a:ext cx="45720" cy="1371600"/>
          </a:xfrm>
          <a:prstGeom prst="rect">
            <a:avLst>
              <a:gd name="adj" fmla="val 200000"/>
            </a:avLst>
          </a:prstGeom>
          <a:solidFill>
            <a:srgbClr val="3B82F6"/>
          </a:solidFill>
          <a:ln/>
        </p:spPr>
      </p:sp>
      <p:sp>
        <p:nvSpPr>
          <p:cNvPr id="15" name="Shape 13"/>
          <p:cNvSpPr/>
          <p:nvPr/>
        </p:nvSpPr>
        <p:spPr>
          <a:xfrm>
            <a:off x="813816" y="3054096"/>
            <a:ext cx="365760" cy="365760"/>
          </a:xfrm>
          <a:prstGeom prst="roundRect">
            <a:avLst>
              <a:gd name="adj" fmla="val 20000"/>
            </a:avLst>
          </a:prstGeom>
          <a:solidFill>
            <a:srgbClr val="3B82F6"/>
          </a:solidFill>
          <a:ln/>
        </p:spPr>
      </p:sp>
      <p:sp>
        <p:nvSpPr>
          <p:cNvPr id="16" name="Text 14"/>
          <p:cNvSpPr/>
          <p:nvPr/>
        </p:nvSpPr>
        <p:spPr>
          <a:xfrm>
            <a:off x="813816" y="3054096"/>
            <a:ext cx="365760" cy="365760"/>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sp>
        <p:nvSpPr>
          <p:cNvPr id="17" name="Text 15"/>
          <p:cNvSpPr/>
          <p:nvPr/>
        </p:nvSpPr>
        <p:spPr>
          <a:xfrm>
            <a:off x="813816" y="3474720"/>
            <a:ext cx="10792663" cy="731520"/>
          </a:xfrm>
          <a:prstGeom prst="rect">
            <a:avLst/>
          </a:prstGeom>
          <a:noFill/>
          <a:ln/>
        </p:spPr>
        <p:txBody>
          <a:bodyPr wrap="square" rtlCol="0" anchor="t"/>
          <a:lstStyle/>
          <a:p>
            <a:pPr indent="0" marL="0">
              <a:lnSpc>
                <a:spcPct val="125000"/>
              </a:lnSpc>
              <a:buNone/>
            </a:pPr>
            <a:r>
              <a:rPr lang="en-US" sz="1700" dirty="0">
                <a:solidFill>
                  <a:srgbClr val="E8EDF5"/>
                </a:solidFill>
                <a:latin typeface="Open Sans" pitchFamily="34" charset="0"/>
                <a:ea typeface="Open Sans" pitchFamily="34" charset="-122"/>
                <a:cs typeface="Open Sans" pitchFamily="34" charset="-120"/>
              </a:rPr>
              <a:t>A IA permite personalização em massa, otimiza o atendimento com chatbots e extrai percepções valiosas de feedbacks.</a:t>
            </a:r>
            <a:endParaRPr lang="en-US" sz="1700" dirty="0"/>
          </a:p>
        </p:txBody>
      </p:sp>
      <p:sp>
        <p:nvSpPr>
          <p:cNvPr id="18" name="Shape 16"/>
          <p:cNvSpPr/>
          <p:nvPr/>
        </p:nvSpPr>
        <p:spPr>
          <a:xfrm>
            <a:off x="713232" y="4462272"/>
            <a:ext cx="11048695" cy="1371600"/>
          </a:xfrm>
          <a:prstGeom prst="roundRect">
            <a:avLst>
              <a:gd name="adj" fmla="val 6667"/>
            </a:avLst>
          </a:prstGeom>
          <a:solidFill>
            <a:srgbClr val="000000"/>
          </a:solidFill>
          <a:ln/>
        </p:spPr>
      </p:sp>
      <p:sp>
        <p:nvSpPr>
          <p:cNvPr id="19" name="Shape 17"/>
          <p:cNvSpPr/>
          <p:nvPr/>
        </p:nvSpPr>
        <p:spPr>
          <a:xfrm>
            <a:off x="685800" y="4425696"/>
            <a:ext cx="11048695" cy="1371600"/>
          </a:xfrm>
          <a:prstGeom prst="roundRect">
            <a:avLst>
              <a:gd name="adj" fmla="val 6667"/>
            </a:avLst>
          </a:prstGeom>
          <a:solidFill>
            <a:srgbClr val="141E34"/>
          </a:solidFill>
          <a:ln/>
        </p:spPr>
      </p:sp>
      <p:sp>
        <p:nvSpPr>
          <p:cNvPr id="20" name="Shape 18"/>
          <p:cNvSpPr/>
          <p:nvPr/>
        </p:nvSpPr>
        <p:spPr>
          <a:xfrm>
            <a:off x="685800" y="4425696"/>
            <a:ext cx="45720" cy="1371600"/>
          </a:xfrm>
          <a:prstGeom prst="rect">
            <a:avLst>
              <a:gd name="adj" fmla="val 200000"/>
            </a:avLst>
          </a:prstGeom>
          <a:solidFill>
            <a:srgbClr val="10B981"/>
          </a:solidFill>
          <a:ln/>
        </p:spPr>
      </p:sp>
      <p:sp>
        <p:nvSpPr>
          <p:cNvPr id="21" name="Shape 19"/>
          <p:cNvSpPr/>
          <p:nvPr/>
        </p:nvSpPr>
        <p:spPr>
          <a:xfrm>
            <a:off x="813816" y="4535424"/>
            <a:ext cx="365760" cy="365760"/>
          </a:xfrm>
          <a:prstGeom prst="roundRect">
            <a:avLst>
              <a:gd name="adj" fmla="val 20000"/>
            </a:avLst>
          </a:prstGeom>
          <a:solidFill>
            <a:srgbClr val="10B981"/>
          </a:solidFill>
          <a:ln/>
        </p:spPr>
      </p:sp>
      <p:sp>
        <p:nvSpPr>
          <p:cNvPr id="22" name="Text 20"/>
          <p:cNvSpPr/>
          <p:nvPr/>
        </p:nvSpPr>
        <p:spPr>
          <a:xfrm>
            <a:off x="813816" y="4535424"/>
            <a:ext cx="365760" cy="365760"/>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23" name="Text 21"/>
          <p:cNvSpPr/>
          <p:nvPr/>
        </p:nvSpPr>
        <p:spPr>
          <a:xfrm>
            <a:off x="813816" y="4956048"/>
            <a:ext cx="10792663" cy="731520"/>
          </a:xfrm>
          <a:prstGeom prst="rect">
            <a:avLst/>
          </a:prstGeom>
          <a:noFill/>
          <a:ln/>
        </p:spPr>
        <p:txBody>
          <a:bodyPr wrap="square" rtlCol="0" anchor="t"/>
          <a:lstStyle/>
          <a:p>
            <a:pPr indent="0" marL="0">
              <a:lnSpc>
                <a:spcPct val="125000"/>
              </a:lnSpc>
              <a:buNone/>
            </a:pPr>
            <a:r>
              <a:rPr lang="en-US" sz="1700" dirty="0">
                <a:solidFill>
                  <a:srgbClr val="E8EDF5"/>
                </a:solidFill>
                <a:latin typeface="Open Sans" pitchFamily="34" charset="0"/>
                <a:ea typeface="Open Sans" pitchFamily="34" charset="-122"/>
                <a:cs typeface="Open Sans" pitchFamily="34" charset="-120"/>
              </a:rPr>
              <a:t>Ao aplicar esses conceitos, profissionais podem criar um diferencial competitivo significativo para suas organizações.</a:t>
            </a:r>
            <a:endParaRPr lang="en-US" sz="1700" dirty="0"/>
          </a:p>
        </p:txBody>
      </p:sp>
      <p:sp>
        <p:nvSpPr>
          <p:cNvPr id="24" name="Shape 22"/>
          <p:cNvSpPr/>
          <p:nvPr/>
        </p:nvSpPr>
        <p:spPr>
          <a:xfrm>
            <a:off x="0" y="6601968"/>
            <a:ext cx="2041093" cy="4572"/>
          </a:xfrm>
          <a:prstGeom prst="rect">
            <a:avLst/>
          </a:prstGeom>
          <a:solidFill>
            <a:srgbClr val="6C63FF"/>
          </a:solidFill>
          <a:ln/>
        </p:spPr>
      </p:sp>
      <p:sp>
        <p:nvSpPr>
          <p:cNvPr id="25" name="Shape 23"/>
          <p:cNvSpPr/>
          <p:nvPr/>
        </p:nvSpPr>
        <p:spPr>
          <a:xfrm>
            <a:off x="2031949" y="6601968"/>
            <a:ext cx="2041093" cy="4572"/>
          </a:xfrm>
          <a:prstGeom prst="rect">
            <a:avLst/>
          </a:prstGeom>
          <a:solidFill>
            <a:srgbClr val="6C63FF"/>
          </a:solidFill>
          <a:ln/>
        </p:spPr>
      </p:sp>
      <p:sp>
        <p:nvSpPr>
          <p:cNvPr id="26" name="Shape 24"/>
          <p:cNvSpPr/>
          <p:nvPr/>
        </p:nvSpPr>
        <p:spPr>
          <a:xfrm>
            <a:off x="4063898" y="6601968"/>
            <a:ext cx="2041093" cy="4572"/>
          </a:xfrm>
          <a:prstGeom prst="rect">
            <a:avLst/>
          </a:prstGeom>
          <a:solidFill>
            <a:srgbClr val="6C63FF"/>
          </a:solidFill>
          <a:ln/>
        </p:spPr>
      </p:sp>
      <p:sp>
        <p:nvSpPr>
          <p:cNvPr id="27" name="Shape 25"/>
          <p:cNvSpPr/>
          <p:nvPr/>
        </p:nvSpPr>
        <p:spPr>
          <a:xfrm>
            <a:off x="6095848" y="6601968"/>
            <a:ext cx="2041093" cy="4572"/>
          </a:xfrm>
          <a:prstGeom prst="rect">
            <a:avLst/>
          </a:prstGeom>
          <a:solidFill>
            <a:srgbClr val="6C63FF"/>
          </a:solidFill>
          <a:ln/>
        </p:spPr>
      </p:sp>
      <p:sp>
        <p:nvSpPr>
          <p:cNvPr id="28" name="Shape 26"/>
          <p:cNvSpPr/>
          <p:nvPr/>
        </p:nvSpPr>
        <p:spPr>
          <a:xfrm>
            <a:off x="8127797" y="6601968"/>
            <a:ext cx="2041093" cy="4572"/>
          </a:xfrm>
          <a:prstGeom prst="rect">
            <a:avLst/>
          </a:prstGeom>
          <a:solidFill>
            <a:srgbClr val="6C63FF"/>
          </a:solidFill>
          <a:ln/>
        </p:spPr>
      </p:sp>
      <p:sp>
        <p:nvSpPr>
          <p:cNvPr id="29" name="Shape 27"/>
          <p:cNvSpPr/>
          <p:nvPr/>
        </p:nvSpPr>
        <p:spPr>
          <a:xfrm>
            <a:off x="10159746" y="6601968"/>
            <a:ext cx="2041093" cy="4572"/>
          </a:xfrm>
          <a:prstGeom prst="rect">
            <a:avLst/>
          </a:prstGeom>
          <a:solidFill>
            <a:srgbClr val="6C63FF"/>
          </a:solidFill>
          <a:ln/>
        </p:spPr>
      </p:sp>
      <p:sp>
        <p:nvSpPr>
          <p:cNvPr id="30" name="Shape 28"/>
          <p:cNvSpPr/>
          <p:nvPr/>
        </p:nvSpPr>
        <p:spPr>
          <a:xfrm>
            <a:off x="0" y="6606540"/>
            <a:ext cx="12191695" cy="2743"/>
          </a:xfrm>
          <a:prstGeom prst="rect">
            <a:avLst/>
          </a:prstGeom>
          <a:solidFill>
            <a:srgbClr val="222E48"/>
          </a:solidFill>
          <a:ln/>
        </p:spPr>
      </p:sp>
      <p:sp>
        <p:nvSpPr>
          <p:cNvPr id="31" name="Text 29"/>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32" name="Shape 30"/>
          <p:cNvSpPr/>
          <p:nvPr/>
        </p:nvSpPr>
        <p:spPr>
          <a:xfrm>
            <a:off x="10436047" y="6693408"/>
            <a:ext cx="73152" cy="73152"/>
          </a:xfrm>
          <a:prstGeom prst="ellipse">
            <a:avLst/>
          </a:prstGeom>
          <a:solidFill>
            <a:srgbClr val="6C63FF"/>
          </a:solidFill>
          <a:ln/>
        </p:spPr>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50A18"/>
        </a:solidFill>
      </p:bgPr>
    </p:bg>
    <p:spTree>
      <p:nvGrpSpPr>
        <p:cNvPr id="1" name=""/>
        <p:cNvGrpSpPr/>
        <p:nvPr/>
      </p:nvGrpSpPr>
      <p:grpSpPr>
        <a:xfrm>
          <a:off x="0" y="0"/>
          <a:ext cx="0" cy="0"/>
          <a:chOff x="0" y="0"/>
          <a:chExt cx="0" cy="0"/>
        </a:xfrm>
      </p:grpSpPr>
      <p:sp>
        <p:nvSpPr>
          <p:cNvPr id="2" name="Shape 0"/>
          <p:cNvSpPr/>
          <p:nvPr/>
        </p:nvSpPr>
        <p:spPr>
          <a:xfrm>
            <a:off x="0" y="36576"/>
            <a:ext cx="12191695" cy="41148"/>
          </a:xfrm>
          <a:prstGeom prst="rect">
            <a:avLst/>
          </a:prstGeom>
          <a:solidFill>
            <a:srgbClr val="06B6D4"/>
          </a:solidFill>
          <a:ln/>
        </p:spPr>
      </p:sp>
      <p:sp>
        <p:nvSpPr>
          <p:cNvPr id="3" name="Text 1"/>
          <p:cNvSpPr/>
          <p:nvPr/>
        </p:nvSpPr>
        <p:spPr>
          <a:xfrm>
            <a:off x="594360" y="256032"/>
            <a:ext cx="5486400" cy="219456"/>
          </a:xfrm>
          <a:prstGeom prst="rect">
            <a:avLst/>
          </a:prstGeom>
          <a:noFill/>
          <a:ln/>
        </p:spPr>
        <p:txBody>
          <a:bodyPr wrap="square" rtlCol="0" anchor="ctr"/>
          <a:lstStyle/>
          <a:p>
            <a:pPr indent="0" marL="0">
              <a:buNone/>
            </a:pPr>
            <a:r>
              <a:rPr lang="en-US" sz="1000" b="1" spc="600" kern="0" dirty="0">
                <a:solidFill>
                  <a:srgbClr val="06B6D4"/>
                </a:solidFill>
                <a:latin typeface="Open Sans" pitchFamily="34" charset="0"/>
                <a:ea typeface="Open Sans" pitchFamily="34" charset="-122"/>
                <a:cs typeface="Open Sans" pitchFamily="34" charset="-120"/>
              </a:rPr>
              <a:t>KEY TAKEAWAYS</a:t>
            </a:r>
            <a:endParaRPr lang="en-US" sz="1000" dirty="0"/>
          </a:p>
        </p:txBody>
      </p:sp>
      <p:sp>
        <p:nvSpPr>
          <p:cNvPr id="4" name="Text 2"/>
          <p:cNvSpPr/>
          <p:nvPr/>
        </p:nvSpPr>
        <p:spPr>
          <a:xfrm>
            <a:off x="594360" y="530352"/>
            <a:ext cx="11002975" cy="640080"/>
          </a:xfrm>
          <a:prstGeom prst="rect">
            <a:avLst/>
          </a:prstGeom>
          <a:noFill/>
          <a:ln/>
        </p:spPr>
        <p:txBody>
          <a:bodyPr wrap="square"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Key Takeaways</a:t>
            </a:r>
            <a:endParaRPr lang="en-US" sz="2800" dirty="0"/>
          </a:p>
        </p:txBody>
      </p:sp>
      <p:sp>
        <p:nvSpPr>
          <p:cNvPr id="5" name="Shape 3"/>
          <p:cNvSpPr/>
          <p:nvPr/>
        </p:nvSpPr>
        <p:spPr>
          <a:xfrm>
            <a:off x="594360" y="1234440"/>
            <a:ext cx="1645920" cy="22860"/>
          </a:xfrm>
          <a:prstGeom prst="rect">
            <a:avLst/>
          </a:prstGeom>
          <a:solidFill>
            <a:srgbClr val="06B6D4"/>
          </a:solidFill>
          <a:ln/>
        </p:spPr>
      </p:sp>
      <p:sp>
        <p:nvSpPr>
          <p:cNvPr id="6" name="Shape 4"/>
          <p:cNvSpPr/>
          <p:nvPr/>
        </p:nvSpPr>
        <p:spPr>
          <a:xfrm>
            <a:off x="612648" y="1536192"/>
            <a:ext cx="3628034" cy="1606296"/>
          </a:xfrm>
          <a:prstGeom prst="roundRect">
            <a:avLst>
              <a:gd name="adj" fmla="val 6831"/>
            </a:avLst>
          </a:prstGeom>
          <a:solidFill>
            <a:srgbClr val="000000"/>
          </a:solidFill>
          <a:ln/>
        </p:spPr>
      </p:sp>
      <p:sp>
        <p:nvSpPr>
          <p:cNvPr id="7" name="Shape 5"/>
          <p:cNvSpPr/>
          <p:nvPr/>
        </p:nvSpPr>
        <p:spPr>
          <a:xfrm>
            <a:off x="594360" y="1508760"/>
            <a:ext cx="3628034" cy="1606296"/>
          </a:xfrm>
          <a:prstGeom prst="roundRect">
            <a:avLst>
              <a:gd name="adj" fmla="val 6831"/>
            </a:avLst>
          </a:prstGeom>
          <a:solidFill>
            <a:srgbClr val="111D38"/>
          </a:solidFill>
          <a:ln/>
        </p:spPr>
      </p:sp>
      <p:sp>
        <p:nvSpPr>
          <p:cNvPr id="8" name="Shape 6"/>
          <p:cNvSpPr/>
          <p:nvPr/>
        </p:nvSpPr>
        <p:spPr>
          <a:xfrm>
            <a:off x="594360" y="1508760"/>
            <a:ext cx="45720" cy="1606296"/>
          </a:xfrm>
          <a:prstGeom prst="rect">
            <a:avLst>
              <a:gd name="adj" fmla="val 240000"/>
            </a:avLst>
          </a:prstGeom>
          <a:solidFill>
            <a:srgbClr val="6C63FF"/>
          </a:solidFill>
          <a:ln/>
        </p:spPr>
      </p:sp>
      <p:sp>
        <p:nvSpPr>
          <p:cNvPr id="9" name="Shape 7"/>
          <p:cNvSpPr/>
          <p:nvPr/>
        </p:nvSpPr>
        <p:spPr>
          <a:xfrm>
            <a:off x="740664" y="1655064"/>
            <a:ext cx="384048" cy="384048"/>
          </a:xfrm>
          <a:prstGeom prst="roundRect">
            <a:avLst>
              <a:gd name="adj" fmla="val 19048"/>
            </a:avLst>
          </a:prstGeom>
          <a:solidFill>
            <a:srgbClr val="6C63FF"/>
          </a:solidFill>
          <a:ln/>
        </p:spPr>
      </p:sp>
      <p:sp>
        <p:nvSpPr>
          <p:cNvPr id="10" name="Text 8"/>
          <p:cNvSpPr/>
          <p:nvPr/>
        </p:nvSpPr>
        <p:spPr>
          <a:xfrm>
            <a:off x="740664" y="1655064"/>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1</a:t>
            </a:r>
            <a:endParaRPr lang="en-US" sz="1800" dirty="0"/>
          </a:p>
        </p:txBody>
      </p:sp>
      <p:sp>
        <p:nvSpPr>
          <p:cNvPr id="11" name="Text 9"/>
          <p:cNvSpPr/>
          <p:nvPr/>
        </p:nvSpPr>
        <p:spPr>
          <a:xfrm>
            <a:off x="740664" y="2130552"/>
            <a:ext cx="3335426" cy="856488"/>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A IA aprimora a Experiência do Cliente (CX) por meio de personalização, automação e eficiência.</a:t>
            </a:r>
            <a:endParaRPr lang="en-US" sz="1400" dirty="0"/>
          </a:p>
        </p:txBody>
      </p:sp>
      <p:sp>
        <p:nvSpPr>
          <p:cNvPr id="12" name="Shape 10"/>
          <p:cNvSpPr/>
          <p:nvPr/>
        </p:nvSpPr>
        <p:spPr>
          <a:xfrm>
            <a:off x="4368698" y="1536192"/>
            <a:ext cx="3628034" cy="1606296"/>
          </a:xfrm>
          <a:prstGeom prst="roundRect">
            <a:avLst>
              <a:gd name="adj" fmla="val 6831"/>
            </a:avLst>
          </a:prstGeom>
          <a:solidFill>
            <a:srgbClr val="000000"/>
          </a:solidFill>
          <a:ln/>
        </p:spPr>
      </p:sp>
      <p:sp>
        <p:nvSpPr>
          <p:cNvPr id="13" name="Shape 11"/>
          <p:cNvSpPr/>
          <p:nvPr/>
        </p:nvSpPr>
        <p:spPr>
          <a:xfrm>
            <a:off x="4350410" y="1508760"/>
            <a:ext cx="3628034" cy="1606296"/>
          </a:xfrm>
          <a:prstGeom prst="roundRect">
            <a:avLst>
              <a:gd name="adj" fmla="val 6831"/>
            </a:avLst>
          </a:prstGeom>
          <a:solidFill>
            <a:srgbClr val="111D38"/>
          </a:solidFill>
          <a:ln/>
        </p:spPr>
      </p:sp>
      <p:sp>
        <p:nvSpPr>
          <p:cNvPr id="14" name="Shape 12"/>
          <p:cNvSpPr/>
          <p:nvPr/>
        </p:nvSpPr>
        <p:spPr>
          <a:xfrm>
            <a:off x="4350410" y="1508760"/>
            <a:ext cx="45720" cy="1606296"/>
          </a:xfrm>
          <a:prstGeom prst="rect">
            <a:avLst>
              <a:gd name="adj" fmla="val 240000"/>
            </a:avLst>
          </a:prstGeom>
          <a:solidFill>
            <a:srgbClr val="3B82F6"/>
          </a:solidFill>
          <a:ln/>
        </p:spPr>
      </p:sp>
      <p:sp>
        <p:nvSpPr>
          <p:cNvPr id="15" name="Shape 13"/>
          <p:cNvSpPr/>
          <p:nvPr/>
        </p:nvSpPr>
        <p:spPr>
          <a:xfrm>
            <a:off x="4496714" y="1655064"/>
            <a:ext cx="384048" cy="384048"/>
          </a:xfrm>
          <a:prstGeom prst="roundRect">
            <a:avLst>
              <a:gd name="adj" fmla="val 19048"/>
            </a:avLst>
          </a:prstGeom>
          <a:solidFill>
            <a:srgbClr val="3B82F6"/>
          </a:solidFill>
          <a:ln/>
        </p:spPr>
      </p:sp>
      <p:sp>
        <p:nvSpPr>
          <p:cNvPr id="16" name="Text 14"/>
          <p:cNvSpPr/>
          <p:nvPr/>
        </p:nvSpPr>
        <p:spPr>
          <a:xfrm>
            <a:off x="4496714" y="1655064"/>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2</a:t>
            </a:r>
            <a:endParaRPr lang="en-US" sz="1800" dirty="0"/>
          </a:p>
        </p:txBody>
      </p:sp>
      <p:sp>
        <p:nvSpPr>
          <p:cNvPr id="17" name="Text 15"/>
          <p:cNvSpPr/>
          <p:nvPr/>
        </p:nvSpPr>
        <p:spPr>
          <a:xfrm>
            <a:off x="4496714" y="2130552"/>
            <a:ext cx="3335426" cy="856488"/>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A personalização impulsionada pela IA aumenta a relevância de ofertas e o engajamento do cliente.</a:t>
            </a:r>
            <a:endParaRPr lang="en-US" sz="1400" dirty="0"/>
          </a:p>
        </p:txBody>
      </p:sp>
      <p:sp>
        <p:nvSpPr>
          <p:cNvPr id="18" name="Shape 16"/>
          <p:cNvSpPr/>
          <p:nvPr/>
        </p:nvSpPr>
        <p:spPr>
          <a:xfrm>
            <a:off x="8124749" y="1536192"/>
            <a:ext cx="3628034" cy="1606296"/>
          </a:xfrm>
          <a:prstGeom prst="roundRect">
            <a:avLst>
              <a:gd name="adj" fmla="val 6831"/>
            </a:avLst>
          </a:prstGeom>
          <a:solidFill>
            <a:srgbClr val="000000"/>
          </a:solidFill>
          <a:ln/>
        </p:spPr>
      </p:sp>
      <p:sp>
        <p:nvSpPr>
          <p:cNvPr id="19" name="Shape 17"/>
          <p:cNvSpPr/>
          <p:nvPr/>
        </p:nvSpPr>
        <p:spPr>
          <a:xfrm>
            <a:off x="8106461" y="1508760"/>
            <a:ext cx="3628034" cy="1606296"/>
          </a:xfrm>
          <a:prstGeom prst="roundRect">
            <a:avLst>
              <a:gd name="adj" fmla="val 6831"/>
            </a:avLst>
          </a:prstGeom>
          <a:solidFill>
            <a:srgbClr val="111D38"/>
          </a:solidFill>
          <a:ln/>
        </p:spPr>
      </p:sp>
      <p:sp>
        <p:nvSpPr>
          <p:cNvPr id="20" name="Shape 18"/>
          <p:cNvSpPr/>
          <p:nvPr/>
        </p:nvSpPr>
        <p:spPr>
          <a:xfrm>
            <a:off x="8106461" y="1508760"/>
            <a:ext cx="45720" cy="1606296"/>
          </a:xfrm>
          <a:prstGeom prst="rect">
            <a:avLst>
              <a:gd name="adj" fmla="val 240000"/>
            </a:avLst>
          </a:prstGeom>
          <a:solidFill>
            <a:srgbClr val="10B981"/>
          </a:solidFill>
          <a:ln/>
        </p:spPr>
      </p:sp>
      <p:sp>
        <p:nvSpPr>
          <p:cNvPr id="21" name="Shape 19"/>
          <p:cNvSpPr/>
          <p:nvPr/>
        </p:nvSpPr>
        <p:spPr>
          <a:xfrm>
            <a:off x="8252765" y="1655064"/>
            <a:ext cx="384048" cy="384048"/>
          </a:xfrm>
          <a:prstGeom prst="roundRect">
            <a:avLst>
              <a:gd name="adj" fmla="val 19048"/>
            </a:avLst>
          </a:prstGeom>
          <a:solidFill>
            <a:srgbClr val="10B981"/>
          </a:solidFill>
          <a:ln/>
        </p:spPr>
      </p:sp>
      <p:sp>
        <p:nvSpPr>
          <p:cNvPr id="22" name="Text 20"/>
          <p:cNvSpPr/>
          <p:nvPr/>
        </p:nvSpPr>
        <p:spPr>
          <a:xfrm>
            <a:off x="8252765" y="1655064"/>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3</a:t>
            </a:r>
            <a:endParaRPr lang="en-US" sz="1800" dirty="0"/>
          </a:p>
        </p:txBody>
      </p:sp>
      <p:sp>
        <p:nvSpPr>
          <p:cNvPr id="23" name="Text 21"/>
          <p:cNvSpPr/>
          <p:nvPr/>
        </p:nvSpPr>
        <p:spPr>
          <a:xfrm>
            <a:off x="8252765" y="2130552"/>
            <a:ext cx="3335426" cy="856488"/>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Chatbots e assistentes virtuais oferecem atendimento rápido, 24/7, e direcionamento inteligente de demandas.</a:t>
            </a:r>
            <a:endParaRPr lang="en-US" sz="1400" dirty="0"/>
          </a:p>
        </p:txBody>
      </p:sp>
      <p:sp>
        <p:nvSpPr>
          <p:cNvPr id="24" name="Shape 22"/>
          <p:cNvSpPr/>
          <p:nvPr/>
        </p:nvSpPr>
        <p:spPr>
          <a:xfrm>
            <a:off x="612648" y="3270504"/>
            <a:ext cx="3628034" cy="1606296"/>
          </a:xfrm>
          <a:prstGeom prst="roundRect">
            <a:avLst>
              <a:gd name="adj" fmla="val 6831"/>
            </a:avLst>
          </a:prstGeom>
          <a:solidFill>
            <a:srgbClr val="000000"/>
          </a:solidFill>
          <a:ln/>
        </p:spPr>
      </p:sp>
      <p:sp>
        <p:nvSpPr>
          <p:cNvPr id="25" name="Shape 23"/>
          <p:cNvSpPr/>
          <p:nvPr/>
        </p:nvSpPr>
        <p:spPr>
          <a:xfrm>
            <a:off x="594360" y="3243072"/>
            <a:ext cx="3628034" cy="1606296"/>
          </a:xfrm>
          <a:prstGeom prst="roundRect">
            <a:avLst>
              <a:gd name="adj" fmla="val 6831"/>
            </a:avLst>
          </a:prstGeom>
          <a:solidFill>
            <a:srgbClr val="111D38"/>
          </a:solidFill>
          <a:ln/>
        </p:spPr>
      </p:sp>
      <p:sp>
        <p:nvSpPr>
          <p:cNvPr id="26" name="Shape 24"/>
          <p:cNvSpPr/>
          <p:nvPr/>
        </p:nvSpPr>
        <p:spPr>
          <a:xfrm>
            <a:off x="594360" y="3243072"/>
            <a:ext cx="45720" cy="1606296"/>
          </a:xfrm>
          <a:prstGeom prst="rect">
            <a:avLst>
              <a:gd name="adj" fmla="val 240000"/>
            </a:avLst>
          </a:prstGeom>
          <a:solidFill>
            <a:srgbClr val="F59E0B"/>
          </a:solidFill>
          <a:ln/>
        </p:spPr>
      </p:sp>
      <p:sp>
        <p:nvSpPr>
          <p:cNvPr id="27" name="Shape 25"/>
          <p:cNvSpPr/>
          <p:nvPr/>
        </p:nvSpPr>
        <p:spPr>
          <a:xfrm>
            <a:off x="740664" y="3389376"/>
            <a:ext cx="384048" cy="384048"/>
          </a:xfrm>
          <a:prstGeom prst="roundRect">
            <a:avLst>
              <a:gd name="adj" fmla="val 19048"/>
            </a:avLst>
          </a:prstGeom>
          <a:solidFill>
            <a:srgbClr val="F59E0B"/>
          </a:solidFill>
          <a:ln/>
        </p:spPr>
      </p:sp>
      <p:sp>
        <p:nvSpPr>
          <p:cNvPr id="28" name="Text 26"/>
          <p:cNvSpPr/>
          <p:nvPr/>
        </p:nvSpPr>
        <p:spPr>
          <a:xfrm>
            <a:off x="740664" y="3389376"/>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4</a:t>
            </a:r>
            <a:endParaRPr lang="en-US" sz="1800" dirty="0"/>
          </a:p>
        </p:txBody>
      </p:sp>
      <p:sp>
        <p:nvSpPr>
          <p:cNvPr id="29" name="Text 27"/>
          <p:cNvSpPr/>
          <p:nvPr/>
        </p:nvSpPr>
        <p:spPr>
          <a:xfrm>
            <a:off x="740664" y="3864864"/>
            <a:ext cx="3335426" cy="856488"/>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A análise de sentimento por IA em mídias sociais e feedbacks fornece percepções valiosas para melhoria contínua.</a:t>
            </a:r>
            <a:endParaRPr lang="en-US" sz="1400" dirty="0"/>
          </a:p>
        </p:txBody>
      </p:sp>
      <p:sp>
        <p:nvSpPr>
          <p:cNvPr id="30" name="Shape 28"/>
          <p:cNvSpPr/>
          <p:nvPr/>
        </p:nvSpPr>
        <p:spPr>
          <a:xfrm>
            <a:off x="4368698" y="3270504"/>
            <a:ext cx="3628034" cy="1606296"/>
          </a:xfrm>
          <a:prstGeom prst="roundRect">
            <a:avLst>
              <a:gd name="adj" fmla="val 6831"/>
            </a:avLst>
          </a:prstGeom>
          <a:solidFill>
            <a:srgbClr val="000000"/>
          </a:solidFill>
          <a:ln/>
        </p:spPr>
      </p:sp>
      <p:sp>
        <p:nvSpPr>
          <p:cNvPr id="31" name="Shape 29"/>
          <p:cNvSpPr/>
          <p:nvPr/>
        </p:nvSpPr>
        <p:spPr>
          <a:xfrm>
            <a:off x="4350410" y="3243072"/>
            <a:ext cx="3628034" cy="1606296"/>
          </a:xfrm>
          <a:prstGeom prst="roundRect">
            <a:avLst>
              <a:gd name="adj" fmla="val 6831"/>
            </a:avLst>
          </a:prstGeom>
          <a:solidFill>
            <a:srgbClr val="111D38"/>
          </a:solidFill>
          <a:ln/>
        </p:spPr>
      </p:sp>
      <p:sp>
        <p:nvSpPr>
          <p:cNvPr id="32" name="Shape 30"/>
          <p:cNvSpPr/>
          <p:nvPr/>
        </p:nvSpPr>
        <p:spPr>
          <a:xfrm>
            <a:off x="4350410" y="3243072"/>
            <a:ext cx="45720" cy="1606296"/>
          </a:xfrm>
          <a:prstGeom prst="rect">
            <a:avLst>
              <a:gd name="adj" fmla="val 240000"/>
            </a:avLst>
          </a:prstGeom>
          <a:solidFill>
            <a:srgbClr val="06B6D4"/>
          </a:solidFill>
          <a:ln/>
        </p:spPr>
      </p:sp>
      <p:sp>
        <p:nvSpPr>
          <p:cNvPr id="33" name="Shape 31"/>
          <p:cNvSpPr/>
          <p:nvPr/>
        </p:nvSpPr>
        <p:spPr>
          <a:xfrm>
            <a:off x="4496714" y="3389376"/>
            <a:ext cx="384048" cy="384048"/>
          </a:xfrm>
          <a:prstGeom prst="roundRect">
            <a:avLst>
              <a:gd name="adj" fmla="val 19048"/>
            </a:avLst>
          </a:prstGeom>
          <a:solidFill>
            <a:srgbClr val="06B6D4"/>
          </a:solidFill>
          <a:ln/>
        </p:spPr>
      </p:sp>
      <p:sp>
        <p:nvSpPr>
          <p:cNvPr id="34" name="Text 32"/>
          <p:cNvSpPr/>
          <p:nvPr/>
        </p:nvSpPr>
        <p:spPr>
          <a:xfrm>
            <a:off x="4496714" y="3389376"/>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5</a:t>
            </a:r>
            <a:endParaRPr lang="en-US" sz="1800" dirty="0"/>
          </a:p>
        </p:txBody>
      </p:sp>
      <p:sp>
        <p:nvSpPr>
          <p:cNvPr id="35" name="Text 33"/>
          <p:cNvSpPr/>
          <p:nvPr/>
        </p:nvSpPr>
        <p:spPr>
          <a:xfrm>
            <a:off x="4496714" y="3864864"/>
            <a:ext cx="3335426" cy="856488"/>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Estratégias de IA otimizam jornadas do cliente e guiam o marketing preditivo para maior engajamento.</a:t>
            </a:r>
            <a:endParaRPr lang="en-US" sz="1400" dirty="0"/>
          </a:p>
        </p:txBody>
      </p:sp>
      <p:sp>
        <p:nvSpPr>
          <p:cNvPr id="36" name="Shape 34"/>
          <p:cNvSpPr/>
          <p:nvPr/>
        </p:nvSpPr>
        <p:spPr>
          <a:xfrm>
            <a:off x="8124749" y="3270504"/>
            <a:ext cx="3628034" cy="1606296"/>
          </a:xfrm>
          <a:prstGeom prst="roundRect">
            <a:avLst>
              <a:gd name="adj" fmla="val 6831"/>
            </a:avLst>
          </a:prstGeom>
          <a:solidFill>
            <a:srgbClr val="000000"/>
          </a:solidFill>
          <a:ln/>
        </p:spPr>
      </p:sp>
      <p:sp>
        <p:nvSpPr>
          <p:cNvPr id="37" name="Shape 35"/>
          <p:cNvSpPr/>
          <p:nvPr/>
        </p:nvSpPr>
        <p:spPr>
          <a:xfrm>
            <a:off x="8106461" y="3243072"/>
            <a:ext cx="3628034" cy="1606296"/>
          </a:xfrm>
          <a:prstGeom prst="roundRect">
            <a:avLst>
              <a:gd name="adj" fmla="val 6831"/>
            </a:avLst>
          </a:prstGeom>
          <a:solidFill>
            <a:srgbClr val="111D38"/>
          </a:solidFill>
          <a:ln/>
        </p:spPr>
      </p:sp>
      <p:sp>
        <p:nvSpPr>
          <p:cNvPr id="38" name="Shape 36"/>
          <p:cNvSpPr/>
          <p:nvPr/>
        </p:nvSpPr>
        <p:spPr>
          <a:xfrm>
            <a:off x="8106461" y="3243072"/>
            <a:ext cx="45720" cy="1606296"/>
          </a:xfrm>
          <a:prstGeom prst="rect">
            <a:avLst>
              <a:gd name="adj" fmla="val 240000"/>
            </a:avLst>
          </a:prstGeom>
          <a:solidFill>
            <a:srgbClr val="6C63FF"/>
          </a:solidFill>
          <a:ln/>
        </p:spPr>
      </p:sp>
      <p:sp>
        <p:nvSpPr>
          <p:cNvPr id="39" name="Shape 37"/>
          <p:cNvSpPr/>
          <p:nvPr/>
        </p:nvSpPr>
        <p:spPr>
          <a:xfrm>
            <a:off x="8252765" y="3389376"/>
            <a:ext cx="384048" cy="384048"/>
          </a:xfrm>
          <a:prstGeom prst="roundRect">
            <a:avLst>
              <a:gd name="adj" fmla="val 19048"/>
            </a:avLst>
          </a:prstGeom>
          <a:solidFill>
            <a:srgbClr val="6C63FF"/>
          </a:solidFill>
          <a:ln/>
        </p:spPr>
      </p:sp>
      <p:sp>
        <p:nvSpPr>
          <p:cNvPr id="40" name="Text 38"/>
          <p:cNvSpPr/>
          <p:nvPr/>
        </p:nvSpPr>
        <p:spPr>
          <a:xfrm>
            <a:off x="8252765" y="3389376"/>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6</a:t>
            </a:r>
            <a:endParaRPr lang="en-US" sz="1800" dirty="0"/>
          </a:p>
        </p:txBody>
      </p:sp>
      <p:sp>
        <p:nvSpPr>
          <p:cNvPr id="41" name="Text 39"/>
          <p:cNvSpPr/>
          <p:nvPr/>
        </p:nvSpPr>
        <p:spPr>
          <a:xfrm>
            <a:off x="8252765" y="3864864"/>
            <a:ext cx="3335426" cy="856488"/>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Implementar IA para CX não exige formação técnica; soluções "no-code" e "low-code" facilitam os primeiros passos.".</a:t>
            </a:r>
            <a:endParaRPr lang="en-US" sz="1400" dirty="0"/>
          </a:p>
        </p:txBody>
      </p:sp>
      <p:sp>
        <p:nvSpPr>
          <p:cNvPr id="42" name="Shape 40"/>
          <p:cNvSpPr/>
          <p:nvPr/>
        </p:nvSpPr>
        <p:spPr>
          <a:xfrm>
            <a:off x="612648" y="5004816"/>
            <a:ext cx="3628034" cy="1606296"/>
          </a:xfrm>
          <a:prstGeom prst="roundRect">
            <a:avLst>
              <a:gd name="adj" fmla="val 6831"/>
            </a:avLst>
          </a:prstGeom>
          <a:solidFill>
            <a:srgbClr val="000000"/>
          </a:solidFill>
          <a:ln/>
        </p:spPr>
      </p:sp>
      <p:sp>
        <p:nvSpPr>
          <p:cNvPr id="43" name="Shape 41"/>
          <p:cNvSpPr/>
          <p:nvPr/>
        </p:nvSpPr>
        <p:spPr>
          <a:xfrm>
            <a:off x="594360" y="4977384"/>
            <a:ext cx="3628034" cy="1606296"/>
          </a:xfrm>
          <a:prstGeom prst="roundRect">
            <a:avLst>
              <a:gd name="adj" fmla="val 6831"/>
            </a:avLst>
          </a:prstGeom>
          <a:solidFill>
            <a:srgbClr val="111D38"/>
          </a:solidFill>
          <a:ln/>
        </p:spPr>
      </p:sp>
      <p:sp>
        <p:nvSpPr>
          <p:cNvPr id="44" name="Shape 42"/>
          <p:cNvSpPr/>
          <p:nvPr/>
        </p:nvSpPr>
        <p:spPr>
          <a:xfrm>
            <a:off x="594360" y="4977384"/>
            <a:ext cx="45720" cy="1606296"/>
          </a:xfrm>
          <a:prstGeom prst="rect">
            <a:avLst>
              <a:gd name="adj" fmla="val 240000"/>
            </a:avLst>
          </a:prstGeom>
          <a:solidFill>
            <a:srgbClr val="3B82F6"/>
          </a:solidFill>
          <a:ln/>
        </p:spPr>
      </p:sp>
      <p:sp>
        <p:nvSpPr>
          <p:cNvPr id="45" name="Shape 43"/>
          <p:cNvSpPr/>
          <p:nvPr/>
        </p:nvSpPr>
        <p:spPr>
          <a:xfrm>
            <a:off x="740664" y="5123688"/>
            <a:ext cx="384048" cy="384048"/>
          </a:xfrm>
          <a:prstGeom prst="roundRect">
            <a:avLst>
              <a:gd name="adj" fmla="val 19048"/>
            </a:avLst>
          </a:prstGeom>
          <a:solidFill>
            <a:srgbClr val="3B82F6"/>
          </a:solidFill>
          <a:ln/>
        </p:spPr>
      </p:sp>
      <p:sp>
        <p:nvSpPr>
          <p:cNvPr id="46" name="Text 44"/>
          <p:cNvSpPr/>
          <p:nvPr/>
        </p:nvSpPr>
        <p:spPr>
          <a:xfrm>
            <a:off x="740664" y="5123688"/>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7</a:t>
            </a:r>
            <a:endParaRPr lang="en-US" sz="1800" dirty="0"/>
          </a:p>
        </p:txBody>
      </p:sp>
      <p:sp>
        <p:nvSpPr>
          <p:cNvPr id="47" name="Text 45"/>
          <p:cNvSpPr/>
          <p:nvPr/>
        </p:nvSpPr>
        <p:spPr>
          <a:xfrm>
            <a:off x="740664" y="5599176"/>
            <a:ext cx="3335426" cy="856488"/>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É crucial equilibrar a automação da IA com o toque humano para construir relacionamentos duradouros com os clientes.</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50A1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58851" y="0"/>
            <a:ext cx="4632844" cy="6858000"/>
          </a:xfrm>
          <a:prstGeom prst="rect">
            <a:avLst/>
          </a:prstGeom>
        </p:spPr>
      </p:pic>
      <p:sp>
        <p:nvSpPr>
          <p:cNvPr id="3" name="Shape 0"/>
          <p:cNvSpPr/>
          <p:nvPr/>
        </p:nvSpPr>
        <p:spPr>
          <a:xfrm>
            <a:off x="7558851" y="0"/>
            <a:ext cx="4632844" cy="6858000"/>
          </a:xfrm>
          <a:prstGeom prst="rect">
            <a:avLst/>
          </a:prstGeom>
          <a:solidFill>
            <a:srgbClr val="06B6D4"/>
          </a:solidFill>
          <a:ln/>
        </p:spPr>
      </p:sp>
      <p:sp>
        <p:nvSpPr>
          <p:cNvPr id="4" name="Shape 1"/>
          <p:cNvSpPr/>
          <p:nvPr/>
        </p:nvSpPr>
        <p:spPr>
          <a:xfrm>
            <a:off x="7558851" y="0"/>
            <a:ext cx="4632844" cy="6858000"/>
          </a:xfrm>
          <a:prstGeom prst="rect">
            <a:avLst/>
          </a:prstGeom>
          <a:solidFill>
            <a:srgbClr val="050A18"/>
          </a:solidFill>
          <a:ln/>
        </p:spPr>
      </p:sp>
      <p:sp>
        <p:nvSpPr>
          <p:cNvPr id="5" name="Shape 2"/>
          <p:cNvSpPr/>
          <p:nvPr/>
        </p:nvSpPr>
        <p:spPr>
          <a:xfrm>
            <a:off x="7558851" y="0"/>
            <a:ext cx="36576" cy="6858000"/>
          </a:xfrm>
          <a:prstGeom prst="rect">
            <a:avLst/>
          </a:prstGeom>
          <a:solidFill>
            <a:srgbClr val="06B6D4"/>
          </a:solidFill>
          <a:ln/>
        </p:spPr>
      </p:sp>
      <p:sp>
        <p:nvSpPr>
          <p:cNvPr id="6" name="Text 3"/>
          <p:cNvSpPr/>
          <p:nvPr/>
        </p:nvSpPr>
        <p:spPr>
          <a:xfrm>
            <a:off x="8534095" y="6565392"/>
            <a:ext cx="3291840" cy="201168"/>
          </a:xfrm>
          <a:prstGeom prst="rect">
            <a:avLst/>
          </a:prstGeom>
          <a:noFill/>
          <a:ln/>
        </p:spPr>
        <p:txBody>
          <a:bodyPr wrap="square" rtlCol="0" anchor="ctr"/>
          <a:lstStyle/>
          <a:p>
            <a:pPr algn="r" indent="0" marL="0">
              <a:buNone/>
            </a:pPr>
            <a:r>
              <a:rPr lang="en-US" sz="700" dirty="0">
                <a:solidFill>
                  <a:srgbClr val="FFFFFF">
                    <a:alpha val="50000"/>
                  </a:srgbClr>
                </a:solidFill>
                <a:latin typeface="Open Sans" pitchFamily="34" charset="0"/>
                <a:ea typeface="Open Sans" pitchFamily="34" charset="-122"/>
                <a:cs typeface="Open Sans" pitchFamily="34" charset="-120"/>
              </a:rPr>
              <a:t>Foto: Markus Winkler / Unsplash</a:t>
            </a:r>
            <a:endParaRPr lang="en-US" sz="700" dirty="0"/>
          </a:p>
        </p:txBody>
      </p:sp>
      <p:sp>
        <p:nvSpPr>
          <p:cNvPr id="7" name="Shape 4"/>
          <p:cNvSpPr/>
          <p:nvPr/>
        </p:nvSpPr>
        <p:spPr>
          <a:xfrm>
            <a:off x="4535311" y="0"/>
            <a:ext cx="3401483" cy="1152144"/>
          </a:xfrm>
          <a:prstGeom prst="rect">
            <a:avLst/>
          </a:prstGeom>
          <a:solidFill>
            <a:srgbClr val="06B6D4"/>
          </a:solidFill>
          <a:ln/>
        </p:spPr>
      </p:sp>
      <p:sp>
        <p:nvSpPr>
          <p:cNvPr id="8" name="Shape 5"/>
          <p:cNvSpPr/>
          <p:nvPr/>
        </p:nvSpPr>
        <p:spPr>
          <a:xfrm>
            <a:off x="4535311" y="1143000"/>
            <a:ext cx="3401483" cy="1152144"/>
          </a:xfrm>
          <a:prstGeom prst="rect">
            <a:avLst/>
          </a:prstGeom>
          <a:solidFill>
            <a:srgbClr val="06B6D4"/>
          </a:solidFill>
          <a:ln/>
        </p:spPr>
      </p:sp>
      <p:sp>
        <p:nvSpPr>
          <p:cNvPr id="9" name="Shape 6"/>
          <p:cNvSpPr/>
          <p:nvPr/>
        </p:nvSpPr>
        <p:spPr>
          <a:xfrm>
            <a:off x="4535311" y="2286000"/>
            <a:ext cx="3401483" cy="1152144"/>
          </a:xfrm>
          <a:prstGeom prst="rect">
            <a:avLst/>
          </a:prstGeom>
          <a:solidFill>
            <a:srgbClr val="06B6D4"/>
          </a:solidFill>
          <a:ln/>
        </p:spPr>
      </p:sp>
      <p:sp>
        <p:nvSpPr>
          <p:cNvPr id="10" name="Shape 7"/>
          <p:cNvSpPr/>
          <p:nvPr/>
        </p:nvSpPr>
        <p:spPr>
          <a:xfrm>
            <a:off x="4535311" y="3429000"/>
            <a:ext cx="3401483" cy="1152144"/>
          </a:xfrm>
          <a:prstGeom prst="rect">
            <a:avLst/>
          </a:prstGeom>
          <a:solidFill>
            <a:srgbClr val="06B6D4"/>
          </a:solidFill>
          <a:ln/>
        </p:spPr>
      </p:sp>
      <p:sp>
        <p:nvSpPr>
          <p:cNvPr id="11" name="Shape 8"/>
          <p:cNvSpPr/>
          <p:nvPr/>
        </p:nvSpPr>
        <p:spPr>
          <a:xfrm>
            <a:off x="4535311" y="4572000"/>
            <a:ext cx="3401483" cy="1152144"/>
          </a:xfrm>
          <a:prstGeom prst="rect">
            <a:avLst/>
          </a:prstGeom>
          <a:solidFill>
            <a:srgbClr val="06B6D4"/>
          </a:solidFill>
          <a:ln/>
        </p:spPr>
      </p:sp>
      <p:sp>
        <p:nvSpPr>
          <p:cNvPr id="12" name="Shape 9"/>
          <p:cNvSpPr/>
          <p:nvPr/>
        </p:nvSpPr>
        <p:spPr>
          <a:xfrm>
            <a:off x="4535311" y="5715000"/>
            <a:ext cx="3401483" cy="1152144"/>
          </a:xfrm>
          <a:prstGeom prst="rect">
            <a:avLst/>
          </a:prstGeom>
          <a:solidFill>
            <a:srgbClr val="06B6D4"/>
          </a:solidFill>
          <a:ln/>
        </p:spPr>
      </p:sp>
      <p:sp>
        <p:nvSpPr>
          <p:cNvPr id="13" name="Shape 10"/>
          <p:cNvSpPr/>
          <p:nvPr/>
        </p:nvSpPr>
        <p:spPr>
          <a:xfrm>
            <a:off x="731520" y="1005840"/>
            <a:ext cx="45720" cy="2103120"/>
          </a:xfrm>
          <a:prstGeom prst="rect">
            <a:avLst/>
          </a:prstGeom>
          <a:solidFill>
            <a:srgbClr val="06B6D4"/>
          </a:solidFill>
          <a:ln/>
        </p:spPr>
      </p:sp>
      <p:sp>
        <p:nvSpPr>
          <p:cNvPr id="14" name="Shape 11"/>
          <p:cNvSpPr/>
          <p:nvPr/>
        </p:nvSpPr>
        <p:spPr>
          <a:xfrm>
            <a:off x="804672" y="1005840"/>
            <a:ext cx="13716" cy="2103120"/>
          </a:xfrm>
          <a:prstGeom prst="rect">
            <a:avLst/>
          </a:prstGeom>
          <a:solidFill>
            <a:srgbClr val="06B6D4"/>
          </a:solidFill>
          <a:ln/>
        </p:spPr>
      </p:sp>
      <p:sp>
        <p:nvSpPr>
          <p:cNvPr id="15" name="Text 12"/>
          <p:cNvSpPr/>
          <p:nvPr/>
        </p:nvSpPr>
        <p:spPr>
          <a:xfrm>
            <a:off x="1005840" y="1097280"/>
            <a:ext cx="4572000" cy="256032"/>
          </a:xfrm>
          <a:prstGeom prst="rect">
            <a:avLst/>
          </a:prstGeom>
          <a:noFill/>
          <a:ln/>
        </p:spPr>
        <p:txBody>
          <a:bodyPr wrap="square" rtlCol="0" anchor="ctr"/>
          <a:lstStyle/>
          <a:p>
            <a:pPr indent="0" marL="0">
              <a:buNone/>
            </a:pPr>
            <a:r>
              <a:rPr lang="en-US" sz="1100" b="1" spc="800" kern="0" dirty="0">
                <a:solidFill>
                  <a:srgbClr val="06B6D4"/>
                </a:solidFill>
                <a:latin typeface="Open Sans" pitchFamily="34" charset="0"/>
                <a:ea typeface="Open Sans" pitchFamily="34" charset="-122"/>
                <a:cs typeface="Open Sans" pitchFamily="34" charset="-120"/>
              </a:rPr>
              <a:t>MÓDULO 05</a:t>
            </a:r>
            <a:endParaRPr lang="en-US" sz="1100" dirty="0"/>
          </a:p>
        </p:txBody>
      </p:sp>
      <p:sp>
        <p:nvSpPr>
          <p:cNvPr id="16" name="Shape 13"/>
          <p:cNvSpPr/>
          <p:nvPr/>
        </p:nvSpPr>
        <p:spPr>
          <a:xfrm>
            <a:off x="1005840" y="1481328"/>
            <a:ext cx="1280160" cy="20117"/>
          </a:xfrm>
          <a:prstGeom prst="rect">
            <a:avLst/>
          </a:prstGeom>
          <a:solidFill>
            <a:srgbClr val="06B6D4"/>
          </a:solidFill>
          <a:ln/>
        </p:spPr>
      </p:sp>
      <p:sp>
        <p:nvSpPr>
          <p:cNvPr id="17" name="Text 14"/>
          <p:cNvSpPr/>
          <p:nvPr/>
        </p:nvSpPr>
        <p:spPr>
          <a:xfrm>
            <a:off x="1005840" y="1691640"/>
            <a:ext cx="5669138" cy="2286000"/>
          </a:xfrm>
          <a:prstGeom prst="rect">
            <a:avLst/>
          </a:prstGeom>
          <a:noFill/>
          <a:ln/>
        </p:spPr>
        <p:txBody>
          <a:bodyPr wrap="square" rtlCol="0" anchor="t"/>
          <a:lstStyle/>
          <a:p>
            <a:pPr indent="0" marL="0">
              <a:lnSpc>
                <a:spcPct val="102000"/>
              </a:lnSpc>
              <a:buNone/>
            </a:pPr>
            <a:r>
              <a:rPr lang="en-US" sz="3600" b="1" dirty="0">
                <a:solidFill>
                  <a:srgbClr val="FFFFFF"/>
                </a:solidFill>
                <a:latin typeface="Montserrat" pitchFamily="34" charset="0"/>
                <a:ea typeface="Montserrat" pitchFamily="34" charset="-122"/>
                <a:cs typeface="Montserrat" pitchFamily="34" charset="-120"/>
              </a:rPr>
              <a:t>IA e o Futuro do Trabalho: Oportunidades e Considerações Éticas</a:t>
            </a:r>
            <a:endParaRPr lang="en-US" sz="3600" dirty="0"/>
          </a:p>
        </p:txBody>
      </p:sp>
      <p:sp>
        <p:nvSpPr>
          <p:cNvPr id="18" name="Shape 15"/>
          <p:cNvSpPr/>
          <p:nvPr/>
        </p:nvSpPr>
        <p:spPr>
          <a:xfrm>
            <a:off x="1005840" y="4142232"/>
            <a:ext cx="2011680" cy="10973"/>
          </a:xfrm>
          <a:prstGeom prst="rect">
            <a:avLst/>
          </a:prstGeom>
          <a:solidFill>
            <a:srgbClr val="06B6D4"/>
          </a:solidFill>
          <a:ln/>
        </p:spPr>
      </p:sp>
      <p:sp>
        <p:nvSpPr>
          <p:cNvPr id="19" name="Text 16"/>
          <p:cNvSpPr/>
          <p:nvPr/>
        </p:nvSpPr>
        <p:spPr>
          <a:xfrm>
            <a:off x="1005840" y="4251960"/>
            <a:ext cx="4572000" cy="201168"/>
          </a:xfrm>
          <a:prstGeom prst="rect">
            <a:avLst/>
          </a:prstGeom>
          <a:noFill/>
          <a:ln/>
        </p:spPr>
        <p:txBody>
          <a:bodyPr wrap="square" rtlCol="0" anchor="ctr"/>
          <a:lstStyle/>
          <a:p>
            <a:pPr indent="0" marL="0">
              <a:buNone/>
            </a:pPr>
            <a:r>
              <a:rPr lang="en-US" sz="800" b="1" spc="500" kern="0" dirty="0">
                <a:solidFill>
                  <a:srgbClr val="06B6D4"/>
                </a:solidFill>
                <a:latin typeface="Open Sans" pitchFamily="34" charset="0"/>
                <a:ea typeface="Open Sans" pitchFamily="34" charset="-122"/>
                <a:cs typeface="Open Sans" pitchFamily="34" charset="-120"/>
              </a:rPr>
              <a:t>O QUE VOCÊ VAI APRENDER</a:t>
            </a:r>
            <a:endParaRPr lang="en-US" sz="800" dirty="0"/>
          </a:p>
        </p:txBody>
      </p:sp>
      <p:sp>
        <p:nvSpPr>
          <p:cNvPr id="20" name="Shape 17"/>
          <p:cNvSpPr/>
          <p:nvPr/>
        </p:nvSpPr>
        <p:spPr>
          <a:xfrm>
            <a:off x="1005840" y="4590288"/>
            <a:ext cx="109728" cy="109728"/>
          </a:xfrm>
          <a:prstGeom prst="roundRect">
            <a:avLst>
              <a:gd name="adj" fmla="val 16667"/>
            </a:avLst>
          </a:prstGeom>
          <a:solidFill>
            <a:srgbClr val="06B6D4"/>
          </a:solidFill>
          <a:ln/>
        </p:spPr>
      </p:sp>
      <p:sp>
        <p:nvSpPr>
          <p:cNvPr id="21" name="Text 18"/>
          <p:cNvSpPr/>
          <p:nvPr/>
        </p:nvSpPr>
        <p:spPr>
          <a:xfrm>
            <a:off x="1234440" y="4544568"/>
            <a:ext cx="5291196" cy="347472"/>
          </a:xfrm>
          <a:prstGeom prst="rect">
            <a:avLst/>
          </a:prstGeom>
          <a:noFill/>
          <a:ln/>
        </p:spPr>
        <p:txBody>
          <a:bodyPr wrap="square" rtlCol="0" anchor="ctr"/>
          <a:lstStyle/>
          <a:p>
            <a:pPr indent="0" marL="0">
              <a:lnSpc>
                <a:spcPct val="112000"/>
              </a:lnSpc>
              <a:buNone/>
            </a:pPr>
            <a:r>
              <a:rPr lang="en-US" sz="1100" dirty="0">
                <a:solidFill>
                  <a:srgbClr val="94A3C0"/>
                </a:solidFill>
                <a:latin typeface="Open Sans" pitchFamily="34" charset="0"/>
                <a:ea typeface="Open Sans" pitchFamily="34" charset="-122"/>
                <a:cs typeface="Open Sans" pitchFamily="34" charset="-120"/>
              </a:rPr>
              <a:t>Compreender o impacto da IA na transformação do mercado de trabalho e nas estruturas ocupacionais.</a:t>
            </a:r>
            <a:endParaRPr lang="en-US" sz="1100" dirty="0"/>
          </a:p>
        </p:txBody>
      </p:sp>
      <p:sp>
        <p:nvSpPr>
          <p:cNvPr id="22" name="Shape 19"/>
          <p:cNvSpPr/>
          <p:nvPr/>
        </p:nvSpPr>
        <p:spPr>
          <a:xfrm>
            <a:off x="1005840" y="4992624"/>
            <a:ext cx="109728" cy="109728"/>
          </a:xfrm>
          <a:prstGeom prst="roundRect">
            <a:avLst>
              <a:gd name="adj" fmla="val 16667"/>
            </a:avLst>
          </a:prstGeom>
          <a:solidFill>
            <a:srgbClr val="06B6D4"/>
          </a:solidFill>
          <a:ln/>
        </p:spPr>
      </p:sp>
      <p:sp>
        <p:nvSpPr>
          <p:cNvPr id="23" name="Text 20"/>
          <p:cNvSpPr/>
          <p:nvPr/>
        </p:nvSpPr>
        <p:spPr>
          <a:xfrm>
            <a:off x="1234440" y="4946904"/>
            <a:ext cx="5291196" cy="347472"/>
          </a:xfrm>
          <a:prstGeom prst="rect">
            <a:avLst/>
          </a:prstGeom>
          <a:noFill/>
          <a:ln/>
        </p:spPr>
        <p:txBody>
          <a:bodyPr wrap="square" rtlCol="0" anchor="ctr"/>
          <a:lstStyle/>
          <a:p>
            <a:pPr indent="0" marL="0">
              <a:lnSpc>
                <a:spcPct val="112000"/>
              </a:lnSpc>
              <a:buNone/>
            </a:pPr>
            <a:r>
              <a:rPr lang="en-US" sz="1100" dirty="0">
                <a:solidFill>
                  <a:srgbClr val="94A3C0"/>
                </a:solidFill>
                <a:latin typeface="Open Sans" pitchFamily="34" charset="0"/>
                <a:ea typeface="Open Sans" pitchFamily="34" charset="-122"/>
                <a:cs typeface="Open Sans" pitchFamily="34" charset="-120"/>
              </a:rPr>
              <a:t>Identificar as principais oportunidades e novas funções que surgem com o avanço da inteligência artificial.</a:t>
            </a:r>
            <a:endParaRPr lang="en-US" sz="1100" dirty="0"/>
          </a:p>
        </p:txBody>
      </p:sp>
      <p:sp>
        <p:nvSpPr>
          <p:cNvPr id="24" name="Shape 21"/>
          <p:cNvSpPr/>
          <p:nvPr/>
        </p:nvSpPr>
        <p:spPr>
          <a:xfrm>
            <a:off x="1005840" y="5394960"/>
            <a:ext cx="109728" cy="109728"/>
          </a:xfrm>
          <a:prstGeom prst="roundRect">
            <a:avLst>
              <a:gd name="adj" fmla="val 16667"/>
            </a:avLst>
          </a:prstGeom>
          <a:solidFill>
            <a:srgbClr val="06B6D4"/>
          </a:solidFill>
          <a:ln/>
        </p:spPr>
      </p:sp>
      <p:sp>
        <p:nvSpPr>
          <p:cNvPr id="25" name="Text 22"/>
          <p:cNvSpPr/>
          <p:nvPr/>
        </p:nvSpPr>
        <p:spPr>
          <a:xfrm>
            <a:off x="1234440" y="5349240"/>
            <a:ext cx="5291196" cy="347472"/>
          </a:xfrm>
          <a:prstGeom prst="rect">
            <a:avLst/>
          </a:prstGeom>
          <a:noFill/>
          <a:ln/>
        </p:spPr>
        <p:txBody>
          <a:bodyPr wrap="square" rtlCol="0" anchor="ctr"/>
          <a:lstStyle/>
          <a:p>
            <a:pPr indent="0" marL="0">
              <a:lnSpc>
                <a:spcPct val="112000"/>
              </a:lnSpc>
              <a:buNone/>
            </a:pPr>
            <a:r>
              <a:rPr lang="en-US" sz="1100" dirty="0">
                <a:solidFill>
                  <a:srgbClr val="94A3C0"/>
                </a:solidFill>
                <a:latin typeface="Open Sans" pitchFamily="34" charset="0"/>
                <a:ea typeface="Open Sans" pitchFamily="34" charset="-122"/>
                <a:cs typeface="Open Sans" pitchFamily="34" charset="-120"/>
              </a:rPr>
              <a:t>Refletir criticamente sobre as considerações éticas e a responsabilidade no uso da IA no ambiente profissional.</a:t>
            </a:r>
            <a:endParaRPr lang="en-US" sz="1100" dirty="0"/>
          </a:p>
        </p:txBody>
      </p:sp>
      <p:sp>
        <p:nvSpPr>
          <p:cNvPr id="26" name="Shape 23"/>
          <p:cNvSpPr/>
          <p:nvPr/>
        </p:nvSpPr>
        <p:spPr>
          <a:xfrm>
            <a:off x="731520" y="6446520"/>
            <a:ext cx="542544" cy="7315"/>
          </a:xfrm>
          <a:prstGeom prst="rect">
            <a:avLst/>
          </a:prstGeom>
          <a:solidFill>
            <a:srgbClr val="06B6D4"/>
          </a:solidFill>
          <a:ln/>
        </p:spPr>
      </p:sp>
      <p:sp>
        <p:nvSpPr>
          <p:cNvPr id="27" name="Shape 24"/>
          <p:cNvSpPr/>
          <p:nvPr/>
        </p:nvSpPr>
        <p:spPr>
          <a:xfrm>
            <a:off x="1264920" y="6446520"/>
            <a:ext cx="542544" cy="7315"/>
          </a:xfrm>
          <a:prstGeom prst="rect">
            <a:avLst/>
          </a:prstGeom>
          <a:solidFill>
            <a:srgbClr val="06B6D4"/>
          </a:solidFill>
          <a:ln/>
        </p:spPr>
      </p:sp>
      <p:sp>
        <p:nvSpPr>
          <p:cNvPr id="28" name="Shape 25"/>
          <p:cNvSpPr/>
          <p:nvPr/>
        </p:nvSpPr>
        <p:spPr>
          <a:xfrm>
            <a:off x="1798320" y="6446520"/>
            <a:ext cx="542544" cy="7315"/>
          </a:xfrm>
          <a:prstGeom prst="rect">
            <a:avLst/>
          </a:prstGeom>
          <a:solidFill>
            <a:srgbClr val="06B6D4"/>
          </a:solidFill>
          <a:ln/>
        </p:spPr>
      </p:sp>
      <p:sp>
        <p:nvSpPr>
          <p:cNvPr id="29" name="Shape 26"/>
          <p:cNvSpPr/>
          <p:nvPr/>
        </p:nvSpPr>
        <p:spPr>
          <a:xfrm>
            <a:off x="2331720" y="6446520"/>
            <a:ext cx="542544" cy="7315"/>
          </a:xfrm>
          <a:prstGeom prst="rect">
            <a:avLst/>
          </a:prstGeom>
          <a:solidFill>
            <a:srgbClr val="06B6D4"/>
          </a:solidFill>
          <a:ln/>
        </p:spPr>
      </p:sp>
      <p:sp>
        <p:nvSpPr>
          <p:cNvPr id="30" name="Shape 27"/>
          <p:cNvSpPr/>
          <p:nvPr/>
        </p:nvSpPr>
        <p:spPr>
          <a:xfrm>
            <a:off x="2865120" y="6446520"/>
            <a:ext cx="542544" cy="7315"/>
          </a:xfrm>
          <a:prstGeom prst="rect">
            <a:avLst/>
          </a:prstGeom>
          <a:solidFill>
            <a:srgbClr val="06B6D4"/>
          </a:solidFill>
          <a:ln/>
        </p:spPr>
      </p:sp>
      <p:sp>
        <p:nvSpPr>
          <p:cNvPr id="31" name="Shape 28"/>
          <p:cNvSpPr/>
          <p:nvPr/>
        </p:nvSpPr>
        <p:spPr>
          <a:xfrm>
            <a:off x="3398520" y="6446520"/>
            <a:ext cx="542544" cy="7315"/>
          </a:xfrm>
          <a:prstGeom prst="rect">
            <a:avLst/>
          </a:prstGeom>
          <a:solidFill>
            <a:srgbClr val="06B6D4"/>
          </a:solidFill>
          <a:ln/>
        </p:spPr>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Shape 1"/>
          <p:cNvSpPr/>
          <p:nvPr/>
        </p:nvSpPr>
        <p:spPr>
          <a:xfrm>
            <a:off x="64008" y="0"/>
            <a:ext cx="18288" cy="6858000"/>
          </a:xfrm>
          <a:prstGeom prst="rect">
            <a:avLst/>
          </a:prstGeom>
          <a:solidFill>
            <a:srgbClr val="10B981"/>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10B981"/>
                </a:solidFill>
                <a:latin typeface="Open Sans" pitchFamily="34" charset="0"/>
                <a:ea typeface="Open Sans" pitchFamily="34" charset="-122"/>
                <a:cs typeface="Open Sans" pitchFamily="34" charset="-120"/>
              </a:rPr>
              <a:t>FUNDAMENTOS</a:t>
            </a:r>
            <a:endParaRPr lang="en-US" sz="900" dirty="0"/>
          </a:p>
        </p:txBody>
      </p:sp>
      <p:sp>
        <p:nvSpPr>
          <p:cNvPr id="5" name="Shape 3"/>
          <p:cNvSpPr/>
          <p:nvPr/>
        </p:nvSpPr>
        <p:spPr>
          <a:xfrm>
            <a:off x="502920" y="493776"/>
            <a:ext cx="640080" cy="21946"/>
          </a:xfrm>
          <a:prstGeom prst="rect">
            <a:avLst/>
          </a:prstGeom>
          <a:solidFill>
            <a:srgbClr val="10B981"/>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Fundamentos</a:t>
            </a:r>
            <a:endParaRPr lang="en-US" sz="2800" dirty="0"/>
          </a:p>
        </p:txBody>
      </p:sp>
      <p:sp>
        <p:nvSpPr>
          <p:cNvPr id="7" name="Shape 5"/>
          <p:cNvSpPr/>
          <p:nvPr/>
        </p:nvSpPr>
        <p:spPr>
          <a:xfrm>
            <a:off x="502920" y="1389888"/>
            <a:ext cx="11185855" cy="7315"/>
          </a:xfrm>
          <a:prstGeom prst="rect">
            <a:avLst/>
          </a:prstGeom>
          <a:solidFill>
            <a:srgbClr val="10B981"/>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621792" y="1572768"/>
            <a:ext cx="11140135" cy="1188720"/>
          </a:xfrm>
          <a:prstGeom prst="roundRect">
            <a:avLst>
              <a:gd name="adj" fmla="val 7692"/>
            </a:avLst>
          </a:prstGeom>
          <a:solidFill>
            <a:srgbClr val="000000"/>
          </a:solidFill>
          <a:ln/>
        </p:spPr>
      </p:sp>
      <p:sp>
        <p:nvSpPr>
          <p:cNvPr id="10" name="Shape 8"/>
          <p:cNvSpPr/>
          <p:nvPr/>
        </p:nvSpPr>
        <p:spPr>
          <a:xfrm>
            <a:off x="594360" y="1536192"/>
            <a:ext cx="11140135" cy="1188720"/>
          </a:xfrm>
          <a:prstGeom prst="roundRect">
            <a:avLst>
              <a:gd name="adj" fmla="val 7692"/>
            </a:avLst>
          </a:prstGeom>
          <a:solidFill>
            <a:srgbClr val="050A18"/>
          </a:solidFill>
          <a:ln/>
        </p:spPr>
      </p:sp>
      <p:sp>
        <p:nvSpPr>
          <p:cNvPr id="11" name="Shape 9"/>
          <p:cNvSpPr/>
          <p:nvPr/>
        </p:nvSpPr>
        <p:spPr>
          <a:xfrm>
            <a:off x="594360" y="1536192"/>
            <a:ext cx="54864" cy="1188720"/>
          </a:xfrm>
          <a:prstGeom prst="rect">
            <a:avLst>
              <a:gd name="adj" fmla="val 166667"/>
            </a:avLst>
          </a:prstGeom>
          <a:solidFill>
            <a:srgbClr val="10B981"/>
          </a:solidFill>
          <a:ln/>
        </p:spPr>
      </p:sp>
      <p:sp>
        <p:nvSpPr>
          <p:cNvPr id="12" name="Text 10"/>
          <p:cNvSpPr/>
          <p:nvPr/>
        </p:nvSpPr>
        <p:spPr>
          <a:xfrm>
            <a:off x="685800" y="1444752"/>
            <a:ext cx="457200" cy="548640"/>
          </a:xfrm>
          <a:prstGeom prst="rect">
            <a:avLst/>
          </a:prstGeom>
          <a:noFill/>
          <a:ln/>
        </p:spPr>
        <p:txBody>
          <a:bodyPr wrap="square" rtlCol="0" anchor="ctr"/>
          <a:lstStyle/>
          <a:p>
            <a:pPr indent="0" marL="0">
              <a:buNone/>
            </a:pPr>
            <a:r>
              <a:rPr lang="en-US" sz="4800" b="1" dirty="0">
                <a:solidFill>
                  <a:srgbClr val="10B981">
                    <a:alpha val="75000"/>
                  </a:srgbClr>
                </a:solidFill>
                <a:latin typeface="Montserrat" pitchFamily="34" charset="0"/>
                <a:ea typeface="Montserrat" pitchFamily="34" charset="-122"/>
                <a:cs typeface="Montserrat" pitchFamily="34" charset="-120"/>
              </a:rPr>
              <a:t>“</a:t>
            </a:r>
            <a:endParaRPr lang="en-US" sz="4800" dirty="0"/>
          </a:p>
        </p:txBody>
      </p:sp>
      <p:sp>
        <p:nvSpPr>
          <p:cNvPr id="13" name="Text 11"/>
          <p:cNvSpPr/>
          <p:nvPr/>
        </p:nvSpPr>
        <p:spPr>
          <a:xfrm>
            <a:off x="868680" y="1572768"/>
            <a:ext cx="10682935" cy="1097280"/>
          </a:xfrm>
          <a:prstGeom prst="rect">
            <a:avLst/>
          </a:prstGeom>
          <a:noFill/>
          <a:ln/>
        </p:spPr>
        <p:txBody>
          <a:bodyPr wrap="square" rtlCol="0" anchor="ctr"/>
          <a:lstStyle/>
          <a:p>
            <a:pPr indent="0" marL="0">
              <a:lnSpc>
                <a:spcPct val="135000"/>
              </a:lnSpc>
              <a:buNone/>
            </a:pPr>
            <a:r>
              <a:rPr lang="en-US" sz="1900" i="1" dirty="0">
                <a:solidFill>
                  <a:srgbClr val="FFFFFF"/>
                </a:solidFill>
                <a:latin typeface="Open Sans" pitchFamily="34" charset="0"/>
                <a:ea typeface="Open Sans" pitchFamily="34" charset="-122"/>
                <a:cs typeface="Open Sans" pitchFamily="34" charset="-120"/>
              </a:rPr>
              <a:t>A automação de tarefas rotineiras libera trabalhadores para funções mais estratégicas.</a:t>
            </a:r>
            <a:endParaRPr lang="en-US" sz="1900" dirty="0"/>
          </a:p>
        </p:txBody>
      </p:sp>
      <p:sp>
        <p:nvSpPr>
          <p:cNvPr id="14" name="Shape 12"/>
          <p:cNvSpPr/>
          <p:nvPr/>
        </p:nvSpPr>
        <p:spPr>
          <a:xfrm>
            <a:off x="621792" y="2980944"/>
            <a:ext cx="5496916" cy="3502152"/>
          </a:xfrm>
          <a:prstGeom prst="roundRect">
            <a:avLst>
              <a:gd name="adj" fmla="val 2611"/>
            </a:avLst>
          </a:prstGeom>
          <a:solidFill>
            <a:srgbClr val="000000"/>
          </a:solidFill>
          <a:ln/>
        </p:spPr>
      </p:sp>
      <p:sp>
        <p:nvSpPr>
          <p:cNvPr id="15" name="Shape 13"/>
          <p:cNvSpPr/>
          <p:nvPr/>
        </p:nvSpPr>
        <p:spPr>
          <a:xfrm>
            <a:off x="594360" y="2944368"/>
            <a:ext cx="5496916" cy="3502152"/>
          </a:xfrm>
          <a:prstGeom prst="roundRect">
            <a:avLst>
              <a:gd name="adj" fmla="val 2089"/>
            </a:avLst>
          </a:prstGeom>
          <a:solidFill>
            <a:srgbClr val="141E34"/>
          </a:solidFill>
          <a:ln/>
        </p:spPr>
      </p:sp>
      <p:sp>
        <p:nvSpPr>
          <p:cNvPr id="16" name="Shape 14"/>
          <p:cNvSpPr/>
          <p:nvPr/>
        </p:nvSpPr>
        <p:spPr>
          <a:xfrm>
            <a:off x="594360" y="2944368"/>
            <a:ext cx="5496916" cy="45720"/>
          </a:xfrm>
          <a:prstGeom prst="rect">
            <a:avLst>
              <a:gd name="adj" fmla="val 160000"/>
            </a:avLst>
          </a:prstGeom>
          <a:solidFill>
            <a:srgbClr val="6C63FF"/>
          </a:solidFill>
          <a:ln/>
        </p:spPr>
      </p:sp>
      <p:sp>
        <p:nvSpPr>
          <p:cNvPr id="17" name="Shape 15"/>
          <p:cNvSpPr/>
          <p:nvPr/>
        </p:nvSpPr>
        <p:spPr>
          <a:xfrm>
            <a:off x="685800" y="3072384"/>
            <a:ext cx="310896" cy="310896"/>
          </a:xfrm>
          <a:prstGeom prst="roundRect">
            <a:avLst>
              <a:gd name="adj" fmla="val 17647"/>
            </a:avLst>
          </a:prstGeom>
          <a:solidFill>
            <a:srgbClr val="6C63FF"/>
          </a:solidFill>
          <a:ln/>
        </p:spPr>
      </p:sp>
      <p:sp>
        <p:nvSpPr>
          <p:cNvPr id="18" name="Text 16"/>
          <p:cNvSpPr/>
          <p:nvPr/>
        </p:nvSpPr>
        <p:spPr>
          <a:xfrm>
            <a:off x="685800" y="3072384"/>
            <a:ext cx="310896" cy="310896"/>
          </a:xfrm>
          <a:prstGeom prst="rect">
            <a:avLst/>
          </a:prstGeom>
          <a:noFill/>
          <a:ln/>
        </p:spPr>
        <p:txBody>
          <a:bodyPr wrap="square"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2</a:t>
            </a:r>
            <a:endParaRPr lang="en-US" sz="1500" dirty="0"/>
          </a:p>
        </p:txBody>
      </p:sp>
      <p:sp>
        <p:nvSpPr>
          <p:cNvPr id="19" name="Text 17"/>
          <p:cNvSpPr/>
          <p:nvPr/>
        </p:nvSpPr>
        <p:spPr>
          <a:xfrm>
            <a:off x="722376" y="3447288"/>
            <a:ext cx="5240884" cy="2953512"/>
          </a:xfrm>
          <a:prstGeom prst="rect">
            <a:avLst/>
          </a:prstGeom>
          <a:noFill/>
          <a:ln/>
        </p:spPr>
        <p:txBody>
          <a:bodyPr wrap="square" rtlCol="0" anchor="t"/>
          <a:lstStyle/>
          <a:p>
            <a:pPr indent="0" marL="0">
              <a:lnSpc>
                <a:spcPct val="122000"/>
              </a:lnSpc>
              <a:buNone/>
            </a:pPr>
            <a:r>
              <a:rPr lang="en-US" sz="1300" dirty="0">
                <a:solidFill>
                  <a:srgbClr val="E8EDF5"/>
                </a:solidFill>
                <a:latin typeface="Open Sans" pitchFamily="34" charset="0"/>
                <a:ea typeface="Open Sans" pitchFamily="34" charset="-122"/>
                <a:cs typeface="Open Sans" pitchFamily="34" charset="-120"/>
              </a:rPr>
              <a:t>A IA impulsiona a necessidade de novas habilidades no mercado de trabalho. Novos setores e funções emergem como consequência do avanço da IA.</a:t>
            </a:r>
            <a:endParaRPr lang="en-US" sz="1300" dirty="0"/>
          </a:p>
        </p:txBody>
      </p:sp>
      <p:sp>
        <p:nvSpPr>
          <p:cNvPr id="20" name="Shape 18"/>
          <p:cNvSpPr/>
          <p:nvPr/>
        </p:nvSpPr>
        <p:spPr>
          <a:xfrm>
            <a:off x="6265012" y="2980944"/>
            <a:ext cx="5496916" cy="3502152"/>
          </a:xfrm>
          <a:prstGeom prst="roundRect">
            <a:avLst>
              <a:gd name="adj" fmla="val 2611"/>
            </a:avLst>
          </a:prstGeom>
          <a:solidFill>
            <a:srgbClr val="000000"/>
          </a:solidFill>
          <a:ln/>
        </p:spPr>
      </p:sp>
      <p:sp>
        <p:nvSpPr>
          <p:cNvPr id="21" name="Shape 19"/>
          <p:cNvSpPr/>
          <p:nvPr/>
        </p:nvSpPr>
        <p:spPr>
          <a:xfrm>
            <a:off x="6237580" y="2944368"/>
            <a:ext cx="5496916" cy="3502152"/>
          </a:xfrm>
          <a:prstGeom prst="roundRect">
            <a:avLst>
              <a:gd name="adj" fmla="val 2089"/>
            </a:avLst>
          </a:prstGeom>
          <a:solidFill>
            <a:srgbClr val="141E34"/>
          </a:solidFill>
          <a:ln/>
        </p:spPr>
      </p:sp>
      <p:sp>
        <p:nvSpPr>
          <p:cNvPr id="22" name="Shape 20"/>
          <p:cNvSpPr/>
          <p:nvPr/>
        </p:nvSpPr>
        <p:spPr>
          <a:xfrm>
            <a:off x="6237580" y="2944368"/>
            <a:ext cx="5496916" cy="45720"/>
          </a:xfrm>
          <a:prstGeom prst="rect">
            <a:avLst>
              <a:gd name="adj" fmla="val 160000"/>
            </a:avLst>
          </a:prstGeom>
          <a:solidFill>
            <a:srgbClr val="3B82F6"/>
          </a:solidFill>
          <a:ln/>
        </p:spPr>
      </p:sp>
      <p:sp>
        <p:nvSpPr>
          <p:cNvPr id="23" name="Shape 21"/>
          <p:cNvSpPr/>
          <p:nvPr/>
        </p:nvSpPr>
        <p:spPr>
          <a:xfrm>
            <a:off x="6329020" y="3072384"/>
            <a:ext cx="310896" cy="310896"/>
          </a:xfrm>
          <a:prstGeom prst="roundRect">
            <a:avLst>
              <a:gd name="adj" fmla="val 17647"/>
            </a:avLst>
          </a:prstGeom>
          <a:solidFill>
            <a:srgbClr val="3B82F6"/>
          </a:solidFill>
          <a:ln/>
        </p:spPr>
      </p:sp>
      <p:sp>
        <p:nvSpPr>
          <p:cNvPr id="24" name="Text 22"/>
          <p:cNvSpPr/>
          <p:nvPr/>
        </p:nvSpPr>
        <p:spPr>
          <a:xfrm>
            <a:off x="6329020" y="3072384"/>
            <a:ext cx="310896" cy="310896"/>
          </a:xfrm>
          <a:prstGeom prst="rect">
            <a:avLst/>
          </a:prstGeom>
          <a:noFill/>
          <a:ln/>
        </p:spPr>
        <p:txBody>
          <a:bodyPr wrap="square"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3</a:t>
            </a:r>
            <a:endParaRPr lang="en-US" sz="1500" dirty="0"/>
          </a:p>
        </p:txBody>
      </p:sp>
      <p:sp>
        <p:nvSpPr>
          <p:cNvPr id="25" name="Text 23"/>
          <p:cNvSpPr/>
          <p:nvPr/>
        </p:nvSpPr>
        <p:spPr>
          <a:xfrm>
            <a:off x="6365596" y="3447288"/>
            <a:ext cx="5240884" cy="2953512"/>
          </a:xfrm>
          <a:prstGeom prst="rect">
            <a:avLst/>
          </a:prstGeom>
          <a:noFill/>
          <a:ln/>
        </p:spPr>
        <p:txBody>
          <a:bodyPr wrap="square" rtlCol="0" anchor="t"/>
          <a:lstStyle/>
          <a:p>
            <a:pPr indent="0" marL="0">
              <a:lnSpc>
                <a:spcPct val="122000"/>
              </a:lnSpc>
              <a:buNone/>
            </a:pPr>
            <a:r>
              <a:rPr lang="en-US" sz="1300" dirty="0">
                <a:solidFill>
                  <a:srgbClr val="E8EDF5"/>
                </a:solidFill>
                <a:latin typeface="Open Sans" pitchFamily="34" charset="0"/>
                <a:ea typeface="Open Sans" pitchFamily="34" charset="-122"/>
                <a:cs typeface="Open Sans" pitchFamily="34" charset="-120"/>
              </a:rPr>
              <a:t>Adaptabilidade e resiliência são qualidades indispensáveis para o profissional do futuro.</a:t>
            </a:r>
            <a:endParaRPr lang="en-US" sz="1300" dirty="0"/>
          </a:p>
        </p:txBody>
      </p:sp>
      <p:sp>
        <p:nvSpPr>
          <p:cNvPr id="26" name="Shape 24"/>
          <p:cNvSpPr/>
          <p:nvPr/>
        </p:nvSpPr>
        <p:spPr>
          <a:xfrm>
            <a:off x="0" y="6601968"/>
            <a:ext cx="2041093" cy="4572"/>
          </a:xfrm>
          <a:prstGeom prst="rect">
            <a:avLst/>
          </a:prstGeom>
          <a:solidFill>
            <a:srgbClr val="6C63FF"/>
          </a:solidFill>
          <a:ln/>
        </p:spPr>
      </p:sp>
      <p:sp>
        <p:nvSpPr>
          <p:cNvPr id="27" name="Shape 25"/>
          <p:cNvSpPr/>
          <p:nvPr/>
        </p:nvSpPr>
        <p:spPr>
          <a:xfrm>
            <a:off x="2031949" y="6601968"/>
            <a:ext cx="2041093" cy="4572"/>
          </a:xfrm>
          <a:prstGeom prst="rect">
            <a:avLst/>
          </a:prstGeom>
          <a:solidFill>
            <a:srgbClr val="6C63FF"/>
          </a:solidFill>
          <a:ln/>
        </p:spPr>
      </p:sp>
      <p:sp>
        <p:nvSpPr>
          <p:cNvPr id="28" name="Shape 26"/>
          <p:cNvSpPr/>
          <p:nvPr/>
        </p:nvSpPr>
        <p:spPr>
          <a:xfrm>
            <a:off x="4063898" y="6601968"/>
            <a:ext cx="2041093" cy="4572"/>
          </a:xfrm>
          <a:prstGeom prst="rect">
            <a:avLst/>
          </a:prstGeom>
          <a:solidFill>
            <a:srgbClr val="6C63FF"/>
          </a:solidFill>
          <a:ln/>
        </p:spPr>
      </p:sp>
      <p:sp>
        <p:nvSpPr>
          <p:cNvPr id="29" name="Shape 27"/>
          <p:cNvSpPr/>
          <p:nvPr/>
        </p:nvSpPr>
        <p:spPr>
          <a:xfrm>
            <a:off x="6095848" y="6601968"/>
            <a:ext cx="2041093" cy="4572"/>
          </a:xfrm>
          <a:prstGeom prst="rect">
            <a:avLst/>
          </a:prstGeom>
          <a:solidFill>
            <a:srgbClr val="6C63FF"/>
          </a:solidFill>
          <a:ln/>
        </p:spPr>
      </p:sp>
      <p:sp>
        <p:nvSpPr>
          <p:cNvPr id="30" name="Shape 28"/>
          <p:cNvSpPr/>
          <p:nvPr/>
        </p:nvSpPr>
        <p:spPr>
          <a:xfrm>
            <a:off x="8127797" y="6601968"/>
            <a:ext cx="2041093" cy="4572"/>
          </a:xfrm>
          <a:prstGeom prst="rect">
            <a:avLst/>
          </a:prstGeom>
          <a:solidFill>
            <a:srgbClr val="6C63FF"/>
          </a:solidFill>
          <a:ln/>
        </p:spPr>
      </p:sp>
      <p:sp>
        <p:nvSpPr>
          <p:cNvPr id="31" name="Shape 29"/>
          <p:cNvSpPr/>
          <p:nvPr/>
        </p:nvSpPr>
        <p:spPr>
          <a:xfrm>
            <a:off x="10159746" y="6601968"/>
            <a:ext cx="2041093" cy="4572"/>
          </a:xfrm>
          <a:prstGeom prst="rect">
            <a:avLst/>
          </a:prstGeom>
          <a:solidFill>
            <a:srgbClr val="6C63FF"/>
          </a:solidFill>
          <a:ln/>
        </p:spPr>
      </p:sp>
      <p:sp>
        <p:nvSpPr>
          <p:cNvPr id="32" name="Shape 30"/>
          <p:cNvSpPr/>
          <p:nvPr/>
        </p:nvSpPr>
        <p:spPr>
          <a:xfrm>
            <a:off x="0" y="6606540"/>
            <a:ext cx="12191695" cy="2743"/>
          </a:xfrm>
          <a:prstGeom prst="rect">
            <a:avLst/>
          </a:prstGeom>
          <a:solidFill>
            <a:srgbClr val="222E48"/>
          </a:solidFill>
          <a:ln/>
        </p:spPr>
      </p:sp>
      <p:sp>
        <p:nvSpPr>
          <p:cNvPr id="33" name="Text 31"/>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34" name="Shape 32"/>
          <p:cNvSpPr/>
          <p:nvPr/>
        </p:nvSpPr>
        <p:spPr>
          <a:xfrm>
            <a:off x="10436047" y="6693408"/>
            <a:ext cx="73152" cy="73152"/>
          </a:xfrm>
          <a:prstGeom prst="ellipse">
            <a:avLst/>
          </a:prstGeom>
          <a:solidFill>
            <a:srgbClr val="6C63FF"/>
          </a:solidFill>
          <a:ln/>
        </p:spPr>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F59E0B"/>
          </a:solidFill>
          <a:ln/>
        </p:spPr>
      </p:sp>
      <p:sp>
        <p:nvSpPr>
          <p:cNvPr id="3" name="Shape 1"/>
          <p:cNvSpPr/>
          <p:nvPr/>
        </p:nvSpPr>
        <p:spPr>
          <a:xfrm>
            <a:off x="64008" y="0"/>
            <a:ext cx="18288" cy="6858000"/>
          </a:xfrm>
          <a:prstGeom prst="rect">
            <a:avLst/>
          </a:prstGeom>
          <a:solidFill>
            <a:srgbClr val="F59E0B"/>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F59E0B"/>
                </a:solidFill>
                <a:latin typeface="Open Sans" pitchFamily="34" charset="0"/>
                <a:ea typeface="Open Sans" pitchFamily="34" charset="-122"/>
                <a:cs typeface="Open Sans" pitchFamily="34" charset="-120"/>
              </a:rPr>
              <a:t>FUNDAMENTOS</a:t>
            </a:r>
            <a:endParaRPr lang="en-US" sz="900" dirty="0"/>
          </a:p>
        </p:txBody>
      </p:sp>
      <p:sp>
        <p:nvSpPr>
          <p:cNvPr id="5" name="Shape 3"/>
          <p:cNvSpPr/>
          <p:nvPr/>
        </p:nvSpPr>
        <p:spPr>
          <a:xfrm>
            <a:off x="502920" y="493776"/>
            <a:ext cx="640080" cy="21946"/>
          </a:xfrm>
          <a:prstGeom prst="rect">
            <a:avLst/>
          </a:prstGeom>
          <a:solidFill>
            <a:srgbClr val="F59E0B"/>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Fundamentos (Parte 2)</a:t>
            </a:r>
            <a:endParaRPr lang="en-US" sz="2800" dirty="0"/>
          </a:p>
        </p:txBody>
      </p:sp>
      <p:sp>
        <p:nvSpPr>
          <p:cNvPr id="7" name="Shape 5"/>
          <p:cNvSpPr/>
          <p:nvPr/>
        </p:nvSpPr>
        <p:spPr>
          <a:xfrm>
            <a:off x="502920" y="1389888"/>
            <a:ext cx="11185855" cy="7315"/>
          </a:xfrm>
          <a:prstGeom prst="rect">
            <a:avLst/>
          </a:prstGeom>
          <a:solidFill>
            <a:srgbClr val="F59E0B"/>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621792" y="1572768"/>
            <a:ext cx="3603650" cy="2286000"/>
          </a:xfrm>
          <a:prstGeom prst="roundRect">
            <a:avLst>
              <a:gd name="adj" fmla="val 4000"/>
            </a:avLst>
          </a:prstGeom>
          <a:solidFill>
            <a:srgbClr val="000000"/>
          </a:solidFill>
          <a:ln/>
        </p:spPr>
      </p:sp>
      <p:sp>
        <p:nvSpPr>
          <p:cNvPr id="10" name="Shape 8"/>
          <p:cNvSpPr/>
          <p:nvPr/>
        </p:nvSpPr>
        <p:spPr>
          <a:xfrm>
            <a:off x="594360" y="1536192"/>
            <a:ext cx="3603650" cy="2286000"/>
          </a:xfrm>
          <a:prstGeom prst="roundRect">
            <a:avLst>
              <a:gd name="adj" fmla="val 4000"/>
            </a:avLst>
          </a:prstGeom>
          <a:solidFill>
            <a:srgbClr val="141E34"/>
          </a:solidFill>
          <a:ln/>
        </p:spPr>
      </p:sp>
      <p:sp>
        <p:nvSpPr>
          <p:cNvPr id="11" name="Shape 9"/>
          <p:cNvSpPr/>
          <p:nvPr/>
        </p:nvSpPr>
        <p:spPr>
          <a:xfrm>
            <a:off x="594360" y="1536192"/>
            <a:ext cx="3603650" cy="45720"/>
          </a:xfrm>
          <a:prstGeom prst="rect">
            <a:avLst>
              <a:gd name="adj" fmla="val 200000"/>
            </a:avLst>
          </a:prstGeom>
          <a:solidFill>
            <a:srgbClr val="6C63FF"/>
          </a:solidFill>
          <a:ln/>
        </p:spPr>
      </p:sp>
      <p:sp>
        <p:nvSpPr>
          <p:cNvPr id="12" name="Text 10"/>
          <p:cNvSpPr/>
          <p:nvPr/>
        </p:nvSpPr>
        <p:spPr>
          <a:xfrm>
            <a:off x="3603650" y="1627632"/>
            <a:ext cx="502920" cy="365760"/>
          </a:xfrm>
          <a:prstGeom prst="rect">
            <a:avLst/>
          </a:prstGeom>
          <a:noFill/>
          <a:ln/>
        </p:spPr>
        <p:txBody>
          <a:bodyPr wrap="square" rtlCol="0" anchor="ctr"/>
          <a:lstStyle/>
          <a:p>
            <a:pPr algn="r" indent="0" marL="0">
              <a:buNone/>
            </a:pPr>
            <a:r>
              <a:rPr lang="en-US" sz="2400" b="1" dirty="0">
                <a:solidFill>
                  <a:srgbClr val="6C63FF">
                    <a:alpha val="75000"/>
                  </a:srgbClr>
                </a:solidFill>
                <a:latin typeface="Montserrat" pitchFamily="34" charset="0"/>
                <a:ea typeface="Montserrat" pitchFamily="34" charset="-122"/>
                <a:cs typeface="Montserrat" pitchFamily="34" charset="-120"/>
              </a:rPr>
              <a:t>01</a:t>
            </a:r>
            <a:endParaRPr lang="en-US" sz="2400" dirty="0"/>
          </a:p>
        </p:txBody>
      </p:sp>
      <p:sp>
        <p:nvSpPr>
          <p:cNvPr id="13" name="Text 11"/>
          <p:cNvSpPr/>
          <p:nvPr/>
        </p:nvSpPr>
        <p:spPr>
          <a:xfrm>
            <a:off x="722376" y="1682496"/>
            <a:ext cx="2835554" cy="201168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A Inteligência Artificial (IA) é uma força transformadora que redefine as estruturas ocupacionais.</a:t>
            </a:r>
            <a:endParaRPr lang="en-US" sz="1300" dirty="0"/>
          </a:p>
        </p:txBody>
      </p:sp>
      <p:sp>
        <p:nvSpPr>
          <p:cNvPr id="14" name="Shape 12"/>
          <p:cNvSpPr/>
          <p:nvPr/>
        </p:nvSpPr>
        <p:spPr>
          <a:xfrm>
            <a:off x="4390034" y="1572768"/>
            <a:ext cx="3603650" cy="2286000"/>
          </a:xfrm>
          <a:prstGeom prst="roundRect">
            <a:avLst>
              <a:gd name="adj" fmla="val 4000"/>
            </a:avLst>
          </a:prstGeom>
          <a:solidFill>
            <a:srgbClr val="000000"/>
          </a:solidFill>
          <a:ln/>
        </p:spPr>
      </p:sp>
      <p:sp>
        <p:nvSpPr>
          <p:cNvPr id="15" name="Shape 13"/>
          <p:cNvSpPr/>
          <p:nvPr/>
        </p:nvSpPr>
        <p:spPr>
          <a:xfrm>
            <a:off x="4362602" y="1536192"/>
            <a:ext cx="3603650" cy="2286000"/>
          </a:xfrm>
          <a:prstGeom prst="roundRect">
            <a:avLst>
              <a:gd name="adj" fmla="val 4000"/>
            </a:avLst>
          </a:prstGeom>
          <a:solidFill>
            <a:srgbClr val="141E34"/>
          </a:solidFill>
          <a:ln/>
        </p:spPr>
      </p:sp>
      <p:sp>
        <p:nvSpPr>
          <p:cNvPr id="16" name="Shape 14"/>
          <p:cNvSpPr/>
          <p:nvPr/>
        </p:nvSpPr>
        <p:spPr>
          <a:xfrm>
            <a:off x="4362602" y="1536192"/>
            <a:ext cx="3603650" cy="45720"/>
          </a:xfrm>
          <a:prstGeom prst="rect">
            <a:avLst>
              <a:gd name="adj" fmla="val 200000"/>
            </a:avLst>
          </a:prstGeom>
          <a:solidFill>
            <a:srgbClr val="3B82F6"/>
          </a:solidFill>
          <a:ln/>
        </p:spPr>
      </p:sp>
      <p:sp>
        <p:nvSpPr>
          <p:cNvPr id="17" name="Text 15"/>
          <p:cNvSpPr/>
          <p:nvPr/>
        </p:nvSpPr>
        <p:spPr>
          <a:xfrm>
            <a:off x="7371893" y="1627632"/>
            <a:ext cx="502920" cy="365760"/>
          </a:xfrm>
          <a:prstGeom prst="rect">
            <a:avLst/>
          </a:prstGeom>
          <a:noFill/>
          <a:ln/>
        </p:spPr>
        <p:txBody>
          <a:bodyPr wrap="square" rtlCol="0" anchor="ctr"/>
          <a:lstStyle/>
          <a:p>
            <a:pPr algn="r" indent="0" marL="0">
              <a:buNone/>
            </a:pPr>
            <a:r>
              <a:rPr lang="en-US" sz="2400" b="1" dirty="0">
                <a:solidFill>
                  <a:srgbClr val="3B82F6">
                    <a:alpha val="75000"/>
                  </a:srgbClr>
                </a:solidFill>
                <a:latin typeface="Montserrat" pitchFamily="34" charset="0"/>
                <a:ea typeface="Montserrat" pitchFamily="34" charset="-122"/>
                <a:cs typeface="Montserrat" pitchFamily="34" charset="-120"/>
              </a:rPr>
              <a:t>02</a:t>
            </a:r>
            <a:endParaRPr lang="en-US" sz="2400" dirty="0"/>
          </a:p>
        </p:txBody>
      </p:sp>
      <p:sp>
        <p:nvSpPr>
          <p:cNvPr id="18" name="Text 16"/>
          <p:cNvSpPr/>
          <p:nvPr/>
        </p:nvSpPr>
        <p:spPr>
          <a:xfrm>
            <a:off x="4490618" y="1682496"/>
            <a:ext cx="2835554" cy="201168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Ela influencia as habilidades valorizadas e as dinâmicas de colaboração no mercado. Não é apenas uma ferramenta, mas um agente de mudança profunda.</a:t>
            </a:r>
            <a:endParaRPr lang="en-US" sz="1300" dirty="0"/>
          </a:p>
        </p:txBody>
      </p:sp>
      <p:sp>
        <p:nvSpPr>
          <p:cNvPr id="19" name="Shape 17"/>
          <p:cNvSpPr/>
          <p:nvPr/>
        </p:nvSpPr>
        <p:spPr>
          <a:xfrm>
            <a:off x="8158277" y="1572768"/>
            <a:ext cx="3603650" cy="2286000"/>
          </a:xfrm>
          <a:prstGeom prst="roundRect">
            <a:avLst>
              <a:gd name="adj" fmla="val 4000"/>
            </a:avLst>
          </a:prstGeom>
          <a:solidFill>
            <a:srgbClr val="000000"/>
          </a:solidFill>
          <a:ln/>
        </p:spPr>
      </p:sp>
      <p:sp>
        <p:nvSpPr>
          <p:cNvPr id="20" name="Shape 18"/>
          <p:cNvSpPr/>
          <p:nvPr/>
        </p:nvSpPr>
        <p:spPr>
          <a:xfrm>
            <a:off x="8130845" y="1536192"/>
            <a:ext cx="3603650" cy="2286000"/>
          </a:xfrm>
          <a:prstGeom prst="roundRect">
            <a:avLst>
              <a:gd name="adj" fmla="val 4000"/>
            </a:avLst>
          </a:prstGeom>
          <a:solidFill>
            <a:srgbClr val="141E34"/>
          </a:solidFill>
          <a:ln/>
        </p:spPr>
      </p:sp>
      <p:sp>
        <p:nvSpPr>
          <p:cNvPr id="21" name="Shape 19"/>
          <p:cNvSpPr/>
          <p:nvPr/>
        </p:nvSpPr>
        <p:spPr>
          <a:xfrm>
            <a:off x="8130845" y="1536192"/>
            <a:ext cx="3603650" cy="45720"/>
          </a:xfrm>
          <a:prstGeom prst="rect">
            <a:avLst>
              <a:gd name="adj" fmla="val 200000"/>
            </a:avLst>
          </a:prstGeom>
          <a:solidFill>
            <a:srgbClr val="10B981"/>
          </a:solidFill>
          <a:ln/>
        </p:spPr>
      </p:sp>
      <p:sp>
        <p:nvSpPr>
          <p:cNvPr id="22" name="Text 20"/>
          <p:cNvSpPr/>
          <p:nvPr/>
        </p:nvSpPr>
        <p:spPr>
          <a:xfrm>
            <a:off x="11140135" y="1627632"/>
            <a:ext cx="502920" cy="365760"/>
          </a:xfrm>
          <a:prstGeom prst="rect">
            <a:avLst/>
          </a:prstGeom>
          <a:noFill/>
          <a:ln/>
        </p:spPr>
        <p:txBody>
          <a:bodyPr wrap="square" rtlCol="0" anchor="ctr"/>
          <a:lstStyle/>
          <a:p>
            <a:pPr algn="r" indent="0" marL="0">
              <a:buNone/>
            </a:pPr>
            <a:r>
              <a:rPr lang="en-US" sz="2400" b="1" dirty="0">
                <a:solidFill>
                  <a:srgbClr val="10B981">
                    <a:alpha val="75000"/>
                  </a:srgbClr>
                </a:solidFill>
                <a:latin typeface="Montserrat" pitchFamily="34" charset="0"/>
                <a:ea typeface="Montserrat" pitchFamily="34" charset="-122"/>
                <a:cs typeface="Montserrat" pitchFamily="34" charset="-120"/>
              </a:rPr>
              <a:t>03</a:t>
            </a:r>
            <a:endParaRPr lang="en-US" sz="2400" dirty="0"/>
          </a:p>
        </p:txBody>
      </p:sp>
      <p:sp>
        <p:nvSpPr>
          <p:cNvPr id="23" name="Text 21"/>
          <p:cNvSpPr/>
          <p:nvPr/>
        </p:nvSpPr>
        <p:spPr>
          <a:xfrm>
            <a:off x="8258861" y="1682496"/>
            <a:ext cx="2835554" cy="201168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A IA remodela o mercado de trabalho, automatizando tarefas e criando novas demandas. Esta transformação exige adaptação contínua de profissionais e empresas.</a:t>
            </a:r>
            <a:endParaRPr lang="en-US" sz="1300" dirty="0"/>
          </a:p>
        </p:txBody>
      </p:sp>
      <p:sp>
        <p:nvSpPr>
          <p:cNvPr id="24" name="Shape 22"/>
          <p:cNvSpPr/>
          <p:nvPr/>
        </p:nvSpPr>
        <p:spPr>
          <a:xfrm>
            <a:off x="0" y="6601968"/>
            <a:ext cx="2041093" cy="4572"/>
          </a:xfrm>
          <a:prstGeom prst="rect">
            <a:avLst/>
          </a:prstGeom>
          <a:solidFill>
            <a:srgbClr val="6C63FF"/>
          </a:solidFill>
          <a:ln/>
        </p:spPr>
      </p:sp>
      <p:sp>
        <p:nvSpPr>
          <p:cNvPr id="25" name="Shape 23"/>
          <p:cNvSpPr/>
          <p:nvPr/>
        </p:nvSpPr>
        <p:spPr>
          <a:xfrm>
            <a:off x="2031949" y="6601968"/>
            <a:ext cx="2041093" cy="4572"/>
          </a:xfrm>
          <a:prstGeom prst="rect">
            <a:avLst/>
          </a:prstGeom>
          <a:solidFill>
            <a:srgbClr val="6C63FF"/>
          </a:solidFill>
          <a:ln/>
        </p:spPr>
      </p:sp>
      <p:sp>
        <p:nvSpPr>
          <p:cNvPr id="26" name="Shape 24"/>
          <p:cNvSpPr/>
          <p:nvPr/>
        </p:nvSpPr>
        <p:spPr>
          <a:xfrm>
            <a:off x="4063898" y="6601968"/>
            <a:ext cx="2041093" cy="4572"/>
          </a:xfrm>
          <a:prstGeom prst="rect">
            <a:avLst/>
          </a:prstGeom>
          <a:solidFill>
            <a:srgbClr val="6C63FF"/>
          </a:solidFill>
          <a:ln/>
        </p:spPr>
      </p:sp>
      <p:sp>
        <p:nvSpPr>
          <p:cNvPr id="27" name="Shape 25"/>
          <p:cNvSpPr/>
          <p:nvPr/>
        </p:nvSpPr>
        <p:spPr>
          <a:xfrm>
            <a:off x="6095848" y="6601968"/>
            <a:ext cx="2041093" cy="4572"/>
          </a:xfrm>
          <a:prstGeom prst="rect">
            <a:avLst/>
          </a:prstGeom>
          <a:solidFill>
            <a:srgbClr val="6C63FF"/>
          </a:solidFill>
          <a:ln/>
        </p:spPr>
      </p:sp>
      <p:sp>
        <p:nvSpPr>
          <p:cNvPr id="28" name="Shape 26"/>
          <p:cNvSpPr/>
          <p:nvPr/>
        </p:nvSpPr>
        <p:spPr>
          <a:xfrm>
            <a:off x="8127797" y="6601968"/>
            <a:ext cx="2041093" cy="4572"/>
          </a:xfrm>
          <a:prstGeom prst="rect">
            <a:avLst/>
          </a:prstGeom>
          <a:solidFill>
            <a:srgbClr val="6C63FF"/>
          </a:solidFill>
          <a:ln/>
        </p:spPr>
      </p:sp>
      <p:sp>
        <p:nvSpPr>
          <p:cNvPr id="29" name="Shape 27"/>
          <p:cNvSpPr/>
          <p:nvPr/>
        </p:nvSpPr>
        <p:spPr>
          <a:xfrm>
            <a:off x="10159746" y="6601968"/>
            <a:ext cx="2041093" cy="4572"/>
          </a:xfrm>
          <a:prstGeom prst="rect">
            <a:avLst/>
          </a:prstGeom>
          <a:solidFill>
            <a:srgbClr val="6C63FF"/>
          </a:solidFill>
          <a:ln/>
        </p:spPr>
      </p:sp>
      <p:sp>
        <p:nvSpPr>
          <p:cNvPr id="30" name="Shape 28"/>
          <p:cNvSpPr/>
          <p:nvPr/>
        </p:nvSpPr>
        <p:spPr>
          <a:xfrm>
            <a:off x="0" y="6606540"/>
            <a:ext cx="12191695" cy="2743"/>
          </a:xfrm>
          <a:prstGeom prst="rect">
            <a:avLst/>
          </a:prstGeom>
          <a:solidFill>
            <a:srgbClr val="222E48"/>
          </a:solidFill>
          <a:ln/>
        </p:spPr>
      </p:sp>
      <p:sp>
        <p:nvSpPr>
          <p:cNvPr id="31" name="Text 29"/>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32" name="Shape 30"/>
          <p:cNvSpPr/>
          <p:nvPr/>
        </p:nvSpPr>
        <p:spPr>
          <a:xfrm>
            <a:off x="10436047" y="6693408"/>
            <a:ext cx="73152" cy="73152"/>
          </a:xfrm>
          <a:prstGeom prst="ellipse">
            <a:avLst/>
          </a:prstGeom>
          <a:solidFill>
            <a:srgbClr val="6C63FF"/>
          </a:solidFill>
          <a:ln/>
        </p:spPr>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50A18"/>
        </a:solidFill>
      </p:bgPr>
    </p:bg>
    <p:spTree>
      <p:nvGrpSpPr>
        <p:cNvPr id="1" name=""/>
        <p:cNvGrpSpPr/>
        <p:nvPr/>
      </p:nvGrpSpPr>
      <p:grpSpPr>
        <a:xfrm>
          <a:off x="0" y="0"/>
          <a:ext cx="0" cy="0"/>
          <a:chOff x="0" y="0"/>
          <a:chExt cx="0" cy="0"/>
        </a:xfrm>
      </p:grpSpPr>
      <p:sp>
        <p:nvSpPr>
          <p:cNvPr id="2" name="Text 0"/>
          <p:cNvSpPr/>
          <p:nvPr/>
        </p:nvSpPr>
        <p:spPr>
          <a:xfrm>
            <a:off x="502920" y="274320"/>
            <a:ext cx="5486400" cy="219456"/>
          </a:xfrm>
          <a:prstGeom prst="rect">
            <a:avLst/>
          </a:prstGeom>
          <a:noFill/>
          <a:ln/>
        </p:spPr>
        <p:txBody>
          <a:bodyPr wrap="square" rtlCol="0" anchor="ctr"/>
          <a:lstStyle/>
          <a:p>
            <a:pPr indent="0" marL="0">
              <a:buNone/>
            </a:pPr>
            <a:r>
              <a:rPr lang="en-US" sz="1000" b="1" spc="500" kern="0" dirty="0">
                <a:solidFill>
                  <a:srgbClr val="10B981"/>
                </a:solidFill>
                <a:latin typeface="Open Sans" pitchFamily="34" charset="0"/>
                <a:ea typeface="Open Sans" pitchFamily="34" charset="-122"/>
                <a:cs typeface="Open Sans" pitchFamily="34" charset="-120"/>
              </a:rPr>
              <a:t>COMO FUNCIONA</a:t>
            </a:r>
            <a:endParaRPr lang="en-US" sz="1000" dirty="0"/>
          </a:p>
        </p:txBody>
      </p:sp>
      <p:sp>
        <p:nvSpPr>
          <p:cNvPr id="3" name="Shape 1"/>
          <p:cNvSpPr/>
          <p:nvPr/>
        </p:nvSpPr>
        <p:spPr>
          <a:xfrm>
            <a:off x="502920" y="521208"/>
            <a:ext cx="914400" cy="18288"/>
          </a:xfrm>
          <a:prstGeom prst="rect">
            <a:avLst/>
          </a:prstGeom>
          <a:solidFill>
            <a:srgbClr val="10B981"/>
          </a:solidFill>
          <a:ln/>
        </p:spPr>
      </p:sp>
      <p:sp>
        <p:nvSpPr>
          <p:cNvPr id="4" name="Text 2"/>
          <p:cNvSpPr/>
          <p:nvPr/>
        </p:nvSpPr>
        <p:spPr>
          <a:xfrm>
            <a:off x="502920" y="621792"/>
            <a:ext cx="11185855" cy="640080"/>
          </a:xfrm>
          <a:prstGeom prst="rect">
            <a:avLst/>
          </a:prstGeom>
          <a:noFill/>
          <a:ln/>
        </p:spPr>
        <p:txBody>
          <a:bodyPr wrap="square" rtlCol="0" anchor="ctr"/>
          <a:lstStyle/>
          <a:p>
            <a:pPr indent="0" marL="0">
              <a:buNone/>
            </a:pPr>
            <a:r>
              <a:rPr lang="en-US" sz="2600" b="1" dirty="0">
                <a:solidFill>
                  <a:srgbClr val="FFFFFF"/>
                </a:solidFill>
                <a:latin typeface="Montserrat" pitchFamily="34" charset="0"/>
                <a:ea typeface="Montserrat" pitchFamily="34" charset="-122"/>
                <a:cs typeface="Montserrat" pitchFamily="34" charset="-120"/>
              </a:rPr>
              <a:t>Como funciona</a:t>
            </a:r>
            <a:endParaRPr lang="en-US" sz="2600" dirty="0"/>
          </a:p>
        </p:txBody>
      </p:sp>
      <p:sp>
        <p:nvSpPr>
          <p:cNvPr id="5" name="Shape 3"/>
          <p:cNvSpPr/>
          <p:nvPr/>
        </p:nvSpPr>
        <p:spPr>
          <a:xfrm>
            <a:off x="502920" y="3373679"/>
            <a:ext cx="11323015" cy="36576"/>
          </a:xfrm>
          <a:prstGeom prst="rect">
            <a:avLst/>
          </a:prstGeom>
          <a:solidFill>
            <a:srgbClr val="10B981"/>
          </a:solidFill>
          <a:ln/>
        </p:spPr>
      </p:sp>
      <p:sp>
        <p:nvSpPr>
          <p:cNvPr id="6" name="Shape 4"/>
          <p:cNvSpPr/>
          <p:nvPr/>
        </p:nvSpPr>
        <p:spPr>
          <a:xfrm>
            <a:off x="521208" y="1746504"/>
            <a:ext cx="2515286" cy="4727448"/>
          </a:xfrm>
          <a:prstGeom prst="roundRect">
            <a:avLst>
              <a:gd name="adj" fmla="val 4362"/>
            </a:avLst>
          </a:prstGeom>
          <a:solidFill>
            <a:srgbClr val="000000"/>
          </a:solidFill>
          <a:ln/>
        </p:spPr>
      </p:sp>
      <p:sp>
        <p:nvSpPr>
          <p:cNvPr id="7" name="Shape 5"/>
          <p:cNvSpPr/>
          <p:nvPr/>
        </p:nvSpPr>
        <p:spPr>
          <a:xfrm>
            <a:off x="502920" y="1719072"/>
            <a:ext cx="2515286" cy="4727448"/>
          </a:xfrm>
          <a:prstGeom prst="roundRect">
            <a:avLst>
              <a:gd name="adj" fmla="val 4362"/>
            </a:avLst>
          </a:prstGeom>
          <a:solidFill>
            <a:srgbClr val="111D38"/>
          </a:solidFill>
          <a:ln/>
        </p:spPr>
      </p:sp>
      <p:sp>
        <p:nvSpPr>
          <p:cNvPr id="8" name="Shape 6"/>
          <p:cNvSpPr/>
          <p:nvPr/>
        </p:nvSpPr>
        <p:spPr>
          <a:xfrm>
            <a:off x="502920" y="1719072"/>
            <a:ext cx="2515286" cy="45720"/>
          </a:xfrm>
          <a:prstGeom prst="rect">
            <a:avLst>
              <a:gd name="adj" fmla="val 240000"/>
            </a:avLst>
          </a:prstGeom>
          <a:solidFill>
            <a:srgbClr val="6C63FF"/>
          </a:solidFill>
          <a:ln/>
        </p:spPr>
      </p:sp>
      <p:sp>
        <p:nvSpPr>
          <p:cNvPr id="9" name="Shape 7"/>
          <p:cNvSpPr/>
          <p:nvPr/>
        </p:nvSpPr>
        <p:spPr>
          <a:xfrm>
            <a:off x="1577683" y="1847088"/>
            <a:ext cx="365760" cy="365760"/>
          </a:xfrm>
          <a:prstGeom prst="roundRect">
            <a:avLst>
              <a:gd name="adj" fmla="val 20000"/>
            </a:avLst>
          </a:prstGeom>
          <a:solidFill>
            <a:srgbClr val="6C63FF"/>
          </a:solidFill>
          <a:ln/>
        </p:spPr>
      </p:sp>
      <p:sp>
        <p:nvSpPr>
          <p:cNvPr id="10" name="Text 8"/>
          <p:cNvSpPr/>
          <p:nvPr/>
        </p:nvSpPr>
        <p:spPr>
          <a:xfrm>
            <a:off x="1577683" y="1847088"/>
            <a:ext cx="365760" cy="365760"/>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1</a:t>
            </a:r>
            <a:endParaRPr lang="en-US" sz="1600" dirty="0"/>
          </a:p>
        </p:txBody>
      </p:sp>
      <p:sp>
        <p:nvSpPr>
          <p:cNvPr id="11" name="Shape 9"/>
          <p:cNvSpPr/>
          <p:nvPr/>
        </p:nvSpPr>
        <p:spPr>
          <a:xfrm>
            <a:off x="3045638" y="3355391"/>
            <a:ext cx="310896" cy="36576"/>
          </a:xfrm>
          <a:prstGeom prst="rect">
            <a:avLst/>
          </a:prstGeom>
          <a:solidFill>
            <a:srgbClr val="6C63FF"/>
          </a:solidFill>
          <a:ln/>
        </p:spPr>
      </p:sp>
      <p:sp>
        <p:nvSpPr>
          <p:cNvPr id="12" name="Shape 10"/>
          <p:cNvSpPr/>
          <p:nvPr/>
        </p:nvSpPr>
        <p:spPr>
          <a:xfrm rot="2700000">
            <a:off x="3246806" y="3318815"/>
            <a:ext cx="109728" cy="109728"/>
          </a:xfrm>
          <a:prstGeom prst="rect">
            <a:avLst/>
          </a:prstGeom>
          <a:solidFill>
            <a:srgbClr val="6C63FF"/>
          </a:solidFill>
          <a:ln/>
        </p:spPr>
      </p:sp>
      <p:sp>
        <p:nvSpPr>
          <p:cNvPr id="13" name="Text 11"/>
          <p:cNvSpPr/>
          <p:nvPr/>
        </p:nvSpPr>
        <p:spPr>
          <a:xfrm>
            <a:off x="594360" y="2286000"/>
            <a:ext cx="2332406" cy="365760"/>
          </a:xfrm>
          <a:prstGeom prst="rect">
            <a:avLst/>
          </a:prstGeom>
          <a:noFill/>
          <a:ln/>
        </p:spPr>
        <p:txBody>
          <a:bodyPr wrap="square" rtlCol="0" anchor="ctr"/>
          <a:lstStyle/>
          <a:p>
            <a:pPr algn="ctr" indent="0" marL="0">
              <a:buNone/>
            </a:pPr>
            <a:r>
              <a:rPr lang="en-US" sz="1500" b="1" dirty="0">
                <a:solidFill>
                  <a:srgbClr val="6C63FF"/>
                </a:solidFill>
                <a:latin typeface="Montserrat" pitchFamily="34" charset="0"/>
                <a:ea typeface="Montserrat" pitchFamily="34" charset="-122"/>
                <a:cs typeface="Montserrat" pitchFamily="34" charset="-120"/>
              </a:rPr>
              <a:t>A colaboração entre humanos</a:t>
            </a:r>
            <a:endParaRPr lang="en-US" sz="1500" dirty="0"/>
          </a:p>
        </p:txBody>
      </p:sp>
      <p:sp>
        <p:nvSpPr>
          <p:cNvPr id="14" name="Text 12"/>
          <p:cNvSpPr/>
          <p:nvPr/>
        </p:nvSpPr>
        <p:spPr>
          <a:xfrm>
            <a:off x="594360" y="2651760"/>
            <a:ext cx="2332406" cy="3721608"/>
          </a:xfrm>
          <a:prstGeom prst="rect">
            <a:avLst/>
          </a:prstGeom>
          <a:noFill/>
          <a:ln/>
        </p:spPr>
        <p:txBody>
          <a:bodyPr wrap="square" rtlCol="0" anchor="t"/>
          <a:lstStyle/>
          <a:p>
            <a:pPr algn="ctr" indent="0" marL="0">
              <a:lnSpc>
                <a:spcPct val="122000"/>
              </a:lnSpc>
              <a:buNone/>
            </a:pPr>
            <a:r>
              <a:rPr lang="en-US" sz="1300" dirty="0">
                <a:solidFill>
                  <a:srgbClr val="94A3C0"/>
                </a:solidFill>
                <a:latin typeface="Open Sans" pitchFamily="34" charset="0"/>
                <a:ea typeface="Open Sans" pitchFamily="34" charset="-122"/>
                <a:cs typeface="Open Sans" pitchFamily="34" charset="-120"/>
              </a:rPr>
              <a:t>e IA não se baseia em substituição, mas em simbiose.</a:t>
            </a:r>
            <a:endParaRPr lang="en-US" sz="1300" dirty="0"/>
          </a:p>
        </p:txBody>
      </p:sp>
      <p:sp>
        <p:nvSpPr>
          <p:cNvPr id="15" name="Shape 13"/>
          <p:cNvSpPr/>
          <p:nvPr/>
        </p:nvSpPr>
        <p:spPr>
          <a:xfrm>
            <a:off x="3457118" y="1746504"/>
            <a:ext cx="2515286" cy="4727448"/>
          </a:xfrm>
          <a:prstGeom prst="roundRect">
            <a:avLst>
              <a:gd name="adj" fmla="val 4362"/>
            </a:avLst>
          </a:prstGeom>
          <a:solidFill>
            <a:srgbClr val="000000"/>
          </a:solidFill>
          <a:ln/>
        </p:spPr>
      </p:sp>
      <p:sp>
        <p:nvSpPr>
          <p:cNvPr id="16" name="Shape 14"/>
          <p:cNvSpPr/>
          <p:nvPr/>
        </p:nvSpPr>
        <p:spPr>
          <a:xfrm>
            <a:off x="3438830" y="1719072"/>
            <a:ext cx="2515286" cy="4727448"/>
          </a:xfrm>
          <a:prstGeom prst="roundRect">
            <a:avLst>
              <a:gd name="adj" fmla="val 4362"/>
            </a:avLst>
          </a:prstGeom>
          <a:solidFill>
            <a:srgbClr val="111D38"/>
          </a:solidFill>
          <a:ln/>
        </p:spPr>
      </p:sp>
      <p:sp>
        <p:nvSpPr>
          <p:cNvPr id="17" name="Shape 15"/>
          <p:cNvSpPr/>
          <p:nvPr/>
        </p:nvSpPr>
        <p:spPr>
          <a:xfrm>
            <a:off x="3438830" y="1719072"/>
            <a:ext cx="2515286" cy="45720"/>
          </a:xfrm>
          <a:prstGeom prst="rect">
            <a:avLst>
              <a:gd name="adj" fmla="val 240000"/>
            </a:avLst>
          </a:prstGeom>
          <a:solidFill>
            <a:srgbClr val="3B82F6"/>
          </a:solidFill>
          <a:ln/>
        </p:spPr>
      </p:sp>
      <p:sp>
        <p:nvSpPr>
          <p:cNvPr id="18" name="Shape 16"/>
          <p:cNvSpPr/>
          <p:nvPr/>
        </p:nvSpPr>
        <p:spPr>
          <a:xfrm>
            <a:off x="4513593" y="1847088"/>
            <a:ext cx="365760" cy="365760"/>
          </a:xfrm>
          <a:prstGeom prst="roundRect">
            <a:avLst>
              <a:gd name="adj" fmla="val 20000"/>
            </a:avLst>
          </a:prstGeom>
          <a:solidFill>
            <a:srgbClr val="3B82F6"/>
          </a:solidFill>
          <a:ln/>
        </p:spPr>
      </p:sp>
      <p:sp>
        <p:nvSpPr>
          <p:cNvPr id="19" name="Text 17"/>
          <p:cNvSpPr/>
          <p:nvPr/>
        </p:nvSpPr>
        <p:spPr>
          <a:xfrm>
            <a:off x="4513593" y="1847088"/>
            <a:ext cx="365760" cy="365760"/>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sp>
        <p:nvSpPr>
          <p:cNvPr id="20" name="Shape 18"/>
          <p:cNvSpPr/>
          <p:nvPr/>
        </p:nvSpPr>
        <p:spPr>
          <a:xfrm>
            <a:off x="5981548" y="3355391"/>
            <a:ext cx="310896" cy="36576"/>
          </a:xfrm>
          <a:prstGeom prst="rect">
            <a:avLst/>
          </a:prstGeom>
          <a:solidFill>
            <a:srgbClr val="3B82F6"/>
          </a:solidFill>
          <a:ln/>
        </p:spPr>
      </p:sp>
      <p:sp>
        <p:nvSpPr>
          <p:cNvPr id="21" name="Shape 19"/>
          <p:cNvSpPr/>
          <p:nvPr/>
        </p:nvSpPr>
        <p:spPr>
          <a:xfrm rot="2700000">
            <a:off x="6182716" y="3318815"/>
            <a:ext cx="109728" cy="109728"/>
          </a:xfrm>
          <a:prstGeom prst="rect">
            <a:avLst/>
          </a:prstGeom>
          <a:solidFill>
            <a:srgbClr val="3B82F6"/>
          </a:solidFill>
          <a:ln/>
        </p:spPr>
      </p:sp>
      <p:sp>
        <p:nvSpPr>
          <p:cNvPr id="22" name="Text 20"/>
          <p:cNvSpPr/>
          <p:nvPr/>
        </p:nvSpPr>
        <p:spPr>
          <a:xfrm>
            <a:off x="3530270" y="2286000"/>
            <a:ext cx="2332406" cy="365760"/>
          </a:xfrm>
          <a:prstGeom prst="rect">
            <a:avLst/>
          </a:prstGeom>
          <a:noFill/>
          <a:ln/>
        </p:spPr>
        <p:txBody>
          <a:bodyPr wrap="square" rtlCol="0" anchor="ctr"/>
          <a:lstStyle/>
          <a:p>
            <a:pPr algn="ctr" indent="0" marL="0">
              <a:buNone/>
            </a:pPr>
            <a:r>
              <a:rPr lang="en-US" sz="1500" b="1" dirty="0">
                <a:solidFill>
                  <a:srgbClr val="3B82F6"/>
                </a:solidFill>
                <a:latin typeface="Montserrat" pitchFamily="34" charset="0"/>
                <a:ea typeface="Montserrat" pitchFamily="34" charset="-122"/>
                <a:cs typeface="Montserrat" pitchFamily="34" charset="-120"/>
              </a:rPr>
              <a:t>Combina as capacidades analíticas</a:t>
            </a:r>
            <a:endParaRPr lang="en-US" sz="1500" dirty="0"/>
          </a:p>
        </p:txBody>
      </p:sp>
      <p:sp>
        <p:nvSpPr>
          <p:cNvPr id="23" name="Text 21"/>
          <p:cNvSpPr/>
          <p:nvPr/>
        </p:nvSpPr>
        <p:spPr>
          <a:xfrm>
            <a:off x="3530270" y="2651760"/>
            <a:ext cx="2332406" cy="3721608"/>
          </a:xfrm>
          <a:prstGeom prst="rect">
            <a:avLst/>
          </a:prstGeom>
          <a:noFill/>
          <a:ln/>
        </p:spPr>
        <p:txBody>
          <a:bodyPr wrap="square" rtlCol="0" anchor="t"/>
          <a:lstStyle/>
          <a:p>
            <a:pPr algn="ctr" indent="0" marL="0">
              <a:lnSpc>
                <a:spcPct val="122000"/>
              </a:lnSpc>
              <a:buNone/>
            </a:pPr>
            <a:r>
              <a:rPr lang="en-US" sz="1300" dirty="0">
                <a:solidFill>
                  <a:srgbClr val="94A3C0"/>
                </a:solidFill>
                <a:latin typeface="Open Sans" pitchFamily="34" charset="0"/>
                <a:ea typeface="Open Sans" pitchFamily="34" charset="-122"/>
                <a:cs typeface="Open Sans" pitchFamily="34" charset="-120"/>
              </a:rPr>
              <a:t>da IA com a criatividade e o pensamento crítico humanos.</a:t>
            </a:r>
            <a:endParaRPr lang="en-US" sz="1300" dirty="0"/>
          </a:p>
        </p:txBody>
      </p:sp>
      <p:sp>
        <p:nvSpPr>
          <p:cNvPr id="24" name="Shape 22"/>
          <p:cNvSpPr/>
          <p:nvPr/>
        </p:nvSpPr>
        <p:spPr>
          <a:xfrm>
            <a:off x="6393028" y="1746504"/>
            <a:ext cx="2515286" cy="4727448"/>
          </a:xfrm>
          <a:prstGeom prst="roundRect">
            <a:avLst>
              <a:gd name="adj" fmla="val 4362"/>
            </a:avLst>
          </a:prstGeom>
          <a:solidFill>
            <a:srgbClr val="000000"/>
          </a:solidFill>
          <a:ln/>
        </p:spPr>
      </p:sp>
      <p:sp>
        <p:nvSpPr>
          <p:cNvPr id="25" name="Shape 23"/>
          <p:cNvSpPr/>
          <p:nvPr/>
        </p:nvSpPr>
        <p:spPr>
          <a:xfrm>
            <a:off x="6374740" y="1719072"/>
            <a:ext cx="2515286" cy="4727448"/>
          </a:xfrm>
          <a:prstGeom prst="roundRect">
            <a:avLst>
              <a:gd name="adj" fmla="val 4362"/>
            </a:avLst>
          </a:prstGeom>
          <a:solidFill>
            <a:srgbClr val="111D38"/>
          </a:solidFill>
          <a:ln/>
        </p:spPr>
      </p:sp>
      <p:sp>
        <p:nvSpPr>
          <p:cNvPr id="26" name="Shape 24"/>
          <p:cNvSpPr/>
          <p:nvPr/>
        </p:nvSpPr>
        <p:spPr>
          <a:xfrm>
            <a:off x="6374740" y="1719072"/>
            <a:ext cx="2515286" cy="45720"/>
          </a:xfrm>
          <a:prstGeom prst="rect">
            <a:avLst>
              <a:gd name="adj" fmla="val 240000"/>
            </a:avLst>
          </a:prstGeom>
          <a:solidFill>
            <a:srgbClr val="10B981"/>
          </a:solidFill>
          <a:ln/>
        </p:spPr>
      </p:sp>
      <p:sp>
        <p:nvSpPr>
          <p:cNvPr id="27" name="Shape 25"/>
          <p:cNvSpPr/>
          <p:nvPr/>
        </p:nvSpPr>
        <p:spPr>
          <a:xfrm>
            <a:off x="7449503" y="1847088"/>
            <a:ext cx="365760" cy="365760"/>
          </a:xfrm>
          <a:prstGeom prst="roundRect">
            <a:avLst>
              <a:gd name="adj" fmla="val 20000"/>
            </a:avLst>
          </a:prstGeom>
          <a:solidFill>
            <a:srgbClr val="10B981"/>
          </a:solidFill>
          <a:ln/>
        </p:spPr>
      </p:sp>
      <p:sp>
        <p:nvSpPr>
          <p:cNvPr id="28" name="Text 26"/>
          <p:cNvSpPr/>
          <p:nvPr/>
        </p:nvSpPr>
        <p:spPr>
          <a:xfrm>
            <a:off x="7449503" y="1847088"/>
            <a:ext cx="365760" cy="365760"/>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29" name="Shape 27"/>
          <p:cNvSpPr/>
          <p:nvPr/>
        </p:nvSpPr>
        <p:spPr>
          <a:xfrm>
            <a:off x="8917457" y="3355391"/>
            <a:ext cx="310896" cy="36576"/>
          </a:xfrm>
          <a:prstGeom prst="rect">
            <a:avLst/>
          </a:prstGeom>
          <a:solidFill>
            <a:srgbClr val="10B981"/>
          </a:solidFill>
          <a:ln/>
        </p:spPr>
      </p:sp>
      <p:sp>
        <p:nvSpPr>
          <p:cNvPr id="30" name="Shape 28"/>
          <p:cNvSpPr/>
          <p:nvPr/>
        </p:nvSpPr>
        <p:spPr>
          <a:xfrm rot="2700000">
            <a:off x="9118625" y="3318815"/>
            <a:ext cx="109728" cy="109728"/>
          </a:xfrm>
          <a:prstGeom prst="rect">
            <a:avLst/>
          </a:prstGeom>
          <a:solidFill>
            <a:srgbClr val="10B981"/>
          </a:solidFill>
          <a:ln/>
        </p:spPr>
      </p:sp>
      <p:sp>
        <p:nvSpPr>
          <p:cNvPr id="31" name="Text 29"/>
          <p:cNvSpPr/>
          <p:nvPr/>
        </p:nvSpPr>
        <p:spPr>
          <a:xfrm>
            <a:off x="6466180" y="2286000"/>
            <a:ext cx="2332406" cy="365760"/>
          </a:xfrm>
          <a:prstGeom prst="rect">
            <a:avLst/>
          </a:prstGeom>
          <a:noFill/>
          <a:ln/>
        </p:spPr>
        <p:txBody>
          <a:bodyPr wrap="square" rtlCol="0" anchor="ctr"/>
          <a:lstStyle/>
          <a:p>
            <a:pPr algn="ctr" indent="0" marL="0">
              <a:buNone/>
            </a:pPr>
            <a:r>
              <a:rPr lang="en-US" sz="1500" b="1" dirty="0">
                <a:solidFill>
                  <a:srgbClr val="10B981"/>
                </a:solidFill>
                <a:latin typeface="Montserrat" pitchFamily="34" charset="0"/>
                <a:ea typeface="Montserrat" pitchFamily="34" charset="-122"/>
                <a:cs typeface="Montserrat" pitchFamily="34" charset="-120"/>
              </a:rPr>
              <a:t>Esta união otimiza processos e gera inovações.</a:t>
            </a:r>
            <a:endParaRPr lang="en-US" sz="1500" dirty="0"/>
          </a:p>
        </p:txBody>
      </p:sp>
      <p:sp>
        <p:nvSpPr>
          <p:cNvPr id="32" name="Shape 30"/>
          <p:cNvSpPr/>
          <p:nvPr/>
        </p:nvSpPr>
        <p:spPr>
          <a:xfrm>
            <a:off x="9328937" y="1746504"/>
            <a:ext cx="2515286" cy="4727448"/>
          </a:xfrm>
          <a:prstGeom prst="roundRect">
            <a:avLst>
              <a:gd name="adj" fmla="val 4362"/>
            </a:avLst>
          </a:prstGeom>
          <a:solidFill>
            <a:srgbClr val="000000"/>
          </a:solidFill>
          <a:ln/>
        </p:spPr>
      </p:sp>
      <p:sp>
        <p:nvSpPr>
          <p:cNvPr id="33" name="Shape 31"/>
          <p:cNvSpPr/>
          <p:nvPr/>
        </p:nvSpPr>
        <p:spPr>
          <a:xfrm>
            <a:off x="9310649" y="1719072"/>
            <a:ext cx="2515286" cy="4727448"/>
          </a:xfrm>
          <a:prstGeom prst="roundRect">
            <a:avLst>
              <a:gd name="adj" fmla="val 4362"/>
            </a:avLst>
          </a:prstGeom>
          <a:solidFill>
            <a:srgbClr val="111D38"/>
          </a:solidFill>
          <a:ln/>
        </p:spPr>
      </p:sp>
      <p:sp>
        <p:nvSpPr>
          <p:cNvPr id="34" name="Shape 32"/>
          <p:cNvSpPr/>
          <p:nvPr/>
        </p:nvSpPr>
        <p:spPr>
          <a:xfrm>
            <a:off x="9310649" y="1719072"/>
            <a:ext cx="2515286" cy="45720"/>
          </a:xfrm>
          <a:prstGeom prst="rect">
            <a:avLst>
              <a:gd name="adj" fmla="val 240000"/>
            </a:avLst>
          </a:prstGeom>
          <a:solidFill>
            <a:srgbClr val="F59E0B"/>
          </a:solidFill>
          <a:ln/>
        </p:spPr>
      </p:sp>
      <p:sp>
        <p:nvSpPr>
          <p:cNvPr id="35" name="Shape 33"/>
          <p:cNvSpPr/>
          <p:nvPr/>
        </p:nvSpPr>
        <p:spPr>
          <a:xfrm>
            <a:off x="10385412" y="1847088"/>
            <a:ext cx="365760" cy="365760"/>
          </a:xfrm>
          <a:prstGeom prst="roundRect">
            <a:avLst>
              <a:gd name="adj" fmla="val 20000"/>
            </a:avLst>
          </a:prstGeom>
          <a:solidFill>
            <a:srgbClr val="F59E0B"/>
          </a:solidFill>
          <a:ln/>
        </p:spPr>
      </p:sp>
      <p:sp>
        <p:nvSpPr>
          <p:cNvPr id="36" name="Text 34"/>
          <p:cNvSpPr/>
          <p:nvPr/>
        </p:nvSpPr>
        <p:spPr>
          <a:xfrm>
            <a:off x="10385412" y="1847088"/>
            <a:ext cx="365760" cy="365760"/>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4</a:t>
            </a:r>
            <a:endParaRPr lang="en-US" sz="1600" dirty="0"/>
          </a:p>
        </p:txBody>
      </p:sp>
      <p:sp>
        <p:nvSpPr>
          <p:cNvPr id="37" name="Text 35"/>
          <p:cNvSpPr/>
          <p:nvPr/>
        </p:nvSpPr>
        <p:spPr>
          <a:xfrm>
            <a:off x="9402089" y="2286000"/>
            <a:ext cx="2332406" cy="365760"/>
          </a:xfrm>
          <a:prstGeom prst="rect">
            <a:avLst/>
          </a:prstGeom>
          <a:noFill/>
          <a:ln/>
        </p:spPr>
        <p:txBody>
          <a:bodyPr wrap="square" rtlCol="0" anchor="ctr"/>
          <a:lstStyle/>
          <a:p>
            <a:pPr algn="ctr" indent="0" marL="0">
              <a:buNone/>
            </a:pPr>
            <a:r>
              <a:rPr lang="en-US" sz="1500" b="1" dirty="0">
                <a:solidFill>
                  <a:srgbClr val="F59E0B"/>
                </a:solidFill>
                <a:latin typeface="Montserrat" pitchFamily="34" charset="0"/>
                <a:ea typeface="Montserrat" pitchFamily="34" charset="-122"/>
                <a:cs typeface="Montserrat" pitchFamily="34" charset="-120"/>
              </a:rPr>
              <a:t>A intuição humana aliada</a:t>
            </a:r>
            <a:endParaRPr lang="en-US" sz="1500" dirty="0"/>
          </a:p>
        </p:txBody>
      </p:sp>
      <p:sp>
        <p:nvSpPr>
          <p:cNvPr id="38" name="Text 36"/>
          <p:cNvSpPr/>
          <p:nvPr/>
        </p:nvSpPr>
        <p:spPr>
          <a:xfrm>
            <a:off x="9402089" y="2651760"/>
            <a:ext cx="2332406" cy="3721608"/>
          </a:xfrm>
          <a:prstGeom prst="rect">
            <a:avLst/>
          </a:prstGeom>
          <a:noFill/>
          <a:ln/>
        </p:spPr>
        <p:txBody>
          <a:bodyPr wrap="square" rtlCol="0" anchor="t"/>
          <a:lstStyle/>
          <a:p>
            <a:pPr algn="ctr" indent="0" marL="0">
              <a:lnSpc>
                <a:spcPct val="122000"/>
              </a:lnSpc>
              <a:buNone/>
            </a:pPr>
            <a:r>
              <a:rPr lang="en-US" sz="1300" dirty="0">
                <a:solidFill>
                  <a:srgbClr val="94A3C0"/>
                </a:solidFill>
                <a:latin typeface="Open Sans" pitchFamily="34" charset="0"/>
                <a:ea typeface="Open Sans" pitchFamily="34" charset="-122"/>
                <a:cs typeface="Open Sans" pitchFamily="34" charset="-120"/>
              </a:rPr>
              <a:t>ao processamento da IA cria um potencial poderoso.</a:t>
            </a:r>
            <a:endParaRPr lang="en-US" sz="1300" dirty="0"/>
          </a:p>
        </p:txBody>
      </p:sp>
      <p:sp>
        <p:nvSpPr>
          <p:cNvPr id="39" name="Shape 37"/>
          <p:cNvSpPr/>
          <p:nvPr/>
        </p:nvSpPr>
        <p:spPr>
          <a:xfrm>
            <a:off x="0" y="6601968"/>
            <a:ext cx="2041093" cy="4572"/>
          </a:xfrm>
          <a:prstGeom prst="rect">
            <a:avLst/>
          </a:prstGeom>
          <a:solidFill>
            <a:srgbClr val="6C63FF"/>
          </a:solidFill>
          <a:ln/>
        </p:spPr>
      </p:sp>
      <p:sp>
        <p:nvSpPr>
          <p:cNvPr id="40" name="Shape 38"/>
          <p:cNvSpPr/>
          <p:nvPr/>
        </p:nvSpPr>
        <p:spPr>
          <a:xfrm>
            <a:off x="2031949" y="6601968"/>
            <a:ext cx="2041093" cy="4572"/>
          </a:xfrm>
          <a:prstGeom prst="rect">
            <a:avLst/>
          </a:prstGeom>
          <a:solidFill>
            <a:srgbClr val="6C63FF"/>
          </a:solidFill>
          <a:ln/>
        </p:spPr>
      </p:sp>
      <p:sp>
        <p:nvSpPr>
          <p:cNvPr id="41" name="Shape 39"/>
          <p:cNvSpPr/>
          <p:nvPr/>
        </p:nvSpPr>
        <p:spPr>
          <a:xfrm>
            <a:off x="4063898" y="6601968"/>
            <a:ext cx="2041093" cy="4572"/>
          </a:xfrm>
          <a:prstGeom prst="rect">
            <a:avLst/>
          </a:prstGeom>
          <a:solidFill>
            <a:srgbClr val="6C63FF"/>
          </a:solidFill>
          <a:ln/>
        </p:spPr>
      </p:sp>
      <p:sp>
        <p:nvSpPr>
          <p:cNvPr id="42" name="Shape 40"/>
          <p:cNvSpPr/>
          <p:nvPr/>
        </p:nvSpPr>
        <p:spPr>
          <a:xfrm>
            <a:off x="6095848" y="6601968"/>
            <a:ext cx="2041093" cy="4572"/>
          </a:xfrm>
          <a:prstGeom prst="rect">
            <a:avLst/>
          </a:prstGeom>
          <a:solidFill>
            <a:srgbClr val="6C63FF"/>
          </a:solidFill>
          <a:ln/>
        </p:spPr>
      </p:sp>
      <p:sp>
        <p:nvSpPr>
          <p:cNvPr id="43" name="Shape 41"/>
          <p:cNvSpPr/>
          <p:nvPr/>
        </p:nvSpPr>
        <p:spPr>
          <a:xfrm>
            <a:off x="8127797" y="6601968"/>
            <a:ext cx="2041093" cy="4572"/>
          </a:xfrm>
          <a:prstGeom prst="rect">
            <a:avLst/>
          </a:prstGeom>
          <a:solidFill>
            <a:srgbClr val="6C63FF"/>
          </a:solidFill>
          <a:ln/>
        </p:spPr>
      </p:sp>
      <p:sp>
        <p:nvSpPr>
          <p:cNvPr id="44" name="Shape 42"/>
          <p:cNvSpPr/>
          <p:nvPr/>
        </p:nvSpPr>
        <p:spPr>
          <a:xfrm>
            <a:off x="10159746" y="6601968"/>
            <a:ext cx="2041093" cy="4572"/>
          </a:xfrm>
          <a:prstGeom prst="rect">
            <a:avLst/>
          </a:prstGeom>
          <a:solidFill>
            <a:srgbClr val="6C63FF"/>
          </a:solidFill>
          <a:ln/>
        </p:spPr>
      </p:sp>
      <p:sp>
        <p:nvSpPr>
          <p:cNvPr id="45" name="Shape 43"/>
          <p:cNvSpPr/>
          <p:nvPr/>
        </p:nvSpPr>
        <p:spPr>
          <a:xfrm>
            <a:off x="0" y="6606540"/>
            <a:ext cx="12191695" cy="2743"/>
          </a:xfrm>
          <a:prstGeom prst="rect">
            <a:avLst/>
          </a:prstGeom>
          <a:solidFill>
            <a:srgbClr val="222E48"/>
          </a:solidFill>
          <a:ln/>
        </p:spPr>
      </p:sp>
      <p:sp>
        <p:nvSpPr>
          <p:cNvPr id="46" name="Text 44"/>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47" name="Shape 45"/>
          <p:cNvSpPr/>
          <p:nvPr/>
        </p:nvSpPr>
        <p:spPr>
          <a:xfrm>
            <a:off x="10436047" y="6693408"/>
            <a:ext cx="73152" cy="73152"/>
          </a:xfrm>
          <a:prstGeom prst="ellipse">
            <a:avLst/>
          </a:prstGeom>
          <a:solidFill>
            <a:srgbClr val="6C63FF"/>
          </a:solidFill>
          <a:ln/>
        </p:spPr>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50A18"/>
        </a:solidFill>
      </p:bgPr>
    </p:bg>
    <p:spTree>
      <p:nvGrpSpPr>
        <p:cNvPr id="1" name=""/>
        <p:cNvGrpSpPr/>
        <p:nvPr/>
      </p:nvGrpSpPr>
      <p:grpSpPr>
        <a:xfrm>
          <a:off x="0" y="0"/>
          <a:ext cx="0" cy="0"/>
          <a:chOff x="0" y="0"/>
          <a:chExt cx="0" cy="0"/>
        </a:xfrm>
      </p:grpSpPr>
      <p:sp>
        <p:nvSpPr>
          <p:cNvPr id="2" name="Text 0"/>
          <p:cNvSpPr/>
          <p:nvPr/>
        </p:nvSpPr>
        <p:spPr>
          <a:xfrm>
            <a:off x="502920" y="274320"/>
            <a:ext cx="5486400" cy="219456"/>
          </a:xfrm>
          <a:prstGeom prst="rect">
            <a:avLst/>
          </a:prstGeom>
          <a:noFill/>
          <a:ln/>
        </p:spPr>
        <p:txBody>
          <a:bodyPr wrap="square" rtlCol="0" anchor="ctr"/>
          <a:lstStyle/>
          <a:p>
            <a:pPr indent="0" marL="0">
              <a:buNone/>
            </a:pPr>
            <a:r>
              <a:rPr lang="en-US" sz="1000" b="1" spc="500" kern="0" dirty="0">
                <a:solidFill>
                  <a:srgbClr val="10B981"/>
                </a:solidFill>
                <a:latin typeface="Open Sans" pitchFamily="34" charset="0"/>
                <a:ea typeface="Open Sans" pitchFamily="34" charset="-122"/>
                <a:cs typeface="Open Sans" pitchFamily="34" charset="-120"/>
              </a:rPr>
              <a:t>COMO FUNCIONA</a:t>
            </a:r>
            <a:endParaRPr lang="en-US" sz="1000" dirty="0"/>
          </a:p>
        </p:txBody>
      </p:sp>
      <p:sp>
        <p:nvSpPr>
          <p:cNvPr id="3" name="Shape 1"/>
          <p:cNvSpPr/>
          <p:nvPr/>
        </p:nvSpPr>
        <p:spPr>
          <a:xfrm>
            <a:off x="502920" y="521208"/>
            <a:ext cx="914400" cy="18288"/>
          </a:xfrm>
          <a:prstGeom prst="rect">
            <a:avLst/>
          </a:prstGeom>
          <a:solidFill>
            <a:srgbClr val="10B981"/>
          </a:solidFill>
          <a:ln/>
        </p:spPr>
      </p:sp>
      <p:sp>
        <p:nvSpPr>
          <p:cNvPr id="4" name="Text 2"/>
          <p:cNvSpPr/>
          <p:nvPr/>
        </p:nvSpPr>
        <p:spPr>
          <a:xfrm>
            <a:off x="502920" y="621792"/>
            <a:ext cx="11185855" cy="640080"/>
          </a:xfrm>
          <a:prstGeom prst="rect">
            <a:avLst/>
          </a:prstGeom>
          <a:noFill/>
          <a:ln/>
        </p:spPr>
        <p:txBody>
          <a:bodyPr wrap="square" rtlCol="0" anchor="ctr"/>
          <a:lstStyle/>
          <a:p>
            <a:pPr indent="0" marL="0">
              <a:buNone/>
            </a:pPr>
            <a:r>
              <a:rPr lang="en-US" sz="2600" b="1" dirty="0">
                <a:solidFill>
                  <a:srgbClr val="FFFFFF"/>
                </a:solidFill>
                <a:latin typeface="Montserrat" pitchFamily="34" charset="0"/>
                <a:ea typeface="Montserrat" pitchFamily="34" charset="-122"/>
                <a:cs typeface="Montserrat" pitchFamily="34" charset="-120"/>
              </a:rPr>
              <a:t>Como funciona (Parte 2)</a:t>
            </a:r>
            <a:endParaRPr lang="en-US" sz="2600" dirty="0"/>
          </a:p>
        </p:txBody>
      </p:sp>
      <p:sp>
        <p:nvSpPr>
          <p:cNvPr id="5" name="Shape 3"/>
          <p:cNvSpPr/>
          <p:nvPr/>
        </p:nvSpPr>
        <p:spPr>
          <a:xfrm>
            <a:off x="502920" y="3373679"/>
            <a:ext cx="11323015" cy="36576"/>
          </a:xfrm>
          <a:prstGeom prst="rect">
            <a:avLst/>
          </a:prstGeom>
          <a:solidFill>
            <a:srgbClr val="10B981"/>
          </a:solidFill>
          <a:ln/>
        </p:spPr>
      </p:sp>
      <p:sp>
        <p:nvSpPr>
          <p:cNvPr id="6" name="Shape 4"/>
          <p:cNvSpPr/>
          <p:nvPr/>
        </p:nvSpPr>
        <p:spPr>
          <a:xfrm>
            <a:off x="521208" y="1746504"/>
            <a:ext cx="2515286" cy="4727448"/>
          </a:xfrm>
          <a:prstGeom prst="roundRect">
            <a:avLst>
              <a:gd name="adj" fmla="val 4362"/>
            </a:avLst>
          </a:prstGeom>
          <a:solidFill>
            <a:srgbClr val="000000"/>
          </a:solidFill>
          <a:ln/>
        </p:spPr>
      </p:sp>
      <p:sp>
        <p:nvSpPr>
          <p:cNvPr id="7" name="Shape 5"/>
          <p:cNvSpPr/>
          <p:nvPr/>
        </p:nvSpPr>
        <p:spPr>
          <a:xfrm>
            <a:off x="502920" y="1719072"/>
            <a:ext cx="2515286" cy="4727448"/>
          </a:xfrm>
          <a:prstGeom prst="roundRect">
            <a:avLst>
              <a:gd name="adj" fmla="val 4362"/>
            </a:avLst>
          </a:prstGeom>
          <a:solidFill>
            <a:srgbClr val="111D38"/>
          </a:solidFill>
          <a:ln/>
        </p:spPr>
      </p:sp>
      <p:sp>
        <p:nvSpPr>
          <p:cNvPr id="8" name="Shape 6"/>
          <p:cNvSpPr/>
          <p:nvPr/>
        </p:nvSpPr>
        <p:spPr>
          <a:xfrm>
            <a:off x="502920" y="1719072"/>
            <a:ext cx="2515286" cy="45720"/>
          </a:xfrm>
          <a:prstGeom prst="rect">
            <a:avLst>
              <a:gd name="adj" fmla="val 240000"/>
            </a:avLst>
          </a:prstGeom>
          <a:solidFill>
            <a:srgbClr val="6C63FF"/>
          </a:solidFill>
          <a:ln/>
        </p:spPr>
      </p:sp>
      <p:sp>
        <p:nvSpPr>
          <p:cNvPr id="9" name="Shape 7"/>
          <p:cNvSpPr/>
          <p:nvPr/>
        </p:nvSpPr>
        <p:spPr>
          <a:xfrm>
            <a:off x="1577683" y="1847088"/>
            <a:ext cx="365760" cy="365760"/>
          </a:xfrm>
          <a:prstGeom prst="roundRect">
            <a:avLst>
              <a:gd name="adj" fmla="val 20000"/>
            </a:avLst>
          </a:prstGeom>
          <a:solidFill>
            <a:srgbClr val="6C63FF"/>
          </a:solidFill>
          <a:ln/>
        </p:spPr>
      </p:sp>
      <p:sp>
        <p:nvSpPr>
          <p:cNvPr id="10" name="Text 8"/>
          <p:cNvSpPr/>
          <p:nvPr/>
        </p:nvSpPr>
        <p:spPr>
          <a:xfrm>
            <a:off x="1577683" y="1847088"/>
            <a:ext cx="365760" cy="365760"/>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1</a:t>
            </a:r>
            <a:endParaRPr lang="en-US" sz="1600" dirty="0"/>
          </a:p>
        </p:txBody>
      </p:sp>
      <p:sp>
        <p:nvSpPr>
          <p:cNvPr id="11" name="Shape 9"/>
          <p:cNvSpPr/>
          <p:nvPr/>
        </p:nvSpPr>
        <p:spPr>
          <a:xfrm>
            <a:off x="3045638" y="3355391"/>
            <a:ext cx="310896" cy="36576"/>
          </a:xfrm>
          <a:prstGeom prst="rect">
            <a:avLst/>
          </a:prstGeom>
          <a:solidFill>
            <a:srgbClr val="6C63FF"/>
          </a:solidFill>
          <a:ln/>
        </p:spPr>
      </p:sp>
      <p:sp>
        <p:nvSpPr>
          <p:cNvPr id="12" name="Shape 10"/>
          <p:cNvSpPr/>
          <p:nvPr/>
        </p:nvSpPr>
        <p:spPr>
          <a:xfrm rot="2700000">
            <a:off x="3246806" y="3318815"/>
            <a:ext cx="109728" cy="109728"/>
          </a:xfrm>
          <a:prstGeom prst="rect">
            <a:avLst/>
          </a:prstGeom>
          <a:solidFill>
            <a:srgbClr val="6C63FF"/>
          </a:solidFill>
          <a:ln/>
        </p:spPr>
      </p:sp>
      <p:sp>
        <p:nvSpPr>
          <p:cNvPr id="13" name="Text 11"/>
          <p:cNvSpPr/>
          <p:nvPr/>
        </p:nvSpPr>
        <p:spPr>
          <a:xfrm>
            <a:off x="594360" y="2286000"/>
            <a:ext cx="2332406" cy="365760"/>
          </a:xfrm>
          <a:prstGeom prst="rect">
            <a:avLst/>
          </a:prstGeom>
          <a:noFill/>
          <a:ln/>
        </p:spPr>
        <p:txBody>
          <a:bodyPr wrap="square" rtlCol="0" anchor="ctr"/>
          <a:lstStyle/>
          <a:p>
            <a:pPr algn="ctr" indent="0" marL="0">
              <a:buNone/>
            </a:pPr>
            <a:r>
              <a:rPr lang="en-US" sz="1500" b="1" dirty="0">
                <a:solidFill>
                  <a:srgbClr val="6C63FF"/>
                </a:solidFill>
                <a:latin typeface="Montserrat" pitchFamily="34" charset="0"/>
                <a:ea typeface="Montserrat" pitchFamily="34" charset="-122"/>
                <a:cs typeface="Montserrat" pitchFamily="34" charset="-120"/>
              </a:rPr>
              <a:t>Humanos podem focar em</a:t>
            </a:r>
            <a:endParaRPr lang="en-US" sz="1500" dirty="0"/>
          </a:p>
        </p:txBody>
      </p:sp>
      <p:sp>
        <p:nvSpPr>
          <p:cNvPr id="14" name="Text 12"/>
          <p:cNvSpPr/>
          <p:nvPr/>
        </p:nvSpPr>
        <p:spPr>
          <a:xfrm>
            <a:off x="594360" y="2651760"/>
            <a:ext cx="2332406" cy="3721608"/>
          </a:xfrm>
          <a:prstGeom prst="rect">
            <a:avLst/>
          </a:prstGeom>
          <a:noFill/>
          <a:ln/>
        </p:spPr>
        <p:txBody>
          <a:bodyPr wrap="square" rtlCol="0" anchor="t"/>
          <a:lstStyle/>
          <a:p>
            <a:pPr algn="ctr" indent="0" marL="0">
              <a:lnSpc>
                <a:spcPct val="122000"/>
              </a:lnSpc>
              <a:buNone/>
            </a:pPr>
            <a:r>
              <a:rPr lang="en-US" sz="1300" dirty="0">
                <a:solidFill>
                  <a:srgbClr val="94A3C0"/>
                </a:solidFill>
                <a:latin typeface="Open Sans" pitchFamily="34" charset="0"/>
                <a:ea typeface="Open Sans" pitchFamily="34" charset="-122"/>
                <a:cs typeface="Open Sans" pitchFamily="34" charset="-120"/>
              </a:rPr>
              <a:t>tarefas de alto valor, delegando o repetitivo à IA.</a:t>
            </a:r>
            <a:endParaRPr lang="en-US" sz="1300" dirty="0"/>
          </a:p>
        </p:txBody>
      </p:sp>
      <p:sp>
        <p:nvSpPr>
          <p:cNvPr id="15" name="Shape 13"/>
          <p:cNvSpPr/>
          <p:nvPr/>
        </p:nvSpPr>
        <p:spPr>
          <a:xfrm>
            <a:off x="3457118" y="1746504"/>
            <a:ext cx="2515286" cy="4727448"/>
          </a:xfrm>
          <a:prstGeom prst="roundRect">
            <a:avLst>
              <a:gd name="adj" fmla="val 4362"/>
            </a:avLst>
          </a:prstGeom>
          <a:solidFill>
            <a:srgbClr val="000000"/>
          </a:solidFill>
          <a:ln/>
        </p:spPr>
      </p:sp>
      <p:sp>
        <p:nvSpPr>
          <p:cNvPr id="16" name="Shape 14"/>
          <p:cNvSpPr/>
          <p:nvPr/>
        </p:nvSpPr>
        <p:spPr>
          <a:xfrm>
            <a:off x="3438830" y="1719072"/>
            <a:ext cx="2515286" cy="4727448"/>
          </a:xfrm>
          <a:prstGeom prst="roundRect">
            <a:avLst>
              <a:gd name="adj" fmla="val 4362"/>
            </a:avLst>
          </a:prstGeom>
          <a:solidFill>
            <a:srgbClr val="111D38"/>
          </a:solidFill>
          <a:ln/>
        </p:spPr>
      </p:sp>
      <p:sp>
        <p:nvSpPr>
          <p:cNvPr id="17" name="Shape 15"/>
          <p:cNvSpPr/>
          <p:nvPr/>
        </p:nvSpPr>
        <p:spPr>
          <a:xfrm>
            <a:off x="3438830" y="1719072"/>
            <a:ext cx="2515286" cy="45720"/>
          </a:xfrm>
          <a:prstGeom prst="rect">
            <a:avLst>
              <a:gd name="adj" fmla="val 240000"/>
            </a:avLst>
          </a:prstGeom>
          <a:solidFill>
            <a:srgbClr val="3B82F6"/>
          </a:solidFill>
          <a:ln/>
        </p:spPr>
      </p:sp>
      <p:sp>
        <p:nvSpPr>
          <p:cNvPr id="18" name="Shape 16"/>
          <p:cNvSpPr/>
          <p:nvPr/>
        </p:nvSpPr>
        <p:spPr>
          <a:xfrm>
            <a:off x="4513593" y="1847088"/>
            <a:ext cx="365760" cy="365760"/>
          </a:xfrm>
          <a:prstGeom prst="roundRect">
            <a:avLst>
              <a:gd name="adj" fmla="val 20000"/>
            </a:avLst>
          </a:prstGeom>
          <a:solidFill>
            <a:srgbClr val="3B82F6"/>
          </a:solidFill>
          <a:ln/>
        </p:spPr>
      </p:sp>
      <p:sp>
        <p:nvSpPr>
          <p:cNvPr id="19" name="Text 17"/>
          <p:cNvSpPr/>
          <p:nvPr/>
        </p:nvSpPr>
        <p:spPr>
          <a:xfrm>
            <a:off x="4513593" y="1847088"/>
            <a:ext cx="365760" cy="365760"/>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sp>
        <p:nvSpPr>
          <p:cNvPr id="20" name="Shape 18"/>
          <p:cNvSpPr/>
          <p:nvPr/>
        </p:nvSpPr>
        <p:spPr>
          <a:xfrm>
            <a:off x="5981548" y="3355391"/>
            <a:ext cx="310896" cy="36576"/>
          </a:xfrm>
          <a:prstGeom prst="rect">
            <a:avLst/>
          </a:prstGeom>
          <a:solidFill>
            <a:srgbClr val="3B82F6"/>
          </a:solidFill>
          <a:ln/>
        </p:spPr>
      </p:sp>
      <p:sp>
        <p:nvSpPr>
          <p:cNvPr id="21" name="Shape 19"/>
          <p:cNvSpPr/>
          <p:nvPr/>
        </p:nvSpPr>
        <p:spPr>
          <a:xfrm rot="2700000">
            <a:off x="6182716" y="3318815"/>
            <a:ext cx="109728" cy="109728"/>
          </a:xfrm>
          <a:prstGeom prst="rect">
            <a:avLst/>
          </a:prstGeom>
          <a:solidFill>
            <a:srgbClr val="3B82F6"/>
          </a:solidFill>
          <a:ln/>
        </p:spPr>
      </p:sp>
      <p:sp>
        <p:nvSpPr>
          <p:cNvPr id="22" name="Text 20"/>
          <p:cNvSpPr/>
          <p:nvPr/>
        </p:nvSpPr>
        <p:spPr>
          <a:xfrm>
            <a:off x="3530270" y="2286000"/>
            <a:ext cx="2332406" cy="365760"/>
          </a:xfrm>
          <a:prstGeom prst="rect">
            <a:avLst/>
          </a:prstGeom>
          <a:noFill/>
          <a:ln/>
        </p:spPr>
        <p:txBody>
          <a:bodyPr wrap="square" rtlCol="0" anchor="ctr"/>
          <a:lstStyle/>
          <a:p>
            <a:pPr algn="ctr" indent="0" marL="0">
              <a:buNone/>
            </a:pPr>
            <a:r>
              <a:rPr lang="en-US" sz="1500" b="1" dirty="0">
                <a:solidFill>
                  <a:srgbClr val="3B82F6"/>
                </a:solidFill>
                <a:latin typeface="Montserrat" pitchFamily="34" charset="0"/>
                <a:ea typeface="Montserrat" pitchFamily="34" charset="-122"/>
                <a:cs typeface="Montserrat" pitchFamily="34" charset="-120"/>
              </a:rPr>
              <a:t>A IA atua como</a:t>
            </a:r>
            <a:endParaRPr lang="en-US" sz="1500" dirty="0"/>
          </a:p>
        </p:txBody>
      </p:sp>
      <p:sp>
        <p:nvSpPr>
          <p:cNvPr id="23" name="Text 21"/>
          <p:cNvSpPr/>
          <p:nvPr/>
        </p:nvSpPr>
        <p:spPr>
          <a:xfrm>
            <a:off x="3530270" y="2651760"/>
            <a:ext cx="2332406" cy="3721608"/>
          </a:xfrm>
          <a:prstGeom prst="rect">
            <a:avLst/>
          </a:prstGeom>
          <a:noFill/>
          <a:ln/>
        </p:spPr>
        <p:txBody>
          <a:bodyPr wrap="square" rtlCol="0" anchor="t"/>
          <a:lstStyle/>
          <a:p>
            <a:pPr algn="ctr" indent="0" marL="0">
              <a:lnSpc>
                <a:spcPct val="122000"/>
              </a:lnSpc>
              <a:buNone/>
            </a:pPr>
            <a:r>
              <a:rPr lang="en-US" sz="1300" dirty="0">
                <a:solidFill>
                  <a:srgbClr val="94A3C0"/>
                </a:solidFill>
                <a:latin typeface="Open Sans" pitchFamily="34" charset="0"/>
                <a:ea typeface="Open Sans" pitchFamily="34" charset="-122"/>
                <a:cs typeface="Open Sans" pitchFamily="34" charset="-120"/>
              </a:rPr>
              <a:t>ferramenta de suporte, não como substituto integral do trabalho humano.</a:t>
            </a:r>
            <a:endParaRPr lang="en-US" sz="1300" dirty="0"/>
          </a:p>
        </p:txBody>
      </p:sp>
      <p:sp>
        <p:nvSpPr>
          <p:cNvPr id="24" name="Shape 22"/>
          <p:cNvSpPr/>
          <p:nvPr/>
        </p:nvSpPr>
        <p:spPr>
          <a:xfrm>
            <a:off x="6393028" y="1746504"/>
            <a:ext cx="2515286" cy="4727448"/>
          </a:xfrm>
          <a:prstGeom prst="roundRect">
            <a:avLst>
              <a:gd name="adj" fmla="val 4362"/>
            </a:avLst>
          </a:prstGeom>
          <a:solidFill>
            <a:srgbClr val="000000"/>
          </a:solidFill>
          <a:ln/>
        </p:spPr>
      </p:sp>
      <p:sp>
        <p:nvSpPr>
          <p:cNvPr id="25" name="Shape 23"/>
          <p:cNvSpPr/>
          <p:nvPr/>
        </p:nvSpPr>
        <p:spPr>
          <a:xfrm>
            <a:off x="6374740" y="1719072"/>
            <a:ext cx="2515286" cy="4727448"/>
          </a:xfrm>
          <a:prstGeom prst="roundRect">
            <a:avLst>
              <a:gd name="adj" fmla="val 4362"/>
            </a:avLst>
          </a:prstGeom>
          <a:solidFill>
            <a:srgbClr val="111D38"/>
          </a:solidFill>
          <a:ln/>
        </p:spPr>
      </p:sp>
      <p:sp>
        <p:nvSpPr>
          <p:cNvPr id="26" name="Shape 24"/>
          <p:cNvSpPr/>
          <p:nvPr/>
        </p:nvSpPr>
        <p:spPr>
          <a:xfrm>
            <a:off x="6374740" y="1719072"/>
            <a:ext cx="2515286" cy="45720"/>
          </a:xfrm>
          <a:prstGeom prst="rect">
            <a:avLst>
              <a:gd name="adj" fmla="val 240000"/>
            </a:avLst>
          </a:prstGeom>
          <a:solidFill>
            <a:srgbClr val="10B981"/>
          </a:solidFill>
          <a:ln/>
        </p:spPr>
      </p:sp>
      <p:sp>
        <p:nvSpPr>
          <p:cNvPr id="27" name="Shape 25"/>
          <p:cNvSpPr/>
          <p:nvPr/>
        </p:nvSpPr>
        <p:spPr>
          <a:xfrm>
            <a:off x="7449503" y="1847088"/>
            <a:ext cx="365760" cy="365760"/>
          </a:xfrm>
          <a:prstGeom prst="roundRect">
            <a:avLst>
              <a:gd name="adj" fmla="val 20000"/>
            </a:avLst>
          </a:prstGeom>
          <a:solidFill>
            <a:srgbClr val="10B981"/>
          </a:solidFill>
          <a:ln/>
        </p:spPr>
      </p:sp>
      <p:sp>
        <p:nvSpPr>
          <p:cNvPr id="28" name="Text 26"/>
          <p:cNvSpPr/>
          <p:nvPr/>
        </p:nvSpPr>
        <p:spPr>
          <a:xfrm>
            <a:off x="7449503" y="1847088"/>
            <a:ext cx="365760" cy="365760"/>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29" name="Shape 27"/>
          <p:cNvSpPr/>
          <p:nvPr/>
        </p:nvSpPr>
        <p:spPr>
          <a:xfrm>
            <a:off x="8917457" y="3355391"/>
            <a:ext cx="310896" cy="36576"/>
          </a:xfrm>
          <a:prstGeom prst="rect">
            <a:avLst/>
          </a:prstGeom>
          <a:solidFill>
            <a:srgbClr val="10B981"/>
          </a:solidFill>
          <a:ln/>
        </p:spPr>
      </p:sp>
      <p:sp>
        <p:nvSpPr>
          <p:cNvPr id="30" name="Shape 28"/>
          <p:cNvSpPr/>
          <p:nvPr/>
        </p:nvSpPr>
        <p:spPr>
          <a:xfrm rot="2700000">
            <a:off x="9118625" y="3318815"/>
            <a:ext cx="109728" cy="109728"/>
          </a:xfrm>
          <a:prstGeom prst="rect">
            <a:avLst/>
          </a:prstGeom>
          <a:solidFill>
            <a:srgbClr val="10B981"/>
          </a:solidFill>
          <a:ln/>
        </p:spPr>
      </p:sp>
      <p:sp>
        <p:nvSpPr>
          <p:cNvPr id="31" name="Text 29"/>
          <p:cNvSpPr/>
          <p:nvPr/>
        </p:nvSpPr>
        <p:spPr>
          <a:xfrm>
            <a:off x="6466180" y="2286000"/>
            <a:ext cx="2332406" cy="365760"/>
          </a:xfrm>
          <a:prstGeom prst="rect">
            <a:avLst/>
          </a:prstGeom>
          <a:noFill/>
          <a:ln/>
        </p:spPr>
        <p:txBody>
          <a:bodyPr wrap="square" rtlCol="0" anchor="ctr"/>
          <a:lstStyle/>
          <a:p>
            <a:pPr algn="ctr" indent="0" marL="0">
              <a:buNone/>
            </a:pPr>
            <a:r>
              <a:rPr lang="en-US" sz="1500" b="1" dirty="0">
                <a:solidFill>
                  <a:srgbClr val="10B981"/>
                </a:solidFill>
                <a:latin typeface="Montserrat" pitchFamily="34" charset="0"/>
                <a:ea typeface="Montserrat" pitchFamily="34" charset="-122"/>
                <a:cs typeface="Montserrat" pitchFamily="34" charset="-120"/>
              </a:rPr>
              <a:t>A interação eficaz com</a:t>
            </a:r>
            <a:endParaRPr lang="en-US" sz="1500" dirty="0"/>
          </a:p>
        </p:txBody>
      </p:sp>
      <p:sp>
        <p:nvSpPr>
          <p:cNvPr id="32" name="Text 30"/>
          <p:cNvSpPr/>
          <p:nvPr/>
        </p:nvSpPr>
        <p:spPr>
          <a:xfrm>
            <a:off x="6466180" y="2651760"/>
            <a:ext cx="2332406" cy="3721608"/>
          </a:xfrm>
          <a:prstGeom prst="rect">
            <a:avLst/>
          </a:prstGeom>
          <a:noFill/>
          <a:ln/>
        </p:spPr>
        <p:txBody>
          <a:bodyPr wrap="square" rtlCol="0" anchor="t"/>
          <a:lstStyle/>
          <a:p>
            <a:pPr algn="ctr" indent="0" marL="0">
              <a:lnSpc>
                <a:spcPct val="122000"/>
              </a:lnSpc>
              <a:buNone/>
            </a:pPr>
            <a:r>
              <a:rPr lang="en-US" sz="1300" dirty="0">
                <a:solidFill>
                  <a:srgbClr val="94A3C0"/>
                </a:solidFill>
                <a:latin typeface="Open Sans" pitchFamily="34" charset="0"/>
                <a:ea typeface="Open Sans" pitchFamily="34" charset="-122"/>
                <a:cs typeface="Open Sans" pitchFamily="34" charset="-120"/>
              </a:rPr>
              <a:t>sistemas de IA aprimora a tomada de decisões.</a:t>
            </a:r>
            <a:endParaRPr lang="en-US" sz="1300" dirty="0"/>
          </a:p>
        </p:txBody>
      </p:sp>
      <p:sp>
        <p:nvSpPr>
          <p:cNvPr id="33" name="Shape 31"/>
          <p:cNvSpPr/>
          <p:nvPr/>
        </p:nvSpPr>
        <p:spPr>
          <a:xfrm>
            <a:off x="9328937" y="1746504"/>
            <a:ext cx="2515286" cy="4727448"/>
          </a:xfrm>
          <a:prstGeom prst="roundRect">
            <a:avLst>
              <a:gd name="adj" fmla="val 4362"/>
            </a:avLst>
          </a:prstGeom>
          <a:solidFill>
            <a:srgbClr val="000000"/>
          </a:solidFill>
          <a:ln/>
        </p:spPr>
      </p:sp>
      <p:sp>
        <p:nvSpPr>
          <p:cNvPr id="34" name="Shape 32"/>
          <p:cNvSpPr/>
          <p:nvPr/>
        </p:nvSpPr>
        <p:spPr>
          <a:xfrm>
            <a:off x="9310649" y="1719072"/>
            <a:ext cx="2515286" cy="4727448"/>
          </a:xfrm>
          <a:prstGeom prst="roundRect">
            <a:avLst>
              <a:gd name="adj" fmla="val 4362"/>
            </a:avLst>
          </a:prstGeom>
          <a:solidFill>
            <a:srgbClr val="111D38"/>
          </a:solidFill>
          <a:ln/>
        </p:spPr>
      </p:sp>
      <p:sp>
        <p:nvSpPr>
          <p:cNvPr id="35" name="Shape 33"/>
          <p:cNvSpPr/>
          <p:nvPr/>
        </p:nvSpPr>
        <p:spPr>
          <a:xfrm>
            <a:off x="9310649" y="1719072"/>
            <a:ext cx="2515286" cy="45720"/>
          </a:xfrm>
          <a:prstGeom prst="rect">
            <a:avLst>
              <a:gd name="adj" fmla="val 240000"/>
            </a:avLst>
          </a:prstGeom>
          <a:solidFill>
            <a:srgbClr val="F59E0B"/>
          </a:solidFill>
          <a:ln/>
        </p:spPr>
      </p:sp>
      <p:sp>
        <p:nvSpPr>
          <p:cNvPr id="36" name="Shape 34"/>
          <p:cNvSpPr/>
          <p:nvPr/>
        </p:nvSpPr>
        <p:spPr>
          <a:xfrm>
            <a:off x="10385412" y="1847088"/>
            <a:ext cx="365760" cy="365760"/>
          </a:xfrm>
          <a:prstGeom prst="roundRect">
            <a:avLst>
              <a:gd name="adj" fmla="val 20000"/>
            </a:avLst>
          </a:prstGeom>
          <a:solidFill>
            <a:srgbClr val="F59E0B"/>
          </a:solidFill>
          <a:ln/>
        </p:spPr>
      </p:sp>
      <p:sp>
        <p:nvSpPr>
          <p:cNvPr id="37" name="Text 35"/>
          <p:cNvSpPr/>
          <p:nvPr/>
        </p:nvSpPr>
        <p:spPr>
          <a:xfrm>
            <a:off x="10385412" y="1847088"/>
            <a:ext cx="365760" cy="365760"/>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4</a:t>
            </a:r>
            <a:endParaRPr lang="en-US" sz="1600" dirty="0"/>
          </a:p>
        </p:txBody>
      </p:sp>
      <p:sp>
        <p:nvSpPr>
          <p:cNvPr id="38" name="Text 36"/>
          <p:cNvSpPr/>
          <p:nvPr/>
        </p:nvSpPr>
        <p:spPr>
          <a:xfrm>
            <a:off x="9402089" y="2286000"/>
            <a:ext cx="2332406" cy="365760"/>
          </a:xfrm>
          <a:prstGeom prst="rect">
            <a:avLst/>
          </a:prstGeom>
          <a:noFill/>
          <a:ln/>
        </p:spPr>
        <p:txBody>
          <a:bodyPr wrap="square" rtlCol="0" anchor="ctr"/>
          <a:lstStyle/>
          <a:p>
            <a:pPr algn="ctr" indent="0" marL="0">
              <a:buNone/>
            </a:pPr>
            <a:r>
              <a:rPr lang="en-US" sz="1500" b="1" dirty="0">
                <a:solidFill>
                  <a:srgbClr val="F59E0B"/>
                </a:solidFill>
                <a:latin typeface="Montserrat" pitchFamily="34" charset="0"/>
                <a:ea typeface="Montserrat" pitchFamily="34" charset="-122"/>
                <a:cs typeface="Montserrat" pitchFamily="34" charset="-120"/>
              </a:rPr>
              <a:t>Profissionais que dominam essa</a:t>
            </a:r>
            <a:endParaRPr lang="en-US" sz="1500" dirty="0"/>
          </a:p>
        </p:txBody>
      </p:sp>
      <p:sp>
        <p:nvSpPr>
          <p:cNvPr id="39" name="Text 37"/>
          <p:cNvSpPr/>
          <p:nvPr/>
        </p:nvSpPr>
        <p:spPr>
          <a:xfrm>
            <a:off x="9402089" y="2651760"/>
            <a:ext cx="2332406" cy="3721608"/>
          </a:xfrm>
          <a:prstGeom prst="rect">
            <a:avLst/>
          </a:prstGeom>
          <a:noFill/>
          <a:ln/>
        </p:spPr>
        <p:txBody>
          <a:bodyPr wrap="square" rtlCol="0" anchor="t"/>
          <a:lstStyle/>
          <a:p>
            <a:pPr algn="ctr" indent="0" marL="0">
              <a:lnSpc>
                <a:spcPct val="122000"/>
              </a:lnSpc>
              <a:buNone/>
            </a:pPr>
            <a:r>
              <a:rPr lang="en-US" sz="1300" dirty="0">
                <a:solidFill>
                  <a:srgbClr val="94A3C0"/>
                </a:solidFill>
                <a:latin typeface="Open Sans" pitchFamily="34" charset="0"/>
                <a:ea typeface="Open Sans" pitchFamily="34" charset="-122"/>
                <a:cs typeface="Open Sans" pitchFamily="34" charset="-120"/>
              </a:rPr>
              <a:t>colaboração terão uma vantagem competitiva.</a:t>
            </a:r>
            <a:endParaRPr lang="en-US" sz="1300" dirty="0"/>
          </a:p>
        </p:txBody>
      </p:sp>
      <p:sp>
        <p:nvSpPr>
          <p:cNvPr id="40" name="Shape 38"/>
          <p:cNvSpPr/>
          <p:nvPr/>
        </p:nvSpPr>
        <p:spPr>
          <a:xfrm>
            <a:off x="0" y="6601968"/>
            <a:ext cx="2041093" cy="4572"/>
          </a:xfrm>
          <a:prstGeom prst="rect">
            <a:avLst/>
          </a:prstGeom>
          <a:solidFill>
            <a:srgbClr val="6C63FF"/>
          </a:solidFill>
          <a:ln/>
        </p:spPr>
      </p:sp>
      <p:sp>
        <p:nvSpPr>
          <p:cNvPr id="41" name="Shape 39"/>
          <p:cNvSpPr/>
          <p:nvPr/>
        </p:nvSpPr>
        <p:spPr>
          <a:xfrm>
            <a:off x="2031949" y="6601968"/>
            <a:ext cx="2041093" cy="4572"/>
          </a:xfrm>
          <a:prstGeom prst="rect">
            <a:avLst/>
          </a:prstGeom>
          <a:solidFill>
            <a:srgbClr val="6C63FF"/>
          </a:solidFill>
          <a:ln/>
        </p:spPr>
      </p:sp>
      <p:sp>
        <p:nvSpPr>
          <p:cNvPr id="42" name="Shape 40"/>
          <p:cNvSpPr/>
          <p:nvPr/>
        </p:nvSpPr>
        <p:spPr>
          <a:xfrm>
            <a:off x="4063898" y="6601968"/>
            <a:ext cx="2041093" cy="4572"/>
          </a:xfrm>
          <a:prstGeom prst="rect">
            <a:avLst/>
          </a:prstGeom>
          <a:solidFill>
            <a:srgbClr val="6C63FF"/>
          </a:solidFill>
          <a:ln/>
        </p:spPr>
      </p:sp>
      <p:sp>
        <p:nvSpPr>
          <p:cNvPr id="43" name="Shape 41"/>
          <p:cNvSpPr/>
          <p:nvPr/>
        </p:nvSpPr>
        <p:spPr>
          <a:xfrm>
            <a:off x="6095848" y="6601968"/>
            <a:ext cx="2041093" cy="4572"/>
          </a:xfrm>
          <a:prstGeom prst="rect">
            <a:avLst/>
          </a:prstGeom>
          <a:solidFill>
            <a:srgbClr val="6C63FF"/>
          </a:solidFill>
          <a:ln/>
        </p:spPr>
      </p:sp>
      <p:sp>
        <p:nvSpPr>
          <p:cNvPr id="44" name="Shape 42"/>
          <p:cNvSpPr/>
          <p:nvPr/>
        </p:nvSpPr>
        <p:spPr>
          <a:xfrm>
            <a:off x="8127797" y="6601968"/>
            <a:ext cx="2041093" cy="4572"/>
          </a:xfrm>
          <a:prstGeom prst="rect">
            <a:avLst/>
          </a:prstGeom>
          <a:solidFill>
            <a:srgbClr val="6C63FF"/>
          </a:solidFill>
          <a:ln/>
        </p:spPr>
      </p:sp>
      <p:sp>
        <p:nvSpPr>
          <p:cNvPr id="45" name="Shape 43"/>
          <p:cNvSpPr/>
          <p:nvPr/>
        </p:nvSpPr>
        <p:spPr>
          <a:xfrm>
            <a:off x="10159746" y="6601968"/>
            <a:ext cx="2041093" cy="4572"/>
          </a:xfrm>
          <a:prstGeom prst="rect">
            <a:avLst/>
          </a:prstGeom>
          <a:solidFill>
            <a:srgbClr val="6C63FF"/>
          </a:solidFill>
          <a:ln/>
        </p:spPr>
      </p:sp>
      <p:sp>
        <p:nvSpPr>
          <p:cNvPr id="46" name="Shape 44"/>
          <p:cNvSpPr/>
          <p:nvPr/>
        </p:nvSpPr>
        <p:spPr>
          <a:xfrm>
            <a:off x="0" y="6606540"/>
            <a:ext cx="12191695" cy="2743"/>
          </a:xfrm>
          <a:prstGeom prst="rect">
            <a:avLst/>
          </a:prstGeom>
          <a:solidFill>
            <a:srgbClr val="222E48"/>
          </a:solidFill>
          <a:ln/>
        </p:spPr>
      </p:sp>
      <p:sp>
        <p:nvSpPr>
          <p:cNvPr id="47" name="Text 45"/>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48" name="Shape 46"/>
          <p:cNvSpPr/>
          <p:nvPr/>
        </p:nvSpPr>
        <p:spPr>
          <a:xfrm>
            <a:off x="10436047" y="6693408"/>
            <a:ext cx="73152" cy="73152"/>
          </a:xfrm>
          <a:prstGeom prst="ellipse">
            <a:avLst/>
          </a:prstGeom>
          <a:solidFill>
            <a:srgbClr val="6C63FF"/>
          </a:solidFill>
          <a:ln/>
        </p:spPr>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50A18"/>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111D38"/>
          </a:solidFill>
          <a:ln/>
        </p:spPr>
      </p:sp>
      <p:sp>
        <p:nvSpPr>
          <p:cNvPr id="3" name="Shape 1"/>
          <p:cNvSpPr/>
          <p:nvPr/>
        </p:nvSpPr>
        <p:spPr>
          <a:xfrm>
            <a:off x="164592" y="1417320"/>
            <a:ext cx="128016" cy="128016"/>
          </a:xfrm>
          <a:prstGeom prst="ellipse">
            <a:avLst/>
          </a:prstGeom>
          <a:solidFill>
            <a:srgbClr val="3B82F6"/>
          </a:solidFill>
          <a:ln/>
        </p:spPr>
      </p:sp>
      <p:sp>
        <p:nvSpPr>
          <p:cNvPr id="4" name="Shape 2"/>
          <p:cNvSpPr/>
          <p:nvPr/>
        </p:nvSpPr>
        <p:spPr>
          <a:xfrm>
            <a:off x="219456" y="1554480"/>
            <a:ext cx="18288" cy="4700016"/>
          </a:xfrm>
          <a:prstGeom prst="rect">
            <a:avLst/>
          </a:prstGeom>
          <a:solidFill>
            <a:srgbClr val="3B82F6"/>
          </a:solidFill>
          <a:ln/>
        </p:spPr>
      </p:sp>
      <p:sp>
        <p:nvSpPr>
          <p:cNvPr id="5" name="Shape 3"/>
          <p:cNvSpPr/>
          <p:nvPr/>
        </p:nvSpPr>
        <p:spPr>
          <a:xfrm>
            <a:off x="164592" y="6263640"/>
            <a:ext cx="128016" cy="128016"/>
          </a:xfrm>
          <a:prstGeom prst="ellipse">
            <a:avLst/>
          </a:prstGeom>
          <a:solidFill>
            <a:srgbClr val="F59E0B"/>
          </a:solidFill>
          <a:ln/>
        </p:spPr>
      </p:sp>
      <p:sp>
        <p:nvSpPr>
          <p:cNvPr id="6" name="Shape 4"/>
          <p:cNvSpPr/>
          <p:nvPr/>
        </p:nvSpPr>
        <p:spPr>
          <a:xfrm>
            <a:off x="731520" y="384048"/>
            <a:ext cx="1371600" cy="256032"/>
          </a:xfrm>
          <a:prstGeom prst="roundRect">
            <a:avLst>
              <a:gd name="adj" fmla="val 50000"/>
            </a:avLst>
          </a:prstGeom>
          <a:solidFill>
            <a:srgbClr val="F59E0B"/>
          </a:solidFill>
          <a:ln/>
        </p:spPr>
      </p:sp>
      <p:sp>
        <p:nvSpPr>
          <p:cNvPr id="7" name="Text 5"/>
          <p:cNvSpPr/>
          <p:nvPr/>
        </p:nvSpPr>
        <p:spPr>
          <a:xfrm>
            <a:off x="731520" y="384048"/>
            <a:ext cx="1371600" cy="256032"/>
          </a:xfrm>
          <a:prstGeom prst="rect">
            <a:avLst/>
          </a:prstGeom>
          <a:noFill/>
          <a:ln/>
        </p:spPr>
        <p:txBody>
          <a:bodyPr wrap="square" rtlCol="0" anchor="ctr"/>
          <a:lstStyle/>
          <a:p>
            <a:pPr algn="ctr" indent="0" marL="0">
              <a:buNone/>
            </a:pPr>
            <a:r>
              <a:rPr lang="en-US" sz="800" b="1" spc="400" kern="0" dirty="0">
                <a:solidFill>
                  <a:srgbClr val="FFFFFF"/>
                </a:solidFill>
                <a:latin typeface="Open Sans" pitchFamily="34" charset="0"/>
                <a:ea typeface="Open Sans" pitchFamily="34" charset="-122"/>
                <a:cs typeface="Open Sans" pitchFamily="34" charset="-120"/>
              </a:rPr>
              <a:t>ESTUDO DE CASO</a:t>
            </a:r>
            <a:endParaRPr lang="en-US" sz="800" dirty="0"/>
          </a:p>
        </p:txBody>
      </p:sp>
      <p:sp>
        <p:nvSpPr>
          <p:cNvPr id="8" name="Text 6"/>
          <p:cNvSpPr/>
          <p:nvPr/>
        </p:nvSpPr>
        <p:spPr>
          <a:xfrm>
            <a:off x="731520" y="731520"/>
            <a:ext cx="10820095" cy="548640"/>
          </a:xfrm>
          <a:prstGeom prst="rect">
            <a:avLst/>
          </a:prstGeom>
          <a:noFill/>
          <a:ln/>
        </p:spPr>
        <p:txBody>
          <a:bodyPr wrap="square" rtlCol="0" anchor="ctr"/>
          <a:lstStyle/>
          <a:p>
            <a:pPr indent="0" marL="0">
              <a:buNone/>
            </a:pPr>
            <a:r>
              <a:rPr lang="en-US" sz="2400" b="1" dirty="0">
                <a:solidFill>
                  <a:srgbClr val="FFFFFF"/>
                </a:solidFill>
                <a:latin typeface="Montserrat" pitchFamily="34" charset="0"/>
                <a:ea typeface="Montserrat" pitchFamily="34" charset="-122"/>
                <a:cs typeface="Montserrat" pitchFamily="34" charset="-120"/>
              </a:rPr>
              <a:t>Exemplo prático</a:t>
            </a:r>
            <a:endParaRPr lang="en-US" sz="2400" dirty="0"/>
          </a:p>
        </p:txBody>
      </p:sp>
      <p:sp>
        <p:nvSpPr>
          <p:cNvPr id="9" name="Shape 7"/>
          <p:cNvSpPr/>
          <p:nvPr/>
        </p:nvSpPr>
        <p:spPr>
          <a:xfrm>
            <a:off x="731520" y="1298448"/>
            <a:ext cx="3200400" cy="18288"/>
          </a:xfrm>
          <a:prstGeom prst="rect">
            <a:avLst/>
          </a:prstGeom>
          <a:solidFill>
            <a:srgbClr val="F59E0B"/>
          </a:solidFill>
          <a:ln/>
        </p:spPr>
      </p:sp>
      <p:sp>
        <p:nvSpPr>
          <p:cNvPr id="10" name="Shape 8"/>
          <p:cNvSpPr/>
          <p:nvPr/>
        </p:nvSpPr>
        <p:spPr>
          <a:xfrm>
            <a:off x="758952" y="1499616"/>
            <a:ext cx="10820095" cy="1188720"/>
          </a:xfrm>
          <a:prstGeom prst="roundRect">
            <a:avLst>
              <a:gd name="adj" fmla="val 7692"/>
            </a:avLst>
          </a:prstGeom>
          <a:solidFill>
            <a:srgbClr val="000000"/>
          </a:solidFill>
          <a:ln/>
        </p:spPr>
      </p:sp>
      <p:sp>
        <p:nvSpPr>
          <p:cNvPr id="11" name="Shape 9"/>
          <p:cNvSpPr/>
          <p:nvPr/>
        </p:nvSpPr>
        <p:spPr>
          <a:xfrm>
            <a:off x="731520" y="1463040"/>
            <a:ext cx="10820095" cy="1188720"/>
          </a:xfrm>
          <a:prstGeom prst="roundRect">
            <a:avLst>
              <a:gd name="adj" fmla="val 6154"/>
            </a:avLst>
          </a:prstGeom>
          <a:solidFill>
            <a:srgbClr val="111D38"/>
          </a:solidFill>
          <a:ln/>
        </p:spPr>
      </p:sp>
      <p:sp>
        <p:nvSpPr>
          <p:cNvPr id="12" name="Shape 10"/>
          <p:cNvSpPr/>
          <p:nvPr/>
        </p:nvSpPr>
        <p:spPr>
          <a:xfrm>
            <a:off x="731520" y="1517904"/>
            <a:ext cx="45720" cy="1078992"/>
          </a:xfrm>
          <a:prstGeom prst="rect">
            <a:avLst>
              <a:gd name="adj" fmla="val 60000"/>
            </a:avLst>
          </a:prstGeom>
          <a:solidFill>
            <a:srgbClr val="3B82F6"/>
          </a:solidFill>
          <a:ln/>
        </p:spPr>
      </p:sp>
      <p:sp>
        <p:nvSpPr>
          <p:cNvPr id="13" name="Shape 11"/>
          <p:cNvSpPr/>
          <p:nvPr/>
        </p:nvSpPr>
        <p:spPr>
          <a:xfrm>
            <a:off x="932688" y="1901952"/>
            <a:ext cx="310896" cy="310896"/>
          </a:xfrm>
          <a:prstGeom prst="roundRect">
            <a:avLst>
              <a:gd name="adj" fmla="val 17647"/>
            </a:avLst>
          </a:prstGeom>
          <a:solidFill>
            <a:srgbClr val="3B82F6"/>
          </a:solidFill>
          <a:ln/>
        </p:spPr>
      </p:sp>
      <p:sp>
        <p:nvSpPr>
          <p:cNvPr id="14" name="Text 12"/>
          <p:cNvSpPr/>
          <p:nvPr/>
        </p:nvSpPr>
        <p:spPr>
          <a:xfrm>
            <a:off x="932688" y="1901952"/>
            <a:ext cx="310896" cy="310896"/>
          </a:xfrm>
          <a:prstGeom prst="rect">
            <a:avLst/>
          </a:prstGeom>
          <a:noFill/>
          <a:ln/>
        </p:spPr>
        <p:txBody>
          <a:bodyPr wrap="square" rtlCol="0" anchor="ctr"/>
          <a:lstStyle/>
          <a:p>
            <a:pPr algn="ctr" indent="0" marL="0">
              <a:buNone/>
            </a:pPr>
            <a:r>
              <a:rPr lang="en-US" sz="1300" dirty="0">
                <a:solidFill>
                  <a:srgbClr val="3B82F6"/>
                </a:solidFill>
                <a:latin typeface="Open Sans" pitchFamily="34" charset="0"/>
                <a:ea typeface="Open Sans" pitchFamily="34" charset="-122"/>
                <a:cs typeface="Open Sans" pitchFamily="34" charset="-120"/>
              </a:rPr>
              <a:t>●</a:t>
            </a:r>
            <a:endParaRPr lang="en-US" sz="1300" dirty="0"/>
          </a:p>
        </p:txBody>
      </p:sp>
      <p:sp>
        <p:nvSpPr>
          <p:cNvPr id="15" name="Text 13"/>
          <p:cNvSpPr/>
          <p:nvPr/>
        </p:nvSpPr>
        <p:spPr>
          <a:xfrm>
            <a:off x="1325880" y="1517904"/>
            <a:ext cx="1463040" cy="237744"/>
          </a:xfrm>
          <a:prstGeom prst="rect">
            <a:avLst/>
          </a:prstGeom>
          <a:noFill/>
          <a:ln/>
        </p:spPr>
        <p:txBody>
          <a:bodyPr wrap="square" rtlCol="0" anchor="ctr"/>
          <a:lstStyle/>
          <a:p>
            <a:pPr indent="0" marL="0">
              <a:buNone/>
            </a:pPr>
            <a:r>
              <a:rPr lang="en-US" sz="900" b="1" spc="300" kern="0" dirty="0">
                <a:solidFill>
                  <a:srgbClr val="3B82F6"/>
                </a:solidFill>
                <a:latin typeface="Montserrat" pitchFamily="34" charset="0"/>
                <a:ea typeface="Montserrat" pitchFamily="34" charset="-122"/>
                <a:cs typeface="Montserrat" pitchFamily="34" charset="-120"/>
              </a:rPr>
              <a:t>CONTEXTO</a:t>
            </a:r>
            <a:endParaRPr lang="en-US" sz="900" dirty="0"/>
          </a:p>
        </p:txBody>
      </p:sp>
      <p:sp>
        <p:nvSpPr>
          <p:cNvPr id="16" name="Text 14"/>
          <p:cNvSpPr/>
          <p:nvPr/>
        </p:nvSpPr>
        <p:spPr>
          <a:xfrm>
            <a:off x="1325880" y="1737360"/>
            <a:ext cx="9997135" cy="841248"/>
          </a:xfrm>
          <a:prstGeom prst="rect">
            <a:avLst/>
          </a:prstGeom>
          <a:noFill/>
          <a:ln/>
        </p:spPr>
        <p:txBody>
          <a:bodyPr wrap="square" rtlCol="0" anchor="t"/>
          <a:lstStyle/>
          <a:p>
            <a:pPr indent="0" marL="0">
              <a:lnSpc>
                <a:spcPct val="122000"/>
              </a:lnSpc>
              <a:buNone/>
            </a:pPr>
            <a:r>
              <a:rPr lang="en-US" sz="1700" dirty="0">
                <a:solidFill>
                  <a:srgbClr val="94A3C0"/>
                </a:solidFill>
                <a:latin typeface="Open Sans" pitchFamily="34" charset="0"/>
                <a:ea typeface="Open Sans" pitchFamily="34" charset="-122"/>
                <a:cs typeface="Open Sans" pitchFamily="34" charset="-120"/>
              </a:rPr>
              <a:t>Em um escritório de advocacia, a IA pode analisar milhares de documentos em segundos. Ela identifica precedentes relevantes rapidamente.</a:t>
            </a:r>
            <a:endParaRPr lang="en-US" sz="1700" dirty="0"/>
          </a:p>
        </p:txBody>
      </p:sp>
      <p:sp>
        <p:nvSpPr>
          <p:cNvPr id="17" name="Shape 15"/>
          <p:cNvSpPr/>
          <p:nvPr/>
        </p:nvSpPr>
        <p:spPr>
          <a:xfrm rot="2700000">
            <a:off x="1060704" y="2674620"/>
            <a:ext cx="64008" cy="64008"/>
          </a:xfrm>
          <a:prstGeom prst="rect">
            <a:avLst/>
          </a:prstGeom>
          <a:solidFill>
            <a:srgbClr val="3B82F6"/>
          </a:solidFill>
          <a:ln/>
        </p:spPr>
      </p:sp>
      <p:sp>
        <p:nvSpPr>
          <p:cNvPr id="18" name="Shape 16"/>
          <p:cNvSpPr/>
          <p:nvPr/>
        </p:nvSpPr>
        <p:spPr>
          <a:xfrm>
            <a:off x="758952" y="2798064"/>
            <a:ext cx="10820095" cy="1188720"/>
          </a:xfrm>
          <a:prstGeom prst="roundRect">
            <a:avLst>
              <a:gd name="adj" fmla="val 7692"/>
            </a:avLst>
          </a:prstGeom>
          <a:solidFill>
            <a:srgbClr val="000000"/>
          </a:solidFill>
          <a:ln/>
        </p:spPr>
      </p:sp>
      <p:sp>
        <p:nvSpPr>
          <p:cNvPr id="19" name="Shape 17"/>
          <p:cNvSpPr/>
          <p:nvPr/>
        </p:nvSpPr>
        <p:spPr>
          <a:xfrm>
            <a:off x="731520" y="2761488"/>
            <a:ext cx="10820095" cy="1188720"/>
          </a:xfrm>
          <a:prstGeom prst="roundRect">
            <a:avLst>
              <a:gd name="adj" fmla="val 6154"/>
            </a:avLst>
          </a:prstGeom>
          <a:solidFill>
            <a:srgbClr val="111D38"/>
          </a:solidFill>
          <a:ln/>
        </p:spPr>
      </p:sp>
      <p:sp>
        <p:nvSpPr>
          <p:cNvPr id="20" name="Shape 18"/>
          <p:cNvSpPr/>
          <p:nvPr/>
        </p:nvSpPr>
        <p:spPr>
          <a:xfrm>
            <a:off x="731520" y="2816352"/>
            <a:ext cx="45720" cy="1078992"/>
          </a:xfrm>
          <a:prstGeom prst="rect">
            <a:avLst>
              <a:gd name="adj" fmla="val 60000"/>
            </a:avLst>
          </a:prstGeom>
          <a:solidFill>
            <a:srgbClr val="F59E0B"/>
          </a:solidFill>
          <a:ln/>
        </p:spPr>
      </p:sp>
      <p:sp>
        <p:nvSpPr>
          <p:cNvPr id="21" name="Shape 19"/>
          <p:cNvSpPr/>
          <p:nvPr/>
        </p:nvSpPr>
        <p:spPr>
          <a:xfrm>
            <a:off x="932688" y="3200400"/>
            <a:ext cx="310896" cy="310896"/>
          </a:xfrm>
          <a:prstGeom prst="roundRect">
            <a:avLst>
              <a:gd name="adj" fmla="val 17647"/>
            </a:avLst>
          </a:prstGeom>
          <a:solidFill>
            <a:srgbClr val="F59E0B"/>
          </a:solidFill>
          <a:ln/>
        </p:spPr>
      </p:sp>
      <p:sp>
        <p:nvSpPr>
          <p:cNvPr id="22" name="Text 20"/>
          <p:cNvSpPr/>
          <p:nvPr/>
        </p:nvSpPr>
        <p:spPr>
          <a:xfrm>
            <a:off x="932688" y="3200400"/>
            <a:ext cx="310896" cy="310896"/>
          </a:xfrm>
          <a:prstGeom prst="rect">
            <a:avLst/>
          </a:prstGeom>
          <a:noFill/>
          <a:ln/>
        </p:spPr>
        <p:txBody>
          <a:bodyPr wrap="square" rtlCol="0" anchor="ctr"/>
          <a:lstStyle/>
          <a:p>
            <a:pPr algn="ctr" indent="0" marL="0">
              <a:buNone/>
            </a:pPr>
            <a:r>
              <a:rPr lang="en-US" sz="1300" dirty="0">
                <a:solidFill>
                  <a:srgbClr val="F59E0B"/>
                </a:solidFill>
                <a:latin typeface="Open Sans" pitchFamily="34" charset="0"/>
                <a:ea typeface="Open Sans" pitchFamily="34" charset="-122"/>
                <a:cs typeface="Open Sans" pitchFamily="34" charset="-120"/>
              </a:rPr>
              <a:t>▲</a:t>
            </a:r>
            <a:endParaRPr lang="en-US" sz="1300" dirty="0"/>
          </a:p>
        </p:txBody>
      </p:sp>
      <p:sp>
        <p:nvSpPr>
          <p:cNvPr id="23" name="Text 21"/>
          <p:cNvSpPr/>
          <p:nvPr/>
        </p:nvSpPr>
        <p:spPr>
          <a:xfrm>
            <a:off x="1325880" y="2816352"/>
            <a:ext cx="1463040" cy="237744"/>
          </a:xfrm>
          <a:prstGeom prst="rect">
            <a:avLst/>
          </a:prstGeom>
          <a:noFill/>
          <a:ln/>
        </p:spPr>
        <p:txBody>
          <a:bodyPr wrap="square" rtlCol="0" anchor="ctr"/>
          <a:lstStyle/>
          <a:p>
            <a:pPr indent="0" marL="0">
              <a:buNone/>
            </a:pPr>
            <a:r>
              <a:rPr lang="en-US" sz="900" b="1" spc="300" kern="0" dirty="0">
                <a:solidFill>
                  <a:srgbClr val="F59E0B"/>
                </a:solidFill>
                <a:latin typeface="Montserrat" pitchFamily="34" charset="0"/>
                <a:ea typeface="Montserrat" pitchFamily="34" charset="-122"/>
                <a:cs typeface="Montserrat" pitchFamily="34" charset="-120"/>
              </a:rPr>
              <a:t>DESAFIO</a:t>
            </a:r>
            <a:endParaRPr lang="en-US" sz="900" dirty="0"/>
          </a:p>
        </p:txBody>
      </p:sp>
      <p:sp>
        <p:nvSpPr>
          <p:cNvPr id="24" name="Text 22"/>
          <p:cNvSpPr/>
          <p:nvPr/>
        </p:nvSpPr>
        <p:spPr>
          <a:xfrm>
            <a:off x="1325880" y="3035808"/>
            <a:ext cx="9997135" cy="841248"/>
          </a:xfrm>
          <a:prstGeom prst="rect">
            <a:avLst/>
          </a:prstGeom>
          <a:noFill/>
          <a:ln/>
        </p:spPr>
        <p:txBody>
          <a:bodyPr wrap="square" rtlCol="0" anchor="t"/>
          <a:lstStyle/>
          <a:p>
            <a:pPr indent="0" marL="0">
              <a:lnSpc>
                <a:spcPct val="122000"/>
              </a:lnSpc>
              <a:buNone/>
            </a:pPr>
            <a:r>
              <a:rPr lang="en-US" sz="1700" dirty="0">
                <a:solidFill>
                  <a:srgbClr val="94A3C0"/>
                </a:solidFill>
                <a:latin typeface="Open Sans" pitchFamily="34" charset="0"/>
                <a:ea typeface="Open Sans" pitchFamily="34" charset="-122"/>
                <a:cs typeface="Open Sans" pitchFamily="34" charset="-120"/>
              </a:rPr>
              <a:t>O advogado, por sua vez, concentra-se na argumentação estratégica e na construção do caso, usando a inteligência humana.</a:t>
            </a:r>
            <a:endParaRPr lang="en-US" sz="1700" dirty="0"/>
          </a:p>
        </p:txBody>
      </p:sp>
      <p:sp>
        <p:nvSpPr>
          <p:cNvPr id="25" name="Shape 23"/>
          <p:cNvSpPr/>
          <p:nvPr/>
        </p:nvSpPr>
        <p:spPr>
          <a:xfrm>
            <a:off x="0" y="6601968"/>
            <a:ext cx="2041093" cy="4572"/>
          </a:xfrm>
          <a:prstGeom prst="rect">
            <a:avLst/>
          </a:prstGeom>
          <a:solidFill>
            <a:srgbClr val="6C63FF"/>
          </a:solidFill>
          <a:ln/>
        </p:spPr>
      </p:sp>
      <p:sp>
        <p:nvSpPr>
          <p:cNvPr id="26" name="Shape 24"/>
          <p:cNvSpPr/>
          <p:nvPr/>
        </p:nvSpPr>
        <p:spPr>
          <a:xfrm>
            <a:off x="2031949" y="6601968"/>
            <a:ext cx="2041093" cy="4572"/>
          </a:xfrm>
          <a:prstGeom prst="rect">
            <a:avLst/>
          </a:prstGeom>
          <a:solidFill>
            <a:srgbClr val="6C63FF"/>
          </a:solidFill>
          <a:ln/>
        </p:spPr>
      </p:sp>
      <p:sp>
        <p:nvSpPr>
          <p:cNvPr id="27" name="Shape 25"/>
          <p:cNvSpPr/>
          <p:nvPr/>
        </p:nvSpPr>
        <p:spPr>
          <a:xfrm>
            <a:off x="4063898" y="6601968"/>
            <a:ext cx="2041093" cy="4572"/>
          </a:xfrm>
          <a:prstGeom prst="rect">
            <a:avLst/>
          </a:prstGeom>
          <a:solidFill>
            <a:srgbClr val="6C63FF"/>
          </a:solidFill>
          <a:ln/>
        </p:spPr>
      </p:sp>
      <p:sp>
        <p:nvSpPr>
          <p:cNvPr id="28" name="Shape 26"/>
          <p:cNvSpPr/>
          <p:nvPr/>
        </p:nvSpPr>
        <p:spPr>
          <a:xfrm>
            <a:off x="6095848" y="6601968"/>
            <a:ext cx="2041093" cy="4572"/>
          </a:xfrm>
          <a:prstGeom prst="rect">
            <a:avLst/>
          </a:prstGeom>
          <a:solidFill>
            <a:srgbClr val="6C63FF"/>
          </a:solidFill>
          <a:ln/>
        </p:spPr>
      </p:sp>
      <p:sp>
        <p:nvSpPr>
          <p:cNvPr id="29" name="Shape 27"/>
          <p:cNvSpPr/>
          <p:nvPr/>
        </p:nvSpPr>
        <p:spPr>
          <a:xfrm>
            <a:off x="8127797" y="6601968"/>
            <a:ext cx="2041093" cy="4572"/>
          </a:xfrm>
          <a:prstGeom prst="rect">
            <a:avLst/>
          </a:prstGeom>
          <a:solidFill>
            <a:srgbClr val="6C63FF"/>
          </a:solidFill>
          <a:ln/>
        </p:spPr>
      </p:sp>
      <p:sp>
        <p:nvSpPr>
          <p:cNvPr id="30" name="Shape 28"/>
          <p:cNvSpPr/>
          <p:nvPr/>
        </p:nvSpPr>
        <p:spPr>
          <a:xfrm>
            <a:off x="10159746" y="6601968"/>
            <a:ext cx="2041093" cy="4572"/>
          </a:xfrm>
          <a:prstGeom prst="rect">
            <a:avLst/>
          </a:prstGeom>
          <a:solidFill>
            <a:srgbClr val="6C63FF"/>
          </a:solidFill>
          <a:ln/>
        </p:spPr>
      </p:sp>
      <p:sp>
        <p:nvSpPr>
          <p:cNvPr id="31" name="Shape 29"/>
          <p:cNvSpPr/>
          <p:nvPr/>
        </p:nvSpPr>
        <p:spPr>
          <a:xfrm>
            <a:off x="0" y="6606540"/>
            <a:ext cx="12191695" cy="2743"/>
          </a:xfrm>
          <a:prstGeom prst="rect">
            <a:avLst/>
          </a:prstGeom>
          <a:solidFill>
            <a:srgbClr val="222E48"/>
          </a:solidFill>
          <a:ln/>
        </p:spPr>
      </p:sp>
      <p:sp>
        <p:nvSpPr>
          <p:cNvPr id="32" name="Text 30"/>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33" name="Shape 31"/>
          <p:cNvSpPr/>
          <p:nvPr/>
        </p:nvSpPr>
        <p:spPr>
          <a:xfrm>
            <a:off x="10436047" y="6693408"/>
            <a:ext cx="73152" cy="73152"/>
          </a:xfrm>
          <a:prstGeom prst="ellipse">
            <a:avLst/>
          </a:prstGeom>
          <a:solidFill>
            <a:srgbClr val="6C63FF"/>
          </a:solidFill>
          <a:ln/>
        </p:spPr>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6C63FF"/>
          </a:solidFill>
          <a:ln/>
        </p:spPr>
      </p:sp>
      <p:sp>
        <p:nvSpPr>
          <p:cNvPr id="3" name="Shape 1"/>
          <p:cNvSpPr/>
          <p:nvPr/>
        </p:nvSpPr>
        <p:spPr>
          <a:xfrm>
            <a:off x="64008" y="0"/>
            <a:ext cx="18288" cy="6858000"/>
          </a:xfrm>
          <a:prstGeom prst="rect">
            <a:avLst/>
          </a:prstGeom>
          <a:solidFill>
            <a:srgbClr val="6C63FF"/>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6C63FF"/>
                </a:solidFill>
                <a:latin typeface="Open Sans" pitchFamily="34" charset="0"/>
                <a:ea typeface="Open Sans" pitchFamily="34" charset="-122"/>
                <a:cs typeface="Open Sans" pitchFamily="34" charset="-120"/>
              </a:rPr>
              <a:t>MODELOS E TIPOS</a:t>
            </a:r>
            <a:endParaRPr lang="en-US" sz="900" dirty="0"/>
          </a:p>
        </p:txBody>
      </p:sp>
      <p:sp>
        <p:nvSpPr>
          <p:cNvPr id="5" name="Shape 3"/>
          <p:cNvSpPr/>
          <p:nvPr/>
        </p:nvSpPr>
        <p:spPr>
          <a:xfrm>
            <a:off x="502920" y="493776"/>
            <a:ext cx="640080" cy="21946"/>
          </a:xfrm>
          <a:prstGeom prst="rect">
            <a:avLst/>
          </a:prstGeom>
          <a:solidFill>
            <a:srgbClr val="6C63FF"/>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Modelos / Tipos</a:t>
            </a:r>
            <a:endParaRPr lang="en-US" sz="2800" dirty="0"/>
          </a:p>
        </p:txBody>
      </p:sp>
      <p:sp>
        <p:nvSpPr>
          <p:cNvPr id="7" name="Shape 5"/>
          <p:cNvSpPr/>
          <p:nvPr/>
        </p:nvSpPr>
        <p:spPr>
          <a:xfrm>
            <a:off x="502920" y="1389888"/>
            <a:ext cx="11185855" cy="7315"/>
          </a:xfrm>
          <a:prstGeom prst="rect">
            <a:avLst/>
          </a:prstGeom>
          <a:solidFill>
            <a:srgbClr val="6C63FF"/>
          </a:solidFill>
          <a:ln/>
        </p:spPr>
      </p:sp>
      <p:sp>
        <p:nvSpPr>
          <p:cNvPr id="8" name="Shape 6"/>
          <p:cNvSpPr/>
          <p:nvPr/>
        </p:nvSpPr>
        <p:spPr>
          <a:xfrm>
            <a:off x="502920" y="1408176"/>
            <a:ext cx="11185855" cy="3658"/>
          </a:xfrm>
          <a:prstGeom prst="rect">
            <a:avLst/>
          </a:prstGeom>
          <a:solidFill>
            <a:srgbClr val="222E48"/>
          </a:solidFill>
          <a:ln/>
        </p:spPr>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94360" y="1536192"/>
          <a:ext cx="11140135" cy="914400"/>
        </p:xfrm>
        <a:graphic>
          <a:graphicData uri="http://schemas.openxmlformats.org/drawingml/2006/table">
            <a:tbl>
              <a:tblPr/>
              <a:tblGrid>
                <a:gridCol w="5570068"/>
                <a:gridCol w="5570068"/>
              </a:tblGrid>
              <a:tr h="438912">
                <a:tc>
                  <a:txBody>
                    <a:bodyP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Aspecto</a:t>
                      </a:r>
                      <a:endParaRPr lang="en-US" sz="1300" dirty="0">
                        <a:latin typeface="Montserrat" charset="0"/>
                        <a:ea typeface="Montserrat" charset="0"/>
                        <a:cs typeface="Montserrat"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6C63FF"/>
                    </a:solidFill>
                  </a:tcPr>
                </a:tc>
                <a:tc>
                  <a:txBody>
                    <a:bodyP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Novas Funções Impulsionadas pela IA</a:t>
                      </a:r>
                      <a:endParaRPr lang="en-US" sz="1300" dirty="0">
                        <a:latin typeface="Montserrat" charset="0"/>
                        <a:ea typeface="Montserrat" charset="0"/>
                        <a:cs typeface="Montserrat"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6C63FF"/>
                    </a:solidFill>
                  </a:tcPr>
                </a:tc>
              </a:tr>
              <a:tr h="438912">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 Tecnologia</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Engenheiros de Prompt: Otimizam interação com modelos de IA.</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r>
              <a:tr h="438912">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 Ética</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A2848"/>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Especialistas em Ética da IA: Garantem uso responsável e justo.</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A2848"/>
                    </a:solidFill>
                  </a:tcPr>
                </a:tc>
              </a:tr>
              <a:tr h="438912">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 Dados</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Cientistas de Dados: Gerenciam e interpretam grandes volumes de informações.</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r>
              <a:tr h="438912">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 Conteúdo</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A2848"/>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Curadores de Conteúdo de IA: Organizam dados para alimentar algoritmos.</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A2848"/>
                    </a:solidFill>
                  </a:tcPr>
                </a:tc>
              </a:tr>
              <a:tr h="438912">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 Design</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c>
                  <a:txBody>
                    <a:bodyPr/>
                    <a:lstStyle/>
                    <a:p>
                      <a:pPr indent="0" marL="0">
                        <a:buNone/>
                      </a:pPr>
                      <a:r>
                        <a:rPr lang="en-US" sz="1200" dirty="0">
                          <a:solidFill>
                            <a:srgbClr val="E8EDF5"/>
                          </a:solidFill>
                          <a:latin typeface="Open Sans" pitchFamily="34" charset="0"/>
                          <a:ea typeface="Open Sans" pitchFamily="34" charset="-122"/>
                          <a:cs typeface="Open Sans" pitchFamily="34" charset="-120"/>
                        </a:rPr>
                        <a:t>Designers de UX para IA: Focam na interface intuitiva para sistemas inteligentes.</a:t>
                      </a:r>
                      <a:endParaRPr lang="en-US" sz="1200" dirty="0">
                        <a:latin typeface="Open Sans" charset="0"/>
                        <a:ea typeface="Open Sans" charset="0"/>
                        <a:cs typeface="Open Sans" charset="0"/>
                      </a:endParaRPr>
                    </a:p>
                  </a:txBody>
                  <a:tcPr marL="91440" marR="91440" marT="45720" marB="45720" anchor="ctr">
                    <a:lnL w="3810" cap="flat" cmpd="sng" algn="ctr">
                      <a:solidFill>
                        <a:srgbClr val="222E48"/>
                      </a:solidFill>
                      <a:prstDash val="solid"/>
                      <a:round/>
                      <a:headEnd type="none" w="med" len="med"/>
                      <a:tailEnd type="none" w="med" len="med"/>
                    </a:lnL>
                    <a:lnR w="3810" cap="flat" cmpd="sng" algn="ctr">
                      <a:solidFill>
                        <a:srgbClr val="222E48"/>
                      </a:solidFill>
                      <a:prstDash val="solid"/>
                      <a:round/>
                      <a:headEnd type="none" w="med" len="med"/>
                      <a:tailEnd type="none" w="med" len="med"/>
                    </a:lnR>
                    <a:lnT w="3810" cap="flat" cmpd="sng" algn="ctr">
                      <a:solidFill>
                        <a:srgbClr val="222E48"/>
                      </a:solidFill>
                      <a:prstDash val="solid"/>
                      <a:round/>
                      <a:headEnd type="none" w="med" len="med"/>
                      <a:tailEnd type="none" w="med" len="med"/>
                    </a:lnT>
                    <a:lnB w="3810" cap="flat" cmpd="sng" algn="ctr">
                      <a:solidFill>
                        <a:srgbClr val="222E48"/>
                      </a:solidFill>
                      <a:prstDash val="solid"/>
                      <a:round/>
                      <a:headEnd type="none" w="med" len="med"/>
                      <a:tailEnd type="none" w="med" len="med"/>
                    </a:lnB>
                    <a:solidFill>
                      <a:srgbClr val="141E34"/>
                    </a:solidFill>
                  </a:tcPr>
                </a:tc>
              </a:tr>
            </a:tbl>
          </a:graphicData>
        </a:graphic>
      </p:graphicFrame>
      <p:sp>
        <p:nvSpPr>
          <p:cNvPr id="10" name="Shape 7"/>
          <p:cNvSpPr/>
          <p:nvPr/>
        </p:nvSpPr>
        <p:spPr>
          <a:xfrm>
            <a:off x="0" y="6601968"/>
            <a:ext cx="2041093" cy="4572"/>
          </a:xfrm>
          <a:prstGeom prst="rect">
            <a:avLst/>
          </a:prstGeom>
          <a:solidFill>
            <a:srgbClr val="6C63FF"/>
          </a:solidFill>
          <a:ln/>
        </p:spPr>
      </p:sp>
      <p:sp>
        <p:nvSpPr>
          <p:cNvPr id="11" name="Shape 8"/>
          <p:cNvSpPr/>
          <p:nvPr/>
        </p:nvSpPr>
        <p:spPr>
          <a:xfrm>
            <a:off x="2031949" y="6601968"/>
            <a:ext cx="2041093" cy="4572"/>
          </a:xfrm>
          <a:prstGeom prst="rect">
            <a:avLst/>
          </a:prstGeom>
          <a:solidFill>
            <a:srgbClr val="6C63FF"/>
          </a:solidFill>
          <a:ln/>
        </p:spPr>
      </p:sp>
      <p:sp>
        <p:nvSpPr>
          <p:cNvPr id="12" name="Shape 9"/>
          <p:cNvSpPr/>
          <p:nvPr/>
        </p:nvSpPr>
        <p:spPr>
          <a:xfrm>
            <a:off x="4063898" y="6601968"/>
            <a:ext cx="2041093" cy="4572"/>
          </a:xfrm>
          <a:prstGeom prst="rect">
            <a:avLst/>
          </a:prstGeom>
          <a:solidFill>
            <a:srgbClr val="6C63FF"/>
          </a:solidFill>
          <a:ln/>
        </p:spPr>
      </p:sp>
      <p:sp>
        <p:nvSpPr>
          <p:cNvPr id="13" name="Shape 10"/>
          <p:cNvSpPr/>
          <p:nvPr/>
        </p:nvSpPr>
        <p:spPr>
          <a:xfrm>
            <a:off x="6095848" y="6601968"/>
            <a:ext cx="2041093" cy="4572"/>
          </a:xfrm>
          <a:prstGeom prst="rect">
            <a:avLst/>
          </a:prstGeom>
          <a:solidFill>
            <a:srgbClr val="6C63FF"/>
          </a:solidFill>
          <a:ln/>
        </p:spPr>
      </p:sp>
      <p:sp>
        <p:nvSpPr>
          <p:cNvPr id="14" name="Shape 11"/>
          <p:cNvSpPr/>
          <p:nvPr/>
        </p:nvSpPr>
        <p:spPr>
          <a:xfrm>
            <a:off x="8127797" y="6601968"/>
            <a:ext cx="2041093" cy="4572"/>
          </a:xfrm>
          <a:prstGeom prst="rect">
            <a:avLst/>
          </a:prstGeom>
          <a:solidFill>
            <a:srgbClr val="6C63FF"/>
          </a:solidFill>
          <a:ln/>
        </p:spPr>
      </p:sp>
      <p:sp>
        <p:nvSpPr>
          <p:cNvPr id="15" name="Shape 12"/>
          <p:cNvSpPr/>
          <p:nvPr/>
        </p:nvSpPr>
        <p:spPr>
          <a:xfrm>
            <a:off x="10159746" y="6601968"/>
            <a:ext cx="2041093" cy="4572"/>
          </a:xfrm>
          <a:prstGeom prst="rect">
            <a:avLst/>
          </a:prstGeom>
          <a:solidFill>
            <a:srgbClr val="6C63FF"/>
          </a:solidFill>
          <a:ln/>
        </p:spPr>
      </p:sp>
      <p:sp>
        <p:nvSpPr>
          <p:cNvPr id="16" name="Shape 13"/>
          <p:cNvSpPr/>
          <p:nvPr/>
        </p:nvSpPr>
        <p:spPr>
          <a:xfrm>
            <a:off x="0" y="6606540"/>
            <a:ext cx="12191695" cy="2743"/>
          </a:xfrm>
          <a:prstGeom prst="rect">
            <a:avLst/>
          </a:prstGeom>
          <a:solidFill>
            <a:srgbClr val="222E48"/>
          </a:solidFill>
          <a:ln/>
        </p:spPr>
      </p:sp>
      <p:sp>
        <p:nvSpPr>
          <p:cNvPr id="17" name="Text 14"/>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18" name="Shape 15"/>
          <p:cNvSpPr/>
          <p:nvPr/>
        </p:nvSpPr>
        <p:spPr>
          <a:xfrm>
            <a:off x="10436047" y="6693408"/>
            <a:ext cx="73152" cy="73152"/>
          </a:xfrm>
          <a:prstGeom prst="ellipse">
            <a:avLst/>
          </a:prstGeom>
          <a:solidFill>
            <a:srgbClr val="6C63FF"/>
          </a:solidFill>
          <a:ln/>
        </p:spPr>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F59E0B"/>
          </a:solidFill>
          <a:ln/>
        </p:spPr>
      </p:sp>
      <p:sp>
        <p:nvSpPr>
          <p:cNvPr id="3" name="Shape 1"/>
          <p:cNvSpPr/>
          <p:nvPr/>
        </p:nvSpPr>
        <p:spPr>
          <a:xfrm>
            <a:off x="64008" y="0"/>
            <a:ext cx="18288" cy="6858000"/>
          </a:xfrm>
          <a:prstGeom prst="rect">
            <a:avLst/>
          </a:prstGeom>
          <a:solidFill>
            <a:srgbClr val="F59E0B"/>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F59E0B"/>
                </a:solidFill>
                <a:latin typeface="Open Sans" pitchFamily="34" charset="0"/>
                <a:ea typeface="Open Sans" pitchFamily="34" charset="-122"/>
                <a:cs typeface="Open Sans" pitchFamily="34" charset="-120"/>
              </a:rPr>
              <a:t>APLICAÇÕES REAIS</a:t>
            </a:r>
            <a:endParaRPr lang="en-US" sz="900" dirty="0"/>
          </a:p>
        </p:txBody>
      </p:sp>
      <p:sp>
        <p:nvSpPr>
          <p:cNvPr id="5" name="Shape 3"/>
          <p:cNvSpPr/>
          <p:nvPr/>
        </p:nvSpPr>
        <p:spPr>
          <a:xfrm>
            <a:off x="502920" y="493776"/>
            <a:ext cx="640080" cy="21946"/>
          </a:xfrm>
          <a:prstGeom prst="rect">
            <a:avLst/>
          </a:prstGeom>
          <a:solidFill>
            <a:srgbClr val="F59E0B"/>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Aplicações reais</a:t>
            </a:r>
            <a:endParaRPr lang="en-US" sz="2800" dirty="0"/>
          </a:p>
        </p:txBody>
      </p:sp>
      <p:sp>
        <p:nvSpPr>
          <p:cNvPr id="7" name="Shape 5"/>
          <p:cNvSpPr/>
          <p:nvPr/>
        </p:nvSpPr>
        <p:spPr>
          <a:xfrm>
            <a:off x="502920" y="1389888"/>
            <a:ext cx="11185855" cy="7315"/>
          </a:xfrm>
          <a:prstGeom prst="rect">
            <a:avLst/>
          </a:prstGeom>
          <a:solidFill>
            <a:srgbClr val="F59E0B"/>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621792" y="1572768"/>
            <a:ext cx="3603650" cy="2286000"/>
          </a:xfrm>
          <a:prstGeom prst="roundRect">
            <a:avLst>
              <a:gd name="adj" fmla="val 4000"/>
            </a:avLst>
          </a:prstGeom>
          <a:solidFill>
            <a:srgbClr val="000000"/>
          </a:solidFill>
          <a:ln/>
        </p:spPr>
      </p:sp>
      <p:sp>
        <p:nvSpPr>
          <p:cNvPr id="10" name="Shape 8"/>
          <p:cNvSpPr/>
          <p:nvPr/>
        </p:nvSpPr>
        <p:spPr>
          <a:xfrm>
            <a:off x="594360" y="1536192"/>
            <a:ext cx="3603650" cy="2286000"/>
          </a:xfrm>
          <a:prstGeom prst="roundRect">
            <a:avLst>
              <a:gd name="adj" fmla="val 4000"/>
            </a:avLst>
          </a:prstGeom>
          <a:solidFill>
            <a:srgbClr val="141E34"/>
          </a:solidFill>
          <a:ln/>
        </p:spPr>
      </p:sp>
      <p:sp>
        <p:nvSpPr>
          <p:cNvPr id="11" name="Shape 9"/>
          <p:cNvSpPr/>
          <p:nvPr/>
        </p:nvSpPr>
        <p:spPr>
          <a:xfrm>
            <a:off x="594360" y="1536192"/>
            <a:ext cx="3603650" cy="45720"/>
          </a:xfrm>
          <a:prstGeom prst="rect">
            <a:avLst>
              <a:gd name="adj" fmla="val 200000"/>
            </a:avLst>
          </a:prstGeom>
          <a:solidFill>
            <a:srgbClr val="6C63FF"/>
          </a:solidFill>
          <a:ln/>
        </p:spPr>
      </p:sp>
      <p:sp>
        <p:nvSpPr>
          <p:cNvPr id="12" name="Text 10"/>
          <p:cNvSpPr/>
          <p:nvPr/>
        </p:nvSpPr>
        <p:spPr>
          <a:xfrm>
            <a:off x="3603650" y="1627632"/>
            <a:ext cx="502920" cy="365760"/>
          </a:xfrm>
          <a:prstGeom prst="rect">
            <a:avLst/>
          </a:prstGeom>
          <a:noFill/>
          <a:ln/>
        </p:spPr>
        <p:txBody>
          <a:bodyPr wrap="square" rtlCol="0" anchor="ctr"/>
          <a:lstStyle/>
          <a:p>
            <a:pPr algn="r" indent="0" marL="0">
              <a:buNone/>
            </a:pPr>
            <a:r>
              <a:rPr lang="en-US" sz="2400" b="1" dirty="0">
                <a:solidFill>
                  <a:srgbClr val="6C63FF">
                    <a:alpha val="75000"/>
                  </a:srgbClr>
                </a:solidFill>
                <a:latin typeface="Montserrat" pitchFamily="34" charset="0"/>
                <a:ea typeface="Montserrat" pitchFamily="34" charset="-122"/>
                <a:cs typeface="Montserrat" pitchFamily="34" charset="-120"/>
              </a:rPr>
              <a:t>01</a:t>
            </a:r>
            <a:endParaRPr lang="en-US" sz="2400" dirty="0"/>
          </a:p>
        </p:txBody>
      </p:sp>
      <p:sp>
        <p:nvSpPr>
          <p:cNvPr id="13" name="Text 11"/>
          <p:cNvSpPr/>
          <p:nvPr/>
        </p:nvSpPr>
        <p:spPr>
          <a:xfrm>
            <a:off x="722376" y="1682496"/>
            <a:ext cx="2835554" cy="201168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Para prosperar no futuro do trabalho impulsionado pela IA, habilidades-chave se tornam valiosas.</a:t>
            </a:r>
            <a:endParaRPr lang="en-US" sz="1300" dirty="0"/>
          </a:p>
        </p:txBody>
      </p:sp>
      <p:sp>
        <p:nvSpPr>
          <p:cNvPr id="14" name="Shape 12"/>
          <p:cNvSpPr/>
          <p:nvPr/>
        </p:nvSpPr>
        <p:spPr>
          <a:xfrm>
            <a:off x="4390034" y="1572768"/>
            <a:ext cx="3603650" cy="2286000"/>
          </a:xfrm>
          <a:prstGeom prst="roundRect">
            <a:avLst>
              <a:gd name="adj" fmla="val 4000"/>
            </a:avLst>
          </a:prstGeom>
          <a:solidFill>
            <a:srgbClr val="000000"/>
          </a:solidFill>
          <a:ln/>
        </p:spPr>
      </p:sp>
      <p:sp>
        <p:nvSpPr>
          <p:cNvPr id="15" name="Shape 13"/>
          <p:cNvSpPr/>
          <p:nvPr/>
        </p:nvSpPr>
        <p:spPr>
          <a:xfrm>
            <a:off x="4362602" y="1536192"/>
            <a:ext cx="3603650" cy="2286000"/>
          </a:xfrm>
          <a:prstGeom prst="roundRect">
            <a:avLst>
              <a:gd name="adj" fmla="val 4000"/>
            </a:avLst>
          </a:prstGeom>
          <a:solidFill>
            <a:srgbClr val="141E34"/>
          </a:solidFill>
          <a:ln/>
        </p:spPr>
      </p:sp>
      <p:sp>
        <p:nvSpPr>
          <p:cNvPr id="16" name="Shape 14"/>
          <p:cNvSpPr/>
          <p:nvPr/>
        </p:nvSpPr>
        <p:spPr>
          <a:xfrm>
            <a:off x="4362602" y="1536192"/>
            <a:ext cx="3603650" cy="45720"/>
          </a:xfrm>
          <a:prstGeom prst="rect">
            <a:avLst>
              <a:gd name="adj" fmla="val 200000"/>
            </a:avLst>
          </a:prstGeom>
          <a:solidFill>
            <a:srgbClr val="3B82F6"/>
          </a:solidFill>
          <a:ln/>
        </p:spPr>
      </p:sp>
      <p:sp>
        <p:nvSpPr>
          <p:cNvPr id="17" name="Text 15"/>
          <p:cNvSpPr/>
          <p:nvPr/>
        </p:nvSpPr>
        <p:spPr>
          <a:xfrm>
            <a:off x="7371893" y="1627632"/>
            <a:ext cx="502920" cy="365760"/>
          </a:xfrm>
          <a:prstGeom prst="rect">
            <a:avLst/>
          </a:prstGeom>
          <a:noFill/>
          <a:ln/>
        </p:spPr>
        <p:txBody>
          <a:bodyPr wrap="square" rtlCol="0" anchor="ctr"/>
          <a:lstStyle/>
          <a:p>
            <a:pPr algn="r" indent="0" marL="0">
              <a:buNone/>
            </a:pPr>
            <a:r>
              <a:rPr lang="en-US" sz="2400" b="1" dirty="0">
                <a:solidFill>
                  <a:srgbClr val="3B82F6">
                    <a:alpha val="75000"/>
                  </a:srgbClr>
                </a:solidFill>
                <a:latin typeface="Montserrat" pitchFamily="34" charset="0"/>
                <a:ea typeface="Montserrat" pitchFamily="34" charset="-122"/>
                <a:cs typeface="Montserrat" pitchFamily="34" charset="-120"/>
              </a:rPr>
              <a:t>02</a:t>
            </a:r>
            <a:endParaRPr lang="en-US" sz="2400" dirty="0"/>
          </a:p>
        </p:txBody>
      </p:sp>
      <p:sp>
        <p:nvSpPr>
          <p:cNvPr id="18" name="Text 16"/>
          <p:cNvSpPr/>
          <p:nvPr/>
        </p:nvSpPr>
        <p:spPr>
          <a:xfrm>
            <a:off x="4490618" y="1682496"/>
            <a:ext cx="2835554" cy="201168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Elas vão além da técnica, focando na inovação humana e relacionamento.</a:t>
            </a:r>
            <a:endParaRPr lang="en-US" sz="1300" dirty="0"/>
          </a:p>
        </p:txBody>
      </p:sp>
      <p:sp>
        <p:nvSpPr>
          <p:cNvPr id="19" name="Shape 17"/>
          <p:cNvSpPr/>
          <p:nvPr/>
        </p:nvSpPr>
        <p:spPr>
          <a:xfrm>
            <a:off x="8158277" y="1572768"/>
            <a:ext cx="3603650" cy="2286000"/>
          </a:xfrm>
          <a:prstGeom prst="roundRect">
            <a:avLst>
              <a:gd name="adj" fmla="val 4000"/>
            </a:avLst>
          </a:prstGeom>
          <a:solidFill>
            <a:srgbClr val="000000"/>
          </a:solidFill>
          <a:ln/>
        </p:spPr>
      </p:sp>
      <p:sp>
        <p:nvSpPr>
          <p:cNvPr id="20" name="Shape 18"/>
          <p:cNvSpPr/>
          <p:nvPr/>
        </p:nvSpPr>
        <p:spPr>
          <a:xfrm>
            <a:off x="8130845" y="1536192"/>
            <a:ext cx="3603650" cy="2286000"/>
          </a:xfrm>
          <a:prstGeom prst="roundRect">
            <a:avLst>
              <a:gd name="adj" fmla="val 4000"/>
            </a:avLst>
          </a:prstGeom>
          <a:solidFill>
            <a:srgbClr val="141E34"/>
          </a:solidFill>
          <a:ln/>
        </p:spPr>
      </p:sp>
      <p:sp>
        <p:nvSpPr>
          <p:cNvPr id="21" name="Shape 19"/>
          <p:cNvSpPr/>
          <p:nvPr/>
        </p:nvSpPr>
        <p:spPr>
          <a:xfrm>
            <a:off x="8130845" y="1536192"/>
            <a:ext cx="3603650" cy="45720"/>
          </a:xfrm>
          <a:prstGeom prst="rect">
            <a:avLst>
              <a:gd name="adj" fmla="val 200000"/>
            </a:avLst>
          </a:prstGeom>
          <a:solidFill>
            <a:srgbClr val="10B981"/>
          </a:solidFill>
          <a:ln/>
        </p:spPr>
      </p:sp>
      <p:sp>
        <p:nvSpPr>
          <p:cNvPr id="22" name="Text 20"/>
          <p:cNvSpPr/>
          <p:nvPr/>
        </p:nvSpPr>
        <p:spPr>
          <a:xfrm>
            <a:off x="11140135" y="1627632"/>
            <a:ext cx="502920" cy="365760"/>
          </a:xfrm>
          <a:prstGeom prst="rect">
            <a:avLst/>
          </a:prstGeom>
          <a:noFill/>
          <a:ln/>
        </p:spPr>
        <p:txBody>
          <a:bodyPr wrap="square" rtlCol="0" anchor="ctr"/>
          <a:lstStyle/>
          <a:p>
            <a:pPr algn="r" indent="0" marL="0">
              <a:buNone/>
            </a:pPr>
            <a:r>
              <a:rPr lang="en-US" sz="2400" b="1" dirty="0">
                <a:solidFill>
                  <a:srgbClr val="10B981">
                    <a:alpha val="75000"/>
                  </a:srgbClr>
                </a:solidFill>
                <a:latin typeface="Montserrat" pitchFamily="34" charset="0"/>
                <a:ea typeface="Montserrat" pitchFamily="34" charset="-122"/>
                <a:cs typeface="Montserrat" pitchFamily="34" charset="-120"/>
              </a:rPr>
              <a:t>03</a:t>
            </a:r>
            <a:endParaRPr lang="en-US" sz="2400" dirty="0"/>
          </a:p>
        </p:txBody>
      </p:sp>
      <p:sp>
        <p:nvSpPr>
          <p:cNvPr id="23" name="Text 21"/>
          <p:cNvSpPr/>
          <p:nvPr/>
        </p:nvSpPr>
        <p:spPr>
          <a:xfrm>
            <a:off x="8258861" y="1682496"/>
            <a:ext cx="2835554" cy="201168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Pensamento Crítico e Resolução de Problemas: Capacidade de analisar situações complexas e encontrar soluções inovadoras.</a:t>
            </a:r>
            <a:endParaRPr lang="en-US" sz="1300" dirty="0"/>
          </a:p>
        </p:txBody>
      </p:sp>
      <p:sp>
        <p:nvSpPr>
          <p:cNvPr id="24" name="Shape 22"/>
          <p:cNvSpPr/>
          <p:nvPr/>
        </p:nvSpPr>
        <p:spPr>
          <a:xfrm>
            <a:off x="621792" y="4023360"/>
            <a:ext cx="3603650" cy="2286000"/>
          </a:xfrm>
          <a:prstGeom prst="roundRect">
            <a:avLst>
              <a:gd name="adj" fmla="val 4000"/>
            </a:avLst>
          </a:prstGeom>
          <a:solidFill>
            <a:srgbClr val="000000"/>
          </a:solidFill>
          <a:ln/>
        </p:spPr>
      </p:sp>
      <p:sp>
        <p:nvSpPr>
          <p:cNvPr id="25" name="Shape 23"/>
          <p:cNvSpPr/>
          <p:nvPr/>
        </p:nvSpPr>
        <p:spPr>
          <a:xfrm>
            <a:off x="594360" y="3986784"/>
            <a:ext cx="3603650" cy="2286000"/>
          </a:xfrm>
          <a:prstGeom prst="roundRect">
            <a:avLst>
              <a:gd name="adj" fmla="val 4000"/>
            </a:avLst>
          </a:prstGeom>
          <a:solidFill>
            <a:srgbClr val="141E34"/>
          </a:solidFill>
          <a:ln/>
        </p:spPr>
      </p:sp>
      <p:sp>
        <p:nvSpPr>
          <p:cNvPr id="26" name="Shape 24"/>
          <p:cNvSpPr/>
          <p:nvPr/>
        </p:nvSpPr>
        <p:spPr>
          <a:xfrm>
            <a:off x="594360" y="3986784"/>
            <a:ext cx="3603650" cy="45720"/>
          </a:xfrm>
          <a:prstGeom prst="rect">
            <a:avLst>
              <a:gd name="adj" fmla="val 200000"/>
            </a:avLst>
          </a:prstGeom>
          <a:solidFill>
            <a:srgbClr val="F59E0B"/>
          </a:solidFill>
          <a:ln/>
        </p:spPr>
      </p:sp>
      <p:sp>
        <p:nvSpPr>
          <p:cNvPr id="27" name="Shape 25"/>
          <p:cNvSpPr/>
          <p:nvPr/>
        </p:nvSpPr>
        <p:spPr>
          <a:xfrm>
            <a:off x="704088" y="4151376"/>
            <a:ext cx="384048" cy="384048"/>
          </a:xfrm>
          <a:prstGeom prst="roundRect">
            <a:avLst>
              <a:gd name="adj" fmla="val 19048"/>
            </a:avLst>
          </a:prstGeom>
          <a:solidFill>
            <a:srgbClr val="F59E0B"/>
          </a:solidFill>
          <a:ln/>
        </p:spPr>
      </p:sp>
      <p:sp>
        <p:nvSpPr>
          <p:cNvPr id="28" name="Text 26"/>
          <p:cNvSpPr/>
          <p:nvPr/>
        </p:nvSpPr>
        <p:spPr>
          <a:xfrm>
            <a:off x="704088" y="4151376"/>
            <a:ext cx="384048" cy="384048"/>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4</a:t>
            </a:r>
            <a:endParaRPr lang="en-US" sz="1600" dirty="0"/>
          </a:p>
        </p:txBody>
      </p:sp>
      <p:sp>
        <p:nvSpPr>
          <p:cNvPr id="29" name="Text 27"/>
          <p:cNvSpPr/>
          <p:nvPr/>
        </p:nvSpPr>
        <p:spPr>
          <a:xfrm>
            <a:off x="1179576" y="4114800"/>
            <a:ext cx="2890418" cy="457200"/>
          </a:xfrm>
          <a:prstGeom prst="rect">
            <a:avLst/>
          </a:prstGeom>
          <a:noFill/>
          <a:ln/>
        </p:spPr>
        <p:txBody>
          <a:bodyPr wrap="square" rtlCol="0" anchor="ctr"/>
          <a:lstStyle/>
          <a:p>
            <a:pPr indent="0" marL="0">
              <a:buNone/>
            </a:pPr>
            <a:r>
              <a:rPr lang="en-US" sz="1500" b="1" dirty="0">
                <a:solidFill>
                  <a:srgbClr val="F59E0B"/>
                </a:solidFill>
                <a:latin typeface="Montserrat" pitchFamily="34" charset="0"/>
                <a:ea typeface="Montserrat" pitchFamily="34" charset="-122"/>
                <a:cs typeface="Montserrat" pitchFamily="34" charset="-120"/>
              </a:rPr>
              <a:t>Criatividade e Inovação</a:t>
            </a:r>
            <a:endParaRPr lang="en-US" sz="1500" dirty="0"/>
          </a:p>
        </p:txBody>
      </p:sp>
      <p:sp>
        <p:nvSpPr>
          <p:cNvPr id="30" name="Shape 28"/>
          <p:cNvSpPr/>
          <p:nvPr/>
        </p:nvSpPr>
        <p:spPr>
          <a:xfrm>
            <a:off x="704088" y="4626864"/>
            <a:ext cx="3384194" cy="3658"/>
          </a:xfrm>
          <a:prstGeom prst="rect">
            <a:avLst/>
          </a:prstGeom>
          <a:solidFill>
            <a:srgbClr val="222E48"/>
          </a:solidFill>
          <a:ln/>
        </p:spPr>
      </p:sp>
      <p:sp>
        <p:nvSpPr>
          <p:cNvPr id="31" name="Text 29"/>
          <p:cNvSpPr/>
          <p:nvPr/>
        </p:nvSpPr>
        <p:spPr>
          <a:xfrm>
            <a:off x="722376" y="4681728"/>
            <a:ext cx="3347618" cy="146304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Habilidade de gerar novas ideias e abordagens únicas.</a:t>
            </a:r>
            <a:endParaRPr lang="en-US" sz="1300" dirty="0"/>
          </a:p>
        </p:txBody>
      </p:sp>
      <p:sp>
        <p:nvSpPr>
          <p:cNvPr id="32" name="Shape 30"/>
          <p:cNvSpPr/>
          <p:nvPr/>
        </p:nvSpPr>
        <p:spPr>
          <a:xfrm>
            <a:off x="4390034" y="4023360"/>
            <a:ext cx="3603650" cy="2286000"/>
          </a:xfrm>
          <a:prstGeom prst="roundRect">
            <a:avLst>
              <a:gd name="adj" fmla="val 4000"/>
            </a:avLst>
          </a:prstGeom>
          <a:solidFill>
            <a:srgbClr val="000000"/>
          </a:solidFill>
          <a:ln/>
        </p:spPr>
      </p:sp>
      <p:sp>
        <p:nvSpPr>
          <p:cNvPr id="33" name="Shape 31"/>
          <p:cNvSpPr/>
          <p:nvPr/>
        </p:nvSpPr>
        <p:spPr>
          <a:xfrm>
            <a:off x="4362602" y="3986784"/>
            <a:ext cx="3603650" cy="2286000"/>
          </a:xfrm>
          <a:prstGeom prst="roundRect">
            <a:avLst>
              <a:gd name="adj" fmla="val 4000"/>
            </a:avLst>
          </a:prstGeom>
          <a:solidFill>
            <a:srgbClr val="141E34"/>
          </a:solidFill>
          <a:ln/>
        </p:spPr>
      </p:sp>
      <p:sp>
        <p:nvSpPr>
          <p:cNvPr id="34" name="Shape 32"/>
          <p:cNvSpPr/>
          <p:nvPr/>
        </p:nvSpPr>
        <p:spPr>
          <a:xfrm>
            <a:off x="4362602" y="3986784"/>
            <a:ext cx="3603650" cy="45720"/>
          </a:xfrm>
          <a:prstGeom prst="rect">
            <a:avLst>
              <a:gd name="adj" fmla="val 200000"/>
            </a:avLst>
          </a:prstGeom>
          <a:solidFill>
            <a:srgbClr val="06B6D4"/>
          </a:solidFill>
          <a:ln/>
        </p:spPr>
      </p:sp>
      <p:sp>
        <p:nvSpPr>
          <p:cNvPr id="35" name="Shape 33"/>
          <p:cNvSpPr/>
          <p:nvPr/>
        </p:nvSpPr>
        <p:spPr>
          <a:xfrm>
            <a:off x="4472330" y="4151376"/>
            <a:ext cx="384048" cy="384048"/>
          </a:xfrm>
          <a:prstGeom prst="roundRect">
            <a:avLst>
              <a:gd name="adj" fmla="val 19048"/>
            </a:avLst>
          </a:prstGeom>
          <a:solidFill>
            <a:srgbClr val="06B6D4"/>
          </a:solidFill>
          <a:ln/>
        </p:spPr>
      </p:sp>
      <p:sp>
        <p:nvSpPr>
          <p:cNvPr id="36" name="Text 34"/>
          <p:cNvSpPr/>
          <p:nvPr/>
        </p:nvSpPr>
        <p:spPr>
          <a:xfrm>
            <a:off x="4472330" y="4151376"/>
            <a:ext cx="384048" cy="384048"/>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5</a:t>
            </a:r>
            <a:endParaRPr lang="en-US" sz="1600" dirty="0"/>
          </a:p>
        </p:txBody>
      </p:sp>
      <p:sp>
        <p:nvSpPr>
          <p:cNvPr id="37" name="Text 35"/>
          <p:cNvSpPr/>
          <p:nvPr/>
        </p:nvSpPr>
        <p:spPr>
          <a:xfrm>
            <a:off x="4947818" y="4114800"/>
            <a:ext cx="2890418" cy="457200"/>
          </a:xfrm>
          <a:prstGeom prst="rect">
            <a:avLst/>
          </a:prstGeom>
          <a:noFill/>
          <a:ln/>
        </p:spPr>
        <p:txBody>
          <a:bodyPr wrap="square" rtlCol="0" anchor="ctr"/>
          <a:lstStyle/>
          <a:p>
            <a:pPr indent="0" marL="0">
              <a:buNone/>
            </a:pPr>
            <a:r>
              <a:rPr lang="en-US" sz="1500" b="1" dirty="0">
                <a:solidFill>
                  <a:srgbClr val="06B6D4"/>
                </a:solidFill>
                <a:latin typeface="Montserrat" pitchFamily="34" charset="0"/>
                <a:ea typeface="Montserrat" pitchFamily="34" charset="-122"/>
                <a:cs typeface="Montserrat" pitchFamily="34" charset="-120"/>
              </a:rPr>
              <a:t>Inteligência Emocional</a:t>
            </a:r>
            <a:endParaRPr lang="en-US" sz="1500" dirty="0"/>
          </a:p>
        </p:txBody>
      </p:sp>
      <p:sp>
        <p:nvSpPr>
          <p:cNvPr id="38" name="Shape 36"/>
          <p:cNvSpPr/>
          <p:nvPr/>
        </p:nvSpPr>
        <p:spPr>
          <a:xfrm>
            <a:off x="4472330" y="4626864"/>
            <a:ext cx="3384194" cy="3658"/>
          </a:xfrm>
          <a:prstGeom prst="rect">
            <a:avLst/>
          </a:prstGeom>
          <a:solidFill>
            <a:srgbClr val="222E48"/>
          </a:solidFill>
          <a:ln/>
        </p:spPr>
      </p:sp>
      <p:sp>
        <p:nvSpPr>
          <p:cNvPr id="39" name="Text 37"/>
          <p:cNvSpPr/>
          <p:nvPr/>
        </p:nvSpPr>
        <p:spPr>
          <a:xfrm>
            <a:off x="4490618" y="4681728"/>
            <a:ext cx="3347618" cy="146304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Compreensão e gestão de emoções, fundamental para a colaboração.</a:t>
            </a:r>
            <a:endParaRPr lang="en-US" sz="1300" dirty="0"/>
          </a:p>
        </p:txBody>
      </p:sp>
      <p:sp>
        <p:nvSpPr>
          <p:cNvPr id="40" name="Shape 38"/>
          <p:cNvSpPr/>
          <p:nvPr/>
        </p:nvSpPr>
        <p:spPr>
          <a:xfrm>
            <a:off x="8158277" y="4023360"/>
            <a:ext cx="3603650" cy="2286000"/>
          </a:xfrm>
          <a:prstGeom prst="roundRect">
            <a:avLst>
              <a:gd name="adj" fmla="val 4000"/>
            </a:avLst>
          </a:prstGeom>
          <a:solidFill>
            <a:srgbClr val="000000"/>
          </a:solidFill>
          <a:ln/>
        </p:spPr>
      </p:sp>
      <p:sp>
        <p:nvSpPr>
          <p:cNvPr id="41" name="Shape 39"/>
          <p:cNvSpPr/>
          <p:nvPr/>
        </p:nvSpPr>
        <p:spPr>
          <a:xfrm>
            <a:off x="8130845" y="3986784"/>
            <a:ext cx="3603650" cy="2286000"/>
          </a:xfrm>
          <a:prstGeom prst="roundRect">
            <a:avLst>
              <a:gd name="adj" fmla="val 4000"/>
            </a:avLst>
          </a:prstGeom>
          <a:solidFill>
            <a:srgbClr val="141E34"/>
          </a:solidFill>
          <a:ln/>
        </p:spPr>
      </p:sp>
      <p:sp>
        <p:nvSpPr>
          <p:cNvPr id="42" name="Shape 40"/>
          <p:cNvSpPr/>
          <p:nvPr/>
        </p:nvSpPr>
        <p:spPr>
          <a:xfrm>
            <a:off x="8130845" y="3986784"/>
            <a:ext cx="3603650" cy="45720"/>
          </a:xfrm>
          <a:prstGeom prst="rect">
            <a:avLst>
              <a:gd name="adj" fmla="val 200000"/>
            </a:avLst>
          </a:prstGeom>
          <a:solidFill>
            <a:srgbClr val="6C63FF"/>
          </a:solidFill>
          <a:ln/>
        </p:spPr>
      </p:sp>
      <p:sp>
        <p:nvSpPr>
          <p:cNvPr id="43" name="Shape 41"/>
          <p:cNvSpPr/>
          <p:nvPr/>
        </p:nvSpPr>
        <p:spPr>
          <a:xfrm>
            <a:off x="8240573" y="4151376"/>
            <a:ext cx="384048" cy="384048"/>
          </a:xfrm>
          <a:prstGeom prst="roundRect">
            <a:avLst>
              <a:gd name="adj" fmla="val 19048"/>
            </a:avLst>
          </a:prstGeom>
          <a:solidFill>
            <a:srgbClr val="6C63FF"/>
          </a:solidFill>
          <a:ln/>
        </p:spPr>
      </p:sp>
      <p:sp>
        <p:nvSpPr>
          <p:cNvPr id="44" name="Text 42"/>
          <p:cNvSpPr/>
          <p:nvPr/>
        </p:nvSpPr>
        <p:spPr>
          <a:xfrm>
            <a:off x="8240573" y="4151376"/>
            <a:ext cx="384048" cy="384048"/>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6</a:t>
            </a:r>
            <a:endParaRPr lang="en-US" sz="1600" dirty="0"/>
          </a:p>
        </p:txBody>
      </p:sp>
      <p:sp>
        <p:nvSpPr>
          <p:cNvPr id="45" name="Text 43"/>
          <p:cNvSpPr/>
          <p:nvPr/>
        </p:nvSpPr>
        <p:spPr>
          <a:xfrm>
            <a:off x="8716061" y="4114800"/>
            <a:ext cx="2890418" cy="457200"/>
          </a:xfrm>
          <a:prstGeom prst="rect">
            <a:avLst/>
          </a:prstGeom>
          <a:noFill/>
          <a:ln/>
        </p:spPr>
        <p:txBody>
          <a:bodyPr wrap="square" rtlCol="0" anchor="ctr"/>
          <a:lstStyle/>
          <a:p>
            <a:pPr indent="0" marL="0">
              <a:buNone/>
            </a:pPr>
            <a:r>
              <a:rPr lang="en-US" sz="1500" b="1" dirty="0">
                <a:solidFill>
                  <a:srgbClr val="6C63FF"/>
                </a:solidFill>
                <a:latin typeface="Montserrat" pitchFamily="34" charset="0"/>
                <a:ea typeface="Montserrat" pitchFamily="34" charset="-122"/>
                <a:cs typeface="Montserrat" pitchFamily="34" charset="-120"/>
              </a:rPr>
              <a:t>Colaboração e Comunicação</a:t>
            </a:r>
            <a:endParaRPr lang="en-US" sz="1500" dirty="0"/>
          </a:p>
        </p:txBody>
      </p:sp>
      <p:sp>
        <p:nvSpPr>
          <p:cNvPr id="46" name="Shape 44"/>
          <p:cNvSpPr/>
          <p:nvPr/>
        </p:nvSpPr>
        <p:spPr>
          <a:xfrm>
            <a:off x="8240573" y="4626864"/>
            <a:ext cx="3384194" cy="3658"/>
          </a:xfrm>
          <a:prstGeom prst="rect">
            <a:avLst/>
          </a:prstGeom>
          <a:solidFill>
            <a:srgbClr val="222E48"/>
          </a:solidFill>
          <a:ln/>
        </p:spPr>
      </p:sp>
      <p:sp>
        <p:nvSpPr>
          <p:cNvPr id="47" name="Text 45"/>
          <p:cNvSpPr/>
          <p:nvPr/>
        </p:nvSpPr>
        <p:spPr>
          <a:xfrm>
            <a:off x="8258861" y="4681728"/>
            <a:ext cx="3347618" cy="1463040"/>
          </a:xfrm>
          <a:prstGeom prst="rect">
            <a:avLst/>
          </a:prstGeom>
          <a:noFill/>
          <a:ln/>
        </p:spPr>
        <p:txBody>
          <a:bodyPr wrap="square" rtlCol="0" anchor="t"/>
          <a:lstStyle/>
          <a:p>
            <a:pPr indent="0" marL="0">
              <a:lnSpc>
                <a:spcPct val="125000"/>
              </a:lnSpc>
              <a:buNone/>
            </a:pPr>
            <a:r>
              <a:rPr lang="en-US" sz="1300" dirty="0">
                <a:solidFill>
                  <a:srgbClr val="E8EDF5"/>
                </a:solidFill>
                <a:latin typeface="Open Sans" pitchFamily="34" charset="0"/>
                <a:ea typeface="Open Sans" pitchFamily="34" charset="-122"/>
                <a:cs typeface="Open Sans" pitchFamily="34" charset="-120"/>
              </a:rPr>
              <a:t>Aptidão para trabalhar eficazmente em equipes e transmitir ideias.</a:t>
            </a:r>
            <a:endParaRPr lang="en-US" sz="1300" dirty="0"/>
          </a:p>
        </p:txBody>
      </p:sp>
      <p:sp>
        <p:nvSpPr>
          <p:cNvPr id="48" name="Shape 46"/>
          <p:cNvSpPr/>
          <p:nvPr/>
        </p:nvSpPr>
        <p:spPr>
          <a:xfrm>
            <a:off x="0" y="6601968"/>
            <a:ext cx="2041093" cy="4572"/>
          </a:xfrm>
          <a:prstGeom prst="rect">
            <a:avLst/>
          </a:prstGeom>
          <a:solidFill>
            <a:srgbClr val="6C63FF"/>
          </a:solidFill>
          <a:ln/>
        </p:spPr>
      </p:sp>
      <p:sp>
        <p:nvSpPr>
          <p:cNvPr id="49" name="Shape 47"/>
          <p:cNvSpPr/>
          <p:nvPr/>
        </p:nvSpPr>
        <p:spPr>
          <a:xfrm>
            <a:off x="2031949" y="6601968"/>
            <a:ext cx="2041093" cy="4572"/>
          </a:xfrm>
          <a:prstGeom prst="rect">
            <a:avLst/>
          </a:prstGeom>
          <a:solidFill>
            <a:srgbClr val="6C63FF"/>
          </a:solidFill>
          <a:ln/>
        </p:spPr>
      </p:sp>
      <p:sp>
        <p:nvSpPr>
          <p:cNvPr id="50" name="Shape 48"/>
          <p:cNvSpPr/>
          <p:nvPr/>
        </p:nvSpPr>
        <p:spPr>
          <a:xfrm>
            <a:off x="4063898" y="6601968"/>
            <a:ext cx="2041093" cy="4572"/>
          </a:xfrm>
          <a:prstGeom prst="rect">
            <a:avLst/>
          </a:prstGeom>
          <a:solidFill>
            <a:srgbClr val="6C63FF"/>
          </a:solidFill>
          <a:ln/>
        </p:spPr>
      </p:sp>
      <p:sp>
        <p:nvSpPr>
          <p:cNvPr id="51" name="Shape 49"/>
          <p:cNvSpPr/>
          <p:nvPr/>
        </p:nvSpPr>
        <p:spPr>
          <a:xfrm>
            <a:off x="6095848" y="6601968"/>
            <a:ext cx="2041093" cy="4572"/>
          </a:xfrm>
          <a:prstGeom prst="rect">
            <a:avLst/>
          </a:prstGeom>
          <a:solidFill>
            <a:srgbClr val="6C63FF"/>
          </a:solidFill>
          <a:ln/>
        </p:spPr>
      </p:sp>
      <p:sp>
        <p:nvSpPr>
          <p:cNvPr id="52" name="Shape 50"/>
          <p:cNvSpPr/>
          <p:nvPr/>
        </p:nvSpPr>
        <p:spPr>
          <a:xfrm>
            <a:off x="8127797" y="6601968"/>
            <a:ext cx="2041093" cy="4572"/>
          </a:xfrm>
          <a:prstGeom prst="rect">
            <a:avLst/>
          </a:prstGeom>
          <a:solidFill>
            <a:srgbClr val="6C63FF"/>
          </a:solidFill>
          <a:ln/>
        </p:spPr>
      </p:sp>
      <p:sp>
        <p:nvSpPr>
          <p:cNvPr id="53" name="Shape 51"/>
          <p:cNvSpPr/>
          <p:nvPr/>
        </p:nvSpPr>
        <p:spPr>
          <a:xfrm>
            <a:off x="10159746" y="6601968"/>
            <a:ext cx="2041093" cy="4572"/>
          </a:xfrm>
          <a:prstGeom prst="rect">
            <a:avLst/>
          </a:prstGeom>
          <a:solidFill>
            <a:srgbClr val="6C63FF"/>
          </a:solidFill>
          <a:ln/>
        </p:spPr>
      </p:sp>
      <p:sp>
        <p:nvSpPr>
          <p:cNvPr id="54" name="Shape 52"/>
          <p:cNvSpPr/>
          <p:nvPr/>
        </p:nvSpPr>
        <p:spPr>
          <a:xfrm>
            <a:off x="0" y="6606540"/>
            <a:ext cx="12191695" cy="2743"/>
          </a:xfrm>
          <a:prstGeom prst="rect">
            <a:avLst/>
          </a:prstGeom>
          <a:solidFill>
            <a:srgbClr val="222E48"/>
          </a:solidFill>
          <a:ln/>
        </p:spPr>
      </p:sp>
      <p:sp>
        <p:nvSpPr>
          <p:cNvPr id="55" name="Text 53"/>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56" name="Shape 54"/>
          <p:cNvSpPr/>
          <p:nvPr/>
        </p:nvSpPr>
        <p:spPr>
          <a:xfrm>
            <a:off x="10436047" y="6693408"/>
            <a:ext cx="73152" cy="73152"/>
          </a:xfrm>
          <a:prstGeom prst="ellipse">
            <a:avLst/>
          </a:prstGeom>
          <a:solidFill>
            <a:srgbClr val="6C63FF"/>
          </a:solidFill>
          <a:ln/>
        </p:spPr>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3B82F6"/>
          </a:solidFill>
          <a:ln/>
        </p:spPr>
      </p:sp>
      <p:sp>
        <p:nvSpPr>
          <p:cNvPr id="3" name="Shape 1"/>
          <p:cNvSpPr/>
          <p:nvPr/>
        </p:nvSpPr>
        <p:spPr>
          <a:xfrm>
            <a:off x="64008" y="0"/>
            <a:ext cx="18288" cy="6858000"/>
          </a:xfrm>
          <a:prstGeom prst="rect">
            <a:avLst/>
          </a:prstGeom>
          <a:solidFill>
            <a:srgbClr val="3B82F6"/>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3B82F6"/>
                </a:solidFill>
                <a:latin typeface="Open Sans" pitchFamily="34" charset="0"/>
                <a:ea typeface="Open Sans" pitchFamily="34" charset="-122"/>
                <a:cs typeface="Open Sans" pitchFamily="34" charset="-120"/>
              </a:rPr>
              <a:t>APLICAÇÕES REAIS</a:t>
            </a:r>
            <a:endParaRPr lang="en-US" sz="900" dirty="0"/>
          </a:p>
        </p:txBody>
      </p:sp>
      <p:sp>
        <p:nvSpPr>
          <p:cNvPr id="5" name="Shape 3"/>
          <p:cNvSpPr/>
          <p:nvPr/>
        </p:nvSpPr>
        <p:spPr>
          <a:xfrm>
            <a:off x="502920" y="493776"/>
            <a:ext cx="640080" cy="21946"/>
          </a:xfrm>
          <a:prstGeom prst="rect">
            <a:avLst/>
          </a:prstGeom>
          <a:solidFill>
            <a:srgbClr val="3B82F6"/>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Aplicações reais (Parte 2)</a:t>
            </a:r>
            <a:endParaRPr lang="en-US" sz="2800" dirty="0"/>
          </a:p>
        </p:txBody>
      </p:sp>
      <p:sp>
        <p:nvSpPr>
          <p:cNvPr id="7" name="Shape 5"/>
          <p:cNvSpPr/>
          <p:nvPr/>
        </p:nvSpPr>
        <p:spPr>
          <a:xfrm>
            <a:off x="502920" y="1389888"/>
            <a:ext cx="11185855" cy="7315"/>
          </a:xfrm>
          <a:prstGeom prst="rect">
            <a:avLst/>
          </a:prstGeom>
          <a:solidFill>
            <a:srgbClr val="3B82F6"/>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6132424" y="1536192"/>
            <a:ext cx="18288" cy="4910328"/>
          </a:xfrm>
          <a:prstGeom prst="rect">
            <a:avLst/>
          </a:prstGeom>
          <a:solidFill>
            <a:srgbClr val="3B82F6"/>
          </a:solidFill>
          <a:ln/>
        </p:spPr>
      </p:sp>
      <p:sp>
        <p:nvSpPr>
          <p:cNvPr id="10" name="Shape 8"/>
          <p:cNvSpPr/>
          <p:nvPr/>
        </p:nvSpPr>
        <p:spPr>
          <a:xfrm>
            <a:off x="6095848" y="3945636"/>
            <a:ext cx="91440" cy="91440"/>
          </a:xfrm>
          <a:prstGeom prst="ellipse">
            <a:avLst/>
          </a:prstGeom>
          <a:solidFill>
            <a:srgbClr val="3B82F6"/>
          </a:solidFill>
          <a:ln/>
        </p:spPr>
      </p:sp>
      <p:sp>
        <p:nvSpPr>
          <p:cNvPr id="11" name="Shape 9"/>
          <p:cNvSpPr/>
          <p:nvPr/>
        </p:nvSpPr>
        <p:spPr>
          <a:xfrm>
            <a:off x="621792" y="1572768"/>
            <a:ext cx="5387188" cy="987552"/>
          </a:xfrm>
          <a:prstGeom prst="roundRect">
            <a:avLst>
              <a:gd name="adj" fmla="val 9259"/>
            </a:avLst>
          </a:prstGeom>
          <a:solidFill>
            <a:srgbClr val="000000"/>
          </a:solidFill>
          <a:ln/>
        </p:spPr>
      </p:sp>
      <p:sp>
        <p:nvSpPr>
          <p:cNvPr id="12" name="Shape 10"/>
          <p:cNvSpPr/>
          <p:nvPr/>
        </p:nvSpPr>
        <p:spPr>
          <a:xfrm>
            <a:off x="594360" y="1536192"/>
            <a:ext cx="5387188" cy="987552"/>
          </a:xfrm>
          <a:prstGeom prst="roundRect">
            <a:avLst>
              <a:gd name="adj" fmla="val 5556"/>
            </a:avLst>
          </a:prstGeom>
          <a:solidFill>
            <a:srgbClr val="141E34"/>
          </a:solidFill>
          <a:ln/>
        </p:spPr>
      </p:sp>
      <p:sp>
        <p:nvSpPr>
          <p:cNvPr id="13" name="Shape 11"/>
          <p:cNvSpPr/>
          <p:nvPr/>
        </p:nvSpPr>
        <p:spPr>
          <a:xfrm>
            <a:off x="594360" y="1536192"/>
            <a:ext cx="45720" cy="987552"/>
          </a:xfrm>
          <a:prstGeom prst="rect">
            <a:avLst>
              <a:gd name="adj" fmla="val 120000"/>
            </a:avLst>
          </a:prstGeom>
          <a:solidFill>
            <a:srgbClr val="6C63FF"/>
          </a:solidFill>
          <a:ln/>
        </p:spPr>
      </p:sp>
      <p:sp>
        <p:nvSpPr>
          <p:cNvPr id="14" name="Shape 12"/>
          <p:cNvSpPr/>
          <p:nvPr/>
        </p:nvSpPr>
        <p:spPr>
          <a:xfrm>
            <a:off x="722376" y="1892808"/>
            <a:ext cx="274320" cy="274320"/>
          </a:xfrm>
          <a:prstGeom prst="roundRect">
            <a:avLst>
              <a:gd name="adj" fmla="val 20000"/>
            </a:avLst>
          </a:prstGeom>
          <a:solidFill>
            <a:srgbClr val="6C63FF"/>
          </a:solidFill>
          <a:ln/>
        </p:spPr>
      </p:sp>
      <p:sp>
        <p:nvSpPr>
          <p:cNvPr id="15" name="Text 13"/>
          <p:cNvSpPr/>
          <p:nvPr/>
        </p:nvSpPr>
        <p:spPr>
          <a:xfrm>
            <a:off x="722376" y="1892808"/>
            <a:ext cx="274320" cy="274320"/>
          </a:xfrm>
          <a:prstGeom prst="rect">
            <a:avLst/>
          </a:prstGeom>
          <a:noFill/>
          <a:ln/>
        </p:spPr>
        <p:txBody>
          <a:bodyPr wrap="square"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1</a:t>
            </a:r>
            <a:endParaRPr lang="en-US" sz="1100" dirty="0"/>
          </a:p>
        </p:txBody>
      </p:sp>
      <p:sp>
        <p:nvSpPr>
          <p:cNvPr id="16" name="Text 14"/>
          <p:cNvSpPr/>
          <p:nvPr/>
        </p:nvSpPr>
        <p:spPr>
          <a:xfrm>
            <a:off x="1069848" y="1563624"/>
            <a:ext cx="4838548" cy="932688"/>
          </a:xfrm>
          <a:prstGeom prst="rect">
            <a:avLst/>
          </a:prstGeom>
          <a:noFill/>
          <a:ln/>
        </p:spPr>
        <p:txBody>
          <a:bodyPr wrap="square" rtlCol="0" anchor="ctr"/>
          <a:lstStyle/>
          <a:p>
            <a:pPr indent="0" marL="0">
              <a:lnSpc>
                <a:spcPct val="118000"/>
              </a:lnSpc>
              <a:buNone/>
            </a:pPr>
            <a:r>
              <a:rPr lang="en-US" sz="1500" dirty="0">
                <a:solidFill>
                  <a:srgbClr val="E8EDF5"/>
                </a:solidFill>
                <a:latin typeface="Open Sans" pitchFamily="34" charset="0"/>
                <a:ea typeface="Open Sans" pitchFamily="34" charset="-122"/>
                <a:cs typeface="Open Sans" pitchFamily="34" charset="-120"/>
              </a:rPr>
              <a:t>Alfabetização em IA (Literacy): Compreensão básica de como a IA funciona e seus potenciais.</a:t>
            </a:r>
            <a:endParaRPr lang="en-US" sz="1500" dirty="0"/>
          </a:p>
        </p:txBody>
      </p:sp>
      <p:sp>
        <p:nvSpPr>
          <p:cNvPr id="17" name="Shape 15"/>
          <p:cNvSpPr/>
          <p:nvPr/>
        </p:nvSpPr>
        <p:spPr>
          <a:xfrm>
            <a:off x="621792" y="2633472"/>
            <a:ext cx="5387188" cy="987552"/>
          </a:xfrm>
          <a:prstGeom prst="roundRect">
            <a:avLst>
              <a:gd name="adj" fmla="val 9259"/>
            </a:avLst>
          </a:prstGeom>
          <a:solidFill>
            <a:srgbClr val="000000"/>
          </a:solidFill>
          <a:ln/>
        </p:spPr>
      </p:sp>
      <p:sp>
        <p:nvSpPr>
          <p:cNvPr id="18" name="Shape 16"/>
          <p:cNvSpPr/>
          <p:nvPr/>
        </p:nvSpPr>
        <p:spPr>
          <a:xfrm>
            <a:off x="594360" y="2596896"/>
            <a:ext cx="5387188" cy="987552"/>
          </a:xfrm>
          <a:prstGeom prst="roundRect">
            <a:avLst>
              <a:gd name="adj" fmla="val 5556"/>
            </a:avLst>
          </a:prstGeom>
          <a:solidFill>
            <a:srgbClr val="141E34"/>
          </a:solidFill>
          <a:ln/>
        </p:spPr>
      </p:sp>
      <p:sp>
        <p:nvSpPr>
          <p:cNvPr id="19" name="Shape 17"/>
          <p:cNvSpPr/>
          <p:nvPr/>
        </p:nvSpPr>
        <p:spPr>
          <a:xfrm>
            <a:off x="594360" y="2596896"/>
            <a:ext cx="45720" cy="987552"/>
          </a:xfrm>
          <a:prstGeom prst="rect">
            <a:avLst>
              <a:gd name="adj" fmla="val 120000"/>
            </a:avLst>
          </a:prstGeom>
          <a:solidFill>
            <a:srgbClr val="3B82F6"/>
          </a:solidFill>
          <a:ln/>
        </p:spPr>
      </p:sp>
      <p:sp>
        <p:nvSpPr>
          <p:cNvPr id="20" name="Shape 18"/>
          <p:cNvSpPr/>
          <p:nvPr/>
        </p:nvSpPr>
        <p:spPr>
          <a:xfrm>
            <a:off x="722376" y="2953512"/>
            <a:ext cx="274320" cy="274320"/>
          </a:xfrm>
          <a:prstGeom prst="roundRect">
            <a:avLst>
              <a:gd name="adj" fmla="val 20000"/>
            </a:avLst>
          </a:prstGeom>
          <a:solidFill>
            <a:srgbClr val="3B82F6"/>
          </a:solidFill>
          <a:ln/>
        </p:spPr>
      </p:sp>
      <p:sp>
        <p:nvSpPr>
          <p:cNvPr id="21" name="Text 19"/>
          <p:cNvSpPr/>
          <p:nvPr/>
        </p:nvSpPr>
        <p:spPr>
          <a:xfrm>
            <a:off x="722376" y="2953512"/>
            <a:ext cx="274320" cy="274320"/>
          </a:xfrm>
          <a:prstGeom prst="rect">
            <a:avLst/>
          </a:prstGeom>
          <a:noFill/>
          <a:ln/>
        </p:spPr>
        <p:txBody>
          <a:bodyPr wrap="square"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2</a:t>
            </a:r>
            <a:endParaRPr lang="en-US" sz="1100" dirty="0"/>
          </a:p>
        </p:txBody>
      </p:sp>
      <p:sp>
        <p:nvSpPr>
          <p:cNvPr id="22" name="Text 20"/>
          <p:cNvSpPr/>
          <p:nvPr/>
        </p:nvSpPr>
        <p:spPr>
          <a:xfrm>
            <a:off x="1069848" y="2624328"/>
            <a:ext cx="4838548" cy="932688"/>
          </a:xfrm>
          <a:prstGeom prst="rect">
            <a:avLst/>
          </a:prstGeom>
          <a:noFill/>
          <a:ln/>
        </p:spPr>
        <p:txBody>
          <a:bodyPr wrap="square" rtlCol="0" anchor="ctr"/>
          <a:lstStyle/>
          <a:p>
            <a:pPr indent="0" marL="0">
              <a:lnSpc>
                <a:spcPct val="118000"/>
              </a:lnSpc>
              <a:buNone/>
            </a:pPr>
            <a:r>
              <a:rPr lang="en-US" sz="1500" dirty="0">
                <a:solidFill>
                  <a:srgbClr val="E8EDF5"/>
                </a:solidFill>
                <a:latin typeface="Open Sans" pitchFamily="34" charset="0"/>
                <a:ea typeface="Open Sans" pitchFamily="34" charset="-122"/>
                <a:cs typeface="Open Sans" pitchFamily="34" charset="-120"/>
              </a:rPr>
              <a:t>Adaptabilidade e Aprendizagem Contínua: Disposição para adquirir novas habilidades e se ajustar a mudanças.</a:t>
            </a:r>
            <a:endParaRPr lang="en-US" sz="1500" dirty="0"/>
          </a:p>
        </p:txBody>
      </p:sp>
      <p:sp>
        <p:nvSpPr>
          <p:cNvPr id="23" name="Shape 21"/>
          <p:cNvSpPr/>
          <p:nvPr/>
        </p:nvSpPr>
        <p:spPr>
          <a:xfrm>
            <a:off x="6329020" y="1572768"/>
            <a:ext cx="5387188" cy="987552"/>
          </a:xfrm>
          <a:prstGeom prst="roundRect">
            <a:avLst>
              <a:gd name="adj" fmla="val 9259"/>
            </a:avLst>
          </a:prstGeom>
          <a:solidFill>
            <a:srgbClr val="000000"/>
          </a:solidFill>
          <a:ln/>
        </p:spPr>
      </p:sp>
      <p:sp>
        <p:nvSpPr>
          <p:cNvPr id="24" name="Shape 22"/>
          <p:cNvSpPr/>
          <p:nvPr/>
        </p:nvSpPr>
        <p:spPr>
          <a:xfrm>
            <a:off x="6301588" y="1536192"/>
            <a:ext cx="5387188" cy="987552"/>
          </a:xfrm>
          <a:prstGeom prst="roundRect">
            <a:avLst>
              <a:gd name="adj" fmla="val 5556"/>
            </a:avLst>
          </a:prstGeom>
          <a:solidFill>
            <a:srgbClr val="141E34"/>
          </a:solidFill>
          <a:ln/>
        </p:spPr>
      </p:sp>
      <p:sp>
        <p:nvSpPr>
          <p:cNvPr id="25" name="Shape 23"/>
          <p:cNvSpPr/>
          <p:nvPr/>
        </p:nvSpPr>
        <p:spPr>
          <a:xfrm>
            <a:off x="6301588" y="1536192"/>
            <a:ext cx="45720" cy="987552"/>
          </a:xfrm>
          <a:prstGeom prst="rect">
            <a:avLst>
              <a:gd name="adj" fmla="val 120000"/>
            </a:avLst>
          </a:prstGeom>
          <a:solidFill>
            <a:srgbClr val="10B981"/>
          </a:solidFill>
          <a:ln/>
        </p:spPr>
      </p:sp>
      <p:sp>
        <p:nvSpPr>
          <p:cNvPr id="26" name="Shape 24"/>
          <p:cNvSpPr/>
          <p:nvPr/>
        </p:nvSpPr>
        <p:spPr>
          <a:xfrm>
            <a:off x="6429604" y="1892808"/>
            <a:ext cx="274320" cy="274320"/>
          </a:xfrm>
          <a:prstGeom prst="roundRect">
            <a:avLst>
              <a:gd name="adj" fmla="val 20000"/>
            </a:avLst>
          </a:prstGeom>
          <a:solidFill>
            <a:srgbClr val="10B981"/>
          </a:solidFill>
          <a:ln/>
        </p:spPr>
      </p:sp>
      <p:sp>
        <p:nvSpPr>
          <p:cNvPr id="27" name="Text 25"/>
          <p:cNvSpPr/>
          <p:nvPr/>
        </p:nvSpPr>
        <p:spPr>
          <a:xfrm>
            <a:off x="6429604" y="1892808"/>
            <a:ext cx="274320" cy="274320"/>
          </a:xfrm>
          <a:prstGeom prst="rect">
            <a:avLst/>
          </a:prstGeom>
          <a:noFill/>
          <a:ln/>
        </p:spPr>
        <p:txBody>
          <a:bodyPr wrap="square"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3</a:t>
            </a:r>
            <a:endParaRPr lang="en-US" sz="1100" dirty="0"/>
          </a:p>
        </p:txBody>
      </p:sp>
      <p:sp>
        <p:nvSpPr>
          <p:cNvPr id="28" name="Text 26"/>
          <p:cNvSpPr/>
          <p:nvPr/>
        </p:nvSpPr>
        <p:spPr>
          <a:xfrm>
            <a:off x="6777076" y="1563624"/>
            <a:ext cx="4838548" cy="932688"/>
          </a:xfrm>
          <a:prstGeom prst="rect">
            <a:avLst/>
          </a:prstGeom>
          <a:noFill/>
          <a:ln/>
        </p:spPr>
        <p:txBody>
          <a:bodyPr wrap="square" rtlCol="0" anchor="ctr"/>
          <a:lstStyle/>
          <a:p>
            <a:pPr indent="0" marL="0">
              <a:lnSpc>
                <a:spcPct val="118000"/>
              </a:lnSpc>
              <a:buNone/>
            </a:pPr>
            <a:r>
              <a:rPr lang="en-US" sz="1500" dirty="0">
                <a:solidFill>
                  <a:srgbClr val="E8EDF5"/>
                </a:solidFill>
                <a:latin typeface="Open Sans" pitchFamily="34" charset="0"/>
                <a:ea typeface="Open Sans" pitchFamily="34" charset="-122"/>
                <a:cs typeface="Open Sans" pitchFamily="34" charset="-120"/>
              </a:rPr>
              <a:t>Um gerente que entende como a IA pode analisar dados de vendas se torna mais eficaz.</a:t>
            </a:r>
            <a:endParaRPr lang="en-US" sz="1500" dirty="0"/>
          </a:p>
        </p:txBody>
      </p:sp>
      <p:sp>
        <p:nvSpPr>
          <p:cNvPr id="29" name="Shape 27"/>
          <p:cNvSpPr/>
          <p:nvPr/>
        </p:nvSpPr>
        <p:spPr>
          <a:xfrm>
            <a:off x="6329020" y="2633472"/>
            <a:ext cx="5387188" cy="987552"/>
          </a:xfrm>
          <a:prstGeom prst="roundRect">
            <a:avLst>
              <a:gd name="adj" fmla="val 9259"/>
            </a:avLst>
          </a:prstGeom>
          <a:solidFill>
            <a:srgbClr val="000000"/>
          </a:solidFill>
          <a:ln/>
        </p:spPr>
      </p:sp>
      <p:sp>
        <p:nvSpPr>
          <p:cNvPr id="30" name="Shape 28"/>
          <p:cNvSpPr/>
          <p:nvPr/>
        </p:nvSpPr>
        <p:spPr>
          <a:xfrm>
            <a:off x="6301588" y="2596896"/>
            <a:ext cx="5387188" cy="987552"/>
          </a:xfrm>
          <a:prstGeom prst="roundRect">
            <a:avLst>
              <a:gd name="adj" fmla="val 5556"/>
            </a:avLst>
          </a:prstGeom>
          <a:solidFill>
            <a:srgbClr val="141E34"/>
          </a:solidFill>
          <a:ln/>
        </p:spPr>
      </p:sp>
      <p:sp>
        <p:nvSpPr>
          <p:cNvPr id="31" name="Shape 29"/>
          <p:cNvSpPr/>
          <p:nvPr/>
        </p:nvSpPr>
        <p:spPr>
          <a:xfrm>
            <a:off x="6301588" y="2596896"/>
            <a:ext cx="45720" cy="987552"/>
          </a:xfrm>
          <a:prstGeom prst="rect">
            <a:avLst>
              <a:gd name="adj" fmla="val 120000"/>
            </a:avLst>
          </a:prstGeom>
          <a:solidFill>
            <a:srgbClr val="F59E0B"/>
          </a:solidFill>
          <a:ln/>
        </p:spPr>
      </p:sp>
      <p:sp>
        <p:nvSpPr>
          <p:cNvPr id="32" name="Shape 30"/>
          <p:cNvSpPr/>
          <p:nvPr/>
        </p:nvSpPr>
        <p:spPr>
          <a:xfrm>
            <a:off x="6429604" y="2953512"/>
            <a:ext cx="274320" cy="274320"/>
          </a:xfrm>
          <a:prstGeom prst="roundRect">
            <a:avLst>
              <a:gd name="adj" fmla="val 20000"/>
            </a:avLst>
          </a:prstGeom>
          <a:solidFill>
            <a:srgbClr val="F59E0B"/>
          </a:solidFill>
          <a:ln/>
        </p:spPr>
      </p:sp>
      <p:sp>
        <p:nvSpPr>
          <p:cNvPr id="33" name="Text 31"/>
          <p:cNvSpPr/>
          <p:nvPr/>
        </p:nvSpPr>
        <p:spPr>
          <a:xfrm>
            <a:off x="6429604" y="2953512"/>
            <a:ext cx="274320" cy="274320"/>
          </a:xfrm>
          <a:prstGeom prst="rect">
            <a:avLst/>
          </a:prstGeom>
          <a:noFill/>
          <a:ln/>
        </p:spPr>
        <p:txBody>
          <a:bodyPr wrap="square"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4</a:t>
            </a:r>
            <a:endParaRPr lang="en-US" sz="1100" dirty="0"/>
          </a:p>
        </p:txBody>
      </p:sp>
      <p:sp>
        <p:nvSpPr>
          <p:cNvPr id="34" name="Text 32"/>
          <p:cNvSpPr/>
          <p:nvPr/>
        </p:nvSpPr>
        <p:spPr>
          <a:xfrm>
            <a:off x="6777076" y="2624328"/>
            <a:ext cx="4838548" cy="932688"/>
          </a:xfrm>
          <a:prstGeom prst="rect">
            <a:avLst/>
          </a:prstGeom>
          <a:noFill/>
          <a:ln/>
        </p:spPr>
        <p:txBody>
          <a:bodyPr wrap="square" rtlCol="0" anchor="ctr"/>
          <a:lstStyle/>
          <a:p>
            <a:pPr indent="0" marL="0">
              <a:lnSpc>
                <a:spcPct val="118000"/>
              </a:lnSpc>
              <a:buNone/>
            </a:pPr>
            <a:r>
              <a:rPr lang="en-US" sz="1500" dirty="0">
                <a:solidFill>
                  <a:srgbClr val="E8EDF5"/>
                </a:solidFill>
                <a:latin typeface="Open Sans" pitchFamily="34" charset="0"/>
                <a:ea typeface="Open Sans" pitchFamily="34" charset="-122"/>
                <a:cs typeface="Open Sans" pitchFamily="34" charset="-120"/>
              </a:rPr>
              <a:t>Ele formula estratégias aliando sua visão de mercado à análise de dados fornecida.</a:t>
            </a:r>
            <a:endParaRPr lang="en-US" sz="1500" dirty="0"/>
          </a:p>
        </p:txBody>
      </p:sp>
      <p:sp>
        <p:nvSpPr>
          <p:cNvPr id="35" name="Shape 33"/>
          <p:cNvSpPr/>
          <p:nvPr/>
        </p:nvSpPr>
        <p:spPr>
          <a:xfrm>
            <a:off x="0" y="6601968"/>
            <a:ext cx="2041093" cy="4572"/>
          </a:xfrm>
          <a:prstGeom prst="rect">
            <a:avLst/>
          </a:prstGeom>
          <a:solidFill>
            <a:srgbClr val="6C63FF"/>
          </a:solidFill>
          <a:ln/>
        </p:spPr>
      </p:sp>
      <p:sp>
        <p:nvSpPr>
          <p:cNvPr id="36" name="Shape 34"/>
          <p:cNvSpPr/>
          <p:nvPr/>
        </p:nvSpPr>
        <p:spPr>
          <a:xfrm>
            <a:off x="2031949" y="6601968"/>
            <a:ext cx="2041093" cy="4572"/>
          </a:xfrm>
          <a:prstGeom prst="rect">
            <a:avLst/>
          </a:prstGeom>
          <a:solidFill>
            <a:srgbClr val="6C63FF"/>
          </a:solidFill>
          <a:ln/>
        </p:spPr>
      </p:sp>
      <p:sp>
        <p:nvSpPr>
          <p:cNvPr id="37" name="Shape 35"/>
          <p:cNvSpPr/>
          <p:nvPr/>
        </p:nvSpPr>
        <p:spPr>
          <a:xfrm>
            <a:off x="4063898" y="6601968"/>
            <a:ext cx="2041093" cy="4572"/>
          </a:xfrm>
          <a:prstGeom prst="rect">
            <a:avLst/>
          </a:prstGeom>
          <a:solidFill>
            <a:srgbClr val="6C63FF"/>
          </a:solidFill>
          <a:ln/>
        </p:spPr>
      </p:sp>
      <p:sp>
        <p:nvSpPr>
          <p:cNvPr id="38" name="Shape 36"/>
          <p:cNvSpPr/>
          <p:nvPr/>
        </p:nvSpPr>
        <p:spPr>
          <a:xfrm>
            <a:off x="6095848" y="6601968"/>
            <a:ext cx="2041093" cy="4572"/>
          </a:xfrm>
          <a:prstGeom prst="rect">
            <a:avLst/>
          </a:prstGeom>
          <a:solidFill>
            <a:srgbClr val="6C63FF"/>
          </a:solidFill>
          <a:ln/>
        </p:spPr>
      </p:sp>
      <p:sp>
        <p:nvSpPr>
          <p:cNvPr id="39" name="Shape 37"/>
          <p:cNvSpPr/>
          <p:nvPr/>
        </p:nvSpPr>
        <p:spPr>
          <a:xfrm>
            <a:off x="8127797" y="6601968"/>
            <a:ext cx="2041093" cy="4572"/>
          </a:xfrm>
          <a:prstGeom prst="rect">
            <a:avLst/>
          </a:prstGeom>
          <a:solidFill>
            <a:srgbClr val="6C63FF"/>
          </a:solidFill>
          <a:ln/>
        </p:spPr>
      </p:sp>
      <p:sp>
        <p:nvSpPr>
          <p:cNvPr id="40" name="Shape 38"/>
          <p:cNvSpPr/>
          <p:nvPr/>
        </p:nvSpPr>
        <p:spPr>
          <a:xfrm>
            <a:off x="10159746" y="6601968"/>
            <a:ext cx="2041093" cy="4572"/>
          </a:xfrm>
          <a:prstGeom prst="rect">
            <a:avLst/>
          </a:prstGeom>
          <a:solidFill>
            <a:srgbClr val="6C63FF"/>
          </a:solidFill>
          <a:ln/>
        </p:spPr>
      </p:sp>
      <p:sp>
        <p:nvSpPr>
          <p:cNvPr id="41" name="Shape 39"/>
          <p:cNvSpPr/>
          <p:nvPr/>
        </p:nvSpPr>
        <p:spPr>
          <a:xfrm>
            <a:off x="0" y="6606540"/>
            <a:ext cx="12191695" cy="2743"/>
          </a:xfrm>
          <a:prstGeom prst="rect">
            <a:avLst/>
          </a:prstGeom>
          <a:solidFill>
            <a:srgbClr val="222E48"/>
          </a:solidFill>
          <a:ln/>
        </p:spPr>
      </p:sp>
      <p:sp>
        <p:nvSpPr>
          <p:cNvPr id="42" name="Text 40"/>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43" name="Shape 41"/>
          <p:cNvSpPr/>
          <p:nvPr/>
        </p:nvSpPr>
        <p:spPr>
          <a:xfrm>
            <a:off x="10436047" y="6693408"/>
            <a:ext cx="73152" cy="73152"/>
          </a:xfrm>
          <a:prstGeom prst="ellipse">
            <a:avLst/>
          </a:prstGeom>
          <a:solidFill>
            <a:srgbClr val="6C63FF"/>
          </a:solidFill>
          <a:ln/>
        </p:spPr>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C0392B"/>
          </a:solidFill>
          <a:ln/>
        </p:spPr>
      </p:sp>
      <p:sp>
        <p:nvSpPr>
          <p:cNvPr id="3" name="Shape 1"/>
          <p:cNvSpPr/>
          <p:nvPr/>
        </p:nvSpPr>
        <p:spPr>
          <a:xfrm>
            <a:off x="64008" y="0"/>
            <a:ext cx="18288" cy="6858000"/>
          </a:xfrm>
          <a:prstGeom prst="rect">
            <a:avLst/>
          </a:prstGeom>
          <a:solidFill>
            <a:srgbClr val="C0392B"/>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C0392B"/>
                </a:solidFill>
                <a:latin typeface="Open Sans" pitchFamily="34" charset="0"/>
                <a:ea typeface="Open Sans" pitchFamily="34" charset="-122"/>
                <a:cs typeface="Open Sans" pitchFamily="34" charset="-120"/>
              </a:rPr>
              <a:t>DESAFIOS E CUIDADOS</a:t>
            </a:r>
            <a:endParaRPr lang="en-US" sz="900" dirty="0"/>
          </a:p>
        </p:txBody>
      </p:sp>
      <p:sp>
        <p:nvSpPr>
          <p:cNvPr id="5" name="Shape 3"/>
          <p:cNvSpPr/>
          <p:nvPr/>
        </p:nvSpPr>
        <p:spPr>
          <a:xfrm>
            <a:off x="502920" y="493776"/>
            <a:ext cx="640080" cy="21946"/>
          </a:xfrm>
          <a:prstGeom prst="rect">
            <a:avLst/>
          </a:prstGeom>
          <a:solidFill>
            <a:srgbClr val="C0392B"/>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Desafios e cuidados</a:t>
            </a:r>
            <a:endParaRPr lang="en-US" sz="2800" dirty="0"/>
          </a:p>
        </p:txBody>
      </p:sp>
      <p:sp>
        <p:nvSpPr>
          <p:cNvPr id="7" name="Shape 5"/>
          <p:cNvSpPr/>
          <p:nvPr/>
        </p:nvSpPr>
        <p:spPr>
          <a:xfrm>
            <a:off x="502920" y="1389888"/>
            <a:ext cx="11185855" cy="7315"/>
          </a:xfrm>
          <a:prstGeom prst="rect">
            <a:avLst/>
          </a:prstGeom>
          <a:solidFill>
            <a:srgbClr val="C0392B"/>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10820095" y="320040"/>
            <a:ext cx="731520" cy="731520"/>
          </a:xfrm>
          <a:prstGeom prst="roundRect">
            <a:avLst>
              <a:gd name="adj" fmla="val 15000"/>
            </a:avLst>
          </a:prstGeom>
          <a:solidFill>
            <a:srgbClr val="FEF2F2"/>
          </a:solidFill>
          <a:ln/>
        </p:spPr>
      </p:sp>
      <p:sp>
        <p:nvSpPr>
          <p:cNvPr id="10" name="Text 8"/>
          <p:cNvSpPr/>
          <p:nvPr/>
        </p:nvSpPr>
        <p:spPr>
          <a:xfrm>
            <a:off x="10820095" y="320040"/>
            <a:ext cx="731520" cy="73152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1" name="Shape 9"/>
          <p:cNvSpPr/>
          <p:nvPr/>
        </p:nvSpPr>
        <p:spPr>
          <a:xfrm>
            <a:off x="621792" y="1572768"/>
            <a:ext cx="11140135" cy="720852"/>
          </a:xfrm>
          <a:prstGeom prst="roundRect">
            <a:avLst>
              <a:gd name="adj" fmla="val 12685"/>
            </a:avLst>
          </a:prstGeom>
          <a:solidFill>
            <a:srgbClr val="000000"/>
          </a:solidFill>
          <a:ln/>
        </p:spPr>
      </p:sp>
      <p:sp>
        <p:nvSpPr>
          <p:cNvPr id="12" name="Shape 10"/>
          <p:cNvSpPr/>
          <p:nvPr/>
        </p:nvSpPr>
        <p:spPr>
          <a:xfrm>
            <a:off x="594360" y="1536192"/>
            <a:ext cx="11140135" cy="720852"/>
          </a:xfrm>
          <a:prstGeom prst="roundRect">
            <a:avLst>
              <a:gd name="adj" fmla="val 10148"/>
            </a:avLst>
          </a:prstGeom>
          <a:solidFill>
            <a:srgbClr val="FFF5F5"/>
          </a:solidFill>
          <a:ln/>
        </p:spPr>
      </p:sp>
      <p:sp>
        <p:nvSpPr>
          <p:cNvPr id="13" name="Shape 11"/>
          <p:cNvSpPr/>
          <p:nvPr/>
        </p:nvSpPr>
        <p:spPr>
          <a:xfrm>
            <a:off x="594360" y="1536192"/>
            <a:ext cx="54864" cy="720852"/>
          </a:xfrm>
          <a:prstGeom prst="rect">
            <a:avLst>
              <a:gd name="adj" fmla="val 133333"/>
            </a:avLst>
          </a:prstGeom>
          <a:solidFill>
            <a:srgbClr val="E74C3C"/>
          </a:solidFill>
          <a:ln/>
        </p:spPr>
      </p:sp>
      <p:sp>
        <p:nvSpPr>
          <p:cNvPr id="14" name="Text 12"/>
          <p:cNvSpPr/>
          <p:nvPr/>
        </p:nvSpPr>
        <p:spPr>
          <a:xfrm>
            <a:off x="795528" y="1563624"/>
            <a:ext cx="10865815" cy="665988"/>
          </a:xfrm>
          <a:prstGeom prst="rect">
            <a:avLst/>
          </a:prstGeom>
          <a:noFill/>
          <a:ln/>
        </p:spPr>
        <p:txBody>
          <a:bodyPr wrap="square" rtlCol="0" anchor="ctr"/>
          <a:lstStyle/>
          <a:p>
            <a:pPr indent="0" marL="0">
              <a:lnSpc>
                <a:spcPct val="120000"/>
              </a:lnSpc>
              <a:buNone/>
            </a:pPr>
            <a:r>
              <a:rPr lang="en-US" sz="1600" dirty="0">
                <a:solidFill>
                  <a:srgbClr val="E8EDF5"/>
                </a:solidFill>
                <a:latin typeface="Open Sans" pitchFamily="34" charset="0"/>
                <a:ea typeface="Open Sans" pitchFamily="34" charset="-122"/>
                <a:cs typeface="Open Sans" pitchFamily="34" charset="-120"/>
              </a:rPr>
              <a:t>A inserção da IA no ambiente de trabalho levanta questões éticas importantes. A garantia de um uso justo, transparente e responsável é fundamental.</a:t>
            </a:r>
            <a:endParaRPr lang="en-US" sz="1600" dirty="0"/>
          </a:p>
        </p:txBody>
      </p:sp>
      <p:sp>
        <p:nvSpPr>
          <p:cNvPr id="15" name="Shape 13"/>
          <p:cNvSpPr/>
          <p:nvPr/>
        </p:nvSpPr>
        <p:spPr>
          <a:xfrm>
            <a:off x="621792" y="2403348"/>
            <a:ext cx="11140135" cy="720852"/>
          </a:xfrm>
          <a:prstGeom prst="roundRect">
            <a:avLst>
              <a:gd name="adj" fmla="val 12685"/>
            </a:avLst>
          </a:prstGeom>
          <a:solidFill>
            <a:srgbClr val="000000"/>
          </a:solidFill>
          <a:ln/>
        </p:spPr>
      </p:sp>
      <p:sp>
        <p:nvSpPr>
          <p:cNvPr id="16" name="Shape 14"/>
          <p:cNvSpPr/>
          <p:nvPr/>
        </p:nvSpPr>
        <p:spPr>
          <a:xfrm>
            <a:off x="594360" y="2366772"/>
            <a:ext cx="11140135" cy="720852"/>
          </a:xfrm>
          <a:prstGeom prst="roundRect">
            <a:avLst>
              <a:gd name="adj" fmla="val 10148"/>
            </a:avLst>
          </a:prstGeom>
          <a:solidFill>
            <a:srgbClr val="141E34"/>
          </a:solidFill>
          <a:ln/>
        </p:spPr>
      </p:sp>
      <p:sp>
        <p:nvSpPr>
          <p:cNvPr id="17" name="Shape 15"/>
          <p:cNvSpPr/>
          <p:nvPr/>
        </p:nvSpPr>
        <p:spPr>
          <a:xfrm>
            <a:off x="594360" y="2366772"/>
            <a:ext cx="54864" cy="720852"/>
          </a:xfrm>
          <a:prstGeom prst="rect">
            <a:avLst>
              <a:gd name="adj" fmla="val 133333"/>
            </a:avLst>
          </a:prstGeom>
          <a:solidFill>
            <a:srgbClr val="E74C3C"/>
          </a:solidFill>
          <a:ln/>
        </p:spPr>
      </p:sp>
      <p:sp>
        <p:nvSpPr>
          <p:cNvPr id="18" name="Text 16"/>
          <p:cNvSpPr/>
          <p:nvPr/>
        </p:nvSpPr>
        <p:spPr>
          <a:xfrm>
            <a:off x="795528" y="2394204"/>
            <a:ext cx="10865815" cy="665988"/>
          </a:xfrm>
          <a:prstGeom prst="rect">
            <a:avLst/>
          </a:prstGeom>
          <a:noFill/>
          <a:ln/>
        </p:spPr>
        <p:txBody>
          <a:bodyPr wrap="square" rtlCol="0" anchor="ctr"/>
          <a:lstStyle/>
          <a:p>
            <a:pPr indent="0" marL="0">
              <a:lnSpc>
                <a:spcPct val="120000"/>
              </a:lnSpc>
              <a:buNone/>
            </a:pPr>
            <a:r>
              <a:rPr lang="en-US" sz="1600" dirty="0">
                <a:solidFill>
                  <a:srgbClr val="E8EDF5"/>
                </a:solidFill>
                <a:latin typeface="Open Sans" pitchFamily="34" charset="0"/>
                <a:ea typeface="Open Sans" pitchFamily="34" charset="-122"/>
                <a:cs typeface="Open Sans" pitchFamily="34" charset="-120"/>
              </a:rPr>
              <a:t>Viés e Discriminação: Algoritmos podem perpetuar preconceitos se não forem bem projetados.</a:t>
            </a:r>
            <a:endParaRPr lang="en-US" sz="1600" dirty="0"/>
          </a:p>
        </p:txBody>
      </p:sp>
      <p:sp>
        <p:nvSpPr>
          <p:cNvPr id="19" name="Shape 17"/>
          <p:cNvSpPr/>
          <p:nvPr/>
        </p:nvSpPr>
        <p:spPr>
          <a:xfrm>
            <a:off x="621792" y="3233928"/>
            <a:ext cx="11140135" cy="720852"/>
          </a:xfrm>
          <a:prstGeom prst="roundRect">
            <a:avLst>
              <a:gd name="adj" fmla="val 12685"/>
            </a:avLst>
          </a:prstGeom>
          <a:solidFill>
            <a:srgbClr val="000000"/>
          </a:solidFill>
          <a:ln/>
        </p:spPr>
      </p:sp>
      <p:sp>
        <p:nvSpPr>
          <p:cNvPr id="20" name="Shape 18"/>
          <p:cNvSpPr/>
          <p:nvPr/>
        </p:nvSpPr>
        <p:spPr>
          <a:xfrm>
            <a:off x="594360" y="3197352"/>
            <a:ext cx="11140135" cy="720852"/>
          </a:xfrm>
          <a:prstGeom prst="roundRect">
            <a:avLst>
              <a:gd name="adj" fmla="val 10148"/>
            </a:avLst>
          </a:prstGeom>
          <a:solidFill>
            <a:srgbClr val="FFF5F5"/>
          </a:solidFill>
          <a:ln/>
        </p:spPr>
      </p:sp>
      <p:sp>
        <p:nvSpPr>
          <p:cNvPr id="21" name="Shape 19"/>
          <p:cNvSpPr/>
          <p:nvPr/>
        </p:nvSpPr>
        <p:spPr>
          <a:xfrm>
            <a:off x="594360" y="3197352"/>
            <a:ext cx="54864" cy="720852"/>
          </a:xfrm>
          <a:prstGeom prst="rect">
            <a:avLst>
              <a:gd name="adj" fmla="val 133333"/>
            </a:avLst>
          </a:prstGeom>
          <a:solidFill>
            <a:srgbClr val="E74C3C"/>
          </a:solidFill>
          <a:ln/>
        </p:spPr>
      </p:sp>
      <p:sp>
        <p:nvSpPr>
          <p:cNvPr id="22" name="Text 20"/>
          <p:cNvSpPr/>
          <p:nvPr/>
        </p:nvSpPr>
        <p:spPr>
          <a:xfrm>
            <a:off x="795528" y="3224784"/>
            <a:ext cx="10865815" cy="665988"/>
          </a:xfrm>
          <a:prstGeom prst="rect">
            <a:avLst/>
          </a:prstGeom>
          <a:noFill/>
          <a:ln/>
        </p:spPr>
        <p:txBody>
          <a:bodyPr wrap="square" rtlCol="0" anchor="ctr"/>
          <a:lstStyle/>
          <a:p>
            <a:pPr indent="0" marL="0">
              <a:lnSpc>
                <a:spcPct val="120000"/>
              </a:lnSpc>
              <a:buNone/>
            </a:pPr>
            <a:r>
              <a:rPr lang="en-US" sz="1600" dirty="0">
                <a:solidFill>
                  <a:srgbClr val="E8EDF5"/>
                </a:solidFill>
                <a:latin typeface="Open Sans" pitchFamily="34" charset="0"/>
                <a:ea typeface="Open Sans" pitchFamily="34" charset="-122"/>
                <a:cs typeface="Open Sans" pitchFamily="34" charset="-120"/>
              </a:rPr>
              <a:t>Privacidade de Dados: A coleta e o uso de dados por IA exigem rigorosas políticas de proteção.</a:t>
            </a:r>
            <a:endParaRPr lang="en-US" sz="1600" dirty="0"/>
          </a:p>
        </p:txBody>
      </p:sp>
      <p:sp>
        <p:nvSpPr>
          <p:cNvPr id="23" name="Shape 21"/>
          <p:cNvSpPr/>
          <p:nvPr/>
        </p:nvSpPr>
        <p:spPr>
          <a:xfrm>
            <a:off x="621792" y="4064508"/>
            <a:ext cx="11140135" cy="720852"/>
          </a:xfrm>
          <a:prstGeom prst="roundRect">
            <a:avLst>
              <a:gd name="adj" fmla="val 12685"/>
            </a:avLst>
          </a:prstGeom>
          <a:solidFill>
            <a:srgbClr val="000000"/>
          </a:solidFill>
          <a:ln/>
        </p:spPr>
      </p:sp>
      <p:sp>
        <p:nvSpPr>
          <p:cNvPr id="24" name="Shape 22"/>
          <p:cNvSpPr/>
          <p:nvPr/>
        </p:nvSpPr>
        <p:spPr>
          <a:xfrm>
            <a:off x="594360" y="4027932"/>
            <a:ext cx="11140135" cy="720852"/>
          </a:xfrm>
          <a:prstGeom prst="roundRect">
            <a:avLst>
              <a:gd name="adj" fmla="val 10148"/>
            </a:avLst>
          </a:prstGeom>
          <a:solidFill>
            <a:srgbClr val="141E34"/>
          </a:solidFill>
          <a:ln/>
        </p:spPr>
      </p:sp>
      <p:sp>
        <p:nvSpPr>
          <p:cNvPr id="25" name="Shape 23"/>
          <p:cNvSpPr/>
          <p:nvPr/>
        </p:nvSpPr>
        <p:spPr>
          <a:xfrm>
            <a:off x="594360" y="4027932"/>
            <a:ext cx="54864" cy="720852"/>
          </a:xfrm>
          <a:prstGeom prst="rect">
            <a:avLst>
              <a:gd name="adj" fmla="val 133333"/>
            </a:avLst>
          </a:prstGeom>
          <a:solidFill>
            <a:srgbClr val="E74C3C"/>
          </a:solidFill>
          <a:ln/>
        </p:spPr>
      </p:sp>
      <p:sp>
        <p:nvSpPr>
          <p:cNvPr id="26" name="Text 24"/>
          <p:cNvSpPr/>
          <p:nvPr/>
        </p:nvSpPr>
        <p:spPr>
          <a:xfrm>
            <a:off x="795528" y="4055364"/>
            <a:ext cx="10865815" cy="665988"/>
          </a:xfrm>
          <a:prstGeom prst="rect">
            <a:avLst/>
          </a:prstGeom>
          <a:noFill/>
          <a:ln/>
        </p:spPr>
        <p:txBody>
          <a:bodyPr wrap="square" rtlCol="0" anchor="ctr"/>
          <a:lstStyle/>
          <a:p>
            <a:pPr indent="0" marL="0">
              <a:lnSpc>
                <a:spcPct val="120000"/>
              </a:lnSpc>
              <a:buNone/>
            </a:pPr>
            <a:r>
              <a:rPr lang="en-US" sz="1600" dirty="0">
                <a:solidFill>
                  <a:srgbClr val="E8EDF5"/>
                </a:solidFill>
                <a:latin typeface="Open Sans" pitchFamily="34" charset="0"/>
                <a:ea typeface="Open Sans" pitchFamily="34" charset="-122"/>
                <a:cs typeface="Open Sans" pitchFamily="34" charset="-120"/>
              </a:rPr>
              <a:t>Transparência e Explicabilidade (XAI): Necessidade de entender como a IA toma decisões, evitando "caixas pretas".</a:t>
            </a:r>
            <a:endParaRPr lang="en-US" sz="1600" dirty="0"/>
          </a:p>
        </p:txBody>
      </p:sp>
      <p:sp>
        <p:nvSpPr>
          <p:cNvPr id="27" name="Shape 25"/>
          <p:cNvSpPr/>
          <p:nvPr/>
        </p:nvSpPr>
        <p:spPr>
          <a:xfrm>
            <a:off x="621792" y="4895088"/>
            <a:ext cx="11140135" cy="720852"/>
          </a:xfrm>
          <a:prstGeom prst="roundRect">
            <a:avLst>
              <a:gd name="adj" fmla="val 12685"/>
            </a:avLst>
          </a:prstGeom>
          <a:solidFill>
            <a:srgbClr val="000000"/>
          </a:solidFill>
          <a:ln/>
        </p:spPr>
      </p:sp>
      <p:sp>
        <p:nvSpPr>
          <p:cNvPr id="28" name="Shape 26"/>
          <p:cNvSpPr/>
          <p:nvPr/>
        </p:nvSpPr>
        <p:spPr>
          <a:xfrm>
            <a:off x="594360" y="4858512"/>
            <a:ext cx="11140135" cy="720852"/>
          </a:xfrm>
          <a:prstGeom prst="roundRect">
            <a:avLst>
              <a:gd name="adj" fmla="val 10148"/>
            </a:avLst>
          </a:prstGeom>
          <a:solidFill>
            <a:srgbClr val="FFF5F5"/>
          </a:solidFill>
          <a:ln/>
        </p:spPr>
      </p:sp>
      <p:sp>
        <p:nvSpPr>
          <p:cNvPr id="29" name="Shape 27"/>
          <p:cNvSpPr/>
          <p:nvPr/>
        </p:nvSpPr>
        <p:spPr>
          <a:xfrm>
            <a:off x="594360" y="4858512"/>
            <a:ext cx="54864" cy="720852"/>
          </a:xfrm>
          <a:prstGeom prst="rect">
            <a:avLst>
              <a:gd name="adj" fmla="val 133333"/>
            </a:avLst>
          </a:prstGeom>
          <a:solidFill>
            <a:srgbClr val="E74C3C"/>
          </a:solidFill>
          <a:ln/>
        </p:spPr>
      </p:sp>
      <p:sp>
        <p:nvSpPr>
          <p:cNvPr id="30" name="Text 28"/>
          <p:cNvSpPr/>
          <p:nvPr/>
        </p:nvSpPr>
        <p:spPr>
          <a:xfrm>
            <a:off x="795528" y="4885944"/>
            <a:ext cx="10865815" cy="665988"/>
          </a:xfrm>
          <a:prstGeom prst="rect">
            <a:avLst/>
          </a:prstGeom>
          <a:noFill/>
          <a:ln/>
        </p:spPr>
        <p:txBody>
          <a:bodyPr wrap="square" rtlCol="0" anchor="ctr"/>
          <a:lstStyle/>
          <a:p>
            <a:pPr indent="0" marL="0">
              <a:lnSpc>
                <a:spcPct val="120000"/>
              </a:lnSpc>
              <a:buNone/>
            </a:pPr>
            <a:r>
              <a:rPr lang="en-US" sz="1600" dirty="0">
                <a:solidFill>
                  <a:srgbClr val="E8EDF5"/>
                </a:solidFill>
                <a:latin typeface="Open Sans" pitchFamily="34" charset="0"/>
                <a:ea typeface="Open Sans" pitchFamily="34" charset="-122"/>
                <a:cs typeface="Open Sans" pitchFamily="34" charset="-120"/>
              </a:rPr>
              <a:t>Responsabilidade e Autonomia: É crucial definir quem é o responsável por erros de sistemas autônomos de IA.</a:t>
            </a:r>
            <a:endParaRPr lang="en-US" sz="1600" dirty="0"/>
          </a:p>
        </p:txBody>
      </p:sp>
      <p:sp>
        <p:nvSpPr>
          <p:cNvPr id="31" name="Shape 29"/>
          <p:cNvSpPr/>
          <p:nvPr/>
        </p:nvSpPr>
        <p:spPr>
          <a:xfrm>
            <a:off x="621792" y="5725668"/>
            <a:ext cx="11140135" cy="720852"/>
          </a:xfrm>
          <a:prstGeom prst="roundRect">
            <a:avLst>
              <a:gd name="adj" fmla="val 12685"/>
            </a:avLst>
          </a:prstGeom>
          <a:solidFill>
            <a:srgbClr val="000000"/>
          </a:solidFill>
          <a:ln/>
        </p:spPr>
      </p:sp>
      <p:sp>
        <p:nvSpPr>
          <p:cNvPr id="32" name="Shape 30"/>
          <p:cNvSpPr/>
          <p:nvPr/>
        </p:nvSpPr>
        <p:spPr>
          <a:xfrm>
            <a:off x="594360" y="5689092"/>
            <a:ext cx="11140135" cy="720852"/>
          </a:xfrm>
          <a:prstGeom prst="roundRect">
            <a:avLst>
              <a:gd name="adj" fmla="val 10148"/>
            </a:avLst>
          </a:prstGeom>
          <a:solidFill>
            <a:srgbClr val="141E34"/>
          </a:solidFill>
          <a:ln/>
        </p:spPr>
      </p:sp>
      <p:sp>
        <p:nvSpPr>
          <p:cNvPr id="33" name="Shape 31"/>
          <p:cNvSpPr/>
          <p:nvPr/>
        </p:nvSpPr>
        <p:spPr>
          <a:xfrm>
            <a:off x="594360" y="5689092"/>
            <a:ext cx="54864" cy="720852"/>
          </a:xfrm>
          <a:prstGeom prst="rect">
            <a:avLst>
              <a:gd name="adj" fmla="val 133333"/>
            </a:avLst>
          </a:prstGeom>
          <a:solidFill>
            <a:srgbClr val="E74C3C"/>
          </a:solidFill>
          <a:ln/>
        </p:spPr>
      </p:sp>
      <p:sp>
        <p:nvSpPr>
          <p:cNvPr id="34" name="Text 32"/>
          <p:cNvSpPr/>
          <p:nvPr/>
        </p:nvSpPr>
        <p:spPr>
          <a:xfrm>
            <a:off x="795528" y="5716524"/>
            <a:ext cx="10865815" cy="665988"/>
          </a:xfrm>
          <a:prstGeom prst="rect">
            <a:avLst/>
          </a:prstGeom>
          <a:noFill/>
          <a:ln/>
        </p:spPr>
        <p:txBody>
          <a:bodyPr wrap="square" rtlCol="0" anchor="ctr"/>
          <a:lstStyle/>
          <a:p>
            <a:pPr indent="0" marL="0">
              <a:lnSpc>
                <a:spcPct val="120000"/>
              </a:lnSpc>
              <a:buNone/>
            </a:pPr>
            <a:r>
              <a:rPr lang="en-US" sz="1600" dirty="0">
                <a:solidFill>
                  <a:srgbClr val="E8EDF5"/>
                </a:solidFill>
                <a:latin typeface="Open Sans" pitchFamily="34" charset="0"/>
                <a:ea typeface="Open Sans" pitchFamily="34" charset="-122"/>
                <a:cs typeface="Open Sans" pitchFamily="34" charset="-120"/>
              </a:rPr>
              <a:t>Impacto Social e Desemprego Tecnológico: É importante mitigar as consequências negativas da automação no emprego.</a:t>
            </a:r>
            <a:endParaRPr lang="en-US" sz="1600" dirty="0"/>
          </a:p>
        </p:txBody>
      </p:sp>
      <p:sp>
        <p:nvSpPr>
          <p:cNvPr id="35" name="Shape 33"/>
          <p:cNvSpPr/>
          <p:nvPr/>
        </p:nvSpPr>
        <p:spPr>
          <a:xfrm>
            <a:off x="0" y="6601968"/>
            <a:ext cx="2041093" cy="4572"/>
          </a:xfrm>
          <a:prstGeom prst="rect">
            <a:avLst/>
          </a:prstGeom>
          <a:solidFill>
            <a:srgbClr val="6C63FF"/>
          </a:solidFill>
          <a:ln/>
        </p:spPr>
      </p:sp>
      <p:sp>
        <p:nvSpPr>
          <p:cNvPr id="36" name="Shape 34"/>
          <p:cNvSpPr/>
          <p:nvPr/>
        </p:nvSpPr>
        <p:spPr>
          <a:xfrm>
            <a:off x="2031949" y="6601968"/>
            <a:ext cx="2041093" cy="4572"/>
          </a:xfrm>
          <a:prstGeom prst="rect">
            <a:avLst/>
          </a:prstGeom>
          <a:solidFill>
            <a:srgbClr val="6C63FF"/>
          </a:solidFill>
          <a:ln/>
        </p:spPr>
      </p:sp>
      <p:sp>
        <p:nvSpPr>
          <p:cNvPr id="37" name="Shape 35"/>
          <p:cNvSpPr/>
          <p:nvPr/>
        </p:nvSpPr>
        <p:spPr>
          <a:xfrm>
            <a:off x="4063898" y="6601968"/>
            <a:ext cx="2041093" cy="4572"/>
          </a:xfrm>
          <a:prstGeom prst="rect">
            <a:avLst/>
          </a:prstGeom>
          <a:solidFill>
            <a:srgbClr val="6C63FF"/>
          </a:solidFill>
          <a:ln/>
        </p:spPr>
      </p:sp>
      <p:sp>
        <p:nvSpPr>
          <p:cNvPr id="38" name="Shape 36"/>
          <p:cNvSpPr/>
          <p:nvPr/>
        </p:nvSpPr>
        <p:spPr>
          <a:xfrm>
            <a:off x="6095848" y="6601968"/>
            <a:ext cx="2041093" cy="4572"/>
          </a:xfrm>
          <a:prstGeom prst="rect">
            <a:avLst/>
          </a:prstGeom>
          <a:solidFill>
            <a:srgbClr val="6C63FF"/>
          </a:solidFill>
          <a:ln/>
        </p:spPr>
      </p:sp>
      <p:sp>
        <p:nvSpPr>
          <p:cNvPr id="39" name="Shape 37"/>
          <p:cNvSpPr/>
          <p:nvPr/>
        </p:nvSpPr>
        <p:spPr>
          <a:xfrm>
            <a:off x="8127797" y="6601968"/>
            <a:ext cx="2041093" cy="4572"/>
          </a:xfrm>
          <a:prstGeom prst="rect">
            <a:avLst/>
          </a:prstGeom>
          <a:solidFill>
            <a:srgbClr val="6C63FF"/>
          </a:solidFill>
          <a:ln/>
        </p:spPr>
      </p:sp>
      <p:sp>
        <p:nvSpPr>
          <p:cNvPr id="40" name="Shape 38"/>
          <p:cNvSpPr/>
          <p:nvPr/>
        </p:nvSpPr>
        <p:spPr>
          <a:xfrm>
            <a:off x="10159746" y="6601968"/>
            <a:ext cx="2041093" cy="4572"/>
          </a:xfrm>
          <a:prstGeom prst="rect">
            <a:avLst/>
          </a:prstGeom>
          <a:solidFill>
            <a:srgbClr val="6C63FF"/>
          </a:solidFill>
          <a:ln/>
        </p:spPr>
      </p:sp>
      <p:sp>
        <p:nvSpPr>
          <p:cNvPr id="41" name="Shape 39"/>
          <p:cNvSpPr/>
          <p:nvPr/>
        </p:nvSpPr>
        <p:spPr>
          <a:xfrm>
            <a:off x="0" y="6606540"/>
            <a:ext cx="12191695" cy="2743"/>
          </a:xfrm>
          <a:prstGeom prst="rect">
            <a:avLst/>
          </a:prstGeom>
          <a:solidFill>
            <a:srgbClr val="222E48"/>
          </a:solidFill>
          <a:ln/>
        </p:spPr>
      </p:sp>
      <p:sp>
        <p:nvSpPr>
          <p:cNvPr id="42" name="Text 40"/>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43" name="Shape 41"/>
          <p:cNvSpPr/>
          <p:nvPr/>
        </p:nvSpPr>
        <p:spPr>
          <a:xfrm>
            <a:off x="10436047" y="6693408"/>
            <a:ext cx="73152" cy="73152"/>
          </a:xfrm>
          <a:prstGeom prst="ellipse">
            <a:avLst/>
          </a:prstGeom>
          <a:solidFill>
            <a:srgbClr val="6C63FF"/>
          </a:solidFill>
          <a:ln/>
        </p:spPr>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F59E0B"/>
          </a:solidFill>
          <a:ln/>
        </p:spPr>
      </p:sp>
      <p:sp>
        <p:nvSpPr>
          <p:cNvPr id="3" name="Shape 1"/>
          <p:cNvSpPr/>
          <p:nvPr/>
        </p:nvSpPr>
        <p:spPr>
          <a:xfrm>
            <a:off x="64008" y="0"/>
            <a:ext cx="18288" cy="6858000"/>
          </a:xfrm>
          <a:prstGeom prst="rect">
            <a:avLst/>
          </a:prstGeom>
          <a:solidFill>
            <a:srgbClr val="F59E0B"/>
          </a:solidFill>
          <a:ln/>
        </p:spPr>
      </p:sp>
      <p:sp>
        <p:nvSpPr>
          <p:cNvPr id="4" name="Text 2"/>
          <p:cNvSpPr/>
          <p:nvPr/>
        </p:nvSpPr>
        <p:spPr>
          <a:xfrm>
            <a:off x="502920" y="256032"/>
            <a:ext cx="5486400" cy="219456"/>
          </a:xfrm>
          <a:prstGeom prst="rect">
            <a:avLst/>
          </a:prstGeom>
          <a:noFill/>
          <a:ln/>
        </p:spPr>
        <p:txBody>
          <a:bodyPr wrap="square" rtlCol="0" anchor="ctr"/>
          <a:lstStyle/>
          <a:p>
            <a:pPr indent="0" marL="0">
              <a:buNone/>
            </a:pPr>
            <a:r>
              <a:rPr lang="en-US" sz="900" b="1" spc="550" kern="0" dirty="0">
                <a:solidFill>
                  <a:srgbClr val="F59E0B"/>
                </a:solidFill>
                <a:latin typeface="Open Sans" pitchFamily="34" charset="0"/>
                <a:ea typeface="Open Sans" pitchFamily="34" charset="-122"/>
                <a:cs typeface="Open Sans" pitchFamily="34" charset="-120"/>
              </a:rPr>
              <a:t>DESAFIOS E CUIDADOS</a:t>
            </a:r>
            <a:endParaRPr lang="en-US" sz="900" dirty="0"/>
          </a:p>
        </p:txBody>
      </p:sp>
      <p:sp>
        <p:nvSpPr>
          <p:cNvPr id="5" name="Shape 3"/>
          <p:cNvSpPr/>
          <p:nvPr/>
        </p:nvSpPr>
        <p:spPr>
          <a:xfrm>
            <a:off x="502920" y="493776"/>
            <a:ext cx="640080" cy="21946"/>
          </a:xfrm>
          <a:prstGeom prst="rect">
            <a:avLst/>
          </a:prstGeom>
          <a:solidFill>
            <a:srgbClr val="F59E0B"/>
          </a:solidFill>
          <a:ln/>
        </p:spPr>
      </p:sp>
      <p:sp>
        <p:nvSpPr>
          <p:cNvPr id="6" name="Text 4"/>
          <p:cNvSpPr/>
          <p:nvPr/>
        </p:nvSpPr>
        <p:spPr>
          <a:xfrm>
            <a:off x="502920" y="585216"/>
            <a:ext cx="11185855" cy="777240"/>
          </a:xfrm>
          <a:prstGeom prst="rect">
            <a:avLst/>
          </a:prstGeom>
          <a:noFill/>
          <a:ln/>
        </p:spPr>
        <p:txBody>
          <a:bodyPr wrap="square" rtlCol="0" anchor="ctr"/>
          <a:lstStyle/>
          <a:p>
            <a:pPr indent="0" marL="0">
              <a:lnSpc>
                <a:spcPct val="105000"/>
              </a:lnSpc>
              <a:buNone/>
            </a:pPr>
            <a:r>
              <a:rPr lang="en-US" sz="2800" b="1" dirty="0">
                <a:solidFill>
                  <a:srgbClr val="E8EDF5"/>
                </a:solidFill>
                <a:latin typeface="Montserrat" pitchFamily="34" charset="0"/>
                <a:ea typeface="Montserrat" pitchFamily="34" charset="-122"/>
                <a:cs typeface="Montserrat" pitchFamily="34" charset="-120"/>
              </a:rPr>
              <a:t>Desafios e cuidados (Parte 2)</a:t>
            </a:r>
            <a:endParaRPr lang="en-US" sz="2800" dirty="0"/>
          </a:p>
        </p:txBody>
      </p:sp>
      <p:sp>
        <p:nvSpPr>
          <p:cNvPr id="7" name="Shape 5"/>
          <p:cNvSpPr/>
          <p:nvPr/>
        </p:nvSpPr>
        <p:spPr>
          <a:xfrm>
            <a:off x="502920" y="1389888"/>
            <a:ext cx="11185855" cy="7315"/>
          </a:xfrm>
          <a:prstGeom prst="rect">
            <a:avLst/>
          </a:prstGeom>
          <a:solidFill>
            <a:srgbClr val="F59E0B"/>
          </a:solidFill>
          <a:ln/>
        </p:spPr>
      </p:sp>
      <p:sp>
        <p:nvSpPr>
          <p:cNvPr id="8" name="Shape 6"/>
          <p:cNvSpPr/>
          <p:nvPr/>
        </p:nvSpPr>
        <p:spPr>
          <a:xfrm>
            <a:off x="502920" y="1408176"/>
            <a:ext cx="11185855" cy="3658"/>
          </a:xfrm>
          <a:prstGeom prst="rect">
            <a:avLst/>
          </a:prstGeom>
          <a:solidFill>
            <a:srgbClr val="222E48"/>
          </a:solidFill>
          <a:ln/>
        </p:spPr>
      </p:sp>
      <p:sp>
        <p:nvSpPr>
          <p:cNvPr id="9" name="Shape 7"/>
          <p:cNvSpPr/>
          <p:nvPr/>
        </p:nvSpPr>
        <p:spPr>
          <a:xfrm>
            <a:off x="621792" y="1545336"/>
            <a:ext cx="11094415" cy="733044"/>
          </a:xfrm>
          <a:prstGeom prst="roundRect">
            <a:avLst>
              <a:gd name="adj" fmla="val 12474"/>
            </a:avLst>
          </a:prstGeom>
          <a:solidFill>
            <a:srgbClr val="000000"/>
          </a:solidFill>
          <a:ln/>
        </p:spPr>
      </p:sp>
      <p:sp>
        <p:nvSpPr>
          <p:cNvPr id="10" name="Shape 8"/>
          <p:cNvSpPr/>
          <p:nvPr/>
        </p:nvSpPr>
        <p:spPr>
          <a:xfrm>
            <a:off x="594360" y="1508760"/>
            <a:ext cx="11094415" cy="733044"/>
          </a:xfrm>
          <a:prstGeom prst="roundRect">
            <a:avLst>
              <a:gd name="adj" fmla="val 9979"/>
            </a:avLst>
          </a:prstGeom>
          <a:solidFill>
            <a:srgbClr val="141E34"/>
          </a:solidFill>
          <a:ln w="3810">
            <a:solidFill>
              <a:srgbClr val="222E48"/>
            </a:solidFill>
            <a:prstDash val="solid"/>
          </a:ln>
        </p:spPr>
      </p:sp>
      <p:sp>
        <p:nvSpPr>
          <p:cNvPr id="11" name="Shape 9"/>
          <p:cNvSpPr/>
          <p:nvPr/>
        </p:nvSpPr>
        <p:spPr>
          <a:xfrm>
            <a:off x="594360" y="1508760"/>
            <a:ext cx="54864" cy="733044"/>
          </a:xfrm>
          <a:prstGeom prst="rect">
            <a:avLst>
              <a:gd name="adj" fmla="val 133333"/>
            </a:avLst>
          </a:prstGeom>
          <a:solidFill>
            <a:srgbClr val="6C63FF"/>
          </a:solidFill>
          <a:ln/>
        </p:spPr>
      </p:sp>
      <p:sp>
        <p:nvSpPr>
          <p:cNvPr id="12" name="Shape 10"/>
          <p:cNvSpPr/>
          <p:nvPr/>
        </p:nvSpPr>
        <p:spPr>
          <a:xfrm>
            <a:off x="758952" y="1710690"/>
            <a:ext cx="329184" cy="329184"/>
          </a:xfrm>
          <a:prstGeom prst="roundRect">
            <a:avLst>
              <a:gd name="adj" fmla="val 16667"/>
            </a:avLst>
          </a:prstGeom>
          <a:solidFill>
            <a:srgbClr val="6C63FF"/>
          </a:solidFill>
          <a:ln/>
        </p:spPr>
      </p:sp>
      <p:sp>
        <p:nvSpPr>
          <p:cNvPr id="13" name="Text 11"/>
          <p:cNvSpPr/>
          <p:nvPr/>
        </p:nvSpPr>
        <p:spPr>
          <a:xfrm>
            <a:off x="758952" y="1710690"/>
            <a:ext cx="329184" cy="329184"/>
          </a:xfrm>
          <a:prstGeom prst="rect">
            <a:avLst/>
          </a:prstGeom>
          <a:noFill/>
          <a:ln/>
        </p:spPr>
        <p:txBody>
          <a:bodyPr wrap="square"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14" name="Text 12"/>
          <p:cNvSpPr/>
          <p:nvPr/>
        </p:nvSpPr>
        <p:spPr>
          <a:xfrm>
            <a:off x="1216152" y="1536192"/>
            <a:ext cx="10381183" cy="678180"/>
          </a:xfrm>
          <a:prstGeom prst="rect">
            <a:avLst/>
          </a:prstGeom>
          <a:noFill/>
          <a:ln/>
        </p:spPr>
        <p:txBody>
          <a:bodyPr wrap="square" rtlCol="0" anchor="ctr"/>
          <a:lstStyle/>
          <a:p>
            <a:pPr indent="0" marL="0">
              <a:lnSpc>
                <a:spcPct val="118000"/>
              </a:lnSpc>
              <a:buNone/>
            </a:pPr>
            <a:r>
              <a:rPr lang="en-US" sz="1600" dirty="0">
                <a:solidFill>
                  <a:srgbClr val="E8EDF5"/>
                </a:solidFill>
                <a:latin typeface="Open Sans" pitchFamily="34" charset="0"/>
                <a:ea typeface="Open Sans" pitchFamily="34" charset="-122"/>
                <a:cs typeface="Open Sans" pitchFamily="34" charset="-120"/>
              </a:rPr>
              <a:t>Sistemas de RH baseados em IA que selecionam candidatos precisam ser auditados. Isso garante que não introduzam vieses de gênero ou raça nas avaliações.</a:t>
            </a:r>
            <a:endParaRPr lang="en-US" sz="1600" dirty="0"/>
          </a:p>
        </p:txBody>
      </p:sp>
      <p:sp>
        <p:nvSpPr>
          <p:cNvPr id="15" name="Shape 13"/>
          <p:cNvSpPr/>
          <p:nvPr/>
        </p:nvSpPr>
        <p:spPr>
          <a:xfrm>
            <a:off x="621792" y="2388108"/>
            <a:ext cx="11094415" cy="733044"/>
          </a:xfrm>
          <a:prstGeom prst="roundRect">
            <a:avLst>
              <a:gd name="adj" fmla="val 12474"/>
            </a:avLst>
          </a:prstGeom>
          <a:solidFill>
            <a:srgbClr val="000000"/>
          </a:solidFill>
          <a:ln/>
        </p:spPr>
      </p:sp>
      <p:sp>
        <p:nvSpPr>
          <p:cNvPr id="16" name="Shape 14"/>
          <p:cNvSpPr/>
          <p:nvPr/>
        </p:nvSpPr>
        <p:spPr>
          <a:xfrm>
            <a:off x="594360" y="2351532"/>
            <a:ext cx="11094415" cy="733044"/>
          </a:xfrm>
          <a:prstGeom prst="roundRect">
            <a:avLst>
              <a:gd name="adj" fmla="val 9979"/>
            </a:avLst>
          </a:prstGeom>
          <a:solidFill>
            <a:srgbClr val="141E34"/>
          </a:solidFill>
          <a:ln w="3810">
            <a:solidFill>
              <a:srgbClr val="222E48"/>
            </a:solidFill>
            <a:prstDash val="solid"/>
          </a:ln>
        </p:spPr>
      </p:sp>
      <p:sp>
        <p:nvSpPr>
          <p:cNvPr id="17" name="Shape 15"/>
          <p:cNvSpPr/>
          <p:nvPr/>
        </p:nvSpPr>
        <p:spPr>
          <a:xfrm>
            <a:off x="594360" y="2351532"/>
            <a:ext cx="54864" cy="733044"/>
          </a:xfrm>
          <a:prstGeom prst="rect">
            <a:avLst>
              <a:gd name="adj" fmla="val 133333"/>
            </a:avLst>
          </a:prstGeom>
          <a:solidFill>
            <a:srgbClr val="3B82F6"/>
          </a:solidFill>
          <a:ln/>
        </p:spPr>
      </p:sp>
      <p:sp>
        <p:nvSpPr>
          <p:cNvPr id="18" name="Shape 16"/>
          <p:cNvSpPr/>
          <p:nvPr/>
        </p:nvSpPr>
        <p:spPr>
          <a:xfrm>
            <a:off x="758952" y="2553462"/>
            <a:ext cx="329184" cy="329184"/>
          </a:xfrm>
          <a:prstGeom prst="roundRect">
            <a:avLst>
              <a:gd name="adj" fmla="val 16667"/>
            </a:avLst>
          </a:prstGeom>
          <a:solidFill>
            <a:srgbClr val="3B82F6"/>
          </a:solidFill>
          <a:ln/>
        </p:spPr>
      </p:sp>
      <p:sp>
        <p:nvSpPr>
          <p:cNvPr id="19" name="Text 17"/>
          <p:cNvSpPr/>
          <p:nvPr/>
        </p:nvSpPr>
        <p:spPr>
          <a:xfrm>
            <a:off x="758952" y="2553462"/>
            <a:ext cx="329184" cy="329184"/>
          </a:xfrm>
          <a:prstGeom prst="rect">
            <a:avLst/>
          </a:prstGeom>
          <a:noFill/>
          <a:ln/>
        </p:spPr>
        <p:txBody>
          <a:bodyPr wrap="square"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20" name="Text 18"/>
          <p:cNvSpPr/>
          <p:nvPr/>
        </p:nvSpPr>
        <p:spPr>
          <a:xfrm>
            <a:off x="1216152" y="2378964"/>
            <a:ext cx="10381183" cy="678180"/>
          </a:xfrm>
          <a:prstGeom prst="rect">
            <a:avLst/>
          </a:prstGeom>
          <a:noFill/>
          <a:ln/>
        </p:spPr>
        <p:txBody>
          <a:bodyPr wrap="square" rtlCol="0" anchor="ctr"/>
          <a:lstStyle/>
          <a:p>
            <a:pPr indent="0" marL="0">
              <a:lnSpc>
                <a:spcPct val="118000"/>
              </a:lnSpc>
              <a:buNone/>
            </a:pPr>
            <a:r>
              <a:rPr lang="en-US" sz="1600" dirty="0">
                <a:solidFill>
                  <a:srgbClr val="E8EDF5"/>
                </a:solidFill>
                <a:latin typeface="Open Sans" pitchFamily="34" charset="0"/>
                <a:ea typeface="Open Sans" pitchFamily="34" charset="-122"/>
                <a:cs typeface="Open Sans" pitchFamily="34" charset="-120"/>
              </a:rPr>
              <a:t>A preparação para este novo cenário envolve investir em desenvolvimento pessoal. É fundamental adotar uma mentalidade de crescimento contínuo.</a:t>
            </a:r>
            <a:endParaRPr lang="en-US" sz="1600" dirty="0"/>
          </a:p>
        </p:txBody>
      </p:sp>
      <p:sp>
        <p:nvSpPr>
          <p:cNvPr id="21" name="Shape 19"/>
          <p:cNvSpPr/>
          <p:nvPr/>
        </p:nvSpPr>
        <p:spPr>
          <a:xfrm>
            <a:off x="621792" y="3230880"/>
            <a:ext cx="11094415" cy="733044"/>
          </a:xfrm>
          <a:prstGeom prst="roundRect">
            <a:avLst>
              <a:gd name="adj" fmla="val 12474"/>
            </a:avLst>
          </a:prstGeom>
          <a:solidFill>
            <a:srgbClr val="000000"/>
          </a:solidFill>
          <a:ln/>
        </p:spPr>
      </p:sp>
      <p:sp>
        <p:nvSpPr>
          <p:cNvPr id="22" name="Shape 20"/>
          <p:cNvSpPr/>
          <p:nvPr/>
        </p:nvSpPr>
        <p:spPr>
          <a:xfrm>
            <a:off x="594360" y="3194304"/>
            <a:ext cx="11094415" cy="733044"/>
          </a:xfrm>
          <a:prstGeom prst="roundRect">
            <a:avLst>
              <a:gd name="adj" fmla="val 9979"/>
            </a:avLst>
          </a:prstGeom>
          <a:solidFill>
            <a:srgbClr val="141E34"/>
          </a:solidFill>
          <a:ln w="3810">
            <a:solidFill>
              <a:srgbClr val="222E48"/>
            </a:solidFill>
            <a:prstDash val="solid"/>
          </a:ln>
        </p:spPr>
      </p:sp>
      <p:sp>
        <p:nvSpPr>
          <p:cNvPr id="23" name="Shape 21"/>
          <p:cNvSpPr/>
          <p:nvPr/>
        </p:nvSpPr>
        <p:spPr>
          <a:xfrm>
            <a:off x="594360" y="3194304"/>
            <a:ext cx="54864" cy="733044"/>
          </a:xfrm>
          <a:prstGeom prst="rect">
            <a:avLst>
              <a:gd name="adj" fmla="val 133333"/>
            </a:avLst>
          </a:prstGeom>
          <a:solidFill>
            <a:srgbClr val="10B981"/>
          </a:solidFill>
          <a:ln/>
        </p:spPr>
      </p:sp>
      <p:sp>
        <p:nvSpPr>
          <p:cNvPr id="24" name="Shape 22"/>
          <p:cNvSpPr/>
          <p:nvPr/>
        </p:nvSpPr>
        <p:spPr>
          <a:xfrm>
            <a:off x="758952" y="3396234"/>
            <a:ext cx="329184" cy="329184"/>
          </a:xfrm>
          <a:prstGeom prst="roundRect">
            <a:avLst>
              <a:gd name="adj" fmla="val 16667"/>
            </a:avLst>
          </a:prstGeom>
          <a:solidFill>
            <a:srgbClr val="10B981"/>
          </a:solidFill>
          <a:ln/>
        </p:spPr>
      </p:sp>
      <p:sp>
        <p:nvSpPr>
          <p:cNvPr id="25" name="Text 23"/>
          <p:cNvSpPr/>
          <p:nvPr/>
        </p:nvSpPr>
        <p:spPr>
          <a:xfrm>
            <a:off x="758952" y="3396234"/>
            <a:ext cx="329184" cy="329184"/>
          </a:xfrm>
          <a:prstGeom prst="rect">
            <a:avLst/>
          </a:prstGeom>
          <a:noFill/>
          <a:ln/>
        </p:spPr>
        <p:txBody>
          <a:bodyPr wrap="square"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26" name="Text 24"/>
          <p:cNvSpPr/>
          <p:nvPr/>
        </p:nvSpPr>
        <p:spPr>
          <a:xfrm>
            <a:off x="1216152" y="3221736"/>
            <a:ext cx="10381183" cy="678180"/>
          </a:xfrm>
          <a:prstGeom prst="rect">
            <a:avLst/>
          </a:prstGeom>
          <a:noFill/>
          <a:ln/>
        </p:spPr>
        <p:txBody>
          <a:bodyPr wrap="square" rtlCol="0" anchor="ctr"/>
          <a:lstStyle/>
          <a:p>
            <a:pPr indent="0" marL="0">
              <a:lnSpc>
                <a:spcPct val="118000"/>
              </a:lnSpc>
              <a:buNone/>
            </a:pPr>
            <a:r>
              <a:rPr lang="en-US" sz="1600" dirty="0">
                <a:solidFill>
                  <a:srgbClr val="E8EDF5"/>
                </a:solidFill>
                <a:latin typeface="Open Sans" pitchFamily="34" charset="0"/>
                <a:ea typeface="Open Sans" pitchFamily="34" charset="-122"/>
                <a:cs typeface="Open Sans" pitchFamily="34" charset="-120"/>
              </a:rPr>
              <a:t>Busque cursos e workshops sobre IA para profissionais não técnicos. Desenvolva as habilidades interpessoais como pensamento crítico e colaboração.</a:t>
            </a:r>
            <a:endParaRPr lang="en-US" sz="1600" dirty="0"/>
          </a:p>
        </p:txBody>
      </p:sp>
      <p:sp>
        <p:nvSpPr>
          <p:cNvPr id="27" name="Shape 25"/>
          <p:cNvSpPr/>
          <p:nvPr/>
        </p:nvSpPr>
        <p:spPr>
          <a:xfrm>
            <a:off x="621792" y="4073652"/>
            <a:ext cx="11094415" cy="733044"/>
          </a:xfrm>
          <a:prstGeom prst="roundRect">
            <a:avLst>
              <a:gd name="adj" fmla="val 12474"/>
            </a:avLst>
          </a:prstGeom>
          <a:solidFill>
            <a:srgbClr val="000000"/>
          </a:solidFill>
          <a:ln/>
        </p:spPr>
      </p:sp>
      <p:sp>
        <p:nvSpPr>
          <p:cNvPr id="28" name="Shape 26"/>
          <p:cNvSpPr/>
          <p:nvPr/>
        </p:nvSpPr>
        <p:spPr>
          <a:xfrm>
            <a:off x="594360" y="4037076"/>
            <a:ext cx="11094415" cy="733044"/>
          </a:xfrm>
          <a:prstGeom prst="roundRect">
            <a:avLst>
              <a:gd name="adj" fmla="val 9979"/>
            </a:avLst>
          </a:prstGeom>
          <a:solidFill>
            <a:srgbClr val="141E34"/>
          </a:solidFill>
          <a:ln w="3810">
            <a:solidFill>
              <a:srgbClr val="222E48"/>
            </a:solidFill>
            <a:prstDash val="solid"/>
          </a:ln>
        </p:spPr>
      </p:sp>
      <p:sp>
        <p:nvSpPr>
          <p:cNvPr id="29" name="Shape 27"/>
          <p:cNvSpPr/>
          <p:nvPr/>
        </p:nvSpPr>
        <p:spPr>
          <a:xfrm>
            <a:off x="594360" y="4037076"/>
            <a:ext cx="54864" cy="733044"/>
          </a:xfrm>
          <a:prstGeom prst="rect">
            <a:avLst>
              <a:gd name="adj" fmla="val 133333"/>
            </a:avLst>
          </a:prstGeom>
          <a:solidFill>
            <a:srgbClr val="F59E0B"/>
          </a:solidFill>
          <a:ln/>
        </p:spPr>
      </p:sp>
      <p:sp>
        <p:nvSpPr>
          <p:cNvPr id="30" name="Shape 28"/>
          <p:cNvSpPr/>
          <p:nvPr/>
        </p:nvSpPr>
        <p:spPr>
          <a:xfrm>
            <a:off x="758952" y="4239006"/>
            <a:ext cx="329184" cy="329184"/>
          </a:xfrm>
          <a:prstGeom prst="roundRect">
            <a:avLst>
              <a:gd name="adj" fmla="val 16667"/>
            </a:avLst>
          </a:prstGeom>
          <a:solidFill>
            <a:srgbClr val="F59E0B"/>
          </a:solidFill>
          <a:ln/>
        </p:spPr>
      </p:sp>
      <p:sp>
        <p:nvSpPr>
          <p:cNvPr id="31" name="Text 29"/>
          <p:cNvSpPr/>
          <p:nvPr/>
        </p:nvSpPr>
        <p:spPr>
          <a:xfrm>
            <a:off x="758952" y="4239006"/>
            <a:ext cx="329184" cy="329184"/>
          </a:xfrm>
          <a:prstGeom prst="rect">
            <a:avLst/>
          </a:prstGeom>
          <a:noFill/>
          <a:ln/>
        </p:spPr>
        <p:txBody>
          <a:bodyPr wrap="square"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4</a:t>
            </a:r>
            <a:endParaRPr lang="en-US" sz="1300" dirty="0"/>
          </a:p>
        </p:txBody>
      </p:sp>
      <p:sp>
        <p:nvSpPr>
          <p:cNvPr id="32" name="Text 30"/>
          <p:cNvSpPr/>
          <p:nvPr/>
        </p:nvSpPr>
        <p:spPr>
          <a:xfrm>
            <a:off x="1216152" y="4064508"/>
            <a:ext cx="10381183" cy="678180"/>
          </a:xfrm>
          <a:prstGeom prst="rect">
            <a:avLst/>
          </a:prstGeom>
          <a:noFill/>
          <a:ln/>
        </p:spPr>
        <p:txBody>
          <a:bodyPr wrap="square" rtlCol="0" anchor="ctr"/>
          <a:lstStyle/>
          <a:p>
            <a:pPr indent="0" marL="0">
              <a:lnSpc>
                <a:spcPct val="118000"/>
              </a:lnSpc>
              <a:buNone/>
            </a:pPr>
            <a:r>
              <a:rPr lang="en-US" sz="1600" dirty="0">
                <a:solidFill>
                  <a:srgbClr val="E8EDF5"/>
                </a:solidFill>
                <a:latin typeface="Open Sans" pitchFamily="34" charset="0"/>
                <a:ea typeface="Open Sans" pitchFamily="34" charset="-122"/>
                <a:cs typeface="Open Sans" pitchFamily="34" charset="-120"/>
              </a:rPr>
              <a:t>Experimente ferramentas de IA em suas tarefas diárias. Participe de discussões e comunidades sobre o futuro do trabalho e IA.</a:t>
            </a:r>
            <a:endParaRPr lang="en-US" sz="1600" dirty="0"/>
          </a:p>
        </p:txBody>
      </p:sp>
      <p:sp>
        <p:nvSpPr>
          <p:cNvPr id="33" name="Shape 31"/>
          <p:cNvSpPr/>
          <p:nvPr/>
        </p:nvSpPr>
        <p:spPr>
          <a:xfrm>
            <a:off x="621792" y="4916424"/>
            <a:ext cx="11094415" cy="733044"/>
          </a:xfrm>
          <a:prstGeom prst="roundRect">
            <a:avLst>
              <a:gd name="adj" fmla="val 12474"/>
            </a:avLst>
          </a:prstGeom>
          <a:solidFill>
            <a:srgbClr val="000000"/>
          </a:solidFill>
          <a:ln/>
        </p:spPr>
      </p:sp>
      <p:sp>
        <p:nvSpPr>
          <p:cNvPr id="34" name="Shape 32"/>
          <p:cNvSpPr/>
          <p:nvPr/>
        </p:nvSpPr>
        <p:spPr>
          <a:xfrm>
            <a:off x="594360" y="4879848"/>
            <a:ext cx="11094415" cy="733044"/>
          </a:xfrm>
          <a:prstGeom prst="roundRect">
            <a:avLst>
              <a:gd name="adj" fmla="val 9979"/>
            </a:avLst>
          </a:prstGeom>
          <a:solidFill>
            <a:srgbClr val="141E34"/>
          </a:solidFill>
          <a:ln w="3810">
            <a:solidFill>
              <a:srgbClr val="222E48"/>
            </a:solidFill>
            <a:prstDash val="solid"/>
          </a:ln>
        </p:spPr>
      </p:sp>
      <p:sp>
        <p:nvSpPr>
          <p:cNvPr id="35" name="Shape 33"/>
          <p:cNvSpPr/>
          <p:nvPr/>
        </p:nvSpPr>
        <p:spPr>
          <a:xfrm>
            <a:off x="594360" y="4879848"/>
            <a:ext cx="54864" cy="733044"/>
          </a:xfrm>
          <a:prstGeom prst="rect">
            <a:avLst>
              <a:gd name="adj" fmla="val 133333"/>
            </a:avLst>
          </a:prstGeom>
          <a:solidFill>
            <a:srgbClr val="06B6D4"/>
          </a:solidFill>
          <a:ln/>
        </p:spPr>
      </p:sp>
      <p:sp>
        <p:nvSpPr>
          <p:cNvPr id="36" name="Shape 34"/>
          <p:cNvSpPr/>
          <p:nvPr/>
        </p:nvSpPr>
        <p:spPr>
          <a:xfrm>
            <a:off x="758952" y="5081778"/>
            <a:ext cx="329184" cy="329184"/>
          </a:xfrm>
          <a:prstGeom prst="roundRect">
            <a:avLst>
              <a:gd name="adj" fmla="val 16667"/>
            </a:avLst>
          </a:prstGeom>
          <a:solidFill>
            <a:srgbClr val="06B6D4"/>
          </a:solidFill>
          <a:ln/>
        </p:spPr>
      </p:sp>
      <p:sp>
        <p:nvSpPr>
          <p:cNvPr id="37" name="Text 35"/>
          <p:cNvSpPr/>
          <p:nvPr/>
        </p:nvSpPr>
        <p:spPr>
          <a:xfrm>
            <a:off x="758952" y="5081778"/>
            <a:ext cx="329184" cy="329184"/>
          </a:xfrm>
          <a:prstGeom prst="rect">
            <a:avLst/>
          </a:prstGeom>
          <a:noFill/>
          <a:ln/>
        </p:spPr>
        <p:txBody>
          <a:bodyPr wrap="square"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5</a:t>
            </a:r>
            <a:endParaRPr lang="en-US" sz="1300" dirty="0"/>
          </a:p>
        </p:txBody>
      </p:sp>
      <p:sp>
        <p:nvSpPr>
          <p:cNvPr id="38" name="Text 36"/>
          <p:cNvSpPr/>
          <p:nvPr/>
        </p:nvSpPr>
        <p:spPr>
          <a:xfrm>
            <a:off x="1216152" y="4907280"/>
            <a:ext cx="10381183" cy="678180"/>
          </a:xfrm>
          <a:prstGeom prst="rect">
            <a:avLst/>
          </a:prstGeom>
          <a:noFill/>
          <a:ln/>
        </p:spPr>
        <p:txBody>
          <a:bodyPr wrap="square" rtlCol="0" anchor="ctr"/>
          <a:lstStyle/>
          <a:p>
            <a:pPr indent="0" marL="0">
              <a:lnSpc>
                <a:spcPct val="118000"/>
              </a:lnSpc>
              <a:buNone/>
            </a:pPr>
            <a:r>
              <a:rPr lang="en-US" sz="1600" dirty="0">
                <a:solidFill>
                  <a:srgbClr val="E8EDF5"/>
                </a:solidFill>
                <a:latin typeface="Open Sans" pitchFamily="34" charset="0"/>
                <a:ea typeface="Open Sans" pitchFamily="34" charset="-122"/>
                <a:cs typeface="Open Sans" pitchFamily="34" charset="-120"/>
              </a:rPr>
              <a:t>Mantenha-se informado sobre as tendências e inovações em inteligência artificial. Incentive uma cultura de aprendizado e experimentação em seu ambiente de trabalho.</a:t>
            </a:r>
            <a:endParaRPr lang="en-US" sz="1600" dirty="0"/>
          </a:p>
        </p:txBody>
      </p:sp>
      <p:sp>
        <p:nvSpPr>
          <p:cNvPr id="39" name="Shape 37"/>
          <p:cNvSpPr/>
          <p:nvPr/>
        </p:nvSpPr>
        <p:spPr>
          <a:xfrm>
            <a:off x="621792" y="5759196"/>
            <a:ext cx="11094415" cy="733044"/>
          </a:xfrm>
          <a:prstGeom prst="roundRect">
            <a:avLst>
              <a:gd name="adj" fmla="val 12474"/>
            </a:avLst>
          </a:prstGeom>
          <a:solidFill>
            <a:srgbClr val="000000"/>
          </a:solidFill>
          <a:ln/>
        </p:spPr>
      </p:sp>
      <p:sp>
        <p:nvSpPr>
          <p:cNvPr id="40" name="Shape 38"/>
          <p:cNvSpPr/>
          <p:nvPr/>
        </p:nvSpPr>
        <p:spPr>
          <a:xfrm>
            <a:off x="594360" y="5722620"/>
            <a:ext cx="11094415" cy="733044"/>
          </a:xfrm>
          <a:prstGeom prst="roundRect">
            <a:avLst>
              <a:gd name="adj" fmla="val 9979"/>
            </a:avLst>
          </a:prstGeom>
          <a:solidFill>
            <a:srgbClr val="141E34"/>
          </a:solidFill>
          <a:ln w="3810">
            <a:solidFill>
              <a:srgbClr val="222E48"/>
            </a:solidFill>
            <a:prstDash val="solid"/>
          </a:ln>
        </p:spPr>
      </p:sp>
      <p:sp>
        <p:nvSpPr>
          <p:cNvPr id="41" name="Shape 39"/>
          <p:cNvSpPr/>
          <p:nvPr/>
        </p:nvSpPr>
        <p:spPr>
          <a:xfrm>
            <a:off x="594360" y="5722620"/>
            <a:ext cx="54864" cy="733044"/>
          </a:xfrm>
          <a:prstGeom prst="rect">
            <a:avLst>
              <a:gd name="adj" fmla="val 133333"/>
            </a:avLst>
          </a:prstGeom>
          <a:solidFill>
            <a:srgbClr val="6C63FF"/>
          </a:solidFill>
          <a:ln/>
        </p:spPr>
      </p:sp>
      <p:sp>
        <p:nvSpPr>
          <p:cNvPr id="42" name="Shape 40"/>
          <p:cNvSpPr/>
          <p:nvPr/>
        </p:nvSpPr>
        <p:spPr>
          <a:xfrm>
            <a:off x="758952" y="5924550"/>
            <a:ext cx="329184" cy="329184"/>
          </a:xfrm>
          <a:prstGeom prst="roundRect">
            <a:avLst>
              <a:gd name="adj" fmla="val 16667"/>
            </a:avLst>
          </a:prstGeom>
          <a:solidFill>
            <a:srgbClr val="6C63FF"/>
          </a:solidFill>
          <a:ln/>
        </p:spPr>
      </p:sp>
      <p:sp>
        <p:nvSpPr>
          <p:cNvPr id="43" name="Text 41"/>
          <p:cNvSpPr/>
          <p:nvPr/>
        </p:nvSpPr>
        <p:spPr>
          <a:xfrm>
            <a:off x="758952" y="5924550"/>
            <a:ext cx="329184" cy="329184"/>
          </a:xfrm>
          <a:prstGeom prst="rect">
            <a:avLst/>
          </a:prstGeom>
          <a:noFill/>
          <a:ln/>
        </p:spPr>
        <p:txBody>
          <a:bodyPr wrap="square"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6</a:t>
            </a:r>
            <a:endParaRPr lang="en-US" sz="1300" dirty="0"/>
          </a:p>
        </p:txBody>
      </p:sp>
      <p:sp>
        <p:nvSpPr>
          <p:cNvPr id="44" name="Text 42"/>
          <p:cNvSpPr/>
          <p:nvPr/>
        </p:nvSpPr>
        <p:spPr>
          <a:xfrm>
            <a:off x="1216152" y="5750052"/>
            <a:ext cx="10381183" cy="678180"/>
          </a:xfrm>
          <a:prstGeom prst="rect">
            <a:avLst/>
          </a:prstGeom>
          <a:noFill/>
          <a:ln/>
        </p:spPr>
        <p:txBody>
          <a:bodyPr wrap="square" rtlCol="0" anchor="ctr"/>
          <a:lstStyle/>
          <a:p>
            <a:pPr indent="0" marL="0">
              <a:lnSpc>
                <a:spcPct val="118000"/>
              </a:lnSpc>
              <a:buNone/>
            </a:pPr>
            <a:r>
              <a:rPr lang="en-US" sz="1600" dirty="0">
                <a:solidFill>
                  <a:srgbClr val="E8EDF5"/>
                </a:solidFill>
                <a:latin typeface="Open Sans" pitchFamily="34" charset="0"/>
                <a:ea typeface="Open Sans" pitchFamily="34" charset="-122"/>
                <a:cs typeface="Open Sans" pitchFamily="34" charset="-120"/>
              </a:rPr>
              <a:t>Advogue por práticas éticas e responsáveis no desenvolvimento e uso da IA.</a:t>
            </a:r>
            <a:endParaRPr lang="en-US" sz="1600" dirty="0"/>
          </a:p>
        </p:txBody>
      </p:sp>
      <p:sp>
        <p:nvSpPr>
          <p:cNvPr id="45" name="Shape 43"/>
          <p:cNvSpPr/>
          <p:nvPr/>
        </p:nvSpPr>
        <p:spPr>
          <a:xfrm>
            <a:off x="0" y="6601968"/>
            <a:ext cx="2041093" cy="4572"/>
          </a:xfrm>
          <a:prstGeom prst="rect">
            <a:avLst/>
          </a:prstGeom>
          <a:solidFill>
            <a:srgbClr val="6C63FF"/>
          </a:solidFill>
          <a:ln/>
        </p:spPr>
      </p:sp>
      <p:sp>
        <p:nvSpPr>
          <p:cNvPr id="46" name="Shape 44"/>
          <p:cNvSpPr/>
          <p:nvPr/>
        </p:nvSpPr>
        <p:spPr>
          <a:xfrm>
            <a:off x="2031949" y="6601968"/>
            <a:ext cx="2041093" cy="4572"/>
          </a:xfrm>
          <a:prstGeom prst="rect">
            <a:avLst/>
          </a:prstGeom>
          <a:solidFill>
            <a:srgbClr val="6C63FF"/>
          </a:solidFill>
          <a:ln/>
        </p:spPr>
      </p:sp>
      <p:sp>
        <p:nvSpPr>
          <p:cNvPr id="47" name="Shape 45"/>
          <p:cNvSpPr/>
          <p:nvPr/>
        </p:nvSpPr>
        <p:spPr>
          <a:xfrm>
            <a:off x="4063898" y="6601968"/>
            <a:ext cx="2041093" cy="4572"/>
          </a:xfrm>
          <a:prstGeom prst="rect">
            <a:avLst/>
          </a:prstGeom>
          <a:solidFill>
            <a:srgbClr val="6C63FF"/>
          </a:solidFill>
          <a:ln/>
        </p:spPr>
      </p:sp>
      <p:sp>
        <p:nvSpPr>
          <p:cNvPr id="48" name="Shape 46"/>
          <p:cNvSpPr/>
          <p:nvPr/>
        </p:nvSpPr>
        <p:spPr>
          <a:xfrm>
            <a:off x="6095848" y="6601968"/>
            <a:ext cx="2041093" cy="4572"/>
          </a:xfrm>
          <a:prstGeom prst="rect">
            <a:avLst/>
          </a:prstGeom>
          <a:solidFill>
            <a:srgbClr val="6C63FF"/>
          </a:solidFill>
          <a:ln/>
        </p:spPr>
      </p:sp>
      <p:sp>
        <p:nvSpPr>
          <p:cNvPr id="49" name="Shape 47"/>
          <p:cNvSpPr/>
          <p:nvPr/>
        </p:nvSpPr>
        <p:spPr>
          <a:xfrm>
            <a:off x="8127797" y="6601968"/>
            <a:ext cx="2041093" cy="4572"/>
          </a:xfrm>
          <a:prstGeom prst="rect">
            <a:avLst/>
          </a:prstGeom>
          <a:solidFill>
            <a:srgbClr val="6C63FF"/>
          </a:solidFill>
          <a:ln/>
        </p:spPr>
      </p:sp>
      <p:sp>
        <p:nvSpPr>
          <p:cNvPr id="50" name="Shape 48"/>
          <p:cNvSpPr/>
          <p:nvPr/>
        </p:nvSpPr>
        <p:spPr>
          <a:xfrm>
            <a:off x="10159746" y="6601968"/>
            <a:ext cx="2041093" cy="4572"/>
          </a:xfrm>
          <a:prstGeom prst="rect">
            <a:avLst/>
          </a:prstGeom>
          <a:solidFill>
            <a:srgbClr val="6C63FF"/>
          </a:solidFill>
          <a:ln/>
        </p:spPr>
      </p:sp>
      <p:sp>
        <p:nvSpPr>
          <p:cNvPr id="51" name="Shape 49"/>
          <p:cNvSpPr/>
          <p:nvPr/>
        </p:nvSpPr>
        <p:spPr>
          <a:xfrm>
            <a:off x="0" y="6606540"/>
            <a:ext cx="12191695" cy="2743"/>
          </a:xfrm>
          <a:prstGeom prst="rect">
            <a:avLst/>
          </a:prstGeom>
          <a:solidFill>
            <a:srgbClr val="222E48"/>
          </a:solidFill>
          <a:ln/>
        </p:spPr>
      </p:sp>
      <p:sp>
        <p:nvSpPr>
          <p:cNvPr id="52" name="Text 50"/>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53" name="Shape 51"/>
          <p:cNvSpPr/>
          <p:nvPr/>
        </p:nvSpPr>
        <p:spPr>
          <a:xfrm>
            <a:off x="10436047" y="6693408"/>
            <a:ext cx="73152" cy="73152"/>
          </a:xfrm>
          <a:prstGeom prst="ellipse">
            <a:avLst/>
          </a:prstGeom>
          <a:solidFill>
            <a:srgbClr val="6C63FF"/>
          </a:solidFill>
          <a:ln/>
        </p:spPr>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C1322"/>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6C63FF"/>
          </a:solidFill>
          <a:ln/>
        </p:spPr>
      </p:sp>
      <p:sp>
        <p:nvSpPr>
          <p:cNvPr id="3" name="Text 1"/>
          <p:cNvSpPr/>
          <p:nvPr/>
        </p:nvSpPr>
        <p:spPr>
          <a:xfrm>
            <a:off x="685800" y="274320"/>
            <a:ext cx="5486400" cy="219456"/>
          </a:xfrm>
          <a:prstGeom prst="rect">
            <a:avLst/>
          </a:prstGeom>
          <a:noFill/>
          <a:ln/>
        </p:spPr>
        <p:txBody>
          <a:bodyPr wrap="square" rtlCol="0" anchor="ctr"/>
          <a:lstStyle/>
          <a:p>
            <a:pPr indent="0" marL="0">
              <a:buNone/>
            </a:pPr>
            <a:r>
              <a:rPr lang="en-US" sz="1000" b="1" spc="500" kern="0" dirty="0">
                <a:solidFill>
                  <a:srgbClr val="6C63FF"/>
                </a:solidFill>
                <a:latin typeface="Open Sans" pitchFamily="34" charset="0"/>
                <a:ea typeface="Open Sans" pitchFamily="34" charset="-122"/>
                <a:cs typeface="Open Sans" pitchFamily="34" charset="-120"/>
              </a:rPr>
              <a:t>RESUMO DO MÓDULO</a:t>
            </a:r>
            <a:endParaRPr lang="en-US" sz="1000" dirty="0"/>
          </a:p>
        </p:txBody>
      </p:sp>
      <p:sp>
        <p:nvSpPr>
          <p:cNvPr id="4" name="Shape 2"/>
          <p:cNvSpPr/>
          <p:nvPr/>
        </p:nvSpPr>
        <p:spPr>
          <a:xfrm>
            <a:off x="685800" y="521208"/>
            <a:ext cx="822960" cy="18288"/>
          </a:xfrm>
          <a:prstGeom prst="rect">
            <a:avLst/>
          </a:prstGeom>
          <a:solidFill>
            <a:srgbClr val="6C63FF"/>
          </a:solidFill>
          <a:ln/>
        </p:spPr>
      </p:sp>
      <p:sp>
        <p:nvSpPr>
          <p:cNvPr id="5" name="Text 3"/>
          <p:cNvSpPr/>
          <p:nvPr/>
        </p:nvSpPr>
        <p:spPr>
          <a:xfrm>
            <a:off x="685800" y="621792"/>
            <a:ext cx="11048695" cy="685800"/>
          </a:xfrm>
          <a:prstGeom prst="rect">
            <a:avLst/>
          </a:prstGeom>
          <a:noFill/>
          <a:ln/>
        </p:spPr>
        <p:txBody>
          <a:bodyPr wrap="square" rtlCol="0" anchor="ctr"/>
          <a:lstStyle/>
          <a:p>
            <a:pPr indent="0" marL="0">
              <a:buNone/>
            </a:pPr>
            <a:r>
              <a:rPr lang="en-US" sz="2800" b="1" dirty="0">
                <a:solidFill>
                  <a:srgbClr val="E8EDF5"/>
                </a:solidFill>
                <a:latin typeface="Montserrat" pitchFamily="34" charset="0"/>
                <a:ea typeface="Montserrat" pitchFamily="34" charset="-122"/>
                <a:cs typeface="Montserrat" pitchFamily="34" charset="-120"/>
              </a:rPr>
              <a:t>Resumo do Módulo</a:t>
            </a:r>
            <a:endParaRPr lang="en-US" sz="2800" dirty="0"/>
          </a:p>
        </p:txBody>
      </p:sp>
      <p:sp>
        <p:nvSpPr>
          <p:cNvPr id="6" name="Shape 4"/>
          <p:cNvSpPr/>
          <p:nvPr/>
        </p:nvSpPr>
        <p:spPr>
          <a:xfrm>
            <a:off x="713232" y="1499616"/>
            <a:ext cx="11048695" cy="1371600"/>
          </a:xfrm>
          <a:prstGeom prst="roundRect">
            <a:avLst>
              <a:gd name="adj" fmla="val 6667"/>
            </a:avLst>
          </a:prstGeom>
          <a:solidFill>
            <a:srgbClr val="000000"/>
          </a:solidFill>
          <a:ln/>
        </p:spPr>
      </p:sp>
      <p:sp>
        <p:nvSpPr>
          <p:cNvPr id="7" name="Shape 5"/>
          <p:cNvSpPr/>
          <p:nvPr/>
        </p:nvSpPr>
        <p:spPr>
          <a:xfrm>
            <a:off x="685800" y="1463040"/>
            <a:ext cx="11048695" cy="1371600"/>
          </a:xfrm>
          <a:prstGeom prst="roundRect">
            <a:avLst>
              <a:gd name="adj" fmla="val 6667"/>
            </a:avLst>
          </a:prstGeom>
          <a:solidFill>
            <a:srgbClr val="141E34"/>
          </a:solidFill>
          <a:ln/>
        </p:spPr>
      </p:sp>
      <p:sp>
        <p:nvSpPr>
          <p:cNvPr id="8" name="Shape 6"/>
          <p:cNvSpPr/>
          <p:nvPr/>
        </p:nvSpPr>
        <p:spPr>
          <a:xfrm>
            <a:off x="685800" y="1463040"/>
            <a:ext cx="45720" cy="1371600"/>
          </a:xfrm>
          <a:prstGeom prst="rect">
            <a:avLst>
              <a:gd name="adj" fmla="val 200000"/>
            </a:avLst>
          </a:prstGeom>
          <a:solidFill>
            <a:srgbClr val="6C63FF"/>
          </a:solidFill>
          <a:ln/>
        </p:spPr>
      </p:sp>
      <p:sp>
        <p:nvSpPr>
          <p:cNvPr id="9" name="Shape 7"/>
          <p:cNvSpPr/>
          <p:nvPr/>
        </p:nvSpPr>
        <p:spPr>
          <a:xfrm>
            <a:off x="813816" y="1572768"/>
            <a:ext cx="365760" cy="365760"/>
          </a:xfrm>
          <a:prstGeom prst="roundRect">
            <a:avLst>
              <a:gd name="adj" fmla="val 20000"/>
            </a:avLst>
          </a:prstGeom>
          <a:solidFill>
            <a:srgbClr val="6C63FF"/>
          </a:solidFill>
          <a:ln/>
        </p:spPr>
      </p:sp>
      <p:sp>
        <p:nvSpPr>
          <p:cNvPr id="10" name="Text 8"/>
          <p:cNvSpPr/>
          <p:nvPr/>
        </p:nvSpPr>
        <p:spPr>
          <a:xfrm>
            <a:off x="813816" y="1572768"/>
            <a:ext cx="365760" cy="365760"/>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1</a:t>
            </a:r>
            <a:endParaRPr lang="en-US" sz="1600" dirty="0"/>
          </a:p>
        </p:txBody>
      </p:sp>
      <p:sp>
        <p:nvSpPr>
          <p:cNvPr id="11" name="Text 9"/>
          <p:cNvSpPr/>
          <p:nvPr/>
        </p:nvSpPr>
        <p:spPr>
          <a:xfrm>
            <a:off x="813816" y="1993392"/>
            <a:ext cx="10792663" cy="731520"/>
          </a:xfrm>
          <a:prstGeom prst="rect">
            <a:avLst/>
          </a:prstGeom>
          <a:noFill/>
          <a:ln/>
        </p:spPr>
        <p:txBody>
          <a:bodyPr wrap="square" rtlCol="0" anchor="t"/>
          <a:lstStyle/>
          <a:p>
            <a:pPr indent="0" marL="0">
              <a:lnSpc>
                <a:spcPct val="125000"/>
              </a:lnSpc>
              <a:buNone/>
            </a:pPr>
            <a:r>
              <a:rPr lang="en-US" sz="1700" dirty="0">
                <a:solidFill>
                  <a:srgbClr val="E8EDF5"/>
                </a:solidFill>
                <a:latin typeface="Open Sans" pitchFamily="34" charset="0"/>
                <a:ea typeface="Open Sans" pitchFamily="34" charset="-122"/>
                <a:cs typeface="Open Sans" pitchFamily="34" charset="-120"/>
              </a:rPr>
              <a:t>Este módulo explorou o impacto da IA no futuro do trabalho, destacando a transformação do mercado e o surgimento de novas oportunidades.</a:t>
            </a:r>
            <a:endParaRPr lang="en-US" sz="1700" dirty="0"/>
          </a:p>
        </p:txBody>
      </p:sp>
      <p:sp>
        <p:nvSpPr>
          <p:cNvPr id="12" name="Shape 10"/>
          <p:cNvSpPr/>
          <p:nvPr/>
        </p:nvSpPr>
        <p:spPr>
          <a:xfrm>
            <a:off x="713232" y="2980944"/>
            <a:ext cx="11048695" cy="1371600"/>
          </a:xfrm>
          <a:prstGeom prst="roundRect">
            <a:avLst>
              <a:gd name="adj" fmla="val 6667"/>
            </a:avLst>
          </a:prstGeom>
          <a:solidFill>
            <a:srgbClr val="000000"/>
          </a:solidFill>
          <a:ln/>
        </p:spPr>
      </p:sp>
      <p:sp>
        <p:nvSpPr>
          <p:cNvPr id="13" name="Shape 11"/>
          <p:cNvSpPr/>
          <p:nvPr/>
        </p:nvSpPr>
        <p:spPr>
          <a:xfrm>
            <a:off x="685800" y="2944368"/>
            <a:ext cx="11048695" cy="1371600"/>
          </a:xfrm>
          <a:prstGeom prst="roundRect">
            <a:avLst>
              <a:gd name="adj" fmla="val 6667"/>
            </a:avLst>
          </a:prstGeom>
          <a:solidFill>
            <a:srgbClr val="141E34"/>
          </a:solidFill>
          <a:ln/>
        </p:spPr>
      </p:sp>
      <p:sp>
        <p:nvSpPr>
          <p:cNvPr id="14" name="Shape 12"/>
          <p:cNvSpPr/>
          <p:nvPr/>
        </p:nvSpPr>
        <p:spPr>
          <a:xfrm>
            <a:off x="685800" y="2944368"/>
            <a:ext cx="45720" cy="1371600"/>
          </a:xfrm>
          <a:prstGeom prst="rect">
            <a:avLst>
              <a:gd name="adj" fmla="val 200000"/>
            </a:avLst>
          </a:prstGeom>
          <a:solidFill>
            <a:srgbClr val="3B82F6"/>
          </a:solidFill>
          <a:ln/>
        </p:spPr>
      </p:sp>
      <p:sp>
        <p:nvSpPr>
          <p:cNvPr id="15" name="Shape 13"/>
          <p:cNvSpPr/>
          <p:nvPr/>
        </p:nvSpPr>
        <p:spPr>
          <a:xfrm>
            <a:off x="813816" y="3054096"/>
            <a:ext cx="365760" cy="365760"/>
          </a:xfrm>
          <a:prstGeom prst="roundRect">
            <a:avLst>
              <a:gd name="adj" fmla="val 20000"/>
            </a:avLst>
          </a:prstGeom>
          <a:solidFill>
            <a:srgbClr val="3B82F6"/>
          </a:solidFill>
          <a:ln/>
        </p:spPr>
      </p:sp>
      <p:sp>
        <p:nvSpPr>
          <p:cNvPr id="16" name="Text 14"/>
          <p:cNvSpPr/>
          <p:nvPr/>
        </p:nvSpPr>
        <p:spPr>
          <a:xfrm>
            <a:off x="813816" y="3054096"/>
            <a:ext cx="365760" cy="365760"/>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sp>
        <p:nvSpPr>
          <p:cNvPr id="17" name="Text 15"/>
          <p:cNvSpPr/>
          <p:nvPr/>
        </p:nvSpPr>
        <p:spPr>
          <a:xfrm>
            <a:off x="813816" y="3474720"/>
            <a:ext cx="10792663" cy="731520"/>
          </a:xfrm>
          <a:prstGeom prst="rect">
            <a:avLst/>
          </a:prstGeom>
          <a:noFill/>
          <a:ln/>
        </p:spPr>
        <p:txBody>
          <a:bodyPr wrap="square" rtlCol="0" anchor="t"/>
          <a:lstStyle/>
          <a:p>
            <a:pPr indent="0" marL="0">
              <a:lnSpc>
                <a:spcPct val="125000"/>
              </a:lnSpc>
              <a:buNone/>
            </a:pPr>
            <a:r>
              <a:rPr lang="en-US" sz="1700" dirty="0">
                <a:solidFill>
                  <a:srgbClr val="E8EDF5"/>
                </a:solidFill>
                <a:latin typeface="Open Sans" pitchFamily="34" charset="0"/>
                <a:ea typeface="Open Sans" pitchFamily="34" charset="-122"/>
                <a:cs typeface="Open Sans" pitchFamily="34" charset="-120"/>
              </a:rPr>
              <a:t>Abordamos a importância da colaboração humano-IA e das habilidades essenciais para a nova era.</a:t>
            </a:r>
            <a:endParaRPr lang="en-US" sz="1700" dirty="0"/>
          </a:p>
        </p:txBody>
      </p:sp>
      <p:sp>
        <p:nvSpPr>
          <p:cNvPr id="18" name="Shape 16"/>
          <p:cNvSpPr/>
          <p:nvPr/>
        </p:nvSpPr>
        <p:spPr>
          <a:xfrm>
            <a:off x="713232" y="4462272"/>
            <a:ext cx="11048695" cy="1371600"/>
          </a:xfrm>
          <a:prstGeom prst="roundRect">
            <a:avLst>
              <a:gd name="adj" fmla="val 6667"/>
            </a:avLst>
          </a:prstGeom>
          <a:solidFill>
            <a:srgbClr val="000000"/>
          </a:solidFill>
          <a:ln/>
        </p:spPr>
      </p:sp>
      <p:sp>
        <p:nvSpPr>
          <p:cNvPr id="19" name="Shape 17"/>
          <p:cNvSpPr/>
          <p:nvPr/>
        </p:nvSpPr>
        <p:spPr>
          <a:xfrm>
            <a:off x="685800" y="4425696"/>
            <a:ext cx="11048695" cy="1371600"/>
          </a:xfrm>
          <a:prstGeom prst="roundRect">
            <a:avLst>
              <a:gd name="adj" fmla="val 6667"/>
            </a:avLst>
          </a:prstGeom>
          <a:solidFill>
            <a:srgbClr val="141E34"/>
          </a:solidFill>
          <a:ln/>
        </p:spPr>
      </p:sp>
      <p:sp>
        <p:nvSpPr>
          <p:cNvPr id="20" name="Shape 18"/>
          <p:cNvSpPr/>
          <p:nvPr/>
        </p:nvSpPr>
        <p:spPr>
          <a:xfrm>
            <a:off x="685800" y="4425696"/>
            <a:ext cx="45720" cy="1371600"/>
          </a:xfrm>
          <a:prstGeom prst="rect">
            <a:avLst>
              <a:gd name="adj" fmla="val 200000"/>
            </a:avLst>
          </a:prstGeom>
          <a:solidFill>
            <a:srgbClr val="10B981"/>
          </a:solidFill>
          <a:ln/>
        </p:spPr>
      </p:sp>
      <p:sp>
        <p:nvSpPr>
          <p:cNvPr id="21" name="Shape 19"/>
          <p:cNvSpPr/>
          <p:nvPr/>
        </p:nvSpPr>
        <p:spPr>
          <a:xfrm>
            <a:off x="813816" y="4535424"/>
            <a:ext cx="365760" cy="365760"/>
          </a:xfrm>
          <a:prstGeom prst="roundRect">
            <a:avLst>
              <a:gd name="adj" fmla="val 20000"/>
            </a:avLst>
          </a:prstGeom>
          <a:solidFill>
            <a:srgbClr val="10B981"/>
          </a:solidFill>
          <a:ln/>
        </p:spPr>
      </p:sp>
      <p:sp>
        <p:nvSpPr>
          <p:cNvPr id="22" name="Text 20"/>
          <p:cNvSpPr/>
          <p:nvPr/>
        </p:nvSpPr>
        <p:spPr>
          <a:xfrm>
            <a:off x="813816" y="4535424"/>
            <a:ext cx="365760" cy="365760"/>
          </a:xfrm>
          <a:prstGeom prst="rect">
            <a:avLst/>
          </a:prstGeom>
          <a:noFill/>
          <a:ln/>
        </p:spPr>
        <p:txBody>
          <a:bodyPr wrap="square"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23" name="Text 21"/>
          <p:cNvSpPr/>
          <p:nvPr/>
        </p:nvSpPr>
        <p:spPr>
          <a:xfrm>
            <a:off x="813816" y="4956048"/>
            <a:ext cx="10792663" cy="731520"/>
          </a:xfrm>
          <a:prstGeom prst="rect">
            <a:avLst/>
          </a:prstGeom>
          <a:noFill/>
          <a:ln/>
        </p:spPr>
        <p:txBody>
          <a:bodyPr wrap="square" rtlCol="0" anchor="t"/>
          <a:lstStyle/>
          <a:p>
            <a:pPr indent="0" marL="0">
              <a:lnSpc>
                <a:spcPct val="125000"/>
              </a:lnSpc>
              <a:buNone/>
            </a:pPr>
            <a:r>
              <a:rPr lang="en-US" sz="1700" dirty="0">
                <a:solidFill>
                  <a:srgbClr val="E8EDF5"/>
                </a:solidFill>
                <a:latin typeface="Open Sans" pitchFamily="34" charset="0"/>
                <a:ea typeface="Open Sans" pitchFamily="34" charset="-122"/>
                <a:cs typeface="Open Sans" pitchFamily="34" charset="-120"/>
              </a:rPr>
              <a:t>Discutimos também as considerações éticas cruciais para um uso responsável e justo da inteligência artificial.</a:t>
            </a:r>
            <a:endParaRPr lang="en-US" sz="1700" dirty="0"/>
          </a:p>
        </p:txBody>
      </p:sp>
      <p:sp>
        <p:nvSpPr>
          <p:cNvPr id="24" name="Shape 22"/>
          <p:cNvSpPr/>
          <p:nvPr/>
        </p:nvSpPr>
        <p:spPr>
          <a:xfrm>
            <a:off x="0" y="6601968"/>
            <a:ext cx="2041093" cy="4572"/>
          </a:xfrm>
          <a:prstGeom prst="rect">
            <a:avLst/>
          </a:prstGeom>
          <a:solidFill>
            <a:srgbClr val="6C63FF"/>
          </a:solidFill>
          <a:ln/>
        </p:spPr>
      </p:sp>
      <p:sp>
        <p:nvSpPr>
          <p:cNvPr id="25" name="Shape 23"/>
          <p:cNvSpPr/>
          <p:nvPr/>
        </p:nvSpPr>
        <p:spPr>
          <a:xfrm>
            <a:off x="2031949" y="6601968"/>
            <a:ext cx="2041093" cy="4572"/>
          </a:xfrm>
          <a:prstGeom prst="rect">
            <a:avLst/>
          </a:prstGeom>
          <a:solidFill>
            <a:srgbClr val="6C63FF"/>
          </a:solidFill>
          <a:ln/>
        </p:spPr>
      </p:sp>
      <p:sp>
        <p:nvSpPr>
          <p:cNvPr id="26" name="Shape 24"/>
          <p:cNvSpPr/>
          <p:nvPr/>
        </p:nvSpPr>
        <p:spPr>
          <a:xfrm>
            <a:off x="4063898" y="6601968"/>
            <a:ext cx="2041093" cy="4572"/>
          </a:xfrm>
          <a:prstGeom prst="rect">
            <a:avLst/>
          </a:prstGeom>
          <a:solidFill>
            <a:srgbClr val="6C63FF"/>
          </a:solidFill>
          <a:ln/>
        </p:spPr>
      </p:sp>
      <p:sp>
        <p:nvSpPr>
          <p:cNvPr id="27" name="Shape 25"/>
          <p:cNvSpPr/>
          <p:nvPr/>
        </p:nvSpPr>
        <p:spPr>
          <a:xfrm>
            <a:off x="6095848" y="6601968"/>
            <a:ext cx="2041093" cy="4572"/>
          </a:xfrm>
          <a:prstGeom prst="rect">
            <a:avLst/>
          </a:prstGeom>
          <a:solidFill>
            <a:srgbClr val="6C63FF"/>
          </a:solidFill>
          <a:ln/>
        </p:spPr>
      </p:sp>
      <p:sp>
        <p:nvSpPr>
          <p:cNvPr id="28" name="Shape 26"/>
          <p:cNvSpPr/>
          <p:nvPr/>
        </p:nvSpPr>
        <p:spPr>
          <a:xfrm>
            <a:off x="8127797" y="6601968"/>
            <a:ext cx="2041093" cy="4572"/>
          </a:xfrm>
          <a:prstGeom prst="rect">
            <a:avLst/>
          </a:prstGeom>
          <a:solidFill>
            <a:srgbClr val="6C63FF"/>
          </a:solidFill>
          <a:ln/>
        </p:spPr>
      </p:sp>
      <p:sp>
        <p:nvSpPr>
          <p:cNvPr id="29" name="Shape 27"/>
          <p:cNvSpPr/>
          <p:nvPr/>
        </p:nvSpPr>
        <p:spPr>
          <a:xfrm>
            <a:off x="10159746" y="6601968"/>
            <a:ext cx="2041093" cy="4572"/>
          </a:xfrm>
          <a:prstGeom prst="rect">
            <a:avLst/>
          </a:prstGeom>
          <a:solidFill>
            <a:srgbClr val="6C63FF"/>
          </a:solidFill>
          <a:ln/>
        </p:spPr>
      </p:sp>
      <p:sp>
        <p:nvSpPr>
          <p:cNvPr id="30" name="Shape 28"/>
          <p:cNvSpPr/>
          <p:nvPr/>
        </p:nvSpPr>
        <p:spPr>
          <a:xfrm>
            <a:off x="0" y="6606540"/>
            <a:ext cx="12191695" cy="2743"/>
          </a:xfrm>
          <a:prstGeom prst="rect">
            <a:avLst/>
          </a:prstGeom>
          <a:solidFill>
            <a:srgbClr val="222E48"/>
          </a:solidFill>
          <a:ln/>
        </p:spPr>
      </p:sp>
      <p:sp>
        <p:nvSpPr>
          <p:cNvPr id="31" name="Text 29"/>
          <p:cNvSpPr/>
          <p:nvPr/>
        </p:nvSpPr>
        <p:spPr>
          <a:xfrm>
            <a:off x="10545775" y="6638544"/>
            <a:ext cx="1371600" cy="182880"/>
          </a:xfrm>
          <a:prstGeom prst="rect">
            <a:avLst/>
          </a:prstGeom>
          <a:noFill/>
          <a:ln/>
        </p:spPr>
        <p:txBody>
          <a:bodyPr wrap="square" rtlCol="0" anchor="ctr"/>
          <a:lstStyle/>
          <a:p>
            <a:pPr algn="r" indent="0" marL="0">
              <a:buNone/>
            </a:pPr>
            <a:r>
              <a:rPr lang="en-US" sz="800" b="1" spc="300" kern="0" dirty="0">
                <a:solidFill>
                  <a:srgbClr val="94A3C0"/>
                </a:solidFill>
                <a:latin typeface="Open Sans" pitchFamily="34" charset="0"/>
                <a:ea typeface="Open Sans" pitchFamily="34" charset="-122"/>
                <a:cs typeface="Open Sans" pitchFamily="34" charset="-120"/>
              </a:rPr>
              <a:t>EduGenAI</a:t>
            </a:r>
            <a:endParaRPr lang="en-US" sz="800" dirty="0"/>
          </a:p>
        </p:txBody>
      </p:sp>
      <p:sp>
        <p:nvSpPr>
          <p:cNvPr id="32" name="Shape 30"/>
          <p:cNvSpPr/>
          <p:nvPr/>
        </p:nvSpPr>
        <p:spPr>
          <a:xfrm>
            <a:off x="10436047" y="6693408"/>
            <a:ext cx="73152" cy="73152"/>
          </a:xfrm>
          <a:prstGeom prst="ellipse">
            <a:avLst/>
          </a:prstGeom>
          <a:solidFill>
            <a:srgbClr val="6C63FF"/>
          </a:solidFill>
          <a:ln/>
        </p:spPr>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50A18"/>
        </a:solidFill>
      </p:bgPr>
    </p:bg>
    <p:spTree>
      <p:nvGrpSpPr>
        <p:cNvPr id="1" name=""/>
        <p:cNvGrpSpPr/>
        <p:nvPr/>
      </p:nvGrpSpPr>
      <p:grpSpPr>
        <a:xfrm>
          <a:off x="0" y="0"/>
          <a:ext cx="0" cy="0"/>
          <a:chOff x="0" y="0"/>
          <a:chExt cx="0" cy="0"/>
        </a:xfrm>
      </p:grpSpPr>
      <p:sp>
        <p:nvSpPr>
          <p:cNvPr id="2" name="Shape 0"/>
          <p:cNvSpPr/>
          <p:nvPr/>
        </p:nvSpPr>
        <p:spPr>
          <a:xfrm>
            <a:off x="0" y="36576"/>
            <a:ext cx="12191695" cy="41148"/>
          </a:xfrm>
          <a:prstGeom prst="rect">
            <a:avLst/>
          </a:prstGeom>
          <a:solidFill>
            <a:srgbClr val="06B6D4"/>
          </a:solidFill>
          <a:ln/>
        </p:spPr>
      </p:sp>
      <p:sp>
        <p:nvSpPr>
          <p:cNvPr id="3" name="Text 1"/>
          <p:cNvSpPr/>
          <p:nvPr/>
        </p:nvSpPr>
        <p:spPr>
          <a:xfrm>
            <a:off x="594360" y="256032"/>
            <a:ext cx="5486400" cy="219456"/>
          </a:xfrm>
          <a:prstGeom prst="rect">
            <a:avLst/>
          </a:prstGeom>
          <a:noFill/>
          <a:ln/>
        </p:spPr>
        <p:txBody>
          <a:bodyPr wrap="square" rtlCol="0" anchor="ctr"/>
          <a:lstStyle/>
          <a:p>
            <a:pPr indent="0" marL="0">
              <a:buNone/>
            </a:pPr>
            <a:r>
              <a:rPr lang="en-US" sz="1000" b="1" spc="600" kern="0" dirty="0">
                <a:solidFill>
                  <a:srgbClr val="06B6D4"/>
                </a:solidFill>
                <a:latin typeface="Open Sans" pitchFamily="34" charset="0"/>
                <a:ea typeface="Open Sans" pitchFamily="34" charset="-122"/>
                <a:cs typeface="Open Sans" pitchFamily="34" charset="-120"/>
              </a:rPr>
              <a:t>KEY TAKEAWAYS</a:t>
            </a:r>
            <a:endParaRPr lang="en-US" sz="1000" dirty="0"/>
          </a:p>
        </p:txBody>
      </p:sp>
      <p:sp>
        <p:nvSpPr>
          <p:cNvPr id="4" name="Text 2"/>
          <p:cNvSpPr/>
          <p:nvPr/>
        </p:nvSpPr>
        <p:spPr>
          <a:xfrm>
            <a:off x="594360" y="530352"/>
            <a:ext cx="11002975" cy="640080"/>
          </a:xfrm>
          <a:prstGeom prst="rect">
            <a:avLst/>
          </a:prstGeom>
          <a:noFill/>
          <a:ln/>
        </p:spPr>
        <p:txBody>
          <a:bodyPr wrap="square"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Key Takeaways</a:t>
            </a:r>
            <a:endParaRPr lang="en-US" sz="2800" dirty="0"/>
          </a:p>
        </p:txBody>
      </p:sp>
      <p:sp>
        <p:nvSpPr>
          <p:cNvPr id="5" name="Shape 3"/>
          <p:cNvSpPr/>
          <p:nvPr/>
        </p:nvSpPr>
        <p:spPr>
          <a:xfrm>
            <a:off x="594360" y="1234440"/>
            <a:ext cx="1645920" cy="22860"/>
          </a:xfrm>
          <a:prstGeom prst="rect">
            <a:avLst/>
          </a:prstGeom>
          <a:solidFill>
            <a:srgbClr val="06B6D4"/>
          </a:solidFill>
          <a:ln/>
        </p:spPr>
      </p:sp>
      <p:sp>
        <p:nvSpPr>
          <p:cNvPr id="6" name="Shape 4"/>
          <p:cNvSpPr/>
          <p:nvPr/>
        </p:nvSpPr>
        <p:spPr>
          <a:xfrm>
            <a:off x="612648" y="1536192"/>
            <a:ext cx="3628034" cy="1606296"/>
          </a:xfrm>
          <a:prstGeom prst="roundRect">
            <a:avLst>
              <a:gd name="adj" fmla="val 6831"/>
            </a:avLst>
          </a:prstGeom>
          <a:solidFill>
            <a:srgbClr val="000000"/>
          </a:solidFill>
          <a:ln/>
        </p:spPr>
      </p:sp>
      <p:sp>
        <p:nvSpPr>
          <p:cNvPr id="7" name="Shape 5"/>
          <p:cNvSpPr/>
          <p:nvPr/>
        </p:nvSpPr>
        <p:spPr>
          <a:xfrm>
            <a:off x="594360" y="1508760"/>
            <a:ext cx="3628034" cy="1606296"/>
          </a:xfrm>
          <a:prstGeom prst="roundRect">
            <a:avLst>
              <a:gd name="adj" fmla="val 6831"/>
            </a:avLst>
          </a:prstGeom>
          <a:solidFill>
            <a:srgbClr val="111D38"/>
          </a:solidFill>
          <a:ln/>
        </p:spPr>
      </p:sp>
      <p:sp>
        <p:nvSpPr>
          <p:cNvPr id="8" name="Shape 6"/>
          <p:cNvSpPr/>
          <p:nvPr/>
        </p:nvSpPr>
        <p:spPr>
          <a:xfrm>
            <a:off x="594360" y="1508760"/>
            <a:ext cx="45720" cy="1606296"/>
          </a:xfrm>
          <a:prstGeom prst="rect">
            <a:avLst>
              <a:gd name="adj" fmla="val 240000"/>
            </a:avLst>
          </a:prstGeom>
          <a:solidFill>
            <a:srgbClr val="6C63FF"/>
          </a:solidFill>
          <a:ln/>
        </p:spPr>
      </p:sp>
      <p:sp>
        <p:nvSpPr>
          <p:cNvPr id="9" name="Shape 7"/>
          <p:cNvSpPr/>
          <p:nvPr/>
        </p:nvSpPr>
        <p:spPr>
          <a:xfrm>
            <a:off x="740664" y="1655064"/>
            <a:ext cx="384048" cy="384048"/>
          </a:xfrm>
          <a:prstGeom prst="roundRect">
            <a:avLst>
              <a:gd name="adj" fmla="val 19048"/>
            </a:avLst>
          </a:prstGeom>
          <a:solidFill>
            <a:srgbClr val="6C63FF"/>
          </a:solidFill>
          <a:ln/>
        </p:spPr>
      </p:sp>
      <p:sp>
        <p:nvSpPr>
          <p:cNvPr id="10" name="Text 8"/>
          <p:cNvSpPr/>
          <p:nvPr/>
        </p:nvSpPr>
        <p:spPr>
          <a:xfrm>
            <a:off x="740664" y="1655064"/>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1</a:t>
            </a:r>
            <a:endParaRPr lang="en-US" sz="1800" dirty="0"/>
          </a:p>
        </p:txBody>
      </p:sp>
      <p:sp>
        <p:nvSpPr>
          <p:cNvPr id="11" name="Text 9"/>
          <p:cNvSpPr/>
          <p:nvPr/>
        </p:nvSpPr>
        <p:spPr>
          <a:xfrm>
            <a:off x="740664" y="2130552"/>
            <a:ext cx="3335426" cy="856488"/>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A Inteligência Artificial transformará o mercado de trabalho, criando novas oportunidades e exigindo novas habilidades.</a:t>
            </a:r>
            <a:endParaRPr lang="en-US" sz="1400" dirty="0"/>
          </a:p>
        </p:txBody>
      </p:sp>
      <p:sp>
        <p:nvSpPr>
          <p:cNvPr id="12" name="Shape 10"/>
          <p:cNvSpPr/>
          <p:nvPr/>
        </p:nvSpPr>
        <p:spPr>
          <a:xfrm>
            <a:off x="4368698" y="1536192"/>
            <a:ext cx="3628034" cy="1606296"/>
          </a:xfrm>
          <a:prstGeom prst="roundRect">
            <a:avLst>
              <a:gd name="adj" fmla="val 6831"/>
            </a:avLst>
          </a:prstGeom>
          <a:solidFill>
            <a:srgbClr val="000000"/>
          </a:solidFill>
          <a:ln/>
        </p:spPr>
      </p:sp>
      <p:sp>
        <p:nvSpPr>
          <p:cNvPr id="13" name="Shape 11"/>
          <p:cNvSpPr/>
          <p:nvPr/>
        </p:nvSpPr>
        <p:spPr>
          <a:xfrm>
            <a:off x="4350410" y="1508760"/>
            <a:ext cx="3628034" cy="1606296"/>
          </a:xfrm>
          <a:prstGeom prst="roundRect">
            <a:avLst>
              <a:gd name="adj" fmla="val 6831"/>
            </a:avLst>
          </a:prstGeom>
          <a:solidFill>
            <a:srgbClr val="111D38"/>
          </a:solidFill>
          <a:ln/>
        </p:spPr>
      </p:sp>
      <p:sp>
        <p:nvSpPr>
          <p:cNvPr id="14" name="Shape 12"/>
          <p:cNvSpPr/>
          <p:nvPr/>
        </p:nvSpPr>
        <p:spPr>
          <a:xfrm>
            <a:off x="4350410" y="1508760"/>
            <a:ext cx="45720" cy="1606296"/>
          </a:xfrm>
          <a:prstGeom prst="rect">
            <a:avLst>
              <a:gd name="adj" fmla="val 240000"/>
            </a:avLst>
          </a:prstGeom>
          <a:solidFill>
            <a:srgbClr val="3B82F6"/>
          </a:solidFill>
          <a:ln/>
        </p:spPr>
      </p:sp>
      <p:sp>
        <p:nvSpPr>
          <p:cNvPr id="15" name="Shape 13"/>
          <p:cNvSpPr/>
          <p:nvPr/>
        </p:nvSpPr>
        <p:spPr>
          <a:xfrm>
            <a:off x="4496714" y="1655064"/>
            <a:ext cx="384048" cy="384048"/>
          </a:xfrm>
          <a:prstGeom prst="roundRect">
            <a:avLst>
              <a:gd name="adj" fmla="val 19048"/>
            </a:avLst>
          </a:prstGeom>
          <a:solidFill>
            <a:srgbClr val="3B82F6"/>
          </a:solidFill>
          <a:ln/>
        </p:spPr>
      </p:sp>
      <p:sp>
        <p:nvSpPr>
          <p:cNvPr id="16" name="Text 14"/>
          <p:cNvSpPr/>
          <p:nvPr/>
        </p:nvSpPr>
        <p:spPr>
          <a:xfrm>
            <a:off x="4496714" y="1655064"/>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2</a:t>
            </a:r>
            <a:endParaRPr lang="en-US" sz="1800" dirty="0"/>
          </a:p>
        </p:txBody>
      </p:sp>
      <p:sp>
        <p:nvSpPr>
          <p:cNvPr id="17" name="Text 15"/>
          <p:cNvSpPr/>
          <p:nvPr/>
        </p:nvSpPr>
        <p:spPr>
          <a:xfrm>
            <a:off x="4496714" y="2130552"/>
            <a:ext cx="3335426" cy="856488"/>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A colaboração humano-IA é um modelo poderoso que combina a eficiência da máquina com a criatividade humana.</a:t>
            </a:r>
            <a:endParaRPr lang="en-US" sz="1400" dirty="0"/>
          </a:p>
        </p:txBody>
      </p:sp>
      <p:sp>
        <p:nvSpPr>
          <p:cNvPr id="18" name="Shape 16"/>
          <p:cNvSpPr/>
          <p:nvPr/>
        </p:nvSpPr>
        <p:spPr>
          <a:xfrm>
            <a:off x="8124749" y="1536192"/>
            <a:ext cx="3628034" cy="1606296"/>
          </a:xfrm>
          <a:prstGeom prst="roundRect">
            <a:avLst>
              <a:gd name="adj" fmla="val 6831"/>
            </a:avLst>
          </a:prstGeom>
          <a:solidFill>
            <a:srgbClr val="000000"/>
          </a:solidFill>
          <a:ln/>
        </p:spPr>
      </p:sp>
      <p:sp>
        <p:nvSpPr>
          <p:cNvPr id="19" name="Shape 17"/>
          <p:cNvSpPr/>
          <p:nvPr/>
        </p:nvSpPr>
        <p:spPr>
          <a:xfrm>
            <a:off x="8106461" y="1508760"/>
            <a:ext cx="3628034" cy="1606296"/>
          </a:xfrm>
          <a:prstGeom prst="roundRect">
            <a:avLst>
              <a:gd name="adj" fmla="val 6831"/>
            </a:avLst>
          </a:prstGeom>
          <a:solidFill>
            <a:srgbClr val="111D38"/>
          </a:solidFill>
          <a:ln/>
        </p:spPr>
      </p:sp>
      <p:sp>
        <p:nvSpPr>
          <p:cNvPr id="20" name="Shape 18"/>
          <p:cNvSpPr/>
          <p:nvPr/>
        </p:nvSpPr>
        <p:spPr>
          <a:xfrm>
            <a:off x="8106461" y="1508760"/>
            <a:ext cx="45720" cy="1606296"/>
          </a:xfrm>
          <a:prstGeom prst="rect">
            <a:avLst>
              <a:gd name="adj" fmla="val 240000"/>
            </a:avLst>
          </a:prstGeom>
          <a:solidFill>
            <a:srgbClr val="10B981"/>
          </a:solidFill>
          <a:ln/>
        </p:spPr>
      </p:sp>
      <p:sp>
        <p:nvSpPr>
          <p:cNvPr id="21" name="Shape 19"/>
          <p:cNvSpPr/>
          <p:nvPr/>
        </p:nvSpPr>
        <p:spPr>
          <a:xfrm>
            <a:off x="8252765" y="1655064"/>
            <a:ext cx="384048" cy="384048"/>
          </a:xfrm>
          <a:prstGeom prst="roundRect">
            <a:avLst>
              <a:gd name="adj" fmla="val 19048"/>
            </a:avLst>
          </a:prstGeom>
          <a:solidFill>
            <a:srgbClr val="10B981"/>
          </a:solidFill>
          <a:ln/>
        </p:spPr>
      </p:sp>
      <p:sp>
        <p:nvSpPr>
          <p:cNvPr id="22" name="Text 20"/>
          <p:cNvSpPr/>
          <p:nvPr/>
        </p:nvSpPr>
        <p:spPr>
          <a:xfrm>
            <a:off x="8252765" y="1655064"/>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3</a:t>
            </a:r>
            <a:endParaRPr lang="en-US" sz="1800" dirty="0"/>
          </a:p>
        </p:txBody>
      </p:sp>
      <p:sp>
        <p:nvSpPr>
          <p:cNvPr id="23" name="Text 21"/>
          <p:cNvSpPr/>
          <p:nvPr/>
        </p:nvSpPr>
        <p:spPr>
          <a:xfrm>
            <a:off x="8252765" y="2130552"/>
            <a:ext cx="3335426" cy="856488"/>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Novas funções e carreiras surgirão em resposta aos avanços da IA, exigindo adaptabilidade constante.</a:t>
            </a:r>
            <a:endParaRPr lang="en-US" sz="1400" dirty="0"/>
          </a:p>
        </p:txBody>
      </p:sp>
      <p:sp>
        <p:nvSpPr>
          <p:cNvPr id="24" name="Shape 22"/>
          <p:cNvSpPr/>
          <p:nvPr/>
        </p:nvSpPr>
        <p:spPr>
          <a:xfrm>
            <a:off x="612648" y="3270504"/>
            <a:ext cx="3628034" cy="1606296"/>
          </a:xfrm>
          <a:prstGeom prst="roundRect">
            <a:avLst>
              <a:gd name="adj" fmla="val 6831"/>
            </a:avLst>
          </a:prstGeom>
          <a:solidFill>
            <a:srgbClr val="000000"/>
          </a:solidFill>
          <a:ln/>
        </p:spPr>
      </p:sp>
      <p:sp>
        <p:nvSpPr>
          <p:cNvPr id="25" name="Shape 23"/>
          <p:cNvSpPr/>
          <p:nvPr/>
        </p:nvSpPr>
        <p:spPr>
          <a:xfrm>
            <a:off x="594360" y="3243072"/>
            <a:ext cx="3628034" cy="1606296"/>
          </a:xfrm>
          <a:prstGeom prst="roundRect">
            <a:avLst>
              <a:gd name="adj" fmla="val 6831"/>
            </a:avLst>
          </a:prstGeom>
          <a:solidFill>
            <a:srgbClr val="111D38"/>
          </a:solidFill>
          <a:ln/>
        </p:spPr>
      </p:sp>
      <p:sp>
        <p:nvSpPr>
          <p:cNvPr id="26" name="Shape 24"/>
          <p:cNvSpPr/>
          <p:nvPr/>
        </p:nvSpPr>
        <p:spPr>
          <a:xfrm>
            <a:off x="594360" y="3243072"/>
            <a:ext cx="45720" cy="1606296"/>
          </a:xfrm>
          <a:prstGeom prst="rect">
            <a:avLst>
              <a:gd name="adj" fmla="val 240000"/>
            </a:avLst>
          </a:prstGeom>
          <a:solidFill>
            <a:srgbClr val="F59E0B"/>
          </a:solidFill>
          <a:ln/>
        </p:spPr>
      </p:sp>
      <p:sp>
        <p:nvSpPr>
          <p:cNvPr id="27" name="Shape 25"/>
          <p:cNvSpPr/>
          <p:nvPr/>
        </p:nvSpPr>
        <p:spPr>
          <a:xfrm>
            <a:off x="740664" y="3389376"/>
            <a:ext cx="384048" cy="384048"/>
          </a:xfrm>
          <a:prstGeom prst="roundRect">
            <a:avLst>
              <a:gd name="adj" fmla="val 19048"/>
            </a:avLst>
          </a:prstGeom>
          <a:solidFill>
            <a:srgbClr val="F59E0B"/>
          </a:solidFill>
          <a:ln/>
        </p:spPr>
      </p:sp>
      <p:sp>
        <p:nvSpPr>
          <p:cNvPr id="28" name="Text 26"/>
          <p:cNvSpPr/>
          <p:nvPr/>
        </p:nvSpPr>
        <p:spPr>
          <a:xfrm>
            <a:off x="740664" y="3389376"/>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4</a:t>
            </a:r>
            <a:endParaRPr lang="en-US" sz="1800" dirty="0"/>
          </a:p>
        </p:txBody>
      </p:sp>
      <p:sp>
        <p:nvSpPr>
          <p:cNvPr id="29" name="Text 27"/>
          <p:cNvSpPr/>
          <p:nvPr/>
        </p:nvSpPr>
        <p:spPr>
          <a:xfrm>
            <a:off x="740664" y="3864864"/>
            <a:ext cx="3335426" cy="856488"/>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Habilidades como pensamento crítico, criatividade e inteligência emocional serão cruciais para o sucesso profissional.</a:t>
            </a:r>
            <a:endParaRPr lang="en-US" sz="1400" dirty="0"/>
          </a:p>
        </p:txBody>
      </p:sp>
      <p:sp>
        <p:nvSpPr>
          <p:cNvPr id="30" name="Shape 28"/>
          <p:cNvSpPr/>
          <p:nvPr/>
        </p:nvSpPr>
        <p:spPr>
          <a:xfrm>
            <a:off x="4368698" y="3270504"/>
            <a:ext cx="3628034" cy="1606296"/>
          </a:xfrm>
          <a:prstGeom prst="roundRect">
            <a:avLst>
              <a:gd name="adj" fmla="val 6831"/>
            </a:avLst>
          </a:prstGeom>
          <a:solidFill>
            <a:srgbClr val="000000"/>
          </a:solidFill>
          <a:ln/>
        </p:spPr>
      </p:sp>
      <p:sp>
        <p:nvSpPr>
          <p:cNvPr id="31" name="Shape 29"/>
          <p:cNvSpPr/>
          <p:nvPr/>
        </p:nvSpPr>
        <p:spPr>
          <a:xfrm>
            <a:off x="4350410" y="3243072"/>
            <a:ext cx="3628034" cy="1606296"/>
          </a:xfrm>
          <a:prstGeom prst="roundRect">
            <a:avLst>
              <a:gd name="adj" fmla="val 6831"/>
            </a:avLst>
          </a:prstGeom>
          <a:solidFill>
            <a:srgbClr val="111D38"/>
          </a:solidFill>
          <a:ln/>
        </p:spPr>
      </p:sp>
      <p:sp>
        <p:nvSpPr>
          <p:cNvPr id="32" name="Shape 30"/>
          <p:cNvSpPr/>
          <p:nvPr/>
        </p:nvSpPr>
        <p:spPr>
          <a:xfrm>
            <a:off x="4350410" y="3243072"/>
            <a:ext cx="45720" cy="1606296"/>
          </a:xfrm>
          <a:prstGeom prst="rect">
            <a:avLst>
              <a:gd name="adj" fmla="val 240000"/>
            </a:avLst>
          </a:prstGeom>
          <a:solidFill>
            <a:srgbClr val="06B6D4"/>
          </a:solidFill>
          <a:ln/>
        </p:spPr>
      </p:sp>
      <p:sp>
        <p:nvSpPr>
          <p:cNvPr id="33" name="Shape 31"/>
          <p:cNvSpPr/>
          <p:nvPr/>
        </p:nvSpPr>
        <p:spPr>
          <a:xfrm>
            <a:off x="4496714" y="3389376"/>
            <a:ext cx="384048" cy="384048"/>
          </a:xfrm>
          <a:prstGeom prst="roundRect">
            <a:avLst>
              <a:gd name="adj" fmla="val 19048"/>
            </a:avLst>
          </a:prstGeom>
          <a:solidFill>
            <a:srgbClr val="06B6D4"/>
          </a:solidFill>
          <a:ln/>
        </p:spPr>
      </p:sp>
      <p:sp>
        <p:nvSpPr>
          <p:cNvPr id="34" name="Text 32"/>
          <p:cNvSpPr/>
          <p:nvPr/>
        </p:nvSpPr>
        <p:spPr>
          <a:xfrm>
            <a:off x="4496714" y="3389376"/>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5</a:t>
            </a:r>
            <a:endParaRPr lang="en-US" sz="1800" dirty="0"/>
          </a:p>
        </p:txBody>
      </p:sp>
      <p:sp>
        <p:nvSpPr>
          <p:cNvPr id="35" name="Text 33"/>
          <p:cNvSpPr/>
          <p:nvPr/>
        </p:nvSpPr>
        <p:spPr>
          <a:xfrm>
            <a:off x="4496714" y="3864864"/>
            <a:ext cx="3335426" cy="856488"/>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A discussão ética sobre viés, privacidade e responsabilidade é fundamental para um uso justo da IA.</a:t>
            </a:r>
            <a:endParaRPr lang="en-US" sz="1400" dirty="0"/>
          </a:p>
        </p:txBody>
      </p:sp>
      <p:sp>
        <p:nvSpPr>
          <p:cNvPr id="36" name="Shape 34"/>
          <p:cNvSpPr/>
          <p:nvPr/>
        </p:nvSpPr>
        <p:spPr>
          <a:xfrm>
            <a:off x="8124749" y="3270504"/>
            <a:ext cx="3628034" cy="1606296"/>
          </a:xfrm>
          <a:prstGeom prst="roundRect">
            <a:avLst>
              <a:gd name="adj" fmla="val 6831"/>
            </a:avLst>
          </a:prstGeom>
          <a:solidFill>
            <a:srgbClr val="000000"/>
          </a:solidFill>
          <a:ln/>
        </p:spPr>
      </p:sp>
      <p:sp>
        <p:nvSpPr>
          <p:cNvPr id="37" name="Shape 35"/>
          <p:cNvSpPr/>
          <p:nvPr/>
        </p:nvSpPr>
        <p:spPr>
          <a:xfrm>
            <a:off x="8106461" y="3243072"/>
            <a:ext cx="3628034" cy="1606296"/>
          </a:xfrm>
          <a:prstGeom prst="roundRect">
            <a:avLst>
              <a:gd name="adj" fmla="val 6831"/>
            </a:avLst>
          </a:prstGeom>
          <a:solidFill>
            <a:srgbClr val="111D38"/>
          </a:solidFill>
          <a:ln/>
        </p:spPr>
      </p:sp>
      <p:sp>
        <p:nvSpPr>
          <p:cNvPr id="38" name="Shape 36"/>
          <p:cNvSpPr/>
          <p:nvPr/>
        </p:nvSpPr>
        <p:spPr>
          <a:xfrm>
            <a:off x="8106461" y="3243072"/>
            <a:ext cx="45720" cy="1606296"/>
          </a:xfrm>
          <a:prstGeom prst="rect">
            <a:avLst>
              <a:gd name="adj" fmla="val 240000"/>
            </a:avLst>
          </a:prstGeom>
          <a:solidFill>
            <a:srgbClr val="6C63FF"/>
          </a:solidFill>
          <a:ln/>
        </p:spPr>
      </p:sp>
      <p:sp>
        <p:nvSpPr>
          <p:cNvPr id="39" name="Shape 37"/>
          <p:cNvSpPr/>
          <p:nvPr/>
        </p:nvSpPr>
        <p:spPr>
          <a:xfrm>
            <a:off x="8252765" y="3389376"/>
            <a:ext cx="384048" cy="384048"/>
          </a:xfrm>
          <a:prstGeom prst="roundRect">
            <a:avLst>
              <a:gd name="adj" fmla="val 19048"/>
            </a:avLst>
          </a:prstGeom>
          <a:solidFill>
            <a:srgbClr val="6C63FF"/>
          </a:solidFill>
          <a:ln/>
        </p:spPr>
      </p:sp>
      <p:sp>
        <p:nvSpPr>
          <p:cNvPr id="40" name="Text 38"/>
          <p:cNvSpPr/>
          <p:nvPr/>
        </p:nvSpPr>
        <p:spPr>
          <a:xfrm>
            <a:off x="8252765" y="3389376"/>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6</a:t>
            </a:r>
            <a:endParaRPr lang="en-US" sz="1800" dirty="0"/>
          </a:p>
        </p:txBody>
      </p:sp>
      <p:sp>
        <p:nvSpPr>
          <p:cNvPr id="41" name="Text 39"/>
          <p:cNvSpPr/>
          <p:nvPr/>
        </p:nvSpPr>
        <p:spPr>
          <a:xfrm>
            <a:off x="8252765" y="3864864"/>
            <a:ext cx="3335426" cy="856488"/>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Profissionais não técnicos devem focar no desenvolvimento de habilidades interpessoais e na alfabetização em IA para se preparar.</a:t>
            </a:r>
            <a:endParaRPr lang="en-US" sz="1400" dirty="0"/>
          </a:p>
        </p:txBody>
      </p:sp>
      <p:sp>
        <p:nvSpPr>
          <p:cNvPr id="42" name="Shape 40"/>
          <p:cNvSpPr/>
          <p:nvPr/>
        </p:nvSpPr>
        <p:spPr>
          <a:xfrm>
            <a:off x="612648" y="5004816"/>
            <a:ext cx="3628034" cy="1606296"/>
          </a:xfrm>
          <a:prstGeom prst="roundRect">
            <a:avLst>
              <a:gd name="adj" fmla="val 6831"/>
            </a:avLst>
          </a:prstGeom>
          <a:solidFill>
            <a:srgbClr val="000000"/>
          </a:solidFill>
          <a:ln/>
        </p:spPr>
      </p:sp>
      <p:sp>
        <p:nvSpPr>
          <p:cNvPr id="43" name="Shape 41"/>
          <p:cNvSpPr/>
          <p:nvPr/>
        </p:nvSpPr>
        <p:spPr>
          <a:xfrm>
            <a:off x="594360" y="4977384"/>
            <a:ext cx="3628034" cy="1606296"/>
          </a:xfrm>
          <a:prstGeom prst="roundRect">
            <a:avLst>
              <a:gd name="adj" fmla="val 6831"/>
            </a:avLst>
          </a:prstGeom>
          <a:solidFill>
            <a:srgbClr val="111D38"/>
          </a:solidFill>
          <a:ln/>
        </p:spPr>
      </p:sp>
      <p:sp>
        <p:nvSpPr>
          <p:cNvPr id="44" name="Shape 42"/>
          <p:cNvSpPr/>
          <p:nvPr/>
        </p:nvSpPr>
        <p:spPr>
          <a:xfrm>
            <a:off x="594360" y="4977384"/>
            <a:ext cx="45720" cy="1606296"/>
          </a:xfrm>
          <a:prstGeom prst="rect">
            <a:avLst>
              <a:gd name="adj" fmla="val 240000"/>
            </a:avLst>
          </a:prstGeom>
          <a:solidFill>
            <a:srgbClr val="3B82F6"/>
          </a:solidFill>
          <a:ln/>
        </p:spPr>
      </p:sp>
      <p:sp>
        <p:nvSpPr>
          <p:cNvPr id="45" name="Shape 43"/>
          <p:cNvSpPr/>
          <p:nvPr/>
        </p:nvSpPr>
        <p:spPr>
          <a:xfrm>
            <a:off x="740664" y="5123688"/>
            <a:ext cx="384048" cy="384048"/>
          </a:xfrm>
          <a:prstGeom prst="roundRect">
            <a:avLst>
              <a:gd name="adj" fmla="val 19048"/>
            </a:avLst>
          </a:prstGeom>
          <a:solidFill>
            <a:srgbClr val="3B82F6"/>
          </a:solidFill>
          <a:ln/>
        </p:spPr>
      </p:sp>
      <p:sp>
        <p:nvSpPr>
          <p:cNvPr id="46" name="Text 44"/>
          <p:cNvSpPr/>
          <p:nvPr/>
        </p:nvSpPr>
        <p:spPr>
          <a:xfrm>
            <a:off x="740664" y="5123688"/>
            <a:ext cx="384048" cy="384048"/>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7</a:t>
            </a:r>
            <a:endParaRPr lang="en-US" sz="1800" dirty="0"/>
          </a:p>
        </p:txBody>
      </p:sp>
      <p:sp>
        <p:nvSpPr>
          <p:cNvPr id="47" name="Text 45"/>
          <p:cNvSpPr/>
          <p:nvPr/>
        </p:nvSpPr>
        <p:spPr>
          <a:xfrm>
            <a:off x="740664" y="5599176"/>
            <a:ext cx="3335426" cy="856488"/>
          </a:xfrm>
          <a:prstGeom prst="rect">
            <a:avLst/>
          </a:prstGeom>
          <a:noFill/>
          <a:ln/>
        </p:spPr>
        <p:txBody>
          <a:bodyPr wrap="square" rtlCol="0" anchor="t"/>
          <a:lstStyle/>
          <a:p>
            <a:pPr indent="0" marL="0">
              <a:lnSpc>
                <a:spcPct val="130000"/>
              </a:lnSpc>
              <a:buNone/>
            </a:pPr>
            <a:r>
              <a:rPr lang="en-US" sz="1400" dirty="0">
                <a:solidFill>
                  <a:srgbClr val="94A3C0"/>
                </a:solidFill>
                <a:latin typeface="Open Sans" pitchFamily="34" charset="0"/>
                <a:ea typeface="Open Sans" pitchFamily="34" charset="-122"/>
                <a:cs typeface="Open Sans" pitchFamily="34" charset="-120"/>
              </a:rPr>
              <a:t>A aprendizagem contínua e a experimentação são estratégias-chave para prosperar no futuro do trabalho.</a:t>
            </a:r>
            <a:endParaRPr lang="en-US" sz="1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A18"/>
          </a:solidFill>
          <a:ln/>
        </p:spPr>
      </p:sp>
      <p:sp>
        <p:nvSpPr>
          <p:cNvPr id="3" name="Shape 1"/>
          <p:cNvSpPr/>
          <p:nvPr/>
        </p:nvSpPr>
        <p:spPr>
          <a:xfrm>
            <a:off x="0" y="0"/>
            <a:ext cx="7315017" cy="6858000"/>
          </a:xfrm>
          <a:prstGeom prst="rect">
            <a:avLst/>
          </a:prstGeom>
          <a:solidFill>
            <a:srgbClr val="050A18"/>
          </a:solidFill>
          <a:ln/>
        </p:spPr>
      </p:sp>
      <p:sp>
        <p:nvSpPr>
          <p:cNvPr id="4" name="Shape 2"/>
          <p:cNvSpPr/>
          <p:nvPr/>
        </p:nvSpPr>
        <p:spPr>
          <a:xfrm>
            <a:off x="5486263" y="0"/>
            <a:ext cx="7315017" cy="1152144"/>
          </a:xfrm>
          <a:prstGeom prst="rect">
            <a:avLst/>
          </a:prstGeom>
          <a:solidFill>
            <a:srgbClr val="6C63FF"/>
          </a:solidFill>
          <a:ln/>
        </p:spPr>
      </p:sp>
      <p:sp>
        <p:nvSpPr>
          <p:cNvPr id="5" name="Shape 3"/>
          <p:cNvSpPr/>
          <p:nvPr/>
        </p:nvSpPr>
        <p:spPr>
          <a:xfrm>
            <a:off x="5486263" y="1143000"/>
            <a:ext cx="7315017" cy="1152144"/>
          </a:xfrm>
          <a:prstGeom prst="rect">
            <a:avLst/>
          </a:prstGeom>
          <a:solidFill>
            <a:srgbClr val="6C63FF"/>
          </a:solidFill>
          <a:ln/>
        </p:spPr>
      </p:sp>
      <p:sp>
        <p:nvSpPr>
          <p:cNvPr id="6" name="Shape 4"/>
          <p:cNvSpPr/>
          <p:nvPr/>
        </p:nvSpPr>
        <p:spPr>
          <a:xfrm>
            <a:off x="5486263" y="2286000"/>
            <a:ext cx="7315017" cy="1152144"/>
          </a:xfrm>
          <a:prstGeom prst="rect">
            <a:avLst/>
          </a:prstGeom>
          <a:solidFill>
            <a:srgbClr val="6C63FF"/>
          </a:solidFill>
          <a:ln/>
        </p:spPr>
      </p:sp>
      <p:sp>
        <p:nvSpPr>
          <p:cNvPr id="7" name="Shape 5"/>
          <p:cNvSpPr/>
          <p:nvPr/>
        </p:nvSpPr>
        <p:spPr>
          <a:xfrm>
            <a:off x="5486263" y="3429000"/>
            <a:ext cx="7315017" cy="1152144"/>
          </a:xfrm>
          <a:prstGeom prst="rect">
            <a:avLst/>
          </a:prstGeom>
          <a:solidFill>
            <a:srgbClr val="6C63FF"/>
          </a:solidFill>
          <a:ln/>
        </p:spPr>
      </p:sp>
      <p:sp>
        <p:nvSpPr>
          <p:cNvPr id="8" name="Shape 6"/>
          <p:cNvSpPr/>
          <p:nvPr/>
        </p:nvSpPr>
        <p:spPr>
          <a:xfrm>
            <a:off x="5486263" y="4572000"/>
            <a:ext cx="7315017" cy="1152144"/>
          </a:xfrm>
          <a:prstGeom prst="rect">
            <a:avLst/>
          </a:prstGeom>
          <a:solidFill>
            <a:srgbClr val="6C63FF"/>
          </a:solidFill>
          <a:ln/>
        </p:spPr>
      </p:sp>
      <p:sp>
        <p:nvSpPr>
          <p:cNvPr id="9" name="Shape 7"/>
          <p:cNvSpPr/>
          <p:nvPr/>
        </p:nvSpPr>
        <p:spPr>
          <a:xfrm>
            <a:off x="5486263" y="5715000"/>
            <a:ext cx="7315017" cy="1152144"/>
          </a:xfrm>
          <a:prstGeom prst="rect">
            <a:avLst/>
          </a:prstGeom>
          <a:solidFill>
            <a:srgbClr val="6C63FF"/>
          </a:solidFill>
          <a:ln/>
        </p:spPr>
      </p:sp>
      <p:sp>
        <p:nvSpPr>
          <p:cNvPr id="10" name="Shape 8"/>
          <p:cNvSpPr/>
          <p:nvPr/>
        </p:nvSpPr>
        <p:spPr>
          <a:xfrm>
            <a:off x="8534095" y="-1097280"/>
            <a:ext cx="4572000" cy="4572000"/>
          </a:xfrm>
          <a:prstGeom prst="ellipse">
            <a:avLst/>
          </a:prstGeom>
          <a:solidFill>
            <a:srgbClr val="3B82F6"/>
          </a:solidFill>
          <a:ln/>
        </p:spPr>
      </p:sp>
      <p:sp>
        <p:nvSpPr>
          <p:cNvPr id="11" name="Shape 9"/>
          <p:cNvSpPr/>
          <p:nvPr/>
        </p:nvSpPr>
        <p:spPr>
          <a:xfrm>
            <a:off x="731520" y="822960"/>
            <a:ext cx="45720" cy="3474720"/>
          </a:xfrm>
          <a:prstGeom prst="rect">
            <a:avLst/>
          </a:prstGeom>
          <a:solidFill>
            <a:srgbClr val="6C63FF"/>
          </a:solidFill>
          <a:ln/>
        </p:spPr>
      </p:sp>
      <p:sp>
        <p:nvSpPr>
          <p:cNvPr id="12" name="Shape 10"/>
          <p:cNvSpPr/>
          <p:nvPr/>
        </p:nvSpPr>
        <p:spPr>
          <a:xfrm>
            <a:off x="804672" y="822960"/>
            <a:ext cx="13716" cy="3474720"/>
          </a:xfrm>
          <a:prstGeom prst="rect">
            <a:avLst/>
          </a:prstGeom>
          <a:solidFill>
            <a:srgbClr val="6C63FF"/>
          </a:solidFill>
          <a:ln/>
        </p:spPr>
      </p:sp>
      <p:sp>
        <p:nvSpPr>
          <p:cNvPr id="13" name="Shape 11"/>
          <p:cNvSpPr/>
          <p:nvPr/>
        </p:nvSpPr>
        <p:spPr>
          <a:xfrm>
            <a:off x="1097280" y="1188720"/>
            <a:ext cx="2743200" cy="13716"/>
          </a:xfrm>
          <a:prstGeom prst="rect">
            <a:avLst/>
          </a:prstGeom>
          <a:solidFill>
            <a:srgbClr val="6C63FF"/>
          </a:solidFill>
          <a:ln/>
        </p:spPr>
      </p:sp>
      <p:sp>
        <p:nvSpPr>
          <p:cNvPr id="14" name="Shape 12"/>
          <p:cNvSpPr/>
          <p:nvPr/>
        </p:nvSpPr>
        <p:spPr>
          <a:xfrm>
            <a:off x="256032" y="1005840"/>
            <a:ext cx="274320" cy="146304"/>
          </a:xfrm>
          <a:prstGeom prst="roundRect">
            <a:avLst>
              <a:gd name="adj" fmla="val 25000"/>
            </a:avLst>
          </a:prstGeom>
          <a:solidFill>
            <a:srgbClr val="6C63FF"/>
          </a:solidFill>
          <a:ln/>
        </p:spPr>
      </p:sp>
      <p:sp>
        <p:nvSpPr>
          <p:cNvPr id="15" name="Shape 13"/>
          <p:cNvSpPr/>
          <p:nvPr/>
        </p:nvSpPr>
        <p:spPr>
          <a:xfrm>
            <a:off x="256032" y="1261872"/>
            <a:ext cx="274320" cy="146304"/>
          </a:xfrm>
          <a:prstGeom prst="roundRect">
            <a:avLst>
              <a:gd name="adj" fmla="val 25000"/>
            </a:avLst>
          </a:prstGeom>
          <a:solidFill>
            <a:srgbClr val="3B82F6"/>
          </a:solidFill>
          <a:ln/>
        </p:spPr>
      </p:sp>
      <p:sp>
        <p:nvSpPr>
          <p:cNvPr id="16" name="Shape 14"/>
          <p:cNvSpPr/>
          <p:nvPr/>
        </p:nvSpPr>
        <p:spPr>
          <a:xfrm>
            <a:off x="256032" y="1517904"/>
            <a:ext cx="274320" cy="146304"/>
          </a:xfrm>
          <a:prstGeom prst="roundRect">
            <a:avLst>
              <a:gd name="adj" fmla="val 25000"/>
            </a:avLst>
          </a:prstGeom>
          <a:solidFill>
            <a:srgbClr val="10B981"/>
          </a:solidFill>
          <a:ln/>
        </p:spPr>
      </p:sp>
      <p:sp>
        <p:nvSpPr>
          <p:cNvPr id="17" name="Shape 15"/>
          <p:cNvSpPr/>
          <p:nvPr/>
        </p:nvSpPr>
        <p:spPr>
          <a:xfrm>
            <a:off x="256032" y="1773936"/>
            <a:ext cx="274320" cy="146304"/>
          </a:xfrm>
          <a:prstGeom prst="roundRect">
            <a:avLst>
              <a:gd name="adj" fmla="val 25000"/>
            </a:avLst>
          </a:prstGeom>
          <a:solidFill>
            <a:srgbClr val="F59E0B"/>
          </a:solidFill>
          <a:ln/>
        </p:spPr>
      </p:sp>
      <p:sp>
        <p:nvSpPr>
          <p:cNvPr id="18" name="Shape 16"/>
          <p:cNvSpPr/>
          <p:nvPr/>
        </p:nvSpPr>
        <p:spPr>
          <a:xfrm>
            <a:off x="256032" y="2029968"/>
            <a:ext cx="274320" cy="146304"/>
          </a:xfrm>
          <a:prstGeom prst="roundRect">
            <a:avLst>
              <a:gd name="adj" fmla="val 25000"/>
            </a:avLst>
          </a:prstGeom>
          <a:solidFill>
            <a:srgbClr val="06B6D4"/>
          </a:solidFill>
          <a:ln/>
        </p:spPr>
      </p:sp>
      <p:sp>
        <p:nvSpPr>
          <p:cNvPr id="19" name="Text 17"/>
          <p:cNvSpPr/>
          <p:nvPr/>
        </p:nvSpPr>
        <p:spPr>
          <a:xfrm>
            <a:off x="1097280" y="1645920"/>
            <a:ext cx="6705432" cy="1828800"/>
          </a:xfrm>
          <a:prstGeom prst="rect">
            <a:avLst/>
          </a:prstGeom>
          <a:noFill/>
          <a:ln/>
        </p:spPr>
        <p:txBody>
          <a:bodyPr wrap="square" rtlCol="0" anchor="ctr"/>
          <a:lstStyle/>
          <a:p>
            <a:pPr indent="0" marL="0">
              <a:buNone/>
            </a:pPr>
            <a:r>
              <a:rPr lang="en-US" sz="6800" b="1" dirty="0">
                <a:solidFill>
                  <a:srgbClr val="FFFFFF"/>
                </a:solidFill>
                <a:latin typeface="Montserrat" pitchFamily="34" charset="0"/>
                <a:ea typeface="Montserrat" pitchFamily="34" charset="-122"/>
                <a:cs typeface="Montserrat" pitchFamily="34" charset="-120"/>
              </a:rPr>
              <a:t>Obrigado!</a:t>
            </a:r>
            <a:endParaRPr lang="en-US" sz="6800" dirty="0"/>
          </a:p>
        </p:txBody>
      </p:sp>
      <p:sp>
        <p:nvSpPr>
          <p:cNvPr id="20" name="Shape 18"/>
          <p:cNvSpPr/>
          <p:nvPr/>
        </p:nvSpPr>
        <p:spPr>
          <a:xfrm>
            <a:off x="1097280" y="3703320"/>
            <a:ext cx="496824" cy="54864"/>
          </a:xfrm>
          <a:prstGeom prst="rect">
            <a:avLst/>
          </a:prstGeom>
          <a:solidFill>
            <a:srgbClr val="6C63FF"/>
          </a:solidFill>
          <a:ln/>
        </p:spPr>
      </p:sp>
      <p:sp>
        <p:nvSpPr>
          <p:cNvPr id="21" name="Shape 19"/>
          <p:cNvSpPr/>
          <p:nvPr/>
        </p:nvSpPr>
        <p:spPr>
          <a:xfrm>
            <a:off x="1584960" y="3703320"/>
            <a:ext cx="496824" cy="54864"/>
          </a:xfrm>
          <a:prstGeom prst="rect">
            <a:avLst/>
          </a:prstGeom>
          <a:solidFill>
            <a:srgbClr val="6C63FF"/>
          </a:solidFill>
          <a:ln/>
        </p:spPr>
      </p:sp>
      <p:sp>
        <p:nvSpPr>
          <p:cNvPr id="22" name="Shape 20"/>
          <p:cNvSpPr/>
          <p:nvPr/>
        </p:nvSpPr>
        <p:spPr>
          <a:xfrm>
            <a:off x="2072640" y="3703320"/>
            <a:ext cx="496824" cy="54864"/>
          </a:xfrm>
          <a:prstGeom prst="rect">
            <a:avLst/>
          </a:prstGeom>
          <a:solidFill>
            <a:srgbClr val="6C63FF"/>
          </a:solidFill>
          <a:ln/>
        </p:spPr>
      </p:sp>
      <p:sp>
        <p:nvSpPr>
          <p:cNvPr id="23" name="Shape 21"/>
          <p:cNvSpPr/>
          <p:nvPr/>
        </p:nvSpPr>
        <p:spPr>
          <a:xfrm>
            <a:off x="2560320" y="3703320"/>
            <a:ext cx="496824" cy="54864"/>
          </a:xfrm>
          <a:prstGeom prst="rect">
            <a:avLst/>
          </a:prstGeom>
          <a:solidFill>
            <a:srgbClr val="6C63FF"/>
          </a:solidFill>
          <a:ln/>
        </p:spPr>
      </p:sp>
      <p:sp>
        <p:nvSpPr>
          <p:cNvPr id="24" name="Shape 22"/>
          <p:cNvSpPr/>
          <p:nvPr/>
        </p:nvSpPr>
        <p:spPr>
          <a:xfrm>
            <a:off x="3048000" y="3703320"/>
            <a:ext cx="496824" cy="54864"/>
          </a:xfrm>
          <a:prstGeom prst="rect">
            <a:avLst/>
          </a:prstGeom>
          <a:solidFill>
            <a:srgbClr val="6C63FF"/>
          </a:solidFill>
          <a:ln/>
        </p:spPr>
      </p:sp>
      <p:sp>
        <p:nvSpPr>
          <p:cNvPr id="25" name="Shape 23"/>
          <p:cNvSpPr/>
          <p:nvPr/>
        </p:nvSpPr>
        <p:spPr>
          <a:xfrm>
            <a:off x="3535680" y="3703320"/>
            <a:ext cx="496824" cy="54864"/>
          </a:xfrm>
          <a:prstGeom prst="rect">
            <a:avLst/>
          </a:prstGeom>
          <a:solidFill>
            <a:srgbClr val="6C63FF"/>
          </a:solidFill>
          <a:ln/>
        </p:spPr>
      </p:sp>
      <p:sp>
        <p:nvSpPr>
          <p:cNvPr id="26" name="Text 24"/>
          <p:cNvSpPr/>
          <p:nvPr/>
        </p:nvSpPr>
        <p:spPr>
          <a:xfrm>
            <a:off x="1097280" y="3931920"/>
            <a:ext cx="6095848" cy="502920"/>
          </a:xfrm>
          <a:prstGeom prst="rect">
            <a:avLst/>
          </a:prstGeom>
          <a:noFill/>
          <a:ln/>
        </p:spPr>
        <p:txBody>
          <a:bodyPr wrap="square" rtlCol="0" anchor="t"/>
          <a:lstStyle/>
          <a:p>
            <a:pPr indent="0" marL="0">
              <a:lnSpc>
                <a:spcPct val="118000"/>
              </a:lnSpc>
              <a:buNone/>
            </a:pPr>
            <a:r>
              <a:rPr lang="en-US" sz="1500" dirty="0">
                <a:solidFill>
                  <a:srgbClr val="94A3C0"/>
                </a:solidFill>
                <a:latin typeface="Open Sans" pitchFamily="34" charset="0"/>
                <a:ea typeface="Open Sans" pitchFamily="34" charset="-122"/>
                <a:cs typeface="Open Sans" pitchFamily="34" charset="-120"/>
              </a:rPr>
              <a:t>Inteligência Artificial na Prática: Aplicações Reais para Profissionais Não Técnicos</a:t>
            </a:r>
            <a:endParaRPr lang="en-US" sz="1500" dirty="0"/>
          </a:p>
        </p:txBody>
      </p:sp>
      <p:sp>
        <p:nvSpPr>
          <p:cNvPr id="27" name="Text 25"/>
          <p:cNvSpPr/>
          <p:nvPr/>
        </p:nvSpPr>
        <p:spPr>
          <a:xfrm>
            <a:off x="1097280" y="4663440"/>
            <a:ext cx="3657600" cy="219456"/>
          </a:xfrm>
          <a:prstGeom prst="rect">
            <a:avLst/>
          </a:prstGeom>
          <a:noFill/>
          <a:ln/>
        </p:spPr>
        <p:txBody>
          <a:bodyPr wrap="square" rtlCol="0" anchor="ctr"/>
          <a:lstStyle/>
          <a:p>
            <a:pPr indent="0" marL="0">
              <a:buNone/>
            </a:pPr>
            <a:r>
              <a:rPr lang="en-US" sz="900" b="1" spc="700" kern="0" dirty="0">
                <a:solidFill>
                  <a:srgbClr val="6C63FF">
                    <a:alpha val="80000"/>
                  </a:srgbClr>
                </a:solidFill>
                <a:latin typeface="Open Sans" pitchFamily="34" charset="0"/>
                <a:ea typeface="Open Sans" pitchFamily="34" charset="-122"/>
                <a:cs typeface="Open Sans" pitchFamily="34" charset="-120"/>
              </a:rPr>
              <a:t>CONCLUSÃO</a:t>
            </a:r>
            <a:endParaRPr lang="en-US" sz="900" dirty="0"/>
          </a:p>
        </p:txBody>
      </p:sp>
      <p:sp>
        <p:nvSpPr>
          <p:cNvPr id="28" name="Shape 26"/>
          <p:cNvSpPr/>
          <p:nvPr/>
        </p:nvSpPr>
        <p:spPr>
          <a:xfrm>
            <a:off x="10180015" y="5029200"/>
            <a:ext cx="457200" cy="457200"/>
          </a:xfrm>
          <a:prstGeom prst="rect">
            <a:avLst>
              <a:gd name="adj" fmla="val 8000"/>
            </a:avLst>
          </a:prstGeom>
          <a:solidFill>
            <a:srgbClr val="6C63FF"/>
          </a:solidFill>
          <a:ln/>
        </p:spPr>
      </p:sp>
      <p:sp>
        <p:nvSpPr>
          <p:cNvPr id="29" name="Shape 27"/>
          <p:cNvSpPr/>
          <p:nvPr/>
        </p:nvSpPr>
        <p:spPr>
          <a:xfrm>
            <a:off x="10591495" y="5394960"/>
            <a:ext cx="685800" cy="685800"/>
          </a:xfrm>
          <a:prstGeom prst="rect">
            <a:avLst>
              <a:gd name="adj" fmla="val 5333"/>
            </a:avLst>
          </a:prstGeom>
          <a:solidFill>
            <a:srgbClr val="3B82F6"/>
          </a:solidFill>
          <a:ln/>
        </p:spPr>
      </p:sp>
      <p:sp>
        <p:nvSpPr>
          <p:cNvPr id="30" name="Shape 28"/>
          <p:cNvSpPr/>
          <p:nvPr/>
        </p:nvSpPr>
        <p:spPr>
          <a:xfrm>
            <a:off x="11002975" y="5760720"/>
            <a:ext cx="914400" cy="914400"/>
          </a:xfrm>
          <a:prstGeom prst="rect">
            <a:avLst>
              <a:gd name="adj" fmla="val 4000"/>
            </a:avLst>
          </a:prstGeom>
          <a:solidFill>
            <a:srgbClr val="10B981"/>
          </a:solidFill>
          <a:ln/>
        </p:spPr>
      </p:sp>
      <p:sp>
        <p:nvSpPr>
          <p:cNvPr id="31" name="Text 29"/>
          <p:cNvSpPr/>
          <p:nvPr/>
        </p:nvSpPr>
        <p:spPr>
          <a:xfrm>
            <a:off x="9905695" y="6355080"/>
            <a:ext cx="1920240" cy="256032"/>
          </a:xfrm>
          <a:prstGeom prst="rect">
            <a:avLst/>
          </a:prstGeom>
          <a:noFill/>
          <a:ln/>
        </p:spPr>
        <p:txBody>
          <a:bodyPr wrap="square" rtlCol="0" anchor="ctr"/>
          <a:lstStyle/>
          <a:p>
            <a:pPr algn="r" indent="0" marL="0">
              <a:buNone/>
            </a:pPr>
            <a:r>
              <a:rPr lang="en-US" sz="1100" spc="200" kern="0" dirty="0">
                <a:solidFill>
                  <a:srgbClr val="94A3C0">
                    <a:alpha val="70000"/>
                  </a:srgbClr>
                </a:solidFill>
                <a:latin typeface="Open Sans" pitchFamily="34" charset="0"/>
                <a:ea typeface="Open Sans" pitchFamily="34" charset="-122"/>
                <a:cs typeface="Open Sans" pitchFamily="34" charset="-120"/>
              </a:rPr>
              <a:t>2026-03-09</a:t>
            </a:r>
            <a:endParaRPr lang="en-US" sz="1100" dirty="0"/>
          </a:p>
        </p:txBody>
      </p:sp>
      <p:sp>
        <p:nvSpPr>
          <p:cNvPr id="32" name="Text 30"/>
          <p:cNvSpPr/>
          <p:nvPr/>
        </p:nvSpPr>
        <p:spPr>
          <a:xfrm>
            <a:off x="8534095" y="6565392"/>
            <a:ext cx="3291840" cy="201168"/>
          </a:xfrm>
          <a:prstGeom prst="rect">
            <a:avLst/>
          </a:prstGeom>
          <a:noFill/>
          <a:ln/>
        </p:spPr>
        <p:txBody>
          <a:bodyPr wrap="square" rtlCol="0" anchor="ctr"/>
          <a:lstStyle/>
          <a:p>
            <a:pPr algn="r" indent="0" marL="0">
              <a:buNone/>
            </a:pPr>
            <a:r>
              <a:rPr lang="en-US" sz="700" dirty="0">
                <a:solidFill>
                  <a:srgbClr val="FFFFFF">
                    <a:alpha val="50000"/>
                  </a:srgbClr>
                </a:solidFill>
                <a:latin typeface="Open Sans" pitchFamily="34" charset="0"/>
                <a:ea typeface="Open Sans" pitchFamily="34" charset="-122"/>
                <a:cs typeface="Open Sans" pitchFamily="34" charset="-120"/>
              </a:rPr>
              <a:t>Foto: Brett Jordan / Unsplash</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63</Slides>
  <Notes>63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Inteligência Artificial na Prática: Aplicações Reais para Profissionais Não Técnicos</dc:title>
  <dc:subject>PptxGenJS Presentation</dc:subject>
  <dc:creator>EduGenAI v2</dc:creator>
  <cp:lastModifiedBy>EduGenAI v2</cp:lastModifiedBy>
  <cp:revision>1</cp:revision>
  <dcterms:created xsi:type="dcterms:W3CDTF">2026-03-09T06:15:50Z</dcterms:created>
  <dcterms:modified xsi:type="dcterms:W3CDTF">2026-03-09T06:15:50Z</dcterms:modified>
</cp:coreProperties>
</file>