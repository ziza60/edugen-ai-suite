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7680960" y="0"/>
            <a:ext cx="4507992" cy="6858000"/>
          </a:xfrm>
          <a:prstGeom prst="rect">
            <a:avLst/>
          </a:prstGeom>
        </p:spPr>
      </p:pic>
      <p:sp>
        <p:nvSpPr>
          <p:cNvPr id="3" name="Shape 0"/>
          <p:cNvSpPr/>
          <p:nvPr/>
        </p:nvSpPr>
        <p:spPr>
          <a:xfrm>
            <a:off x="6766560" y="0"/>
            <a:ext cx="1280160" cy="6858000"/>
          </a:xfrm>
          <a:prstGeom prst="rect">
            <a:avLst/>
          </a:prstGeom>
          <a:solidFill>
            <a:srgbClr val="0A0D13">
              <a:alpha val="85000"/>
            </a:srgbClr>
          </a:solidFill>
          <a:ln/>
        </p:spPr>
      </p:sp>
      <p:sp>
        <p:nvSpPr>
          <p:cNvPr id="4" name="Shape 1"/>
          <p:cNvSpPr/>
          <p:nvPr/>
        </p:nvSpPr>
        <p:spPr>
          <a:xfrm>
            <a:off x="640080" y="2331720"/>
            <a:ext cx="1005840" cy="82296"/>
          </a:xfrm>
          <a:prstGeom prst="rect">
            <a:avLst/>
          </a:prstGeom>
          <a:solidFill>
            <a:srgbClr val="E8943A"/>
          </a:solidFill>
          <a:ln/>
        </p:spPr>
      </p:sp>
      <p:sp>
        <p:nvSpPr>
          <p:cNvPr id="5" name="Text 2"/>
          <p:cNvSpPr/>
          <p:nvPr/>
        </p:nvSpPr>
        <p:spPr>
          <a:xfrm>
            <a:off x="640080" y="2468880"/>
            <a:ext cx="6035040" cy="2103120"/>
          </a:xfrm>
          <a:prstGeom prst="rect">
            <a:avLst/>
          </a:prstGeom>
          <a:noFill/>
          <a:ln/>
        </p:spPr>
        <p:txBody>
          <a:bodyPr wrap="square" rtlCol="0" anchor="t">
            <a:normAutofit/>
          </a:bodyPr>
          <a:lstStyle/>
          <a:p>
            <a:pPr algn="l" indent="0" marL="0">
              <a:lnSpc>
                <a:spcPct val="102000"/>
              </a:lnSpc>
              <a:buNone/>
            </a:pPr>
            <a:r>
              <a:rPr lang="en-US" sz="3800" b="1" dirty="0">
                <a:solidFill>
                  <a:srgbClr val="FFFFFF"/>
                </a:solidFill>
                <a:latin typeface="Georgia" pitchFamily="34" charset="0"/>
                <a:ea typeface="Georgia" pitchFamily="34" charset="-122"/>
                <a:cs typeface="Georgia" pitchFamily="34" charset="-120"/>
              </a:rPr>
              <a:t>Precificação de produtos para pequenos negócios</a:t>
            </a:r>
            <a:endParaRPr lang="en-US" sz="3800" dirty="0"/>
          </a:p>
        </p:txBody>
      </p:sp>
      <p:sp>
        <p:nvSpPr>
          <p:cNvPr id="6" name="Text 3"/>
          <p:cNvSpPr/>
          <p:nvPr/>
        </p:nvSpPr>
        <p:spPr>
          <a:xfrm>
            <a:off x="640080" y="4709160"/>
            <a:ext cx="6035040" cy="1280160"/>
          </a:xfrm>
          <a:prstGeom prst="rect">
            <a:avLst/>
          </a:prstGeom>
          <a:noFill/>
          <a:ln/>
        </p:spPr>
        <p:txBody>
          <a:bodyPr wrap="square" rtlCol="0" anchor="t">
            <a:normAutofit/>
          </a:bodyPr>
          <a:lstStyle/>
          <a:p>
            <a:pPr algn="l" indent="0" marL="0">
              <a:buNone/>
            </a:pPr>
            <a:r>
              <a:rPr lang="en-US" sz="1500" dirty="0">
                <a:solidFill>
                  <a:srgbClr val="C9D4E0"/>
                </a:solidFill>
                <a:latin typeface="Calibri" pitchFamily="34" charset="0"/>
                <a:ea typeface="Calibri" pitchFamily="34" charset="-122"/>
                <a:cs typeface="Calibri" pitchFamily="34" charset="-120"/>
              </a:rPr>
              <a:t>Este curso didático foi desenvolvido para profissionais da área que buscam aprimorar suas habilidades em precificação de produtos, com foco em estratégias eficazes para pequenos negócios. Abrange desde os fundamentos até a gestão dinâmica de preços, garantindo a sustentabilidade e o crescimento.</a:t>
            </a:r>
            <a:endParaRPr lang="en-US" sz="1500" dirty="0"/>
          </a:p>
        </p:txBody>
      </p:sp>
      <p:sp>
        <p:nvSpPr>
          <p:cNvPr id="7" name="Text 4"/>
          <p:cNvSpPr/>
          <p:nvPr/>
        </p:nvSpPr>
        <p:spPr>
          <a:xfrm>
            <a:off x="640080" y="6126480"/>
            <a:ext cx="5486400" cy="320040"/>
          </a:xfrm>
          <a:prstGeom prst="rect">
            <a:avLst/>
          </a:prstGeom>
          <a:noFill/>
          <a:ln/>
        </p:spPr>
        <p:txBody>
          <a:bodyPr wrap="square" rtlCol="0" anchor="ctr"/>
          <a:lstStyle/>
          <a:p>
            <a:pPr algn="l" indent="0" marL="0">
              <a:buNone/>
            </a:pPr>
            <a:r>
              <a:rPr lang="en-US" sz="1100" b="1" spc="300" kern="0" dirty="0">
                <a:solidFill>
                  <a:srgbClr val="E8943A"/>
                </a:solidFill>
                <a:latin typeface="Calibri" pitchFamily="34" charset="0"/>
                <a:ea typeface="Calibri" pitchFamily="34" charset="-122"/>
                <a:cs typeface="Calibri" pitchFamily="34" charset="-120"/>
              </a:rPr>
              <a:t>EDUGENAI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219"/>
        </a:solidFill>
      </p:bgPr>
    </p:bg>
    <p:spTree>
      <p:nvGrpSpPr>
        <p:cNvPr id="1" name=""/>
        <p:cNvGrpSpPr/>
        <p:nvPr/>
      </p:nvGrpSpPr>
      <p:grpSpPr>
        <a:xfrm>
          <a:off x="0" y="0"/>
          <a:ext cx="0" cy="0"/>
          <a:chOff x="0" y="0"/>
          <a:chExt cx="0" cy="0"/>
        </a:xfrm>
      </p:grpSpPr>
      <p:sp>
        <p:nvSpPr>
          <p:cNvPr id="2" name="Text 0"/>
          <p:cNvSpPr/>
          <p:nvPr/>
        </p:nvSpPr>
        <p:spPr>
          <a:xfrm>
            <a:off x="640080" y="640080"/>
            <a:ext cx="10911535" cy="365760"/>
          </a:xfrm>
          <a:prstGeom prst="rect">
            <a:avLst/>
          </a:prstGeom>
          <a:noFill/>
          <a:ln/>
        </p:spPr>
        <p:txBody>
          <a:bodyPr wrap="square" rtlCol="0" anchor="ctr"/>
          <a:lstStyle/>
          <a:p>
            <a:pPr indent="0" marL="0">
              <a:buNone/>
            </a:pPr>
            <a:r>
              <a:rPr lang="en-US" sz="1200" b="1" spc="300" kern="0" dirty="0">
                <a:solidFill>
                  <a:srgbClr val="E8943A"/>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640080" y="960120"/>
            <a:ext cx="10911535" cy="640080"/>
          </a:xfrm>
          <a:prstGeom prst="rect">
            <a:avLst/>
          </a:prstGeom>
          <a:noFill/>
          <a:ln/>
        </p:spPr>
        <p:txBody>
          <a:bodyPr wrap="square" rtlCol="0" anchor="ctr"/>
          <a:lstStyle/>
          <a:p>
            <a:pPr indent="0" marL="0">
              <a:buNone/>
            </a:pPr>
            <a:r>
              <a:rPr lang="en-US" sz="3000" b="1" dirty="0">
                <a:solidFill>
                  <a:srgbClr val="F0F4F8"/>
                </a:solidFill>
                <a:latin typeface="Georgia" pitchFamily="34" charset="0"/>
                <a:ea typeface="Georgia" pitchFamily="34" charset="-122"/>
                <a:cs typeface="Georgia" pitchFamily="34" charset="-120"/>
              </a:rPr>
              <a:t>Conteúdo do curso</a:t>
            </a:r>
            <a:endParaRPr lang="en-US" sz="3000" dirty="0"/>
          </a:p>
        </p:txBody>
      </p:sp>
      <p:sp>
        <p:nvSpPr>
          <p:cNvPr id="4" name="Text 2"/>
          <p:cNvSpPr/>
          <p:nvPr/>
        </p:nvSpPr>
        <p:spPr>
          <a:xfrm>
            <a:off x="640080" y="1920240"/>
            <a:ext cx="640080" cy="749808"/>
          </a:xfrm>
          <a:prstGeom prst="rect">
            <a:avLst/>
          </a:prstGeom>
          <a:noFill/>
          <a:ln/>
        </p:spPr>
        <p:txBody>
          <a:bodyPr wrap="square" rtlCol="0" anchor="ctr"/>
          <a:lstStyle/>
          <a:p>
            <a:pPr indent="0" marL="0">
              <a:buNone/>
            </a:pPr>
            <a:r>
              <a:rPr lang="en-US" sz="2200" b="1" dirty="0">
                <a:solidFill>
                  <a:srgbClr val="E8943A"/>
                </a:solidFill>
                <a:latin typeface="Georgia" pitchFamily="34" charset="0"/>
                <a:ea typeface="Georgia" pitchFamily="34" charset="-122"/>
                <a:cs typeface="Georgia" pitchFamily="34" charset="-120"/>
              </a:rPr>
              <a:t>01</a:t>
            </a:r>
            <a:endParaRPr lang="en-US" sz="2200" dirty="0"/>
          </a:p>
        </p:txBody>
      </p:sp>
      <p:sp>
        <p:nvSpPr>
          <p:cNvPr id="5" name="Text 3"/>
          <p:cNvSpPr/>
          <p:nvPr/>
        </p:nvSpPr>
        <p:spPr>
          <a:xfrm>
            <a:off x="1325880" y="1920240"/>
            <a:ext cx="4495648" cy="749808"/>
          </a:xfrm>
          <a:prstGeom prst="rect">
            <a:avLst/>
          </a:prstGeom>
          <a:noFill/>
          <a:ln/>
        </p:spPr>
        <p:txBody>
          <a:bodyPr wrap="square" rtlCol="0" anchor="ctr"/>
          <a:lstStyle/>
          <a:p>
            <a:pPr indent="0" marL="0">
              <a:buNone/>
            </a:pPr>
            <a:r>
              <a:rPr lang="en-US" sz="1500" dirty="0">
                <a:solidFill>
                  <a:srgbClr val="F0F4F8"/>
                </a:solidFill>
                <a:latin typeface="Calibri" pitchFamily="34" charset="0"/>
                <a:ea typeface="Calibri" pitchFamily="34" charset="-122"/>
                <a:cs typeface="Calibri" pitchFamily="34" charset="-120"/>
              </a:rPr>
              <a:t>Fundamentos da Precificação para Pequenos Negócios</a:t>
            </a:r>
            <a:endParaRPr lang="en-US" sz="1500" dirty="0"/>
          </a:p>
        </p:txBody>
      </p:sp>
      <p:sp>
        <p:nvSpPr>
          <p:cNvPr id="6" name="Text 4"/>
          <p:cNvSpPr/>
          <p:nvPr/>
        </p:nvSpPr>
        <p:spPr>
          <a:xfrm>
            <a:off x="640080" y="2761488"/>
            <a:ext cx="640080" cy="749808"/>
          </a:xfrm>
          <a:prstGeom prst="rect">
            <a:avLst/>
          </a:prstGeom>
          <a:noFill/>
          <a:ln/>
        </p:spPr>
        <p:txBody>
          <a:bodyPr wrap="square" rtlCol="0" anchor="ctr"/>
          <a:lstStyle/>
          <a:p>
            <a:pPr indent="0" marL="0">
              <a:buNone/>
            </a:pPr>
            <a:r>
              <a:rPr lang="en-US" sz="2200" b="1" dirty="0">
                <a:solidFill>
                  <a:srgbClr val="E8943A"/>
                </a:solidFill>
                <a:latin typeface="Georgia" pitchFamily="34" charset="0"/>
                <a:ea typeface="Georgia" pitchFamily="34" charset="-122"/>
                <a:cs typeface="Georgia" pitchFamily="34" charset="-120"/>
              </a:rPr>
              <a:t>02</a:t>
            </a:r>
            <a:endParaRPr lang="en-US" sz="2200" dirty="0"/>
          </a:p>
        </p:txBody>
      </p:sp>
      <p:sp>
        <p:nvSpPr>
          <p:cNvPr id="7" name="Text 5"/>
          <p:cNvSpPr/>
          <p:nvPr/>
        </p:nvSpPr>
        <p:spPr>
          <a:xfrm>
            <a:off x="1325880" y="2761488"/>
            <a:ext cx="4495648" cy="749808"/>
          </a:xfrm>
          <a:prstGeom prst="rect">
            <a:avLst/>
          </a:prstGeom>
          <a:noFill/>
          <a:ln/>
        </p:spPr>
        <p:txBody>
          <a:bodyPr wrap="square" rtlCol="0" anchor="ctr"/>
          <a:lstStyle/>
          <a:p>
            <a:pPr indent="0" marL="0">
              <a:buNone/>
            </a:pPr>
            <a:r>
              <a:rPr lang="en-US" sz="1500" dirty="0">
                <a:solidFill>
                  <a:srgbClr val="F0F4F8"/>
                </a:solidFill>
                <a:latin typeface="Calibri" pitchFamily="34" charset="0"/>
                <a:ea typeface="Calibri" pitchFamily="34" charset="-122"/>
                <a:cs typeface="Calibri" pitchFamily="34" charset="-120"/>
              </a:rPr>
              <a:t>Análise de Custos e Ponto de Equilíbrio</a:t>
            </a:r>
            <a:endParaRPr lang="en-US" sz="1500" dirty="0"/>
          </a:p>
        </p:txBody>
      </p:sp>
      <p:sp>
        <p:nvSpPr>
          <p:cNvPr id="8" name="Text 6"/>
          <p:cNvSpPr/>
          <p:nvPr/>
        </p:nvSpPr>
        <p:spPr>
          <a:xfrm>
            <a:off x="640080" y="3602736"/>
            <a:ext cx="640080" cy="749808"/>
          </a:xfrm>
          <a:prstGeom prst="rect">
            <a:avLst/>
          </a:prstGeom>
          <a:noFill/>
          <a:ln/>
        </p:spPr>
        <p:txBody>
          <a:bodyPr wrap="square" rtlCol="0" anchor="ctr"/>
          <a:lstStyle/>
          <a:p>
            <a:pPr indent="0" marL="0">
              <a:buNone/>
            </a:pPr>
            <a:r>
              <a:rPr lang="en-US" sz="2200" b="1" dirty="0">
                <a:solidFill>
                  <a:srgbClr val="E8943A"/>
                </a:solidFill>
                <a:latin typeface="Georgia" pitchFamily="34" charset="0"/>
                <a:ea typeface="Georgia" pitchFamily="34" charset="-122"/>
                <a:cs typeface="Georgia" pitchFamily="34" charset="-120"/>
              </a:rPr>
              <a:t>03</a:t>
            </a:r>
            <a:endParaRPr lang="en-US" sz="2200" dirty="0"/>
          </a:p>
        </p:txBody>
      </p:sp>
      <p:sp>
        <p:nvSpPr>
          <p:cNvPr id="9" name="Text 7"/>
          <p:cNvSpPr/>
          <p:nvPr/>
        </p:nvSpPr>
        <p:spPr>
          <a:xfrm>
            <a:off x="1325880" y="3602736"/>
            <a:ext cx="4495648" cy="749808"/>
          </a:xfrm>
          <a:prstGeom prst="rect">
            <a:avLst/>
          </a:prstGeom>
          <a:noFill/>
          <a:ln/>
        </p:spPr>
        <p:txBody>
          <a:bodyPr wrap="square" rtlCol="0" anchor="ctr"/>
          <a:lstStyle/>
          <a:p>
            <a:pPr indent="0" marL="0">
              <a:buNone/>
            </a:pPr>
            <a:r>
              <a:rPr lang="en-US" sz="1500" dirty="0">
                <a:solidFill>
                  <a:srgbClr val="F0F4F8"/>
                </a:solidFill>
                <a:latin typeface="Calibri" pitchFamily="34" charset="0"/>
                <a:ea typeface="Calibri" pitchFamily="34" charset="-122"/>
                <a:cs typeface="Calibri" pitchFamily="34" charset="-120"/>
              </a:rPr>
              <a:t>Estratégias e Métodos de Precificação</a:t>
            </a:r>
            <a:endParaRPr lang="en-US" sz="1500" dirty="0"/>
          </a:p>
        </p:txBody>
      </p:sp>
      <p:sp>
        <p:nvSpPr>
          <p:cNvPr id="10" name="Text 8"/>
          <p:cNvSpPr/>
          <p:nvPr/>
        </p:nvSpPr>
        <p:spPr>
          <a:xfrm>
            <a:off x="6324448" y="1920240"/>
            <a:ext cx="640080" cy="749808"/>
          </a:xfrm>
          <a:prstGeom prst="rect">
            <a:avLst/>
          </a:prstGeom>
          <a:noFill/>
          <a:ln/>
        </p:spPr>
        <p:txBody>
          <a:bodyPr wrap="square" rtlCol="0" anchor="ctr"/>
          <a:lstStyle/>
          <a:p>
            <a:pPr indent="0" marL="0">
              <a:buNone/>
            </a:pPr>
            <a:r>
              <a:rPr lang="en-US" sz="2200" b="1" dirty="0">
                <a:solidFill>
                  <a:srgbClr val="E8943A"/>
                </a:solidFill>
                <a:latin typeface="Georgia" pitchFamily="34" charset="0"/>
                <a:ea typeface="Georgia" pitchFamily="34" charset="-122"/>
                <a:cs typeface="Georgia" pitchFamily="34" charset="-120"/>
              </a:rPr>
              <a:t>04</a:t>
            </a:r>
            <a:endParaRPr lang="en-US" sz="2200" dirty="0"/>
          </a:p>
        </p:txBody>
      </p:sp>
      <p:sp>
        <p:nvSpPr>
          <p:cNvPr id="11" name="Text 9"/>
          <p:cNvSpPr/>
          <p:nvPr/>
        </p:nvSpPr>
        <p:spPr>
          <a:xfrm>
            <a:off x="7010248" y="1920240"/>
            <a:ext cx="4495648" cy="749808"/>
          </a:xfrm>
          <a:prstGeom prst="rect">
            <a:avLst/>
          </a:prstGeom>
          <a:noFill/>
          <a:ln/>
        </p:spPr>
        <p:txBody>
          <a:bodyPr wrap="square" rtlCol="0" anchor="ctr"/>
          <a:lstStyle/>
          <a:p>
            <a:pPr indent="0" marL="0">
              <a:buNone/>
            </a:pPr>
            <a:r>
              <a:rPr lang="en-US" sz="1500" dirty="0">
                <a:solidFill>
                  <a:srgbClr val="F0F4F8"/>
                </a:solidFill>
                <a:latin typeface="Calibri" pitchFamily="34" charset="0"/>
                <a:ea typeface="Calibri" pitchFamily="34" charset="-122"/>
                <a:cs typeface="Calibri" pitchFamily="34" charset="-120"/>
              </a:rPr>
              <a:t>Precificação Baseada em Valor e Percepção de Mercado</a:t>
            </a:r>
            <a:endParaRPr lang="en-US" sz="1500" dirty="0"/>
          </a:p>
        </p:txBody>
      </p:sp>
      <p:sp>
        <p:nvSpPr>
          <p:cNvPr id="12" name="Text 10"/>
          <p:cNvSpPr/>
          <p:nvPr/>
        </p:nvSpPr>
        <p:spPr>
          <a:xfrm>
            <a:off x="6324448" y="2761488"/>
            <a:ext cx="640080" cy="749808"/>
          </a:xfrm>
          <a:prstGeom prst="rect">
            <a:avLst/>
          </a:prstGeom>
          <a:noFill/>
          <a:ln/>
        </p:spPr>
        <p:txBody>
          <a:bodyPr wrap="square" rtlCol="0" anchor="ctr"/>
          <a:lstStyle/>
          <a:p>
            <a:pPr indent="0" marL="0">
              <a:buNone/>
            </a:pPr>
            <a:r>
              <a:rPr lang="en-US" sz="2200" b="1" dirty="0">
                <a:solidFill>
                  <a:srgbClr val="E8943A"/>
                </a:solidFill>
                <a:latin typeface="Georgia" pitchFamily="34" charset="0"/>
                <a:ea typeface="Georgia" pitchFamily="34" charset="-122"/>
                <a:cs typeface="Georgia" pitchFamily="34" charset="-120"/>
              </a:rPr>
              <a:t>05</a:t>
            </a:r>
            <a:endParaRPr lang="en-US" sz="2200" dirty="0"/>
          </a:p>
        </p:txBody>
      </p:sp>
      <p:sp>
        <p:nvSpPr>
          <p:cNvPr id="13" name="Text 11"/>
          <p:cNvSpPr/>
          <p:nvPr/>
        </p:nvSpPr>
        <p:spPr>
          <a:xfrm>
            <a:off x="7010248" y="2761488"/>
            <a:ext cx="4495648" cy="749808"/>
          </a:xfrm>
          <a:prstGeom prst="rect">
            <a:avLst/>
          </a:prstGeom>
          <a:noFill/>
          <a:ln/>
        </p:spPr>
        <p:txBody>
          <a:bodyPr wrap="square" rtlCol="0" anchor="ctr"/>
          <a:lstStyle/>
          <a:p>
            <a:pPr indent="0" marL="0">
              <a:buNone/>
            </a:pPr>
            <a:r>
              <a:rPr lang="en-US" sz="1500" dirty="0">
                <a:solidFill>
                  <a:srgbClr val="F0F4F8"/>
                </a:solidFill>
                <a:latin typeface="Calibri" pitchFamily="34" charset="0"/>
                <a:ea typeface="Calibri" pitchFamily="34" charset="-122"/>
                <a:cs typeface="Calibri" pitchFamily="34" charset="-120"/>
              </a:rPr>
              <a:t>Gestão e Ajustes Estratégicos de Preços</a:t>
            </a:r>
            <a:endParaRPr lang="en-US" sz="1500" dirty="0"/>
          </a:p>
        </p:txBody>
      </p:sp>
      <p:sp>
        <p:nvSpPr>
          <p:cNvPr id="14" name="Text 12"/>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5" name="Text 13"/>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D13">
              <a:alpha val="72000"/>
            </a:srgbClr>
          </a:solidFill>
          <a:ln/>
        </p:spPr>
      </p:sp>
      <p:sp>
        <p:nvSpPr>
          <p:cNvPr id="4" name="Shape 1"/>
          <p:cNvSpPr/>
          <p:nvPr/>
        </p:nvSpPr>
        <p:spPr>
          <a:xfrm>
            <a:off x="0" y="0"/>
            <a:ext cx="7498080" cy="6858000"/>
          </a:xfrm>
          <a:prstGeom prst="rect">
            <a:avLst/>
          </a:prstGeom>
          <a:solidFill>
            <a:srgbClr val="0A0D13">
              <a:alpha val="94000"/>
            </a:srgbClr>
          </a:solidFill>
          <a:ln/>
        </p:spPr>
      </p:sp>
      <p:sp>
        <p:nvSpPr>
          <p:cNvPr id="5" name="Text 2"/>
          <p:cNvSpPr/>
          <p:nvPr/>
        </p:nvSpPr>
        <p:spPr>
          <a:xfrm>
            <a:off x="640080" y="1280160"/>
            <a:ext cx="6400800" cy="411480"/>
          </a:xfrm>
          <a:prstGeom prst="rect">
            <a:avLst/>
          </a:prstGeom>
          <a:noFill/>
          <a:ln/>
        </p:spPr>
        <p:txBody>
          <a:bodyPr wrap="square" rtlCol="0" anchor="ctr"/>
          <a:lstStyle/>
          <a:p>
            <a:pPr indent="0" marL="0">
              <a:buNone/>
            </a:pPr>
            <a:r>
              <a:rPr lang="en-US" sz="1500" b="1" spc="500" kern="0" dirty="0">
                <a:solidFill>
                  <a:srgbClr val="E8943A"/>
                </a:solidFill>
                <a:latin typeface="Calibri" pitchFamily="34" charset="0"/>
                <a:ea typeface="Calibri" pitchFamily="34" charset="-122"/>
                <a:cs typeface="Calibri" pitchFamily="34" charset="-120"/>
              </a:rPr>
              <a:t>MÓDULO</a:t>
            </a:r>
            <a:endParaRPr lang="en-US" sz="1500" dirty="0"/>
          </a:p>
        </p:txBody>
      </p:sp>
      <p:sp>
        <p:nvSpPr>
          <p:cNvPr id="6" name="Text 3"/>
          <p:cNvSpPr/>
          <p:nvPr/>
        </p:nvSpPr>
        <p:spPr>
          <a:xfrm>
            <a:off x="566928" y="1554480"/>
            <a:ext cx="5486400" cy="2468880"/>
          </a:xfrm>
          <a:prstGeom prst="rect">
            <a:avLst/>
          </a:prstGeom>
          <a:noFill/>
          <a:ln/>
        </p:spPr>
        <p:txBody>
          <a:bodyPr wrap="square" rtlCol="0" anchor="ctr"/>
          <a:lstStyle/>
          <a:p>
            <a:pPr algn="l" indent="0" marL="0">
              <a:buNone/>
            </a:pPr>
            <a:r>
              <a:rPr lang="en-US" sz="20000" b="1" dirty="0">
                <a:solidFill>
                  <a:srgbClr val="E8943A">
                    <a:alpha val="78000"/>
                  </a:srgbClr>
                </a:solidFill>
                <a:latin typeface="Georgia" pitchFamily="34" charset="0"/>
                <a:ea typeface="Georgia" pitchFamily="34" charset="-122"/>
                <a:cs typeface="Georgia" pitchFamily="34" charset="-120"/>
              </a:rPr>
              <a:t>01</a:t>
            </a:r>
            <a:endParaRPr lang="en-US" sz="20000" dirty="0"/>
          </a:p>
        </p:txBody>
      </p:sp>
      <p:sp>
        <p:nvSpPr>
          <p:cNvPr id="7" name="Shape 4"/>
          <p:cNvSpPr/>
          <p:nvPr/>
        </p:nvSpPr>
        <p:spPr>
          <a:xfrm>
            <a:off x="676656" y="4114800"/>
            <a:ext cx="1005840" cy="82296"/>
          </a:xfrm>
          <a:prstGeom prst="rect">
            <a:avLst/>
          </a:prstGeom>
          <a:solidFill>
            <a:srgbClr val="E8943A"/>
          </a:solidFill>
          <a:ln/>
        </p:spPr>
      </p:sp>
      <p:sp>
        <p:nvSpPr>
          <p:cNvPr id="8" name="Text 5"/>
          <p:cNvSpPr/>
          <p:nvPr/>
        </p:nvSpPr>
        <p:spPr>
          <a:xfrm>
            <a:off x="640080" y="4370832"/>
            <a:ext cx="7223760" cy="1920240"/>
          </a:xfrm>
          <a:prstGeom prst="rect">
            <a:avLst/>
          </a:prstGeom>
          <a:noFill/>
          <a:ln/>
        </p:spPr>
        <p:txBody>
          <a:bodyPr wrap="square" rtlCol="0" anchor="t"/>
          <a:lstStyle/>
          <a:p>
            <a:pPr indent="0" marL="0">
              <a:lnSpc>
                <a:spcPct val="102000"/>
              </a:lnSpc>
              <a:buNone/>
            </a:pPr>
            <a:r>
              <a:rPr lang="en-US" sz="3200" b="1" dirty="0">
                <a:solidFill>
                  <a:srgbClr val="FFFFFF"/>
                </a:solidFill>
                <a:latin typeface="Georgia" pitchFamily="34" charset="0"/>
                <a:ea typeface="Georgia" pitchFamily="34" charset="-122"/>
                <a:cs typeface="Georgia" pitchFamily="34" charset="-120"/>
              </a:rPr>
              <a:t>Fundamentos da Precificação para Pequenos Negócios</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FUNDAMENTOS DA PRECIFICAÇÃO PARA PEQUENOS NEGÓCIOS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Mais que um Número, uma Estratégia</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2834640"/>
            <a:ext cx="2659304" cy="2103120"/>
          </a:xfrm>
          <a:prstGeom prst="chevron">
            <a:avLst/>
          </a:prstGeom>
          <a:solidFill>
            <a:srgbClr val="D63B3B"/>
          </a:solidFill>
          <a:ln w="12700">
            <a:solidFill>
              <a:srgbClr val="2C333E"/>
            </a:solidFill>
            <a:prstDash val="solid"/>
          </a:ln>
        </p:spPr>
      </p:sp>
      <p:sp>
        <p:nvSpPr>
          <p:cNvPr id="7" name="Text 5"/>
          <p:cNvSpPr/>
          <p:nvPr/>
        </p:nvSpPr>
        <p:spPr>
          <a:xfrm>
            <a:off x="1097280" y="3054096"/>
            <a:ext cx="1699184" cy="548640"/>
          </a:xfrm>
          <a:prstGeom prst="rect">
            <a:avLst/>
          </a:prstGeom>
          <a:noFill/>
          <a:ln/>
        </p:spPr>
        <p:txBody>
          <a:bodyPr wrap="square" rtlCol="0" anchor="ctr"/>
          <a:lstStyle/>
          <a:p>
            <a:pPr algn="ctr" indent="0" marL="0">
              <a:buNone/>
            </a:pPr>
            <a:r>
              <a:rPr lang="en-US" sz="2600" b="1" dirty="0">
                <a:solidFill>
                  <a:srgbClr val="E8943A"/>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1097280" y="3657600"/>
            <a:ext cx="1699184" cy="1051560"/>
          </a:xfrm>
          <a:prstGeom prst="rect">
            <a:avLst/>
          </a:prstGeom>
          <a:noFill/>
          <a:ln/>
        </p:spPr>
        <p:txBody>
          <a:bodyPr wrap="square" rtlCol="0" anchor="t"/>
          <a:lstStyle/>
          <a:p>
            <a:pPr algn="ctr" indent="0" marL="0">
              <a:lnSpc>
                <a:spcPct val="100000"/>
              </a:lnSpc>
              <a:buNone/>
            </a:pPr>
            <a:r>
              <a:rPr lang="en-US" sz="1400" dirty="0">
                <a:solidFill>
                  <a:srgbClr val="FFFFFF"/>
                </a:solidFill>
                <a:latin typeface="Calibri" pitchFamily="34" charset="0"/>
                <a:ea typeface="Calibri" pitchFamily="34" charset="-122"/>
                <a:cs typeface="Calibri" pitchFamily="34" charset="-120"/>
              </a:rPr>
              <a:t>Evita margens de lucro insuficientes</a:t>
            </a:r>
            <a:endParaRPr lang="en-US" sz="1400" dirty="0"/>
          </a:p>
        </p:txBody>
      </p:sp>
      <p:sp>
        <p:nvSpPr>
          <p:cNvPr id="9" name="Shape 7"/>
          <p:cNvSpPr/>
          <p:nvPr/>
        </p:nvSpPr>
        <p:spPr>
          <a:xfrm>
            <a:off x="3390824" y="2834640"/>
            <a:ext cx="2659304" cy="2103120"/>
          </a:xfrm>
          <a:prstGeom prst="chevron">
            <a:avLst/>
          </a:prstGeom>
          <a:solidFill>
            <a:srgbClr val="1B212B"/>
          </a:solidFill>
          <a:ln w="12700">
            <a:solidFill>
              <a:srgbClr val="2C333E"/>
            </a:solidFill>
            <a:prstDash val="solid"/>
          </a:ln>
        </p:spPr>
      </p:sp>
      <p:sp>
        <p:nvSpPr>
          <p:cNvPr id="10" name="Text 8"/>
          <p:cNvSpPr/>
          <p:nvPr/>
        </p:nvSpPr>
        <p:spPr>
          <a:xfrm>
            <a:off x="3848024" y="3054096"/>
            <a:ext cx="1699184" cy="548640"/>
          </a:xfrm>
          <a:prstGeom prst="rect">
            <a:avLst/>
          </a:prstGeom>
          <a:noFill/>
          <a:ln/>
        </p:spPr>
        <p:txBody>
          <a:bodyPr wrap="square" rtlCol="0" anchor="ctr"/>
          <a:lstStyle/>
          <a:p>
            <a:pPr algn="ctr" indent="0" marL="0">
              <a:buNone/>
            </a:pPr>
            <a:r>
              <a:rPr lang="en-US" sz="2600" b="1" dirty="0">
                <a:solidFill>
                  <a:srgbClr val="E8943A"/>
                </a:solidFill>
                <a:latin typeface="Georgia" pitchFamily="34" charset="0"/>
                <a:ea typeface="Georgia" pitchFamily="34" charset="-122"/>
                <a:cs typeface="Georgia" pitchFamily="34" charset="-120"/>
              </a:rPr>
              <a:t>2</a:t>
            </a:r>
            <a:endParaRPr lang="en-US" sz="2600" dirty="0"/>
          </a:p>
        </p:txBody>
      </p:sp>
      <p:sp>
        <p:nvSpPr>
          <p:cNvPr id="11" name="Text 9"/>
          <p:cNvSpPr/>
          <p:nvPr/>
        </p:nvSpPr>
        <p:spPr>
          <a:xfrm>
            <a:off x="3848024" y="3657600"/>
            <a:ext cx="1699184" cy="1051560"/>
          </a:xfrm>
          <a:prstGeom prst="rect">
            <a:avLst/>
          </a:prstGeom>
          <a:noFill/>
          <a:ln/>
        </p:spPr>
        <p:txBody>
          <a:bodyPr wrap="square" rtlCol="0" anchor="t"/>
          <a:lstStyle/>
          <a:p>
            <a:pPr algn="ctr" indent="0" marL="0">
              <a:lnSpc>
                <a:spcPct val="100000"/>
              </a:lnSpc>
              <a:buNone/>
            </a:pPr>
            <a:r>
              <a:rPr lang="en-US" sz="1400" dirty="0">
                <a:solidFill>
                  <a:srgbClr val="A8B4C2"/>
                </a:solidFill>
                <a:latin typeface="Calibri" pitchFamily="34" charset="0"/>
                <a:ea typeface="Calibri" pitchFamily="34" charset="-122"/>
                <a:cs typeface="Calibri" pitchFamily="34" charset="-120"/>
              </a:rPr>
              <a:t>Aumenta a competitividade no mercado</a:t>
            </a:r>
            <a:endParaRPr lang="en-US" sz="1400" dirty="0"/>
          </a:p>
        </p:txBody>
      </p:sp>
      <p:sp>
        <p:nvSpPr>
          <p:cNvPr id="12" name="Shape 10"/>
          <p:cNvSpPr/>
          <p:nvPr/>
        </p:nvSpPr>
        <p:spPr>
          <a:xfrm>
            <a:off x="6141568" y="2834640"/>
            <a:ext cx="2659304" cy="2103120"/>
          </a:xfrm>
          <a:prstGeom prst="chevron">
            <a:avLst/>
          </a:prstGeom>
          <a:solidFill>
            <a:srgbClr val="D63B3B"/>
          </a:solidFill>
          <a:ln w="12700">
            <a:solidFill>
              <a:srgbClr val="2C333E"/>
            </a:solidFill>
            <a:prstDash val="solid"/>
          </a:ln>
        </p:spPr>
      </p:sp>
      <p:sp>
        <p:nvSpPr>
          <p:cNvPr id="13" name="Text 11"/>
          <p:cNvSpPr/>
          <p:nvPr/>
        </p:nvSpPr>
        <p:spPr>
          <a:xfrm>
            <a:off x="6598768" y="3054096"/>
            <a:ext cx="1699184" cy="548640"/>
          </a:xfrm>
          <a:prstGeom prst="rect">
            <a:avLst/>
          </a:prstGeom>
          <a:noFill/>
          <a:ln/>
        </p:spPr>
        <p:txBody>
          <a:bodyPr wrap="square" rtlCol="0" anchor="ctr"/>
          <a:lstStyle/>
          <a:p>
            <a:pPr algn="ctr" indent="0" marL="0">
              <a:buNone/>
            </a:pPr>
            <a:r>
              <a:rPr lang="en-US" sz="2600" b="1" dirty="0">
                <a:solidFill>
                  <a:srgbClr val="E8943A"/>
                </a:solidFill>
                <a:latin typeface="Georgia" pitchFamily="34" charset="0"/>
                <a:ea typeface="Georgia" pitchFamily="34" charset="-122"/>
                <a:cs typeface="Georgia" pitchFamily="34" charset="-120"/>
              </a:rPr>
              <a:t>3</a:t>
            </a:r>
            <a:endParaRPr lang="en-US" sz="2600" dirty="0"/>
          </a:p>
        </p:txBody>
      </p:sp>
      <p:sp>
        <p:nvSpPr>
          <p:cNvPr id="14" name="Text 12"/>
          <p:cNvSpPr/>
          <p:nvPr/>
        </p:nvSpPr>
        <p:spPr>
          <a:xfrm>
            <a:off x="6598768" y="3657600"/>
            <a:ext cx="1699184" cy="1051560"/>
          </a:xfrm>
          <a:prstGeom prst="rect">
            <a:avLst/>
          </a:prstGeom>
          <a:noFill/>
          <a:ln/>
        </p:spPr>
        <p:txBody>
          <a:bodyPr wrap="square" rtlCol="0" anchor="t"/>
          <a:lstStyle/>
          <a:p>
            <a:pPr algn="ctr" indent="0" marL="0">
              <a:lnSpc>
                <a:spcPct val="100000"/>
              </a:lnSpc>
              <a:buNone/>
            </a:pPr>
            <a:r>
              <a:rPr lang="en-US" sz="1400" dirty="0">
                <a:solidFill>
                  <a:srgbClr val="FFFFFF"/>
                </a:solidFill>
                <a:latin typeface="Calibri" pitchFamily="34" charset="0"/>
                <a:ea typeface="Calibri" pitchFamily="34" charset="-122"/>
                <a:cs typeface="Calibri" pitchFamily="34" charset="-120"/>
              </a:rPr>
              <a:t>Garante a viabilidade do negócio</a:t>
            </a:r>
            <a:endParaRPr lang="en-US" sz="1400" dirty="0"/>
          </a:p>
        </p:txBody>
      </p:sp>
      <p:sp>
        <p:nvSpPr>
          <p:cNvPr id="15" name="Shape 13"/>
          <p:cNvSpPr/>
          <p:nvPr/>
        </p:nvSpPr>
        <p:spPr>
          <a:xfrm>
            <a:off x="8892311" y="2834640"/>
            <a:ext cx="2659304" cy="2103120"/>
          </a:xfrm>
          <a:prstGeom prst="chevron">
            <a:avLst/>
          </a:prstGeom>
          <a:solidFill>
            <a:srgbClr val="1B212B"/>
          </a:solidFill>
          <a:ln w="12700">
            <a:solidFill>
              <a:srgbClr val="2C333E"/>
            </a:solidFill>
            <a:prstDash val="solid"/>
          </a:ln>
        </p:spPr>
      </p:sp>
      <p:sp>
        <p:nvSpPr>
          <p:cNvPr id="16" name="Text 14"/>
          <p:cNvSpPr/>
          <p:nvPr/>
        </p:nvSpPr>
        <p:spPr>
          <a:xfrm>
            <a:off x="9349511" y="3054096"/>
            <a:ext cx="1699184" cy="548640"/>
          </a:xfrm>
          <a:prstGeom prst="rect">
            <a:avLst/>
          </a:prstGeom>
          <a:noFill/>
          <a:ln/>
        </p:spPr>
        <p:txBody>
          <a:bodyPr wrap="square" rtlCol="0" anchor="ctr"/>
          <a:lstStyle/>
          <a:p>
            <a:pPr algn="ctr" indent="0" marL="0">
              <a:buNone/>
            </a:pPr>
            <a:r>
              <a:rPr lang="en-US" sz="2600" b="1" dirty="0">
                <a:solidFill>
                  <a:srgbClr val="E8943A"/>
                </a:solidFill>
                <a:latin typeface="Georgia" pitchFamily="34" charset="0"/>
                <a:ea typeface="Georgia" pitchFamily="34" charset="-122"/>
                <a:cs typeface="Georgia" pitchFamily="34" charset="-120"/>
              </a:rPr>
              <a:t>4</a:t>
            </a:r>
            <a:endParaRPr lang="en-US" sz="2600" dirty="0"/>
          </a:p>
        </p:txBody>
      </p:sp>
      <p:sp>
        <p:nvSpPr>
          <p:cNvPr id="17" name="Text 15"/>
          <p:cNvSpPr/>
          <p:nvPr/>
        </p:nvSpPr>
        <p:spPr>
          <a:xfrm>
            <a:off x="9349511" y="3657600"/>
            <a:ext cx="1699184" cy="1051560"/>
          </a:xfrm>
          <a:prstGeom prst="rect">
            <a:avLst/>
          </a:prstGeom>
          <a:noFill/>
          <a:ln/>
        </p:spPr>
        <p:txBody>
          <a:bodyPr wrap="square" rtlCol="0" anchor="t"/>
          <a:lstStyle/>
          <a:p>
            <a:pPr algn="ctr" indent="0" marL="0">
              <a:lnSpc>
                <a:spcPct val="100000"/>
              </a:lnSpc>
              <a:buNone/>
            </a:pPr>
            <a:r>
              <a:rPr lang="en-US" sz="1400" dirty="0">
                <a:solidFill>
                  <a:srgbClr val="A8B4C2"/>
                </a:solidFill>
                <a:latin typeface="Calibri" pitchFamily="34" charset="0"/>
                <a:ea typeface="Calibri" pitchFamily="34" charset="-122"/>
                <a:cs typeface="Calibri" pitchFamily="34" charset="-120"/>
              </a:rPr>
              <a:t>Comunica o valor real ao cliente</a:t>
            </a:r>
            <a:endParaRPr lang="en-US" sz="1400" dirty="0"/>
          </a:p>
        </p:txBody>
      </p:sp>
      <p:sp>
        <p:nvSpPr>
          <p:cNvPr id="18" name="Text 16"/>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9" name="Text 17"/>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Text 1"/>
          <p:cNvSpPr/>
          <p:nvPr/>
        </p:nvSpPr>
        <p:spPr>
          <a:xfrm>
            <a:off x="548640" y="754380"/>
            <a:ext cx="2743200" cy="1783080"/>
          </a:xfrm>
          <a:prstGeom prst="rect">
            <a:avLst/>
          </a:prstGeom>
          <a:noFill/>
          <a:ln/>
        </p:spPr>
        <p:txBody>
          <a:bodyPr wrap="square" rtlCol="0" anchor="ctr"/>
          <a:lstStyle/>
          <a:p>
            <a:pPr algn="l"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5" name="Text 2"/>
          <p:cNvSpPr/>
          <p:nvPr/>
        </p:nvSpPr>
        <p:spPr>
          <a:xfrm>
            <a:off x="8899855" y="4457700"/>
            <a:ext cx="2743200" cy="1783080"/>
          </a:xfrm>
          <a:prstGeom prst="rect">
            <a:avLst/>
          </a:prstGeom>
          <a:noFill/>
          <a:ln/>
        </p:spPr>
        <p:txBody>
          <a:bodyPr wrap="square" rtlCol="0" anchor="ctr"/>
          <a:lstStyle/>
          <a:p>
            <a:pPr algn="r"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6" name="Text 3"/>
          <p:cNvSpPr/>
          <p:nvPr/>
        </p:nvSpPr>
        <p:spPr>
          <a:xfrm>
            <a:off x="1097280" y="1737360"/>
            <a:ext cx="9997135" cy="2926080"/>
          </a:xfrm>
          <a:prstGeom prst="rect">
            <a:avLst/>
          </a:prstGeom>
          <a:noFill/>
          <a:ln/>
          <a:effectLst>
            <a:outerShdw sx="100000" sy="100000" kx="0" ky="0" algn="bl" rotWithShape="0" blurRad="76200" dist="25400" dir="16200000">
              <a:srgbClr val="000000">
                <a:alpha val="50000"/>
              </a:srgbClr>
            </a:outerShdw>
          </a:effectLst>
        </p:spPr>
        <p:txBody>
          <a:bodyPr wrap="square" rtlCol="0" anchor="ctr"/>
          <a:lstStyle/>
          <a:p>
            <a:pPr algn="ctr" indent="0" marL="0">
              <a:lnSpc>
                <a:spcPct val="115000"/>
              </a:lnSpc>
              <a:buNone/>
            </a:pPr>
            <a:r>
              <a:rPr lang="en-US" sz="3400" b="1" i="1" dirty="0">
                <a:solidFill>
                  <a:srgbClr val="FFFFFF"/>
                </a:solidFill>
                <a:latin typeface="Georgia" pitchFamily="34" charset="0"/>
                <a:ea typeface="Georgia" pitchFamily="34" charset="-122"/>
                <a:cs typeface="Georgia" pitchFamily="34" charset="-120"/>
              </a:rPr>
              <a:t>Para um pequeno negócio, definir o preço de um produto ou serviço é como criar o projeto fundamental da sua empresa.</a:t>
            </a:r>
            <a:endParaRPr lang="en-US" sz="3400" dirty="0"/>
          </a:p>
        </p:txBody>
      </p:sp>
      <p:sp>
        <p:nvSpPr>
          <p:cNvPr id="7" name="Shape 4"/>
          <p:cNvSpPr/>
          <p:nvPr/>
        </p:nvSpPr>
        <p:spPr>
          <a:xfrm>
            <a:off x="5638648" y="5029200"/>
            <a:ext cx="914400" cy="50292"/>
          </a:xfrm>
          <a:prstGeom prst="rect">
            <a:avLst/>
          </a:prstGeom>
          <a:solidFill>
            <a:srgbClr val="E8943A"/>
          </a:solidFill>
          <a:ln/>
        </p:spPr>
      </p:sp>
      <p:sp>
        <p:nvSpPr>
          <p:cNvPr id="8"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9"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FUNDAMENTOS DA PRECIFICAÇÃO PARA PEQUENOS NEGÓCIOS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Estratégica: A Bússola do Negócio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822960" y="1783080"/>
            <a:ext cx="4206240" cy="4206240"/>
          </a:xfrm>
          <a:prstGeom prst="pie">
            <a:avLst>
              <a:gd name="adj1" fmla="val 0"/>
              <a:gd name="adj2" fmla="val 5400000"/>
            </a:avLst>
          </a:prstGeom>
          <a:solidFill>
            <a:srgbClr val="D63B3B"/>
          </a:solidFill>
          <a:ln w="31750">
            <a:solidFill>
              <a:srgbClr val="0F1219"/>
            </a:solidFill>
            <a:prstDash val="solid"/>
          </a:ln>
        </p:spPr>
      </p:sp>
      <p:sp>
        <p:nvSpPr>
          <p:cNvPr id="7" name="Shape 5"/>
          <p:cNvSpPr/>
          <p:nvPr/>
        </p:nvSpPr>
        <p:spPr>
          <a:xfrm>
            <a:off x="822960" y="1783080"/>
            <a:ext cx="4206240" cy="4206240"/>
          </a:xfrm>
          <a:prstGeom prst="pie">
            <a:avLst>
              <a:gd name="adj1" fmla="val 5400000"/>
              <a:gd name="adj2" fmla="val 10800000"/>
            </a:avLst>
          </a:prstGeom>
          <a:solidFill>
            <a:srgbClr val="DC593B"/>
          </a:solidFill>
          <a:ln w="31750">
            <a:solidFill>
              <a:srgbClr val="0F1219"/>
            </a:solidFill>
            <a:prstDash val="solid"/>
          </a:ln>
        </p:spPr>
      </p:sp>
      <p:sp>
        <p:nvSpPr>
          <p:cNvPr id="8" name="Shape 6"/>
          <p:cNvSpPr/>
          <p:nvPr/>
        </p:nvSpPr>
        <p:spPr>
          <a:xfrm>
            <a:off x="822960" y="1783080"/>
            <a:ext cx="4206240" cy="4206240"/>
          </a:xfrm>
          <a:prstGeom prst="pie">
            <a:avLst>
              <a:gd name="adj1" fmla="val 10800000"/>
              <a:gd name="adj2" fmla="val 16200000"/>
            </a:avLst>
          </a:prstGeom>
          <a:solidFill>
            <a:srgbClr val="E2763A"/>
          </a:solidFill>
          <a:ln w="31750">
            <a:solidFill>
              <a:srgbClr val="0F1219"/>
            </a:solidFill>
            <a:prstDash val="solid"/>
          </a:ln>
        </p:spPr>
      </p:sp>
      <p:sp>
        <p:nvSpPr>
          <p:cNvPr id="9" name="Shape 7"/>
          <p:cNvSpPr/>
          <p:nvPr/>
        </p:nvSpPr>
        <p:spPr>
          <a:xfrm>
            <a:off x="822960" y="1783080"/>
            <a:ext cx="4206240" cy="4206240"/>
          </a:xfrm>
          <a:prstGeom prst="pie">
            <a:avLst>
              <a:gd name="adj1" fmla="val 16200000"/>
              <a:gd name="adj2" fmla="val 21600000"/>
            </a:avLst>
          </a:prstGeom>
          <a:solidFill>
            <a:srgbClr val="E8943A"/>
          </a:solidFill>
          <a:ln w="31750">
            <a:solidFill>
              <a:srgbClr val="0F1219"/>
            </a:solidFill>
            <a:prstDash val="solid"/>
          </a:ln>
        </p:spPr>
      </p:sp>
      <p:sp>
        <p:nvSpPr>
          <p:cNvPr id="10" name="Shape 8"/>
          <p:cNvSpPr/>
          <p:nvPr/>
        </p:nvSpPr>
        <p:spPr>
          <a:xfrm>
            <a:off x="1874520" y="2834640"/>
            <a:ext cx="2103120" cy="2103120"/>
          </a:xfrm>
          <a:prstGeom prst="ellipse">
            <a:avLst/>
          </a:prstGeom>
          <a:solidFill>
            <a:srgbClr val="0F1219"/>
          </a:solidFill>
          <a:ln/>
        </p:spPr>
      </p:sp>
      <p:sp>
        <p:nvSpPr>
          <p:cNvPr id="11" name="Text 9"/>
          <p:cNvSpPr/>
          <p:nvPr/>
        </p:nvSpPr>
        <p:spPr>
          <a:xfrm>
            <a:off x="1874520" y="2834640"/>
            <a:ext cx="2103120" cy="2103120"/>
          </a:xfrm>
          <a:prstGeom prst="rect">
            <a:avLst/>
          </a:prstGeom>
          <a:noFill/>
          <a:ln/>
        </p:spPr>
        <p:txBody>
          <a:bodyPr wrap="square" rtlCol="0" anchor="ctr"/>
          <a:lstStyle/>
          <a:p>
            <a:pPr algn="ctr" indent="0" marL="0">
              <a:buNone/>
            </a:pPr>
            <a:r>
              <a:rPr lang="en-US" sz="4000" b="1" dirty="0">
                <a:solidFill>
                  <a:srgbClr val="E8943A"/>
                </a:solidFill>
                <a:latin typeface="Georgia" pitchFamily="34" charset="0"/>
                <a:ea typeface="Georgia" pitchFamily="34" charset="-122"/>
                <a:cs typeface="Georgia" pitchFamily="34" charset="-120"/>
              </a:rPr>
              <a:t>4</a:t>
            </a:r>
            <a:endParaRPr lang="en-US" sz="4000" dirty="0"/>
          </a:p>
        </p:txBody>
      </p:sp>
      <p:sp>
        <p:nvSpPr>
          <p:cNvPr id="12" name="Shape 10"/>
          <p:cNvSpPr/>
          <p:nvPr/>
        </p:nvSpPr>
        <p:spPr>
          <a:xfrm>
            <a:off x="2843784" y="2226564"/>
            <a:ext cx="164592" cy="164592"/>
          </a:xfrm>
          <a:prstGeom prst="ellipse">
            <a:avLst/>
          </a:prstGeom>
          <a:solidFill>
            <a:srgbClr val="0F1219"/>
          </a:solidFill>
          <a:ln/>
        </p:spPr>
      </p:sp>
      <p:sp>
        <p:nvSpPr>
          <p:cNvPr id="13" name="Shape 11"/>
          <p:cNvSpPr/>
          <p:nvPr/>
        </p:nvSpPr>
        <p:spPr>
          <a:xfrm>
            <a:off x="2880360" y="2263140"/>
            <a:ext cx="91440" cy="91440"/>
          </a:xfrm>
          <a:prstGeom prst="ellipse">
            <a:avLst/>
          </a:prstGeom>
          <a:solidFill>
            <a:srgbClr val="E8943A"/>
          </a:solidFill>
          <a:ln/>
        </p:spPr>
      </p:sp>
      <p:sp>
        <p:nvSpPr>
          <p:cNvPr id="14" name="Shape 12"/>
          <p:cNvSpPr/>
          <p:nvPr/>
        </p:nvSpPr>
        <p:spPr>
          <a:xfrm>
            <a:off x="4421124" y="3803904"/>
            <a:ext cx="164592" cy="164592"/>
          </a:xfrm>
          <a:prstGeom prst="ellipse">
            <a:avLst/>
          </a:prstGeom>
          <a:solidFill>
            <a:srgbClr val="0F1219"/>
          </a:solidFill>
          <a:ln/>
        </p:spPr>
      </p:sp>
      <p:sp>
        <p:nvSpPr>
          <p:cNvPr id="15" name="Shape 13"/>
          <p:cNvSpPr/>
          <p:nvPr/>
        </p:nvSpPr>
        <p:spPr>
          <a:xfrm>
            <a:off x="4457700" y="3840480"/>
            <a:ext cx="91440" cy="91440"/>
          </a:xfrm>
          <a:prstGeom prst="ellipse">
            <a:avLst/>
          </a:prstGeom>
          <a:solidFill>
            <a:srgbClr val="E8943A"/>
          </a:solidFill>
          <a:ln/>
        </p:spPr>
      </p:sp>
      <p:sp>
        <p:nvSpPr>
          <p:cNvPr id="16" name="Shape 14"/>
          <p:cNvSpPr/>
          <p:nvPr/>
        </p:nvSpPr>
        <p:spPr>
          <a:xfrm>
            <a:off x="2843784" y="5381244"/>
            <a:ext cx="164592" cy="164592"/>
          </a:xfrm>
          <a:prstGeom prst="ellipse">
            <a:avLst/>
          </a:prstGeom>
          <a:solidFill>
            <a:srgbClr val="0F1219"/>
          </a:solidFill>
          <a:ln/>
        </p:spPr>
      </p:sp>
      <p:sp>
        <p:nvSpPr>
          <p:cNvPr id="17" name="Shape 15"/>
          <p:cNvSpPr/>
          <p:nvPr/>
        </p:nvSpPr>
        <p:spPr>
          <a:xfrm>
            <a:off x="2880360" y="5417820"/>
            <a:ext cx="91440" cy="91440"/>
          </a:xfrm>
          <a:prstGeom prst="ellipse">
            <a:avLst/>
          </a:prstGeom>
          <a:solidFill>
            <a:srgbClr val="E8943A"/>
          </a:solidFill>
          <a:ln/>
        </p:spPr>
      </p:sp>
      <p:sp>
        <p:nvSpPr>
          <p:cNvPr id="18" name="Shape 16"/>
          <p:cNvSpPr/>
          <p:nvPr/>
        </p:nvSpPr>
        <p:spPr>
          <a:xfrm>
            <a:off x="1266444" y="3803904"/>
            <a:ext cx="164592" cy="164592"/>
          </a:xfrm>
          <a:prstGeom prst="ellipse">
            <a:avLst/>
          </a:prstGeom>
          <a:solidFill>
            <a:srgbClr val="0F1219"/>
          </a:solidFill>
          <a:ln/>
        </p:spPr>
      </p:sp>
      <p:sp>
        <p:nvSpPr>
          <p:cNvPr id="19" name="Shape 17"/>
          <p:cNvSpPr/>
          <p:nvPr/>
        </p:nvSpPr>
        <p:spPr>
          <a:xfrm>
            <a:off x="1303020" y="3840480"/>
            <a:ext cx="91440" cy="91440"/>
          </a:xfrm>
          <a:prstGeom prst="ellipse">
            <a:avLst/>
          </a:prstGeom>
          <a:solidFill>
            <a:srgbClr val="E8943A"/>
          </a:solidFill>
          <a:ln/>
        </p:spPr>
      </p:sp>
      <p:sp>
        <p:nvSpPr>
          <p:cNvPr id="20" name="Shape 18"/>
          <p:cNvSpPr/>
          <p:nvPr/>
        </p:nvSpPr>
        <p:spPr>
          <a:xfrm>
            <a:off x="5532120" y="2231136"/>
            <a:ext cx="292608" cy="292608"/>
          </a:xfrm>
          <a:prstGeom prst="ellipse">
            <a:avLst/>
          </a:prstGeom>
          <a:solidFill>
            <a:srgbClr val="D63B3B"/>
          </a:solidFill>
          <a:ln/>
        </p:spPr>
      </p:sp>
      <p:sp>
        <p:nvSpPr>
          <p:cNvPr id="21" name="Text 19"/>
          <p:cNvSpPr/>
          <p:nvPr/>
        </p:nvSpPr>
        <p:spPr>
          <a:xfrm>
            <a:off x="5989320" y="187452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Comunica o valor do seu produto</a:t>
            </a:r>
            <a:endParaRPr lang="en-US" sz="1400" dirty="0"/>
          </a:p>
        </p:txBody>
      </p:sp>
      <p:sp>
        <p:nvSpPr>
          <p:cNvPr id="22" name="Shape 20"/>
          <p:cNvSpPr/>
          <p:nvPr/>
        </p:nvSpPr>
        <p:spPr>
          <a:xfrm>
            <a:off x="5532120" y="3236976"/>
            <a:ext cx="292608" cy="292608"/>
          </a:xfrm>
          <a:prstGeom prst="ellipse">
            <a:avLst/>
          </a:prstGeom>
          <a:solidFill>
            <a:srgbClr val="DC593B"/>
          </a:solidFill>
          <a:ln/>
        </p:spPr>
      </p:sp>
      <p:sp>
        <p:nvSpPr>
          <p:cNvPr id="23" name="Text 21"/>
          <p:cNvSpPr/>
          <p:nvPr/>
        </p:nvSpPr>
        <p:spPr>
          <a:xfrm>
            <a:off x="5989320" y="288036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Posiciona sua marca no mercado</a:t>
            </a:r>
            <a:endParaRPr lang="en-US" sz="1400" dirty="0"/>
          </a:p>
        </p:txBody>
      </p:sp>
      <p:sp>
        <p:nvSpPr>
          <p:cNvPr id="24" name="Shape 22"/>
          <p:cNvSpPr/>
          <p:nvPr/>
        </p:nvSpPr>
        <p:spPr>
          <a:xfrm>
            <a:off x="5532120" y="4242816"/>
            <a:ext cx="292608" cy="292608"/>
          </a:xfrm>
          <a:prstGeom prst="ellipse">
            <a:avLst/>
          </a:prstGeom>
          <a:solidFill>
            <a:srgbClr val="E2763A"/>
          </a:solidFill>
          <a:ln/>
        </p:spPr>
      </p:sp>
      <p:sp>
        <p:nvSpPr>
          <p:cNvPr id="25" name="Text 23"/>
          <p:cNvSpPr/>
          <p:nvPr/>
        </p:nvSpPr>
        <p:spPr>
          <a:xfrm>
            <a:off x="5989320" y="388620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Atrai o público-alvo correto</a:t>
            </a:r>
            <a:endParaRPr lang="en-US" sz="1400" dirty="0"/>
          </a:p>
        </p:txBody>
      </p:sp>
      <p:sp>
        <p:nvSpPr>
          <p:cNvPr id="26" name="Shape 24"/>
          <p:cNvSpPr/>
          <p:nvPr/>
        </p:nvSpPr>
        <p:spPr>
          <a:xfrm>
            <a:off x="5532120" y="5248656"/>
            <a:ext cx="292608" cy="292608"/>
          </a:xfrm>
          <a:prstGeom prst="ellipse">
            <a:avLst/>
          </a:prstGeom>
          <a:solidFill>
            <a:srgbClr val="E8943A"/>
          </a:solidFill>
          <a:ln/>
        </p:spPr>
      </p:sp>
      <p:sp>
        <p:nvSpPr>
          <p:cNvPr id="27" name="Text 25"/>
          <p:cNvSpPr/>
          <p:nvPr/>
        </p:nvSpPr>
        <p:spPr>
          <a:xfrm>
            <a:off x="5989320" y="489204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Garante a saúde financeira da empresa</a:t>
            </a:r>
            <a:endParaRPr lang="en-US" sz="1400" dirty="0"/>
          </a:p>
        </p:txBody>
      </p:sp>
      <p:sp>
        <p:nvSpPr>
          <p:cNvPr id="28" name="Text 26"/>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9" name="Text 27"/>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12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943A"/>
          </a:solidFill>
          <a:ln/>
        </p:spPr>
      </p:sp>
      <p:sp>
        <p:nvSpPr>
          <p:cNvPr id="3" name="Text 1"/>
          <p:cNvSpPr/>
          <p:nvPr/>
        </p:nvSpPr>
        <p:spPr>
          <a:xfrm>
            <a:off x="548640" y="891540"/>
            <a:ext cx="2743200" cy="1783080"/>
          </a:xfrm>
          <a:prstGeom prst="rect">
            <a:avLst/>
          </a:prstGeom>
          <a:noFill/>
          <a:ln/>
        </p:spPr>
        <p:txBody>
          <a:bodyPr wrap="square" rtlCol="0" anchor="ctr"/>
          <a:lstStyle/>
          <a:p>
            <a:pPr algn="l" indent="0" marL="0">
              <a:buNone/>
            </a:pPr>
            <a:r>
              <a:rPr lang="en-US" sz="20000" b="1" dirty="0">
                <a:solidFill>
                  <a:srgbClr val="E8943A">
                    <a:alpha val="20000"/>
                  </a:srgbClr>
                </a:solidFill>
                <a:latin typeface="Georgia" pitchFamily="34" charset="0"/>
                <a:ea typeface="Georgia" pitchFamily="34" charset="-122"/>
                <a:cs typeface="Georgia" pitchFamily="34" charset="-120"/>
              </a:rPr>
              <a:t>“</a:t>
            </a:r>
            <a:endParaRPr lang="en-US" sz="20000" dirty="0"/>
          </a:p>
        </p:txBody>
      </p:sp>
      <p:sp>
        <p:nvSpPr>
          <p:cNvPr id="4" name="Text 2"/>
          <p:cNvSpPr/>
          <p:nvPr/>
        </p:nvSpPr>
        <p:spPr>
          <a:xfrm>
            <a:off x="8899855" y="4549140"/>
            <a:ext cx="2743200" cy="1783080"/>
          </a:xfrm>
          <a:prstGeom prst="rect">
            <a:avLst/>
          </a:prstGeom>
          <a:noFill/>
          <a:ln/>
        </p:spPr>
        <p:txBody>
          <a:bodyPr wrap="square" rtlCol="0" anchor="ctr"/>
          <a:lstStyle/>
          <a:p>
            <a:pPr algn="r" indent="0" marL="0">
              <a:buNone/>
            </a:pPr>
            <a:r>
              <a:rPr lang="en-US" sz="20000" b="1" dirty="0">
                <a:solidFill>
                  <a:srgbClr val="E8943A">
                    <a:alpha val="20000"/>
                  </a:srgbClr>
                </a:solidFill>
                <a:latin typeface="Georgia" pitchFamily="34" charset="0"/>
                <a:ea typeface="Georgia" pitchFamily="34" charset="-122"/>
                <a:cs typeface="Georgia" pitchFamily="34" charset="-120"/>
              </a:rPr>
              <a:t>”</a:t>
            </a:r>
            <a:endParaRPr lang="en-US" sz="20000" dirty="0"/>
          </a:p>
        </p:txBody>
      </p:sp>
      <p:sp>
        <p:nvSpPr>
          <p:cNvPr id="5" name="Text 3"/>
          <p:cNvSpPr/>
          <p:nvPr/>
        </p:nvSpPr>
        <p:spPr>
          <a:xfrm>
            <a:off x="1371600" y="1965960"/>
            <a:ext cx="9448495" cy="2743200"/>
          </a:xfrm>
          <a:prstGeom prst="rect">
            <a:avLst/>
          </a:prstGeom>
          <a:noFill/>
          <a:ln/>
        </p:spPr>
        <p:txBody>
          <a:bodyPr wrap="square" rtlCol="0" anchor="ctr"/>
          <a:lstStyle/>
          <a:p>
            <a:pPr algn="ctr" indent="0" marL="0">
              <a:lnSpc>
                <a:spcPct val="118000"/>
              </a:lnSpc>
              <a:buNone/>
            </a:pPr>
            <a:r>
              <a:rPr lang="en-US" sz="2400" i="1" dirty="0">
                <a:solidFill>
                  <a:srgbClr val="F0F4F8"/>
                </a:solidFill>
                <a:latin typeface="Calibri" pitchFamily="34" charset="0"/>
                <a:ea typeface="Calibri" pitchFamily="34" charset="-122"/>
                <a:cs typeface="Calibri" pitchFamily="34" charset="-120"/>
              </a:rPr>
              <a:t>A precificação estratégica busca equilibrar todos esses fatores, garantindo que o preço não apenas cubra os custos, mas também gere lucro, posicione o produto adequadamente no mercado e seja percebido como justo pelo cliente.</a:t>
            </a:r>
            <a:endParaRPr lang="en-US" sz="2400" dirty="0"/>
          </a:p>
        </p:txBody>
      </p:sp>
      <p:sp>
        <p:nvSpPr>
          <p:cNvPr id="6" name="Shape 4"/>
          <p:cNvSpPr/>
          <p:nvPr/>
        </p:nvSpPr>
        <p:spPr>
          <a:xfrm>
            <a:off x="5638648" y="4956048"/>
            <a:ext cx="914400" cy="50292"/>
          </a:xfrm>
          <a:prstGeom prst="rect">
            <a:avLst/>
          </a:prstGeom>
          <a:solidFill>
            <a:srgbClr val="E8943A"/>
          </a:solidFill>
          <a:ln/>
        </p:spPr>
      </p:sp>
      <p:sp>
        <p:nvSpPr>
          <p:cNvPr id="7"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8"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FUNDAMENTOS DA PRECIFICAÇÃO PARA PEQUENOS NEGÓCIOS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Desvendando os Componentes Essenciais do Preço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flipV="1">
            <a:off x="6095848" y="2011680"/>
            <a:ext cx="0" cy="1874520"/>
          </a:xfrm>
          <a:prstGeom prst="line">
            <a:avLst/>
          </a:prstGeom>
          <a:noFill/>
          <a:ln w="12700">
            <a:solidFill>
              <a:srgbClr val="2C333E"/>
            </a:solidFill>
            <a:prstDash val="solid"/>
          </a:ln>
        </p:spPr>
      </p:sp>
      <p:sp>
        <p:nvSpPr>
          <p:cNvPr id="7" name="Shape 5"/>
          <p:cNvSpPr/>
          <p:nvPr/>
        </p:nvSpPr>
        <p:spPr>
          <a:xfrm>
            <a:off x="6095848" y="3886200"/>
            <a:ext cx="3378614" cy="937260"/>
          </a:xfrm>
          <a:prstGeom prst="line">
            <a:avLst/>
          </a:prstGeom>
          <a:noFill/>
          <a:ln w="12700">
            <a:solidFill>
              <a:srgbClr val="2C333E"/>
            </a:solidFill>
            <a:prstDash val="solid"/>
          </a:ln>
        </p:spPr>
      </p:sp>
      <p:sp>
        <p:nvSpPr>
          <p:cNvPr id="8" name="Shape 6"/>
          <p:cNvSpPr/>
          <p:nvPr/>
        </p:nvSpPr>
        <p:spPr>
          <a:xfrm flipH="1">
            <a:off x="2717233" y="3886200"/>
            <a:ext cx="3378614" cy="937260"/>
          </a:xfrm>
          <a:prstGeom prst="line">
            <a:avLst/>
          </a:prstGeom>
          <a:noFill/>
          <a:ln w="12700">
            <a:solidFill>
              <a:srgbClr val="2C333E"/>
            </a:solidFill>
            <a:prstDash val="solid"/>
          </a:ln>
        </p:spPr>
      </p:sp>
      <p:sp>
        <p:nvSpPr>
          <p:cNvPr id="9" name="Shape 7"/>
          <p:cNvSpPr/>
          <p:nvPr/>
        </p:nvSpPr>
        <p:spPr>
          <a:xfrm>
            <a:off x="6095848" y="2011680"/>
            <a:ext cx="3378614" cy="2811780"/>
          </a:xfrm>
          <a:prstGeom prst="line">
            <a:avLst/>
          </a:prstGeom>
          <a:noFill/>
          <a:ln w="9525">
            <a:solidFill>
              <a:srgbClr val="2C333E"/>
            </a:solidFill>
            <a:prstDash val="dash"/>
          </a:ln>
        </p:spPr>
      </p:sp>
      <p:sp>
        <p:nvSpPr>
          <p:cNvPr id="10" name="Shape 8"/>
          <p:cNvSpPr/>
          <p:nvPr/>
        </p:nvSpPr>
        <p:spPr>
          <a:xfrm flipH="1">
            <a:off x="2717233" y="4823460"/>
            <a:ext cx="6757228" cy="0"/>
          </a:xfrm>
          <a:prstGeom prst="line">
            <a:avLst/>
          </a:prstGeom>
          <a:noFill/>
          <a:ln w="9525">
            <a:solidFill>
              <a:srgbClr val="2C333E"/>
            </a:solidFill>
            <a:prstDash val="dash"/>
          </a:ln>
        </p:spPr>
      </p:sp>
      <p:sp>
        <p:nvSpPr>
          <p:cNvPr id="11" name="Shape 9"/>
          <p:cNvSpPr/>
          <p:nvPr/>
        </p:nvSpPr>
        <p:spPr>
          <a:xfrm flipV="1">
            <a:off x="2717233" y="2011680"/>
            <a:ext cx="3378614" cy="2811780"/>
          </a:xfrm>
          <a:prstGeom prst="line">
            <a:avLst/>
          </a:prstGeom>
          <a:noFill/>
          <a:ln w="9525">
            <a:solidFill>
              <a:srgbClr val="2C333E"/>
            </a:solidFill>
            <a:prstDash val="dash"/>
          </a:ln>
        </p:spPr>
      </p:sp>
      <p:sp>
        <p:nvSpPr>
          <p:cNvPr id="12" name="Shape 10"/>
          <p:cNvSpPr/>
          <p:nvPr/>
        </p:nvSpPr>
        <p:spPr>
          <a:xfrm>
            <a:off x="5455768" y="3246120"/>
            <a:ext cx="1280160" cy="1280160"/>
          </a:xfrm>
          <a:prstGeom prst="ellipse">
            <a:avLst/>
          </a:prstGeom>
          <a:solidFill>
            <a:srgbClr val="D63B3B"/>
          </a:solidFill>
          <a:ln/>
        </p:spPr>
      </p:sp>
      <p:sp>
        <p:nvSpPr>
          <p:cNvPr id="13" name="Text 11"/>
          <p:cNvSpPr/>
          <p:nvPr/>
        </p:nvSpPr>
        <p:spPr>
          <a:xfrm>
            <a:off x="5492344" y="3246120"/>
            <a:ext cx="1207008" cy="1280160"/>
          </a:xfrm>
          <a:prstGeom prst="rect">
            <a:avLst/>
          </a:prstGeom>
          <a:noFill/>
          <a:ln/>
        </p:spPr>
        <p:txBody>
          <a:bodyPr wrap="square" rtlCol="0" anchor="ctr"/>
          <a:lstStyle/>
          <a:p>
            <a:pPr algn="ctr" indent="0" marL="0">
              <a:lnSpc>
                <a:spcPct val="95000"/>
              </a:lnSpc>
              <a:buNone/>
            </a:pPr>
            <a:r>
              <a:rPr lang="en-US" sz="1100" b="1" dirty="0">
                <a:solidFill>
                  <a:srgbClr val="FFFFFF"/>
                </a:solidFill>
                <a:latin typeface="Calibri" pitchFamily="34" charset="0"/>
                <a:ea typeface="Calibri" pitchFamily="34" charset="-122"/>
                <a:cs typeface="Calibri" pitchFamily="34" charset="-120"/>
              </a:rPr>
              <a:t>Desvendando Compon</a:t>
            </a:r>
            <a:endParaRPr lang="en-US" sz="1100" dirty="0"/>
          </a:p>
        </p:txBody>
      </p:sp>
      <p:sp>
        <p:nvSpPr>
          <p:cNvPr id="14" name="Shape 12"/>
          <p:cNvSpPr/>
          <p:nvPr/>
        </p:nvSpPr>
        <p:spPr>
          <a:xfrm>
            <a:off x="4952848" y="1600200"/>
            <a:ext cx="2286000" cy="822960"/>
          </a:xfrm>
          <a:prstGeom prst="roundRect">
            <a:avLst>
              <a:gd name="adj" fmla="val 8889"/>
            </a:avLst>
          </a:prstGeom>
          <a:solidFill>
            <a:srgbClr val="1B212B"/>
          </a:solidFill>
          <a:ln w="12700">
            <a:solidFill>
              <a:srgbClr val="2C333E"/>
            </a:solidFill>
            <a:prstDash val="solid"/>
          </a:ln>
        </p:spPr>
      </p:sp>
      <p:sp>
        <p:nvSpPr>
          <p:cNvPr id="15" name="Text 13"/>
          <p:cNvSpPr/>
          <p:nvPr/>
        </p:nvSpPr>
        <p:spPr>
          <a:xfrm>
            <a:off x="5080864" y="1600200"/>
            <a:ext cx="2029968" cy="822960"/>
          </a:xfrm>
          <a:prstGeom prst="rect">
            <a:avLst/>
          </a:prstGeom>
          <a:noFill/>
          <a:ln/>
        </p:spPr>
        <p:txBody>
          <a:bodyPr wrap="square" rtlCol="0" anchor="ctr"/>
          <a:lstStyle/>
          <a:p>
            <a:pPr algn="ctr" indent="0" marL="0">
              <a:lnSpc>
                <a:spcPct val="98000"/>
              </a:lnSpc>
              <a:buNone/>
            </a:pPr>
            <a:r>
              <a:rPr lang="en-US" sz="1600" dirty="0">
                <a:solidFill>
                  <a:srgbClr val="A8B4C2"/>
                </a:solidFill>
                <a:latin typeface="Calibri" pitchFamily="34" charset="0"/>
                <a:ea typeface="Calibri" pitchFamily="34" charset="-122"/>
                <a:cs typeface="Calibri" pitchFamily="34" charset="-120"/>
              </a:rPr>
              <a:t>Entender os pilares básicos</a:t>
            </a:r>
            <a:endParaRPr lang="en-US" sz="1600" dirty="0"/>
          </a:p>
        </p:txBody>
      </p:sp>
      <p:sp>
        <p:nvSpPr>
          <p:cNvPr id="16" name="Shape 14"/>
          <p:cNvSpPr/>
          <p:nvPr/>
        </p:nvSpPr>
        <p:spPr>
          <a:xfrm>
            <a:off x="8331462" y="4411980"/>
            <a:ext cx="2286000" cy="822960"/>
          </a:xfrm>
          <a:prstGeom prst="roundRect">
            <a:avLst>
              <a:gd name="adj" fmla="val 8889"/>
            </a:avLst>
          </a:prstGeom>
          <a:solidFill>
            <a:srgbClr val="1B212B"/>
          </a:solidFill>
          <a:ln w="12700">
            <a:solidFill>
              <a:srgbClr val="2C333E"/>
            </a:solidFill>
            <a:prstDash val="solid"/>
          </a:ln>
        </p:spPr>
      </p:sp>
      <p:sp>
        <p:nvSpPr>
          <p:cNvPr id="17" name="Text 15"/>
          <p:cNvSpPr/>
          <p:nvPr/>
        </p:nvSpPr>
        <p:spPr>
          <a:xfrm>
            <a:off x="8459478" y="4411980"/>
            <a:ext cx="2029968" cy="822960"/>
          </a:xfrm>
          <a:prstGeom prst="rect">
            <a:avLst/>
          </a:prstGeom>
          <a:noFill/>
          <a:ln/>
        </p:spPr>
        <p:txBody>
          <a:bodyPr wrap="square" rtlCol="0" anchor="ctr"/>
          <a:lstStyle/>
          <a:p>
            <a:pPr algn="ctr" indent="0" marL="0">
              <a:lnSpc>
                <a:spcPct val="98000"/>
              </a:lnSpc>
              <a:buNone/>
            </a:pPr>
            <a:r>
              <a:rPr lang="en-US" sz="1600" dirty="0">
                <a:solidFill>
                  <a:srgbClr val="A8B4C2"/>
                </a:solidFill>
                <a:latin typeface="Calibri" pitchFamily="34" charset="0"/>
                <a:ea typeface="Calibri" pitchFamily="34" charset="-122"/>
                <a:cs typeface="Calibri" pitchFamily="34" charset="-120"/>
              </a:rPr>
              <a:t>Sustentam a estratégia de precificação</a:t>
            </a:r>
            <a:endParaRPr lang="en-US" sz="1600" dirty="0"/>
          </a:p>
        </p:txBody>
      </p:sp>
      <p:sp>
        <p:nvSpPr>
          <p:cNvPr id="18" name="Shape 16"/>
          <p:cNvSpPr/>
          <p:nvPr/>
        </p:nvSpPr>
        <p:spPr>
          <a:xfrm>
            <a:off x="1574233" y="4411980"/>
            <a:ext cx="2286000" cy="822960"/>
          </a:xfrm>
          <a:prstGeom prst="roundRect">
            <a:avLst>
              <a:gd name="adj" fmla="val 8889"/>
            </a:avLst>
          </a:prstGeom>
          <a:solidFill>
            <a:srgbClr val="1B212B"/>
          </a:solidFill>
          <a:ln w="12700">
            <a:solidFill>
              <a:srgbClr val="2C333E"/>
            </a:solidFill>
            <a:prstDash val="solid"/>
          </a:ln>
        </p:spPr>
      </p:sp>
      <p:sp>
        <p:nvSpPr>
          <p:cNvPr id="19" name="Text 17"/>
          <p:cNvSpPr/>
          <p:nvPr/>
        </p:nvSpPr>
        <p:spPr>
          <a:xfrm>
            <a:off x="1702249" y="4411980"/>
            <a:ext cx="2029968" cy="822960"/>
          </a:xfrm>
          <a:prstGeom prst="rect">
            <a:avLst/>
          </a:prstGeom>
          <a:noFill/>
          <a:ln/>
        </p:spPr>
        <p:txBody>
          <a:bodyPr wrap="square" rtlCol="0" anchor="ctr"/>
          <a:lstStyle/>
          <a:p>
            <a:pPr algn="ctr" indent="0" marL="0">
              <a:lnSpc>
                <a:spcPct val="98000"/>
              </a:lnSpc>
              <a:buNone/>
            </a:pPr>
            <a:r>
              <a:rPr lang="en-US" sz="1600" dirty="0">
                <a:solidFill>
                  <a:srgbClr val="A8B4C2"/>
                </a:solidFill>
                <a:latin typeface="Calibri" pitchFamily="34" charset="0"/>
                <a:ea typeface="Calibri" pitchFamily="34" charset="-122"/>
                <a:cs typeface="Calibri" pitchFamily="34" charset="-120"/>
              </a:rPr>
              <a:t>Fundamental para construir um preço sólido</a:t>
            </a:r>
            <a:endParaRPr lang="en-US" sz="1600" dirty="0"/>
          </a:p>
        </p:txBody>
      </p:sp>
      <p:sp>
        <p:nvSpPr>
          <p:cNvPr id="20" name="Text 18"/>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1" name="Text 19"/>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FUNDAMENTOS DA PRECIFICAÇÃO PARA PEQUENOS NEGÓCIOS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Custo vs. Despesa: Distinção Crucial</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2400538"/>
                <a:gridCol w="4255499"/>
                <a:gridCol w="4255499"/>
              </a:tblGrid>
              <a:tr h="868680">
                <a:tc>
                  <a:txBody>
                    <a:bodyPr/>
                    <a:lstStyle/>
                    <a:p>
                      <a:pPr algn="l" indent="0" marL="0">
                        <a:buNone/>
                      </a:pP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c>
                  <a:txBody>
                    <a:bodyPr/>
                    <a:lstStyle/>
                    <a:p>
                      <a:pPr algn="l" indent="0" marL="0">
                        <a:buNone/>
                      </a:pPr>
                      <a:r>
                        <a:rPr lang="en-US" sz="1200" b="1" dirty="0">
                          <a:solidFill>
                            <a:srgbClr val="D63B3B"/>
                          </a:solidFill>
                          <a:latin typeface="Calibri" pitchFamily="34" charset="0"/>
                          <a:ea typeface="Calibri" pitchFamily="34" charset="-122"/>
                          <a:cs typeface="Calibri" pitchFamily="34" charset="-120"/>
                        </a:rPr>
                        <a:t>Custo</a:t>
                      </a: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c>
                  <a:txBody>
                    <a:bodyPr/>
                    <a:lstStyle/>
                    <a:p>
                      <a:pPr algn="l" indent="0" marL="0">
                        <a:buNone/>
                      </a:pPr>
                      <a:r>
                        <a:rPr lang="en-US" sz="1200" b="1" dirty="0">
                          <a:solidFill>
                            <a:srgbClr val="D63B3B"/>
                          </a:solidFill>
                          <a:latin typeface="Calibri" pitchFamily="34" charset="0"/>
                          <a:ea typeface="Calibri" pitchFamily="34" charset="-122"/>
                          <a:cs typeface="Calibri" pitchFamily="34" charset="-120"/>
                        </a:rPr>
                        <a:t>Despesa</a:t>
                      </a: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Objetivo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Gasto para produzir ou adquirir</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Gasto para manter o negócio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Ligação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Direta com o produto/serviço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Indireta, ligada à gestão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Variação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Pode ser fixo ou variável</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Geralmente fixo (operacional)</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Exemplo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Matéria-prima, mão de obra</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Aluguel, marketing, salários adm.</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bl>
          </a:graphicData>
        </a:graphic>
      </p:graphicFrame>
      <p:sp>
        <p:nvSpPr>
          <p:cNvPr id="7" name="Text 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8" name="Text 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FUNDAMENTOS DA PRECIFICAÇÃO PARA PEQUENOS NEGÓCIOS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Principais Conclusões do Módulo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5327752" cy="2276856"/>
          </a:xfrm>
          <a:prstGeom prst="roundRect">
            <a:avLst>
              <a:gd name="adj" fmla="val 2410"/>
            </a:avLst>
          </a:prstGeom>
          <a:solidFill>
            <a:srgbClr val="1B212B"/>
          </a:solidFill>
          <a:ln/>
        </p:spPr>
      </p:sp>
      <p:sp>
        <p:nvSpPr>
          <p:cNvPr id="7" name="Text 5"/>
          <p:cNvSpPr/>
          <p:nvPr/>
        </p:nvSpPr>
        <p:spPr>
          <a:xfrm>
            <a:off x="804672" y="1426464"/>
            <a:ext cx="420624" cy="2276856"/>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1426464"/>
            <a:ext cx="4486504" cy="2276856"/>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Precificação é um projeto estratégico, não apenas um cálculo</a:t>
            </a:r>
            <a:endParaRPr lang="en-US" sz="1400" dirty="0"/>
          </a:p>
        </p:txBody>
      </p:sp>
      <p:sp>
        <p:nvSpPr>
          <p:cNvPr id="9" name="Shape 7"/>
          <p:cNvSpPr/>
          <p:nvPr/>
        </p:nvSpPr>
        <p:spPr>
          <a:xfrm>
            <a:off x="6223864" y="1426464"/>
            <a:ext cx="5327752" cy="2276856"/>
          </a:xfrm>
          <a:prstGeom prst="roundRect">
            <a:avLst>
              <a:gd name="adj" fmla="val 2410"/>
            </a:avLst>
          </a:prstGeom>
          <a:solidFill>
            <a:srgbClr val="1B212B"/>
          </a:solidFill>
          <a:ln/>
        </p:spPr>
      </p:sp>
      <p:sp>
        <p:nvSpPr>
          <p:cNvPr id="10" name="Text 8"/>
          <p:cNvSpPr/>
          <p:nvPr/>
        </p:nvSpPr>
        <p:spPr>
          <a:xfrm>
            <a:off x="6388456" y="1426464"/>
            <a:ext cx="420624" cy="2276856"/>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6882232" y="1426464"/>
            <a:ext cx="4486504" cy="2276856"/>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Equilibra custos, lucro, posicionamento e valor percebido</a:t>
            </a:r>
            <a:endParaRPr lang="en-US" sz="1400" dirty="0"/>
          </a:p>
        </p:txBody>
      </p:sp>
      <p:sp>
        <p:nvSpPr>
          <p:cNvPr id="12" name="Shape 10"/>
          <p:cNvSpPr/>
          <p:nvPr/>
        </p:nvSpPr>
        <p:spPr>
          <a:xfrm>
            <a:off x="640080" y="4069080"/>
            <a:ext cx="5327752" cy="2276856"/>
          </a:xfrm>
          <a:prstGeom prst="roundRect">
            <a:avLst>
              <a:gd name="adj" fmla="val 2410"/>
            </a:avLst>
          </a:prstGeom>
          <a:solidFill>
            <a:srgbClr val="1B212B"/>
          </a:solidFill>
          <a:ln/>
        </p:spPr>
      </p:sp>
      <p:sp>
        <p:nvSpPr>
          <p:cNvPr id="13" name="Text 11"/>
          <p:cNvSpPr/>
          <p:nvPr/>
        </p:nvSpPr>
        <p:spPr>
          <a:xfrm>
            <a:off x="804672" y="4069080"/>
            <a:ext cx="420624" cy="2276856"/>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298448" y="4069080"/>
            <a:ext cx="4486504" cy="2276856"/>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Distinguir Custo de Despesa é fundamental para a saúde financeira</a:t>
            </a:r>
            <a:endParaRPr lang="en-US" sz="1400" dirty="0"/>
          </a:p>
        </p:txBody>
      </p:sp>
      <p:sp>
        <p:nvSpPr>
          <p:cNvPr id="15" name="Shape 13"/>
          <p:cNvSpPr/>
          <p:nvPr/>
        </p:nvSpPr>
        <p:spPr>
          <a:xfrm>
            <a:off x="6223864" y="4069080"/>
            <a:ext cx="5327752" cy="2276856"/>
          </a:xfrm>
          <a:prstGeom prst="roundRect">
            <a:avLst>
              <a:gd name="adj" fmla="val 2410"/>
            </a:avLst>
          </a:prstGeom>
          <a:solidFill>
            <a:srgbClr val="1B212B"/>
          </a:solidFill>
          <a:ln/>
        </p:spPr>
      </p:sp>
      <p:sp>
        <p:nvSpPr>
          <p:cNvPr id="16" name="Text 14"/>
          <p:cNvSpPr/>
          <p:nvPr/>
        </p:nvSpPr>
        <p:spPr>
          <a:xfrm>
            <a:off x="6388456" y="4069080"/>
            <a:ext cx="420624" cy="2276856"/>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6882232" y="4069080"/>
            <a:ext cx="4486504" cy="2276856"/>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Uma abordagem estruturada é vital para a rentabilidade</a:t>
            </a:r>
            <a:endParaRPr lang="en-US" sz="1400" dirty="0"/>
          </a:p>
        </p:txBody>
      </p:sp>
      <p:sp>
        <p:nvSpPr>
          <p:cNvPr id="18" name="Text 16"/>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9" name="Text 17"/>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D13">
              <a:alpha val="72000"/>
            </a:srgbClr>
          </a:solidFill>
          <a:ln/>
        </p:spPr>
      </p:sp>
      <p:sp>
        <p:nvSpPr>
          <p:cNvPr id="4" name="Shape 1"/>
          <p:cNvSpPr/>
          <p:nvPr/>
        </p:nvSpPr>
        <p:spPr>
          <a:xfrm>
            <a:off x="0" y="0"/>
            <a:ext cx="7498080" cy="6858000"/>
          </a:xfrm>
          <a:prstGeom prst="rect">
            <a:avLst/>
          </a:prstGeom>
          <a:solidFill>
            <a:srgbClr val="0A0D13">
              <a:alpha val="94000"/>
            </a:srgbClr>
          </a:solidFill>
          <a:ln/>
        </p:spPr>
      </p:sp>
      <p:sp>
        <p:nvSpPr>
          <p:cNvPr id="5" name="Text 2"/>
          <p:cNvSpPr/>
          <p:nvPr/>
        </p:nvSpPr>
        <p:spPr>
          <a:xfrm>
            <a:off x="640080" y="1280160"/>
            <a:ext cx="6400800" cy="411480"/>
          </a:xfrm>
          <a:prstGeom prst="rect">
            <a:avLst/>
          </a:prstGeom>
          <a:noFill/>
          <a:ln/>
        </p:spPr>
        <p:txBody>
          <a:bodyPr wrap="square" rtlCol="0" anchor="ctr"/>
          <a:lstStyle/>
          <a:p>
            <a:pPr indent="0" marL="0">
              <a:buNone/>
            </a:pPr>
            <a:r>
              <a:rPr lang="en-US" sz="1500" b="1" spc="500" kern="0" dirty="0">
                <a:solidFill>
                  <a:srgbClr val="E8943A"/>
                </a:solidFill>
                <a:latin typeface="Calibri" pitchFamily="34" charset="0"/>
                <a:ea typeface="Calibri" pitchFamily="34" charset="-122"/>
                <a:cs typeface="Calibri" pitchFamily="34" charset="-120"/>
              </a:rPr>
              <a:t>MÓDULO</a:t>
            </a:r>
            <a:endParaRPr lang="en-US" sz="1500" dirty="0"/>
          </a:p>
        </p:txBody>
      </p:sp>
      <p:sp>
        <p:nvSpPr>
          <p:cNvPr id="6" name="Text 3"/>
          <p:cNvSpPr/>
          <p:nvPr/>
        </p:nvSpPr>
        <p:spPr>
          <a:xfrm>
            <a:off x="566928" y="1554480"/>
            <a:ext cx="5486400" cy="2468880"/>
          </a:xfrm>
          <a:prstGeom prst="rect">
            <a:avLst/>
          </a:prstGeom>
          <a:noFill/>
          <a:ln/>
        </p:spPr>
        <p:txBody>
          <a:bodyPr wrap="square" rtlCol="0" anchor="ctr"/>
          <a:lstStyle/>
          <a:p>
            <a:pPr algn="l" indent="0" marL="0">
              <a:buNone/>
            </a:pPr>
            <a:r>
              <a:rPr lang="en-US" sz="20000" b="1" dirty="0">
                <a:solidFill>
                  <a:srgbClr val="E8943A">
                    <a:alpha val="78000"/>
                  </a:srgbClr>
                </a:solidFill>
                <a:latin typeface="Georgia" pitchFamily="34" charset="0"/>
                <a:ea typeface="Georgia" pitchFamily="34" charset="-122"/>
                <a:cs typeface="Georgia" pitchFamily="34" charset="-120"/>
              </a:rPr>
              <a:t>02</a:t>
            </a:r>
            <a:endParaRPr lang="en-US" sz="20000" dirty="0"/>
          </a:p>
        </p:txBody>
      </p:sp>
      <p:sp>
        <p:nvSpPr>
          <p:cNvPr id="7" name="Shape 4"/>
          <p:cNvSpPr/>
          <p:nvPr/>
        </p:nvSpPr>
        <p:spPr>
          <a:xfrm>
            <a:off x="676656" y="4114800"/>
            <a:ext cx="1005840" cy="82296"/>
          </a:xfrm>
          <a:prstGeom prst="rect">
            <a:avLst/>
          </a:prstGeom>
          <a:solidFill>
            <a:srgbClr val="E8943A"/>
          </a:solidFill>
          <a:ln/>
        </p:spPr>
      </p:sp>
      <p:sp>
        <p:nvSpPr>
          <p:cNvPr id="8" name="Text 5"/>
          <p:cNvSpPr/>
          <p:nvPr/>
        </p:nvSpPr>
        <p:spPr>
          <a:xfrm>
            <a:off x="640080" y="4370832"/>
            <a:ext cx="7223760" cy="1920240"/>
          </a:xfrm>
          <a:prstGeom prst="rect">
            <a:avLst/>
          </a:prstGeom>
          <a:noFill/>
          <a:ln/>
        </p:spPr>
        <p:txBody>
          <a:bodyPr wrap="square" rtlCol="0" anchor="t"/>
          <a:lstStyle/>
          <a:p>
            <a:pPr indent="0" marL="0">
              <a:lnSpc>
                <a:spcPct val="102000"/>
              </a:lnSpc>
              <a:buNone/>
            </a:pPr>
            <a:r>
              <a:rPr lang="en-US" sz="4200" b="1" dirty="0">
                <a:solidFill>
                  <a:srgbClr val="FFFFFF"/>
                </a:solidFill>
                <a:latin typeface="Georgia" pitchFamily="34" charset="0"/>
                <a:ea typeface="Georgia" pitchFamily="34" charset="-122"/>
                <a:cs typeface="Georgia" pitchFamily="34" charset="-120"/>
              </a:rPr>
              <a:t>Análise de Custos e Ponto de Equilíbrio</a:t>
            </a:r>
            <a:endParaRPr lang="en-US" sz="4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Visão Geral do Módulo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2441448"/>
            <a:ext cx="5318608" cy="1307592"/>
          </a:xfrm>
          <a:prstGeom prst="roundRect">
            <a:avLst>
              <a:gd name="adj" fmla="val 6993"/>
            </a:avLst>
          </a:prstGeom>
          <a:solidFill>
            <a:srgbClr val="1B212B"/>
          </a:solidFill>
          <a:ln w="12700">
            <a:solidFill>
              <a:srgbClr val="2C333E"/>
            </a:solidFill>
            <a:prstDash val="solid"/>
          </a:ln>
          <a:effectLst>
            <a:outerShdw sx="100000" sy="100000" kx="0" ky="0" algn="bl" rotWithShape="0" blurRad="88900" dist="25400" dir="5400000">
              <a:srgbClr val="000000">
                <a:alpha val="18000"/>
              </a:srgbClr>
            </a:outerShdw>
          </a:effectLst>
        </p:spPr>
      </p:sp>
      <p:sp>
        <p:nvSpPr>
          <p:cNvPr id="7" name="Shape 5"/>
          <p:cNvSpPr/>
          <p:nvPr/>
        </p:nvSpPr>
        <p:spPr>
          <a:xfrm>
            <a:off x="896112" y="2697480"/>
            <a:ext cx="457200" cy="457200"/>
          </a:xfrm>
          <a:prstGeom prst="roundRect">
            <a:avLst>
              <a:gd name="adj" fmla="val 12000"/>
            </a:avLst>
          </a:prstGeom>
          <a:solidFill>
            <a:srgbClr val="D63B3B"/>
          </a:solidFill>
          <a:ln/>
        </p:spPr>
      </p:sp>
      <p:sp>
        <p:nvSpPr>
          <p:cNvPr id="8" name="Text 6"/>
          <p:cNvSpPr/>
          <p:nvPr/>
        </p:nvSpPr>
        <p:spPr>
          <a:xfrm>
            <a:off x="896112"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896112" y="3282696"/>
            <a:ext cx="4806544" cy="246888"/>
          </a:xfrm>
          <a:prstGeom prst="rect">
            <a:avLst/>
          </a:prstGeom>
          <a:noFill/>
          <a:ln/>
        </p:spPr>
        <p:txBody>
          <a:bodyPr wrap="square" rtlCol="0" anchor="t"/>
          <a:lstStyle/>
          <a:p>
            <a:pPr algn="l" indent="0" marL="0">
              <a:lnSpc>
                <a:spcPct val="106000"/>
              </a:lnSpc>
              <a:buNone/>
            </a:pPr>
            <a:r>
              <a:rPr lang="en-US" sz="1500" dirty="0">
                <a:solidFill>
                  <a:srgbClr val="A8B4C2"/>
                </a:solidFill>
                <a:latin typeface="Calibri" pitchFamily="34" charset="0"/>
                <a:ea typeface="Calibri" pitchFamily="34" charset="-122"/>
                <a:cs typeface="Calibri" pitchFamily="34" charset="-120"/>
              </a:rPr>
              <a:t>Desvendar a estrutura de custos do negócio</a:t>
            </a:r>
            <a:endParaRPr lang="en-US" sz="1500" dirty="0"/>
          </a:p>
        </p:txBody>
      </p:sp>
      <p:sp>
        <p:nvSpPr>
          <p:cNvPr id="10" name="Shape 8"/>
          <p:cNvSpPr/>
          <p:nvPr/>
        </p:nvSpPr>
        <p:spPr>
          <a:xfrm>
            <a:off x="6233008" y="2441448"/>
            <a:ext cx="5318608" cy="1307592"/>
          </a:xfrm>
          <a:prstGeom prst="roundRect">
            <a:avLst>
              <a:gd name="adj" fmla="val 6993"/>
            </a:avLst>
          </a:prstGeom>
          <a:solidFill>
            <a:srgbClr val="1B212B"/>
          </a:solidFill>
          <a:ln w="12700">
            <a:solidFill>
              <a:srgbClr val="2C333E"/>
            </a:solidFill>
            <a:prstDash val="solid"/>
          </a:ln>
          <a:effectLst>
            <a:outerShdw sx="100000" sy="100000" kx="0" ky="0" algn="bl" rotWithShape="0" blurRad="88900" dist="25400" dir="5400000">
              <a:srgbClr val="000000">
                <a:alpha val="18000"/>
              </a:srgbClr>
            </a:outerShdw>
          </a:effectLst>
        </p:spPr>
      </p:sp>
      <p:sp>
        <p:nvSpPr>
          <p:cNvPr id="11" name="Shape 9"/>
          <p:cNvSpPr/>
          <p:nvPr/>
        </p:nvSpPr>
        <p:spPr>
          <a:xfrm>
            <a:off x="6489040" y="2697480"/>
            <a:ext cx="457200" cy="457200"/>
          </a:xfrm>
          <a:prstGeom prst="roundRect">
            <a:avLst>
              <a:gd name="adj" fmla="val 12000"/>
            </a:avLst>
          </a:prstGeom>
          <a:solidFill>
            <a:srgbClr val="D63B3B"/>
          </a:solidFill>
          <a:ln/>
        </p:spPr>
      </p:sp>
      <p:sp>
        <p:nvSpPr>
          <p:cNvPr id="12" name="Text 10"/>
          <p:cNvSpPr/>
          <p:nvPr/>
        </p:nvSpPr>
        <p:spPr>
          <a:xfrm>
            <a:off x="6489040"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6489040" y="3282696"/>
            <a:ext cx="4806544" cy="246888"/>
          </a:xfrm>
          <a:prstGeom prst="rect">
            <a:avLst/>
          </a:prstGeom>
          <a:noFill/>
          <a:ln/>
        </p:spPr>
        <p:txBody>
          <a:bodyPr wrap="square" rtlCol="0" anchor="t"/>
          <a:lstStyle/>
          <a:p>
            <a:pPr algn="l" indent="0" marL="0">
              <a:lnSpc>
                <a:spcPct val="106000"/>
              </a:lnSpc>
              <a:buNone/>
            </a:pPr>
            <a:r>
              <a:rPr lang="en-US" sz="1500" dirty="0">
                <a:solidFill>
                  <a:srgbClr val="A8B4C2"/>
                </a:solidFill>
                <a:latin typeface="Calibri" pitchFamily="34" charset="0"/>
                <a:ea typeface="Calibri" pitchFamily="34" charset="-122"/>
                <a:cs typeface="Calibri" pitchFamily="34" charset="-120"/>
              </a:rPr>
              <a:t>Classificar e apurar custos com precisão</a:t>
            </a:r>
            <a:endParaRPr lang="en-US" sz="1500" dirty="0"/>
          </a:p>
        </p:txBody>
      </p:sp>
      <p:sp>
        <p:nvSpPr>
          <p:cNvPr id="14" name="Shape 12"/>
          <p:cNvSpPr/>
          <p:nvPr/>
        </p:nvSpPr>
        <p:spPr>
          <a:xfrm>
            <a:off x="640080" y="4023360"/>
            <a:ext cx="5318608" cy="1307592"/>
          </a:xfrm>
          <a:prstGeom prst="roundRect">
            <a:avLst>
              <a:gd name="adj" fmla="val 6993"/>
            </a:avLst>
          </a:prstGeom>
          <a:solidFill>
            <a:srgbClr val="1B212B"/>
          </a:solidFill>
          <a:ln w="12700">
            <a:solidFill>
              <a:srgbClr val="2C333E"/>
            </a:solidFill>
            <a:prstDash val="solid"/>
          </a:ln>
          <a:effectLst>
            <a:outerShdw sx="100000" sy="100000" kx="0" ky="0" algn="bl" rotWithShape="0" blurRad="88900" dist="25400" dir="5400000">
              <a:srgbClr val="000000">
                <a:alpha val="18000"/>
              </a:srgbClr>
            </a:outerShdw>
          </a:effectLst>
        </p:spPr>
      </p:sp>
      <p:sp>
        <p:nvSpPr>
          <p:cNvPr id="15" name="Shape 13"/>
          <p:cNvSpPr/>
          <p:nvPr/>
        </p:nvSpPr>
        <p:spPr>
          <a:xfrm>
            <a:off x="896112" y="4279392"/>
            <a:ext cx="457200" cy="457200"/>
          </a:xfrm>
          <a:prstGeom prst="roundRect">
            <a:avLst>
              <a:gd name="adj" fmla="val 12000"/>
            </a:avLst>
          </a:prstGeom>
          <a:solidFill>
            <a:srgbClr val="D63B3B"/>
          </a:solidFill>
          <a:ln/>
        </p:spPr>
      </p:sp>
      <p:sp>
        <p:nvSpPr>
          <p:cNvPr id="16" name="Text 14"/>
          <p:cNvSpPr/>
          <p:nvPr/>
        </p:nvSpPr>
        <p:spPr>
          <a:xfrm>
            <a:off x="896112" y="4279392"/>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896112" y="4864608"/>
            <a:ext cx="4806544" cy="246888"/>
          </a:xfrm>
          <a:prstGeom prst="rect">
            <a:avLst/>
          </a:prstGeom>
          <a:noFill/>
          <a:ln/>
        </p:spPr>
        <p:txBody>
          <a:bodyPr wrap="square" rtlCol="0" anchor="t"/>
          <a:lstStyle/>
          <a:p>
            <a:pPr algn="l" indent="0" marL="0">
              <a:lnSpc>
                <a:spcPct val="106000"/>
              </a:lnSpc>
              <a:buNone/>
            </a:pPr>
            <a:r>
              <a:rPr lang="en-US" sz="1500" dirty="0">
                <a:solidFill>
                  <a:srgbClr val="A8B4C2"/>
                </a:solidFill>
                <a:latin typeface="Calibri" pitchFamily="34" charset="0"/>
                <a:ea typeface="Calibri" pitchFamily="34" charset="-122"/>
                <a:cs typeface="Calibri" pitchFamily="34" charset="-120"/>
              </a:rPr>
              <a:t>Diferenciar custos fixos e variáveis</a:t>
            </a:r>
            <a:endParaRPr lang="en-US" sz="1500" dirty="0"/>
          </a:p>
        </p:txBody>
      </p:sp>
      <p:sp>
        <p:nvSpPr>
          <p:cNvPr id="18" name="Shape 16"/>
          <p:cNvSpPr/>
          <p:nvPr/>
        </p:nvSpPr>
        <p:spPr>
          <a:xfrm>
            <a:off x="6233008" y="4023360"/>
            <a:ext cx="5318608" cy="1307592"/>
          </a:xfrm>
          <a:prstGeom prst="roundRect">
            <a:avLst>
              <a:gd name="adj" fmla="val 6993"/>
            </a:avLst>
          </a:prstGeom>
          <a:solidFill>
            <a:srgbClr val="1B212B"/>
          </a:solidFill>
          <a:ln w="12700">
            <a:solidFill>
              <a:srgbClr val="2C333E"/>
            </a:solidFill>
            <a:prstDash val="solid"/>
          </a:ln>
          <a:effectLst>
            <a:outerShdw sx="100000" sy="100000" kx="0" ky="0" algn="bl" rotWithShape="0" blurRad="88900" dist="25400" dir="5400000">
              <a:srgbClr val="000000">
                <a:alpha val="18000"/>
              </a:srgbClr>
            </a:outerShdw>
          </a:effectLst>
        </p:spPr>
      </p:sp>
      <p:sp>
        <p:nvSpPr>
          <p:cNvPr id="19" name="Shape 17"/>
          <p:cNvSpPr/>
          <p:nvPr/>
        </p:nvSpPr>
        <p:spPr>
          <a:xfrm>
            <a:off x="6489040" y="4279392"/>
            <a:ext cx="457200" cy="457200"/>
          </a:xfrm>
          <a:prstGeom prst="roundRect">
            <a:avLst>
              <a:gd name="adj" fmla="val 12000"/>
            </a:avLst>
          </a:prstGeom>
          <a:solidFill>
            <a:srgbClr val="D63B3B"/>
          </a:solidFill>
          <a:ln/>
        </p:spPr>
      </p:sp>
      <p:sp>
        <p:nvSpPr>
          <p:cNvPr id="20" name="Text 18"/>
          <p:cNvSpPr/>
          <p:nvPr/>
        </p:nvSpPr>
        <p:spPr>
          <a:xfrm>
            <a:off x="6489040" y="4279392"/>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6489040" y="4864608"/>
            <a:ext cx="4806544" cy="246888"/>
          </a:xfrm>
          <a:prstGeom prst="rect">
            <a:avLst/>
          </a:prstGeom>
          <a:noFill/>
          <a:ln/>
        </p:spPr>
        <p:txBody>
          <a:bodyPr wrap="square" rtlCol="0" anchor="t"/>
          <a:lstStyle/>
          <a:p>
            <a:pPr algn="l" indent="0" marL="0">
              <a:lnSpc>
                <a:spcPct val="106000"/>
              </a:lnSpc>
              <a:buNone/>
            </a:pPr>
            <a:r>
              <a:rPr lang="en-US" sz="1500" dirty="0">
                <a:solidFill>
                  <a:srgbClr val="A8B4C2"/>
                </a:solidFill>
                <a:latin typeface="Calibri" pitchFamily="34" charset="0"/>
                <a:ea typeface="Calibri" pitchFamily="34" charset="-122"/>
                <a:cs typeface="Calibri" pitchFamily="34" charset="-120"/>
              </a:rPr>
              <a:t>Calcular o Ponto de Equilíbrio</a:t>
            </a:r>
            <a:endParaRPr lang="en-US" sz="1500" dirty="0"/>
          </a:p>
        </p:txBody>
      </p:sp>
      <p:sp>
        <p:nvSpPr>
          <p:cNvPr id="22" name="Text 20"/>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3" name="Text 21"/>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A Essência da Análise de Custos para Pequenos Negócios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3872484"/>
            <a:ext cx="10911535" cy="27432"/>
          </a:xfrm>
          <a:prstGeom prst="rect">
            <a:avLst/>
          </a:prstGeom>
          <a:solidFill>
            <a:srgbClr val="E8943A">
              <a:alpha val="45000"/>
            </a:srgbClr>
          </a:solidFill>
          <a:ln/>
        </p:spPr>
      </p:sp>
      <p:sp>
        <p:nvSpPr>
          <p:cNvPr id="7" name="Shape 5"/>
          <p:cNvSpPr/>
          <p:nvPr/>
        </p:nvSpPr>
        <p:spPr>
          <a:xfrm>
            <a:off x="1731234" y="3465576"/>
            <a:ext cx="0" cy="274320"/>
          </a:xfrm>
          <a:prstGeom prst="line">
            <a:avLst/>
          </a:prstGeom>
          <a:noFill/>
          <a:ln w="12700">
            <a:solidFill>
              <a:srgbClr val="E8943A"/>
            </a:solidFill>
            <a:prstDash val="solid"/>
          </a:ln>
        </p:spPr>
      </p:sp>
      <p:sp>
        <p:nvSpPr>
          <p:cNvPr id="8" name="Shape 6"/>
          <p:cNvSpPr/>
          <p:nvPr/>
        </p:nvSpPr>
        <p:spPr>
          <a:xfrm>
            <a:off x="1484346" y="3639312"/>
            <a:ext cx="493776" cy="493776"/>
          </a:xfrm>
          <a:prstGeom prst="ellipse">
            <a:avLst/>
          </a:prstGeom>
          <a:solidFill>
            <a:srgbClr val="E8943A">
              <a:alpha val="22000"/>
            </a:srgbClr>
          </a:solidFill>
          <a:ln/>
        </p:spPr>
      </p:sp>
      <p:sp>
        <p:nvSpPr>
          <p:cNvPr id="9" name="Shape 7"/>
          <p:cNvSpPr/>
          <p:nvPr/>
        </p:nvSpPr>
        <p:spPr>
          <a:xfrm>
            <a:off x="1566642" y="3721608"/>
            <a:ext cx="329184" cy="329184"/>
          </a:xfrm>
          <a:prstGeom prst="ellipse">
            <a:avLst/>
          </a:prstGeom>
          <a:solidFill>
            <a:srgbClr val="D63B3B"/>
          </a:solidFill>
          <a:ln/>
        </p:spPr>
      </p:sp>
      <p:sp>
        <p:nvSpPr>
          <p:cNvPr id="10" name="Text 8"/>
          <p:cNvSpPr/>
          <p:nvPr/>
        </p:nvSpPr>
        <p:spPr>
          <a:xfrm>
            <a:off x="1566642"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77240" y="3017520"/>
            <a:ext cx="1907987"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Garante que o preço cubra custos e gere lucro</a:t>
            </a:r>
            <a:endParaRPr lang="en-US" sz="1500" dirty="0"/>
          </a:p>
        </p:txBody>
      </p:sp>
      <p:sp>
        <p:nvSpPr>
          <p:cNvPr id="12" name="Shape 10"/>
          <p:cNvSpPr/>
          <p:nvPr/>
        </p:nvSpPr>
        <p:spPr>
          <a:xfrm>
            <a:off x="3913541" y="4032504"/>
            <a:ext cx="0" cy="274320"/>
          </a:xfrm>
          <a:prstGeom prst="line">
            <a:avLst/>
          </a:prstGeom>
          <a:noFill/>
          <a:ln w="12700">
            <a:solidFill>
              <a:srgbClr val="E8943A"/>
            </a:solidFill>
            <a:prstDash val="solid"/>
          </a:ln>
        </p:spPr>
      </p:sp>
      <p:sp>
        <p:nvSpPr>
          <p:cNvPr id="13" name="Shape 11"/>
          <p:cNvSpPr/>
          <p:nvPr/>
        </p:nvSpPr>
        <p:spPr>
          <a:xfrm>
            <a:off x="3666653" y="3639312"/>
            <a:ext cx="493776" cy="493776"/>
          </a:xfrm>
          <a:prstGeom prst="ellipse">
            <a:avLst/>
          </a:prstGeom>
          <a:solidFill>
            <a:srgbClr val="E8943A">
              <a:alpha val="22000"/>
            </a:srgbClr>
          </a:solidFill>
          <a:ln/>
        </p:spPr>
      </p:sp>
      <p:sp>
        <p:nvSpPr>
          <p:cNvPr id="14" name="Shape 12"/>
          <p:cNvSpPr/>
          <p:nvPr/>
        </p:nvSpPr>
        <p:spPr>
          <a:xfrm>
            <a:off x="3748949" y="3721608"/>
            <a:ext cx="329184" cy="329184"/>
          </a:xfrm>
          <a:prstGeom prst="ellipse">
            <a:avLst/>
          </a:prstGeom>
          <a:solidFill>
            <a:srgbClr val="D63B3B"/>
          </a:solidFill>
          <a:ln/>
        </p:spPr>
      </p:sp>
      <p:sp>
        <p:nvSpPr>
          <p:cNvPr id="15" name="Text 13"/>
          <p:cNvSpPr/>
          <p:nvPr/>
        </p:nvSpPr>
        <p:spPr>
          <a:xfrm>
            <a:off x="3748949"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2959547" y="4343400"/>
            <a:ext cx="1907987" cy="411480"/>
          </a:xfrm>
          <a:prstGeom prst="rect">
            <a:avLst/>
          </a:prstGeom>
          <a:noFill/>
          <a:ln/>
        </p:spPr>
        <p:txBody>
          <a:bodyPr wrap="square" rtlCol="0" anchor="t"/>
          <a:lstStyle/>
          <a:p>
            <a:pPr algn="ctr" indent="0" marL="0">
              <a:buNone/>
            </a:pPr>
            <a:r>
              <a:rPr lang="en-US" sz="1500" b="1" dirty="0">
                <a:solidFill>
                  <a:srgbClr val="E8943A"/>
                </a:solidFill>
                <a:latin typeface="Calibri" pitchFamily="34" charset="0"/>
                <a:ea typeface="Calibri" pitchFamily="34" charset="-122"/>
                <a:cs typeface="Calibri" pitchFamily="34" charset="-120"/>
              </a:rPr>
              <a:t>Avalia a viabilidade de novos produtos e promoções</a:t>
            </a:r>
            <a:endParaRPr lang="en-US" sz="1500" dirty="0"/>
          </a:p>
        </p:txBody>
      </p:sp>
      <p:sp>
        <p:nvSpPr>
          <p:cNvPr id="17" name="Shape 15"/>
          <p:cNvSpPr/>
          <p:nvPr/>
        </p:nvSpPr>
        <p:spPr>
          <a:xfrm>
            <a:off x="6095848" y="3465576"/>
            <a:ext cx="0" cy="274320"/>
          </a:xfrm>
          <a:prstGeom prst="line">
            <a:avLst/>
          </a:prstGeom>
          <a:noFill/>
          <a:ln w="12700">
            <a:solidFill>
              <a:srgbClr val="E8943A"/>
            </a:solidFill>
            <a:prstDash val="solid"/>
          </a:ln>
        </p:spPr>
      </p:sp>
      <p:sp>
        <p:nvSpPr>
          <p:cNvPr id="18" name="Shape 16"/>
          <p:cNvSpPr/>
          <p:nvPr/>
        </p:nvSpPr>
        <p:spPr>
          <a:xfrm>
            <a:off x="5848960" y="3639312"/>
            <a:ext cx="493776" cy="493776"/>
          </a:xfrm>
          <a:prstGeom prst="ellipse">
            <a:avLst/>
          </a:prstGeom>
          <a:solidFill>
            <a:srgbClr val="E8943A">
              <a:alpha val="22000"/>
            </a:srgbClr>
          </a:solidFill>
          <a:ln/>
        </p:spPr>
      </p:sp>
      <p:sp>
        <p:nvSpPr>
          <p:cNvPr id="19" name="Shape 17"/>
          <p:cNvSpPr/>
          <p:nvPr/>
        </p:nvSpPr>
        <p:spPr>
          <a:xfrm>
            <a:off x="5931256" y="3721608"/>
            <a:ext cx="329184" cy="329184"/>
          </a:xfrm>
          <a:prstGeom prst="ellipse">
            <a:avLst/>
          </a:prstGeom>
          <a:solidFill>
            <a:srgbClr val="D63B3B"/>
          </a:solidFill>
          <a:ln/>
        </p:spPr>
      </p:sp>
      <p:sp>
        <p:nvSpPr>
          <p:cNvPr id="20" name="Text 18"/>
          <p:cNvSpPr/>
          <p:nvPr/>
        </p:nvSpPr>
        <p:spPr>
          <a:xfrm>
            <a:off x="5931256"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5141854" y="3017520"/>
            <a:ext cx="1907987"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Identifica oportunidades de otimização de recursos</a:t>
            </a:r>
            <a:endParaRPr lang="en-US" sz="1500" dirty="0"/>
          </a:p>
        </p:txBody>
      </p:sp>
      <p:sp>
        <p:nvSpPr>
          <p:cNvPr id="22" name="Shape 20"/>
          <p:cNvSpPr/>
          <p:nvPr/>
        </p:nvSpPr>
        <p:spPr>
          <a:xfrm>
            <a:off x="8278155" y="4032504"/>
            <a:ext cx="0" cy="274320"/>
          </a:xfrm>
          <a:prstGeom prst="line">
            <a:avLst/>
          </a:prstGeom>
          <a:noFill/>
          <a:ln w="12700">
            <a:solidFill>
              <a:srgbClr val="E8943A"/>
            </a:solidFill>
            <a:prstDash val="solid"/>
          </a:ln>
        </p:spPr>
      </p:sp>
      <p:sp>
        <p:nvSpPr>
          <p:cNvPr id="23" name="Shape 21"/>
          <p:cNvSpPr/>
          <p:nvPr/>
        </p:nvSpPr>
        <p:spPr>
          <a:xfrm>
            <a:off x="8031267" y="3639312"/>
            <a:ext cx="493776" cy="493776"/>
          </a:xfrm>
          <a:prstGeom prst="ellipse">
            <a:avLst/>
          </a:prstGeom>
          <a:solidFill>
            <a:srgbClr val="E8943A">
              <a:alpha val="22000"/>
            </a:srgbClr>
          </a:solidFill>
          <a:ln/>
        </p:spPr>
      </p:sp>
      <p:sp>
        <p:nvSpPr>
          <p:cNvPr id="24" name="Shape 22"/>
          <p:cNvSpPr/>
          <p:nvPr/>
        </p:nvSpPr>
        <p:spPr>
          <a:xfrm>
            <a:off x="8113563" y="3721608"/>
            <a:ext cx="329184" cy="329184"/>
          </a:xfrm>
          <a:prstGeom prst="ellipse">
            <a:avLst/>
          </a:prstGeom>
          <a:solidFill>
            <a:srgbClr val="D63B3B"/>
          </a:solidFill>
          <a:ln/>
        </p:spPr>
      </p:sp>
      <p:sp>
        <p:nvSpPr>
          <p:cNvPr id="25" name="Text 23"/>
          <p:cNvSpPr/>
          <p:nvPr/>
        </p:nvSpPr>
        <p:spPr>
          <a:xfrm>
            <a:off x="8113563"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7324161" y="4343400"/>
            <a:ext cx="1907987" cy="411480"/>
          </a:xfrm>
          <a:prstGeom prst="rect">
            <a:avLst/>
          </a:prstGeom>
          <a:noFill/>
          <a:ln/>
        </p:spPr>
        <p:txBody>
          <a:bodyPr wrap="square" rtlCol="0" anchor="t"/>
          <a:lstStyle/>
          <a:p>
            <a:pPr algn="ctr" indent="0" marL="0">
              <a:buNone/>
            </a:pPr>
            <a:r>
              <a:rPr lang="en-US" sz="1500" b="1" dirty="0">
                <a:solidFill>
                  <a:srgbClr val="E8943A"/>
                </a:solidFill>
                <a:latin typeface="Calibri" pitchFamily="34" charset="0"/>
                <a:ea typeface="Calibri" pitchFamily="34" charset="-122"/>
                <a:cs typeface="Calibri" pitchFamily="34" charset="-120"/>
              </a:rPr>
              <a:t>Fornece dados para negociar com fornecedores</a:t>
            </a:r>
            <a:endParaRPr lang="en-US" sz="1500" dirty="0"/>
          </a:p>
        </p:txBody>
      </p:sp>
      <p:sp>
        <p:nvSpPr>
          <p:cNvPr id="27" name="Shape 25"/>
          <p:cNvSpPr/>
          <p:nvPr/>
        </p:nvSpPr>
        <p:spPr>
          <a:xfrm>
            <a:off x="10460462" y="3465576"/>
            <a:ext cx="0" cy="274320"/>
          </a:xfrm>
          <a:prstGeom prst="line">
            <a:avLst/>
          </a:prstGeom>
          <a:noFill/>
          <a:ln w="12700">
            <a:solidFill>
              <a:srgbClr val="E8943A"/>
            </a:solidFill>
            <a:prstDash val="solid"/>
          </a:ln>
        </p:spPr>
      </p:sp>
      <p:sp>
        <p:nvSpPr>
          <p:cNvPr id="28" name="Shape 26"/>
          <p:cNvSpPr/>
          <p:nvPr/>
        </p:nvSpPr>
        <p:spPr>
          <a:xfrm>
            <a:off x="10213574" y="3639312"/>
            <a:ext cx="493776" cy="493776"/>
          </a:xfrm>
          <a:prstGeom prst="ellipse">
            <a:avLst/>
          </a:prstGeom>
          <a:solidFill>
            <a:srgbClr val="E8943A">
              <a:alpha val="22000"/>
            </a:srgbClr>
          </a:solidFill>
          <a:ln/>
        </p:spPr>
      </p:sp>
      <p:sp>
        <p:nvSpPr>
          <p:cNvPr id="29" name="Shape 27"/>
          <p:cNvSpPr/>
          <p:nvPr/>
        </p:nvSpPr>
        <p:spPr>
          <a:xfrm>
            <a:off x="10295870" y="3721608"/>
            <a:ext cx="329184" cy="329184"/>
          </a:xfrm>
          <a:prstGeom prst="ellipse">
            <a:avLst/>
          </a:prstGeom>
          <a:solidFill>
            <a:srgbClr val="D63B3B"/>
          </a:solidFill>
          <a:ln/>
        </p:spPr>
      </p:sp>
      <p:sp>
        <p:nvSpPr>
          <p:cNvPr id="30" name="Text 28"/>
          <p:cNvSpPr/>
          <p:nvPr/>
        </p:nvSpPr>
        <p:spPr>
          <a:xfrm>
            <a:off x="10295870"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9506468" y="3017520"/>
            <a:ext cx="1907987"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Base para projeções de vendas e lucratividade</a:t>
            </a:r>
            <a:endParaRPr lang="en-US" sz="1500" dirty="0"/>
          </a:p>
        </p:txBody>
      </p:sp>
      <p:sp>
        <p:nvSpPr>
          <p:cNvPr id="32" name="Text 30"/>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33" name="Text 31"/>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Text 1"/>
          <p:cNvSpPr/>
          <p:nvPr/>
        </p:nvSpPr>
        <p:spPr>
          <a:xfrm>
            <a:off x="548640" y="754380"/>
            <a:ext cx="2743200" cy="1783080"/>
          </a:xfrm>
          <a:prstGeom prst="rect">
            <a:avLst/>
          </a:prstGeom>
          <a:noFill/>
          <a:ln/>
        </p:spPr>
        <p:txBody>
          <a:bodyPr wrap="square" rtlCol="0" anchor="ctr"/>
          <a:lstStyle/>
          <a:p>
            <a:pPr algn="l"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5" name="Text 2"/>
          <p:cNvSpPr/>
          <p:nvPr/>
        </p:nvSpPr>
        <p:spPr>
          <a:xfrm>
            <a:off x="8899855" y="4457700"/>
            <a:ext cx="2743200" cy="1783080"/>
          </a:xfrm>
          <a:prstGeom prst="rect">
            <a:avLst/>
          </a:prstGeom>
          <a:noFill/>
          <a:ln/>
        </p:spPr>
        <p:txBody>
          <a:bodyPr wrap="square" rtlCol="0" anchor="ctr"/>
          <a:lstStyle/>
          <a:p>
            <a:pPr algn="r"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6" name="Text 3"/>
          <p:cNvSpPr/>
          <p:nvPr/>
        </p:nvSpPr>
        <p:spPr>
          <a:xfrm>
            <a:off x="1097280" y="1737360"/>
            <a:ext cx="9997135" cy="2926080"/>
          </a:xfrm>
          <a:prstGeom prst="rect">
            <a:avLst/>
          </a:prstGeom>
          <a:noFill/>
          <a:ln/>
          <a:effectLst>
            <a:outerShdw sx="100000" sy="100000" kx="0" ky="0" algn="bl" rotWithShape="0" blurRad="76200" dist="25400" dir="16200000">
              <a:srgbClr val="000000">
                <a:alpha val="50000"/>
              </a:srgbClr>
            </a:outerShdw>
          </a:effectLst>
        </p:spPr>
        <p:txBody>
          <a:bodyPr wrap="square" rtlCol="0" anchor="ctr"/>
          <a:lstStyle/>
          <a:p>
            <a:pPr algn="ctr" indent="0" marL="0">
              <a:lnSpc>
                <a:spcPct val="115000"/>
              </a:lnSpc>
              <a:buNone/>
            </a:pPr>
            <a:r>
              <a:rPr lang="en-US" sz="3400" b="1" i="1" dirty="0">
                <a:solidFill>
                  <a:srgbClr val="FFFFFF"/>
                </a:solidFill>
                <a:latin typeface="Georgia" pitchFamily="34" charset="0"/>
                <a:ea typeface="Georgia" pitchFamily="34" charset="-122"/>
                <a:cs typeface="Georgia" pitchFamily="34" charset="-120"/>
              </a:rPr>
              <a:t>Para precificar corretamente, é fundamental entender como os custos se comportam em relação ao volume de produção ou vendas.</a:t>
            </a:r>
            <a:endParaRPr lang="en-US" sz="3400" dirty="0"/>
          </a:p>
        </p:txBody>
      </p:sp>
      <p:sp>
        <p:nvSpPr>
          <p:cNvPr id="7" name="Shape 4"/>
          <p:cNvSpPr/>
          <p:nvPr/>
        </p:nvSpPr>
        <p:spPr>
          <a:xfrm>
            <a:off x="5638648" y="5029200"/>
            <a:ext cx="914400" cy="50292"/>
          </a:xfrm>
          <a:prstGeom prst="rect">
            <a:avLst/>
          </a:prstGeom>
          <a:solidFill>
            <a:srgbClr val="E8943A"/>
          </a:solidFill>
          <a:ln/>
        </p:spPr>
      </p:sp>
      <p:sp>
        <p:nvSpPr>
          <p:cNvPr id="8"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9"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Custos Fixos: Não Variam com a Produção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3872484"/>
            <a:ext cx="10911535" cy="27432"/>
          </a:xfrm>
          <a:prstGeom prst="rect">
            <a:avLst/>
          </a:prstGeom>
          <a:solidFill>
            <a:srgbClr val="E8943A">
              <a:alpha val="45000"/>
            </a:srgbClr>
          </a:solidFill>
          <a:ln/>
        </p:spPr>
      </p:sp>
      <p:sp>
        <p:nvSpPr>
          <p:cNvPr id="7" name="Shape 5"/>
          <p:cNvSpPr/>
          <p:nvPr/>
        </p:nvSpPr>
        <p:spPr>
          <a:xfrm>
            <a:off x="2458669" y="3465576"/>
            <a:ext cx="0" cy="274320"/>
          </a:xfrm>
          <a:prstGeom prst="line">
            <a:avLst/>
          </a:prstGeom>
          <a:noFill/>
          <a:ln w="12700">
            <a:solidFill>
              <a:srgbClr val="E8943A"/>
            </a:solidFill>
            <a:prstDash val="solid"/>
          </a:ln>
        </p:spPr>
      </p:sp>
      <p:sp>
        <p:nvSpPr>
          <p:cNvPr id="8" name="Shape 6"/>
          <p:cNvSpPr/>
          <p:nvPr/>
        </p:nvSpPr>
        <p:spPr>
          <a:xfrm>
            <a:off x="2211781" y="3639312"/>
            <a:ext cx="493776" cy="493776"/>
          </a:xfrm>
          <a:prstGeom prst="ellipse">
            <a:avLst/>
          </a:prstGeom>
          <a:solidFill>
            <a:srgbClr val="E8943A">
              <a:alpha val="22000"/>
            </a:srgbClr>
          </a:solidFill>
          <a:ln/>
        </p:spPr>
      </p:sp>
      <p:sp>
        <p:nvSpPr>
          <p:cNvPr id="9" name="Shape 7"/>
          <p:cNvSpPr/>
          <p:nvPr/>
        </p:nvSpPr>
        <p:spPr>
          <a:xfrm>
            <a:off x="2294077" y="3721608"/>
            <a:ext cx="329184" cy="329184"/>
          </a:xfrm>
          <a:prstGeom prst="ellipse">
            <a:avLst/>
          </a:prstGeom>
          <a:solidFill>
            <a:srgbClr val="D63B3B"/>
          </a:solidFill>
          <a:ln/>
        </p:spPr>
      </p:sp>
      <p:sp>
        <p:nvSpPr>
          <p:cNvPr id="10" name="Text 8"/>
          <p:cNvSpPr/>
          <p:nvPr/>
        </p:nvSpPr>
        <p:spPr>
          <a:xfrm>
            <a:off x="2294077"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77240" y="3017520"/>
            <a:ext cx="3362858"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Não variam em função do volume de vendas</a:t>
            </a:r>
            <a:endParaRPr lang="en-US" sz="1500" dirty="0"/>
          </a:p>
        </p:txBody>
      </p:sp>
      <p:sp>
        <p:nvSpPr>
          <p:cNvPr id="12" name="Shape 10"/>
          <p:cNvSpPr/>
          <p:nvPr/>
        </p:nvSpPr>
        <p:spPr>
          <a:xfrm>
            <a:off x="6095848" y="4032504"/>
            <a:ext cx="0" cy="274320"/>
          </a:xfrm>
          <a:prstGeom prst="line">
            <a:avLst/>
          </a:prstGeom>
          <a:noFill/>
          <a:ln w="12700">
            <a:solidFill>
              <a:srgbClr val="E8943A"/>
            </a:solidFill>
            <a:prstDash val="solid"/>
          </a:ln>
        </p:spPr>
      </p:sp>
      <p:sp>
        <p:nvSpPr>
          <p:cNvPr id="13" name="Shape 11"/>
          <p:cNvSpPr/>
          <p:nvPr/>
        </p:nvSpPr>
        <p:spPr>
          <a:xfrm>
            <a:off x="5848960" y="3639312"/>
            <a:ext cx="493776" cy="493776"/>
          </a:xfrm>
          <a:prstGeom prst="ellipse">
            <a:avLst/>
          </a:prstGeom>
          <a:solidFill>
            <a:srgbClr val="E8943A">
              <a:alpha val="22000"/>
            </a:srgbClr>
          </a:solidFill>
          <a:ln/>
        </p:spPr>
      </p:sp>
      <p:sp>
        <p:nvSpPr>
          <p:cNvPr id="14" name="Shape 12"/>
          <p:cNvSpPr/>
          <p:nvPr/>
        </p:nvSpPr>
        <p:spPr>
          <a:xfrm>
            <a:off x="5931256" y="3721608"/>
            <a:ext cx="329184" cy="329184"/>
          </a:xfrm>
          <a:prstGeom prst="ellipse">
            <a:avLst/>
          </a:prstGeom>
          <a:solidFill>
            <a:srgbClr val="D63B3B"/>
          </a:solidFill>
          <a:ln/>
        </p:spPr>
      </p:sp>
      <p:sp>
        <p:nvSpPr>
          <p:cNvPr id="15" name="Text 13"/>
          <p:cNvSpPr/>
          <p:nvPr/>
        </p:nvSpPr>
        <p:spPr>
          <a:xfrm>
            <a:off x="5931256"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4414418" y="4343400"/>
            <a:ext cx="3362858" cy="411480"/>
          </a:xfrm>
          <a:prstGeom prst="rect">
            <a:avLst/>
          </a:prstGeom>
          <a:noFill/>
          <a:ln/>
        </p:spPr>
        <p:txBody>
          <a:bodyPr wrap="square" rtlCol="0" anchor="t"/>
          <a:lstStyle/>
          <a:p>
            <a:pPr algn="ctr" indent="0" marL="0">
              <a:buNone/>
            </a:pPr>
            <a:r>
              <a:rPr lang="en-US" sz="1500" b="1" dirty="0">
                <a:solidFill>
                  <a:srgbClr val="E8943A"/>
                </a:solidFill>
                <a:latin typeface="Calibri" pitchFamily="34" charset="0"/>
                <a:ea typeface="Calibri" pitchFamily="34" charset="-122"/>
                <a:cs typeface="Calibri" pitchFamily="34" charset="-120"/>
              </a:rPr>
              <a:t>Incorridos mesmo que a produção seja zero</a:t>
            </a:r>
            <a:endParaRPr lang="en-US" sz="1500" dirty="0"/>
          </a:p>
        </p:txBody>
      </p:sp>
      <p:sp>
        <p:nvSpPr>
          <p:cNvPr id="17" name="Shape 15"/>
          <p:cNvSpPr/>
          <p:nvPr/>
        </p:nvSpPr>
        <p:spPr>
          <a:xfrm>
            <a:off x="9733026" y="3465576"/>
            <a:ext cx="0" cy="274320"/>
          </a:xfrm>
          <a:prstGeom prst="line">
            <a:avLst/>
          </a:prstGeom>
          <a:noFill/>
          <a:ln w="12700">
            <a:solidFill>
              <a:srgbClr val="E8943A"/>
            </a:solidFill>
            <a:prstDash val="solid"/>
          </a:ln>
        </p:spPr>
      </p:sp>
      <p:sp>
        <p:nvSpPr>
          <p:cNvPr id="18" name="Shape 16"/>
          <p:cNvSpPr/>
          <p:nvPr/>
        </p:nvSpPr>
        <p:spPr>
          <a:xfrm>
            <a:off x="9486138" y="3639312"/>
            <a:ext cx="493776" cy="493776"/>
          </a:xfrm>
          <a:prstGeom prst="ellipse">
            <a:avLst/>
          </a:prstGeom>
          <a:solidFill>
            <a:srgbClr val="E8943A">
              <a:alpha val="22000"/>
            </a:srgbClr>
          </a:solidFill>
          <a:ln/>
        </p:spPr>
      </p:sp>
      <p:sp>
        <p:nvSpPr>
          <p:cNvPr id="19" name="Shape 17"/>
          <p:cNvSpPr/>
          <p:nvPr/>
        </p:nvSpPr>
        <p:spPr>
          <a:xfrm>
            <a:off x="9568434" y="3721608"/>
            <a:ext cx="329184" cy="329184"/>
          </a:xfrm>
          <a:prstGeom prst="ellipse">
            <a:avLst/>
          </a:prstGeom>
          <a:solidFill>
            <a:srgbClr val="D63B3B"/>
          </a:solidFill>
          <a:ln/>
        </p:spPr>
      </p:sp>
      <p:sp>
        <p:nvSpPr>
          <p:cNvPr id="20" name="Text 18"/>
          <p:cNvSpPr/>
          <p:nvPr/>
        </p:nvSpPr>
        <p:spPr>
          <a:xfrm>
            <a:off x="9568434"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051597" y="3017520"/>
            <a:ext cx="3362858"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Diminuem por unidade com aumento de volume</a:t>
            </a:r>
            <a:endParaRPr lang="en-US" sz="1500" dirty="0"/>
          </a:p>
        </p:txBody>
      </p:sp>
      <p:sp>
        <p:nvSpPr>
          <p:cNvPr id="22" name="Text 20"/>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3" name="Text 21"/>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Exemplos Práticos de Custos Fixos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2148840"/>
            <a:ext cx="5318608" cy="1600200"/>
          </a:xfrm>
          <a:prstGeom prst="roundRect">
            <a:avLst>
              <a:gd name="adj" fmla="val 4571"/>
            </a:avLst>
          </a:prstGeom>
          <a:solidFill>
            <a:srgbClr val="1B212B"/>
          </a:solidFill>
          <a:ln w="12700">
            <a:solidFill>
              <a:srgbClr val="2C333E"/>
            </a:solidFill>
            <a:prstDash val="solid"/>
          </a:ln>
        </p:spPr>
      </p:sp>
      <p:sp>
        <p:nvSpPr>
          <p:cNvPr id="7" name="Shape 5"/>
          <p:cNvSpPr/>
          <p:nvPr/>
        </p:nvSpPr>
        <p:spPr>
          <a:xfrm>
            <a:off x="640080" y="2148840"/>
            <a:ext cx="5318608" cy="73152"/>
          </a:xfrm>
          <a:prstGeom prst="rect">
            <a:avLst/>
          </a:prstGeom>
          <a:solidFill>
            <a:srgbClr val="E8943A"/>
          </a:solidFill>
          <a:ln/>
        </p:spPr>
      </p:sp>
      <p:sp>
        <p:nvSpPr>
          <p:cNvPr id="8" name="Text 6"/>
          <p:cNvSpPr/>
          <p:nvPr/>
        </p:nvSpPr>
        <p:spPr>
          <a:xfrm>
            <a:off x="868680" y="233172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01</a:t>
            </a:r>
            <a:endParaRPr lang="en-US" sz="1800" dirty="0"/>
          </a:p>
        </p:txBody>
      </p:sp>
      <p:sp>
        <p:nvSpPr>
          <p:cNvPr id="9" name="Text 7"/>
          <p:cNvSpPr/>
          <p:nvPr/>
        </p:nvSpPr>
        <p:spPr>
          <a:xfrm>
            <a:off x="868680" y="269748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Aluguel do Espaço</a:t>
            </a:r>
            <a:endParaRPr lang="en-US" sz="1500" dirty="0"/>
          </a:p>
        </p:txBody>
      </p:sp>
      <p:sp>
        <p:nvSpPr>
          <p:cNvPr id="10" name="Text 8"/>
          <p:cNvSpPr/>
          <p:nvPr/>
        </p:nvSpPr>
        <p:spPr>
          <a:xfrm>
            <a:off x="868680" y="330098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Loja, escritório ou fábrica</a:t>
            </a:r>
            <a:endParaRPr lang="en-US" sz="1200" dirty="0"/>
          </a:p>
        </p:txBody>
      </p:sp>
      <p:sp>
        <p:nvSpPr>
          <p:cNvPr id="11" name="Shape 9"/>
          <p:cNvSpPr/>
          <p:nvPr/>
        </p:nvSpPr>
        <p:spPr>
          <a:xfrm>
            <a:off x="6233008" y="2148840"/>
            <a:ext cx="5318608" cy="1600200"/>
          </a:xfrm>
          <a:prstGeom prst="roundRect">
            <a:avLst>
              <a:gd name="adj" fmla="val 4571"/>
            </a:avLst>
          </a:prstGeom>
          <a:solidFill>
            <a:srgbClr val="1B212B"/>
          </a:solidFill>
          <a:ln w="12700">
            <a:solidFill>
              <a:srgbClr val="2C333E"/>
            </a:solidFill>
            <a:prstDash val="solid"/>
          </a:ln>
        </p:spPr>
      </p:sp>
      <p:sp>
        <p:nvSpPr>
          <p:cNvPr id="12" name="Shape 10"/>
          <p:cNvSpPr/>
          <p:nvPr/>
        </p:nvSpPr>
        <p:spPr>
          <a:xfrm>
            <a:off x="6233008" y="2148840"/>
            <a:ext cx="5318608" cy="73152"/>
          </a:xfrm>
          <a:prstGeom prst="rect">
            <a:avLst/>
          </a:prstGeom>
          <a:solidFill>
            <a:srgbClr val="E8943A"/>
          </a:solidFill>
          <a:ln/>
        </p:spPr>
      </p:sp>
      <p:sp>
        <p:nvSpPr>
          <p:cNvPr id="13" name="Text 11"/>
          <p:cNvSpPr/>
          <p:nvPr/>
        </p:nvSpPr>
        <p:spPr>
          <a:xfrm>
            <a:off x="6461608" y="233172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02</a:t>
            </a:r>
            <a:endParaRPr lang="en-US" sz="1800" dirty="0"/>
          </a:p>
        </p:txBody>
      </p:sp>
      <p:sp>
        <p:nvSpPr>
          <p:cNvPr id="14" name="Text 12"/>
          <p:cNvSpPr/>
          <p:nvPr/>
        </p:nvSpPr>
        <p:spPr>
          <a:xfrm>
            <a:off x="6461608" y="269748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Salários Administrativos</a:t>
            </a:r>
            <a:endParaRPr lang="en-US" sz="1500" dirty="0"/>
          </a:p>
        </p:txBody>
      </p:sp>
      <p:sp>
        <p:nvSpPr>
          <p:cNvPr id="15" name="Text 13"/>
          <p:cNvSpPr/>
          <p:nvPr/>
        </p:nvSpPr>
        <p:spPr>
          <a:xfrm>
            <a:off x="6461608" y="330098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Gerente, recepcionista, equipe de marketing</a:t>
            </a:r>
            <a:endParaRPr lang="en-US" sz="1200" dirty="0"/>
          </a:p>
        </p:txBody>
      </p:sp>
      <p:sp>
        <p:nvSpPr>
          <p:cNvPr id="16" name="Shape 14"/>
          <p:cNvSpPr/>
          <p:nvPr/>
        </p:nvSpPr>
        <p:spPr>
          <a:xfrm>
            <a:off x="640080" y="4023360"/>
            <a:ext cx="5318608" cy="1600200"/>
          </a:xfrm>
          <a:prstGeom prst="roundRect">
            <a:avLst>
              <a:gd name="adj" fmla="val 4571"/>
            </a:avLst>
          </a:prstGeom>
          <a:solidFill>
            <a:srgbClr val="1B212B"/>
          </a:solidFill>
          <a:ln w="12700">
            <a:solidFill>
              <a:srgbClr val="2C333E"/>
            </a:solidFill>
            <a:prstDash val="solid"/>
          </a:ln>
        </p:spPr>
      </p:sp>
      <p:sp>
        <p:nvSpPr>
          <p:cNvPr id="17" name="Shape 15"/>
          <p:cNvSpPr/>
          <p:nvPr/>
        </p:nvSpPr>
        <p:spPr>
          <a:xfrm>
            <a:off x="640080" y="4023360"/>
            <a:ext cx="5318608" cy="73152"/>
          </a:xfrm>
          <a:prstGeom prst="rect">
            <a:avLst/>
          </a:prstGeom>
          <a:solidFill>
            <a:srgbClr val="E8943A"/>
          </a:solidFill>
          <a:ln/>
        </p:spPr>
      </p:sp>
      <p:sp>
        <p:nvSpPr>
          <p:cNvPr id="18" name="Text 16"/>
          <p:cNvSpPr/>
          <p:nvPr/>
        </p:nvSpPr>
        <p:spPr>
          <a:xfrm>
            <a:off x="868680" y="420624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03</a:t>
            </a:r>
            <a:endParaRPr lang="en-US" sz="1800" dirty="0"/>
          </a:p>
        </p:txBody>
      </p:sp>
      <p:sp>
        <p:nvSpPr>
          <p:cNvPr id="19" name="Text 17"/>
          <p:cNvSpPr/>
          <p:nvPr/>
        </p:nvSpPr>
        <p:spPr>
          <a:xfrm>
            <a:off x="868680" y="457200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Depreciação de Equipamentos</a:t>
            </a:r>
            <a:endParaRPr lang="en-US" sz="1500" dirty="0"/>
          </a:p>
        </p:txBody>
      </p:sp>
      <p:sp>
        <p:nvSpPr>
          <p:cNvPr id="20" name="Text 18"/>
          <p:cNvSpPr/>
          <p:nvPr/>
        </p:nvSpPr>
        <p:spPr>
          <a:xfrm>
            <a:off x="868680" y="517550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Máquinas e veículos da empresa</a:t>
            </a:r>
            <a:endParaRPr lang="en-US" sz="1200" dirty="0"/>
          </a:p>
        </p:txBody>
      </p:sp>
      <p:sp>
        <p:nvSpPr>
          <p:cNvPr id="21" name="Shape 19"/>
          <p:cNvSpPr/>
          <p:nvPr/>
        </p:nvSpPr>
        <p:spPr>
          <a:xfrm>
            <a:off x="6233008" y="4023360"/>
            <a:ext cx="5318608" cy="1600200"/>
          </a:xfrm>
          <a:prstGeom prst="roundRect">
            <a:avLst>
              <a:gd name="adj" fmla="val 4571"/>
            </a:avLst>
          </a:prstGeom>
          <a:solidFill>
            <a:srgbClr val="1B212B"/>
          </a:solidFill>
          <a:ln w="12700">
            <a:solidFill>
              <a:srgbClr val="2C333E"/>
            </a:solidFill>
            <a:prstDash val="solid"/>
          </a:ln>
        </p:spPr>
      </p:sp>
      <p:sp>
        <p:nvSpPr>
          <p:cNvPr id="22" name="Shape 20"/>
          <p:cNvSpPr/>
          <p:nvPr/>
        </p:nvSpPr>
        <p:spPr>
          <a:xfrm>
            <a:off x="6233008" y="4023360"/>
            <a:ext cx="5318608" cy="73152"/>
          </a:xfrm>
          <a:prstGeom prst="rect">
            <a:avLst/>
          </a:prstGeom>
          <a:solidFill>
            <a:srgbClr val="E8943A"/>
          </a:solidFill>
          <a:ln/>
        </p:spPr>
      </p:sp>
      <p:sp>
        <p:nvSpPr>
          <p:cNvPr id="23" name="Text 21"/>
          <p:cNvSpPr/>
          <p:nvPr/>
        </p:nvSpPr>
        <p:spPr>
          <a:xfrm>
            <a:off x="6461608" y="420624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04</a:t>
            </a:r>
            <a:endParaRPr lang="en-US" sz="1800" dirty="0"/>
          </a:p>
        </p:txBody>
      </p:sp>
      <p:sp>
        <p:nvSpPr>
          <p:cNvPr id="24" name="Text 22"/>
          <p:cNvSpPr/>
          <p:nvPr/>
        </p:nvSpPr>
        <p:spPr>
          <a:xfrm>
            <a:off x="6461608" y="457200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Honorários Contábeis</a:t>
            </a:r>
            <a:endParaRPr lang="en-US" sz="1500" dirty="0"/>
          </a:p>
        </p:txBody>
      </p:sp>
      <p:sp>
        <p:nvSpPr>
          <p:cNvPr id="25" name="Text 23"/>
          <p:cNvSpPr/>
          <p:nvPr/>
        </p:nvSpPr>
        <p:spPr>
          <a:xfrm>
            <a:off x="6461608" y="517550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Mensalidade do serviço de contador</a:t>
            </a:r>
            <a:endParaRPr lang="en-US" sz="12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Custos Variáveis: Flutuam com o Volume</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831848"/>
            <a:ext cx="621792" cy="621792"/>
          </a:xfrm>
          <a:prstGeom prst="ellipse">
            <a:avLst/>
          </a:prstGeom>
          <a:solidFill>
            <a:srgbClr val="D63B3B"/>
          </a:solidFill>
          <a:ln/>
        </p:spPr>
      </p:sp>
      <p:sp>
        <p:nvSpPr>
          <p:cNvPr id="7" name="Text 5"/>
          <p:cNvSpPr/>
          <p:nvPr/>
        </p:nvSpPr>
        <p:spPr>
          <a:xfrm>
            <a:off x="640080" y="1831848"/>
            <a:ext cx="621792" cy="621792"/>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Text 6"/>
          <p:cNvSpPr/>
          <p:nvPr/>
        </p:nvSpPr>
        <p:spPr>
          <a:xfrm>
            <a:off x="1490472" y="1371600"/>
            <a:ext cx="9969703" cy="1542288"/>
          </a:xfrm>
          <a:prstGeom prst="rect">
            <a:avLst/>
          </a:prstGeom>
          <a:noFill/>
          <a:ln/>
        </p:spPr>
        <p:txBody>
          <a:bodyPr wrap="square" rtlCol="0" anchor="ctr"/>
          <a:lstStyle/>
          <a:p>
            <a:pPr algn="l" indent="0" marL="0">
              <a:lnSpc>
                <a:spcPct val="102000"/>
              </a:lnSpc>
              <a:buNone/>
            </a:pPr>
            <a:r>
              <a:rPr lang="en-US" sz="1600" dirty="0">
                <a:solidFill>
                  <a:srgbClr val="A8B4C2"/>
                </a:solidFill>
                <a:latin typeface="Calibri" pitchFamily="34" charset="0"/>
                <a:ea typeface="Calibri" pitchFamily="34" charset="-122"/>
                <a:cs typeface="Calibri" pitchFamily="34" charset="-120"/>
              </a:rPr>
              <a:t>Variam proporcionalmente ao volume de vendas</a:t>
            </a:r>
            <a:endParaRPr lang="en-US" sz="1600" dirty="0"/>
          </a:p>
        </p:txBody>
      </p:sp>
      <p:sp>
        <p:nvSpPr>
          <p:cNvPr id="9" name="Shape 7"/>
          <p:cNvSpPr/>
          <p:nvPr/>
        </p:nvSpPr>
        <p:spPr>
          <a:xfrm>
            <a:off x="640080" y="3575304"/>
            <a:ext cx="621792" cy="621792"/>
          </a:xfrm>
          <a:prstGeom prst="ellipse">
            <a:avLst/>
          </a:prstGeom>
          <a:solidFill>
            <a:srgbClr val="DF683B"/>
          </a:solidFill>
          <a:ln/>
        </p:spPr>
      </p:sp>
      <p:sp>
        <p:nvSpPr>
          <p:cNvPr id="10" name="Text 8"/>
          <p:cNvSpPr/>
          <p:nvPr/>
        </p:nvSpPr>
        <p:spPr>
          <a:xfrm>
            <a:off x="640080" y="3575304"/>
            <a:ext cx="621792" cy="621792"/>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490472" y="3115056"/>
            <a:ext cx="9969703" cy="1542288"/>
          </a:xfrm>
          <a:prstGeom prst="rect">
            <a:avLst/>
          </a:prstGeom>
          <a:noFill/>
          <a:ln/>
        </p:spPr>
        <p:txBody>
          <a:bodyPr wrap="square" rtlCol="0" anchor="ctr"/>
          <a:lstStyle/>
          <a:p>
            <a:pPr algn="l" indent="0" marL="0">
              <a:lnSpc>
                <a:spcPct val="102000"/>
              </a:lnSpc>
              <a:buNone/>
            </a:pPr>
            <a:r>
              <a:rPr lang="en-US" sz="1600" dirty="0">
                <a:solidFill>
                  <a:srgbClr val="A8B4C2"/>
                </a:solidFill>
                <a:latin typeface="Calibri" pitchFamily="34" charset="0"/>
                <a:ea typeface="Calibri" pitchFamily="34" charset="-122"/>
                <a:cs typeface="Calibri" pitchFamily="34" charset="-120"/>
              </a:rPr>
              <a:t>Aumentam ou diminuem diretamente com a produção</a:t>
            </a:r>
            <a:endParaRPr lang="en-US" sz="1600" dirty="0"/>
          </a:p>
        </p:txBody>
      </p:sp>
      <p:sp>
        <p:nvSpPr>
          <p:cNvPr id="12" name="Shape 10"/>
          <p:cNvSpPr/>
          <p:nvPr/>
        </p:nvSpPr>
        <p:spPr>
          <a:xfrm>
            <a:off x="640080" y="5318760"/>
            <a:ext cx="621792" cy="621792"/>
          </a:xfrm>
          <a:prstGeom prst="ellipse">
            <a:avLst/>
          </a:prstGeom>
          <a:solidFill>
            <a:srgbClr val="E8943A"/>
          </a:solidFill>
          <a:ln/>
        </p:spPr>
      </p:sp>
      <p:sp>
        <p:nvSpPr>
          <p:cNvPr id="13" name="Text 11"/>
          <p:cNvSpPr/>
          <p:nvPr/>
        </p:nvSpPr>
        <p:spPr>
          <a:xfrm>
            <a:off x="640080" y="5318760"/>
            <a:ext cx="621792" cy="621792"/>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4" name="Text 12"/>
          <p:cNvSpPr/>
          <p:nvPr/>
        </p:nvSpPr>
        <p:spPr>
          <a:xfrm>
            <a:off x="1490472" y="4858512"/>
            <a:ext cx="9969703" cy="1542288"/>
          </a:xfrm>
          <a:prstGeom prst="rect">
            <a:avLst/>
          </a:prstGeom>
          <a:noFill/>
          <a:ln/>
        </p:spPr>
        <p:txBody>
          <a:bodyPr wrap="square" rtlCol="0" anchor="ctr"/>
          <a:lstStyle/>
          <a:p>
            <a:pPr algn="l" indent="0" marL="0">
              <a:lnSpc>
                <a:spcPct val="102000"/>
              </a:lnSpc>
              <a:buNone/>
            </a:pPr>
            <a:r>
              <a:rPr lang="en-US" sz="1600" dirty="0">
                <a:solidFill>
                  <a:srgbClr val="A8B4C2"/>
                </a:solidFill>
                <a:latin typeface="Calibri" pitchFamily="34" charset="0"/>
                <a:ea typeface="Calibri" pitchFamily="34" charset="-122"/>
                <a:cs typeface="Calibri" pitchFamily="34" charset="-120"/>
              </a:rPr>
              <a:t>Afetam o custo total por unidade produzida</a:t>
            </a:r>
            <a:endParaRPr lang="en-US" sz="1600" dirty="0"/>
          </a:p>
        </p:txBody>
      </p:sp>
      <p:sp>
        <p:nvSpPr>
          <p:cNvPr id="15" name="Text 13"/>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6" name="Text 14"/>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12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8943A"/>
          </a:solidFill>
          <a:ln/>
        </p:spPr>
      </p:sp>
      <p:sp>
        <p:nvSpPr>
          <p:cNvPr id="3" name="Text 1"/>
          <p:cNvSpPr/>
          <p:nvPr/>
        </p:nvSpPr>
        <p:spPr>
          <a:xfrm>
            <a:off x="548640" y="891540"/>
            <a:ext cx="2743200" cy="1783080"/>
          </a:xfrm>
          <a:prstGeom prst="rect">
            <a:avLst/>
          </a:prstGeom>
          <a:noFill/>
          <a:ln/>
        </p:spPr>
        <p:txBody>
          <a:bodyPr wrap="square" rtlCol="0" anchor="ctr"/>
          <a:lstStyle/>
          <a:p>
            <a:pPr algn="l" indent="0" marL="0">
              <a:buNone/>
            </a:pPr>
            <a:r>
              <a:rPr lang="en-US" sz="20000" b="1" dirty="0">
                <a:solidFill>
                  <a:srgbClr val="E8943A">
                    <a:alpha val="20000"/>
                  </a:srgbClr>
                </a:solidFill>
                <a:latin typeface="Georgia" pitchFamily="34" charset="0"/>
                <a:ea typeface="Georgia" pitchFamily="34" charset="-122"/>
                <a:cs typeface="Georgia" pitchFamily="34" charset="-120"/>
              </a:rPr>
              <a:t>“</a:t>
            </a:r>
            <a:endParaRPr lang="en-US" sz="20000" dirty="0"/>
          </a:p>
        </p:txBody>
      </p:sp>
      <p:sp>
        <p:nvSpPr>
          <p:cNvPr id="4" name="Text 2"/>
          <p:cNvSpPr/>
          <p:nvPr/>
        </p:nvSpPr>
        <p:spPr>
          <a:xfrm>
            <a:off x="8899855" y="4549140"/>
            <a:ext cx="2743200" cy="1783080"/>
          </a:xfrm>
          <a:prstGeom prst="rect">
            <a:avLst/>
          </a:prstGeom>
          <a:noFill/>
          <a:ln/>
        </p:spPr>
        <p:txBody>
          <a:bodyPr wrap="square" rtlCol="0" anchor="ctr"/>
          <a:lstStyle/>
          <a:p>
            <a:pPr algn="r" indent="0" marL="0">
              <a:buNone/>
            </a:pPr>
            <a:r>
              <a:rPr lang="en-US" sz="20000" b="1" dirty="0">
                <a:solidFill>
                  <a:srgbClr val="E8943A">
                    <a:alpha val="20000"/>
                  </a:srgbClr>
                </a:solidFill>
                <a:latin typeface="Georgia" pitchFamily="34" charset="0"/>
                <a:ea typeface="Georgia" pitchFamily="34" charset="-122"/>
                <a:cs typeface="Georgia" pitchFamily="34" charset="-120"/>
              </a:rPr>
              <a:t>”</a:t>
            </a:r>
            <a:endParaRPr lang="en-US" sz="20000" dirty="0"/>
          </a:p>
        </p:txBody>
      </p:sp>
      <p:sp>
        <p:nvSpPr>
          <p:cNvPr id="5" name="Text 3"/>
          <p:cNvSpPr/>
          <p:nvPr/>
        </p:nvSpPr>
        <p:spPr>
          <a:xfrm>
            <a:off x="1371600" y="1965960"/>
            <a:ext cx="9448495" cy="2743200"/>
          </a:xfrm>
          <a:prstGeom prst="rect">
            <a:avLst/>
          </a:prstGeom>
          <a:noFill/>
          <a:ln/>
        </p:spPr>
        <p:txBody>
          <a:bodyPr wrap="square" rtlCol="0" anchor="ctr"/>
          <a:lstStyle/>
          <a:p>
            <a:pPr algn="ctr" indent="0" marL="0">
              <a:lnSpc>
                <a:spcPct val="118000"/>
              </a:lnSpc>
              <a:buNone/>
            </a:pPr>
            <a:r>
              <a:rPr lang="en-US" sz="2900" i="1" dirty="0">
                <a:solidFill>
                  <a:srgbClr val="F0F4F8"/>
                </a:solidFill>
                <a:latin typeface="Calibri" pitchFamily="34" charset="0"/>
                <a:ea typeface="Calibri" pitchFamily="34" charset="-122"/>
                <a:cs typeface="Calibri" pitchFamily="34" charset="-120"/>
              </a:rPr>
              <a:t>O volume mínimo de vendas necessário para que seu negócio não opere no prejuízo, cobrindo todos os custos.</a:t>
            </a:r>
            <a:endParaRPr lang="en-US" sz="2900" dirty="0"/>
          </a:p>
        </p:txBody>
      </p:sp>
      <p:sp>
        <p:nvSpPr>
          <p:cNvPr id="6" name="Shape 4"/>
          <p:cNvSpPr/>
          <p:nvPr/>
        </p:nvSpPr>
        <p:spPr>
          <a:xfrm>
            <a:off x="5638648" y="4956048"/>
            <a:ext cx="914400" cy="50292"/>
          </a:xfrm>
          <a:prstGeom prst="rect">
            <a:avLst/>
          </a:prstGeom>
          <a:solidFill>
            <a:srgbClr val="E8943A"/>
          </a:solidFill>
          <a:ln/>
        </p:spPr>
      </p:sp>
      <p:sp>
        <p:nvSpPr>
          <p:cNvPr id="7"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8"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Atividade Prática</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Text 4"/>
          <p:cNvSpPr/>
          <p:nvPr/>
        </p:nvSpPr>
        <p:spPr>
          <a:xfrm>
            <a:off x="640080" y="1371600"/>
            <a:ext cx="1325880" cy="1005840"/>
          </a:xfrm>
          <a:prstGeom prst="rect">
            <a:avLst/>
          </a:prstGeom>
          <a:noFill/>
          <a:ln/>
        </p:spPr>
        <p:txBody>
          <a:bodyPr wrap="square" rtlCol="0" anchor="ctr"/>
          <a:lstStyle/>
          <a:p>
            <a:pPr algn="l" indent="0" marL="0">
              <a:buNone/>
            </a:pPr>
            <a:r>
              <a:rPr lang="en-US" sz="5400" b="1" dirty="0">
                <a:solidFill>
                  <a:srgbClr val="E8943A">
                    <a:alpha val="40000"/>
                  </a:srgbClr>
                </a:solidFill>
                <a:latin typeface="Georgia" pitchFamily="34" charset="0"/>
                <a:ea typeface="Georgia" pitchFamily="34" charset="-122"/>
                <a:cs typeface="Georgia" pitchFamily="34" charset="-120"/>
              </a:rPr>
              <a:t>01</a:t>
            </a:r>
            <a:endParaRPr lang="en-US" sz="5400" dirty="0"/>
          </a:p>
        </p:txBody>
      </p:sp>
      <p:sp>
        <p:nvSpPr>
          <p:cNvPr id="7" name="Text 5"/>
          <p:cNvSpPr/>
          <p:nvPr/>
        </p:nvSpPr>
        <p:spPr>
          <a:xfrm>
            <a:off x="2148840" y="1371600"/>
            <a:ext cx="9219895" cy="1005840"/>
          </a:xfrm>
          <a:prstGeom prst="rect">
            <a:avLst/>
          </a:prstGeom>
          <a:noFill/>
          <a:ln/>
        </p:spPr>
        <p:txBody>
          <a:bodyPr wrap="square" rtlCol="0" anchor="ctr"/>
          <a:lstStyle/>
          <a:p>
            <a:pPr indent="0" marL="0">
              <a:lnSpc>
                <a:spcPct val="103000"/>
              </a:lnSpc>
              <a:buNone/>
            </a:pPr>
            <a:r>
              <a:rPr lang="en-US" sz="1700" b="1" dirty="0">
                <a:solidFill>
                  <a:srgbClr val="F0F4F8"/>
                </a:solidFill>
                <a:latin typeface="Calibri" pitchFamily="34" charset="0"/>
                <a:ea typeface="Calibri" pitchFamily="34" charset="-122"/>
                <a:cs typeface="Calibri" pitchFamily="34" charset="-120"/>
              </a:rPr>
              <a:t>Selecione um produto ou serviço.</a:t>
            </a:r>
            <a:endParaRPr lang="en-US" sz="1700" dirty="0"/>
          </a:p>
        </p:txBody>
      </p:sp>
      <p:sp>
        <p:nvSpPr>
          <p:cNvPr id="8" name="Shape 6"/>
          <p:cNvSpPr/>
          <p:nvPr/>
        </p:nvSpPr>
        <p:spPr>
          <a:xfrm>
            <a:off x="2148840" y="2377440"/>
            <a:ext cx="9219895" cy="0"/>
          </a:xfrm>
          <a:prstGeom prst="line">
            <a:avLst/>
          </a:prstGeom>
          <a:noFill/>
          <a:ln w="9525">
            <a:solidFill>
              <a:srgbClr val="2C333E"/>
            </a:solidFill>
            <a:prstDash val="solid"/>
          </a:ln>
        </p:spPr>
      </p:sp>
      <p:sp>
        <p:nvSpPr>
          <p:cNvPr id="9" name="Text 7"/>
          <p:cNvSpPr/>
          <p:nvPr/>
        </p:nvSpPr>
        <p:spPr>
          <a:xfrm>
            <a:off x="640080" y="2377440"/>
            <a:ext cx="1325880" cy="1005840"/>
          </a:xfrm>
          <a:prstGeom prst="rect">
            <a:avLst/>
          </a:prstGeom>
          <a:noFill/>
          <a:ln/>
        </p:spPr>
        <p:txBody>
          <a:bodyPr wrap="square" rtlCol="0" anchor="ctr"/>
          <a:lstStyle/>
          <a:p>
            <a:pPr algn="l" indent="0" marL="0">
              <a:buNone/>
            </a:pPr>
            <a:r>
              <a:rPr lang="en-US" sz="5400" b="1" dirty="0">
                <a:solidFill>
                  <a:srgbClr val="E8943A">
                    <a:alpha val="40000"/>
                  </a:srgbClr>
                </a:solidFill>
                <a:latin typeface="Georgia" pitchFamily="34" charset="0"/>
                <a:ea typeface="Georgia" pitchFamily="34" charset="-122"/>
                <a:cs typeface="Georgia" pitchFamily="34" charset="-120"/>
              </a:rPr>
              <a:t>02</a:t>
            </a:r>
            <a:endParaRPr lang="en-US" sz="5400" dirty="0"/>
          </a:p>
        </p:txBody>
      </p:sp>
      <p:sp>
        <p:nvSpPr>
          <p:cNvPr id="10" name="Text 8"/>
          <p:cNvSpPr/>
          <p:nvPr/>
        </p:nvSpPr>
        <p:spPr>
          <a:xfrm>
            <a:off x="2148840" y="2377440"/>
            <a:ext cx="9219895" cy="1005840"/>
          </a:xfrm>
          <a:prstGeom prst="rect">
            <a:avLst/>
          </a:prstGeom>
          <a:noFill/>
          <a:ln/>
        </p:spPr>
        <p:txBody>
          <a:bodyPr wrap="square" rtlCol="0" anchor="ctr"/>
          <a:lstStyle/>
          <a:p>
            <a:pPr indent="0" marL="0">
              <a:lnSpc>
                <a:spcPct val="103000"/>
              </a:lnSpc>
              <a:buNone/>
            </a:pPr>
            <a:r>
              <a:rPr lang="en-US" sz="1700" b="1" dirty="0">
                <a:solidFill>
                  <a:srgbClr val="F0F4F8"/>
                </a:solidFill>
                <a:latin typeface="Calibri" pitchFamily="34" charset="0"/>
                <a:ea typeface="Calibri" pitchFamily="34" charset="-122"/>
                <a:cs typeface="Calibri" pitchFamily="34" charset="-120"/>
              </a:rPr>
              <a:t>Liste todos os custos envolvidos.</a:t>
            </a:r>
            <a:endParaRPr lang="en-US" sz="1700" dirty="0"/>
          </a:p>
        </p:txBody>
      </p:sp>
      <p:sp>
        <p:nvSpPr>
          <p:cNvPr id="11" name="Shape 9"/>
          <p:cNvSpPr/>
          <p:nvPr/>
        </p:nvSpPr>
        <p:spPr>
          <a:xfrm>
            <a:off x="2148840" y="3383280"/>
            <a:ext cx="9219895" cy="0"/>
          </a:xfrm>
          <a:prstGeom prst="line">
            <a:avLst/>
          </a:prstGeom>
          <a:noFill/>
          <a:ln w="9525">
            <a:solidFill>
              <a:srgbClr val="2C333E"/>
            </a:solidFill>
            <a:prstDash val="solid"/>
          </a:ln>
        </p:spPr>
      </p:sp>
      <p:sp>
        <p:nvSpPr>
          <p:cNvPr id="12" name="Text 10"/>
          <p:cNvSpPr/>
          <p:nvPr/>
        </p:nvSpPr>
        <p:spPr>
          <a:xfrm>
            <a:off x="640080" y="3383280"/>
            <a:ext cx="1325880" cy="1005840"/>
          </a:xfrm>
          <a:prstGeom prst="rect">
            <a:avLst/>
          </a:prstGeom>
          <a:noFill/>
          <a:ln/>
        </p:spPr>
        <p:txBody>
          <a:bodyPr wrap="square" rtlCol="0" anchor="ctr"/>
          <a:lstStyle/>
          <a:p>
            <a:pPr algn="l" indent="0" marL="0">
              <a:buNone/>
            </a:pPr>
            <a:r>
              <a:rPr lang="en-US" sz="5400" b="1" dirty="0">
                <a:solidFill>
                  <a:srgbClr val="E8943A">
                    <a:alpha val="40000"/>
                  </a:srgbClr>
                </a:solidFill>
                <a:latin typeface="Georgia" pitchFamily="34" charset="0"/>
                <a:ea typeface="Georgia" pitchFamily="34" charset="-122"/>
                <a:cs typeface="Georgia" pitchFamily="34" charset="-120"/>
              </a:rPr>
              <a:t>03</a:t>
            </a:r>
            <a:endParaRPr lang="en-US" sz="5400" dirty="0"/>
          </a:p>
        </p:txBody>
      </p:sp>
      <p:sp>
        <p:nvSpPr>
          <p:cNvPr id="13" name="Text 11"/>
          <p:cNvSpPr/>
          <p:nvPr/>
        </p:nvSpPr>
        <p:spPr>
          <a:xfrm>
            <a:off x="2148840" y="3383280"/>
            <a:ext cx="9219895" cy="1005840"/>
          </a:xfrm>
          <a:prstGeom prst="rect">
            <a:avLst/>
          </a:prstGeom>
          <a:noFill/>
          <a:ln/>
        </p:spPr>
        <p:txBody>
          <a:bodyPr wrap="square" rtlCol="0" anchor="ctr"/>
          <a:lstStyle/>
          <a:p>
            <a:pPr indent="0" marL="0">
              <a:lnSpc>
                <a:spcPct val="103000"/>
              </a:lnSpc>
              <a:buNone/>
            </a:pPr>
            <a:r>
              <a:rPr lang="en-US" sz="1700" b="1" dirty="0">
                <a:solidFill>
                  <a:srgbClr val="F0F4F8"/>
                </a:solidFill>
                <a:latin typeface="Calibri" pitchFamily="34" charset="0"/>
                <a:ea typeface="Calibri" pitchFamily="34" charset="-122"/>
                <a:cs typeface="Calibri" pitchFamily="34" charset="-120"/>
              </a:rPr>
              <a:t>Classifique cada custo.</a:t>
            </a:r>
            <a:endParaRPr lang="en-US" sz="1700" dirty="0"/>
          </a:p>
        </p:txBody>
      </p:sp>
      <p:sp>
        <p:nvSpPr>
          <p:cNvPr id="14" name="Shape 12"/>
          <p:cNvSpPr/>
          <p:nvPr/>
        </p:nvSpPr>
        <p:spPr>
          <a:xfrm>
            <a:off x="2148840" y="4389120"/>
            <a:ext cx="9219895" cy="0"/>
          </a:xfrm>
          <a:prstGeom prst="line">
            <a:avLst/>
          </a:prstGeom>
          <a:noFill/>
          <a:ln w="9525">
            <a:solidFill>
              <a:srgbClr val="2C333E"/>
            </a:solidFill>
            <a:prstDash val="solid"/>
          </a:ln>
        </p:spPr>
      </p:sp>
      <p:sp>
        <p:nvSpPr>
          <p:cNvPr id="15" name="Text 13"/>
          <p:cNvSpPr/>
          <p:nvPr/>
        </p:nvSpPr>
        <p:spPr>
          <a:xfrm>
            <a:off x="640080" y="4389120"/>
            <a:ext cx="1325880" cy="1005840"/>
          </a:xfrm>
          <a:prstGeom prst="rect">
            <a:avLst/>
          </a:prstGeom>
          <a:noFill/>
          <a:ln/>
        </p:spPr>
        <p:txBody>
          <a:bodyPr wrap="square" rtlCol="0" anchor="ctr"/>
          <a:lstStyle/>
          <a:p>
            <a:pPr algn="l" indent="0" marL="0">
              <a:buNone/>
            </a:pPr>
            <a:r>
              <a:rPr lang="en-US" sz="5400" b="1" dirty="0">
                <a:solidFill>
                  <a:srgbClr val="E8943A">
                    <a:alpha val="40000"/>
                  </a:srgbClr>
                </a:solidFill>
                <a:latin typeface="Georgia" pitchFamily="34" charset="0"/>
                <a:ea typeface="Georgia" pitchFamily="34" charset="-122"/>
                <a:cs typeface="Georgia" pitchFamily="34" charset="-120"/>
              </a:rPr>
              <a:t>04</a:t>
            </a:r>
            <a:endParaRPr lang="en-US" sz="5400" dirty="0"/>
          </a:p>
        </p:txBody>
      </p:sp>
      <p:sp>
        <p:nvSpPr>
          <p:cNvPr id="16" name="Text 14"/>
          <p:cNvSpPr/>
          <p:nvPr/>
        </p:nvSpPr>
        <p:spPr>
          <a:xfrm>
            <a:off x="2148840" y="4389120"/>
            <a:ext cx="9219895" cy="1005840"/>
          </a:xfrm>
          <a:prstGeom prst="rect">
            <a:avLst/>
          </a:prstGeom>
          <a:noFill/>
          <a:ln/>
        </p:spPr>
        <p:txBody>
          <a:bodyPr wrap="square" rtlCol="0" anchor="ctr"/>
          <a:lstStyle/>
          <a:p>
            <a:pPr indent="0" marL="0">
              <a:lnSpc>
                <a:spcPct val="103000"/>
              </a:lnSpc>
              <a:buNone/>
            </a:pPr>
            <a:r>
              <a:rPr lang="en-US" sz="1700" b="1" dirty="0">
                <a:solidFill>
                  <a:srgbClr val="F0F4F8"/>
                </a:solidFill>
                <a:latin typeface="Calibri" pitchFamily="34" charset="0"/>
                <a:ea typeface="Calibri" pitchFamily="34" charset="-122"/>
                <a:cs typeface="Calibri" pitchFamily="34" charset="-120"/>
              </a:rPr>
              <a:t>Calcule o custo variável total por unidade.</a:t>
            </a:r>
            <a:endParaRPr lang="en-US" sz="1700" dirty="0"/>
          </a:p>
        </p:txBody>
      </p:sp>
      <p:sp>
        <p:nvSpPr>
          <p:cNvPr id="17" name="Shape 15"/>
          <p:cNvSpPr/>
          <p:nvPr/>
        </p:nvSpPr>
        <p:spPr>
          <a:xfrm>
            <a:off x="2148840" y="5394960"/>
            <a:ext cx="9219895" cy="0"/>
          </a:xfrm>
          <a:prstGeom prst="line">
            <a:avLst/>
          </a:prstGeom>
          <a:noFill/>
          <a:ln w="9525">
            <a:solidFill>
              <a:srgbClr val="2C333E"/>
            </a:solidFill>
            <a:prstDash val="solid"/>
          </a:ln>
        </p:spPr>
      </p:sp>
      <p:sp>
        <p:nvSpPr>
          <p:cNvPr id="18" name="Text 16"/>
          <p:cNvSpPr/>
          <p:nvPr/>
        </p:nvSpPr>
        <p:spPr>
          <a:xfrm>
            <a:off x="640080" y="5394960"/>
            <a:ext cx="1325880" cy="1005840"/>
          </a:xfrm>
          <a:prstGeom prst="rect">
            <a:avLst/>
          </a:prstGeom>
          <a:noFill/>
          <a:ln/>
        </p:spPr>
        <p:txBody>
          <a:bodyPr wrap="square" rtlCol="0" anchor="ctr"/>
          <a:lstStyle/>
          <a:p>
            <a:pPr algn="l" indent="0" marL="0">
              <a:buNone/>
            </a:pPr>
            <a:r>
              <a:rPr lang="en-US" sz="5400" b="1" dirty="0">
                <a:solidFill>
                  <a:srgbClr val="E8943A">
                    <a:alpha val="40000"/>
                  </a:srgbClr>
                </a:solidFill>
                <a:latin typeface="Georgia" pitchFamily="34" charset="0"/>
                <a:ea typeface="Georgia" pitchFamily="34" charset="-122"/>
                <a:cs typeface="Georgia" pitchFamily="34" charset="-120"/>
              </a:rPr>
              <a:t>05</a:t>
            </a:r>
            <a:endParaRPr lang="en-US" sz="5400" dirty="0"/>
          </a:p>
        </p:txBody>
      </p:sp>
      <p:sp>
        <p:nvSpPr>
          <p:cNvPr id="19" name="Text 17"/>
          <p:cNvSpPr/>
          <p:nvPr/>
        </p:nvSpPr>
        <p:spPr>
          <a:xfrm>
            <a:off x="2148840" y="5394960"/>
            <a:ext cx="9219895" cy="1005840"/>
          </a:xfrm>
          <a:prstGeom prst="rect">
            <a:avLst/>
          </a:prstGeom>
          <a:noFill/>
          <a:ln/>
        </p:spPr>
        <p:txBody>
          <a:bodyPr wrap="square" rtlCol="0" anchor="ctr"/>
          <a:lstStyle/>
          <a:p>
            <a:pPr indent="0" marL="0">
              <a:lnSpc>
                <a:spcPct val="103000"/>
              </a:lnSpc>
              <a:buNone/>
            </a:pPr>
            <a:r>
              <a:rPr lang="en-US" sz="1700" b="1" dirty="0">
                <a:solidFill>
                  <a:srgbClr val="F0F4F8"/>
                </a:solidFill>
                <a:latin typeface="Calibri" pitchFamily="34" charset="0"/>
                <a:ea typeface="Calibri" pitchFamily="34" charset="-122"/>
                <a:cs typeface="Calibri" pitchFamily="34" charset="-120"/>
              </a:rPr>
              <a:t>Determine o preço de venda atual.</a:t>
            </a:r>
            <a:endParaRPr lang="en-US" sz="1700" dirty="0"/>
          </a:p>
        </p:txBody>
      </p:sp>
      <p:sp>
        <p:nvSpPr>
          <p:cNvPr id="20" name="Text 18"/>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1" name="Text 19"/>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ANÁLISE DE CUSTOS E PONTO DE EQUILÍBRIO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Principais Aprendizados do Módulo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5327752" cy="1395984"/>
          </a:xfrm>
          <a:prstGeom prst="roundRect">
            <a:avLst>
              <a:gd name="adj" fmla="val 3930"/>
            </a:avLst>
          </a:prstGeom>
          <a:solidFill>
            <a:srgbClr val="1B212B"/>
          </a:solidFill>
          <a:ln/>
        </p:spPr>
      </p:sp>
      <p:sp>
        <p:nvSpPr>
          <p:cNvPr id="7" name="Text 5"/>
          <p:cNvSpPr/>
          <p:nvPr/>
        </p:nvSpPr>
        <p:spPr>
          <a:xfrm>
            <a:off x="804672"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A análise de custos é vital para a sobrevivência do negócio.</a:t>
            </a:r>
            <a:endParaRPr lang="en-US" sz="1400" dirty="0"/>
          </a:p>
        </p:txBody>
      </p:sp>
      <p:sp>
        <p:nvSpPr>
          <p:cNvPr id="9" name="Shape 7"/>
          <p:cNvSpPr/>
          <p:nvPr/>
        </p:nvSpPr>
        <p:spPr>
          <a:xfrm>
            <a:off x="6223864" y="1426464"/>
            <a:ext cx="5327752" cy="1395984"/>
          </a:xfrm>
          <a:prstGeom prst="roundRect">
            <a:avLst>
              <a:gd name="adj" fmla="val 3930"/>
            </a:avLst>
          </a:prstGeom>
          <a:solidFill>
            <a:srgbClr val="1B212B"/>
          </a:solidFill>
          <a:ln/>
        </p:spPr>
      </p:sp>
      <p:sp>
        <p:nvSpPr>
          <p:cNvPr id="10" name="Text 8"/>
          <p:cNvSpPr/>
          <p:nvPr/>
        </p:nvSpPr>
        <p:spPr>
          <a:xfrm>
            <a:off x="6388456"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6882232"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Diferenciar custos fixos e variáveis é crucial para precificar.</a:t>
            </a:r>
            <a:endParaRPr lang="en-US" sz="1400" dirty="0"/>
          </a:p>
        </p:txBody>
      </p:sp>
      <p:sp>
        <p:nvSpPr>
          <p:cNvPr id="12" name="Shape 10"/>
          <p:cNvSpPr/>
          <p:nvPr/>
        </p:nvSpPr>
        <p:spPr>
          <a:xfrm>
            <a:off x="640080" y="3188208"/>
            <a:ext cx="5327752" cy="1395984"/>
          </a:xfrm>
          <a:prstGeom prst="roundRect">
            <a:avLst>
              <a:gd name="adj" fmla="val 3930"/>
            </a:avLst>
          </a:prstGeom>
          <a:solidFill>
            <a:srgbClr val="1B212B"/>
          </a:solidFill>
          <a:ln/>
        </p:spPr>
      </p:sp>
      <p:sp>
        <p:nvSpPr>
          <p:cNvPr id="13" name="Text 11"/>
          <p:cNvSpPr/>
          <p:nvPr/>
        </p:nvSpPr>
        <p:spPr>
          <a:xfrm>
            <a:off x="804672"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298448"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Custos fixos não mudam com o volume, variáveis sim.</a:t>
            </a:r>
            <a:endParaRPr lang="en-US" sz="1400" dirty="0"/>
          </a:p>
        </p:txBody>
      </p:sp>
      <p:sp>
        <p:nvSpPr>
          <p:cNvPr id="15" name="Shape 13"/>
          <p:cNvSpPr/>
          <p:nvPr/>
        </p:nvSpPr>
        <p:spPr>
          <a:xfrm>
            <a:off x="6223864" y="3188208"/>
            <a:ext cx="5327752" cy="1395984"/>
          </a:xfrm>
          <a:prstGeom prst="roundRect">
            <a:avLst>
              <a:gd name="adj" fmla="val 3930"/>
            </a:avLst>
          </a:prstGeom>
          <a:solidFill>
            <a:srgbClr val="1B212B"/>
          </a:solidFill>
          <a:ln/>
        </p:spPr>
      </p:sp>
      <p:sp>
        <p:nvSpPr>
          <p:cNvPr id="16" name="Text 14"/>
          <p:cNvSpPr/>
          <p:nvPr/>
        </p:nvSpPr>
        <p:spPr>
          <a:xfrm>
            <a:off x="6388456"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6882232"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O Ponto de Equilíbrio indica o mínimo para não ter prejuízo.</a:t>
            </a:r>
            <a:endParaRPr lang="en-US" sz="1400" dirty="0"/>
          </a:p>
        </p:txBody>
      </p:sp>
      <p:sp>
        <p:nvSpPr>
          <p:cNvPr id="18" name="Shape 16"/>
          <p:cNvSpPr/>
          <p:nvPr/>
        </p:nvSpPr>
        <p:spPr>
          <a:xfrm>
            <a:off x="640080" y="4949952"/>
            <a:ext cx="5327752" cy="1395984"/>
          </a:xfrm>
          <a:prstGeom prst="roundRect">
            <a:avLst>
              <a:gd name="adj" fmla="val 3930"/>
            </a:avLst>
          </a:prstGeom>
          <a:solidFill>
            <a:srgbClr val="1B212B"/>
          </a:solidFill>
          <a:ln/>
        </p:spPr>
      </p:sp>
      <p:sp>
        <p:nvSpPr>
          <p:cNvPr id="19" name="Text 17"/>
          <p:cNvSpPr/>
          <p:nvPr/>
        </p:nvSpPr>
        <p:spPr>
          <a:xfrm>
            <a:off x="804672" y="4949952"/>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1298448" y="4949952"/>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Decisões de preço informadas evitam margens insuficientes.</a:t>
            </a:r>
            <a:endParaRPr lang="en-US" sz="1400" dirty="0"/>
          </a:p>
        </p:txBody>
      </p:sp>
      <p:sp>
        <p:nvSpPr>
          <p:cNvPr id="21" name="Text 19"/>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2" name="Text 20"/>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D13">
              <a:alpha val="72000"/>
            </a:srgbClr>
          </a:solidFill>
          <a:ln/>
        </p:spPr>
      </p:sp>
      <p:sp>
        <p:nvSpPr>
          <p:cNvPr id="4" name="Shape 1"/>
          <p:cNvSpPr/>
          <p:nvPr/>
        </p:nvSpPr>
        <p:spPr>
          <a:xfrm>
            <a:off x="0" y="0"/>
            <a:ext cx="7498080" cy="6858000"/>
          </a:xfrm>
          <a:prstGeom prst="rect">
            <a:avLst/>
          </a:prstGeom>
          <a:solidFill>
            <a:srgbClr val="0A0D13">
              <a:alpha val="94000"/>
            </a:srgbClr>
          </a:solidFill>
          <a:ln/>
        </p:spPr>
      </p:sp>
      <p:sp>
        <p:nvSpPr>
          <p:cNvPr id="5" name="Text 2"/>
          <p:cNvSpPr/>
          <p:nvPr/>
        </p:nvSpPr>
        <p:spPr>
          <a:xfrm>
            <a:off x="640080" y="1280160"/>
            <a:ext cx="6400800" cy="411480"/>
          </a:xfrm>
          <a:prstGeom prst="rect">
            <a:avLst/>
          </a:prstGeom>
          <a:noFill/>
          <a:ln/>
        </p:spPr>
        <p:txBody>
          <a:bodyPr wrap="square" rtlCol="0" anchor="ctr"/>
          <a:lstStyle/>
          <a:p>
            <a:pPr indent="0" marL="0">
              <a:buNone/>
            </a:pPr>
            <a:r>
              <a:rPr lang="en-US" sz="1500" b="1" spc="500" kern="0" dirty="0">
                <a:solidFill>
                  <a:srgbClr val="E8943A"/>
                </a:solidFill>
                <a:latin typeface="Calibri" pitchFamily="34" charset="0"/>
                <a:ea typeface="Calibri" pitchFamily="34" charset="-122"/>
                <a:cs typeface="Calibri" pitchFamily="34" charset="-120"/>
              </a:rPr>
              <a:t>MÓDULO</a:t>
            </a:r>
            <a:endParaRPr lang="en-US" sz="1500" dirty="0"/>
          </a:p>
        </p:txBody>
      </p:sp>
      <p:sp>
        <p:nvSpPr>
          <p:cNvPr id="6" name="Text 3"/>
          <p:cNvSpPr/>
          <p:nvPr/>
        </p:nvSpPr>
        <p:spPr>
          <a:xfrm>
            <a:off x="566928" y="1554480"/>
            <a:ext cx="5486400" cy="2468880"/>
          </a:xfrm>
          <a:prstGeom prst="rect">
            <a:avLst/>
          </a:prstGeom>
          <a:noFill/>
          <a:ln/>
        </p:spPr>
        <p:txBody>
          <a:bodyPr wrap="square" rtlCol="0" anchor="ctr"/>
          <a:lstStyle/>
          <a:p>
            <a:pPr algn="l" indent="0" marL="0">
              <a:buNone/>
            </a:pPr>
            <a:r>
              <a:rPr lang="en-US" sz="20000" b="1" dirty="0">
                <a:solidFill>
                  <a:srgbClr val="E8943A">
                    <a:alpha val="78000"/>
                  </a:srgbClr>
                </a:solidFill>
                <a:latin typeface="Georgia" pitchFamily="34" charset="0"/>
                <a:ea typeface="Georgia" pitchFamily="34" charset="-122"/>
                <a:cs typeface="Georgia" pitchFamily="34" charset="-120"/>
              </a:rPr>
              <a:t>03</a:t>
            </a:r>
            <a:endParaRPr lang="en-US" sz="20000" dirty="0"/>
          </a:p>
        </p:txBody>
      </p:sp>
      <p:sp>
        <p:nvSpPr>
          <p:cNvPr id="7" name="Shape 4"/>
          <p:cNvSpPr/>
          <p:nvPr/>
        </p:nvSpPr>
        <p:spPr>
          <a:xfrm>
            <a:off x="676656" y="4114800"/>
            <a:ext cx="1005840" cy="82296"/>
          </a:xfrm>
          <a:prstGeom prst="rect">
            <a:avLst/>
          </a:prstGeom>
          <a:solidFill>
            <a:srgbClr val="E8943A"/>
          </a:solidFill>
          <a:ln/>
        </p:spPr>
      </p:sp>
      <p:sp>
        <p:nvSpPr>
          <p:cNvPr id="8" name="Text 5"/>
          <p:cNvSpPr/>
          <p:nvPr/>
        </p:nvSpPr>
        <p:spPr>
          <a:xfrm>
            <a:off x="640080" y="4370832"/>
            <a:ext cx="7223760" cy="1920240"/>
          </a:xfrm>
          <a:prstGeom prst="rect">
            <a:avLst/>
          </a:prstGeom>
          <a:noFill/>
          <a:ln/>
        </p:spPr>
        <p:txBody>
          <a:bodyPr wrap="square" rtlCol="0" anchor="t"/>
          <a:lstStyle/>
          <a:p>
            <a:pPr indent="0" marL="0">
              <a:lnSpc>
                <a:spcPct val="102000"/>
              </a:lnSpc>
              <a:buNone/>
            </a:pPr>
            <a:r>
              <a:rPr lang="en-US" sz="4200" b="1" dirty="0">
                <a:solidFill>
                  <a:srgbClr val="FFFFFF"/>
                </a:solidFill>
                <a:latin typeface="Georgia" pitchFamily="34" charset="0"/>
                <a:ea typeface="Georgia" pitchFamily="34" charset="-122"/>
                <a:cs typeface="Georgia" pitchFamily="34" charset="-120"/>
              </a:rPr>
              <a:t>Estratégias e Métodos de Precificação</a:t>
            </a:r>
            <a:endParaRPr lang="en-US" sz="4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Text 1"/>
          <p:cNvSpPr/>
          <p:nvPr/>
        </p:nvSpPr>
        <p:spPr>
          <a:xfrm>
            <a:off x="548640" y="754380"/>
            <a:ext cx="2743200" cy="1783080"/>
          </a:xfrm>
          <a:prstGeom prst="rect">
            <a:avLst/>
          </a:prstGeom>
          <a:noFill/>
          <a:ln/>
        </p:spPr>
        <p:txBody>
          <a:bodyPr wrap="square" rtlCol="0" anchor="ctr"/>
          <a:lstStyle/>
          <a:p>
            <a:pPr algn="l"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5" name="Text 2"/>
          <p:cNvSpPr/>
          <p:nvPr/>
        </p:nvSpPr>
        <p:spPr>
          <a:xfrm>
            <a:off x="8899855" y="4457700"/>
            <a:ext cx="2743200" cy="1783080"/>
          </a:xfrm>
          <a:prstGeom prst="rect">
            <a:avLst/>
          </a:prstGeom>
          <a:noFill/>
          <a:ln/>
        </p:spPr>
        <p:txBody>
          <a:bodyPr wrap="square" rtlCol="0" anchor="ctr"/>
          <a:lstStyle/>
          <a:p>
            <a:pPr algn="r"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6" name="Text 3"/>
          <p:cNvSpPr/>
          <p:nvPr/>
        </p:nvSpPr>
        <p:spPr>
          <a:xfrm>
            <a:off x="1097280" y="1737360"/>
            <a:ext cx="9997135" cy="2926080"/>
          </a:xfrm>
          <a:prstGeom prst="rect">
            <a:avLst/>
          </a:prstGeom>
          <a:noFill/>
          <a:ln/>
          <a:effectLst>
            <a:outerShdw sx="100000" sy="100000" kx="0" ky="0" algn="bl" rotWithShape="0" blurRad="76200" dist="25400" dir="16200000">
              <a:srgbClr val="000000">
                <a:alpha val="50000"/>
              </a:srgbClr>
            </a:outerShdw>
          </a:effectLst>
        </p:spPr>
        <p:txBody>
          <a:bodyPr wrap="square" rtlCol="0" anchor="ctr"/>
          <a:lstStyle/>
          <a:p>
            <a:pPr algn="ctr" indent="0" marL="0">
              <a:lnSpc>
                <a:spcPct val="115000"/>
              </a:lnSpc>
              <a:buNone/>
            </a:pPr>
            <a:r>
              <a:rPr lang="en-US" sz="3400" b="1" i="1" dirty="0">
                <a:solidFill>
                  <a:srgbClr val="FFFFFF"/>
                </a:solidFill>
                <a:latin typeface="Georgia" pitchFamily="34" charset="0"/>
                <a:ea typeface="Georgia" pitchFamily="34" charset="-122"/>
                <a:cs typeface="Georgia" pitchFamily="34" charset="-120"/>
              </a:rPr>
              <a:t>A precificação vai além de um simples cálculo; é uma decisão estratégica que molda a percepção de valor, o volume de vendas e a competitividade no mercado.</a:t>
            </a:r>
            <a:endParaRPr lang="en-US" sz="3400" dirty="0"/>
          </a:p>
        </p:txBody>
      </p:sp>
      <p:sp>
        <p:nvSpPr>
          <p:cNvPr id="7" name="Shape 4"/>
          <p:cNvSpPr/>
          <p:nvPr/>
        </p:nvSpPr>
        <p:spPr>
          <a:xfrm>
            <a:off x="5638648" y="5029200"/>
            <a:ext cx="914400" cy="50292"/>
          </a:xfrm>
          <a:prstGeom prst="rect">
            <a:avLst/>
          </a:prstGeom>
          <a:solidFill>
            <a:srgbClr val="E8943A"/>
          </a:solidFill>
          <a:ln/>
        </p:spPr>
      </p:sp>
      <p:sp>
        <p:nvSpPr>
          <p:cNvPr id="8"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9"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Baseada em Custo (Cost-Plus)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371600"/>
            <a:ext cx="5227168" cy="5029200"/>
          </a:xfrm>
          <a:prstGeom prst="roundRect">
            <a:avLst>
              <a:gd name="adj" fmla="val 1455"/>
            </a:avLst>
          </a:prstGeom>
          <a:solidFill>
            <a:srgbClr val="1B212B"/>
          </a:solidFill>
          <a:ln w="12700">
            <a:solidFill>
              <a:srgbClr val="2C333E"/>
            </a:solidFill>
            <a:prstDash val="solid"/>
          </a:ln>
        </p:spPr>
      </p:sp>
      <p:sp>
        <p:nvSpPr>
          <p:cNvPr id="7" name="Shape 5"/>
          <p:cNvSpPr/>
          <p:nvPr/>
        </p:nvSpPr>
        <p:spPr>
          <a:xfrm>
            <a:off x="640080" y="1371600"/>
            <a:ext cx="5227168" cy="566928"/>
          </a:xfrm>
          <a:prstGeom prst="rect">
            <a:avLst/>
          </a:prstGeom>
          <a:solidFill>
            <a:srgbClr val="D63B3B"/>
          </a:solidFill>
          <a:ln/>
        </p:spPr>
      </p:sp>
      <p:sp>
        <p:nvSpPr>
          <p:cNvPr id="8" name="Text 6"/>
          <p:cNvSpPr/>
          <p:nvPr/>
        </p:nvSpPr>
        <p:spPr>
          <a:xfrm>
            <a:off x="868680"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Vantagens</a:t>
            </a:r>
            <a:endParaRPr lang="en-US" sz="1600" dirty="0"/>
          </a:p>
        </p:txBody>
      </p:sp>
      <p:sp>
        <p:nvSpPr>
          <p:cNvPr id="9" name="Shape 7"/>
          <p:cNvSpPr/>
          <p:nvPr/>
        </p:nvSpPr>
        <p:spPr>
          <a:xfrm>
            <a:off x="896112" y="2788920"/>
            <a:ext cx="109728" cy="109728"/>
          </a:xfrm>
          <a:prstGeom prst="rect">
            <a:avLst/>
          </a:prstGeom>
          <a:solidFill>
            <a:srgbClr val="D63B3B"/>
          </a:solidFill>
          <a:ln/>
        </p:spPr>
      </p:sp>
      <p:sp>
        <p:nvSpPr>
          <p:cNvPr id="10" name="Text 8"/>
          <p:cNvSpPr/>
          <p:nvPr/>
        </p:nvSpPr>
        <p:spPr>
          <a:xfrm>
            <a:off x="1115568"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Simples de calcular e implementar</a:t>
            </a:r>
            <a:endParaRPr lang="en-US" sz="1300" dirty="0"/>
          </a:p>
        </p:txBody>
      </p:sp>
      <p:sp>
        <p:nvSpPr>
          <p:cNvPr id="11" name="Shape 9"/>
          <p:cNvSpPr/>
          <p:nvPr/>
        </p:nvSpPr>
        <p:spPr>
          <a:xfrm>
            <a:off x="896112" y="4160520"/>
            <a:ext cx="109728" cy="109728"/>
          </a:xfrm>
          <a:prstGeom prst="rect">
            <a:avLst/>
          </a:prstGeom>
          <a:solidFill>
            <a:srgbClr val="D63B3B"/>
          </a:solidFill>
          <a:ln/>
        </p:spPr>
      </p:sp>
      <p:sp>
        <p:nvSpPr>
          <p:cNvPr id="12" name="Text 10"/>
          <p:cNvSpPr/>
          <p:nvPr/>
        </p:nvSpPr>
        <p:spPr>
          <a:xfrm>
            <a:off x="1115568"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Garante cobertura de custos e lucro</a:t>
            </a:r>
            <a:endParaRPr lang="en-US" sz="1300" dirty="0"/>
          </a:p>
        </p:txBody>
      </p:sp>
      <p:sp>
        <p:nvSpPr>
          <p:cNvPr id="13" name="Shape 11"/>
          <p:cNvSpPr/>
          <p:nvPr/>
        </p:nvSpPr>
        <p:spPr>
          <a:xfrm>
            <a:off x="896112" y="5532120"/>
            <a:ext cx="109728" cy="109728"/>
          </a:xfrm>
          <a:prstGeom prst="rect">
            <a:avLst/>
          </a:prstGeom>
          <a:solidFill>
            <a:srgbClr val="D63B3B"/>
          </a:solidFill>
          <a:ln/>
        </p:spPr>
      </p:sp>
      <p:sp>
        <p:nvSpPr>
          <p:cNvPr id="14" name="Text 12"/>
          <p:cNvSpPr/>
          <p:nvPr/>
        </p:nvSpPr>
        <p:spPr>
          <a:xfrm>
            <a:off x="1115568"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Facilita justificativa interna de preços</a:t>
            </a:r>
            <a:endParaRPr lang="en-US" sz="1300" dirty="0"/>
          </a:p>
        </p:txBody>
      </p:sp>
      <p:sp>
        <p:nvSpPr>
          <p:cNvPr id="15" name="Shape 13"/>
          <p:cNvSpPr/>
          <p:nvPr/>
        </p:nvSpPr>
        <p:spPr>
          <a:xfrm>
            <a:off x="6324448" y="1371600"/>
            <a:ext cx="5227168" cy="5029200"/>
          </a:xfrm>
          <a:prstGeom prst="roundRect">
            <a:avLst>
              <a:gd name="adj" fmla="val 1455"/>
            </a:avLst>
          </a:prstGeom>
          <a:solidFill>
            <a:srgbClr val="1B212B"/>
          </a:solidFill>
          <a:ln w="12700">
            <a:solidFill>
              <a:srgbClr val="2C333E"/>
            </a:solidFill>
            <a:prstDash val="solid"/>
          </a:ln>
        </p:spPr>
      </p:sp>
      <p:sp>
        <p:nvSpPr>
          <p:cNvPr id="16" name="Shape 14"/>
          <p:cNvSpPr/>
          <p:nvPr/>
        </p:nvSpPr>
        <p:spPr>
          <a:xfrm>
            <a:off x="6324448" y="1371600"/>
            <a:ext cx="5227168" cy="566928"/>
          </a:xfrm>
          <a:prstGeom prst="rect">
            <a:avLst/>
          </a:prstGeom>
          <a:solidFill>
            <a:srgbClr val="E8943A"/>
          </a:solidFill>
          <a:ln/>
        </p:spPr>
      </p:sp>
      <p:sp>
        <p:nvSpPr>
          <p:cNvPr id="17" name="Text 15"/>
          <p:cNvSpPr/>
          <p:nvPr/>
        </p:nvSpPr>
        <p:spPr>
          <a:xfrm>
            <a:off x="6553048"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Desvantagens</a:t>
            </a:r>
            <a:endParaRPr lang="en-US" sz="1600" dirty="0"/>
          </a:p>
        </p:txBody>
      </p:sp>
      <p:sp>
        <p:nvSpPr>
          <p:cNvPr id="18" name="Shape 16"/>
          <p:cNvSpPr/>
          <p:nvPr/>
        </p:nvSpPr>
        <p:spPr>
          <a:xfrm>
            <a:off x="6580480" y="2788920"/>
            <a:ext cx="109728" cy="109728"/>
          </a:xfrm>
          <a:prstGeom prst="rect">
            <a:avLst/>
          </a:prstGeom>
          <a:solidFill>
            <a:srgbClr val="E8943A"/>
          </a:solidFill>
          <a:ln/>
        </p:spPr>
      </p:sp>
      <p:sp>
        <p:nvSpPr>
          <p:cNvPr id="19" name="Text 17"/>
          <p:cNvSpPr/>
          <p:nvPr/>
        </p:nvSpPr>
        <p:spPr>
          <a:xfrm>
            <a:off x="6799936"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Ignora valor percebido e concorrência</a:t>
            </a:r>
            <a:endParaRPr lang="en-US" sz="1300" dirty="0"/>
          </a:p>
        </p:txBody>
      </p:sp>
      <p:sp>
        <p:nvSpPr>
          <p:cNvPr id="20" name="Shape 18"/>
          <p:cNvSpPr/>
          <p:nvPr/>
        </p:nvSpPr>
        <p:spPr>
          <a:xfrm>
            <a:off x="6580480" y="4160520"/>
            <a:ext cx="109728" cy="109728"/>
          </a:xfrm>
          <a:prstGeom prst="rect">
            <a:avLst/>
          </a:prstGeom>
          <a:solidFill>
            <a:srgbClr val="E8943A"/>
          </a:solidFill>
          <a:ln/>
        </p:spPr>
      </p:sp>
      <p:sp>
        <p:nvSpPr>
          <p:cNvPr id="21" name="Text 19"/>
          <p:cNvSpPr/>
          <p:nvPr/>
        </p:nvSpPr>
        <p:spPr>
          <a:xfrm>
            <a:off x="6799936"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Pode gerar preços não competitivos</a:t>
            </a:r>
            <a:endParaRPr lang="en-US" sz="1300" dirty="0"/>
          </a:p>
        </p:txBody>
      </p:sp>
      <p:sp>
        <p:nvSpPr>
          <p:cNvPr id="22" name="Shape 20"/>
          <p:cNvSpPr/>
          <p:nvPr/>
        </p:nvSpPr>
        <p:spPr>
          <a:xfrm>
            <a:off x="6580480" y="5532120"/>
            <a:ext cx="109728" cy="109728"/>
          </a:xfrm>
          <a:prstGeom prst="rect">
            <a:avLst/>
          </a:prstGeom>
          <a:solidFill>
            <a:srgbClr val="E8943A"/>
          </a:solidFill>
          <a:ln/>
        </p:spPr>
      </p:sp>
      <p:sp>
        <p:nvSpPr>
          <p:cNvPr id="23" name="Text 21"/>
          <p:cNvSpPr/>
          <p:nvPr/>
        </p:nvSpPr>
        <p:spPr>
          <a:xfrm>
            <a:off x="6799936"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Não otimiza o lucro potencial</a:t>
            </a:r>
            <a:endParaRPr lang="en-US" sz="1300" dirty="0"/>
          </a:p>
        </p:txBody>
      </p:sp>
      <p:sp>
        <p:nvSpPr>
          <p:cNvPr id="24" name="Shape 22"/>
          <p:cNvSpPr/>
          <p:nvPr/>
        </p:nvSpPr>
        <p:spPr>
          <a:xfrm>
            <a:off x="5803240" y="3794760"/>
            <a:ext cx="585216" cy="585216"/>
          </a:xfrm>
          <a:prstGeom prst="ellipse">
            <a:avLst/>
          </a:prstGeom>
          <a:solidFill>
            <a:srgbClr val="F0F4F8"/>
          </a:solidFill>
          <a:ln w="25400">
            <a:solidFill>
              <a:srgbClr val="0F1219"/>
            </a:solidFill>
            <a:prstDash val="solid"/>
          </a:ln>
        </p:spPr>
      </p:sp>
      <p:sp>
        <p:nvSpPr>
          <p:cNvPr id="25" name="Text 23"/>
          <p:cNvSpPr/>
          <p:nvPr/>
        </p:nvSpPr>
        <p:spPr>
          <a:xfrm>
            <a:off x="5803240" y="3794760"/>
            <a:ext cx="585216" cy="585216"/>
          </a:xfrm>
          <a:prstGeom prst="rect">
            <a:avLst/>
          </a:prstGeom>
          <a:noFill/>
          <a:ln/>
        </p:spPr>
        <p:txBody>
          <a:bodyPr wrap="square" rtlCol="0" anchor="ctr"/>
          <a:lstStyle/>
          <a:p>
            <a:pPr algn="ctr" indent="0" marL="0">
              <a:buNone/>
            </a:pPr>
            <a:r>
              <a:rPr lang="en-US" sz="1300" b="1" dirty="0">
                <a:solidFill>
                  <a:srgbClr val="0F1219"/>
                </a:solidFill>
                <a:latin typeface="Calibri" pitchFamily="34" charset="0"/>
                <a:ea typeface="Calibri" pitchFamily="34" charset="-122"/>
                <a:cs typeface="Calibri" pitchFamily="34" charset="-120"/>
              </a:rPr>
              <a:t>VS</a:t>
            </a:r>
            <a:endParaRPr lang="en-US" sz="13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Baseada em Valor</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371600"/>
            <a:ext cx="5227168" cy="5029200"/>
          </a:xfrm>
          <a:prstGeom prst="roundRect">
            <a:avLst>
              <a:gd name="adj" fmla="val 1455"/>
            </a:avLst>
          </a:prstGeom>
          <a:solidFill>
            <a:srgbClr val="1B212B"/>
          </a:solidFill>
          <a:ln w="12700">
            <a:solidFill>
              <a:srgbClr val="2C333E"/>
            </a:solidFill>
            <a:prstDash val="solid"/>
          </a:ln>
        </p:spPr>
      </p:sp>
      <p:sp>
        <p:nvSpPr>
          <p:cNvPr id="7" name="Shape 5"/>
          <p:cNvSpPr/>
          <p:nvPr/>
        </p:nvSpPr>
        <p:spPr>
          <a:xfrm>
            <a:off x="640080" y="1371600"/>
            <a:ext cx="5227168" cy="566928"/>
          </a:xfrm>
          <a:prstGeom prst="rect">
            <a:avLst/>
          </a:prstGeom>
          <a:solidFill>
            <a:srgbClr val="D63B3B"/>
          </a:solidFill>
          <a:ln/>
        </p:spPr>
      </p:sp>
      <p:sp>
        <p:nvSpPr>
          <p:cNvPr id="8" name="Text 6"/>
          <p:cNvSpPr/>
          <p:nvPr/>
        </p:nvSpPr>
        <p:spPr>
          <a:xfrm>
            <a:off x="868680"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Vantagens</a:t>
            </a:r>
            <a:endParaRPr lang="en-US" sz="1600" dirty="0"/>
          </a:p>
        </p:txBody>
      </p:sp>
      <p:sp>
        <p:nvSpPr>
          <p:cNvPr id="9" name="Shape 7"/>
          <p:cNvSpPr/>
          <p:nvPr/>
        </p:nvSpPr>
        <p:spPr>
          <a:xfrm>
            <a:off x="896112" y="2788920"/>
            <a:ext cx="109728" cy="109728"/>
          </a:xfrm>
          <a:prstGeom prst="rect">
            <a:avLst/>
          </a:prstGeom>
          <a:solidFill>
            <a:srgbClr val="D63B3B"/>
          </a:solidFill>
          <a:ln/>
        </p:spPr>
      </p:sp>
      <p:sp>
        <p:nvSpPr>
          <p:cNvPr id="10" name="Text 8"/>
          <p:cNvSpPr/>
          <p:nvPr/>
        </p:nvSpPr>
        <p:spPr>
          <a:xfrm>
            <a:off x="1115568"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Permite capturar maior valor</a:t>
            </a:r>
            <a:endParaRPr lang="en-US" sz="1300" dirty="0"/>
          </a:p>
        </p:txBody>
      </p:sp>
      <p:sp>
        <p:nvSpPr>
          <p:cNvPr id="11" name="Shape 9"/>
          <p:cNvSpPr/>
          <p:nvPr/>
        </p:nvSpPr>
        <p:spPr>
          <a:xfrm>
            <a:off x="896112" y="4160520"/>
            <a:ext cx="109728" cy="109728"/>
          </a:xfrm>
          <a:prstGeom prst="rect">
            <a:avLst/>
          </a:prstGeom>
          <a:solidFill>
            <a:srgbClr val="D63B3B"/>
          </a:solidFill>
          <a:ln/>
        </p:spPr>
      </p:sp>
      <p:sp>
        <p:nvSpPr>
          <p:cNvPr id="12" name="Text 10"/>
          <p:cNvSpPr/>
          <p:nvPr/>
        </p:nvSpPr>
        <p:spPr>
          <a:xfrm>
            <a:off x="1115568"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Incentiva produtos de alto valor</a:t>
            </a:r>
            <a:endParaRPr lang="en-US" sz="1300" dirty="0"/>
          </a:p>
        </p:txBody>
      </p:sp>
      <p:sp>
        <p:nvSpPr>
          <p:cNvPr id="13" name="Shape 11"/>
          <p:cNvSpPr/>
          <p:nvPr/>
        </p:nvSpPr>
        <p:spPr>
          <a:xfrm>
            <a:off x="896112" y="5532120"/>
            <a:ext cx="109728" cy="109728"/>
          </a:xfrm>
          <a:prstGeom prst="rect">
            <a:avLst/>
          </a:prstGeom>
          <a:solidFill>
            <a:srgbClr val="D63B3B"/>
          </a:solidFill>
          <a:ln/>
        </p:spPr>
      </p:sp>
      <p:sp>
        <p:nvSpPr>
          <p:cNvPr id="14" name="Text 12"/>
          <p:cNvSpPr/>
          <p:nvPr/>
        </p:nvSpPr>
        <p:spPr>
          <a:xfrm>
            <a:off x="1115568"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Posiciona como provedor de soluções</a:t>
            </a:r>
            <a:endParaRPr lang="en-US" sz="1300" dirty="0"/>
          </a:p>
        </p:txBody>
      </p:sp>
      <p:sp>
        <p:nvSpPr>
          <p:cNvPr id="15" name="Shape 13"/>
          <p:cNvSpPr/>
          <p:nvPr/>
        </p:nvSpPr>
        <p:spPr>
          <a:xfrm>
            <a:off x="6324448" y="1371600"/>
            <a:ext cx="5227168" cy="5029200"/>
          </a:xfrm>
          <a:prstGeom prst="roundRect">
            <a:avLst>
              <a:gd name="adj" fmla="val 1455"/>
            </a:avLst>
          </a:prstGeom>
          <a:solidFill>
            <a:srgbClr val="1B212B"/>
          </a:solidFill>
          <a:ln w="12700">
            <a:solidFill>
              <a:srgbClr val="2C333E"/>
            </a:solidFill>
            <a:prstDash val="solid"/>
          </a:ln>
        </p:spPr>
      </p:sp>
      <p:sp>
        <p:nvSpPr>
          <p:cNvPr id="16" name="Shape 14"/>
          <p:cNvSpPr/>
          <p:nvPr/>
        </p:nvSpPr>
        <p:spPr>
          <a:xfrm>
            <a:off x="6324448" y="1371600"/>
            <a:ext cx="5227168" cy="566928"/>
          </a:xfrm>
          <a:prstGeom prst="rect">
            <a:avLst/>
          </a:prstGeom>
          <a:solidFill>
            <a:srgbClr val="E8943A"/>
          </a:solidFill>
          <a:ln/>
        </p:spPr>
      </p:sp>
      <p:sp>
        <p:nvSpPr>
          <p:cNvPr id="17" name="Text 15"/>
          <p:cNvSpPr/>
          <p:nvPr/>
        </p:nvSpPr>
        <p:spPr>
          <a:xfrm>
            <a:off x="6553048"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Desvantagens</a:t>
            </a:r>
            <a:endParaRPr lang="en-US" sz="1600" dirty="0"/>
          </a:p>
        </p:txBody>
      </p:sp>
      <p:sp>
        <p:nvSpPr>
          <p:cNvPr id="18" name="Shape 16"/>
          <p:cNvSpPr/>
          <p:nvPr/>
        </p:nvSpPr>
        <p:spPr>
          <a:xfrm>
            <a:off x="6580480" y="2788920"/>
            <a:ext cx="109728" cy="109728"/>
          </a:xfrm>
          <a:prstGeom prst="rect">
            <a:avLst/>
          </a:prstGeom>
          <a:solidFill>
            <a:srgbClr val="E8943A"/>
          </a:solidFill>
          <a:ln/>
        </p:spPr>
      </p:sp>
      <p:sp>
        <p:nvSpPr>
          <p:cNvPr id="19" name="Text 17"/>
          <p:cNvSpPr/>
          <p:nvPr/>
        </p:nvSpPr>
        <p:spPr>
          <a:xfrm>
            <a:off x="6799936"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Requer pesquisa de mercado profunda</a:t>
            </a:r>
            <a:endParaRPr lang="en-US" sz="1300" dirty="0"/>
          </a:p>
        </p:txBody>
      </p:sp>
      <p:sp>
        <p:nvSpPr>
          <p:cNvPr id="20" name="Shape 18"/>
          <p:cNvSpPr/>
          <p:nvPr/>
        </p:nvSpPr>
        <p:spPr>
          <a:xfrm>
            <a:off x="6580480" y="4160520"/>
            <a:ext cx="109728" cy="109728"/>
          </a:xfrm>
          <a:prstGeom prst="rect">
            <a:avLst/>
          </a:prstGeom>
          <a:solidFill>
            <a:srgbClr val="E8943A"/>
          </a:solidFill>
          <a:ln/>
        </p:spPr>
      </p:sp>
      <p:sp>
        <p:nvSpPr>
          <p:cNvPr id="21" name="Text 19"/>
          <p:cNvSpPr/>
          <p:nvPr/>
        </p:nvSpPr>
        <p:spPr>
          <a:xfrm>
            <a:off x="6799936"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Valor percebido pode variar</a:t>
            </a:r>
            <a:endParaRPr lang="en-US" sz="1300" dirty="0"/>
          </a:p>
        </p:txBody>
      </p:sp>
      <p:sp>
        <p:nvSpPr>
          <p:cNvPr id="22" name="Shape 20"/>
          <p:cNvSpPr/>
          <p:nvPr/>
        </p:nvSpPr>
        <p:spPr>
          <a:xfrm>
            <a:off x="6580480" y="5532120"/>
            <a:ext cx="109728" cy="109728"/>
          </a:xfrm>
          <a:prstGeom prst="rect">
            <a:avLst/>
          </a:prstGeom>
          <a:solidFill>
            <a:srgbClr val="E8943A"/>
          </a:solidFill>
          <a:ln/>
        </p:spPr>
      </p:sp>
      <p:sp>
        <p:nvSpPr>
          <p:cNvPr id="23" name="Text 21"/>
          <p:cNvSpPr/>
          <p:nvPr/>
        </p:nvSpPr>
        <p:spPr>
          <a:xfrm>
            <a:off x="6799936"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Exige marketing eficaz para justificar</a:t>
            </a:r>
            <a:endParaRPr lang="en-US" sz="1300" dirty="0"/>
          </a:p>
        </p:txBody>
      </p:sp>
      <p:sp>
        <p:nvSpPr>
          <p:cNvPr id="24" name="Shape 22"/>
          <p:cNvSpPr/>
          <p:nvPr/>
        </p:nvSpPr>
        <p:spPr>
          <a:xfrm>
            <a:off x="5803240" y="3794760"/>
            <a:ext cx="585216" cy="585216"/>
          </a:xfrm>
          <a:prstGeom prst="ellipse">
            <a:avLst/>
          </a:prstGeom>
          <a:solidFill>
            <a:srgbClr val="F0F4F8"/>
          </a:solidFill>
          <a:ln w="25400">
            <a:solidFill>
              <a:srgbClr val="0F1219"/>
            </a:solidFill>
            <a:prstDash val="solid"/>
          </a:ln>
        </p:spPr>
      </p:sp>
      <p:sp>
        <p:nvSpPr>
          <p:cNvPr id="25" name="Text 23"/>
          <p:cNvSpPr/>
          <p:nvPr/>
        </p:nvSpPr>
        <p:spPr>
          <a:xfrm>
            <a:off x="5803240" y="3794760"/>
            <a:ext cx="585216" cy="585216"/>
          </a:xfrm>
          <a:prstGeom prst="rect">
            <a:avLst/>
          </a:prstGeom>
          <a:noFill/>
          <a:ln/>
        </p:spPr>
        <p:txBody>
          <a:bodyPr wrap="square" rtlCol="0" anchor="ctr"/>
          <a:lstStyle/>
          <a:p>
            <a:pPr algn="ctr" indent="0" marL="0">
              <a:buNone/>
            </a:pPr>
            <a:r>
              <a:rPr lang="en-US" sz="1300" b="1" dirty="0">
                <a:solidFill>
                  <a:srgbClr val="0F1219"/>
                </a:solidFill>
                <a:latin typeface="Calibri" pitchFamily="34" charset="0"/>
                <a:ea typeface="Calibri" pitchFamily="34" charset="-122"/>
                <a:cs typeface="Calibri" pitchFamily="34" charset="-120"/>
              </a:rPr>
              <a:t>VS</a:t>
            </a:r>
            <a:endParaRPr lang="en-US" sz="13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Baseada na Concorrência</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371600"/>
            <a:ext cx="5227168" cy="5029200"/>
          </a:xfrm>
          <a:prstGeom prst="roundRect">
            <a:avLst>
              <a:gd name="adj" fmla="val 1455"/>
            </a:avLst>
          </a:prstGeom>
          <a:solidFill>
            <a:srgbClr val="1B212B"/>
          </a:solidFill>
          <a:ln w="12700">
            <a:solidFill>
              <a:srgbClr val="2C333E"/>
            </a:solidFill>
            <a:prstDash val="solid"/>
          </a:ln>
        </p:spPr>
      </p:sp>
      <p:sp>
        <p:nvSpPr>
          <p:cNvPr id="7" name="Shape 5"/>
          <p:cNvSpPr/>
          <p:nvPr/>
        </p:nvSpPr>
        <p:spPr>
          <a:xfrm>
            <a:off x="640080" y="1371600"/>
            <a:ext cx="5227168" cy="566928"/>
          </a:xfrm>
          <a:prstGeom prst="rect">
            <a:avLst/>
          </a:prstGeom>
          <a:solidFill>
            <a:srgbClr val="D63B3B"/>
          </a:solidFill>
          <a:ln/>
        </p:spPr>
      </p:sp>
      <p:sp>
        <p:nvSpPr>
          <p:cNvPr id="8" name="Text 6"/>
          <p:cNvSpPr/>
          <p:nvPr/>
        </p:nvSpPr>
        <p:spPr>
          <a:xfrm>
            <a:off x="868680"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Vantagens</a:t>
            </a:r>
            <a:endParaRPr lang="en-US" sz="1600" dirty="0"/>
          </a:p>
        </p:txBody>
      </p:sp>
      <p:sp>
        <p:nvSpPr>
          <p:cNvPr id="9" name="Shape 7"/>
          <p:cNvSpPr/>
          <p:nvPr/>
        </p:nvSpPr>
        <p:spPr>
          <a:xfrm>
            <a:off x="896112" y="2788920"/>
            <a:ext cx="109728" cy="109728"/>
          </a:xfrm>
          <a:prstGeom prst="rect">
            <a:avLst/>
          </a:prstGeom>
          <a:solidFill>
            <a:srgbClr val="D63B3B"/>
          </a:solidFill>
          <a:ln/>
        </p:spPr>
      </p:sp>
      <p:sp>
        <p:nvSpPr>
          <p:cNvPr id="10" name="Text 8"/>
          <p:cNvSpPr/>
          <p:nvPr/>
        </p:nvSpPr>
        <p:spPr>
          <a:xfrm>
            <a:off x="1115568"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Fácil de pesquisar e ajustar</a:t>
            </a:r>
            <a:endParaRPr lang="en-US" sz="1300" dirty="0"/>
          </a:p>
        </p:txBody>
      </p:sp>
      <p:sp>
        <p:nvSpPr>
          <p:cNvPr id="11" name="Shape 9"/>
          <p:cNvSpPr/>
          <p:nvPr/>
        </p:nvSpPr>
        <p:spPr>
          <a:xfrm>
            <a:off x="896112" y="4160520"/>
            <a:ext cx="109728" cy="109728"/>
          </a:xfrm>
          <a:prstGeom prst="rect">
            <a:avLst/>
          </a:prstGeom>
          <a:solidFill>
            <a:srgbClr val="D63B3B"/>
          </a:solidFill>
          <a:ln/>
        </p:spPr>
      </p:sp>
      <p:sp>
        <p:nvSpPr>
          <p:cNvPr id="12" name="Text 10"/>
          <p:cNvSpPr/>
          <p:nvPr/>
        </p:nvSpPr>
        <p:spPr>
          <a:xfrm>
            <a:off x="1115568"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Ajuda a manter a competitividade</a:t>
            </a:r>
            <a:endParaRPr lang="en-US" sz="1300" dirty="0"/>
          </a:p>
        </p:txBody>
      </p:sp>
      <p:sp>
        <p:nvSpPr>
          <p:cNvPr id="13" name="Shape 11"/>
          <p:cNvSpPr/>
          <p:nvPr/>
        </p:nvSpPr>
        <p:spPr>
          <a:xfrm>
            <a:off x="896112" y="5532120"/>
            <a:ext cx="109728" cy="109728"/>
          </a:xfrm>
          <a:prstGeom prst="rect">
            <a:avLst/>
          </a:prstGeom>
          <a:solidFill>
            <a:srgbClr val="D63B3B"/>
          </a:solidFill>
          <a:ln/>
        </p:spPr>
      </p:sp>
      <p:sp>
        <p:nvSpPr>
          <p:cNvPr id="14" name="Text 12"/>
          <p:cNvSpPr/>
          <p:nvPr/>
        </p:nvSpPr>
        <p:spPr>
          <a:xfrm>
            <a:off x="1115568"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Ponto de partida claro para novos produtos</a:t>
            </a:r>
            <a:endParaRPr lang="en-US" sz="1300" dirty="0"/>
          </a:p>
        </p:txBody>
      </p:sp>
      <p:sp>
        <p:nvSpPr>
          <p:cNvPr id="15" name="Shape 13"/>
          <p:cNvSpPr/>
          <p:nvPr/>
        </p:nvSpPr>
        <p:spPr>
          <a:xfrm>
            <a:off x="6324448" y="1371600"/>
            <a:ext cx="5227168" cy="5029200"/>
          </a:xfrm>
          <a:prstGeom prst="roundRect">
            <a:avLst>
              <a:gd name="adj" fmla="val 1455"/>
            </a:avLst>
          </a:prstGeom>
          <a:solidFill>
            <a:srgbClr val="1B212B"/>
          </a:solidFill>
          <a:ln w="12700">
            <a:solidFill>
              <a:srgbClr val="2C333E"/>
            </a:solidFill>
            <a:prstDash val="solid"/>
          </a:ln>
        </p:spPr>
      </p:sp>
      <p:sp>
        <p:nvSpPr>
          <p:cNvPr id="16" name="Shape 14"/>
          <p:cNvSpPr/>
          <p:nvPr/>
        </p:nvSpPr>
        <p:spPr>
          <a:xfrm>
            <a:off x="6324448" y="1371600"/>
            <a:ext cx="5227168" cy="566928"/>
          </a:xfrm>
          <a:prstGeom prst="rect">
            <a:avLst/>
          </a:prstGeom>
          <a:solidFill>
            <a:srgbClr val="E8943A"/>
          </a:solidFill>
          <a:ln/>
        </p:spPr>
      </p:sp>
      <p:sp>
        <p:nvSpPr>
          <p:cNvPr id="17" name="Text 15"/>
          <p:cNvSpPr/>
          <p:nvPr/>
        </p:nvSpPr>
        <p:spPr>
          <a:xfrm>
            <a:off x="6553048"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Desvantagens</a:t>
            </a:r>
            <a:endParaRPr lang="en-US" sz="1600" dirty="0"/>
          </a:p>
        </p:txBody>
      </p:sp>
      <p:sp>
        <p:nvSpPr>
          <p:cNvPr id="18" name="Shape 16"/>
          <p:cNvSpPr/>
          <p:nvPr/>
        </p:nvSpPr>
        <p:spPr>
          <a:xfrm>
            <a:off x="6580480" y="2788920"/>
            <a:ext cx="109728" cy="109728"/>
          </a:xfrm>
          <a:prstGeom prst="rect">
            <a:avLst/>
          </a:prstGeom>
          <a:solidFill>
            <a:srgbClr val="E8943A"/>
          </a:solidFill>
          <a:ln/>
        </p:spPr>
      </p:sp>
      <p:sp>
        <p:nvSpPr>
          <p:cNvPr id="19" name="Text 17"/>
          <p:cNvSpPr/>
          <p:nvPr/>
        </p:nvSpPr>
        <p:spPr>
          <a:xfrm>
            <a:off x="6799936"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Pode levar a preços insustentáveis</a:t>
            </a:r>
            <a:endParaRPr lang="en-US" sz="1300" dirty="0"/>
          </a:p>
        </p:txBody>
      </p:sp>
      <p:sp>
        <p:nvSpPr>
          <p:cNvPr id="20" name="Shape 18"/>
          <p:cNvSpPr/>
          <p:nvPr/>
        </p:nvSpPr>
        <p:spPr>
          <a:xfrm>
            <a:off x="6580480" y="4160520"/>
            <a:ext cx="109728" cy="109728"/>
          </a:xfrm>
          <a:prstGeom prst="rect">
            <a:avLst/>
          </a:prstGeom>
          <a:solidFill>
            <a:srgbClr val="E8943A"/>
          </a:solidFill>
          <a:ln/>
        </p:spPr>
      </p:sp>
      <p:sp>
        <p:nvSpPr>
          <p:cNvPr id="21" name="Text 19"/>
          <p:cNvSpPr/>
          <p:nvPr/>
        </p:nvSpPr>
        <p:spPr>
          <a:xfrm>
            <a:off x="6799936"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Ignora custos internos do negócio</a:t>
            </a:r>
            <a:endParaRPr lang="en-US" sz="1300" dirty="0"/>
          </a:p>
        </p:txBody>
      </p:sp>
      <p:sp>
        <p:nvSpPr>
          <p:cNvPr id="22" name="Shape 20"/>
          <p:cNvSpPr/>
          <p:nvPr/>
        </p:nvSpPr>
        <p:spPr>
          <a:xfrm>
            <a:off x="6580480" y="5532120"/>
            <a:ext cx="109728" cy="109728"/>
          </a:xfrm>
          <a:prstGeom prst="rect">
            <a:avLst/>
          </a:prstGeom>
          <a:solidFill>
            <a:srgbClr val="E8943A"/>
          </a:solidFill>
          <a:ln/>
        </p:spPr>
      </p:sp>
      <p:sp>
        <p:nvSpPr>
          <p:cNvPr id="23" name="Text 21"/>
          <p:cNvSpPr/>
          <p:nvPr/>
        </p:nvSpPr>
        <p:spPr>
          <a:xfrm>
            <a:off x="6799936"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Não diferencia o produto ou serviço</a:t>
            </a:r>
            <a:endParaRPr lang="en-US" sz="1300" dirty="0"/>
          </a:p>
        </p:txBody>
      </p:sp>
      <p:sp>
        <p:nvSpPr>
          <p:cNvPr id="24" name="Shape 22"/>
          <p:cNvSpPr/>
          <p:nvPr/>
        </p:nvSpPr>
        <p:spPr>
          <a:xfrm>
            <a:off x="5803240" y="3794760"/>
            <a:ext cx="585216" cy="585216"/>
          </a:xfrm>
          <a:prstGeom prst="ellipse">
            <a:avLst/>
          </a:prstGeom>
          <a:solidFill>
            <a:srgbClr val="F0F4F8"/>
          </a:solidFill>
          <a:ln w="25400">
            <a:solidFill>
              <a:srgbClr val="0F1219"/>
            </a:solidFill>
            <a:prstDash val="solid"/>
          </a:ln>
        </p:spPr>
      </p:sp>
      <p:sp>
        <p:nvSpPr>
          <p:cNvPr id="25" name="Text 23"/>
          <p:cNvSpPr/>
          <p:nvPr/>
        </p:nvSpPr>
        <p:spPr>
          <a:xfrm>
            <a:off x="5803240" y="3794760"/>
            <a:ext cx="585216" cy="585216"/>
          </a:xfrm>
          <a:prstGeom prst="rect">
            <a:avLst/>
          </a:prstGeom>
          <a:noFill/>
          <a:ln/>
        </p:spPr>
        <p:txBody>
          <a:bodyPr wrap="square" rtlCol="0" anchor="ctr"/>
          <a:lstStyle/>
          <a:p>
            <a:pPr algn="ctr" indent="0" marL="0">
              <a:buNone/>
            </a:pPr>
            <a:r>
              <a:rPr lang="en-US" sz="1300" b="1" dirty="0">
                <a:solidFill>
                  <a:srgbClr val="0F1219"/>
                </a:solidFill>
                <a:latin typeface="Calibri" pitchFamily="34" charset="0"/>
                <a:ea typeface="Calibri" pitchFamily="34" charset="-122"/>
                <a:cs typeface="Calibri" pitchFamily="34" charset="-120"/>
              </a:rPr>
              <a:t>VS</a:t>
            </a:r>
            <a:endParaRPr lang="en-US" sz="13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Comparativo das Estratégias de Precificação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911535" cy="914400"/>
        </p:xfrm>
        <a:graphic>
          <a:graphicData uri="http://schemas.openxmlformats.org/drawingml/2006/table">
            <a:tbl>
              <a:tblPr/>
              <a:tblGrid>
                <a:gridCol w="2400538"/>
                <a:gridCol w="2836999"/>
                <a:gridCol w="2836999"/>
                <a:gridCol w="2836999"/>
              </a:tblGrid>
              <a:tr h="868680">
                <a:tc>
                  <a:txBody>
                    <a:bodyPr/>
                    <a:lstStyle/>
                    <a:p>
                      <a:pPr algn="l" indent="0" marL="0">
                        <a:buNone/>
                      </a:pP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c>
                  <a:txBody>
                    <a:bodyPr/>
                    <a:lstStyle/>
                    <a:p>
                      <a:pPr algn="l" indent="0" marL="0">
                        <a:buNone/>
                      </a:pPr>
                      <a:r>
                        <a:rPr lang="en-US" sz="1200" b="1" dirty="0">
                          <a:solidFill>
                            <a:srgbClr val="D63B3B"/>
                          </a:solidFill>
                          <a:latin typeface="Calibri" pitchFamily="34" charset="0"/>
                          <a:ea typeface="Calibri" pitchFamily="34" charset="-122"/>
                          <a:cs typeface="Calibri" pitchFamily="34" charset="-120"/>
                        </a:rPr>
                        <a:t>Custo-Plus</a:t>
                      </a: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c>
                  <a:txBody>
                    <a:bodyPr/>
                    <a:lstStyle/>
                    <a:p>
                      <a:pPr algn="l" indent="0" marL="0">
                        <a:buNone/>
                      </a:pPr>
                      <a:r>
                        <a:rPr lang="en-US" sz="1200" b="1" dirty="0">
                          <a:solidFill>
                            <a:srgbClr val="D63B3B"/>
                          </a:solidFill>
                          <a:latin typeface="Calibri" pitchFamily="34" charset="0"/>
                          <a:ea typeface="Calibri" pitchFamily="34" charset="-122"/>
                          <a:cs typeface="Calibri" pitchFamily="34" charset="-120"/>
                        </a:rPr>
                        <a:t>Baseada em Valor</a:t>
                      </a: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c>
                  <a:txBody>
                    <a:bodyPr/>
                    <a:lstStyle/>
                    <a:p>
                      <a:pPr algn="l" indent="0" marL="0">
                        <a:buNone/>
                      </a:pPr>
                      <a:r>
                        <a:rPr lang="en-US" sz="1200" b="1" dirty="0">
                          <a:solidFill>
                            <a:srgbClr val="D63B3B"/>
                          </a:solidFill>
                          <a:latin typeface="Calibri" pitchFamily="34" charset="0"/>
                          <a:ea typeface="Calibri" pitchFamily="34" charset="-122"/>
                          <a:cs typeface="Calibri" pitchFamily="34" charset="-120"/>
                        </a:rPr>
                        <a:t>Concorrência</a:t>
                      </a:r>
                      <a:endParaRPr lang="en-US" sz="12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19050" cap="flat" cmpd="sng" algn="ctr">
                      <a:solidFill>
                        <a:srgbClr val="D63B3B"/>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Foco Principal</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Custos internos</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Valor percebido pelo cliente</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Preços dos rivais</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Complexidade</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Baixa</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Alta</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Média</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Potencial de Lucro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Garante o mínimo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Otimiza o valor capturado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Depende do posicionamento</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r h="868680">
                <a:tc>
                  <a:txBody>
                    <a:bodyPr/>
                    <a:lstStyle/>
                    <a:p>
                      <a:pPr algn="l" indent="0" marL="0">
                        <a:buNone/>
                      </a:pPr>
                      <a:r>
                        <a:rPr lang="en-US" sz="1100" b="1" dirty="0">
                          <a:solidFill>
                            <a:srgbClr val="E8943A"/>
                          </a:solidFill>
                          <a:latin typeface="Calibri" pitchFamily="34" charset="0"/>
                          <a:ea typeface="Calibri" pitchFamily="34" charset="-122"/>
                          <a:cs typeface="Calibri" pitchFamily="34" charset="-120"/>
                        </a:rPr>
                        <a:t>Risco Principal</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Preços não competitivos</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Subestimar valor do cliente</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c>
                  <a:txBody>
                    <a:bodyPr/>
                    <a:lstStyle/>
                    <a:p>
                      <a:pPr algn="l" indent="0" marL="0">
                        <a:buNone/>
                      </a:pPr>
                      <a:r>
                        <a:rPr lang="en-US" sz="1100" dirty="0">
                          <a:solidFill>
                            <a:srgbClr val="F0F4F8"/>
                          </a:solidFill>
                          <a:latin typeface="Calibri" pitchFamily="34" charset="0"/>
                          <a:ea typeface="Calibri" pitchFamily="34" charset="-122"/>
                          <a:cs typeface="Calibri" pitchFamily="34" charset="-120"/>
                        </a:rPr>
                        <a:t>Preços insustentáveis</a:t>
                      </a:r>
                      <a:endParaRPr lang="en-US" sz="1100" dirty="0">
                        <a:latin typeface="Calibri" charset="0"/>
                        <a:ea typeface="Calibri" charset="0"/>
                        <a:cs typeface="Calibri" charset="0"/>
                      </a:endParaRPr>
                    </a:p>
                  </a:txBody>
                  <a:tcPr marL="127000" marR="127000" marT="63500" marB="63500" anchor="ctr">
                    <a:lnL w="0" cap="flat" cmpd="sng" algn="ctr">
                      <a:noFill/>
                    </a:lnL>
                    <a:lnR w="0" cap="flat" cmpd="sng" algn="ctr">
                      <a:noFill/>
                    </a:lnR>
                    <a:lnT w="0" cap="flat" cmpd="sng" algn="ctr">
                      <a:noFill/>
                    </a:lnT>
                    <a:lnB w="9525" cap="flat" cmpd="sng" algn="ctr">
                      <a:solidFill>
                        <a:srgbClr val="2C333E"/>
                      </a:solidFill>
                      <a:prstDash val="solid"/>
                      <a:round/>
                      <a:headEnd type="none" w="med" len="med"/>
                      <a:tailEnd type="none" w="med" len="med"/>
                    </a:lnB>
                  </a:tcPr>
                </a:tc>
              </a:tr>
            </a:tbl>
          </a:graphicData>
        </a:graphic>
      </p:graphicFrame>
      <p:sp>
        <p:nvSpPr>
          <p:cNvPr id="7" name="Text 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8" name="Text 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Escolhendo a Estratégia Ideal</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3398482" y="2423160"/>
            <a:ext cx="213284" cy="3264408"/>
          </a:xfrm>
          <a:prstGeom prst="line">
            <a:avLst/>
          </a:prstGeom>
          <a:noFill/>
          <a:ln w="15875">
            <a:solidFill>
              <a:srgbClr val="A8B4C2"/>
            </a:solidFill>
            <a:prstDash val="solid"/>
            <a:tailEnd type="triangle"/>
          </a:ln>
        </p:spPr>
      </p:sp>
      <p:sp>
        <p:nvSpPr>
          <p:cNvPr id="7" name="Shape 5"/>
          <p:cNvSpPr/>
          <p:nvPr/>
        </p:nvSpPr>
        <p:spPr>
          <a:xfrm flipV="1">
            <a:off x="5989206" y="2423160"/>
            <a:ext cx="213284" cy="3264408"/>
          </a:xfrm>
          <a:prstGeom prst="line">
            <a:avLst/>
          </a:prstGeom>
          <a:noFill/>
          <a:ln w="15875">
            <a:solidFill>
              <a:srgbClr val="A8B4C2"/>
            </a:solidFill>
            <a:prstDash val="solid"/>
            <a:tailEnd type="triangle"/>
          </a:ln>
        </p:spPr>
      </p:sp>
      <p:sp>
        <p:nvSpPr>
          <p:cNvPr id="8" name="Shape 6"/>
          <p:cNvSpPr/>
          <p:nvPr/>
        </p:nvSpPr>
        <p:spPr>
          <a:xfrm>
            <a:off x="8579930" y="2423160"/>
            <a:ext cx="213284" cy="3264408"/>
          </a:xfrm>
          <a:prstGeom prst="line">
            <a:avLst/>
          </a:prstGeom>
          <a:noFill/>
          <a:ln w="15875">
            <a:solidFill>
              <a:srgbClr val="A8B4C2"/>
            </a:solidFill>
            <a:prstDash val="solid"/>
            <a:tailEnd type="triangle"/>
          </a:ln>
        </p:spPr>
      </p:sp>
      <p:sp>
        <p:nvSpPr>
          <p:cNvPr id="9" name="Shape 7"/>
          <p:cNvSpPr/>
          <p:nvPr/>
        </p:nvSpPr>
        <p:spPr>
          <a:xfrm>
            <a:off x="1021042" y="1737360"/>
            <a:ext cx="2377440" cy="1371600"/>
          </a:xfrm>
          <a:prstGeom prst="roundRect">
            <a:avLst>
              <a:gd name="adj" fmla="val 5333"/>
            </a:avLst>
          </a:prstGeom>
          <a:solidFill>
            <a:srgbClr val="D63B3B"/>
          </a:solidFill>
          <a:ln w="12700">
            <a:solidFill>
              <a:srgbClr val="2C333E"/>
            </a:solidFill>
            <a:prstDash val="solid"/>
          </a:ln>
        </p:spPr>
      </p:sp>
      <p:sp>
        <p:nvSpPr>
          <p:cNvPr id="10" name="Text 8"/>
          <p:cNvSpPr/>
          <p:nvPr/>
        </p:nvSpPr>
        <p:spPr>
          <a:xfrm>
            <a:off x="1149058" y="1828800"/>
            <a:ext cx="2121408" cy="457200"/>
          </a:xfrm>
          <a:prstGeom prst="rect">
            <a:avLst/>
          </a:prstGeom>
          <a:noFill/>
          <a:ln/>
        </p:spPr>
        <p:txBody>
          <a:bodyPr wrap="square" rtlCol="0" anchor="t"/>
          <a:lstStyle/>
          <a:p>
            <a:pPr algn="l" indent="0" marL="0">
              <a:buNone/>
            </a:pPr>
            <a:r>
              <a:rPr lang="en-US" sz="2000" b="1" dirty="0">
                <a:solidFill>
                  <a:srgbClr val="E8943A"/>
                </a:solidFill>
                <a:latin typeface="Georgia" pitchFamily="34" charset="0"/>
                <a:ea typeface="Georgia" pitchFamily="34" charset="-122"/>
                <a:cs typeface="Georgia" pitchFamily="34" charset="-120"/>
              </a:rPr>
              <a:t>1</a:t>
            </a:r>
            <a:endParaRPr lang="en-US" sz="2000" dirty="0"/>
          </a:p>
        </p:txBody>
      </p:sp>
      <p:sp>
        <p:nvSpPr>
          <p:cNvPr id="11" name="Text 9"/>
          <p:cNvSpPr/>
          <p:nvPr/>
        </p:nvSpPr>
        <p:spPr>
          <a:xfrm>
            <a:off x="1167346" y="2286000"/>
            <a:ext cx="2084832" cy="731520"/>
          </a:xfrm>
          <a:prstGeom prst="rect">
            <a:avLst/>
          </a:prstGeom>
          <a:noFill/>
          <a:ln/>
        </p:spPr>
        <p:txBody>
          <a:bodyPr wrap="square" rtlCol="0" anchor="t"/>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Conheça seus custos e margens de lucro</a:t>
            </a:r>
            <a:endParaRPr lang="en-US" sz="1400" dirty="0"/>
          </a:p>
        </p:txBody>
      </p:sp>
      <p:sp>
        <p:nvSpPr>
          <p:cNvPr id="12" name="Shape 10"/>
          <p:cNvSpPr/>
          <p:nvPr/>
        </p:nvSpPr>
        <p:spPr>
          <a:xfrm>
            <a:off x="3611766" y="5001768"/>
            <a:ext cx="2377440" cy="1371600"/>
          </a:xfrm>
          <a:prstGeom prst="roundRect">
            <a:avLst>
              <a:gd name="adj" fmla="val 5333"/>
            </a:avLst>
          </a:prstGeom>
          <a:solidFill>
            <a:srgbClr val="1B212B"/>
          </a:solidFill>
          <a:ln w="12700">
            <a:solidFill>
              <a:srgbClr val="2C333E"/>
            </a:solidFill>
            <a:prstDash val="solid"/>
          </a:ln>
        </p:spPr>
      </p:sp>
      <p:sp>
        <p:nvSpPr>
          <p:cNvPr id="13" name="Text 11"/>
          <p:cNvSpPr/>
          <p:nvPr/>
        </p:nvSpPr>
        <p:spPr>
          <a:xfrm>
            <a:off x="3739782" y="5093208"/>
            <a:ext cx="2121408" cy="457200"/>
          </a:xfrm>
          <a:prstGeom prst="rect">
            <a:avLst/>
          </a:prstGeom>
          <a:noFill/>
          <a:ln/>
        </p:spPr>
        <p:txBody>
          <a:bodyPr wrap="square" rtlCol="0" anchor="t"/>
          <a:lstStyle/>
          <a:p>
            <a:pPr algn="l" indent="0" marL="0">
              <a:buNone/>
            </a:pPr>
            <a:r>
              <a:rPr lang="en-US" sz="2000" b="1" dirty="0">
                <a:solidFill>
                  <a:srgbClr val="E8943A"/>
                </a:solidFill>
                <a:latin typeface="Georgia" pitchFamily="34" charset="0"/>
                <a:ea typeface="Georgia" pitchFamily="34" charset="-122"/>
                <a:cs typeface="Georgia" pitchFamily="34" charset="-120"/>
              </a:rPr>
              <a:t>2</a:t>
            </a:r>
            <a:endParaRPr lang="en-US" sz="2000" dirty="0"/>
          </a:p>
        </p:txBody>
      </p:sp>
      <p:sp>
        <p:nvSpPr>
          <p:cNvPr id="14" name="Text 12"/>
          <p:cNvSpPr/>
          <p:nvPr/>
        </p:nvSpPr>
        <p:spPr>
          <a:xfrm>
            <a:off x="3758070" y="5550408"/>
            <a:ext cx="2084832" cy="731520"/>
          </a:xfrm>
          <a:prstGeom prst="rect">
            <a:avLst/>
          </a:prstGeom>
          <a:noFill/>
          <a:ln/>
        </p:spPr>
        <p:txBody>
          <a:bodyPr wrap="square" rtlCol="0" anchor="t"/>
          <a:lstStyle/>
          <a:p>
            <a:pPr algn="l" indent="0" marL="0">
              <a:lnSpc>
                <a:spcPct val="100000"/>
              </a:lnSpc>
              <a:buNone/>
            </a:pPr>
            <a:r>
              <a:rPr lang="en-US" sz="1400" dirty="0">
                <a:solidFill>
                  <a:srgbClr val="A8B4C2"/>
                </a:solidFill>
                <a:latin typeface="Calibri" pitchFamily="34" charset="0"/>
                <a:ea typeface="Calibri" pitchFamily="34" charset="-122"/>
                <a:cs typeface="Calibri" pitchFamily="34" charset="-120"/>
              </a:rPr>
              <a:t>Entenda o valor percebido pelo cliente</a:t>
            </a:r>
            <a:endParaRPr lang="en-US" sz="1400" dirty="0"/>
          </a:p>
        </p:txBody>
      </p:sp>
      <p:sp>
        <p:nvSpPr>
          <p:cNvPr id="15" name="Shape 13"/>
          <p:cNvSpPr/>
          <p:nvPr/>
        </p:nvSpPr>
        <p:spPr>
          <a:xfrm>
            <a:off x="6202490" y="1737360"/>
            <a:ext cx="2377440" cy="1371600"/>
          </a:xfrm>
          <a:prstGeom prst="roundRect">
            <a:avLst>
              <a:gd name="adj" fmla="val 5333"/>
            </a:avLst>
          </a:prstGeom>
          <a:solidFill>
            <a:srgbClr val="D63B3B"/>
          </a:solidFill>
          <a:ln w="12700">
            <a:solidFill>
              <a:srgbClr val="2C333E"/>
            </a:solidFill>
            <a:prstDash val="solid"/>
          </a:ln>
        </p:spPr>
      </p:sp>
      <p:sp>
        <p:nvSpPr>
          <p:cNvPr id="16" name="Text 14"/>
          <p:cNvSpPr/>
          <p:nvPr/>
        </p:nvSpPr>
        <p:spPr>
          <a:xfrm>
            <a:off x="6330506" y="1828800"/>
            <a:ext cx="2121408" cy="457200"/>
          </a:xfrm>
          <a:prstGeom prst="rect">
            <a:avLst/>
          </a:prstGeom>
          <a:noFill/>
          <a:ln/>
        </p:spPr>
        <p:txBody>
          <a:bodyPr wrap="square" rtlCol="0" anchor="t"/>
          <a:lstStyle/>
          <a:p>
            <a:pPr algn="l" indent="0" marL="0">
              <a:buNone/>
            </a:pPr>
            <a:r>
              <a:rPr lang="en-US" sz="2000" b="1" dirty="0">
                <a:solidFill>
                  <a:srgbClr val="E8943A"/>
                </a:solidFill>
                <a:latin typeface="Georgia" pitchFamily="34" charset="0"/>
                <a:ea typeface="Georgia" pitchFamily="34" charset="-122"/>
                <a:cs typeface="Georgia" pitchFamily="34" charset="-120"/>
              </a:rPr>
              <a:t>3</a:t>
            </a:r>
            <a:endParaRPr lang="en-US" sz="2000" dirty="0"/>
          </a:p>
        </p:txBody>
      </p:sp>
      <p:sp>
        <p:nvSpPr>
          <p:cNvPr id="17" name="Text 15"/>
          <p:cNvSpPr/>
          <p:nvPr/>
        </p:nvSpPr>
        <p:spPr>
          <a:xfrm>
            <a:off x="6348794" y="2286000"/>
            <a:ext cx="2084832" cy="731520"/>
          </a:xfrm>
          <a:prstGeom prst="rect">
            <a:avLst/>
          </a:prstGeom>
          <a:noFill/>
          <a:ln/>
        </p:spPr>
        <p:txBody>
          <a:bodyPr wrap="square" rtlCol="0" anchor="t"/>
          <a:lstStyle/>
          <a:p>
            <a:pPr algn="l" indent="0" marL="0">
              <a:lnSpc>
                <a:spcPct val="100000"/>
              </a:lnSpc>
              <a:buNone/>
            </a:pPr>
            <a:r>
              <a:rPr lang="en-US" sz="1400" dirty="0">
                <a:solidFill>
                  <a:srgbClr val="FFFFFF"/>
                </a:solidFill>
                <a:latin typeface="Calibri" pitchFamily="34" charset="0"/>
                <a:ea typeface="Calibri" pitchFamily="34" charset="-122"/>
                <a:cs typeface="Calibri" pitchFamily="34" charset="-120"/>
              </a:rPr>
              <a:t>Analise a concorrência e o mercado</a:t>
            </a:r>
            <a:endParaRPr lang="en-US" sz="1400" dirty="0"/>
          </a:p>
        </p:txBody>
      </p:sp>
      <p:sp>
        <p:nvSpPr>
          <p:cNvPr id="18" name="Shape 16"/>
          <p:cNvSpPr/>
          <p:nvPr/>
        </p:nvSpPr>
        <p:spPr>
          <a:xfrm>
            <a:off x="8793213" y="5001768"/>
            <a:ext cx="2377440" cy="1371600"/>
          </a:xfrm>
          <a:prstGeom prst="roundRect">
            <a:avLst>
              <a:gd name="adj" fmla="val 5333"/>
            </a:avLst>
          </a:prstGeom>
          <a:solidFill>
            <a:srgbClr val="1B212B"/>
          </a:solidFill>
          <a:ln w="12700">
            <a:solidFill>
              <a:srgbClr val="2C333E"/>
            </a:solidFill>
            <a:prstDash val="solid"/>
          </a:ln>
        </p:spPr>
      </p:sp>
      <p:sp>
        <p:nvSpPr>
          <p:cNvPr id="19" name="Text 17"/>
          <p:cNvSpPr/>
          <p:nvPr/>
        </p:nvSpPr>
        <p:spPr>
          <a:xfrm>
            <a:off x="8921229" y="5093208"/>
            <a:ext cx="2121408" cy="457200"/>
          </a:xfrm>
          <a:prstGeom prst="rect">
            <a:avLst/>
          </a:prstGeom>
          <a:noFill/>
          <a:ln/>
        </p:spPr>
        <p:txBody>
          <a:bodyPr wrap="square" rtlCol="0" anchor="t"/>
          <a:lstStyle/>
          <a:p>
            <a:pPr algn="l" indent="0" marL="0">
              <a:buNone/>
            </a:pPr>
            <a:r>
              <a:rPr lang="en-US" sz="2000" b="1" dirty="0">
                <a:solidFill>
                  <a:srgbClr val="E8943A"/>
                </a:solidFill>
                <a:latin typeface="Georgia" pitchFamily="34" charset="0"/>
                <a:ea typeface="Georgia" pitchFamily="34" charset="-122"/>
                <a:cs typeface="Georgia" pitchFamily="34" charset="-120"/>
              </a:rPr>
              <a:t>4</a:t>
            </a:r>
            <a:endParaRPr lang="en-US" sz="2000" dirty="0"/>
          </a:p>
        </p:txBody>
      </p:sp>
      <p:sp>
        <p:nvSpPr>
          <p:cNvPr id="20" name="Text 18"/>
          <p:cNvSpPr/>
          <p:nvPr/>
        </p:nvSpPr>
        <p:spPr>
          <a:xfrm>
            <a:off x="8939517" y="5550408"/>
            <a:ext cx="2084832" cy="731520"/>
          </a:xfrm>
          <a:prstGeom prst="rect">
            <a:avLst/>
          </a:prstGeom>
          <a:noFill/>
          <a:ln/>
        </p:spPr>
        <p:txBody>
          <a:bodyPr wrap="square" rtlCol="0" anchor="t"/>
          <a:lstStyle/>
          <a:p>
            <a:pPr algn="l" indent="0" marL="0">
              <a:lnSpc>
                <a:spcPct val="100000"/>
              </a:lnSpc>
              <a:buNone/>
            </a:pPr>
            <a:r>
              <a:rPr lang="en-US" sz="1400" dirty="0">
                <a:solidFill>
                  <a:srgbClr val="A8B4C2"/>
                </a:solidFill>
                <a:latin typeface="Calibri" pitchFamily="34" charset="0"/>
                <a:ea typeface="Calibri" pitchFamily="34" charset="-122"/>
                <a:cs typeface="Calibri" pitchFamily="34" charset="-120"/>
              </a:rPr>
              <a:t>Defina seus objetivos de negócio claramente</a:t>
            </a:r>
            <a:endParaRPr lang="en-US" sz="1400" dirty="0"/>
          </a:p>
        </p:txBody>
      </p:sp>
      <p:sp>
        <p:nvSpPr>
          <p:cNvPr id="21" name="Text 19"/>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2" name="Text 20"/>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Atividade Prática</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10911535" cy="896112"/>
          </a:xfrm>
          <a:prstGeom prst="roundRect">
            <a:avLst>
              <a:gd name="adj" fmla="val 6122"/>
            </a:avLst>
          </a:prstGeom>
          <a:solidFill>
            <a:srgbClr val="D63B3B"/>
          </a:solidFill>
          <a:ln/>
        </p:spPr>
      </p:sp>
      <p:sp>
        <p:nvSpPr>
          <p:cNvPr id="7" name="Text 5"/>
          <p:cNvSpPr/>
          <p:nvPr/>
        </p:nvSpPr>
        <p:spPr>
          <a:xfrm>
            <a:off x="804672" y="1426464"/>
            <a:ext cx="640080" cy="896112"/>
          </a:xfrm>
          <a:prstGeom prst="rect">
            <a:avLst/>
          </a:prstGeom>
          <a:noFill/>
          <a:ln/>
        </p:spPr>
        <p:txBody>
          <a:bodyPr wrap="square" rtlCol="0" anchor="ctr"/>
          <a:lstStyle/>
          <a:p>
            <a:pPr algn="l"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08760" y="1463040"/>
            <a:ext cx="9859975" cy="4480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Selecione um produto/serviço</a:t>
            </a:r>
            <a:endParaRPr lang="en-US" sz="1400" dirty="0"/>
          </a:p>
        </p:txBody>
      </p:sp>
      <p:sp>
        <p:nvSpPr>
          <p:cNvPr id="9" name="Text 7"/>
          <p:cNvSpPr/>
          <p:nvPr/>
        </p:nvSpPr>
        <p:spPr>
          <a:xfrm>
            <a:off x="1508760" y="1819656"/>
            <a:ext cx="9859975" cy="403250"/>
          </a:xfrm>
          <a:prstGeom prst="rect">
            <a:avLst/>
          </a:prstGeom>
          <a:noFill/>
          <a:ln/>
        </p:spPr>
        <p:txBody>
          <a:bodyPr wrap="square" rtlCol="0" anchor="ctr"/>
          <a:lstStyle/>
          <a:p>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Escolha um item específico do seu negócio para esta análise.</a:t>
            </a:r>
            <a:endParaRPr lang="en-US" sz="1100" dirty="0"/>
          </a:p>
        </p:txBody>
      </p:sp>
      <p:sp>
        <p:nvSpPr>
          <p:cNvPr id="10" name="Shape 8"/>
          <p:cNvSpPr/>
          <p:nvPr/>
        </p:nvSpPr>
        <p:spPr>
          <a:xfrm>
            <a:off x="1143000" y="2432304"/>
            <a:ext cx="10408615" cy="896112"/>
          </a:xfrm>
          <a:prstGeom prst="roundRect">
            <a:avLst>
              <a:gd name="adj" fmla="val 6122"/>
            </a:avLst>
          </a:prstGeom>
          <a:solidFill>
            <a:srgbClr val="1B212B"/>
          </a:solidFill>
          <a:ln/>
        </p:spPr>
      </p:sp>
      <p:sp>
        <p:nvSpPr>
          <p:cNvPr id="11" name="Text 9"/>
          <p:cNvSpPr/>
          <p:nvPr/>
        </p:nvSpPr>
        <p:spPr>
          <a:xfrm>
            <a:off x="1307592" y="2432304"/>
            <a:ext cx="640080" cy="896112"/>
          </a:xfrm>
          <a:prstGeom prst="rect">
            <a:avLst/>
          </a:prstGeom>
          <a:noFill/>
          <a:ln/>
        </p:spPr>
        <p:txBody>
          <a:bodyPr wrap="square" rtlCol="0" anchor="ctr"/>
          <a:lstStyle/>
          <a:p>
            <a:pPr algn="l" indent="0" marL="0">
              <a:buNone/>
            </a:pPr>
            <a:r>
              <a:rPr lang="en-US" sz="2400" b="1" dirty="0">
                <a:solidFill>
                  <a:srgbClr val="E8943A"/>
                </a:solidFill>
                <a:latin typeface="Georgia" pitchFamily="34" charset="0"/>
                <a:ea typeface="Georgia" pitchFamily="34" charset="-122"/>
                <a:cs typeface="Georgia" pitchFamily="34" charset="-120"/>
              </a:rPr>
              <a:t>2</a:t>
            </a:r>
            <a:endParaRPr lang="en-US" sz="2400" dirty="0"/>
          </a:p>
        </p:txBody>
      </p:sp>
      <p:sp>
        <p:nvSpPr>
          <p:cNvPr id="12" name="Text 10"/>
          <p:cNvSpPr/>
          <p:nvPr/>
        </p:nvSpPr>
        <p:spPr>
          <a:xfrm>
            <a:off x="2011680" y="2468880"/>
            <a:ext cx="9357055" cy="448056"/>
          </a:xfrm>
          <a:prstGeom prst="rect">
            <a:avLst/>
          </a:prstGeom>
          <a:noFill/>
          <a:ln/>
        </p:spPr>
        <p:txBody>
          <a:bodyPr wrap="square" rtlCol="0" anchor="ctr"/>
          <a:lstStyle/>
          <a:p>
            <a:pPr indent="0" marL="0">
              <a:buNone/>
            </a:pPr>
            <a:r>
              <a:rPr lang="en-US" sz="1400" b="1" dirty="0">
                <a:solidFill>
                  <a:srgbClr val="F0F4F8"/>
                </a:solidFill>
                <a:latin typeface="Calibri" pitchFamily="34" charset="0"/>
                <a:ea typeface="Calibri" pitchFamily="34" charset="-122"/>
                <a:cs typeface="Calibri" pitchFamily="34" charset="-120"/>
              </a:rPr>
              <a:t>Liste os custos de aquisição/produção</a:t>
            </a:r>
            <a:endParaRPr lang="en-US" sz="1400" dirty="0"/>
          </a:p>
        </p:txBody>
      </p:sp>
      <p:sp>
        <p:nvSpPr>
          <p:cNvPr id="13" name="Text 11"/>
          <p:cNvSpPr/>
          <p:nvPr/>
        </p:nvSpPr>
        <p:spPr>
          <a:xfrm>
            <a:off x="2011680" y="2825496"/>
            <a:ext cx="9357055" cy="403250"/>
          </a:xfrm>
          <a:prstGeom prst="rect">
            <a:avLst/>
          </a:prstGeom>
          <a:noFill/>
          <a:ln/>
        </p:spPr>
        <p:txBody>
          <a:bodyPr wrap="square" rtlCol="0" anchor="ctr"/>
          <a:lstStyle/>
          <a:p>
            <a:pPr indent="0" marL="0">
              <a:lnSpc>
                <a:spcPct val="100000"/>
              </a:lnSpc>
              <a:buNone/>
            </a:pPr>
            <a:r>
              <a:rPr lang="en-US" sz="1100" dirty="0">
                <a:solidFill>
                  <a:srgbClr val="A8B4C2"/>
                </a:solidFill>
                <a:latin typeface="Calibri" pitchFamily="34" charset="0"/>
                <a:ea typeface="Calibri" pitchFamily="34" charset="-122"/>
                <a:cs typeface="Calibri" pitchFamily="34" charset="-120"/>
              </a:rPr>
              <a:t>Identifique todos os custos diretos associados a este item, como você aprendeu no módulo anterior.</a:t>
            </a:r>
            <a:endParaRPr lang="en-US" sz="1100" dirty="0"/>
          </a:p>
        </p:txBody>
      </p:sp>
      <p:sp>
        <p:nvSpPr>
          <p:cNvPr id="14" name="Shape 12"/>
          <p:cNvSpPr/>
          <p:nvPr/>
        </p:nvSpPr>
        <p:spPr>
          <a:xfrm>
            <a:off x="1645920" y="3438144"/>
            <a:ext cx="9905695" cy="896112"/>
          </a:xfrm>
          <a:prstGeom prst="roundRect">
            <a:avLst>
              <a:gd name="adj" fmla="val 6122"/>
            </a:avLst>
          </a:prstGeom>
          <a:solidFill>
            <a:srgbClr val="D63B3B"/>
          </a:solidFill>
          <a:ln/>
        </p:spPr>
      </p:sp>
      <p:sp>
        <p:nvSpPr>
          <p:cNvPr id="15" name="Text 13"/>
          <p:cNvSpPr/>
          <p:nvPr/>
        </p:nvSpPr>
        <p:spPr>
          <a:xfrm>
            <a:off x="1810512" y="3438144"/>
            <a:ext cx="640080" cy="896112"/>
          </a:xfrm>
          <a:prstGeom prst="rect">
            <a:avLst/>
          </a:prstGeom>
          <a:noFill/>
          <a:ln/>
        </p:spPr>
        <p:txBody>
          <a:bodyPr wrap="square" rtlCol="0" anchor="ctr"/>
          <a:lstStyle/>
          <a:p>
            <a:pPr algn="l"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6" name="Text 14"/>
          <p:cNvSpPr/>
          <p:nvPr/>
        </p:nvSpPr>
        <p:spPr>
          <a:xfrm>
            <a:off x="2514600" y="3474720"/>
            <a:ext cx="8854135" cy="4480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Estime os percentuais de despesas</a:t>
            </a:r>
            <a:endParaRPr lang="en-US" sz="1400" dirty="0"/>
          </a:p>
        </p:txBody>
      </p:sp>
      <p:sp>
        <p:nvSpPr>
          <p:cNvPr id="17" name="Text 15"/>
          <p:cNvSpPr/>
          <p:nvPr/>
        </p:nvSpPr>
        <p:spPr>
          <a:xfrm>
            <a:off x="2514600" y="3831336"/>
            <a:ext cx="8854135" cy="403250"/>
          </a:xfrm>
          <a:prstGeom prst="rect">
            <a:avLst/>
          </a:prstGeom>
          <a:noFill/>
          <a:ln/>
        </p:spPr>
        <p:txBody>
          <a:bodyPr wrap="square" rtlCol="0" anchor="ctr"/>
          <a:lstStyle/>
          <a:p>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Calcule os percentuais de despesas fixas e variáveis que incidem sobre este produto.</a:t>
            </a:r>
            <a:endParaRPr lang="en-US" sz="1100" dirty="0"/>
          </a:p>
        </p:txBody>
      </p:sp>
      <p:sp>
        <p:nvSpPr>
          <p:cNvPr id="18" name="Shape 16"/>
          <p:cNvSpPr/>
          <p:nvPr/>
        </p:nvSpPr>
        <p:spPr>
          <a:xfrm>
            <a:off x="2148840" y="4443984"/>
            <a:ext cx="9402775" cy="896112"/>
          </a:xfrm>
          <a:prstGeom prst="roundRect">
            <a:avLst>
              <a:gd name="adj" fmla="val 6122"/>
            </a:avLst>
          </a:prstGeom>
          <a:solidFill>
            <a:srgbClr val="1B212B"/>
          </a:solidFill>
          <a:ln/>
        </p:spPr>
      </p:sp>
      <p:sp>
        <p:nvSpPr>
          <p:cNvPr id="19" name="Text 17"/>
          <p:cNvSpPr/>
          <p:nvPr/>
        </p:nvSpPr>
        <p:spPr>
          <a:xfrm>
            <a:off x="2313432" y="4443984"/>
            <a:ext cx="640080" cy="896112"/>
          </a:xfrm>
          <a:prstGeom prst="rect">
            <a:avLst/>
          </a:prstGeom>
          <a:noFill/>
          <a:ln/>
        </p:spPr>
        <p:txBody>
          <a:bodyPr wrap="square" rtlCol="0" anchor="ctr"/>
          <a:lstStyle/>
          <a:p>
            <a:pPr algn="l" indent="0" marL="0">
              <a:buNone/>
            </a:pPr>
            <a:r>
              <a:rPr lang="en-US" sz="2400" b="1" dirty="0">
                <a:solidFill>
                  <a:srgbClr val="E8943A"/>
                </a:solidFill>
                <a:latin typeface="Georgia" pitchFamily="34" charset="0"/>
                <a:ea typeface="Georgia" pitchFamily="34" charset="-122"/>
                <a:cs typeface="Georgia" pitchFamily="34" charset="-120"/>
              </a:rPr>
              <a:t>4</a:t>
            </a:r>
            <a:endParaRPr lang="en-US" sz="2400" dirty="0"/>
          </a:p>
        </p:txBody>
      </p:sp>
      <p:sp>
        <p:nvSpPr>
          <p:cNvPr id="20" name="Text 18"/>
          <p:cNvSpPr/>
          <p:nvPr/>
        </p:nvSpPr>
        <p:spPr>
          <a:xfrm>
            <a:off x="3017520" y="4480560"/>
            <a:ext cx="8351215" cy="448056"/>
          </a:xfrm>
          <a:prstGeom prst="rect">
            <a:avLst/>
          </a:prstGeom>
          <a:noFill/>
          <a:ln/>
        </p:spPr>
        <p:txBody>
          <a:bodyPr wrap="square" rtlCol="0" anchor="ctr"/>
          <a:lstStyle/>
          <a:p>
            <a:pPr indent="0" marL="0">
              <a:buNone/>
            </a:pPr>
            <a:r>
              <a:rPr lang="en-US" sz="1400" b="1" dirty="0">
                <a:solidFill>
                  <a:srgbClr val="F0F4F8"/>
                </a:solidFill>
                <a:latin typeface="Calibri" pitchFamily="34" charset="0"/>
                <a:ea typeface="Calibri" pitchFamily="34" charset="-122"/>
                <a:cs typeface="Calibri" pitchFamily="34" charset="-120"/>
              </a:rPr>
              <a:t>Defina sua margem de lucro desejada</a:t>
            </a:r>
            <a:endParaRPr lang="en-US" sz="1400" dirty="0"/>
          </a:p>
        </p:txBody>
      </p:sp>
      <p:sp>
        <p:nvSpPr>
          <p:cNvPr id="21" name="Text 19"/>
          <p:cNvSpPr/>
          <p:nvPr/>
        </p:nvSpPr>
        <p:spPr>
          <a:xfrm>
            <a:off x="3017520" y="4837176"/>
            <a:ext cx="8351215" cy="403250"/>
          </a:xfrm>
          <a:prstGeom prst="rect">
            <a:avLst/>
          </a:prstGeom>
          <a:noFill/>
          <a:ln/>
        </p:spPr>
        <p:txBody>
          <a:bodyPr wrap="square" rtlCol="0" anchor="ctr"/>
          <a:lstStyle/>
          <a:p>
            <a:pPr indent="0" marL="0">
              <a:lnSpc>
                <a:spcPct val="100000"/>
              </a:lnSpc>
              <a:buNone/>
            </a:pPr>
            <a:r>
              <a:rPr lang="en-US" sz="1100" dirty="0">
                <a:solidFill>
                  <a:srgbClr val="A8B4C2"/>
                </a:solidFill>
                <a:latin typeface="Calibri" pitchFamily="34" charset="0"/>
                <a:ea typeface="Calibri" pitchFamily="34" charset="-122"/>
                <a:cs typeface="Calibri" pitchFamily="34" charset="-120"/>
              </a:rPr>
              <a:t>Estabeleça o percentual de lucro que você busca para este item.</a:t>
            </a:r>
            <a:endParaRPr lang="en-US" sz="1100" dirty="0"/>
          </a:p>
        </p:txBody>
      </p:sp>
      <p:sp>
        <p:nvSpPr>
          <p:cNvPr id="22" name="Shape 20"/>
          <p:cNvSpPr/>
          <p:nvPr/>
        </p:nvSpPr>
        <p:spPr>
          <a:xfrm>
            <a:off x="2651760" y="5449824"/>
            <a:ext cx="8899855" cy="896112"/>
          </a:xfrm>
          <a:prstGeom prst="roundRect">
            <a:avLst>
              <a:gd name="adj" fmla="val 6122"/>
            </a:avLst>
          </a:prstGeom>
          <a:solidFill>
            <a:srgbClr val="D63B3B"/>
          </a:solidFill>
          <a:ln/>
        </p:spPr>
      </p:sp>
      <p:sp>
        <p:nvSpPr>
          <p:cNvPr id="23" name="Text 21"/>
          <p:cNvSpPr/>
          <p:nvPr/>
        </p:nvSpPr>
        <p:spPr>
          <a:xfrm>
            <a:off x="2816352" y="5449824"/>
            <a:ext cx="640080" cy="896112"/>
          </a:xfrm>
          <a:prstGeom prst="rect">
            <a:avLst/>
          </a:prstGeom>
          <a:noFill/>
          <a:ln/>
        </p:spPr>
        <p:txBody>
          <a:bodyPr wrap="square" rtlCol="0" anchor="ctr"/>
          <a:lstStyle/>
          <a:p>
            <a:pPr algn="l" indent="0" marL="0">
              <a:buNone/>
            </a:pPr>
            <a:r>
              <a:rPr lang="en-US" sz="2400" b="1" dirty="0">
                <a:solidFill>
                  <a:srgbClr val="FFFFFF"/>
                </a:solidFill>
                <a:latin typeface="Georgia" pitchFamily="34" charset="0"/>
                <a:ea typeface="Georgia" pitchFamily="34" charset="-122"/>
                <a:cs typeface="Georgia" pitchFamily="34" charset="-120"/>
              </a:rPr>
              <a:t>5</a:t>
            </a:r>
            <a:endParaRPr lang="en-US" sz="2400" dirty="0"/>
          </a:p>
        </p:txBody>
      </p:sp>
      <p:sp>
        <p:nvSpPr>
          <p:cNvPr id="24" name="Text 22"/>
          <p:cNvSpPr/>
          <p:nvPr/>
        </p:nvSpPr>
        <p:spPr>
          <a:xfrm>
            <a:off x="3520440" y="5486400"/>
            <a:ext cx="7848295" cy="448056"/>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*Calcule o preço de venda com markup</a:t>
            </a:r>
            <a:endParaRPr lang="en-US" sz="1400" dirty="0"/>
          </a:p>
        </p:txBody>
      </p:sp>
      <p:sp>
        <p:nvSpPr>
          <p:cNvPr id="25" name="Text 23"/>
          <p:cNvSpPr/>
          <p:nvPr/>
        </p:nvSpPr>
        <p:spPr>
          <a:xfrm>
            <a:off x="3520440" y="5843016"/>
            <a:ext cx="7848295" cy="403250"/>
          </a:xfrm>
          <a:prstGeom prst="rect">
            <a:avLst/>
          </a:prstGeom>
          <a:noFill/>
          <a:ln/>
        </p:spPr>
        <p:txBody>
          <a:bodyPr wrap="square" rtlCol="0" anchor="ctr"/>
          <a:lstStyle/>
          <a:p>
            <a:pPr indent="0" marL="0">
              <a:lnSpc>
                <a:spcPct val="100000"/>
              </a:lnSpc>
              <a:buNone/>
            </a:pPr>
            <a:r>
              <a:rPr lang="en-US" sz="1100" dirty="0">
                <a:solidFill>
                  <a:srgbClr val="FFFFFF"/>
                </a:solidFill>
                <a:latin typeface="Calibri" pitchFamily="34" charset="0"/>
                <a:ea typeface="Calibri" pitchFamily="34" charset="-122"/>
                <a:cs typeface="Calibri" pitchFamily="34" charset="-120"/>
              </a:rPr>
              <a:t>Utilize a fórmula do markup divisor* para chegar ao preço final sugerido.</a:t>
            </a:r>
            <a:endParaRPr lang="en-US" sz="11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ESTRATÉGIAS E MÉTODOS DE PRECIFICAÇÃO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Principais Aprendizados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5327752" cy="1395984"/>
          </a:xfrm>
          <a:prstGeom prst="roundRect">
            <a:avLst>
              <a:gd name="adj" fmla="val 3930"/>
            </a:avLst>
          </a:prstGeom>
          <a:solidFill>
            <a:srgbClr val="1B212B"/>
          </a:solidFill>
          <a:ln/>
        </p:spPr>
      </p:sp>
      <p:sp>
        <p:nvSpPr>
          <p:cNvPr id="7" name="Text 5"/>
          <p:cNvSpPr/>
          <p:nvPr/>
        </p:nvSpPr>
        <p:spPr>
          <a:xfrm>
            <a:off x="804672"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A precificação é uma decisão estratégica fundamental</a:t>
            </a:r>
            <a:endParaRPr lang="en-US" sz="1400" dirty="0"/>
          </a:p>
        </p:txBody>
      </p:sp>
      <p:sp>
        <p:nvSpPr>
          <p:cNvPr id="9" name="Shape 7"/>
          <p:cNvSpPr/>
          <p:nvPr/>
        </p:nvSpPr>
        <p:spPr>
          <a:xfrm>
            <a:off x="6223864" y="1426464"/>
            <a:ext cx="5327752" cy="1395984"/>
          </a:xfrm>
          <a:prstGeom prst="roundRect">
            <a:avLst>
              <a:gd name="adj" fmla="val 3930"/>
            </a:avLst>
          </a:prstGeom>
          <a:solidFill>
            <a:srgbClr val="1B212B"/>
          </a:solidFill>
          <a:ln/>
        </p:spPr>
      </p:sp>
      <p:sp>
        <p:nvSpPr>
          <p:cNvPr id="10" name="Text 8"/>
          <p:cNvSpPr/>
          <p:nvPr/>
        </p:nvSpPr>
        <p:spPr>
          <a:xfrm>
            <a:off x="6388456"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6882232"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Custo-Plus garante cobertura de custos e lucro mínimo</a:t>
            </a:r>
            <a:endParaRPr lang="en-US" sz="1400" dirty="0"/>
          </a:p>
        </p:txBody>
      </p:sp>
      <p:sp>
        <p:nvSpPr>
          <p:cNvPr id="12" name="Shape 10"/>
          <p:cNvSpPr/>
          <p:nvPr/>
        </p:nvSpPr>
        <p:spPr>
          <a:xfrm>
            <a:off x="640080" y="3188208"/>
            <a:ext cx="5327752" cy="1395984"/>
          </a:xfrm>
          <a:prstGeom prst="roundRect">
            <a:avLst>
              <a:gd name="adj" fmla="val 3930"/>
            </a:avLst>
          </a:prstGeom>
          <a:solidFill>
            <a:srgbClr val="1B212B"/>
          </a:solidFill>
          <a:ln/>
        </p:spPr>
      </p:sp>
      <p:sp>
        <p:nvSpPr>
          <p:cNvPr id="13" name="Text 11"/>
          <p:cNvSpPr/>
          <p:nvPr/>
        </p:nvSpPr>
        <p:spPr>
          <a:xfrm>
            <a:off x="804672"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298448"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Precificação por Valor maximiza a percepção do cliente</a:t>
            </a:r>
            <a:endParaRPr lang="en-US" sz="1400" dirty="0"/>
          </a:p>
        </p:txBody>
      </p:sp>
      <p:sp>
        <p:nvSpPr>
          <p:cNvPr id="15" name="Shape 13"/>
          <p:cNvSpPr/>
          <p:nvPr/>
        </p:nvSpPr>
        <p:spPr>
          <a:xfrm>
            <a:off x="6223864" y="3188208"/>
            <a:ext cx="5327752" cy="1395984"/>
          </a:xfrm>
          <a:prstGeom prst="roundRect">
            <a:avLst>
              <a:gd name="adj" fmla="val 3930"/>
            </a:avLst>
          </a:prstGeom>
          <a:solidFill>
            <a:srgbClr val="1B212B"/>
          </a:solidFill>
          <a:ln/>
        </p:spPr>
      </p:sp>
      <p:sp>
        <p:nvSpPr>
          <p:cNvPr id="16" name="Text 14"/>
          <p:cNvSpPr/>
          <p:nvPr/>
        </p:nvSpPr>
        <p:spPr>
          <a:xfrm>
            <a:off x="6388456"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6882232"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Concorrência ajuda a manter a competitividade no mercado</a:t>
            </a:r>
            <a:endParaRPr lang="en-US" sz="1400" dirty="0"/>
          </a:p>
        </p:txBody>
      </p:sp>
      <p:sp>
        <p:nvSpPr>
          <p:cNvPr id="18" name="Shape 16"/>
          <p:cNvSpPr/>
          <p:nvPr/>
        </p:nvSpPr>
        <p:spPr>
          <a:xfrm>
            <a:off x="640080" y="4949952"/>
            <a:ext cx="5327752" cy="1395984"/>
          </a:xfrm>
          <a:prstGeom prst="roundRect">
            <a:avLst>
              <a:gd name="adj" fmla="val 3930"/>
            </a:avLst>
          </a:prstGeom>
          <a:solidFill>
            <a:srgbClr val="1B212B"/>
          </a:solidFill>
          <a:ln/>
        </p:spPr>
      </p:sp>
      <p:sp>
        <p:nvSpPr>
          <p:cNvPr id="19" name="Text 17"/>
          <p:cNvSpPr/>
          <p:nvPr/>
        </p:nvSpPr>
        <p:spPr>
          <a:xfrm>
            <a:off x="804672" y="4949952"/>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1298448" y="4949952"/>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Escolha a estratégia alinhada aos objetivos do seu negócio</a:t>
            </a:r>
            <a:endParaRPr lang="en-US" sz="1400" dirty="0"/>
          </a:p>
        </p:txBody>
      </p:sp>
      <p:sp>
        <p:nvSpPr>
          <p:cNvPr id="21" name="Text 19"/>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2" name="Text 20"/>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D13">
              <a:alpha val="72000"/>
            </a:srgbClr>
          </a:solidFill>
          <a:ln/>
        </p:spPr>
      </p:sp>
      <p:sp>
        <p:nvSpPr>
          <p:cNvPr id="4" name="Shape 1"/>
          <p:cNvSpPr/>
          <p:nvPr/>
        </p:nvSpPr>
        <p:spPr>
          <a:xfrm>
            <a:off x="0" y="0"/>
            <a:ext cx="7498080" cy="6858000"/>
          </a:xfrm>
          <a:prstGeom prst="rect">
            <a:avLst/>
          </a:prstGeom>
          <a:solidFill>
            <a:srgbClr val="0A0D13">
              <a:alpha val="94000"/>
            </a:srgbClr>
          </a:solidFill>
          <a:ln/>
        </p:spPr>
      </p:sp>
      <p:sp>
        <p:nvSpPr>
          <p:cNvPr id="5" name="Text 2"/>
          <p:cNvSpPr/>
          <p:nvPr/>
        </p:nvSpPr>
        <p:spPr>
          <a:xfrm>
            <a:off x="640080" y="1280160"/>
            <a:ext cx="6400800" cy="411480"/>
          </a:xfrm>
          <a:prstGeom prst="rect">
            <a:avLst/>
          </a:prstGeom>
          <a:noFill/>
          <a:ln/>
        </p:spPr>
        <p:txBody>
          <a:bodyPr wrap="square" rtlCol="0" anchor="ctr"/>
          <a:lstStyle/>
          <a:p>
            <a:pPr indent="0" marL="0">
              <a:buNone/>
            </a:pPr>
            <a:r>
              <a:rPr lang="en-US" sz="1500" b="1" spc="500" kern="0" dirty="0">
                <a:solidFill>
                  <a:srgbClr val="E8943A"/>
                </a:solidFill>
                <a:latin typeface="Calibri" pitchFamily="34" charset="0"/>
                <a:ea typeface="Calibri" pitchFamily="34" charset="-122"/>
                <a:cs typeface="Calibri" pitchFamily="34" charset="-120"/>
              </a:rPr>
              <a:t>MÓDULO</a:t>
            </a:r>
            <a:endParaRPr lang="en-US" sz="1500" dirty="0"/>
          </a:p>
        </p:txBody>
      </p:sp>
      <p:sp>
        <p:nvSpPr>
          <p:cNvPr id="6" name="Text 3"/>
          <p:cNvSpPr/>
          <p:nvPr/>
        </p:nvSpPr>
        <p:spPr>
          <a:xfrm>
            <a:off x="566928" y="1554480"/>
            <a:ext cx="5486400" cy="2468880"/>
          </a:xfrm>
          <a:prstGeom prst="rect">
            <a:avLst/>
          </a:prstGeom>
          <a:noFill/>
          <a:ln/>
        </p:spPr>
        <p:txBody>
          <a:bodyPr wrap="square" rtlCol="0" anchor="ctr"/>
          <a:lstStyle/>
          <a:p>
            <a:pPr algn="l" indent="0" marL="0">
              <a:buNone/>
            </a:pPr>
            <a:r>
              <a:rPr lang="en-US" sz="20000" b="1" dirty="0">
                <a:solidFill>
                  <a:srgbClr val="E8943A">
                    <a:alpha val="78000"/>
                  </a:srgbClr>
                </a:solidFill>
                <a:latin typeface="Georgia" pitchFamily="34" charset="0"/>
                <a:ea typeface="Georgia" pitchFamily="34" charset="-122"/>
                <a:cs typeface="Georgia" pitchFamily="34" charset="-120"/>
              </a:rPr>
              <a:t>04</a:t>
            </a:r>
            <a:endParaRPr lang="en-US" sz="20000" dirty="0"/>
          </a:p>
        </p:txBody>
      </p:sp>
      <p:sp>
        <p:nvSpPr>
          <p:cNvPr id="7" name="Shape 4"/>
          <p:cNvSpPr/>
          <p:nvPr/>
        </p:nvSpPr>
        <p:spPr>
          <a:xfrm>
            <a:off x="676656" y="4114800"/>
            <a:ext cx="1005840" cy="82296"/>
          </a:xfrm>
          <a:prstGeom prst="rect">
            <a:avLst/>
          </a:prstGeom>
          <a:solidFill>
            <a:srgbClr val="E8943A"/>
          </a:solidFill>
          <a:ln/>
        </p:spPr>
      </p:sp>
      <p:sp>
        <p:nvSpPr>
          <p:cNvPr id="8" name="Text 5"/>
          <p:cNvSpPr/>
          <p:nvPr/>
        </p:nvSpPr>
        <p:spPr>
          <a:xfrm>
            <a:off x="640080" y="4370832"/>
            <a:ext cx="7223760" cy="1920240"/>
          </a:xfrm>
          <a:prstGeom prst="rect">
            <a:avLst/>
          </a:prstGeom>
          <a:noFill/>
          <a:ln/>
        </p:spPr>
        <p:txBody>
          <a:bodyPr wrap="square" rtlCol="0" anchor="t"/>
          <a:lstStyle/>
          <a:p>
            <a:pPr indent="0" marL="0">
              <a:lnSpc>
                <a:spcPct val="102000"/>
              </a:lnSpc>
              <a:buNone/>
            </a:pPr>
            <a:r>
              <a:rPr lang="en-US" sz="3200" b="1" dirty="0">
                <a:solidFill>
                  <a:srgbClr val="FFFFFF"/>
                </a:solidFill>
                <a:latin typeface="Georgia" pitchFamily="34" charset="0"/>
                <a:ea typeface="Georgia" pitchFamily="34" charset="-122"/>
                <a:cs typeface="Georgia" pitchFamily="34" charset="-120"/>
              </a:rPr>
              <a:t>Precificação Baseada em Valor e Percepção de Mercado</a:t>
            </a:r>
            <a:endParaRPr lang="en-US" sz="3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Visão Geral do Módulo</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371600"/>
            <a:ext cx="4801075" cy="5029200"/>
          </a:xfrm>
          <a:prstGeom prst="roundRect">
            <a:avLst>
              <a:gd name="adj" fmla="val 1143"/>
            </a:avLst>
          </a:prstGeom>
          <a:solidFill>
            <a:srgbClr val="D63B3B"/>
          </a:solidFill>
          <a:ln/>
        </p:spPr>
      </p:sp>
      <p:sp>
        <p:nvSpPr>
          <p:cNvPr id="7" name="Text 5"/>
          <p:cNvSpPr/>
          <p:nvPr/>
        </p:nvSpPr>
        <p:spPr>
          <a:xfrm>
            <a:off x="914400" y="1645920"/>
            <a:ext cx="4252435" cy="731520"/>
          </a:xfrm>
          <a:prstGeom prst="rect">
            <a:avLst/>
          </a:prstGeom>
          <a:noFill/>
          <a:ln/>
        </p:spPr>
        <p:txBody>
          <a:bodyPr wrap="square" rtlCol="0" anchor="t"/>
          <a:lstStyle/>
          <a:p>
            <a:pPr algn="l" indent="0" marL="0">
              <a:buNone/>
            </a:pPr>
            <a:r>
              <a:rPr lang="en-US" sz="3400" b="1" dirty="0">
                <a:solidFill>
                  <a:srgbClr val="E8943A"/>
                </a:solidFill>
                <a:latin typeface="Georgia" pitchFamily="34" charset="0"/>
                <a:ea typeface="Georgia" pitchFamily="34" charset="-122"/>
                <a:cs typeface="Georgia" pitchFamily="34" charset="-120"/>
              </a:rPr>
              <a:t>01</a:t>
            </a:r>
            <a:endParaRPr lang="en-US" sz="3400" dirty="0"/>
          </a:p>
        </p:txBody>
      </p:sp>
      <p:sp>
        <p:nvSpPr>
          <p:cNvPr id="8" name="Text 6"/>
          <p:cNvSpPr/>
          <p:nvPr/>
        </p:nvSpPr>
        <p:spPr>
          <a:xfrm>
            <a:off x="914400" y="2377440"/>
            <a:ext cx="4252435" cy="3749040"/>
          </a:xfrm>
          <a:prstGeom prst="rect">
            <a:avLst/>
          </a:prstGeom>
          <a:noFill/>
          <a:ln/>
        </p:spPr>
        <p:txBody>
          <a:bodyPr wrap="square" rtlCol="0" anchor="ctr"/>
          <a:lstStyle/>
          <a:p>
            <a:pPr algn="l" indent="0" marL="0">
              <a:lnSpc>
                <a:spcPct val="103000"/>
              </a:lnSpc>
              <a:buNone/>
            </a:pPr>
            <a:r>
              <a:rPr lang="en-US" sz="1600" b="1" dirty="0">
                <a:solidFill>
                  <a:srgbClr val="FFFFFF"/>
                </a:solidFill>
                <a:latin typeface="Calibri" pitchFamily="34" charset="0"/>
                <a:ea typeface="Calibri" pitchFamily="34" charset="-122"/>
                <a:cs typeface="Calibri" pitchFamily="34" charset="-120"/>
              </a:rPr>
              <a:t>Além de custos e concorrência</a:t>
            </a:r>
            <a:endParaRPr lang="en-US" sz="1600" dirty="0"/>
          </a:p>
        </p:txBody>
      </p:sp>
      <p:sp>
        <p:nvSpPr>
          <p:cNvPr id="9" name="Shape 7"/>
          <p:cNvSpPr/>
          <p:nvPr/>
        </p:nvSpPr>
        <p:spPr>
          <a:xfrm>
            <a:off x="5605747" y="1371600"/>
            <a:ext cx="5945868" cy="1566672"/>
          </a:xfrm>
          <a:prstGeom prst="roundRect">
            <a:avLst>
              <a:gd name="adj" fmla="val 3502"/>
            </a:avLst>
          </a:prstGeom>
          <a:solidFill>
            <a:srgbClr val="1B212B"/>
          </a:solidFill>
          <a:ln w="12700">
            <a:solidFill>
              <a:srgbClr val="2C333E"/>
            </a:solidFill>
            <a:prstDash val="solid"/>
          </a:ln>
        </p:spPr>
      </p:sp>
      <p:sp>
        <p:nvSpPr>
          <p:cNvPr id="10" name="Text 8"/>
          <p:cNvSpPr/>
          <p:nvPr/>
        </p:nvSpPr>
        <p:spPr>
          <a:xfrm>
            <a:off x="5806915" y="1371600"/>
            <a:ext cx="640080" cy="1566672"/>
          </a:xfrm>
          <a:prstGeom prst="rect">
            <a:avLst/>
          </a:prstGeom>
          <a:noFill/>
          <a:ln/>
        </p:spPr>
        <p:txBody>
          <a:bodyPr wrap="square" rtlCol="0" anchor="ctr"/>
          <a:lstStyle/>
          <a:p>
            <a:pPr algn="l" indent="0" marL="0">
              <a:buNone/>
            </a:pPr>
            <a:r>
              <a:rPr lang="en-US" sz="2000" b="1" dirty="0">
                <a:solidFill>
                  <a:srgbClr val="E8943A"/>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6520147" y="1371600"/>
            <a:ext cx="4848588" cy="1566672"/>
          </a:xfrm>
          <a:prstGeom prst="rect">
            <a:avLst/>
          </a:prstGeom>
          <a:noFill/>
          <a:ln/>
        </p:spPr>
        <p:txBody>
          <a:bodyPr wrap="square" rtlCol="0" anchor="ctr"/>
          <a:lstStyle/>
          <a:p>
            <a:pPr algn="l" indent="0" marL="0">
              <a:lnSpc>
                <a:spcPct val="100000"/>
              </a:lnSpc>
              <a:buNone/>
            </a:pPr>
            <a:r>
              <a:rPr lang="en-US" sz="1400" dirty="0">
                <a:solidFill>
                  <a:srgbClr val="A8B4C2"/>
                </a:solidFill>
                <a:latin typeface="Calibri" pitchFamily="34" charset="0"/>
                <a:ea typeface="Calibri" pitchFamily="34" charset="-122"/>
                <a:cs typeface="Calibri" pitchFamily="34" charset="-120"/>
              </a:rPr>
              <a:t>Compreender o valor percebido</a:t>
            </a:r>
            <a:endParaRPr lang="en-US" sz="1400" dirty="0"/>
          </a:p>
        </p:txBody>
      </p:sp>
      <p:sp>
        <p:nvSpPr>
          <p:cNvPr id="12" name="Shape 10"/>
          <p:cNvSpPr/>
          <p:nvPr/>
        </p:nvSpPr>
        <p:spPr>
          <a:xfrm>
            <a:off x="5605747" y="3102864"/>
            <a:ext cx="5945868" cy="1566672"/>
          </a:xfrm>
          <a:prstGeom prst="roundRect">
            <a:avLst>
              <a:gd name="adj" fmla="val 3502"/>
            </a:avLst>
          </a:prstGeom>
          <a:solidFill>
            <a:srgbClr val="1B212B"/>
          </a:solidFill>
          <a:ln w="12700">
            <a:solidFill>
              <a:srgbClr val="2C333E"/>
            </a:solidFill>
            <a:prstDash val="solid"/>
          </a:ln>
        </p:spPr>
      </p:sp>
      <p:sp>
        <p:nvSpPr>
          <p:cNvPr id="13" name="Text 11"/>
          <p:cNvSpPr/>
          <p:nvPr/>
        </p:nvSpPr>
        <p:spPr>
          <a:xfrm>
            <a:off x="5806915" y="3102864"/>
            <a:ext cx="640080" cy="1566672"/>
          </a:xfrm>
          <a:prstGeom prst="rect">
            <a:avLst/>
          </a:prstGeom>
          <a:noFill/>
          <a:ln/>
        </p:spPr>
        <p:txBody>
          <a:bodyPr wrap="square" rtlCol="0" anchor="ctr"/>
          <a:lstStyle/>
          <a:p>
            <a:pPr algn="l" indent="0" marL="0">
              <a:buNone/>
            </a:pPr>
            <a:r>
              <a:rPr lang="en-US" sz="2000" b="1" dirty="0">
                <a:solidFill>
                  <a:srgbClr val="E8943A"/>
                </a:solidFill>
                <a:latin typeface="Georgia" pitchFamily="34" charset="0"/>
                <a:ea typeface="Georgia" pitchFamily="34" charset="-122"/>
                <a:cs typeface="Georgia" pitchFamily="34" charset="-120"/>
              </a:rPr>
              <a:t>03</a:t>
            </a:r>
            <a:endParaRPr lang="en-US" sz="2000" dirty="0"/>
          </a:p>
        </p:txBody>
      </p:sp>
      <p:sp>
        <p:nvSpPr>
          <p:cNvPr id="14" name="Text 12"/>
          <p:cNvSpPr/>
          <p:nvPr/>
        </p:nvSpPr>
        <p:spPr>
          <a:xfrm>
            <a:off x="6520147" y="3102864"/>
            <a:ext cx="4848588" cy="1566672"/>
          </a:xfrm>
          <a:prstGeom prst="rect">
            <a:avLst/>
          </a:prstGeom>
          <a:noFill/>
          <a:ln/>
        </p:spPr>
        <p:txBody>
          <a:bodyPr wrap="square" rtlCol="0" anchor="ctr"/>
          <a:lstStyle/>
          <a:p>
            <a:pPr algn="l" indent="0" marL="0">
              <a:lnSpc>
                <a:spcPct val="100000"/>
              </a:lnSpc>
              <a:buNone/>
            </a:pPr>
            <a:r>
              <a:rPr lang="en-US" sz="1400" dirty="0">
                <a:solidFill>
                  <a:srgbClr val="A8B4C2"/>
                </a:solidFill>
                <a:latin typeface="Calibri" pitchFamily="34" charset="0"/>
                <a:ea typeface="Calibri" pitchFamily="34" charset="-122"/>
                <a:cs typeface="Calibri" pitchFamily="34" charset="-120"/>
              </a:rPr>
              <a:t>Entender a disposição a pagar (WTP)</a:t>
            </a:r>
            <a:endParaRPr lang="en-US" sz="1400" dirty="0"/>
          </a:p>
        </p:txBody>
      </p:sp>
      <p:sp>
        <p:nvSpPr>
          <p:cNvPr id="15" name="Shape 13"/>
          <p:cNvSpPr/>
          <p:nvPr/>
        </p:nvSpPr>
        <p:spPr>
          <a:xfrm>
            <a:off x="5605747" y="4834128"/>
            <a:ext cx="5945868" cy="1566672"/>
          </a:xfrm>
          <a:prstGeom prst="roundRect">
            <a:avLst>
              <a:gd name="adj" fmla="val 3502"/>
            </a:avLst>
          </a:prstGeom>
          <a:solidFill>
            <a:srgbClr val="1B212B"/>
          </a:solidFill>
          <a:ln w="12700">
            <a:solidFill>
              <a:srgbClr val="2C333E"/>
            </a:solidFill>
            <a:prstDash val="solid"/>
          </a:ln>
        </p:spPr>
      </p:sp>
      <p:sp>
        <p:nvSpPr>
          <p:cNvPr id="16" name="Text 14"/>
          <p:cNvSpPr/>
          <p:nvPr/>
        </p:nvSpPr>
        <p:spPr>
          <a:xfrm>
            <a:off x="5806915" y="4834128"/>
            <a:ext cx="640080" cy="1566672"/>
          </a:xfrm>
          <a:prstGeom prst="rect">
            <a:avLst/>
          </a:prstGeom>
          <a:noFill/>
          <a:ln/>
        </p:spPr>
        <p:txBody>
          <a:bodyPr wrap="square" rtlCol="0" anchor="ctr"/>
          <a:lstStyle/>
          <a:p>
            <a:pPr algn="l" indent="0" marL="0">
              <a:buNone/>
            </a:pPr>
            <a:r>
              <a:rPr lang="en-US" sz="2000" b="1" dirty="0">
                <a:solidFill>
                  <a:srgbClr val="E8943A"/>
                </a:solidFill>
                <a:latin typeface="Georgia" pitchFamily="34" charset="0"/>
                <a:ea typeface="Georgia" pitchFamily="34" charset="-122"/>
                <a:cs typeface="Georgia" pitchFamily="34" charset="-120"/>
              </a:rPr>
              <a:t>04</a:t>
            </a:r>
            <a:endParaRPr lang="en-US" sz="2000" dirty="0"/>
          </a:p>
        </p:txBody>
      </p:sp>
      <p:sp>
        <p:nvSpPr>
          <p:cNvPr id="17" name="Text 15"/>
          <p:cNvSpPr/>
          <p:nvPr/>
        </p:nvSpPr>
        <p:spPr>
          <a:xfrm>
            <a:off x="6520147" y="4834128"/>
            <a:ext cx="4848588" cy="1566672"/>
          </a:xfrm>
          <a:prstGeom prst="rect">
            <a:avLst/>
          </a:prstGeom>
          <a:noFill/>
          <a:ln/>
        </p:spPr>
        <p:txBody>
          <a:bodyPr wrap="square" rtlCol="0" anchor="ctr"/>
          <a:lstStyle/>
          <a:p>
            <a:pPr algn="l" indent="0" marL="0">
              <a:lnSpc>
                <a:spcPct val="100000"/>
              </a:lnSpc>
              <a:buNone/>
            </a:pPr>
            <a:r>
              <a:rPr lang="en-US" sz="1400" dirty="0">
                <a:solidFill>
                  <a:srgbClr val="A8B4C2"/>
                </a:solidFill>
                <a:latin typeface="Calibri" pitchFamily="34" charset="0"/>
                <a:ea typeface="Calibri" pitchFamily="34" charset="-122"/>
                <a:cs typeface="Calibri" pitchFamily="34" charset="-120"/>
              </a:rPr>
              <a:t>Diferenciar e justificar preços</a:t>
            </a:r>
            <a:endParaRPr lang="en-US" sz="1400" dirty="0"/>
          </a:p>
        </p:txBody>
      </p:sp>
      <p:sp>
        <p:nvSpPr>
          <p:cNvPr id="18" name="Text 16"/>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9" name="Text 17"/>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O Valor Percebido pelo Cliente</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841248" y="3630168"/>
            <a:ext cx="512064" cy="512064"/>
          </a:xfrm>
          <a:prstGeom prst="ellipse">
            <a:avLst/>
          </a:prstGeom>
          <a:solidFill>
            <a:srgbClr val="D63B3B"/>
          </a:solidFill>
          <a:ln/>
        </p:spPr>
      </p:sp>
      <p:sp>
        <p:nvSpPr>
          <p:cNvPr id="7" name="Shape 5"/>
          <p:cNvSpPr/>
          <p:nvPr/>
        </p:nvSpPr>
        <p:spPr>
          <a:xfrm flipV="1">
            <a:off x="1097280" y="2377440"/>
            <a:ext cx="2651760" cy="1508760"/>
          </a:xfrm>
          <a:prstGeom prst="line">
            <a:avLst/>
          </a:prstGeom>
          <a:noFill/>
          <a:ln w="15875">
            <a:solidFill>
              <a:srgbClr val="2C333E"/>
            </a:solidFill>
            <a:prstDash val="solid"/>
          </a:ln>
        </p:spPr>
      </p:sp>
      <p:sp>
        <p:nvSpPr>
          <p:cNvPr id="8" name="Shape 6"/>
          <p:cNvSpPr/>
          <p:nvPr/>
        </p:nvSpPr>
        <p:spPr>
          <a:xfrm>
            <a:off x="3602736" y="2231136"/>
            <a:ext cx="292608" cy="292608"/>
          </a:xfrm>
          <a:prstGeom prst="ellipse">
            <a:avLst/>
          </a:prstGeom>
          <a:solidFill>
            <a:srgbClr val="D63B3B"/>
          </a:solidFill>
          <a:ln w="19050">
            <a:solidFill>
              <a:srgbClr val="0F1219"/>
            </a:solidFill>
            <a:prstDash val="solid"/>
          </a:ln>
        </p:spPr>
      </p:sp>
      <p:sp>
        <p:nvSpPr>
          <p:cNvPr id="9" name="Text 7"/>
          <p:cNvSpPr/>
          <p:nvPr/>
        </p:nvSpPr>
        <p:spPr>
          <a:xfrm>
            <a:off x="4041648" y="1874520"/>
            <a:ext cx="7418527" cy="1005840"/>
          </a:xfrm>
          <a:prstGeom prst="rect">
            <a:avLst/>
          </a:prstGeom>
          <a:noFill/>
          <a:ln/>
        </p:spPr>
        <p:txBody>
          <a:bodyPr wrap="square" rtlCol="0" anchor="ctr"/>
          <a:lstStyle/>
          <a:p>
            <a:pPr algn="l" indent="0" marL="0">
              <a:lnSpc>
                <a:spcPct val="102000"/>
              </a:lnSpc>
              <a:buNone/>
            </a:pPr>
            <a:r>
              <a:rPr lang="en-US" sz="1400" dirty="0">
                <a:solidFill>
                  <a:srgbClr val="A8B4C2"/>
                </a:solidFill>
                <a:latin typeface="Calibri" pitchFamily="34" charset="0"/>
                <a:ea typeface="Calibri" pitchFamily="34" charset="-122"/>
                <a:cs typeface="Calibri" pitchFamily="34" charset="-120"/>
              </a:rPr>
              <a:t>Avaliação subjetiva de benefícios vs. custos</a:t>
            </a:r>
            <a:endParaRPr lang="en-US" sz="1400" dirty="0"/>
          </a:p>
        </p:txBody>
      </p:sp>
      <p:sp>
        <p:nvSpPr>
          <p:cNvPr id="10" name="Shape 8"/>
          <p:cNvSpPr/>
          <p:nvPr/>
        </p:nvSpPr>
        <p:spPr>
          <a:xfrm flipV="1">
            <a:off x="1097280" y="3383280"/>
            <a:ext cx="2651760" cy="502920"/>
          </a:xfrm>
          <a:prstGeom prst="line">
            <a:avLst/>
          </a:prstGeom>
          <a:noFill/>
          <a:ln w="15875">
            <a:solidFill>
              <a:srgbClr val="2C333E"/>
            </a:solidFill>
            <a:prstDash val="solid"/>
          </a:ln>
        </p:spPr>
      </p:sp>
      <p:sp>
        <p:nvSpPr>
          <p:cNvPr id="11" name="Shape 9"/>
          <p:cNvSpPr/>
          <p:nvPr/>
        </p:nvSpPr>
        <p:spPr>
          <a:xfrm>
            <a:off x="3602736" y="3236976"/>
            <a:ext cx="292608" cy="292608"/>
          </a:xfrm>
          <a:prstGeom prst="ellipse">
            <a:avLst/>
          </a:prstGeom>
          <a:solidFill>
            <a:srgbClr val="DC593B"/>
          </a:solidFill>
          <a:ln w="19050">
            <a:solidFill>
              <a:srgbClr val="0F1219"/>
            </a:solidFill>
            <a:prstDash val="solid"/>
          </a:ln>
        </p:spPr>
      </p:sp>
      <p:sp>
        <p:nvSpPr>
          <p:cNvPr id="12" name="Text 10"/>
          <p:cNvSpPr/>
          <p:nvPr/>
        </p:nvSpPr>
        <p:spPr>
          <a:xfrm>
            <a:off x="4041648" y="2880360"/>
            <a:ext cx="7418527" cy="1005840"/>
          </a:xfrm>
          <a:prstGeom prst="rect">
            <a:avLst/>
          </a:prstGeom>
          <a:noFill/>
          <a:ln/>
        </p:spPr>
        <p:txBody>
          <a:bodyPr wrap="square" rtlCol="0" anchor="ctr"/>
          <a:lstStyle/>
          <a:p>
            <a:pPr algn="l" indent="0" marL="0">
              <a:lnSpc>
                <a:spcPct val="102000"/>
              </a:lnSpc>
              <a:buNone/>
            </a:pPr>
            <a:r>
              <a:rPr lang="en-US" sz="1400" dirty="0">
                <a:solidFill>
                  <a:srgbClr val="A8B4C2"/>
                </a:solidFill>
                <a:latin typeface="Calibri" pitchFamily="34" charset="0"/>
                <a:ea typeface="Calibri" pitchFamily="34" charset="-122"/>
                <a:cs typeface="Calibri" pitchFamily="34" charset="-120"/>
              </a:rPr>
              <a:t>Soma de benefícios (funcionais, emocionais, sociais)</a:t>
            </a:r>
            <a:endParaRPr lang="en-US" sz="1400" dirty="0"/>
          </a:p>
        </p:txBody>
      </p:sp>
      <p:sp>
        <p:nvSpPr>
          <p:cNvPr id="13" name="Shape 11"/>
          <p:cNvSpPr/>
          <p:nvPr/>
        </p:nvSpPr>
        <p:spPr>
          <a:xfrm>
            <a:off x="1097280" y="3886200"/>
            <a:ext cx="2651760" cy="502920"/>
          </a:xfrm>
          <a:prstGeom prst="line">
            <a:avLst/>
          </a:prstGeom>
          <a:noFill/>
          <a:ln w="15875">
            <a:solidFill>
              <a:srgbClr val="2C333E"/>
            </a:solidFill>
            <a:prstDash val="solid"/>
          </a:ln>
        </p:spPr>
      </p:sp>
      <p:sp>
        <p:nvSpPr>
          <p:cNvPr id="14" name="Shape 12"/>
          <p:cNvSpPr/>
          <p:nvPr/>
        </p:nvSpPr>
        <p:spPr>
          <a:xfrm>
            <a:off x="3602736" y="4242816"/>
            <a:ext cx="292608" cy="292608"/>
          </a:xfrm>
          <a:prstGeom prst="ellipse">
            <a:avLst/>
          </a:prstGeom>
          <a:solidFill>
            <a:srgbClr val="E2763A"/>
          </a:solidFill>
          <a:ln w="19050">
            <a:solidFill>
              <a:srgbClr val="0F1219"/>
            </a:solidFill>
            <a:prstDash val="solid"/>
          </a:ln>
        </p:spPr>
      </p:sp>
      <p:sp>
        <p:nvSpPr>
          <p:cNvPr id="15" name="Text 13"/>
          <p:cNvSpPr/>
          <p:nvPr/>
        </p:nvSpPr>
        <p:spPr>
          <a:xfrm>
            <a:off x="4041648" y="3886200"/>
            <a:ext cx="7418527" cy="1005840"/>
          </a:xfrm>
          <a:prstGeom prst="rect">
            <a:avLst/>
          </a:prstGeom>
          <a:noFill/>
          <a:ln/>
        </p:spPr>
        <p:txBody>
          <a:bodyPr wrap="square" rtlCol="0" anchor="ctr"/>
          <a:lstStyle/>
          <a:p>
            <a:pPr algn="l" indent="0" marL="0">
              <a:lnSpc>
                <a:spcPct val="102000"/>
              </a:lnSpc>
              <a:buNone/>
            </a:pPr>
            <a:r>
              <a:rPr lang="en-US" sz="1400" dirty="0">
                <a:solidFill>
                  <a:srgbClr val="A8B4C2"/>
                </a:solidFill>
                <a:latin typeface="Calibri" pitchFamily="34" charset="0"/>
                <a:ea typeface="Calibri" pitchFamily="34" charset="-122"/>
                <a:cs typeface="Calibri" pitchFamily="34" charset="-120"/>
              </a:rPr>
              <a:t>Subtrai sacrifícios (preço, tempo, esforço)</a:t>
            </a:r>
            <a:endParaRPr lang="en-US" sz="1400" dirty="0"/>
          </a:p>
        </p:txBody>
      </p:sp>
      <p:sp>
        <p:nvSpPr>
          <p:cNvPr id="16" name="Shape 14"/>
          <p:cNvSpPr/>
          <p:nvPr/>
        </p:nvSpPr>
        <p:spPr>
          <a:xfrm>
            <a:off x="1097280" y="3886200"/>
            <a:ext cx="2651760" cy="1508760"/>
          </a:xfrm>
          <a:prstGeom prst="line">
            <a:avLst/>
          </a:prstGeom>
          <a:noFill/>
          <a:ln w="15875">
            <a:solidFill>
              <a:srgbClr val="2C333E"/>
            </a:solidFill>
            <a:prstDash val="solid"/>
          </a:ln>
        </p:spPr>
      </p:sp>
      <p:sp>
        <p:nvSpPr>
          <p:cNvPr id="17" name="Shape 15"/>
          <p:cNvSpPr/>
          <p:nvPr/>
        </p:nvSpPr>
        <p:spPr>
          <a:xfrm>
            <a:off x="3602736" y="5248656"/>
            <a:ext cx="292608" cy="292608"/>
          </a:xfrm>
          <a:prstGeom prst="ellipse">
            <a:avLst/>
          </a:prstGeom>
          <a:solidFill>
            <a:srgbClr val="E8943A"/>
          </a:solidFill>
          <a:ln w="19050">
            <a:solidFill>
              <a:srgbClr val="0F1219"/>
            </a:solidFill>
            <a:prstDash val="solid"/>
          </a:ln>
        </p:spPr>
      </p:sp>
      <p:sp>
        <p:nvSpPr>
          <p:cNvPr id="18" name="Text 16"/>
          <p:cNvSpPr/>
          <p:nvPr/>
        </p:nvSpPr>
        <p:spPr>
          <a:xfrm>
            <a:off x="4041648" y="4892040"/>
            <a:ext cx="7418527" cy="1005840"/>
          </a:xfrm>
          <a:prstGeom prst="rect">
            <a:avLst/>
          </a:prstGeom>
          <a:noFill/>
          <a:ln/>
        </p:spPr>
        <p:txBody>
          <a:bodyPr wrap="square" rtlCol="0" anchor="ctr"/>
          <a:lstStyle/>
          <a:p>
            <a:pPr algn="l" indent="0" marL="0">
              <a:lnSpc>
                <a:spcPct val="102000"/>
              </a:lnSpc>
              <a:buNone/>
            </a:pPr>
            <a:r>
              <a:rPr lang="en-US" sz="1400" dirty="0">
                <a:solidFill>
                  <a:srgbClr val="A8B4C2"/>
                </a:solidFill>
                <a:latin typeface="Calibri" pitchFamily="34" charset="0"/>
                <a:ea typeface="Calibri" pitchFamily="34" charset="-122"/>
                <a:cs typeface="Calibri" pitchFamily="34" charset="-120"/>
              </a:rPr>
              <a:t>Não se trata do custo de produção</a:t>
            </a:r>
            <a:endParaRPr lang="en-US" sz="1400" dirty="0"/>
          </a:p>
        </p:txBody>
      </p:sp>
      <p:sp>
        <p:nvSpPr>
          <p:cNvPr id="19" name="Text 17"/>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0" name="Text 18"/>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Por Que o Valor Percebido é Crucial?</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flipV="1">
            <a:off x="6095848" y="1874520"/>
            <a:ext cx="0" cy="2011680"/>
          </a:xfrm>
          <a:prstGeom prst="line">
            <a:avLst/>
          </a:prstGeom>
          <a:noFill/>
          <a:ln w="15875">
            <a:solidFill>
              <a:srgbClr val="2C333E"/>
            </a:solidFill>
            <a:prstDash val="solid"/>
          </a:ln>
        </p:spPr>
      </p:sp>
      <p:sp>
        <p:nvSpPr>
          <p:cNvPr id="7" name="Shape 5"/>
          <p:cNvSpPr/>
          <p:nvPr/>
        </p:nvSpPr>
        <p:spPr>
          <a:xfrm>
            <a:off x="6095848" y="3886200"/>
            <a:ext cx="3497398" cy="1005840"/>
          </a:xfrm>
          <a:prstGeom prst="line">
            <a:avLst/>
          </a:prstGeom>
          <a:noFill/>
          <a:ln w="15875">
            <a:solidFill>
              <a:srgbClr val="2C333E"/>
            </a:solidFill>
            <a:prstDash val="solid"/>
          </a:ln>
        </p:spPr>
      </p:sp>
      <p:sp>
        <p:nvSpPr>
          <p:cNvPr id="8" name="Shape 6"/>
          <p:cNvSpPr/>
          <p:nvPr/>
        </p:nvSpPr>
        <p:spPr>
          <a:xfrm flipH="1">
            <a:off x="2598449" y="3886200"/>
            <a:ext cx="3497398" cy="1005840"/>
          </a:xfrm>
          <a:prstGeom prst="line">
            <a:avLst/>
          </a:prstGeom>
          <a:noFill/>
          <a:ln w="15875">
            <a:solidFill>
              <a:srgbClr val="2C333E"/>
            </a:solidFill>
            <a:prstDash val="solid"/>
          </a:ln>
        </p:spPr>
      </p:sp>
      <p:sp>
        <p:nvSpPr>
          <p:cNvPr id="9" name="Shape 7"/>
          <p:cNvSpPr/>
          <p:nvPr/>
        </p:nvSpPr>
        <p:spPr>
          <a:xfrm>
            <a:off x="5272888" y="3063240"/>
            <a:ext cx="1645920" cy="1645920"/>
          </a:xfrm>
          <a:prstGeom prst="ellipse">
            <a:avLst/>
          </a:prstGeom>
          <a:solidFill>
            <a:srgbClr val="D63B3B"/>
          </a:solidFill>
          <a:ln/>
        </p:spPr>
      </p:sp>
      <p:sp>
        <p:nvSpPr>
          <p:cNvPr id="10" name="Text 8"/>
          <p:cNvSpPr/>
          <p:nvPr/>
        </p:nvSpPr>
        <p:spPr>
          <a:xfrm>
            <a:off x="5318608" y="3063240"/>
            <a:ext cx="1554480" cy="1645920"/>
          </a:xfrm>
          <a:prstGeom prst="rect">
            <a:avLst/>
          </a:prstGeom>
          <a:noFill/>
          <a:ln/>
        </p:spPr>
        <p:txBody>
          <a:bodyPr wrap="square" rtlCol="0" anchor="ctr"/>
          <a:lstStyle/>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Que o</a:t>
            </a:r>
            <a:endParaRPr lang="en-US" sz="1200" dirty="0"/>
          </a:p>
        </p:txBody>
      </p:sp>
      <p:sp>
        <p:nvSpPr>
          <p:cNvPr id="11" name="Shape 9"/>
          <p:cNvSpPr/>
          <p:nvPr/>
        </p:nvSpPr>
        <p:spPr>
          <a:xfrm>
            <a:off x="4952848" y="1417320"/>
            <a:ext cx="2286000" cy="914400"/>
          </a:xfrm>
          <a:prstGeom prst="roundRect">
            <a:avLst>
              <a:gd name="adj" fmla="val 7000"/>
            </a:avLst>
          </a:prstGeom>
          <a:solidFill>
            <a:srgbClr val="1B212B"/>
          </a:solidFill>
          <a:ln w="12700">
            <a:solidFill>
              <a:srgbClr val="2C333E"/>
            </a:solidFill>
            <a:prstDash val="solid"/>
          </a:ln>
        </p:spPr>
      </p:sp>
      <p:sp>
        <p:nvSpPr>
          <p:cNvPr id="12" name="Text 10"/>
          <p:cNvSpPr/>
          <p:nvPr/>
        </p:nvSpPr>
        <p:spPr>
          <a:xfrm>
            <a:off x="5062576" y="1490472"/>
            <a:ext cx="2066544" cy="310896"/>
          </a:xfrm>
          <a:prstGeom prst="rect">
            <a:avLst/>
          </a:prstGeom>
          <a:noFill/>
          <a:ln/>
        </p:spPr>
        <p:txBody>
          <a:bodyPr wrap="square" rtlCol="0" anchor="ctr"/>
          <a:lstStyle/>
          <a:p>
            <a:pPr algn="ctr" indent="0" marL="0">
              <a:buNone/>
            </a:pPr>
            <a:r>
              <a:rPr lang="en-US" sz="1200" b="1" dirty="0">
                <a:solidFill>
                  <a:srgbClr val="E8943A"/>
                </a:solidFill>
                <a:latin typeface="Calibri" pitchFamily="34" charset="0"/>
                <a:ea typeface="Calibri" pitchFamily="34" charset="-122"/>
                <a:cs typeface="Calibri" pitchFamily="34" charset="-120"/>
              </a:rPr>
              <a:t>Diferenciação</a:t>
            </a:r>
            <a:endParaRPr lang="en-US" sz="1200" dirty="0"/>
          </a:p>
        </p:txBody>
      </p:sp>
      <p:sp>
        <p:nvSpPr>
          <p:cNvPr id="13" name="Text 11"/>
          <p:cNvSpPr/>
          <p:nvPr/>
        </p:nvSpPr>
        <p:spPr>
          <a:xfrm>
            <a:off x="5062576" y="1801368"/>
            <a:ext cx="2066544" cy="457200"/>
          </a:xfrm>
          <a:prstGeom prst="rect">
            <a:avLst/>
          </a:prstGeom>
          <a:noFill/>
          <a:ln/>
        </p:spPr>
        <p:txBody>
          <a:bodyPr wrap="square" rtlCol="0" anchor="t"/>
          <a:lstStyle/>
          <a:p>
            <a:pPr algn="ctr" indent="0" marL="0">
              <a:lnSpc>
                <a:spcPct val="98000"/>
              </a:lnSpc>
              <a:buNone/>
            </a:pPr>
            <a:r>
              <a:rPr lang="en-US" sz="1000" dirty="0">
                <a:solidFill>
                  <a:srgbClr val="F0F4F8"/>
                </a:solidFill>
                <a:latin typeface="Calibri" pitchFamily="34" charset="0"/>
                <a:ea typeface="Calibri" pitchFamily="34" charset="-122"/>
                <a:cs typeface="Calibri" pitchFamily="34" charset="-120"/>
              </a:rPr>
              <a:t>Destaque em mercados competitivos</a:t>
            </a:r>
            <a:endParaRPr lang="en-US" sz="1000" dirty="0"/>
          </a:p>
        </p:txBody>
      </p:sp>
      <p:sp>
        <p:nvSpPr>
          <p:cNvPr id="14" name="Shape 12"/>
          <p:cNvSpPr/>
          <p:nvPr/>
        </p:nvSpPr>
        <p:spPr>
          <a:xfrm>
            <a:off x="8450246" y="4434840"/>
            <a:ext cx="2286000" cy="914400"/>
          </a:xfrm>
          <a:prstGeom prst="roundRect">
            <a:avLst>
              <a:gd name="adj" fmla="val 7000"/>
            </a:avLst>
          </a:prstGeom>
          <a:solidFill>
            <a:srgbClr val="1B212B"/>
          </a:solidFill>
          <a:ln w="12700">
            <a:solidFill>
              <a:srgbClr val="2C333E"/>
            </a:solidFill>
            <a:prstDash val="solid"/>
          </a:ln>
        </p:spPr>
      </p:sp>
      <p:sp>
        <p:nvSpPr>
          <p:cNvPr id="15" name="Text 13"/>
          <p:cNvSpPr/>
          <p:nvPr/>
        </p:nvSpPr>
        <p:spPr>
          <a:xfrm>
            <a:off x="8559974" y="4507992"/>
            <a:ext cx="2066544" cy="310896"/>
          </a:xfrm>
          <a:prstGeom prst="rect">
            <a:avLst/>
          </a:prstGeom>
          <a:noFill/>
          <a:ln/>
        </p:spPr>
        <p:txBody>
          <a:bodyPr wrap="square" rtlCol="0" anchor="ctr"/>
          <a:lstStyle/>
          <a:p>
            <a:pPr algn="ctr" indent="0" marL="0">
              <a:buNone/>
            </a:pPr>
            <a:r>
              <a:rPr lang="en-US" sz="1200" b="1" dirty="0">
                <a:solidFill>
                  <a:srgbClr val="E8943A"/>
                </a:solidFill>
                <a:latin typeface="Calibri" pitchFamily="34" charset="0"/>
                <a:ea typeface="Calibri" pitchFamily="34" charset="-122"/>
                <a:cs typeface="Calibri" pitchFamily="34" charset="-120"/>
              </a:rPr>
              <a:t>Justificativa de Preços</a:t>
            </a:r>
            <a:endParaRPr lang="en-US" sz="1200" dirty="0"/>
          </a:p>
        </p:txBody>
      </p:sp>
      <p:sp>
        <p:nvSpPr>
          <p:cNvPr id="16" name="Text 14"/>
          <p:cNvSpPr/>
          <p:nvPr/>
        </p:nvSpPr>
        <p:spPr>
          <a:xfrm>
            <a:off x="8559974" y="4818888"/>
            <a:ext cx="2066544" cy="457200"/>
          </a:xfrm>
          <a:prstGeom prst="rect">
            <a:avLst/>
          </a:prstGeom>
          <a:noFill/>
          <a:ln/>
        </p:spPr>
        <p:txBody>
          <a:bodyPr wrap="square" rtlCol="0" anchor="t"/>
          <a:lstStyle/>
          <a:p>
            <a:pPr algn="ctr" indent="0" marL="0">
              <a:lnSpc>
                <a:spcPct val="98000"/>
              </a:lnSpc>
              <a:buNone/>
            </a:pPr>
            <a:r>
              <a:rPr lang="en-US" sz="1000" dirty="0">
                <a:solidFill>
                  <a:srgbClr val="F0F4F8"/>
                </a:solidFill>
                <a:latin typeface="Calibri" pitchFamily="34" charset="0"/>
                <a:ea typeface="Calibri" pitchFamily="34" charset="-122"/>
                <a:cs typeface="Calibri" pitchFamily="34" charset="-120"/>
              </a:rPr>
              <a:t>Suporta preços mais altos quando o valor é superior</a:t>
            </a:r>
            <a:endParaRPr lang="en-US" sz="1000" dirty="0"/>
          </a:p>
        </p:txBody>
      </p:sp>
      <p:sp>
        <p:nvSpPr>
          <p:cNvPr id="17" name="Shape 15"/>
          <p:cNvSpPr/>
          <p:nvPr/>
        </p:nvSpPr>
        <p:spPr>
          <a:xfrm>
            <a:off x="1455449" y="4434840"/>
            <a:ext cx="2286000" cy="914400"/>
          </a:xfrm>
          <a:prstGeom prst="roundRect">
            <a:avLst>
              <a:gd name="adj" fmla="val 7000"/>
            </a:avLst>
          </a:prstGeom>
          <a:solidFill>
            <a:srgbClr val="1B212B"/>
          </a:solidFill>
          <a:ln w="12700">
            <a:solidFill>
              <a:srgbClr val="2C333E"/>
            </a:solidFill>
            <a:prstDash val="solid"/>
          </a:ln>
        </p:spPr>
      </p:sp>
      <p:sp>
        <p:nvSpPr>
          <p:cNvPr id="18" name="Text 16"/>
          <p:cNvSpPr/>
          <p:nvPr/>
        </p:nvSpPr>
        <p:spPr>
          <a:xfrm>
            <a:off x="1565177" y="4507992"/>
            <a:ext cx="2066544" cy="310896"/>
          </a:xfrm>
          <a:prstGeom prst="rect">
            <a:avLst/>
          </a:prstGeom>
          <a:noFill/>
          <a:ln/>
        </p:spPr>
        <p:txBody>
          <a:bodyPr wrap="square" rtlCol="0" anchor="ctr"/>
          <a:lstStyle/>
          <a:p>
            <a:pPr algn="ctr" indent="0" marL="0">
              <a:buNone/>
            </a:pPr>
            <a:r>
              <a:rPr lang="en-US" sz="1200" b="1" dirty="0">
                <a:solidFill>
                  <a:srgbClr val="E8943A"/>
                </a:solidFill>
                <a:latin typeface="Calibri" pitchFamily="34" charset="0"/>
                <a:ea typeface="Calibri" pitchFamily="34" charset="-122"/>
                <a:cs typeface="Calibri" pitchFamily="34" charset="-120"/>
              </a:rPr>
              <a:t>Construção de Lealdade</a:t>
            </a:r>
            <a:endParaRPr lang="en-US" sz="1200" dirty="0"/>
          </a:p>
        </p:txBody>
      </p:sp>
      <p:sp>
        <p:nvSpPr>
          <p:cNvPr id="19" name="Text 17"/>
          <p:cNvSpPr/>
          <p:nvPr/>
        </p:nvSpPr>
        <p:spPr>
          <a:xfrm>
            <a:off x="1565177" y="4818888"/>
            <a:ext cx="2066544" cy="457200"/>
          </a:xfrm>
          <a:prstGeom prst="rect">
            <a:avLst/>
          </a:prstGeom>
          <a:noFill/>
          <a:ln/>
        </p:spPr>
        <p:txBody>
          <a:bodyPr wrap="square" rtlCol="0" anchor="t"/>
          <a:lstStyle/>
          <a:p>
            <a:pPr algn="ctr" indent="0" marL="0">
              <a:lnSpc>
                <a:spcPct val="98000"/>
              </a:lnSpc>
              <a:buNone/>
            </a:pPr>
            <a:r>
              <a:rPr lang="en-US" sz="1000" dirty="0">
                <a:solidFill>
                  <a:srgbClr val="F0F4F8"/>
                </a:solidFill>
                <a:latin typeface="Calibri" pitchFamily="34" charset="0"/>
                <a:ea typeface="Calibri" pitchFamily="34" charset="-122"/>
                <a:cs typeface="Calibri" pitchFamily="34" charset="-120"/>
              </a:rPr>
              <a:t>Clientes mais fiéis e menos sensíveis a preço</a:t>
            </a:r>
            <a:endParaRPr lang="en-US" sz="1000" dirty="0"/>
          </a:p>
        </p:txBody>
      </p:sp>
      <p:sp>
        <p:nvSpPr>
          <p:cNvPr id="20" name="Text 18"/>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1" name="Text 19"/>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Disposição a Pagar (WTP): O Preço Máximo do Cliente</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rot="5400000">
            <a:off x="685800" y="1844802"/>
            <a:ext cx="310896" cy="310896"/>
          </a:xfrm>
          <a:prstGeom prst="triangle">
            <a:avLst/>
          </a:prstGeom>
          <a:solidFill>
            <a:srgbClr val="E8943A"/>
          </a:solidFill>
          <a:ln/>
        </p:spPr>
      </p:sp>
      <p:sp>
        <p:nvSpPr>
          <p:cNvPr id="7" name="Text 5"/>
          <p:cNvSpPr/>
          <p:nvPr/>
        </p:nvSpPr>
        <p:spPr>
          <a:xfrm>
            <a:off x="1188720" y="1371600"/>
            <a:ext cx="10271455" cy="1257300"/>
          </a:xfrm>
          <a:prstGeom prst="rect">
            <a:avLst/>
          </a:prstGeom>
          <a:noFill/>
          <a:ln/>
        </p:spPr>
        <p:txBody>
          <a:bodyPr wrap="square" rtlCol="0" anchor="ctr"/>
          <a:lstStyle/>
          <a:p>
            <a:pPr indent="0" marL="0">
              <a:lnSpc>
                <a:spcPct val="103000"/>
              </a:lnSpc>
              <a:buNone/>
            </a:pPr>
            <a:r>
              <a:rPr lang="en-US" sz="1400" dirty="0">
                <a:solidFill>
                  <a:srgbClr val="A8B4C2"/>
                </a:solidFill>
                <a:latin typeface="Calibri" pitchFamily="34" charset="0"/>
                <a:ea typeface="Calibri" pitchFamily="34" charset="-122"/>
                <a:cs typeface="Calibri" pitchFamily="34" charset="-120"/>
              </a:rPr>
              <a:t>Preço máximo que o cliente aceita desembolsar</a:t>
            </a:r>
            <a:endParaRPr lang="en-US" sz="1400" dirty="0"/>
          </a:p>
        </p:txBody>
      </p:sp>
      <p:sp>
        <p:nvSpPr>
          <p:cNvPr id="8" name="Shape 6"/>
          <p:cNvSpPr/>
          <p:nvPr/>
        </p:nvSpPr>
        <p:spPr>
          <a:xfrm>
            <a:off x="1188720" y="2628900"/>
            <a:ext cx="10271455" cy="0"/>
          </a:xfrm>
          <a:prstGeom prst="line">
            <a:avLst/>
          </a:prstGeom>
          <a:noFill/>
          <a:ln w="6350">
            <a:solidFill>
              <a:srgbClr val="2C333E"/>
            </a:solidFill>
            <a:prstDash val="solid"/>
          </a:ln>
        </p:spPr>
      </p:sp>
      <p:sp>
        <p:nvSpPr>
          <p:cNvPr id="9" name="Shape 7"/>
          <p:cNvSpPr/>
          <p:nvPr/>
        </p:nvSpPr>
        <p:spPr>
          <a:xfrm rot="5400000">
            <a:off x="685800" y="3102102"/>
            <a:ext cx="310896" cy="310896"/>
          </a:xfrm>
          <a:prstGeom prst="triangle">
            <a:avLst/>
          </a:prstGeom>
          <a:solidFill>
            <a:srgbClr val="D63B3B"/>
          </a:solidFill>
          <a:ln/>
        </p:spPr>
      </p:sp>
      <p:sp>
        <p:nvSpPr>
          <p:cNvPr id="10" name="Text 8"/>
          <p:cNvSpPr/>
          <p:nvPr/>
        </p:nvSpPr>
        <p:spPr>
          <a:xfrm>
            <a:off x="1188720" y="2628900"/>
            <a:ext cx="10271455" cy="1257300"/>
          </a:xfrm>
          <a:prstGeom prst="rect">
            <a:avLst/>
          </a:prstGeom>
          <a:noFill/>
          <a:ln/>
        </p:spPr>
        <p:txBody>
          <a:bodyPr wrap="square" rtlCol="0" anchor="ctr"/>
          <a:lstStyle/>
          <a:p>
            <a:pPr indent="0" marL="0">
              <a:lnSpc>
                <a:spcPct val="103000"/>
              </a:lnSpc>
              <a:buNone/>
            </a:pPr>
            <a:r>
              <a:rPr lang="en-US" sz="1400" dirty="0">
                <a:solidFill>
                  <a:srgbClr val="A8B4C2"/>
                </a:solidFill>
                <a:latin typeface="Calibri" pitchFamily="34" charset="0"/>
                <a:ea typeface="Calibri" pitchFamily="34" charset="-122"/>
                <a:cs typeface="Calibri" pitchFamily="34" charset="-120"/>
              </a:rPr>
              <a:t>Indicador direto do valor percebido</a:t>
            </a:r>
            <a:endParaRPr lang="en-US" sz="1400" dirty="0"/>
          </a:p>
        </p:txBody>
      </p:sp>
      <p:sp>
        <p:nvSpPr>
          <p:cNvPr id="11" name="Shape 9"/>
          <p:cNvSpPr/>
          <p:nvPr/>
        </p:nvSpPr>
        <p:spPr>
          <a:xfrm>
            <a:off x="1188720" y="3886200"/>
            <a:ext cx="10271455" cy="0"/>
          </a:xfrm>
          <a:prstGeom prst="line">
            <a:avLst/>
          </a:prstGeom>
          <a:noFill/>
          <a:ln w="6350">
            <a:solidFill>
              <a:srgbClr val="2C333E"/>
            </a:solidFill>
            <a:prstDash val="solid"/>
          </a:ln>
        </p:spPr>
      </p:sp>
      <p:sp>
        <p:nvSpPr>
          <p:cNvPr id="12" name="Shape 10"/>
          <p:cNvSpPr/>
          <p:nvPr/>
        </p:nvSpPr>
        <p:spPr>
          <a:xfrm rot="5400000">
            <a:off x="685800" y="4359402"/>
            <a:ext cx="310896" cy="310896"/>
          </a:xfrm>
          <a:prstGeom prst="triangle">
            <a:avLst/>
          </a:prstGeom>
          <a:solidFill>
            <a:srgbClr val="E8943A"/>
          </a:solidFill>
          <a:ln/>
        </p:spPr>
      </p:sp>
      <p:sp>
        <p:nvSpPr>
          <p:cNvPr id="13" name="Text 11"/>
          <p:cNvSpPr/>
          <p:nvPr/>
        </p:nvSpPr>
        <p:spPr>
          <a:xfrm>
            <a:off x="1188720" y="3886200"/>
            <a:ext cx="10271455" cy="1257300"/>
          </a:xfrm>
          <a:prstGeom prst="rect">
            <a:avLst/>
          </a:prstGeom>
          <a:noFill/>
          <a:ln/>
        </p:spPr>
        <p:txBody>
          <a:bodyPr wrap="square" rtlCol="0" anchor="ctr"/>
          <a:lstStyle/>
          <a:p>
            <a:pPr indent="0" marL="0">
              <a:lnSpc>
                <a:spcPct val="103000"/>
              </a:lnSpc>
              <a:buNone/>
            </a:pPr>
            <a:r>
              <a:rPr lang="en-US" sz="1400" dirty="0">
                <a:solidFill>
                  <a:srgbClr val="A8B4C2"/>
                </a:solidFill>
                <a:latin typeface="Calibri" pitchFamily="34" charset="0"/>
                <a:ea typeface="Calibri" pitchFamily="34" charset="-122"/>
                <a:cs typeface="Calibri" pitchFamily="34" charset="-120"/>
              </a:rPr>
              <a:t>Varia entre clientes e contextos</a:t>
            </a:r>
            <a:endParaRPr lang="en-US" sz="1400" dirty="0"/>
          </a:p>
        </p:txBody>
      </p:sp>
      <p:sp>
        <p:nvSpPr>
          <p:cNvPr id="14" name="Shape 12"/>
          <p:cNvSpPr/>
          <p:nvPr/>
        </p:nvSpPr>
        <p:spPr>
          <a:xfrm>
            <a:off x="1188720" y="5143500"/>
            <a:ext cx="10271455" cy="0"/>
          </a:xfrm>
          <a:prstGeom prst="line">
            <a:avLst/>
          </a:prstGeom>
          <a:noFill/>
          <a:ln w="6350">
            <a:solidFill>
              <a:srgbClr val="2C333E"/>
            </a:solidFill>
            <a:prstDash val="solid"/>
          </a:ln>
        </p:spPr>
      </p:sp>
      <p:sp>
        <p:nvSpPr>
          <p:cNvPr id="15" name="Shape 13"/>
          <p:cNvSpPr/>
          <p:nvPr/>
        </p:nvSpPr>
        <p:spPr>
          <a:xfrm rot="5400000">
            <a:off x="685800" y="5616702"/>
            <a:ext cx="310896" cy="310896"/>
          </a:xfrm>
          <a:prstGeom prst="triangle">
            <a:avLst/>
          </a:prstGeom>
          <a:solidFill>
            <a:srgbClr val="D63B3B"/>
          </a:solidFill>
          <a:ln/>
        </p:spPr>
      </p:sp>
      <p:sp>
        <p:nvSpPr>
          <p:cNvPr id="16" name="Text 14"/>
          <p:cNvSpPr/>
          <p:nvPr/>
        </p:nvSpPr>
        <p:spPr>
          <a:xfrm>
            <a:off x="1188720" y="5143500"/>
            <a:ext cx="10271455" cy="1257300"/>
          </a:xfrm>
          <a:prstGeom prst="rect">
            <a:avLst/>
          </a:prstGeom>
          <a:noFill/>
          <a:ln/>
        </p:spPr>
        <p:txBody>
          <a:bodyPr wrap="square" rtlCol="0" anchor="ctr"/>
          <a:lstStyle/>
          <a:p>
            <a:pPr indent="0" marL="0">
              <a:lnSpc>
                <a:spcPct val="103000"/>
              </a:lnSpc>
              <a:buNone/>
            </a:pPr>
            <a:r>
              <a:rPr lang="en-US" sz="1400" dirty="0">
                <a:solidFill>
                  <a:srgbClr val="A8B4C2"/>
                </a:solidFill>
                <a:latin typeface="Calibri" pitchFamily="34" charset="0"/>
                <a:ea typeface="Calibri" pitchFamily="34" charset="-122"/>
                <a:cs typeface="Calibri" pitchFamily="34" charset="-120"/>
              </a:rPr>
              <a:t>Acima desse ponto, custo supera benefício</a:t>
            </a:r>
            <a:endParaRPr lang="en-US" sz="1400" dirty="0"/>
          </a:p>
        </p:txBody>
      </p:sp>
      <p:sp>
        <p:nvSpPr>
          <p:cNvPr id="17" name="Text 1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8" name="Text 1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O Que Afeta a Disposição a Pagar?</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2200343" y="1371600"/>
            <a:ext cx="1451474" cy="1596622"/>
          </a:xfrm>
          <a:prstGeom prst="triangle">
            <a:avLst/>
          </a:prstGeom>
          <a:solidFill>
            <a:srgbClr val="E8943A"/>
          </a:solidFill>
          <a:ln w="25400">
            <a:solidFill>
              <a:srgbClr val="0F1219"/>
            </a:solidFill>
            <a:prstDash val="solid"/>
          </a:ln>
        </p:spPr>
      </p:sp>
      <p:sp>
        <p:nvSpPr>
          <p:cNvPr id="7" name="Text 5"/>
          <p:cNvSpPr/>
          <p:nvPr/>
        </p:nvSpPr>
        <p:spPr>
          <a:xfrm>
            <a:off x="2337503" y="1850587"/>
            <a:ext cx="1177154" cy="1053770"/>
          </a:xfrm>
          <a:prstGeom prst="rect">
            <a:avLst/>
          </a:prstGeom>
          <a:noFill/>
          <a:ln/>
        </p:spPr>
        <p:txBody>
          <a:bodyPr wrap="square" rtlCol="0" anchor="b"/>
          <a:lstStyle/>
          <a:p>
            <a:pPr algn="ctr" indent="0" marL="0">
              <a:lnSpc>
                <a:spcPct val="96000"/>
              </a:lnSpc>
              <a:buNone/>
            </a:pPr>
            <a:r>
              <a:rPr lang="en-US" sz="900" b="1" dirty="0">
                <a:solidFill>
                  <a:srgbClr val="FFFFFF"/>
                </a:solidFill>
                <a:latin typeface="Calibri" pitchFamily="34" charset="0"/>
                <a:ea typeface="Calibri" pitchFamily="34" charset="-122"/>
                <a:cs typeface="Calibri" pitchFamily="34" charset="-120"/>
              </a:rPr>
              <a:t>Necessidade e Urgência</a:t>
            </a:r>
            <a:endParaRPr lang="en-US" sz="900" dirty="0"/>
          </a:p>
        </p:txBody>
      </p:sp>
      <p:sp>
        <p:nvSpPr>
          <p:cNvPr id="8" name="Shape 6"/>
          <p:cNvSpPr/>
          <p:nvPr/>
        </p:nvSpPr>
        <p:spPr>
          <a:xfrm>
            <a:off x="3243229" y="2169911"/>
            <a:ext cx="2608931" cy="0"/>
          </a:xfrm>
          <a:prstGeom prst="line">
            <a:avLst/>
          </a:prstGeom>
          <a:noFill/>
          <a:ln w="25400">
            <a:solidFill>
              <a:srgbClr val="E8943A"/>
            </a:solidFill>
            <a:prstDash val="solid"/>
          </a:ln>
        </p:spPr>
      </p:sp>
      <p:sp>
        <p:nvSpPr>
          <p:cNvPr id="9" name="Text 7"/>
          <p:cNvSpPr/>
          <p:nvPr/>
        </p:nvSpPr>
        <p:spPr>
          <a:xfrm>
            <a:off x="6035040" y="1371600"/>
            <a:ext cx="5516575" cy="1596622"/>
          </a:xfrm>
          <a:prstGeom prst="rect">
            <a:avLst/>
          </a:prstGeom>
          <a:noFill/>
          <a:ln/>
        </p:spPr>
        <p:txBody>
          <a:bodyPr wrap="square" rtlCol="0" anchor="ctr"/>
          <a:lstStyle/>
          <a:p>
            <a:pPr algn="l" indent="0" marL="0">
              <a:lnSpc>
                <a:spcPct val="105000"/>
              </a:lnSpc>
              <a:buNone/>
            </a:pPr>
            <a:r>
              <a:rPr lang="en-US" sz="1200" dirty="0">
                <a:solidFill>
                  <a:srgbClr val="F0F4F8"/>
                </a:solidFill>
                <a:latin typeface="Calibri" pitchFamily="34" charset="0"/>
                <a:ea typeface="Calibri" pitchFamily="34" charset="-122"/>
                <a:cs typeface="Calibri" pitchFamily="34" charset="-120"/>
              </a:rPr>
              <a:t>Quão essencial é o produto e a rapidez da demanda</a:t>
            </a:r>
            <a:endParaRPr lang="en-US" sz="1200" dirty="0"/>
          </a:p>
        </p:txBody>
      </p:sp>
      <p:sp>
        <p:nvSpPr>
          <p:cNvPr id="10" name="Shape 8"/>
          <p:cNvSpPr/>
          <p:nvPr/>
        </p:nvSpPr>
        <p:spPr>
          <a:xfrm>
            <a:off x="1680255" y="3114526"/>
            <a:ext cx="2491650" cy="997889"/>
          </a:xfrm>
          <a:custGeom>
            <a:avLst/>
            <a:gdLst/>
            <a:ahLst/>
            <a:cxnLst/>
            <a:rect l="l" t="t" r="r" b="b"/>
            <a:pathLst>
              <a:path w="2491650" h="997889">
                <a:moveTo>
                  <a:pt x="453586" y="0"/>
                </a:moveTo>
                <a:lnTo>
                  <a:pt x="2038064" y="0"/>
                </a:lnTo>
                <a:lnTo>
                  <a:pt x="2491650" y="997889"/>
                </a:lnTo>
                <a:lnTo>
                  <a:pt x="0" y="997889"/>
                </a:lnTo>
                <a:close/>
              </a:path>
            </a:pathLst>
          </a:custGeom>
          <a:solidFill>
            <a:srgbClr val="E2763A"/>
          </a:solidFill>
          <a:ln w="25400">
            <a:solidFill>
              <a:srgbClr val="0F1219"/>
            </a:solidFill>
            <a:prstDash val="solid"/>
          </a:ln>
        </p:spPr>
      </p:sp>
      <p:sp>
        <p:nvSpPr>
          <p:cNvPr id="11" name="Text 9"/>
          <p:cNvSpPr/>
          <p:nvPr/>
        </p:nvSpPr>
        <p:spPr>
          <a:xfrm>
            <a:off x="2243569" y="3114526"/>
            <a:ext cx="1365022" cy="997889"/>
          </a:xfrm>
          <a:prstGeom prst="rect">
            <a:avLst/>
          </a:prstGeom>
          <a:noFill/>
          <a:ln/>
        </p:spPr>
        <p:txBody>
          <a:bodyPr wrap="square" rtlCol="0" anchor="ctr"/>
          <a:lstStyle/>
          <a:p>
            <a:pPr algn="ctr" indent="0" marL="0">
              <a:lnSpc>
                <a:spcPct val="96000"/>
              </a:lnSpc>
              <a:buNone/>
            </a:pPr>
            <a:r>
              <a:rPr lang="en-US" sz="1300" b="1" dirty="0">
                <a:solidFill>
                  <a:srgbClr val="FFFFFF"/>
                </a:solidFill>
                <a:latin typeface="Calibri" pitchFamily="34" charset="0"/>
                <a:ea typeface="Calibri" pitchFamily="34" charset="-122"/>
                <a:cs typeface="Calibri" pitchFamily="34" charset="-120"/>
              </a:rPr>
              <a:t>Alternativas Disponíveis</a:t>
            </a:r>
            <a:endParaRPr lang="en-US" sz="1300" dirty="0"/>
          </a:p>
        </p:txBody>
      </p:sp>
      <p:sp>
        <p:nvSpPr>
          <p:cNvPr id="12" name="Shape 10"/>
          <p:cNvSpPr/>
          <p:nvPr/>
        </p:nvSpPr>
        <p:spPr>
          <a:xfrm>
            <a:off x="3899392" y="3613470"/>
            <a:ext cx="1952768" cy="0"/>
          </a:xfrm>
          <a:prstGeom prst="line">
            <a:avLst/>
          </a:prstGeom>
          <a:noFill/>
          <a:ln w="25400">
            <a:solidFill>
              <a:srgbClr val="E2763A"/>
            </a:solidFill>
            <a:prstDash val="solid"/>
          </a:ln>
        </p:spPr>
      </p:sp>
      <p:sp>
        <p:nvSpPr>
          <p:cNvPr id="13" name="Text 11"/>
          <p:cNvSpPr/>
          <p:nvPr/>
        </p:nvSpPr>
        <p:spPr>
          <a:xfrm>
            <a:off x="6035040" y="3114526"/>
            <a:ext cx="5516575" cy="997889"/>
          </a:xfrm>
          <a:prstGeom prst="rect">
            <a:avLst/>
          </a:prstGeom>
          <a:noFill/>
          <a:ln/>
        </p:spPr>
        <p:txBody>
          <a:bodyPr wrap="square" rtlCol="0" anchor="ctr"/>
          <a:lstStyle/>
          <a:p>
            <a:pPr algn="l" indent="0" marL="0">
              <a:lnSpc>
                <a:spcPct val="105000"/>
              </a:lnSpc>
              <a:buNone/>
            </a:pPr>
            <a:r>
              <a:rPr lang="en-US" sz="1200" dirty="0">
                <a:solidFill>
                  <a:srgbClr val="F0F4F8"/>
                </a:solidFill>
                <a:latin typeface="Calibri" pitchFamily="34" charset="0"/>
                <a:ea typeface="Calibri" pitchFamily="34" charset="-122"/>
                <a:cs typeface="Calibri" pitchFamily="34" charset="-120"/>
              </a:rPr>
              <a:t>Existência e preço de produtos substitutos</a:t>
            </a:r>
            <a:endParaRPr lang="en-US" sz="1200" dirty="0"/>
          </a:p>
        </p:txBody>
      </p:sp>
      <p:sp>
        <p:nvSpPr>
          <p:cNvPr id="14" name="Shape 12"/>
          <p:cNvSpPr/>
          <p:nvPr/>
        </p:nvSpPr>
        <p:spPr>
          <a:xfrm>
            <a:off x="1160168" y="4258719"/>
            <a:ext cx="3531825" cy="997889"/>
          </a:xfrm>
          <a:custGeom>
            <a:avLst/>
            <a:gdLst/>
            <a:ahLst/>
            <a:cxnLst/>
            <a:rect l="l" t="t" r="r" b="b"/>
            <a:pathLst>
              <a:path w="3531825" h="997889">
                <a:moveTo>
                  <a:pt x="453586" y="0"/>
                </a:moveTo>
                <a:lnTo>
                  <a:pt x="3078239" y="0"/>
                </a:lnTo>
                <a:lnTo>
                  <a:pt x="3531825" y="997889"/>
                </a:lnTo>
                <a:lnTo>
                  <a:pt x="0" y="997889"/>
                </a:lnTo>
                <a:close/>
              </a:path>
            </a:pathLst>
          </a:custGeom>
          <a:solidFill>
            <a:srgbClr val="DC593B"/>
          </a:solidFill>
          <a:ln w="25400">
            <a:solidFill>
              <a:srgbClr val="0F1219"/>
            </a:solidFill>
            <a:prstDash val="solid"/>
          </a:ln>
        </p:spPr>
      </p:sp>
      <p:sp>
        <p:nvSpPr>
          <p:cNvPr id="15" name="Text 13"/>
          <p:cNvSpPr/>
          <p:nvPr/>
        </p:nvSpPr>
        <p:spPr>
          <a:xfrm>
            <a:off x="1723481" y="4258719"/>
            <a:ext cx="2405197" cy="997889"/>
          </a:xfrm>
          <a:prstGeom prst="rect">
            <a:avLst/>
          </a:prstGeom>
          <a:noFill/>
          <a:ln/>
        </p:spPr>
        <p:txBody>
          <a:bodyPr wrap="square" rtlCol="0" anchor="ctr"/>
          <a:lstStyle/>
          <a:p>
            <a:pPr algn="ctr" indent="0" marL="0">
              <a:lnSpc>
                <a:spcPct val="96000"/>
              </a:lnSpc>
              <a:buNone/>
            </a:pPr>
            <a:r>
              <a:rPr lang="en-US" sz="1300" b="1" dirty="0">
                <a:solidFill>
                  <a:srgbClr val="FFFFFF"/>
                </a:solidFill>
                <a:latin typeface="Calibri" pitchFamily="34" charset="0"/>
                <a:ea typeface="Calibri" pitchFamily="34" charset="-122"/>
                <a:cs typeface="Calibri" pitchFamily="34" charset="-120"/>
              </a:rPr>
              <a:t>Renda e Orçamento</a:t>
            </a:r>
            <a:endParaRPr lang="en-US" sz="1300" dirty="0"/>
          </a:p>
        </p:txBody>
      </p:sp>
      <p:sp>
        <p:nvSpPr>
          <p:cNvPr id="16" name="Shape 14"/>
          <p:cNvSpPr/>
          <p:nvPr/>
        </p:nvSpPr>
        <p:spPr>
          <a:xfrm>
            <a:off x="4419480" y="4757663"/>
            <a:ext cx="1432680" cy="0"/>
          </a:xfrm>
          <a:prstGeom prst="line">
            <a:avLst/>
          </a:prstGeom>
          <a:noFill/>
          <a:ln w="25400">
            <a:solidFill>
              <a:srgbClr val="DC593B"/>
            </a:solidFill>
            <a:prstDash val="solid"/>
          </a:ln>
        </p:spPr>
      </p:sp>
      <p:sp>
        <p:nvSpPr>
          <p:cNvPr id="17" name="Text 15"/>
          <p:cNvSpPr/>
          <p:nvPr/>
        </p:nvSpPr>
        <p:spPr>
          <a:xfrm>
            <a:off x="6035040" y="4258719"/>
            <a:ext cx="5516575" cy="997889"/>
          </a:xfrm>
          <a:prstGeom prst="rect">
            <a:avLst/>
          </a:prstGeom>
          <a:noFill/>
          <a:ln/>
        </p:spPr>
        <p:txBody>
          <a:bodyPr wrap="square" rtlCol="0" anchor="ctr"/>
          <a:lstStyle/>
          <a:p>
            <a:pPr algn="l" indent="0" marL="0">
              <a:lnSpc>
                <a:spcPct val="105000"/>
              </a:lnSpc>
              <a:buNone/>
            </a:pPr>
            <a:r>
              <a:rPr lang="en-US" sz="1200" dirty="0">
                <a:solidFill>
                  <a:srgbClr val="F0F4F8"/>
                </a:solidFill>
                <a:latin typeface="Calibri" pitchFamily="34" charset="0"/>
                <a:ea typeface="Calibri" pitchFamily="34" charset="-122"/>
                <a:cs typeface="Calibri" pitchFamily="34" charset="-120"/>
              </a:rPr>
              <a:t>Poder de compra do cliente</a:t>
            </a:r>
            <a:endParaRPr lang="en-US" sz="1200" dirty="0"/>
          </a:p>
        </p:txBody>
      </p:sp>
      <p:sp>
        <p:nvSpPr>
          <p:cNvPr id="18" name="Shape 16"/>
          <p:cNvSpPr/>
          <p:nvPr/>
        </p:nvSpPr>
        <p:spPr>
          <a:xfrm>
            <a:off x="640080" y="5402911"/>
            <a:ext cx="4572000" cy="997889"/>
          </a:xfrm>
          <a:custGeom>
            <a:avLst/>
            <a:gdLst/>
            <a:ahLst/>
            <a:cxnLst/>
            <a:rect l="l" t="t" r="r" b="b"/>
            <a:pathLst>
              <a:path w="4572000" h="997889">
                <a:moveTo>
                  <a:pt x="453586" y="0"/>
                </a:moveTo>
                <a:lnTo>
                  <a:pt x="4118414" y="0"/>
                </a:lnTo>
                <a:lnTo>
                  <a:pt x="4572000" y="997889"/>
                </a:lnTo>
                <a:lnTo>
                  <a:pt x="0" y="997889"/>
                </a:lnTo>
                <a:close/>
              </a:path>
            </a:pathLst>
          </a:custGeom>
          <a:solidFill>
            <a:srgbClr val="D63B3B"/>
          </a:solidFill>
          <a:ln w="25400">
            <a:solidFill>
              <a:srgbClr val="0F1219"/>
            </a:solidFill>
            <a:prstDash val="solid"/>
          </a:ln>
        </p:spPr>
      </p:sp>
      <p:sp>
        <p:nvSpPr>
          <p:cNvPr id="19" name="Text 17"/>
          <p:cNvSpPr/>
          <p:nvPr/>
        </p:nvSpPr>
        <p:spPr>
          <a:xfrm>
            <a:off x="1203394" y="5402911"/>
            <a:ext cx="3445372" cy="997889"/>
          </a:xfrm>
          <a:prstGeom prst="rect">
            <a:avLst/>
          </a:prstGeom>
          <a:noFill/>
          <a:ln/>
        </p:spPr>
        <p:txBody>
          <a:bodyPr wrap="square" rtlCol="0" anchor="ctr"/>
          <a:lstStyle/>
          <a:p>
            <a:pPr algn="ctr" indent="0" marL="0">
              <a:lnSpc>
                <a:spcPct val="96000"/>
              </a:lnSpc>
              <a:buNone/>
            </a:pPr>
            <a:r>
              <a:rPr lang="en-US" sz="1300" b="1" dirty="0">
                <a:solidFill>
                  <a:srgbClr val="FFFFFF"/>
                </a:solidFill>
                <a:latin typeface="Calibri" pitchFamily="34" charset="0"/>
                <a:ea typeface="Calibri" pitchFamily="34" charset="-122"/>
                <a:cs typeface="Calibri" pitchFamily="34" charset="-120"/>
              </a:rPr>
              <a:t>Percepção de Qualidade</a:t>
            </a:r>
            <a:endParaRPr lang="en-US" sz="1300" dirty="0"/>
          </a:p>
        </p:txBody>
      </p:sp>
      <p:sp>
        <p:nvSpPr>
          <p:cNvPr id="20" name="Shape 18"/>
          <p:cNvSpPr/>
          <p:nvPr/>
        </p:nvSpPr>
        <p:spPr>
          <a:xfrm>
            <a:off x="4939567" y="5901856"/>
            <a:ext cx="912593" cy="0"/>
          </a:xfrm>
          <a:prstGeom prst="line">
            <a:avLst/>
          </a:prstGeom>
          <a:noFill/>
          <a:ln w="25400">
            <a:solidFill>
              <a:srgbClr val="D63B3B"/>
            </a:solidFill>
            <a:prstDash val="solid"/>
          </a:ln>
        </p:spPr>
      </p:sp>
      <p:sp>
        <p:nvSpPr>
          <p:cNvPr id="21" name="Text 19"/>
          <p:cNvSpPr/>
          <p:nvPr/>
        </p:nvSpPr>
        <p:spPr>
          <a:xfrm>
            <a:off x="6035040" y="5402911"/>
            <a:ext cx="5516575" cy="997889"/>
          </a:xfrm>
          <a:prstGeom prst="rect">
            <a:avLst/>
          </a:prstGeom>
          <a:noFill/>
          <a:ln/>
        </p:spPr>
        <p:txBody>
          <a:bodyPr wrap="square" rtlCol="0" anchor="ctr"/>
          <a:lstStyle/>
          <a:p>
            <a:pPr algn="l" indent="0" marL="0">
              <a:lnSpc>
                <a:spcPct val="105000"/>
              </a:lnSpc>
              <a:buNone/>
            </a:pPr>
            <a:r>
              <a:rPr lang="en-US" sz="1200" dirty="0">
                <a:solidFill>
                  <a:srgbClr val="F0F4F8"/>
                </a:solidFill>
                <a:latin typeface="Calibri" pitchFamily="34" charset="0"/>
                <a:ea typeface="Calibri" pitchFamily="34" charset="-122"/>
                <a:cs typeface="Calibri" pitchFamily="34" charset="-120"/>
              </a:rPr>
              <a:t>Marcas renomadas ou alta percepção de qualidade</a:t>
            </a:r>
            <a:endParaRPr lang="en-US" sz="1200" dirty="0"/>
          </a:p>
        </p:txBody>
      </p:sp>
      <p:sp>
        <p:nvSpPr>
          <p:cNvPr id="22" name="Text 20"/>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3" name="Text 21"/>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Como Estimar a Disposição a Pagar (WTP)?</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3872484"/>
            <a:ext cx="10911535" cy="27432"/>
          </a:xfrm>
          <a:prstGeom prst="rect">
            <a:avLst/>
          </a:prstGeom>
          <a:solidFill>
            <a:srgbClr val="E8943A">
              <a:alpha val="45000"/>
            </a:srgbClr>
          </a:solidFill>
          <a:ln/>
        </p:spPr>
      </p:sp>
      <p:sp>
        <p:nvSpPr>
          <p:cNvPr id="7" name="Shape 5"/>
          <p:cNvSpPr/>
          <p:nvPr/>
        </p:nvSpPr>
        <p:spPr>
          <a:xfrm>
            <a:off x="2458669" y="3465576"/>
            <a:ext cx="0" cy="274320"/>
          </a:xfrm>
          <a:prstGeom prst="line">
            <a:avLst/>
          </a:prstGeom>
          <a:noFill/>
          <a:ln w="12700">
            <a:solidFill>
              <a:srgbClr val="E8943A"/>
            </a:solidFill>
            <a:prstDash val="solid"/>
          </a:ln>
        </p:spPr>
      </p:sp>
      <p:sp>
        <p:nvSpPr>
          <p:cNvPr id="8" name="Shape 6"/>
          <p:cNvSpPr/>
          <p:nvPr/>
        </p:nvSpPr>
        <p:spPr>
          <a:xfrm>
            <a:off x="2211781" y="3639312"/>
            <a:ext cx="493776" cy="493776"/>
          </a:xfrm>
          <a:prstGeom prst="ellipse">
            <a:avLst/>
          </a:prstGeom>
          <a:solidFill>
            <a:srgbClr val="E8943A">
              <a:alpha val="22000"/>
            </a:srgbClr>
          </a:solidFill>
          <a:ln/>
        </p:spPr>
      </p:sp>
      <p:sp>
        <p:nvSpPr>
          <p:cNvPr id="9" name="Shape 7"/>
          <p:cNvSpPr/>
          <p:nvPr/>
        </p:nvSpPr>
        <p:spPr>
          <a:xfrm>
            <a:off x="2294077" y="3721608"/>
            <a:ext cx="329184" cy="329184"/>
          </a:xfrm>
          <a:prstGeom prst="ellipse">
            <a:avLst/>
          </a:prstGeom>
          <a:solidFill>
            <a:srgbClr val="D63B3B"/>
          </a:solidFill>
          <a:ln/>
        </p:spPr>
      </p:sp>
      <p:sp>
        <p:nvSpPr>
          <p:cNvPr id="10" name="Text 8"/>
          <p:cNvSpPr/>
          <p:nvPr/>
        </p:nvSpPr>
        <p:spPr>
          <a:xfrm>
            <a:off x="2294077"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777240" y="3017520"/>
            <a:ext cx="3362858"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Pesquisas Diretas</a:t>
            </a:r>
            <a:endParaRPr lang="en-US" sz="1500" dirty="0"/>
          </a:p>
        </p:txBody>
      </p:sp>
      <p:sp>
        <p:nvSpPr>
          <p:cNvPr id="12" name="Text 10"/>
          <p:cNvSpPr/>
          <p:nvPr/>
        </p:nvSpPr>
        <p:spPr>
          <a:xfrm>
            <a:off x="777240" y="1417320"/>
            <a:ext cx="3362858" cy="1563624"/>
          </a:xfrm>
          <a:prstGeom prst="rect">
            <a:avLst/>
          </a:prstGeom>
          <a:noFill/>
          <a:ln/>
        </p:spPr>
        <p:txBody>
          <a:bodyPr wrap="square" rtlCol="0" anchor="b"/>
          <a:lstStyle/>
          <a:p>
            <a:pPr algn="ctr" indent="0" marL="0">
              <a:lnSpc>
                <a:spcPct val="103000"/>
              </a:lnSpc>
              <a:buNone/>
            </a:pPr>
            <a:r>
              <a:rPr lang="en-US" sz="1150" dirty="0">
                <a:solidFill>
                  <a:srgbClr val="A8B4C2"/>
                </a:solidFill>
                <a:latin typeface="Calibri" pitchFamily="34" charset="0"/>
                <a:ea typeface="Calibri" pitchFamily="34" charset="-122"/>
                <a:cs typeface="Calibri" pitchFamily="34" charset="-120"/>
              </a:rPr>
              <a:t>Entrevistas ou questionários com clientes</a:t>
            </a:r>
            <a:endParaRPr lang="en-US" sz="1150" dirty="0"/>
          </a:p>
        </p:txBody>
      </p:sp>
      <p:sp>
        <p:nvSpPr>
          <p:cNvPr id="13" name="Shape 11"/>
          <p:cNvSpPr/>
          <p:nvPr/>
        </p:nvSpPr>
        <p:spPr>
          <a:xfrm>
            <a:off x="6095848" y="4032504"/>
            <a:ext cx="0" cy="274320"/>
          </a:xfrm>
          <a:prstGeom prst="line">
            <a:avLst/>
          </a:prstGeom>
          <a:noFill/>
          <a:ln w="12700">
            <a:solidFill>
              <a:srgbClr val="E8943A"/>
            </a:solidFill>
            <a:prstDash val="solid"/>
          </a:ln>
        </p:spPr>
      </p:sp>
      <p:sp>
        <p:nvSpPr>
          <p:cNvPr id="14" name="Shape 12"/>
          <p:cNvSpPr/>
          <p:nvPr/>
        </p:nvSpPr>
        <p:spPr>
          <a:xfrm>
            <a:off x="5848960" y="3639312"/>
            <a:ext cx="493776" cy="493776"/>
          </a:xfrm>
          <a:prstGeom prst="ellipse">
            <a:avLst/>
          </a:prstGeom>
          <a:solidFill>
            <a:srgbClr val="E8943A">
              <a:alpha val="22000"/>
            </a:srgbClr>
          </a:solidFill>
          <a:ln/>
        </p:spPr>
      </p:sp>
      <p:sp>
        <p:nvSpPr>
          <p:cNvPr id="15" name="Shape 13"/>
          <p:cNvSpPr/>
          <p:nvPr/>
        </p:nvSpPr>
        <p:spPr>
          <a:xfrm>
            <a:off x="5931256" y="3721608"/>
            <a:ext cx="329184" cy="329184"/>
          </a:xfrm>
          <a:prstGeom prst="ellipse">
            <a:avLst/>
          </a:prstGeom>
          <a:solidFill>
            <a:srgbClr val="D63B3B"/>
          </a:solidFill>
          <a:ln/>
        </p:spPr>
      </p:sp>
      <p:sp>
        <p:nvSpPr>
          <p:cNvPr id="16" name="Text 14"/>
          <p:cNvSpPr/>
          <p:nvPr/>
        </p:nvSpPr>
        <p:spPr>
          <a:xfrm>
            <a:off x="5931256"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414418" y="4343400"/>
            <a:ext cx="3362858" cy="411480"/>
          </a:xfrm>
          <a:prstGeom prst="rect">
            <a:avLst/>
          </a:prstGeom>
          <a:noFill/>
          <a:ln/>
        </p:spPr>
        <p:txBody>
          <a:bodyPr wrap="square" rtlCol="0" anchor="t"/>
          <a:lstStyle/>
          <a:p>
            <a:pPr algn="ctr" indent="0" marL="0">
              <a:buNone/>
            </a:pPr>
            <a:r>
              <a:rPr lang="en-US" sz="1500" b="1" dirty="0">
                <a:solidFill>
                  <a:srgbClr val="E8943A"/>
                </a:solidFill>
                <a:latin typeface="Calibri" pitchFamily="34" charset="0"/>
                <a:ea typeface="Calibri" pitchFamily="34" charset="-122"/>
                <a:cs typeface="Calibri" pitchFamily="34" charset="-120"/>
              </a:rPr>
              <a:t>Análise de Substitutos</a:t>
            </a:r>
            <a:endParaRPr lang="en-US" sz="1500" dirty="0"/>
          </a:p>
        </p:txBody>
      </p:sp>
      <p:sp>
        <p:nvSpPr>
          <p:cNvPr id="18" name="Text 16"/>
          <p:cNvSpPr/>
          <p:nvPr/>
        </p:nvSpPr>
        <p:spPr>
          <a:xfrm>
            <a:off x="4414418" y="4800600"/>
            <a:ext cx="3362858" cy="1618488"/>
          </a:xfrm>
          <a:prstGeom prst="rect">
            <a:avLst/>
          </a:prstGeom>
          <a:noFill/>
          <a:ln/>
        </p:spPr>
        <p:txBody>
          <a:bodyPr wrap="square" rtlCol="0" anchor="t"/>
          <a:lstStyle/>
          <a:p>
            <a:pPr algn="ctr" indent="0" marL="0">
              <a:lnSpc>
                <a:spcPct val="103000"/>
              </a:lnSpc>
              <a:buNone/>
            </a:pPr>
            <a:r>
              <a:rPr lang="en-US" sz="1150" dirty="0">
                <a:solidFill>
                  <a:srgbClr val="A8B4C2"/>
                </a:solidFill>
                <a:latin typeface="Calibri" pitchFamily="34" charset="0"/>
                <a:ea typeface="Calibri" pitchFamily="34" charset="-122"/>
                <a:cs typeface="Calibri" pitchFamily="34" charset="-120"/>
              </a:rPr>
              <a:t>Observar preços de produtos que resolvem o mesmo problema</a:t>
            </a:r>
            <a:endParaRPr lang="en-US" sz="1150" dirty="0"/>
          </a:p>
        </p:txBody>
      </p:sp>
      <p:sp>
        <p:nvSpPr>
          <p:cNvPr id="19" name="Shape 17"/>
          <p:cNvSpPr/>
          <p:nvPr/>
        </p:nvSpPr>
        <p:spPr>
          <a:xfrm>
            <a:off x="9733026" y="3465576"/>
            <a:ext cx="0" cy="274320"/>
          </a:xfrm>
          <a:prstGeom prst="line">
            <a:avLst/>
          </a:prstGeom>
          <a:noFill/>
          <a:ln w="12700">
            <a:solidFill>
              <a:srgbClr val="E8943A"/>
            </a:solidFill>
            <a:prstDash val="solid"/>
          </a:ln>
        </p:spPr>
      </p:sp>
      <p:sp>
        <p:nvSpPr>
          <p:cNvPr id="20" name="Shape 18"/>
          <p:cNvSpPr/>
          <p:nvPr/>
        </p:nvSpPr>
        <p:spPr>
          <a:xfrm>
            <a:off x="9486138" y="3639312"/>
            <a:ext cx="493776" cy="493776"/>
          </a:xfrm>
          <a:prstGeom prst="ellipse">
            <a:avLst/>
          </a:prstGeom>
          <a:solidFill>
            <a:srgbClr val="E8943A">
              <a:alpha val="22000"/>
            </a:srgbClr>
          </a:solidFill>
          <a:ln/>
        </p:spPr>
      </p:sp>
      <p:sp>
        <p:nvSpPr>
          <p:cNvPr id="21" name="Shape 19"/>
          <p:cNvSpPr/>
          <p:nvPr/>
        </p:nvSpPr>
        <p:spPr>
          <a:xfrm>
            <a:off x="9568434" y="3721608"/>
            <a:ext cx="329184" cy="329184"/>
          </a:xfrm>
          <a:prstGeom prst="ellipse">
            <a:avLst/>
          </a:prstGeom>
          <a:solidFill>
            <a:srgbClr val="D63B3B"/>
          </a:solidFill>
          <a:ln/>
        </p:spPr>
      </p:sp>
      <p:sp>
        <p:nvSpPr>
          <p:cNvPr id="22" name="Text 20"/>
          <p:cNvSpPr/>
          <p:nvPr/>
        </p:nvSpPr>
        <p:spPr>
          <a:xfrm>
            <a:off x="9568434" y="3721608"/>
            <a:ext cx="329184" cy="32918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051597" y="3017520"/>
            <a:ext cx="3362858" cy="411480"/>
          </a:xfrm>
          <a:prstGeom prst="rect">
            <a:avLst/>
          </a:prstGeom>
          <a:noFill/>
          <a:ln/>
        </p:spPr>
        <p:txBody>
          <a:bodyPr wrap="square" rtlCol="0" anchor="b"/>
          <a:lstStyle/>
          <a:p>
            <a:pPr algn="ctr" indent="0" marL="0">
              <a:buNone/>
            </a:pPr>
            <a:r>
              <a:rPr lang="en-US" sz="1500" b="1" dirty="0">
                <a:solidFill>
                  <a:srgbClr val="E8943A"/>
                </a:solidFill>
                <a:latin typeface="Calibri" pitchFamily="34" charset="0"/>
                <a:ea typeface="Calibri" pitchFamily="34" charset="-122"/>
                <a:cs typeface="Calibri" pitchFamily="34" charset="-120"/>
              </a:rPr>
              <a:t>Testes A/B</a:t>
            </a:r>
            <a:endParaRPr lang="en-US" sz="1500" dirty="0"/>
          </a:p>
        </p:txBody>
      </p:sp>
      <p:sp>
        <p:nvSpPr>
          <p:cNvPr id="24" name="Text 22"/>
          <p:cNvSpPr/>
          <p:nvPr/>
        </p:nvSpPr>
        <p:spPr>
          <a:xfrm>
            <a:off x="8051597" y="1417320"/>
            <a:ext cx="3362858" cy="1563624"/>
          </a:xfrm>
          <a:prstGeom prst="rect">
            <a:avLst/>
          </a:prstGeom>
          <a:noFill/>
          <a:ln/>
        </p:spPr>
        <p:txBody>
          <a:bodyPr wrap="square" rtlCol="0" anchor="b"/>
          <a:lstStyle/>
          <a:p>
            <a:pPr algn="ctr" indent="0" marL="0">
              <a:lnSpc>
                <a:spcPct val="103000"/>
              </a:lnSpc>
              <a:buNone/>
            </a:pPr>
            <a:r>
              <a:rPr lang="en-US" sz="1150" dirty="0">
                <a:solidFill>
                  <a:srgbClr val="A8B4C2"/>
                </a:solidFill>
                <a:latin typeface="Calibri" pitchFamily="34" charset="0"/>
                <a:ea typeface="Calibri" pitchFamily="34" charset="-122"/>
                <a:cs typeface="Calibri" pitchFamily="34" charset="-120"/>
              </a:rPr>
              <a:t>Oferecer o mesmo produto com preços diferentes online</a:t>
            </a:r>
            <a:endParaRPr lang="en-US" sz="1150" dirty="0"/>
          </a:p>
        </p:txBody>
      </p:sp>
      <p:sp>
        <p:nvSpPr>
          <p:cNvPr id="25" name="Text 23"/>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6" name="Text 24"/>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Text 1"/>
          <p:cNvSpPr/>
          <p:nvPr/>
        </p:nvSpPr>
        <p:spPr>
          <a:xfrm>
            <a:off x="548640" y="754380"/>
            <a:ext cx="2743200" cy="1783080"/>
          </a:xfrm>
          <a:prstGeom prst="rect">
            <a:avLst/>
          </a:prstGeom>
          <a:noFill/>
          <a:ln/>
        </p:spPr>
        <p:txBody>
          <a:bodyPr wrap="square" rtlCol="0" anchor="ctr"/>
          <a:lstStyle/>
          <a:p>
            <a:pPr algn="l"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5" name="Text 2"/>
          <p:cNvSpPr/>
          <p:nvPr/>
        </p:nvSpPr>
        <p:spPr>
          <a:xfrm>
            <a:off x="8899855" y="4457700"/>
            <a:ext cx="2743200" cy="1783080"/>
          </a:xfrm>
          <a:prstGeom prst="rect">
            <a:avLst/>
          </a:prstGeom>
          <a:noFill/>
          <a:ln/>
        </p:spPr>
        <p:txBody>
          <a:bodyPr wrap="square" rtlCol="0" anchor="ctr"/>
          <a:lstStyle/>
          <a:p>
            <a:pPr algn="r" indent="0" marL="0">
              <a:buNone/>
            </a:pPr>
            <a:r>
              <a:rPr lang="en-US" sz="20000" b="1" dirty="0">
                <a:solidFill>
                  <a:srgbClr val="FFFFFF">
                    <a:alpha val="18000"/>
                  </a:srgbClr>
                </a:solidFill>
                <a:latin typeface="Georgia" pitchFamily="34" charset="0"/>
                <a:ea typeface="Georgia" pitchFamily="34" charset="-122"/>
                <a:cs typeface="Georgia" pitchFamily="34" charset="-120"/>
              </a:rPr>
              <a:t>”</a:t>
            </a:r>
            <a:endParaRPr lang="en-US" sz="20000" dirty="0"/>
          </a:p>
        </p:txBody>
      </p:sp>
      <p:sp>
        <p:nvSpPr>
          <p:cNvPr id="6" name="Text 3"/>
          <p:cNvSpPr/>
          <p:nvPr/>
        </p:nvSpPr>
        <p:spPr>
          <a:xfrm>
            <a:off x="1097280" y="1737360"/>
            <a:ext cx="9997135" cy="2926080"/>
          </a:xfrm>
          <a:prstGeom prst="rect">
            <a:avLst/>
          </a:prstGeom>
          <a:noFill/>
          <a:ln/>
          <a:effectLst>
            <a:outerShdw sx="100000" sy="100000" kx="0" ky="0" algn="bl" rotWithShape="0" blurRad="76200" dist="25400" dir="16200000">
              <a:srgbClr val="000000">
                <a:alpha val="50000"/>
              </a:srgbClr>
            </a:outerShdw>
          </a:effectLst>
        </p:spPr>
        <p:txBody>
          <a:bodyPr wrap="square" rtlCol="0" anchor="ctr"/>
          <a:lstStyle/>
          <a:p>
            <a:pPr algn="ctr" indent="0" marL="0">
              <a:lnSpc>
                <a:spcPct val="115000"/>
              </a:lnSpc>
              <a:buNone/>
            </a:pPr>
            <a:r>
              <a:rPr lang="en-US" sz="3400" b="1" i="1" dirty="0">
                <a:solidFill>
                  <a:srgbClr val="FFFFFF"/>
                </a:solidFill>
                <a:latin typeface="Georgia" pitchFamily="34" charset="0"/>
                <a:ea typeface="Georgia" pitchFamily="34" charset="-122"/>
                <a:cs typeface="Georgia" pitchFamily="34" charset="-120"/>
              </a:rPr>
              <a:t>Como a percepção de valor dos seus clientes atuais se alinha com os preços que você pratica hoje?</a:t>
            </a:r>
            <a:endParaRPr lang="en-US" sz="3400" dirty="0"/>
          </a:p>
        </p:txBody>
      </p:sp>
      <p:sp>
        <p:nvSpPr>
          <p:cNvPr id="7" name="Shape 4"/>
          <p:cNvSpPr/>
          <p:nvPr/>
        </p:nvSpPr>
        <p:spPr>
          <a:xfrm>
            <a:off x="5638648" y="5029200"/>
            <a:ext cx="914400" cy="50292"/>
          </a:xfrm>
          <a:prstGeom prst="rect">
            <a:avLst/>
          </a:prstGeom>
          <a:solidFill>
            <a:srgbClr val="E8943A"/>
          </a:solidFill>
          <a:ln/>
        </p:spPr>
      </p:sp>
      <p:sp>
        <p:nvSpPr>
          <p:cNvPr id="8" name="Text 5"/>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9" name="Text 6"/>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PRECIFICAÇÃO BASEADA EM VALOR E PERCEPÇÃO DE MERCADO</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Principais Conclusões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5327752" cy="1395984"/>
          </a:xfrm>
          <a:prstGeom prst="roundRect">
            <a:avLst>
              <a:gd name="adj" fmla="val 3930"/>
            </a:avLst>
          </a:prstGeom>
          <a:solidFill>
            <a:srgbClr val="1B212B"/>
          </a:solidFill>
          <a:ln/>
        </p:spPr>
      </p:sp>
      <p:sp>
        <p:nvSpPr>
          <p:cNvPr id="7" name="Text 5"/>
          <p:cNvSpPr/>
          <p:nvPr/>
        </p:nvSpPr>
        <p:spPr>
          <a:xfrm>
            <a:off x="804672"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Valor percebido é subjetivo, não custo de produção</a:t>
            </a:r>
            <a:endParaRPr lang="en-US" sz="1400" dirty="0"/>
          </a:p>
        </p:txBody>
      </p:sp>
      <p:sp>
        <p:nvSpPr>
          <p:cNvPr id="9" name="Shape 7"/>
          <p:cNvSpPr/>
          <p:nvPr/>
        </p:nvSpPr>
        <p:spPr>
          <a:xfrm>
            <a:off x="6223864" y="1426464"/>
            <a:ext cx="5327752" cy="1395984"/>
          </a:xfrm>
          <a:prstGeom prst="roundRect">
            <a:avLst>
              <a:gd name="adj" fmla="val 3930"/>
            </a:avLst>
          </a:prstGeom>
          <a:solidFill>
            <a:srgbClr val="1B212B"/>
          </a:solidFill>
          <a:ln/>
        </p:spPr>
      </p:sp>
      <p:sp>
        <p:nvSpPr>
          <p:cNvPr id="10" name="Text 8"/>
          <p:cNvSpPr/>
          <p:nvPr/>
        </p:nvSpPr>
        <p:spPr>
          <a:xfrm>
            <a:off x="6388456"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6882232"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WTP define o limite de preço que o cliente aceita</a:t>
            </a:r>
            <a:endParaRPr lang="en-US" sz="1400" dirty="0"/>
          </a:p>
        </p:txBody>
      </p:sp>
      <p:sp>
        <p:nvSpPr>
          <p:cNvPr id="12" name="Shape 10"/>
          <p:cNvSpPr/>
          <p:nvPr/>
        </p:nvSpPr>
        <p:spPr>
          <a:xfrm>
            <a:off x="640080" y="3188208"/>
            <a:ext cx="5327752" cy="1395984"/>
          </a:xfrm>
          <a:prstGeom prst="roundRect">
            <a:avLst>
              <a:gd name="adj" fmla="val 3930"/>
            </a:avLst>
          </a:prstGeom>
          <a:solidFill>
            <a:srgbClr val="1B212B"/>
          </a:solidFill>
          <a:ln/>
        </p:spPr>
      </p:sp>
      <p:sp>
        <p:nvSpPr>
          <p:cNvPr id="13" name="Text 11"/>
          <p:cNvSpPr/>
          <p:nvPr/>
        </p:nvSpPr>
        <p:spPr>
          <a:xfrm>
            <a:off x="804672"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298448"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Diferenciação e lealdade vêm do valor entregue</a:t>
            </a:r>
            <a:endParaRPr lang="en-US" sz="1400" dirty="0"/>
          </a:p>
        </p:txBody>
      </p:sp>
      <p:sp>
        <p:nvSpPr>
          <p:cNvPr id="15" name="Shape 13"/>
          <p:cNvSpPr/>
          <p:nvPr/>
        </p:nvSpPr>
        <p:spPr>
          <a:xfrm>
            <a:off x="6223864" y="3188208"/>
            <a:ext cx="5327752" cy="1395984"/>
          </a:xfrm>
          <a:prstGeom prst="roundRect">
            <a:avLst>
              <a:gd name="adj" fmla="val 3930"/>
            </a:avLst>
          </a:prstGeom>
          <a:solidFill>
            <a:srgbClr val="1B212B"/>
          </a:solidFill>
          <a:ln/>
        </p:spPr>
      </p:sp>
      <p:sp>
        <p:nvSpPr>
          <p:cNvPr id="16" name="Text 14"/>
          <p:cNvSpPr/>
          <p:nvPr/>
        </p:nvSpPr>
        <p:spPr>
          <a:xfrm>
            <a:off x="6388456"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6882232"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Estime WTP com pesquisas e análise de mercado</a:t>
            </a:r>
            <a:endParaRPr lang="en-US" sz="1400" dirty="0"/>
          </a:p>
        </p:txBody>
      </p:sp>
      <p:sp>
        <p:nvSpPr>
          <p:cNvPr id="18" name="Shape 16"/>
          <p:cNvSpPr/>
          <p:nvPr/>
        </p:nvSpPr>
        <p:spPr>
          <a:xfrm>
            <a:off x="640080" y="4949952"/>
            <a:ext cx="5327752" cy="1395984"/>
          </a:xfrm>
          <a:prstGeom prst="roundRect">
            <a:avLst>
              <a:gd name="adj" fmla="val 3930"/>
            </a:avLst>
          </a:prstGeom>
          <a:solidFill>
            <a:srgbClr val="1B212B"/>
          </a:solidFill>
          <a:ln/>
        </p:spPr>
      </p:sp>
      <p:sp>
        <p:nvSpPr>
          <p:cNvPr id="19" name="Text 17"/>
          <p:cNvSpPr/>
          <p:nvPr/>
        </p:nvSpPr>
        <p:spPr>
          <a:xfrm>
            <a:off x="804672" y="4949952"/>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1298448" y="4949952"/>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Alinhe preços à percepção de valor do cliente</a:t>
            </a:r>
            <a:endParaRPr lang="en-US" sz="1400" dirty="0"/>
          </a:p>
        </p:txBody>
      </p:sp>
      <p:sp>
        <p:nvSpPr>
          <p:cNvPr id="21" name="Text 19"/>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2" name="Text 20"/>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D1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D13">
              <a:alpha val="72000"/>
            </a:srgbClr>
          </a:solidFill>
          <a:ln/>
        </p:spPr>
      </p:sp>
      <p:sp>
        <p:nvSpPr>
          <p:cNvPr id="4" name="Shape 1"/>
          <p:cNvSpPr/>
          <p:nvPr/>
        </p:nvSpPr>
        <p:spPr>
          <a:xfrm>
            <a:off x="0" y="0"/>
            <a:ext cx="7498080" cy="6858000"/>
          </a:xfrm>
          <a:prstGeom prst="rect">
            <a:avLst/>
          </a:prstGeom>
          <a:solidFill>
            <a:srgbClr val="0A0D13">
              <a:alpha val="94000"/>
            </a:srgbClr>
          </a:solidFill>
          <a:ln/>
        </p:spPr>
      </p:sp>
      <p:sp>
        <p:nvSpPr>
          <p:cNvPr id="5" name="Text 2"/>
          <p:cNvSpPr/>
          <p:nvPr/>
        </p:nvSpPr>
        <p:spPr>
          <a:xfrm>
            <a:off x="640080" y="1280160"/>
            <a:ext cx="6400800" cy="411480"/>
          </a:xfrm>
          <a:prstGeom prst="rect">
            <a:avLst/>
          </a:prstGeom>
          <a:noFill/>
          <a:ln/>
        </p:spPr>
        <p:txBody>
          <a:bodyPr wrap="square" rtlCol="0" anchor="ctr"/>
          <a:lstStyle/>
          <a:p>
            <a:pPr indent="0" marL="0">
              <a:buNone/>
            </a:pPr>
            <a:r>
              <a:rPr lang="en-US" sz="1500" b="1" spc="500" kern="0" dirty="0">
                <a:solidFill>
                  <a:srgbClr val="E8943A"/>
                </a:solidFill>
                <a:latin typeface="Calibri" pitchFamily="34" charset="0"/>
                <a:ea typeface="Calibri" pitchFamily="34" charset="-122"/>
                <a:cs typeface="Calibri" pitchFamily="34" charset="-120"/>
              </a:rPr>
              <a:t>MÓDULO</a:t>
            </a:r>
            <a:endParaRPr lang="en-US" sz="1500" dirty="0"/>
          </a:p>
        </p:txBody>
      </p:sp>
      <p:sp>
        <p:nvSpPr>
          <p:cNvPr id="6" name="Text 3"/>
          <p:cNvSpPr/>
          <p:nvPr/>
        </p:nvSpPr>
        <p:spPr>
          <a:xfrm>
            <a:off x="566928" y="1554480"/>
            <a:ext cx="5486400" cy="2468880"/>
          </a:xfrm>
          <a:prstGeom prst="rect">
            <a:avLst/>
          </a:prstGeom>
          <a:noFill/>
          <a:ln/>
        </p:spPr>
        <p:txBody>
          <a:bodyPr wrap="square" rtlCol="0" anchor="ctr"/>
          <a:lstStyle/>
          <a:p>
            <a:pPr algn="l" indent="0" marL="0">
              <a:buNone/>
            </a:pPr>
            <a:r>
              <a:rPr lang="en-US" sz="20000" b="1" dirty="0">
                <a:solidFill>
                  <a:srgbClr val="E8943A">
                    <a:alpha val="78000"/>
                  </a:srgbClr>
                </a:solidFill>
                <a:latin typeface="Georgia" pitchFamily="34" charset="0"/>
                <a:ea typeface="Georgia" pitchFamily="34" charset="-122"/>
                <a:cs typeface="Georgia" pitchFamily="34" charset="-120"/>
              </a:rPr>
              <a:t>05</a:t>
            </a:r>
            <a:endParaRPr lang="en-US" sz="20000" dirty="0"/>
          </a:p>
        </p:txBody>
      </p:sp>
      <p:sp>
        <p:nvSpPr>
          <p:cNvPr id="7" name="Shape 4"/>
          <p:cNvSpPr/>
          <p:nvPr/>
        </p:nvSpPr>
        <p:spPr>
          <a:xfrm>
            <a:off x="676656" y="4114800"/>
            <a:ext cx="1005840" cy="82296"/>
          </a:xfrm>
          <a:prstGeom prst="rect">
            <a:avLst/>
          </a:prstGeom>
          <a:solidFill>
            <a:srgbClr val="E8943A"/>
          </a:solidFill>
          <a:ln/>
        </p:spPr>
      </p:sp>
      <p:sp>
        <p:nvSpPr>
          <p:cNvPr id="8" name="Text 5"/>
          <p:cNvSpPr/>
          <p:nvPr/>
        </p:nvSpPr>
        <p:spPr>
          <a:xfrm>
            <a:off x="640080" y="4370832"/>
            <a:ext cx="7223760" cy="1920240"/>
          </a:xfrm>
          <a:prstGeom prst="rect">
            <a:avLst/>
          </a:prstGeom>
          <a:noFill/>
          <a:ln/>
        </p:spPr>
        <p:txBody>
          <a:bodyPr wrap="square" rtlCol="0" anchor="t"/>
          <a:lstStyle/>
          <a:p>
            <a:pPr indent="0" marL="0">
              <a:lnSpc>
                <a:spcPct val="102000"/>
              </a:lnSpc>
              <a:buNone/>
            </a:pPr>
            <a:r>
              <a:rPr lang="en-US" sz="4200" b="1" dirty="0">
                <a:solidFill>
                  <a:srgbClr val="FFFFFF"/>
                </a:solidFill>
                <a:latin typeface="Georgia" pitchFamily="34" charset="0"/>
                <a:ea typeface="Georgia" pitchFamily="34" charset="-122"/>
                <a:cs typeface="Georgia" pitchFamily="34" charset="-120"/>
              </a:rPr>
              <a:t>Gestão e Ajustes Estratégicos de Preços</a:t>
            </a:r>
            <a:endParaRPr lang="en-US" sz="4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Objetivos de Aprendizagem do Módulo 5</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822960" y="1783080"/>
            <a:ext cx="4206240" cy="4206240"/>
          </a:xfrm>
          <a:prstGeom prst="pie">
            <a:avLst>
              <a:gd name="adj1" fmla="val 0"/>
              <a:gd name="adj2" fmla="val 4320000"/>
            </a:avLst>
          </a:prstGeom>
          <a:solidFill>
            <a:srgbClr val="D63B3B"/>
          </a:solidFill>
          <a:ln w="31750">
            <a:solidFill>
              <a:srgbClr val="0F1219"/>
            </a:solidFill>
            <a:prstDash val="solid"/>
          </a:ln>
        </p:spPr>
      </p:sp>
      <p:sp>
        <p:nvSpPr>
          <p:cNvPr id="7" name="Shape 5"/>
          <p:cNvSpPr/>
          <p:nvPr/>
        </p:nvSpPr>
        <p:spPr>
          <a:xfrm>
            <a:off x="822960" y="1783080"/>
            <a:ext cx="4206240" cy="4206240"/>
          </a:xfrm>
          <a:prstGeom prst="pie">
            <a:avLst>
              <a:gd name="adj1" fmla="val 4320000"/>
              <a:gd name="adj2" fmla="val 8640000"/>
            </a:avLst>
          </a:prstGeom>
          <a:solidFill>
            <a:srgbClr val="DB513B"/>
          </a:solidFill>
          <a:ln w="31750">
            <a:solidFill>
              <a:srgbClr val="0F1219"/>
            </a:solidFill>
            <a:prstDash val="solid"/>
          </a:ln>
        </p:spPr>
      </p:sp>
      <p:sp>
        <p:nvSpPr>
          <p:cNvPr id="8" name="Shape 6"/>
          <p:cNvSpPr/>
          <p:nvPr/>
        </p:nvSpPr>
        <p:spPr>
          <a:xfrm>
            <a:off x="822960" y="1783080"/>
            <a:ext cx="4206240" cy="4206240"/>
          </a:xfrm>
          <a:prstGeom prst="pie">
            <a:avLst>
              <a:gd name="adj1" fmla="val 8640000"/>
              <a:gd name="adj2" fmla="val 12960000"/>
            </a:avLst>
          </a:prstGeom>
          <a:solidFill>
            <a:srgbClr val="DF683B"/>
          </a:solidFill>
          <a:ln w="31750">
            <a:solidFill>
              <a:srgbClr val="0F1219"/>
            </a:solidFill>
            <a:prstDash val="solid"/>
          </a:ln>
        </p:spPr>
      </p:sp>
      <p:sp>
        <p:nvSpPr>
          <p:cNvPr id="9" name="Shape 7"/>
          <p:cNvSpPr/>
          <p:nvPr/>
        </p:nvSpPr>
        <p:spPr>
          <a:xfrm>
            <a:off x="822960" y="1783080"/>
            <a:ext cx="4206240" cy="4206240"/>
          </a:xfrm>
          <a:prstGeom prst="pie">
            <a:avLst>
              <a:gd name="adj1" fmla="val 12960000"/>
              <a:gd name="adj2" fmla="val 17280000"/>
            </a:avLst>
          </a:prstGeom>
          <a:solidFill>
            <a:srgbClr val="E47E3A"/>
          </a:solidFill>
          <a:ln w="31750">
            <a:solidFill>
              <a:srgbClr val="0F1219"/>
            </a:solidFill>
            <a:prstDash val="solid"/>
          </a:ln>
        </p:spPr>
      </p:sp>
      <p:sp>
        <p:nvSpPr>
          <p:cNvPr id="10" name="Shape 8"/>
          <p:cNvSpPr/>
          <p:nvPr/>
        </p:nvSpPr>
        <p:spPr>
          <a:xfrm>
            <a:off x="822960" y="1783080"/>
            <a:ext cx="4206240" cy="4206240"/>
          </a:xfrm>
          <a:prstGeom prst="pie">
            <a:avLst>
              <a:gd name="adj1" fmla="val 17280000"/>
              <a:gd name="adj2" fmla="val 21600000"/>
            </a:avLst>
          </a:prstGeom>
          <a:solidFill>
            <a:srgbClr val="E8943A"/>
          </a:solidFill>
          <a:ln w="31750">
            <a:solidFill>
              <a:srgbClr val="0F1219"/>
            </a:solidFill>
            <a:prstDash val="solid"/>
          </a:ln>
        </p:spPr>
      </p:sp>
      <p:sp>
        <p:nvSpPr>
          <p:cNvPr id="11" name="Shape 9"/>
          <p:cNvSpPr/>
          <p:nvPr/>
        </p:nvSpPr>
        <p:spPr>
          <a:xfrm>
            <a:off x="1874520" y="2834640"/>
            <a:ext cx="2103120" cy="2103120"/>
          </a:xfrm>
          <a:prstGeom prst="ellipse">
            <a:avLst/>
          </a:prstGeom>
          <a:solidFill>
            <a:srgbClr val="0F1219"/>
          </a:solidFill>
          <a:ln/>
        </p:spPr>
      </p:sp>
      <p:sp>
        <p:nvSpPr>
          <p:cNvPr id="12" name="Text 10"/>
          <p:cNvSpPr/>
          <p:nvPr/>
        </p:nvSpPr>
        <p:spPr>
          <a:xfrm>
            <a:off x="1874520" y="2834640"/>
            <a:ext cx="2103120" cy="2103120"/>
          </a:xfrm>
          <a:prstGeom prst="rect">
            <a:avLst/>
          </a:prstGeom>
          <a:noFill/>
          <a:ln/>
        </p:spPr>
        <p:txBody>
          <a:bodyPr wrap="square" rtlCol="0" anchor="ctr"/>
          <a:lstStyle/>
          <a:p>
            <a:pPr algn="ctr" indent="0" marL="0">
              <a:buNone/>
            </a:pPr>
            <a:r>
              <a:rPr lang="en-US" sz="4000" b="1" dirty="0">
                <a:solidFill>
                  <a:srgbClr val="E8943A"/>
                </a:solidFill>
                <a:latin typeface="Georgia" pitchFamily="34" charset="0"/>
                <a:ea typeface="Georgia" pitchFamily="34" charset="-122"/>
                <a:cs typeface="Georgia" pitchFamily="34" charset="-120"/>
              </a:rPr>
              <a:t>5</a:t>
            </a:r>
            <a:endParaRPr lang="en-US" sz="4000" dirty="0"/>
          </a:p>
        </p:txBody>
      </p:sp>
      <p:sp>
        <p:nvSpPr>
          <p:cNvPr id="13" name="Shape 11"/>
          <p:cNvSpPr/>
          <p:nvPr/>
        </p:nvSpPr>
        <p:spPr>
          <a:xfrm>
            <a:off x="2843784" y="2226564"/>
            <a:ext cx="164592" cy="164592"/>
          </a:xfrm>
          <a:prstGeom prst="ellipse">
            <a:avLst/>
          </a:prstGeom>
          <a:solidFill>
            <a:srgbClr val="0F1219"/>
          </a:solidFill>
          <a:ln/>
        </p:spPr>
      </p:sp>
      <p:sp>
        <p:nvSpPr>
          <p:cNvPr id="14" name="Shape 12"/>
          <p:cNvSpPr/>
          <p:nvPr/>
        </p:nvSpPr>
        <p:spPr>
          <a:xfrm>
            <a:off x="2880360" y="2263140"/>
            <a:ext cx="91440" cy="91440"/>
          </a:xfrm>
          <a:prstGeom prst="ellipse">
            <a:avLst/>
          </a:prstGeom>
          <a:solidFill>
            <a:srgbClr val="E8943A"/>
          </a:solidFill>
          <a:ln/>
        </p:spPr>
      </p:sp>
      <p:sp>
        <p:nvSpPr>
          <p:cNvPr id="15" name="Shape 13"/>
          <p:cNvSpPr/>
          <p:nvPr/>
        </p:nvSpPr>
        <p:spPr>
          <a:xfrm>
            <a:off x="4343923" y="3316479"/>
            <a:ext cx="164592" cy="164592"/>
          </a:xfrm>
          <a:prstGeom prst="ellipse">
            <a:avLst/>
          </a:prstGeom>
          <a:solidFill>
            <a:srgbClr val="0F1219"/>
          </a:solidFill>
          <a:ln/>
        </p:spPr>
      </p:sp>
      <p:sp>
        <p:nvSpPr>
          <p:cNvPr id="16" name="Shape 14"/>
          <p:cNvSpPr/>
          <p:nvPr/>
        </p:nvSpPr>
        <p:spPr>
          <a:xfrm>
            <a:off x="4380499" y="3353055"/>
            <a:ext cx="91440" cy="91440"/>
          </a:xfrm>
          <a:prstGeom prst="ellipse">
            <a:avLst/>
          </a:prstGeom>
          <a:solidFill>
            <a:srgbClr val="E8943A"/>
          </a:solidFill>
          <a:ln/>
        </p:spPr>
      </p:sp>
      <p:sp>
        <p:nvSpPr>
          <p:cNvPr id="17" name="Shape 15"/>
          <p:cNvSpPr/>
          <p:nvPr/>
        </p:nvSpPr>
        <p:spPr>
          <a:xfrm>
            <a:off x="3770921" y="5079999"/>
            <a:ext cx="164592" cy="164592"/>
          </a:xfrm>
          <a:prstGeom prst="ellipse">
            <a:avLst/>
          </a:prstGeom>
          <a:solidFill>
            <a:srgbClr val="0F1219"/>
          </a:solidFill>
          <a:ln/>
        </p:spPr>
      </p:sp>
      <p:sp>
        <p:nvSpPr>
          <p:cNvPr id="18" name="Shape 16"/>
          <p:cNvSpPr/>
          <p:nvPr/>
        </p:nvSpPr>
        <p:spPr>
          <a:xfrm>
            <a:off x="3807497" y="5116575"/>
            <a:ext cx="91440" cy="91440"/>
          </a:xfrm>
          <a:prstGeom prst="ellipse">
            <a:avLst/>
          </a:prstGeom>
          <a:solidFill>
            <a:srgbClr val="E8943A"/>
          </a:solidFill>
          <a:ln/>
        </p:spPr>
      </p:sp>
      <p:sp>
        <p:nvSpPr>
          <p:cNvPr id="19" name="Shape 17"/>
          <p:cNvSpPr/>
          <p:nvPr/>
        </p:nvSpPr>
        <p:spPr>
          <a:xfrm>
            <a:off x="1916647" y="5079999"/>
            <a:ext cx="164592" cy="164592"/>
          </a:xfrm>
          <a:prstGeom prst="ellipse">
            <a:avLst/>
          </a:prstGeom>
          <a:solidFill>
            <a:srgbClr val="0F1219"/>
          </a:solidFill>
          <a:ln/>
        </p:spPr>
      </p:sp>
      <p:sp>
        <p:nvSpPr>
          <p:cNvPr id="20" name="Shape 18"/>
          <p:cNvSpPr/>
          <p:nvPr/>
        </p:nvSpPr>
        <p:spPr>
          <a:xfrm>
            <a:off x="1953223" y="5116575"/>
            <a:ext cx="91440" cy="91440"/>
          </a:xfrm>
          <a:prstGeom prst="ellipse">
            <a:avLst/>
          </a:prstGeom>
          <a:solidFill>
            <a:srgbClr val="E8943A"/>
          </a:solidFill>
          <a:ln/>
        </p:spPr>
      </p:sp>
      <p:sp>
        <p:nvSpPr>
          <p:cNvPr id="21" name="Shape 19"/>
          <p:cNvSpPr/>
          <p:nvPr/>
        </p:nvSpPr>
        <p:spPr>
          <a:xfrm>
            <a:off x="1343645" y="3316479"/>
            <a:ext cx="164592" cy="164592"/>
          </a:xfrm>
          <a:prstGeom prst="ellipse">
            <a:avLst/>
          </a:prstGeom>
          <a:solidFill>
            <a:srgbClr val="0F1219"/>
          </a:solidFill>
          <a:ln/>
        </p:spPr>
      </p:sp>
      <p:sp>
        <p:nvSpPr>
          <p:cNvPr id="22" name="Shape 20"/>
          <p:cNvSpPr/>
          <p:nvPr/>
        </p:nvSpPr>
        <p:spPr>
          <a:xfrm>
            <a:off x="1380221" y="3353055"/>
            <a:ext cx="91440" cy="91440"/>
          </a:xfrm>
          <a:prstGeom prst="ellipse">
            <a:avLst/>
          </a:prstGeom>
          <a:solidFill>
            <a:srgbClr val="E8943A"/>
          </a:solidFill>
          <a:ln/>
        </p:spPr>
      </p:sp>
      <p:sp>
        <p:nvSpPr>
          <p:cNvPr id="23" name="Shape 21"/>
          <p:cNvSpPr/>
          <p:nvPr/>
        </p:nvSpPr>
        <p:spPr>
          <a:xfrm>
            <a:off x="5532120" y="1728216"/>
            <a:ext cx="292608" cy="292608"/>
          </a:xfrm>
          <a:prstGeom prst="ellipse">
            <a:avLst/>
          </a:prstGeom>
          <a:solidFill>
            <a:srgbClr val="D63B3B"/>
          </a:solidFill>
          <a:ln/>
        </p:spPr>
      </p:sp>
      <p:sp>
        <p:nvSpPr>
          <p:cNvPr id="24" name="Text 22"/>
          <p:cNvSpPr/>
          <p:nvPr/>
        </p:nvSpPr>
        <p:spPr>
          <a:xfrm>
            <a:off x="5989320" y="1371600"/>
            <a:ext cx="5562295" cy="1005840"/>
          </a:xfrm>
          <a:prstGeom prst="rect">
            <a:avLst/>
          </a:prstGeom>
          <a:noFill/>
          <a:ln/>
        </p:spPr>
        <p:txBody>
          <a:bodyPr wrap="square" rtlCol="0" anchor="ctr"/>
          <a:lstStyle/>
          <a:p>
            <a:pPr indent="0" marL="0">
              <a:lnSpc>
                <a:spcPct val="102000"/>
              </a:lnSpc>
              <a:buNone/>
            </a:pPr>
            <a:r>
              <a:rPr lang="en-US" sz="1300" dirty="0">
                <a:solidFill>
                  <a:srgbClr val="A8B4C2"/>
                </a:solidFill>
                <a:latin typeface="Calibri" pitchFamily="34" charset="0"/>
                <a:ea typeface="Calibri" pitchFamily="34" charset="-122"/>
                <a:cs typeface="Calibri" pitchFamily="34" charset="-120"/>
              </a:rPr>
              <a:t>Compreender a precificação como processo contínuo.</a:t>
            </a:r>
            <a:endParaRPr lang="en-US" sz="1300" dirty="0"/>
          </a:p>
        </p:txBody>
      </p:sp>
      <p:sp>
        <p:nvSpPr>
          <p:cNvPr id="25" name="Shape 23"/>
          <p:cNvSpPr/>
          <p:nvPr/>
        </p:nvSpPr>
        <p:spPr>
          <a:xfrm>
            <a:off x="5532120" y="2734056"/>
            <a:ext cx="292608" cy="292608"/>
          </a:xfrm>
          <a:prstGeom prst="ellipse">
            <a:avLst/>
          </a:prstGeom>
          <a:solidFill>
            <a:srgbClr val="DB513B"/>
          </a:solidFill>
          <a:ln/>
        </p:spPr>
      </p:sp>
      <p:sp>
        <p:nvSpPr>
          <p:cNvPr id="26" name="Text 24"/>
          <p:cNvSpPr/>
          <p:nvPr/>
        </p:nvSpPr>
        <p:spPr>
          <a:xfrm>
            <a:off x="5989320" y="2377440"/>
            <a:ext cx="5562295" cy="1005840"/>
          </a:xfrm>
          <a:prstGeom prst="rect">
            <a:avLst/>
          </a:prstGeom>
          <a:noFill/>
          <a:ln/>
        </p:spPr>
        <p:txBody>
          <a:bodyPr wrap="square" rtlCol="0" anchor="ctr"/>
          <a:lstStyle/>
          <a:p>
            <a:pPr indent="0" marL="0">
              <a:lnSpc>
                <a:spcPct val="102000"/>
              </a:lnSpc>
              <a:buNone/>
            </a:pPr>
            <a:r>
              <a:rPr lang="en-US" sz="1300" dirty="0">
                <a:solidFill>
                  <a:srgbClr val="A8B4C2"/>
                </a:solidFill>
                <a:latin typeface="Calibri" pitchFamily="34" charset="0"/>
                <a:ea typeface="Calibri" pitchFamily="34" charset="-122"/>
                <a:cs typeface="Calibri" pitchFamily="34" charset="-120"/>
              </a:rPr>
              <a:t>Aplicar precificação dinâmica em pequenos negócios.</a:t>
            </a:r>
            <a:endParaRPr lang="en-US" sz="1300" dirty="0"/>
          </a:p>
        </p:txBody>
      </p:sp>
      <p:sp>
        <p:nvSpPr>
          <p:cNvPr id="27" name="Shape 25"/>
          <p:cNvSpPr/>
          <p:nvPr/>
        </p:nvSpPr>
        <p:spPr>
          <a:xfrm>
            <a:off x="5532120" y="3739896"/>
            <a:ext cx="292608" cy="292608"/>
          </a:xfrm>
          <a:prstGeom prst="ellipse">
            <a:avLst/>
          </a:prstGeom>
          <a:solidFill>
            <a:srgbClr val="DF683B"/>
          </a:solidFill>
          <a:ln/>
        </p:spPr>
      </p:sp>
      <p:sp>
        <p:nvSpPr>
          <p:cNvPr id="28" name="Text 26"/>
          <p:cNvSpPr/>
          <p:nvPr/>
        </p:nvSpPr>
        <p:spPr>
          <a:xfrm>
            <a:off x="5989320" y="3383280"/>
            <a:ext cx="5562295" cy="1005840"/>
          </a:xfrm>
          <a:prstGeom prst="rect">
            <a:avLst/>
          </a:prstGeom>
          <a:noFill/>
          <a:ln/>
        </p:spPr>
        <p:txBody>
          <a:bodyPr wrap="square" rtlCol="0" anchor="ctr"/>
          <a:lstStyle/>
          <a:p>
            <a:pPr indent="0" marL="0">
              <a:lnSpc>
                <a:spcPct val="102000"/>
              </a:lnSpc>
              <a:buNone/>
            </a:pPr>
            <a:r>
              <a:rPr lang="en-US" sz="1300" dirty="0">
                <a:solidFill>
                  <a:srgbClr val="A8B4C2"/>
                </a:solidFill>
                <a:latin typeface="Calibri" pitchFamily="34" charset="0"/>
                <a:ea typeface="Calibri" pitchFamily="34" charset="-122"/>
                <a:cs typeface="Calibri" pitchFamily="34" charset="-120"/>
              </a:rPr>
              <a:t>Desenvolver estratégias de promoções e descontos.</a:t>
            </a:r>
            <a:endParaRPr lang="en-US" sz="1300" dirty="0"/>
          </a:p>
        </p:txBody>
      </p:sp>
      <p:sp>
        <p:nvSpPr>
          <p:cNvPr id="29" name="Shape 27"/>
          <p:cNvSpPr/>
          <p:nvPr/>
        </p:nvSpPr>
        <p:spPr>
          <a:xfrm>
            <a:off x="5532120" y="4745736"/>
            <a:ext cx="292608" cy="292608"/>
          </a:xfrm>
          <a:prstGeom prst="ellipse">
            <a:avLst/>
          </a:prstGeom>
          <a:solidFill>
            <a:srgbClr val="E47E3A"/>
          </a:solidFill>
          <a:ln/>
        </p:spPr>
      </p:sp>
      <p:sp>
        <p:nvSpPr>
          <p:cNvPr id="30" name="Text 28"/>
          <p:cNvSpPr/>
          <p:nvPr/>
        </p:nvSpPr>
        <p:spPr>
          <a:xfrm>
            <a:off x="5989320" y="4389120"/>
            <a:ext cx="5562295" cy="1005840"/>
          </a:xfrm>
          <a:prstGeom prst="rect">
            <a:avLst/>
          </a:prstGeom>
          <a:noFill/>
          <a:ln/>
        </p:spPr>
        <p:txBody>
          <a:bodyPr wrap="square" rtlCol="0" anchor="ctr"/>
          <a:lstStyle/>
          <a:p>
            <a:pPr indent="0" marL="0">
              <a:lnSpc>
                <a:spcPct val="102000"/>
              </a:lnSpc>
              <a:buNone/>
            </a:pPr>
            <a:r>
              <a:rPr lang="en-US" sz="1300" dirty="0">
                <a:solidFill>
                  <a:srgbClr val="A8B4C2"/>
                </a:solidFill>
                <a:latin typeface="Calibri" pitchFamily="34" charset="0"/>
                <a:ea typeface="Calibri" pitchFamily="34" charset="-122"/>
                <a:cs typeface="Calibri" pitchFamily="34" charset="-120"/>
              </a:rPr>
              <a:t>Monitorar métricas de desempenho de preços.</a:t>
            </a:r>
            <a:endParaRPr lang="en-US" sz="1300" dirty="0"/>
          </a:p>
        </p:txBody>
      </p:sp>
      <p:sp>
        <p:nvSpPr>
          <p:cNvPr id="31" name="Shape 29"/>
          <p:cNvSpPr/>
          <p:nvPr/>
        </p:nvSpPr>
        <p:spPr>
          <a:xfrm>
            <a:off x="5532120" y="5751576"/>
            <a:ext cx="292608" cy="292608"/>
          </a:xfrm>
          <a:prstGeom prst="ellipse">
            <a:avLst/>
          </a:prstGeom>
          <a:solidFill>
            <a:srgbClr val="E8943A"/>
          </a:solidFill>
          <a:ln/>
        </p:spPr>
      </p:sp>
      <p:sp>
        <p:nvSpPr>
          <p:cNvPr id="32" name="Text 30"/>
          <p:cNvSpPr/>
          <p:nvPr/>
        </p:nvSpPr>
        <p:spPr>
          <a:xfrm>
            <a:off x="5989320" y="5394960"/>
            <a:ext cx="5562295" cy="1005840"/>
          </a:xfrm>
          <a:prstGeom prst="rect">
            <a:avLst/>
          </a:prstGeom>
          <a:noFill/>
          <a:ln/>
        </p:spPr>
        <p:txBody>
          <a:bodyPr wrap="square" rtlCol="0" anchor="ctr"/>
          <a:lstStyle/>
          <a:p>
            <a:pPr indent="0" marL="0">
              <a:lnSpc>
                <a:spcPct val="102000"/>
              </a:lnSpc>
              <a:buNone/>
            </a:pPr>
            <a:r>
              <a:rPr lang="en-US" sz="1300" dirty="0">
                <a:solidFill>
                  <a:srgbClr val="A8B4C2"/>
                </a:solidFill>
                <a:latin typeface="Calibri" pitchFamily="34" charset="0"/>
                <a:ea typeface="Calibri" pitchFamily="34" charset="-122"/>
                <a:cs typeface="Calibri" pitchFamily="34" charset="-120"/>
              </a:rPr>
              <a:t>Realizar ajustes estratégicos em resposta a mudanças.</a:t>
            </a:r>
            <a:endParaRPr lang="en-US" sz="1300" dirty="0"/>
          </a:p>
        </p:txBody>
      </p:sp>
      <p:sp>
        <p:nvSpPr>
          <p:cNvPr id="33" name="Text 31"/>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34" name="Text 32"/>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121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3154680"/>
          </a:xfrm>
          <a:prstGeom prst="rect">
            <a:avLst/>
          </a:prstGeom>
          <a:effectLst>
            <a:outerShdw sx="100000" sy="100000" kx="0" ky="0" algn="bl" rotWithShape="0" blurRad="114300" dist="38100" dir="5400000">
              <a:srgbClr val="000000">
                <a:alpha val="22000"/>
              </a:srgbClr>
            </a:outerShdw>
          </a:effectLst>
        </p:spPr>
      </p:pic>
      <p:sp>
        <p:nvSpPr>
          <p:cNvPr id="3" name="Shape 0"/>
          <p:cNvSpPr/>
          <p:nvPr/>
        </p:nvSpPr>
        <p:spPr>
          <a:xfrm>
            <a:off x="0" y="2651760"/>
            <a:ext cx="12191695" cy="502920"/>
          </a:xfrm>
          <a:prstGeom prst="rect">
            <a:avLst/>
          </a:prstGeom>
          <a:solidFill>
            <a:srgbClr val="0F1219">
              <a:alpha val="65000"/>
            </a:srgbClr>
          </a:solidFill>
          <a:ln/>
        </p:spPr>
      </p:sp>
      <p:sp>
        <p:nvSpPr>
          <p:cNvPr id="4" name="Shape 1"/>
          <p:cNvSpPr/>
          <p:nvPr/>
        </p:nvSpPr>
        <p:spPr>
          <a:xfrm>
            <a:off x="640080" y="3364992"/>
            <a:ext cx="64008" cy="384048"/>
          </a:xfrm>
          <a:prstGeom prst="rect">
            <a:avLst/>
          </a:prstGeom>
          <a:solidFill>
            <a:srgbClr val="E8943A"/>
          </a:solidFill>
          <a:ln/>
        </p:spPr>
      </p:sp>
      <p:sp>
        <p:nvSpPr>
          <p:cNvPr id="5" name="Text 2"/>
          <p:cNvSpPr/>
          <p:nvPr/>
        </p:nvSpPr>
        <p:spPr>
          <a:xfrm>
            <a:off x="804672" y="3319272"/>
            <a:ext cx="10746943" cy="274320"/>
          </a:xfrm>
          <a:prstGeom prst="rect">
            <a:avLst/>
          </a:prstGeom>
          <a:noFill/>
          <a:ln/>
        </p:spPr>
        <p:txBody>
          <a:bodyPr wrap="square" rtlCol="0" anchor="ctr"/>
          <a:lstStyle/>
          <a:p>
            <a:pPr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6" name="Text 3"/>
          <p:cNvSpPr/>
          <p:nvPr/>
        </p:nvSpPr>
        <p:spPr>
          <a:xfrm>
            <a:off x="804672" y="3611880"/>
            <a:ext cx="10746943" cy="658368"/>
          </a:xfrm>
          <a:prstGeom prst="rect">
            <a:avLst/>
          </a:prstGeom>
          <a:noFill/>
          <a:ln/>
        </p:spPr>
        <p:txBody>
          <a:bodyPr wrap="square" rtlCol="0" anchor="t"/>
          <a:lstStyle/>
          <a:p>
            <a:pPr indent="0" marL="0">
              <a:lnSpc>
                <a:spcPct val="102000"/>
              </a:lnSpc>
              <a:buNone/>
            </a:pPr>
            <a:r>
              <a:rPr lang="en-US" sz="2600" b="1" dirty="0">
                <a:solidFill>
                  <a:srgbClr val="F0F4F8"/>
                </a:solidFill>
                <a:latin typeface="Georgia" pitchFamily="34" charset="0"/>
                <a:ea typeface="Georgia" pitchFamily="34" charset="-122"/>
                <a:cs typeface="Georgia" pitchFamily="34" charset="-120"/>
              </a:rPr>
              <a:t>Precificação: Um Processo Contínuo e Estratégico</a:t>
            </a:r>
            <a:endParaRPr lang="en-US" sz="2600" dirty="0"/>
          </a:p>
        </p:txBody>
      </p:sp>
      <p:sp>
        <p:nvSpPr>
          <p:cNvPr id="7" name="Shape 4"/>
          <p:cNvSpPr/>
          <p:nvPr/>
        </p:nvSpPr>
        <p:spPr>
          <a:xfrm>
            <a:off x="640080" y="4545711"/>
            <a:ext cx="128016" cy="128016"/>
          </a:xfrm>
          <a:prstGeom prst="rect">
            <a:avLst/>
          </a:prstGeom>
          <a:solidFill>
            <a:srgbClr val="E8943A"/>
          </a:solidFill>
          <a:ln/>
        </p:spPr>
      </p:sp>
      <p:sp>
        <p:nvSpPr>
          <p:cNvPr id="8" name="Text 5"/>
          <p:cNvSpPr/>
          <p:nvPr/>
        </p:nvSpPr>
        <p:spPr>
          <a:xfrm>
            <a:off x="932688" y="4343400"/>
            <a:ext cx="10454335" cy="514350"/>
          </a:xfrm>
          <a:prstGeom prst="rect">
            <a:avLst/>
          </a:prstGeom>
          <a:noFill/>
          <a:ln/>
        </p:spPr>
        <p:txBody>
          <a:bodyPr wrap="square" rtlCol="0" anchor="ctr"/>
          <a:lstStyle/>
          <a:p>
            <a:pPr indent="0" marL="0">
              <a:lnSpc>
                <a:spcPct val="102000"/>
              </a:lnSpc>
              <a:buNone/>
            </a:pPr>
            <a:r>
              <a:rPr lang="en-US" sz="1400" dirty="0">
                <a:solidFill>
                  <a:srgbClr val="F0F4F8"/>
                </a:solidFill>
                <a:latin typeface="Calibri" pitchFamily="34" charset="0"/>
                <a:ea typeface="Calibri" pitchFamily="34" charset="-122"/>
                <a:cs typeface="Calibri" pitchFamily="34" charset="-120"/>
              </a:rPr>
              <a:t>Não é um evento isolado, mas processo dinâmico.</a:t>
            </a:r>
            <a:endParaRPr lang="en-US" sz="1400" dirty="0"/>
          </a:p>
        </p:txBody>
      </p:sp>
      <p:sp>
        <p:nvSpPr>
          <p:cNvPr id="9" name="Shape 6"/>
          <p:cNvSpPr/>
          <p:nvPr/>
        </p:nvSpPr>
        <p:spPr>
          <a:xfrm>
            <a:off x="640080" y="5060061"/>
            <a:ext cx="128016" cy="128016"/>
          </a:xfrm>
          <a:prstGeom prst="rect">
            <a:avLst/>
          </a:prstGeom>
          <a:solidFill>
            <a:srgbClr val="E8943A"/>
          </a:solidFill>
          <a:ln/>
        </p:spPr>
      </p:sp>
      <p:sp>
        <p:nvSpPr>
          <p:cNvPr id="10" name="Text 7"/>
          <p:cNvSpPr/>
          <p:nvPr/>
        </p:nvSpPr>
        <p:spPr>
          <a:xfrm>
            <a:off x="932688" y="4857750"/>
            <a:ext cx="10454335" cy="514350"/>
          </a:xfrm>
          <a:prstGeom prst="rect">
            <a:avLst/>
          </a:prstGeom>
          <a:noFill/>
          <a:ln/>
        </p:spPr>
        <p:txBody>
          <a:bodyPr wrap="square" rtlCol="0" anchor="ctr"/>
          <a:lstStyle/>
          <a:p>
            <a:pPr indent="0" marL="0">
              <a:lnSpc>
                <a:spcPct val="102000"/>
              </a:lnSpc>
              <a:buNone/>
            </a:pPr>
            <a:r>
              <a:rPr lang="en-US" sz="1400" dirty="0">
                <a:solidFill>
                  <a:srgbClr val="F0F4F8"/>
                </a:solidFill>
                <a:latin typeface="Calibri" pitchFamily="34" charset="0"/>
                <a:ea typeface="Calibri" pitchFamily="34" charset="-122"/>
                <a:cs typeface="Calibri" pitchFamily="34" charset="-120"/>
              </a:rPr>
              <a:t>Pilar fundamental para a saúde financeira do negócio.</a:t>
            </a:r>
            <a:endParaRPr lang="en-US" sz="1400" dirty="0"/>
          </a:p>
        </p:txBody>
      </p:sp>
      <p:sp>
        <p:nvSpPr>
          <p:cNvPr id="11" name="Shape 8"/>
          <p:cNvSpPr/>
          <p:nvPr/>
        </p:nvSpPr>
        <p:spPr>
          <a:xfrm>
            <a:off x="640080" y="5574411"/>
            <a:ext cx="128016" cy="128016"/>
          </a:xfrm>
          <a:prstGeom prst="rect">
            <a:avLst/>
          </a:prstGeom>
          <a:solidFill>
            <a:srgbClr val="E8943A"/>
          </a:solidFill>
          <a:ln/>
        </p:spPr>
      </p:sp>
      <p:sp>
        <p:nvSpPr>
          <p:cNvPr id="12" name="Text 9"/>
          <p:cNvSpPr/>
          <p:nvPr/>
        </p:nvSpPr>
        <p:spPr>
          <a:xfrm>
            <a:off x="932688" y="5372100"/>
            <a:ext cx="10454335" cy="514350"/>
          </a:xfrm>
          <a:prstGeom prst="rect">
            <a:avLst/>
          </a:prstGeom>
          <a:noFill/>
          <a:ln/>
        </p:spPr>
        <p:txBody>
          <a:bodyPr wrap="square" rtlCol="0" anchor="ctr"/>
          <a:lstStyle/>
          <a:p>
            <a:pPr indent="0" marL="0">
              <a:lnSpc>
                <a:spcPct val="102000"/>
              </a:lnSpc>
              <a:buNone/>
            </a:pPr>
            <a:r>
              <a:rPr lang="en-US" sz="1400" dirty="0">
                <a:solidFill>
                  <a:srgbClr val="F0F4F8"/>
                </a:solidFill>
                <a:latin typeface="Calibri" pitchFamily="34" charset="0"/>
                <a:ea typeface="Calibri" pitchFamily="34" charset="-122"/>
                <a:cs typeface="Calibri" pitchFamily="34" charset="-120"/>
              </a:rPr>
              <a:t>Exige gestão, monitoramento e ajustes constantes.</a:t>
            </a:r>
            <a:endParaRPr lang="en-US" sz="1400" dirty="0"/>
          </a:p>
        </p:txBody>
      </p:sp>
      <p:sp>
        <p:nvSpPr>
          <p:cNvPr id="13" name="Shape 10"/>
          <p:cNvSpPr/>
          <p:nvPr/>
        </p:nvSpPr>
        <p:spPr>
          <a:xfrm>
            <a:off x="640080" y="6088761"/>
            <a:ext cx="128016" cy="128016"/>
          </a:xfrm>
          <a:prstGeom prst="rect">
            <a:avLst/>
          </a:prstGeom>
          <a:solidFill>
            <a:srgbClr val="E8943A"/>
          </a:solidFill>
          <a:ln/>
        </p:spPr>
      </p:sp>
      <p:sp>
        <p:nvSpPr>
          <p:cNvPr id="14" name="Text 11"/>
          <p:cNvSpPr/>
          <p:nvPr/>
        </p:nvSpPr>
        <p:spPr>
          <a:xfrm>
            <a:off x="932688" y="5886450"/>
            <a:ext cx="10454335" cy="514350"/>
          </a:xfrm>
          <a:prstGeom prst="rect">
            <a:avLst/>
          </a:prstGeom>
          <a:noFill/>
          <a:ln/>
        </p:spPr>
        <p:txBody>
          <a:bodyPr wrap="square" rtlCol="0" anchor="ctr"/>
          <a:lstStyle/>
          <a:p>
            <a:pPr indent="0" marL="0">
              <a:lnSpc>
                <a:spcPct val="102000"/>
              </a:lnSpc>
              <a:buNone/>
            </a:pPr>
            <a:r>
              <a:rPr lang="en-US" sz="1400" dirty="0">
                <a:solidFill>
                  <a:srgbClr val="F0F4F8"/>
                </a:solidFill>
                <a:latin typeface="Calibri" pitchFamily="34" charset="0"/>
                <a:ea typeface="Calibri" pitchFamily="34" charset="-122"/>
                <a:cs typeface="Calibri" pitchFamily="34" charset="-120"/>
              </a:rPr>
              <a:t>Garanta competitividade e otimização de margens.</a:t>
            </a:r>
            <a:endParaRPr lang="en-US" sz="1400" dirty="0"/>
          </a:p>
        </p:txBody>
      </p:sp>
      <p:sp>
        <p:nvSpPr>
          <p:cNvPr id="15" name="Text 12"/>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16" name="Text 13"/>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Fatores que Exigem Gestão Contínua de Preços</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2148840"/>
            <a:ext cx="5318608" cy="1600200"/>
          </a:xfrm>
          <a:prstGeom prst="roundRect">
            <a:avLst>
              <a:gd name="adj" fmla="val 4571"/>
            </a:avLst>
          </a:prstGeom>
          <a:solidFill>
            <a:srgbClr val="1B212B"/>
          </a:solidFill>
          <a:ln w="12700">
            <a:solidFill>
              <a:srgbClr val="2C333E"/>
            </a:solidFill>
            <a:prstDash val="solid"/>
          </a:ln>
        </p:spPr>
      </p:sp>
      <p:sp>
        <p:nvSpPr>
          <p:cNvPr id="7" name="Shape 5"/>
          <p:cNvSpPr/>
          <p:nvPr/>
        </p:nvSpPr>
        <p:spPr>
          <a:xfrm>
            <a:off x="640080" y="2148840"/>
            <a:ext cx="5318608" cy="73152"/>
          </a:xfrm>
          <a:prstGeom prst="rect">
            <a:avLst/>
          </a:prstGeom>
          <a:solidFill>
            <a:srgbClr val="E8943A"/>
          </a:solidFill>
          <a:ln/>
        </p:spPr>
      </p:sp>
      <p:sp>
        <p:nvSpPr>
          <p:cNvPr id="8" name="Text 6"/>
          <p:cNvSpPr/>
          <p:nvPr/>
        </p:nvSpPr>
        <p:spPr>
          <a:xfrm>
            <a:off x="868680" y="233172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01</a:t>
            </a:r>
            <a:endParaRPr lang="en-US" sz="1800" dirty="0"/>
          </a:p>
        </p:txBody>
      </p:sp>
      <p:sp>
        <p:nvSpPr>
          <p:cNvPr id="9" name="Text 7"/>
          <p:cNvSpPr/>
          <p:nvPr/>
        </p:nvSpPr>
        <p:spPr>
          <a:xfrm>
            <a:off x="868680" y="269748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Mercado Dinâmico</a:t>
            </a:r>
            <a:endParaRPr lang="en-US" sz="1500" dirty="0"/>
          </a:p>
        </p:txBody>
      </p:sp>
      <p:sp>
        <p:nvSpPr>
          <p:cNvPr id="10" name="Text 8"/>
          <p:cNvSpPr/>
          <p:nvPr/>
        </p:nvSpPr>
        <p:spPr>
          <a:xfrm>
            <a:off x="868680" y="330098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Demanda, tendências e economia mudam.</a:t>
            </a:r>
            <a:endParaRPr lang="en-US" sz="1200" dirty="0"/>
          </a:p>
        </p:txBody>
      </p:sp>
      <p:sp>
        <p:nvSpPr>
          <p:cNvPr id="11" name="Shape 9"/>
          <p:cNvSpPr/>
          <p:nvPr/>
        </p:nvSpPr>
        <p:spPr>
          <a:xfrm>
            <a:off x="6233008" y="2148840"/>
            <a:ext cx="5318608" cy="1600200"/>
          </a:xfrm>
          <a:prstGeom prst="roundRect">
            <a:avLst>
              <a:gd name="adj" fmla="val 4571"/>
            </a:avLst>
          </a:prstGeom>
          <a:solidFill>
            <a:srgbClr val="1B212B"/>
          </a:solidFill>
          <a:ln w="12700">
            <a:solidFill>
              <a:srgbClr val="2C333E"/>
            </a:solidFill>
            <a:prstDash val="solid"/>
          </a:ln>
        </p:spPr>
      </p:sp>
      <p:sp>
        <p:nvSpPr>
          <p:cNvPr id="12" name="Shape 10"/>
          <p:cNvSpPr/>
          <p:nvPr/>
        </p:nvSpPr>
        <p:spPr>
          <a:xfrm>
            <a:off x="6233008" y="2148840"/>
            <a:ext cx="5318608" cy="73152"/>
          </a:xfrm>
          <a:prstGeom prst="rect">
            <a:avLst/>
          </a:prstGeom>
          <a:solidFill>
            <a:srgbClr val="E8943A"/>
          </a:solidFill>
          <a:ln/>
        </p:spPr>
      </p:sp>
      <p:sp>
        <p:nvSpPr>
          <p:cNvPr id="13" name="Text 11"/>
          <p:cNvSpPr/>
          <p:nvPr/>
        </p:nvSpPr>
        <p:spPr>
          <a:xfrm>
            <a:off x="6461608" y="233172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02</a:t>
            </a:r>
            <a:endParaRPr lang="en-US" sz="1800" dirty="0"/>
          </a:p>
        </p:txBody>
      </p:sp>
      <p:sp>
        <p:nvSpPr>
          <p:cNvPr id="14" name="Text 12"/>
          <p:cNvSpPr/>
          <p:nvPr/>
        </p:nvSpPr>
        <p:spPr>
          <a:xfrm>
            <a:off x="6461608" y="269748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Concorrência Ativa</a:t>
            </a:r>
            <a:endParaRPr lang="en-US" sz="1500" dirty="0"/>
          </a:p>
        </p:txBody>
      </p:sp>
      <p:sp>
        <p:nvSpPr>
          <p:cNvPr id="15" name="Text 13"/>
          <p:cNvSpPr/>
          <p:nvPr/>
        </p:nvSpPr>
        <p:spPr>
          <a:xfrm>
            <a:off x="6461608" y="330098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Novos players, ajustes de preços e valor.</a:t>
            </a:r>
            <a:endParaRPr lang="en-US" sz="1200" dirty="0"/>
          </a:p>
        </p:txBody>
      </p:sp>
      <p:sp>
        <p:nvSpPr>
          <p:cNvPr id="16" name="Shape 14"/>
          <p:cNvSpPr/>
          <p:nvPr/>
        </p:nvSpPr>
        <p:spPr>
          <a:xfrm>
            <a:off x="640080" y="4023360"/>
            <a:ext cx="5318608" cy="1600200"/>
          </a:xfrm>
          <a:prstGeom prst="roundRect">
            <a:avLst>
              <a:gd name="adj" fmla="val 4571"/>
            </a:avLst>
          </a:prstGeom>
          <a:solidFill>
            <a:srgbClr val="1B212B"/>
          </a:solidFill>
          <a:ln w="12700">
            <a:solidFill>
              <a:srgbClr val="2C333E"/>
            </a:solidFill>
            <a:prstDash val="solid"/>
          </a:ln>
        </p:spPr>
      </p:sp>
      <p:sp>
        <p:nvSpPr>
          <p:cNvPr id="17" name="Shape 15"/>
          <p:cNvSpPr/>
          <p:nvPr/>
        </p:nvSpPr>
        <p:spPr>
          <a:xfrm>
            <a:off x="640080" y="4023360"/>
            <a:ext cx="5318608" cy="73152"/>
          </a:xfrm>
          <a:prstGeom prst="rect">
            <a:avLst/>
          </a:prstGeom>
          <a:solidFill>
            <a:srgbClr val="E8943A"/>
          </a:solidFill>
          <a:ln/>
        </p:spPr>
      </p:sp>
      <p:sp>
        <p:nvSpPr>
          <p:cNvPr id="18" name="Text 16"/>
          <p:cNvSpPr/>
          <p:nvPr/>
        </p:nvSpPr>
        <p:spPr>
          <a:xfrm>
            <a:off x="868680" y="420624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03</a:t>
            </a:r>
            <a:endParaRPr lang="en-US" sz="1800" dirty="0"/>
          </a:p>
        </p:txBody>
      </p:sp>
      <p:sp>
        <p:nvSpPr>
          <p:cNvPr id="19" name="Text 17"/>
          <p:cNvSpPr/>
          <p:nvPr/>
        </p:nvSpPr>
        <p:spPr>
          <a:xfrm>
            <a:off x="868680" y="457200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Custos Variáveis</a:t>
            </a:r>
            <a:endParaRPr lang="en-US" sz="1500" dirty="0"/>
          </a:p>
        </p:txBody>
      </p:sp>
      <p:sp>
        <p:nvSpPr>
          <p:cNvPr id="20" name="Text 18"/>
          <p:cNvSpPr/>
          <p:nvPr/>
        </p:nvSpPr>
        <p:spPr>
          <a:xfrm>
            <a:off x="868680" y="517550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Matéria-prima, frete e impostos flutuam.</a:t>
            </a:r>
            <a:endParaRPr lang="en-US" sz="1200" dirty="0"/>
          </a:p>
        </p:txBody>
      </p:sp>
      <p:sp>
        <p:nvSpPr>
          <p:cNvPr id="21" name="Shape 19"/>
          <p:cNvSpPr/>
          <p:nvPr/>
        </p:nvSpPr>
        <p:spPr>
          <a:xfrm>
            <a:off x="6233008" y="4023360"/>
            <a:ext cx="5318608" cy="1600200"/>
          </a:xfrm>
          <a:prstGeom prst="roundRect">
            <a:avLst>
              <a:gd name="adj" fmla="val 4571"/>
            </a:avLst>
          </a:prstGeom>
          <a:solidFill>
            <a:srgbClr val="1B212B"/>
          </a:solidFill>
          <a:ln w="12700">
            <a:solidFill>
              <a:srgbClr val="2C333E"/>
            </a:solidFill>
            <a:prstDash val="solid"/>
          </a:ln>
        </p:spPr>
      </p:sp>
      <p:sp>
        <p:nvSpPr>
          <p:cNvPr id="22" name="Shape 20"/>
          <p:cNvSpPr/>
          <p:nvPr/>
        </p:nvSpPr>
        <p:spPr>
          <a:xfrm>
            <a:off x="6233008" y="4023360"/>
            <a:ext cx="5318608" cy="73152"/>
          </a:xfrm>
          <a:prstGeom prst="rect">
            <a:avLst/>
          </a:prstGeom>
          <a:solidFill>
            <a:srgbClr val="E8943A"/>
          </a:solidFill>
          <a:ln/>
        </p:spPr>
      </p:sp>
      <p:sp>
        <p:nvSpPr>
          <p:cNvPr id="23" name="Text 21"/>
          <p:cNvSpPr/>
          <p:nvPr/>
        </p:nvSpPr>
        <p:spPr>
          <a:xfrm>
            <a:off x="6461608" y="4206240"/>
            <a:ext cx="4861408" cy="329184"/>
          </a:xfrm>
          <a:prstGeom prst="rect">
            <a:avLst/>
          </a:prstGeom>
          <a:noFill/>
          <a:ln/>
        </p:spPr>
        <p:txBody>
          <a:bodyPr wrap="square" rtlCol="0" anchor="ctr"/>
          <a:lstStyle/>
          <a:p>
            <a:pPr indent="0" marL="0">
              <a:buNone/>
            </a:pPr>
            <a:r>
              <a:rPr lang="en-US" sz="1800" b="1" dirty="0">
                <a:solidFill>
                  <a:srgbClr val="E8943A"/>
                </a:solidFill>
                <a:latin typeface="Georgia" pitchFamily="34" charset="0"/>
                <a:ea typeface="Georgia" pitchFamily="34" charset="-122"/>
                <a:cs typeface="Georgia" pitchFamily="34" charset="-120"/>
              </a:rPr>
              <a:t>04</a:t>
            </a:r>
            <a:endParaRPr lang="en-US" sz="1800" dirty="0"/>
          </a:p>
        </p:txBody>
      </p:sp>
      <p:sp>
        <p:nvSpPr>
          <p:cNvPr id="24" name="Text 22"/>
          <p:cNvSpPr/>
          <p:nvPr/>
        </p:nvSpPr>
        <p:spPr>
          <a:xfrm>
            <a:off x="6461608" y="4572000"/>
            <a:ext cx="4861408" cy="512064"/>
          </a:xfrm>
          <a:prstGeom prst="rect">
            <a:avLst/>
          </a:prstGeom>
          <a:noFill/>
          <a:ln/>
        </p:spPr>
        <p:txBody>
          <a:bodyPr wrap="square" rtlCol="0" anchor="ctr"/>
          <a:lstStyle/>
          <a:p>
            <a:pPr indent="0" marL="0">
              <a:buNone/>
            </a:pPr>
            <a:r>
              <a:rPr lang="en-US" sz="1500" b="1" dirty="0">
                <a:solidFill>
                  <a:srgbClr val="F0F4F8"/>
                </a:solidFill>
                <a:latin typeface="Calibri" pitchFamily="34" charset="0"/>
                <a:ea typeface="Calibri" pitchFamily="34" charset="-122"/>
                <a:cs typeface="Calibri" pitchFamily="34" charset="-120"/>
              </a:rPr>
              <a:t>Ciclo de Vida do Produto</a:t>
            </a:r>
            <a:endParaRPr lang="en-US" sz="1500" dirty="0"/>
          </a:p>
        </p:txBody>
      </p:sp>
      <p:sp>
        <p:nvSpPr>
          <p:cNvPr id="25" name="Text 23"/>
          <p:cNvSpPr/>
          <p:nvPr/>
        </p:nvSpPr>
        <p:spPr>
          <a:xfrm>
            <a:off x="6461608" y="5175504"/>
            <a:ext cx="4861408" cy="246888"/>
          </a:xfrm>
          <a:prstGeom prst="rect">
            <a:avLst/>
          </a:prstGeom>
          <a:noFill/>
          <a:ln/>
        </p:spPr>
        <p:txBody>
          <a:bodyPr wrap="square" rtlCol="0" anchor="t"/>
          <a:lstStyle/>
          <a:p>
            <a:pPr indent="0" marL="0">
              <a:lnSpc>
                <a:spcPct val="100000"/>
              </a:lnSpc>
              <a:buNone/>
            </a:pPr>
            <a:r>
              <a:rPr lang="en-US" sz="1200" dirty="0">
                <a:solidFill>
                  <a:srgbClr val="A8B4C2"/>
                </a:solidFill>
                <a:latin typeface="Calibri" pitchFamily="34" charset="0"/>
                <a:ea typeface="Calibri" pitchFamily="34" charset="-122"/>
                <a:cs typeface="Calibri" pitchFamily="34" charset="-120"/>
              </a:rPr>
              <a:t>Preços diferentes para lançamento ou maturidade.</a:t>
            </a:r>
            <a:endParaRPr lang="en-US" sz="12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Precificação Dinâmica: Ajustes em Tempo Real</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822960" y="1783080"/>
            <a:ext cx="4206240" cy="4206240"/>
          </a:xfrm>
          <a:prstGeom prst="pie">
            <a:avLst>
              <a:gd name="adj1" fmla="val 0"/>
              <a:gd name="adj2" fmla="val 5400000"/>
            </a:avLst>
          </a:prstGeom>
          <a:solidFill>
            <a:srgbClr val="D63B3B"/>
          </a:solidFill>
          <a:ln w="31750">
            <a:solidFill>
              <a:srgbClr val="0F1219"/>
            </a:solidFill>
            <a:prstDash val="solid"/>
          </a:ln>
        </p:spPr>
      </p:sp>
      <p:sp>
        <p:nvSpPr>
          <p:cNvPr id="7" name="Shape 5"/>
          <p:cNvSpPr/>
          <p:nvPr/>
        </p:nvSpPr>
        <p:spPr>
          <a:xfrm>
            <a:off x="822960" y="1783080"/>
            <a:ext cx="4206240" cy="4206240"/>
          </a:xfrm>
          <a:prstGeom prst="pie">
            <a:avLst>
              <a:gd name="adj1" fmla="val 5400000"/>
              <a:gd name="adj2" fmla="val 10800000"/>
            </a:avLst>
          </a:prstGeom>
          <a:solidFill>
            <a:srgbClr val="DC593B"/>
          </a:solidFill>
          <a:ln w="31750">
            <a:solidFill>
              <a:srgbClr val="0F1219"/>
            </a:solidFill>
            <a:prstDash val="solid"/>
          </a:ln>
        </p:spPr>
      </p:sp>
      <p:sp>
        <p:nvSpPr>
          <p:cNvPr id="8" name="Shape 6"/>
          <p:cNvSpPr/>
          <p:nvPr/>
        </p:nvSpPr>
        <p:spPr>
          <a:xfrm>
            <a:off x="822960" y="1783080"/>
            <a:ext cx="4206240" cy="4206240"/>
          </a:xfrm>
          <a:prstGeom prst="pie">
            <a:avLst>
              <a:gd name="adj1" fmla="val 10800000"/>
              <a:gd name="adj2" fmla="val 16200000"/>
            </a:avLst>
          </a:prstGeom>
          <a:solidFill>
            <a:srgbClr val="E2763A"/>
          </a:solidFill>
          <a:ln w="31750">
            <a:solidFill>
              <a:srgbClr val="0F1219"/>
            </a:solidFill>
            <a:prstDash val="solid"/>
          </a:ln>
        </p:spPr>
      </p:sp>
      <p:sp>
        <p:nvSpPr>
          <p:cNvPr id="9" name="Shape 7"/>
          <p:cNvSpPr/>
          <p:nvPr/>
        </p:nvSpPr>
        <p:spPr>
          <a:xfrm>
            <a:off x="822960" y="1783080"/>
            <a:ext cx="4206240" cy="4206240"/>
          </a:xfrm>
          <a:prstGeom prst="pie">
            <a:avLst>
              <a:gd name="adj1" fmla="val 16200000"/>
              <a:gd name="adj2" fmla="val 21600000"/>
            </a:avLst>
          </a:prstGeom>
          <a:solidFill>
            <a:srgbClr val="E8943A"/>
          </a:solidFill>
          <a:ln w="31750">
            <a:solidFill>
              <a:srgbClr val="0F1219"/>
            </a:solidFill>
            <a:prstDash val="solid"/>
          </a:ln>
        </p:spPr>
      </p:sp>
      <p:sp>
        <p:nvSpPr>
          <p:cNvPr id="10" name="Shape 8"/>
          <p:cNvSpPr/>
          <p:nvPr/>
        </p:nvSpPr>
        <p:spPr>
          <a:xfrm>
            <a:off x="1874520" y="2834640"/>
            <a:ext cx="2103120" cy="2103120"/>
          </a:xfrm>
          <a:prstGeom prst="ellipse">
            <a:avLst/>
          </a:prstGeom>
          <a:solidFill>
            <a:srgbClr val="0F1219"/>
          </a:solidFill>
          <a:ln/>
        </p:spPr>
      </p:sp>
      <p:sp>
        <p:nvSpPr>
          <p:cNvPr id="11" name="Text 9"/>
          <p:cNvSpPr/>
          <p:nvPr/>
        </p:nvSpPr>
        <p:spPr>
          <a:xfrm>
            <a:off x="1874520" y="2834640"/>
            <a:ext cx="2103120" cy="2103120"/>
          </a:xfrm>
          <a:prstGeom prst="rect">
            <a:avLst/>
          </a:prstGeom>
          <a:noFill/>
          <a:ln/>
        </p:spPr>
        <p:txBody>
          <a:bodyPr wrap="square" rtlCol="0" anchor="ctr"/>
          <a:lstStyle/>
          <a:p>
            <a:pPr algn="ctr" indent="0" marL="0">
              <a:buNone/>
            </a:pPr>
            <a:r>
              <a:rPr lang="en-US" sz="4000" b="1" dirty="0">
                <a:solidFill>
                  <a:srgbClr val="E8943A"/>
                </a:solidFill>
                <a:latin typeface="Georgia" pitchFamily="34" charset="0"/>
                <a:ea typeface="Georgia" pitchFamily="34" charset="-122"/>
                <a:cs typeface="Georgia" pitchFamily="34" charset="-120"/>
              </a:rPr>
              <a:t>4</a:t>
            </a:r>
            <a:endParaRPr lang="en-US" sz="4000" dirty="0"/>
          </a:p>
        </p:txBody>
      </p:sp>
      <p:sp>
        <p:nvSpPr>
          <p:cNvPr id="12" name="Shape 10"/>
          <p:cNvSpPr/>
          <p:nvPr/>
        </p:nvSpPr>
        <p:spPr>
          <a:xfrm>
            <a:off x="2843784" y="2226564"/>
            <a:ext cx="164592" cy="164592"/>
          </a:xfrm>
          <a:prstGeom prst="ellipse">
            <a:avLst/>
          </a:prstGeom>
          <a:solidFill>
            <a:srgbClr val="0F1219"/>
          </a:solidFill>
          <a:ln/>
        </p:spPr>
      </p:sp>
      <p:sp>
        <p:nvSpPr>
          <p:cNvPr id="13" name="Shape 11"/>
          <p:cNvSpPr/>
          <p:nvPr/>
        </p:nvSpPr>
        <p:spPr>
          <a:xfrm>
            <a:off x="2880360" y="2263140"/>
            <a:ext cx="91440" cy="91440"/>
          </a:xfrm>
          <a:prstGeom prst="ellipse">
            <a:avLst/>
          </a:prstGeom>
          <a:solidFill>
            <a:srgbClr val="E8943A"/>
          </a:solidFill>
          <a:ln/>
        </p:spPr>
      </p:sp>
      <p:sp>
        <p:nvSpPr>
          <p:cNvPr id="14" name="Shape 12"/>
          <p:cNvSpPr/>
          <p:nvPr/>
        </p:nvSpPr>
        <p:spPr>
          <a:xfrm>
            <a:off x="4421124" y="3803904"/>
            <a:ext cx="164592" cy="164592"/>
          </a:xfrm>
          <a:prstGeom prst="ellipse">
            <a:avLst/>
          </a:prstGeom>
          <a:solidFill>
            <a:srgbClr val="0F1219"/>
          </a:solidFill>
          <a:ln/>
        </p:spPr>
      </p:sp>
      <p:sp>
        <p:nvSpPr>
          <p:cNvPr id="15" name="Shape 13"/>
          <p:cNvSpPr/>
          <p:nvPr/>
        </p:nvSpPr>
        <p:spPr>
          <a:xfrm>
            <a:off x="4457700" y="3840480"/>
            <a:ext cx="91440" cy="91440"/>
          </a:xfrm>
          <a:prstGeom prst="ellipse">
            <a:avLst/>
          </a:prstGeom>
          <a:solidFill>
            <a:srgbClr val="E8943A"/>
          </a:solidFill>
          <a:ln/>
        </p:spPr>
      </p:sp>
      <p:sp>
        <p:nvSpPr>
          <p:cNvPr id="16" name="Shape 14"/>
          <p:cNvSpPr/>
          <p:nvPr/>
        </p:nvSpPr>
        <p:spPr>
          <a:xfrm>
            <a:off x="2843784" y="5381244"/>
            <a:ext cx="164592" cy="164592"/>
          </a:xfrm>
          <a:prstGeom prst="ellipse">
            <a:avLst/>
          </a:prstGeom>
          <a:solidFill>
            <a:srgbClr val="0F1219"/>
          </a:solidFill>
          <a:ln/>
        </p:spPr>
      </p:sp>
      <p:sp>
        <p:nvSpPr>
          <p:cNvPr id="17" name="Shape 15"/>
          <p:cNvSpPr/>
          <p:nvPr/>
        </p:nvSpPr>
        <p:spPr>
          <a:xfrm>
            <a:off x="2880360" y="5417820"/>
            <a:ext cx="91440" cy="91440"/>
          </a:xfrm>
          <a:prstGeom prst="ellipse">
            <a:avLst/>
          </a:prstGeom>
          <a:solidFill>
            <a:srgbClr val="E8943A"/>
          </a:solidFill>
          <a:ln/>
        </p:spPr>
      </p:sp>
      <p:sp>
        <p:nvSpPr>
          <p:cNvPr id="18" name="Shape 16"/>
          <p:cNvSpPr/>
          <p:nvPr/>
        </p:nvSpPr>
        <p:spPr>
          <a:xfrm>
            <a:off x="1266444" y="3803904"/>
            <a:ext cx="164592" cy="164592"/>
          </a:xfrm>
          <a:prstGeom prst="ellipse">
            <a:avLst/>
          </a:prstGeom>
          <a:solidFill>
            <a:srgbClr val="0F1219"/>
          </a:solidFill>
          <a:ln/>
        </p:spPr>
      </p:sp>
      <p:sp>
        <p:nvSpPr>
          <p:cNvPr id="19" name="Shape 17"/>
          <p:cNvSpPr/>
          <p:nvPr/>
        </p:nvSpPr>
        <p:spPr>
          <a:xfrm>
            <a:off x="1303020" y="3840480"/>
            <a:ext cx="91440" cy="91440"/>
          </a:xfrm>
          <a:prstGeom prst="ellipse">
            <a:avLst/>
          </a:prstGeom>
          <a:solidFill>
            <a:srgbClr val="E8943A"/>
          </a:solidFill>
          <a:ln/>
        </p:spPr>
      </p:sp>
      <p:sp>
        <p:nvSpPr>
          <p:cNvPr id="20" name="Shape 18"/>
          <p:cNvSpPr/>
          <p:nvPr/>
        </p:nvSpPr>
        <p:spPr>
          <a:xfrm>
            <a:off x="5532120" y="2231136"/>
            <a:ext cx="292608" cy="292608"/>
          </a:xfrm>
          <a:prstGeom prst="ellipse">
            <a:avLst/>
          </a:prstGeom>
          <a:solidFill>
            <a:srgbClr val="D63B3B"/>
          </a:solidFill>
          <a:ln/>
        </p:spPr>
      </p:sp>
      <p:sp>
        <p:nvSpPr>
          <p:cNvPr id="21" name="Text 19"/>
          <p:cNvSpPr/>
          <p:nvPr/>
        </p:nvSpPr>
        <p:spPr>
          <a:xfrm>
            <a:off x="5989320" y="187452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Prática de ajustar preços de produtos/serviços.</a:t>
            </a:r>
            <a:endParaRPr lang="en-US" sz="1400" dirty="0"/>
          </a:p>
        </p:txBody>
      </p:sp>
      <p:sp>
        <p:nvSpPr>
          <p:cNvPr id="22" name="Shape 20"/>
          <p:cNvSpPr/>
          <p:nvPr/>
        </p:nvSpPr>
        <p:spPr>
          <a:xfrm>
            <a:off x="5532120" y="3236976"/>
            <a:ext cx="292608" cy="292608"/>
          </a:xfrm>
          <a:prstGeom prst="ellipse">
            <a:avLst/>
          </a:prstGeom>
          <a:solidFill>
            <a:srgbClr val="DC593B"/>
          </a:solidFill>
          <a:ln/>
        </p:spPr>
      </p:sp>
      <p:sp>
        <p:nvSpPr>
          <p:cNvPr id="23" name="Text 21"/>
          <p:cNvSpPr/>
          <p:nvPr/>
        </p:nvSpPr>
        <p:spPr>
          <a:xfrm>
            <a:off x="5989320" y="288036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Baseada em demanda, oferta, concorrência e sazonalidade.</a:t>
            </a:r>
            <a:endParaRPr lang="en-US" sz="1400" dirty="0"/>
          </a:p>
        </p:txBody>
      </p:sp>
      <p:sp>
        <p:nvSpPr>
          <p:cNvPr id="24" name="Shape 22"/>
          <p:cNvSpPr/>
          <p:nvPr/>
        </p:nvSpPr>
        <p:spPr>
          <a:xfrm>
            <a:off x="5532120" y="4242816"/>
            <a:ext cx="292608" cy="292608"/>
          </a:xfrm>
          <a:prstGeom prst="ellipse">
            <a:avLst/>
          </a:prstGeom>
          <a:solidFill>
            <a:srgbClr val="E2763A"/>
          </a:solidFill>
          <a:ln/>
        </p:spPr>
      </p:sp>
      <p:sp>
        <p:nvSpPr>
          <p:cNvPr id="25" name="Text 23"/>
          <p:cNvSpPr/>
          <p:nvPr/>
        </p:nvSpPr>
        <p:spPr>
          <a:xfrm>
            <a:off x="5989320" y="388620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Considera até o perfil do cliente.</a:t>
            </a:r>
            <a:endParaRPr lang="en-US" sz="1400" dirty="0"/>
          </a:p>
        </p:txBody>
      </p:sp>
      <p:sp>
        <p:nvSpPr>
          <p:cNvPr id="26" name="Shape 24"/>
          <p:cNvSpPr/>
          <p:nvPr/>
        </p:nvSpPr>
        <p:spPr>
          <a:xfrm>
            <a:off x="5532120" y="5248656"/>
            <a:ext cx="292608" cy="292608"/>
          </a:xfrm>
          <a:prstGeom prst="ellipse">
            <a:avLst/>
          </a:prstGeom>
          <a:solidFill>
            <a:srgbClr val="E8943A"/>
          </a:solidFill>
          <a:ln/>
        </p:spPr>
      </p:sp>
      <p:sp>
        <p:nvSpPr>
          <p:cNvPr id="27" name="Text 25"/>
          <p:cNvSpPr/>
          <p:nvPr/>
        </p:nvSpPr>
        <p:spPr>
          <a:xfrm>
            <a:off x="5989320" y="4892040"/>
            <a:ext cx="5562295" cy="1005840"/>
          </a:xfrm>
          <a:prstGeom prst="rect">
            <a:avLst/>
          </a:prstGeom>
          <a:noFill/>
          <a:ln/>
        </p:spPr>
        <p:txBody>
          <a:bodyPr wrap="square" rtlCol="0" anchor="ctr"/>
          <a:lstStyle/>
          <a:p>
            <a:pPr indent="0" marL="0">
              <a:lnSpc>
                <a:spcPct val="102000"/>
              </a:lnSpc>
              <a:buNone/>
            </a:pPr>
            <a:r>
              <a:rPr lang="en-US" sz="1400" dirty="0">
                <a:solidFill>
                  <a:srgbClr val="A8B4C2"/>
                </a:solidFill>
                <a:latin typeface="Calibri" pitchFamily="34" charset="0"/>
                <a:ea typeface="Calibri" pitchFamily="34" charset="-122"/>
                <a:cs typeface="Calibri" pitchFamily="34" charset="-120"/>
              </a:rPr>
              <a:t>Estratégia adaptável e essencial para pequenos negócios.</a:t>
            </a:r>
            <a:endParaRPr lang="en-US" sz="1400" dirty="0"/>
          </a:p>
        </p:txBody>
      </p:sp>
      <p:sp>
        <p:nvSpPr>
          <p:cNvPr id="28" name="Text 26"/>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9" name="Text 27"/>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Aplicação da Precificação Dinâmica: Demanda</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371600"/>
            <a:ext cx="5227168" cy="5029200"/>
          </a:xfrm>
          <a:prstGeom prst="roundRect">
            <a:avLst>
              <a:gd name="adj" fmla="val 1455"/>
            </a:avLst>
          </a:prstGeom>
          <a:solidFill>
            <a:srgbClr val="1B212B"/>
          </a:solidFill>
          <a:ln w="12700">
            <a:solidFill>
              <a:srgbClr val="2C333E"/>
            </a:solidFill>
            <a:prstDash val="solid"/>
          </a:ln>
        </p:spPr>
      </p:sp>
      <p:sp>
        <p:nvSpPr>
          <p:cNvPr id="7" name="Shape 5"/>
          <p:cNvSpPr/>
          <p:nvPr/>
        </p:nvSpPr>
        <p:spPr>
          <a:xfrm>
            <a:off x="640080" y="1371600"/>
            <a:ext cx="5227168" cy="566928"/>
          </a:xfrm>
          <a:prstGeom prst="rect">
            <a:avLst/>
          </a:prstGeom>
          <a:solidFill>
            <a:srgbClr val="D63B3B"/>
          </a:solidFill>
          <a:ln/>
        </p:spPr>
      </p:sp>
      <p:sp>
        <p:nvSpPr>
          <p:cNvPr id="8" name="Text 6"/>
          <p:cNvSpPr/>
          <p:nvPr/>
        </p:nvSpPr>
        <p:spPr>
          <a:xfrm>
            <a:off x="868680"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Alta Demanda</a:t>
            </a:r>
            <a:endParaRPr lang="en-US" sz="1600" dirty="0"/>
          </a:p>
        </p:txBody>
      </p:sp>
      <p:sp>
        <p:nvSpPr>
          <p:cNvPr id="9" name="Shape 7"/>
          <p:cNvSpPr/>
          <p:nvPr/>
        </p:nvSpPr>
        <p:spPr>
          <a:xfrm>
            <a:off x="896112" y="2788920"/>
            <a:ext cx="109728" cy="109728"/>
          </a:xfrm>
          <a:prstGeom prst="rect">
            <a:avLst/>
          </a:prstGeom>
          <a:solidFill>
            <a:srgbClr val="D63B3B"/>
          </a:solidFill>
          <a:ln/>
        </p:spPr>
      </p:sp>
      <p:sp>
        <p:nvSpPr>
          <p:cNvPr id="10" name="Text 8"/>
          <p:cNvSpPr/>
          <p:nvPr/>
        </p:nvSpPr>
        <p:spPr>
          <a:xfrm>
            <a:off x="1115568"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Produto exclusivo ou muito procurado.</a:t>
            </a:r>
            <a:endParaRPr lang="en-US" sz="1300" dirty="0"/>
          </a:p>
        </p:txBody>
      </p:sp>
      <p:sp>
        <p:nvSpPr>
          <p:cNvPr id="11" name="Shape 9"/>
          <p:cNvSpPr/>
          <p:nvPr/>
        </p:nvSpPr>
        <p:spPr>
          <a:xfrm>
            <a:off x="896112" y="4160520"/>
            <a:ext cx="109728" cy="109728"/>
          </a:xfrm>
          <a:prstGeom prst="rect">
            <a:avLst/>
          </a:prstGeom>
          <a:solidFill>
            <a:srgbClr val="D63B3B"/>
          </a:solidFill>
          <a:ln/>
        </p:spPr>
      </p:sp>
      <p:sp>
        <p:nvSpPr>
          <p:cNvPr id="12" name="Text 10"/>
          <p:cNvSpPr/>
          <p:nvPr/>
        </p:nvSpPr>
        <p:spPr>
          <a:xfrm>
            <a:off x="1115568"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Considerar preço ligeiramente mais alto.</a:t>
            </a:r>
            <a:endParaRPr lang="en-US" sz="1300" dirty="0"/>
          </a:p>
        </p:txBody>
      </p:sp>
      <p:sp>
        <p:nvSpPr>
          <p:cNvPr id="13" name="Shape 11"/>
          <p:cNvSpPr/>
          <p:nvPr/>
        </p:nvSpPr>
        <p:spPr>
          <a:xfrm>
            <a:off x="896112" y="5532120"/>
            <a:ext cx="109728" cy="109728"/>
          </a:xfrm>
          <a:prstGeom prst="rect">
            <a:avLst/>
          </a:prstGeom>
          <a:solidFill>
            <a:srgbClr val="D63B3B"/>
          </a:solidFill>
          <a:ln/>
        </p:spPr>
      </p:sp>
      <p:sp>
        <p:nvSpPr>
          <p:cNvPr id="14" name="Text 12"/>
          <p:cNvSpPr/>
          <p:nvPr/>
        </p:nvSpPr>
        <p:spPr>
          <a:xfrm>
            <a:off x="1115568"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Aproveitar a percepção de valor.</a:t>
            </a:r>
            <a:endParaRPr lang="en-US" sz="1300" dirty="0"/>
          </a:p>
        </p:txBody>
      </p:sp>
      <p:sp>
        <p:nvSpPr>
          <p:cNvPr id="15" name="Shape 13"/>
          <p:cNvSpPr/>
          <p:nvPr/>
        </p:nvSpPr>
        <p:spPr>
          <a:xfrm>
            <a:off x="6324448" y="1371600"/>
            <a:ext cx="5227168" cy="5029200"/>
          </a:xfrm>
          <a:prstGeom prst="roundRect">
            <a:avLst>
              <a:gd name="adj" fmla="val 1455"/>
            </a:avLst>
          </a:prstGeom>
          <a:solidFill>
            <a:srgbClr val="1B212B"/>
          </a:solidFill>
          <a:ln w="12700">
            <a:solidFill>
              <a:srgbClr val="2C333E"/>
            </a:solidFill>
            <a:prstDash val="solid"/>
          </a:ln>
        </p:spPr>
      </p:sp>
      <p:sp>
        <p:nvSpPr>
          <p:cNvPr id="16" name="Shape 14"/>
          <p:cNvSpPr/>
          <p:nvPr/>
        </p:nvSpPr>
        <p:spPr>
          <a:xfrm>
            <a:off x="6324448" y="1371600"/>
            <a:ext cx="5227168" cy="566928"/>
          </a:xfrm>
          <a:prstGeom prst="rect">
            <a:avLst/>
          </a:prstGeom>
          <a:solidFill>
            <a:srgbClr val="E8943A"/>
          </a:solidFill>
          <a:ln/>
        </p:spPr>
      </p:sp>
      <p:sp>
        <p:nvSpPr>
          <p:cNvPr id="17" name="Text 15"/>
          <p:cNvSpPr/>
          <p:nvPr/>
        </p:nvSpPr>
        <p:spPr>
          <a:xfrm>
            <a:off x="6553048" y="1371600"/>
            <a:ext cx="4769968" cy="56692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Baixa Demanda</a:t>
            </a:r>
            <a:endParaRPr lang="en-US" sz="1600" dirty="0"/>
          </a:p>
        </p:txBody>
      </p:sp>
      <p:sp>
        <p:nvSpPr>
          <p:cNvPr id="18" name="Shape 16"/>
          <p:cNvSpPr/>
          <p:nvPr/>
        </p:nvSpPr>
        <p:spPr>
          <a:xfrm>
            <a:off x="6580480" y="2788920"/>
            <a:ext cx="109728" cy="109728"/>
          </a:xfrm>
          <a:prstGeom prst="rect">
            <a:avLst/>
          </a:prstGeom>
          <a:solidFill>
            <a:srgbClr val="E8943A"/>
          </a:solidFill>
          <a:ln/>
        </p:spPr>
      </p:sp>
      <p:sp>
        <p:nvSpPr>
          <p:cNvPr id="19" name="Text 17"/>
          <p:cNvSpPr/>
          <p:nvPr/>
        </p:nvSpPr>
        <p:spPr>
          <a:xfrm>
            <a:off x="6799936" y="21488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Produtos com pouca saída.</a:t>
            </a:r>
            <a:endParaRPr lang="en-US" sz="1300" dirty="0"/>
          </a:p>
        </p:txBody>
      </p:sp>
      <p:sp>
        <p:nvSpPr>
          <p:cNvPr id="20" name="Shape 18"/>
          <p:cNvSpPr/>
          <p:nvPr/>
        </p:nvSpPr>
        <p:spPr>
          <a:xfrm>
            <a:off x="6580480" y="4160520"/>
            <a:ext cx="109728" cy="109728"/>
          </a:xfrm>
          <a:prstGeom prst="rect">
            <a:avLst/>
          </a:prstGeom>
          <a:solidFill>
            <a:srgbClr val="E8943A"/>
          </a:solidFill>
          <a:ln/>
        </p:spPr>
      </p:sp>
      <p:sp>
        <p:nvSpPr>
          <p:cNvPr id="21" name="Text 19"/>
          <p:cNvSpPr/>
          <p:nvPr/>
        </p:nvSpPr>
        <p:spPr>
          <a:xfrm>
            <a:off x="6799936" y="35204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Serviços em horários de menor movimento.</a:t>
            </a:r>
            <a:endParaRPr lang="en-US" sz="1300" dirty="0"/>
          </a:p>
        </p:txBody>
      </p:sp>
      <p:sp>
        <p:nvSpPr>
          <p:cNvPr id="22" name="Shape 20"/>
          <p:cNvSpPr/>
          <p:nvPr/>
        </p:nvSpPr>
        <p:spPr>
          <a:xfrm>
            <a:off x="6580480" y="5532120"/>
            <a:ext cx="109728" cy="109728"/>
          </a:xfrm>
          <a:prstGeom prst="rect">
            <a:avLst/>
          </a:prstGeom>
          <a:solidFill>
            <a:srgbClr val="E8943A"/>
          </a:solidFill>
          <a:ln/>
        </p:spPr>
      </p:sp>
      <p:sp>
        <p:nvSpPr>
          <p:cNvPr id="23" name="Text 21"/>
          <p:cNvSpPr/>
          <p:nvPr/>
        </p:nvSpPr>
        <p:spPr>
          <a:xfrm>
            <a:off x="6799936" y="4892040"/>
            <a:ext cx="4495648" cy="1371600"/>
          </a:xfrm>
          <a:prstGeom prst="rect">
            <a:avLst/>
          </a:prstGeom>
          <a:noFill/>
          <a:ln/>
        </p:spPr>
        <p:txBody>
          <a:bodyPr wrap="square" rtlCol="0" anchor="ctr"/>
          <a:lstStyle/>
          <a:p>
            <a:pPr indent="0" marL="0">
              <a:buNone/>
            </a:pPr>
            <a:r>
              <a:rPr lang="en-US" sz="1300" dirty="0">
                <a:solidFill>
                  <a:srgbClr val="F0F4F8"/>
                </a:solidFill>
                <a:latin typeface="Calibri" pitchFamily="34" charset="0"/>
                <a:ea typeface="Calibri" pitchFamily="34" charset="-122"/>
                <a:cs typeface="Calibri" pitchFamily="34" charset="-120"/>
              </a:rPr>
              <a:t>Aplicar descontos para estimular vendas.</a:t>
            </a:r>
            <a:endParaRPr lang="en-US" sz="1300" dirty="0"/>
          </a:p>
        </p:txBody>
      </p:sp>
      <p:sp>
        <p:nvSpPr>
          <p:cNvPr id="24" name="Shape 22"/>
          <p:cNvSpPr/>
          <p:nvPr/>
        </p:nvSpPr>
        <p:spPr>
          <a:xfrm>
            <a:off x="5803240" y="3794760"/>
            <a:ext cx="585216" cy="585216"/>
          </a:xfrm>
          <a:prstGeom prst="ellipse">
            <a:avLst/>
          </a:prstGeom>
          <a:solidFill>
            <a:srgbClr val="F0F4F8"/>
          </a:solidFill>
          <a:ln w="25400">
            <a:solidFill>
              <a:srgbClr val="0F1219"/>
            </a:solidFill>
            <a:prstDash val="solid"/>
          </a:ln>
        </p:spPr>
      </p:sp>
      <p:sp>
        <p:nvSpPr>
          <p:cNvPr id="25" name="Text 23"/>
          <p:cNvSpPr/>
          <p:nvPr/>
        </p:nvSpPr>
        <p:spPr>
          <a:xfrm>
            <a:off x="5803240" y="3794760"/>
            <a:ext cx="585216" cy="585216"/>
          </a:xfrm>
          <a:prstGeom prst="rect">
            <a:avLst/>
          </a:prstGeom>
          <a:noFill/>
          <a:ln/>
        </p:spPr>
        <p:txBody>
          <a:bodyPr wrap="square" rtlCol="0" anchor="ctr"/>
          <a:lstStyle/>
          <a:p>
            <a:pPr algn="ctr" indent="0" marL="0">
              <a:buNone/>
            </a:pPr>
            <a:r>
              <a:rPr lang="en-US" sz="1300" b="1" dirty="0">
                <a:solidFill>
                  <a:srgbClr val="0F1219"/>
                </a:solidFill>
                <a:latin typeface="Calibri" pitchFamily="34" charset="0"/>
                <a:ea typeface="Calibri" pitchFamily="34" charset="-122"/>
                <a:cs typeface="Calibri" pitchFamily="34" charset="-120"/>
              </a:rPr>
              <a:t>VS</a:t>
            </a:r>
            <a:endParaRPr lang="en-US" sz="1300" dirty="0"/>
          </a:p>
        </p:txBody>
      </p:sp>
      <p:sp>
        <p:nvSpPr>
          <p:cNvPr id="26" name="Text 24"/>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7" name="Text 25"/>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219"/>
        </a:solidFill>
      </p:bgPr>
    </p:bg>
    <p:spTree>
      <p:nvGrpSpPr>
        <p:cNvPr id="1" name=""/>
        <p:cNvGrpSpPr/>
        <p:nvPr/>
      </p:nvGrpSpPr>
      <p:grpSpPr>
        <a:xfrm>
          <a:off x="0" y="0"/>
          <a:ext cx="0" cy="0"/>
          <a:chOff x="0" y="0"/>
          <a:chExt cx="0" cy="0"/>
        </a:xfrm>
      </p:grpSpPr>
      <p:sp>
        <p:nvSpPr>
          <p:cNvPr id="2" name="Shape 0"/>
          <p:cNvSpPr/>
          <p:nvPr/>
        </p:nvSpPr>
        <p:spPr>
          <a:xfrm>
            <a:off x="640080" y="502920"/>
            <a:ext cx="64008" cy="457200"/>
          </a:xfrm>
          <a:prstGeom prst="rect">
            <a:avLst/>
          </a:prstGeom>
          <a:solidFill>
            <a:srgbClr val="E8943A"/>
          </a:solidFill>
          <a:ln/>
        </p:spPr>
      </p:sp>
      <p:sp>
        <p:nvSpPr>
          <p:cNvPr id="3" name="Text 1"/>
          <p:cNvSpPr/>
          <p:nvPr/>
        </p:nvSpPr>
        <p:spPr>
          <a:xfrm>
            <a:off x="804672" y="457200"/>
            <a:ext cx="10545775" cy="256032"/>
          </a:xfrm>
          <a:prstGeom prst="rect">
            <a:avLst/>
          </a:prstGeom>
          <a:noFill/>
          <a:ln/>
        </p:spPr>
        <p:txBody>
          <a:bodyPr wrap="square" rtlCol="0" anchor="ctr"/>
          <a:lstStyle/>
          <a:p>
            <a:pPr algn="l" indent="0" marL="0">
              <a:buNone/>
            </a:pPr>
            <a:r>
              <a:rPr lang="en-US" sz="1000" b="1" spc="200" kern="0" dirty="0">
                <a:solidFill>
                  <a:srgbClr val="E8943A"/>
                </a:solidFill>
                <a:latin typeface="Calibri" pitchFamily="34" charset="0"/>
                <a:ea typeface="Calibri" pitchFamily="34" charset="-122"/>
                <a:cs typeface="Calibri" pitchFamily="34" charset="-120"/>
              </a:rPr>
              <a:t>GESTÃO E AJUSTES ESTRATÉGICOS DE PREÇOS</a:t>
            </a:r>
            <a:endParaRPr lang="en-US" sz="1000" dirty="0"/>
          </a:p>
        </p:txBody>
      </p:sp>
      <p:sp>
        <p:nvSpPr>
          <p:cNvPr id="4" name="Text 2"/>
          <p:cNvSpPr/>
          <p:nvPr/>
        </p:nvSpPr>
        <p:spPr>
          <a:xfrm>
            <a:off x="804672" y="713232"/>
            <a:ext cx="10545775" cy="566928"/>
          </a:xfrm>
          <a:prstGeom prst="rect">
            <a:avLst/>
          </a:prstGeom>
          <a:noFill/>
          <a:ln/>
        </p:spPr>
        <p:txBody>
          <a:bodyPr wrap="square" rtlCol="0" anchor="ctr"/>
          <a:lstStyle/>
          <a:p>
            <a:pPr algn="l" indent="0" marL="0">
              <a:buNone/>
            </a:pPr>
            <a:r>
              <a:rPr lang="en-US" sz="2600" b="1" dirty="0">
                <a:solidFill>
                  <a:srgbClr val="F0F4F8"/>
                </a:solidFill>
                <a:latin typeface="Georgia" pitchFamily="34" charset="0"/>
                <a:ea typeface="Georgia" pitchFamily="34" charset="-122"/>
                <a:cs typeface="Georgia" pitchFamily="34" charset="-120"/>
              </a:rPr>
              <a:t>Principais Conclusões do Módulo 5</a:t>
            </a:r>
            <a:endParaRPr lang="en-US" sz="2600" dirty="0"/>
          </a:p>
        </p:txBody>
      </p:sp>
      <p:sp>
        <p:nvSpPr>
          <p:cNvPr id="5" name="Shape 3"/>
          <p:cNvSpPr/>
          <p:nvPr/>
        </p:nvSpPr>
        <p:spPr>
          <a:xfrm>
            <a:off x="640080" y="1280160"/>
            <a:ext cx="10911535" cy="0"/>
          </a:xfrm>
          <a:prstGeom prst="line">
            <a:avLst/>
          </a:prstGeom>
          <a:noFill/>
          <a:ln w="12700">
            <a:solidFill>
              <a:srgbClr val="2C333E"/>
            </a:solidFill>
            <a:prstDash val="solid"/>
          </a:ln>
        </p:spPr>
      </p:sp>
      <p:sp>
        <p:nvSpPr>
          <p:cNvPr id="6" name="Shape 4"/>
          <p:cNvSpPr/>
          <p:nvPr/>
        </p:nvSpPr>
        <p:spPr>
          <a:xfrm>
            <a:off x="640080" y="1426464"/>
            <a:ext cx="5327752" cy="1395984"/>
          </a:xfrm>
          <a:prstGeom prst="roundRect">
            <a:avLst>
              <a:gd name="adj" fmla="val 3930"/>
            </a:avLst>
          </a:prstGeom>
          <a:solidFill>
            <a:srgbClr val="1B212B"/>
          </a:solidFill>
          <a:ln/>
        </p:spPr>
      </p:sp>
      <p:sp>
        <p:nvSpPr>
          <p:cNvPr id="7" name="Text 5"/>
          <p:cNvSpPr/>
          <p:nvPr/>
        </p:nvSpPr>
        <p:spPr>
          <a:xfrm>
            <a:off x="804672"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Precificação é um processo contínuo e dinâmico.</a:t>
            </a:r>
            <a:endParaRPr lang="en-US" sz="1400" dirty="0"/>
          </a:p>
        </p:txBody>
      </p:sp>
      <p:sp>
        <p:nvSpPr>
          <p:cNvPr id="9" name="Shape 7"/>
          <p:cNvSpPr/>
          <p:nvPr/>
        </p:nvSpPr>
        <p:spPr>
          <a:xfrm>
            <a:off x="6223864" y="1426464"/>
            <a:ext cx="5327752" cy="1395984"/>
          </a:xfrm>
          <a:prstGeom prst="roundRect">
            <a:avLst>
              <a:gd name="adj" fmla="val 3930"/>
            </a:avLst>
          </a:prstGeom>
          <a:solidFill>
            <a:srgbClr val="1B212B"/>
          </a:solidFill>
          <a:ln/>
        </p:spPr>
      </p:sp>
      <p:sp>
        <p:nvSpPr>
          <p:cNvPr id="10" name="Text 8"/>
          <p:cNvSpPr/>
          <p:nvPr/>
        </p:nvSpPr>
        <p:spPr>
          <a:xfrm>
            <a:off x="6388456" y="1426464"/>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6882232" y="1426464"/>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A gestão ativa de preços otimiza margens e competitividade.</a:t>
            </a:r>
            <a:endParaRPr lang="en-US" sz="1400" dirty="0"/>
          </a:p>
        </p:txBody>
      </p:sp>
      <p:sp>
        <p:nvSpPr>
          <p:cNvPr id="12" name="Shape 10"/>
          <p:cNvSpPr/>
          <p:nvPr/>
        </p:nvSpPr>
        <p:spPr>
          <a:xfrm>
            <a:off x="640080" y="3188208"/>
            <a:ext cx="5327752" cy="1395984"/>
          </a:xfrm>
          <a:prstGeom prst="roundRect">
            <a:avLst>
              <a:gd name="adj" fmla="val 3930"/>
            </a:avLst>
          </a:prstGeom>
          <a:solidFill>
            <a:srgbClr val="1B212B"/>
          </a:solidFill>
          <a:ln/>
        </p:spPr>
      </p:sp>
      <p:sp>
        <p:nvSpPr>
          <p:cNvPr id="13" name="Text 11"/>
          <p:cNvSpPr/>
          <p:nvPr/>
        </p:nvSpPr>
        <p:spPr>
          <a:xfrm>
            <a:off x="804672"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298448"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Fatores como mercado e custos exigem ajustes constantes.</a:t>
            </a:r>
            <a:endParaRPr lang="en-US" sz="1400" dirty="0"/>
          </a:p>
        </p:txBody>
      </p:sp>
      <p:sp>
        <p:nvSpPr>
          <p:cNvPr id="15" name="Shape 13"/>
          <p:cNvSpPr/>
          <p:nvPr/>
        </p:nvSpPr>
        <p:spPr>
          <a:xfrm>
            <a:off x="6223864" y="3188208"/>
            <a:ext cx="5327752" cy="1395984"/>
          </a:xfrm>
          <a:prstGeom prst="roundRect">
            <a:avLst>
              <a:gd name="adj" fmla="val 3930"/>
            </a:avLst>
          </a:prstGeom>
          <a:solidFill>
            <a:srgbClr val="1B212B"/>
          </a:solidFill>
          <a:ln/>
        </p:spPr>
      </p:sp>
      <p:sp>
        <p:nvSpPr>
          <p:cNvPr id="16" name="Text 14"/>
          <p:cNvSpPr/>
          <p:nvPr/>
        </p:nvSpPr>
        <p:spPr>
          <a:xfrm>
            <a:off x="6388456" y="3188208"/>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17" name="Text 15"/>
          <p:cNvSpPr/>
          <p:nvPr/>
        </p:nvSpPr>
        <p:spPr>
          <a:xfrm>
            <a:off x="6882232" y="3188208"/>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Precificação dinâmica permite reagir à demanda em tempo real.</a:t>
            </a:r>
            <a:endParaRPr lang="en-US" sz="1400" dirty="0"/>
          </a:p>
        </p:txBody>
      </p:sp>
      <p:sp>
        <p:nvSpPr>
          <p:cNvPr id="18" name="Shape 16"/>
          <p:cNvSpPr/>
          <p:nvPr/>
        </p:nvSpPr>
        <p:spPr>
          <a:xfrm>
            <a:off x="640080" y="4949952"/>
            <a:ext cx="5327752" cy="1395984"/>
          </a:xfrm>
          <a:prstGeom prst="roundRect">
            <a:avLst>
              <a:gd name="adj" fmla="val 3930"/>
            </a:avLst>
          </a:prstGeom>
          <a:solidFill>
            <a:srgbClr val="1B212B"/>
          </a:solidFill>
          <a:ln/>
        </p:spPr>
      </p:sp>
      <p:sp>
        <p:nvSpPr>
          <p:cNvPr id="19" name="Text 17"/>
          <p:cNvSpPr/>
          <p:nvPr/>
        </p:nvSpPr>
        <p:spPr>
          <a:xfrm>
            <a:off x="804672" y="4949952"/>
            <a:ext cx="420624" cy="1395984"/>
          </a:xfrm>
          <a:prstGeom prst="rect">
            <a:avLst/>
          </a:prstGeom>
          <a:noFill/>
          <a:ln/>
        </p:spPr>
        <p:txBody>
          <a:bodyPr wrap="square" rtlCol="0" anchor="ctr"/>
          <a:lstStyle/>
          <a:p>
            <a:pPr algn="ctr" indent="0" marL="0">
              <a:buNone/>
            </a:pPr>
            <a:r>
              <a:rPr lang="en-US" sz="1700" b="1" dirty="0">
                <a:solidFill>
                  <a:srgbClr val="E8943A"/>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1298448" y="4949952"/>
            <a:ext cx="4486504" cy="1395984"/>
          </a:xfrm>
          <a:prstGeom prst="rect">
            <a:avLst/>
          </a:prstGeom>
          <a:noFill/>
          <a:ln/>
        </p:spPr>
        <p:txBody>
          <a:bodyPr wrap="square" rtlCol="0" anchor="ctr"/>
          <a:lstStyle/>
          <a:p>
            <a:pPr indent="0" marL="0">
              <a:lnSpc>
                <a:spcPct val="104000"/>
              </a:lnSpc>
              <a:buNone/>
            </a:pPr>
            <a:r>
              <a:rPr lang="en-US" sz="1400" dirty="0">
                <a:solidFill>
                  <a:srgbClr val="F0F4F8"/>
                </a:solidFill>
                <a:latin typeface="Calibri" pitchFamily="34" charset="0"/>
                <a:ea typeface="Calibri" pitchFamily="34" charset="-122"/>
                <a:cs typeface="Calibri" pitchFamily="34" charset="-120"/>
              </a:rPr>
              <a:t>Ajustes estratégicos são cruciais para a sustentabilidade.</a:t>
            </a:r>
            <a:endParaRPr lang="en-US" sz="1400" dirty="0"/>
          </a:p>
        </p:txBody>
      </p:sp>
      <p:sp>
        <p:nvSpPr>
          <p:cNvPr id="21" name="Text 19"/>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A8B4C2"/>
                </a:solidFill>
                <a:latin typeface="Calibri" pitchFamily="34" charset="0"/>
                <a:ea typeface="Calibri" pitchFamily="34" charset="-122"/>
                <a:cs typeface="Calibri" pitchFamily="34" charset="-120"/>
              </a:rPr>
              <a:t>EduGenAI</a:t>
            </a:r>
            <a:endParaRPr lang="en-US" sz="900" dirty="0"/>
          </a:p>
        </p:txBody>
      </p:sp>
      <p:sp>
        <p:nvSpPr>
          <p:cNvPr id="22" name="Text 20"/>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A8B4C2"/>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0D13"/>
        </a:solidFill>
      </p:bgPr>
    </p:bg>
    <p:spTree>
      <p:nvGrpSpPr>
        <p:cNvPr id="1" name=""/>
        <p:cNvGrpSpPr/>
        <p:nvPr/>
      </p:nvGrpSpPr>
      <p:grpSpPr>
        <a:xfrm>
          <a:off x="0" y="0"/>
          <a:ext cx="0" cy="0"/>
          <a:chOff x="0" y="0"/>
          <a:chExt cx="0" cy="0"/>
        </a:xfrm>
      </p:grpSpPr>
      <p:sp>
        <p:nvSpPr>
          <p:cNvPr id="2" name="Text 0"/>
          <p:cNvSpPr/>
          <p:nvPr/>
        </p:nvSpPr>
        <p:spPr>
          <a:xfrm>
            <a:off x="640080" y="1234440"/>
            <a:ext cx="10911535" cy="365760"/>
          </a:xfrm>
          <a:prstGeom prst="rect">
            <a:avLst/>
          </a:prstGeom>
          <a:noFill/>
          <a:ln/>
        </p:spPr>
        <p:txBody>
          <a:bodyPr wrap="square" rtlCol="0" anchor="ctr"/>
          <a:lstStyle/>
          <a:p>
            <a:pPr algn="ctr" indent="0" marL="0">
              <a:buNone/>
            </a:pPr>
            <a:r>
              <a:rPr lang="en-US" sz="1300" b="1" spc="300" kern="0" dirty="0">
                <a:solidFill>
                  <a:srgbClr val="E8943A"/>
                </a:solidFill>
                <a:latin typeface="Calibri" pitchFamily="34" charset="0"/>
                <a:ea typeface="Calibri" pitchFamily="34" charset="-122"/>
                <a:cs typeface="Calibri" pitchFamily="34" charset="-120"/>
              </a:rPr>
              <a:t>CONCLUSÃO DO CURSO</a:t>
            </a:r>
            <a:endParaRPr lang="en-US" sz="1300" dirty="0"/>
          </a:p>
        </p:txBody>
      </p:sp>
      <p:sp>
        <p:nvSpPr>
          <p:cNvPr id="3" name="Text 1"/>
          <p:cNvSpPr/>
          <p:nvPr/>
        </p:nvSpPr>
        <p:spPr>
          <a:xfrm>
            <a:off x="1097280" y="1737360"/>
            <a:ext cx="9997135" cy="91440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Parabéns, você concluiu o curso!</a:t>
            </a:r>
            <a:endParaRPr lang="en-US" sz="3000" dirty="0"/>
          </a:p>
        </p:txBody>
      </p:sp>
      <p:sp>
        <p:nvSpPr>
          <p:cNvPr id="4" name="Text 2"/>
          <p:cNvSpPr/>
          <p:nvPr/>
        </p:nvSpPr>
        <p:spPr>
          <a:xfrm>
            <a:off x="2103120" y="3063240"/>
            <a:ext cx="365760" cy="457200"/>
          </a:xfrm>
          <a:prstGeom prst="rect">
            <a:avLst/>
          </a:prstGeom>
          <a:noFill/>
          <a:ln/>
        </p:spPr>
        <p:txBody>
          <a:bodyPr wrap="square" rtlCol="0" anchor="ctr"/>
          <a:lstStyle/>
          <a:p>
            <a:pPr algn="ctr" indent="0" marL="0">
              <a:buNone/>
            </a:pPr>
            <a:r>
              <a:rPr lang="en-US" sz="1600" b="1" dirty="0">
                <a:solidFill>
                  <a:srgbClr val="E8943A"/>
                </a:solidFill>
                <a:latin typeface="Calibri" pitchFamily="34" charset="0"/>
                <a:ea typeface="Calibri" pitchFamily="34" charset="-122"/>
                <a:cs typeface="Calibri" pitchFamily="34" charset="-120"/>
              </a:rPr>
              <a:t>✓</a:t>
            </a:r>
            <a:endParaRPr lang="en-US" sz="1600" dirty="0"/>
          </a:p>
        </p:txBody>
      </p:sp>
      <p:sp>
        <p:nvSpPr>
          <p:cNvPr id="5" name="Text 3"/>
          <p:cNvSpPr/>
          <p:nvPr/>
        </p:nvSpPr>
        <p:spPr>
          <a:xfrm>
            <a:off x="2560320" y="3063240"/>
            <a:ext cx="7528255" cy="457200"/>
          </a:xfrm>
          <a:prstGeom prst="rect">
            <a:avLst/>
          </a:prstGeom>
          <a:noFill/>
          <a:ln/>
        </p:spPr>
        <p:txBody>
          <a:bodyPr wrap="square" rtlCol="0" anchor="ctr"/>
          <a:lstStyle/>
          <a:p>
            <a:pPr algn="l" indent="0" marL="0">
              <a:buNone/>
            </a:pPr>
            <a:r>
              <a:rPr lang="en-US" sz="1600" dirty="0">
                <a:solidFill>
                  <a:srgbClr val="E8EEF5"/>
                </a:solidFill>
                <a:latin typeface="Calibri" pitchFamily="34" charset="0"/>
                <a:ea typeface="Calibri" pitchFamily="34" charset="-122"/>
                <a:cs typeface="Calibri" pitchFamily="34" charset="-120"/>
              </a:rPr>
              <a:t>Revise os conceitos com os quizzes e flashcards do curso.</a:t>
            </a:r>
            <a:endParaRPr lang="en-US" sz="1600" dirty="0"/>
          </a:p>
        </p:txBody>
      </p:sp>
      <p:sp>
        <p:nvSpPr>
          <p:cNvPr id="6" name="Text 4"/>
          <p:cNvSpPr/>
          <p:nvPr/>
        </p:nvSpPr>
        <p:spPr>
          <a:xfrm>
            <a:off x="2103120" y="3630168"/>
            <a:ext cx="365760" cy="457200"/>
          </a:xfrm>
          <a:prstGeom prst="rect">
            <a:avLst/>
          </a:prstGeom>
          <a:noFill/>
          <a:ln/>
        </p:spPr>
        <p:txBody>
          <a:bodyPr wrap="square" rtlCol="0" anchor="ctr"/>
          <a:lstStyle/>
          <a:p>
            <a:pPr algn="ctr" indent="0" marL="0">
              <a:buNone/>
            </a:pPr>
            <a:r>
              <a:rPr lang="en-US" sz="1600" b="1" dirty="0">
                <a:solidFill>
                  <a:srgbClr val="E8943A"/>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2560320" y="3630168"/>
            <a:ext cx="7528255" cy="457200"/>
          </a:xfrm>
          <a:prstGeom prst="rect">
            <a:avLst/>
          </a:prstGeom>
          <a:noFill/>
          <a:ln/>
        </p:spPr>
        <p:txBody>
          <a:bodyPr wrap="square" rtlCol="0" anchor="ctr"/>
          <a:lstStyle/>
          <a:p>
            <a:pPr algn="l" indent="0" marL="0">
              <a:buNone/>
            </a:pPr>
            <a:r>
              <a:rPr lang="en-US" sz="1600" dirty="0">
                <a:solidFill>
                  <a:srgbClr val="E8EEF5"/>
                </a:solidFill>
                <a:latin typeface="Calibri" pitchFamily="34" charset="0"/>
                <a:ea typeface="Calibri" pitchFamily="34" charset="-122"/>
                <a:cs typeface="Calibri" pitchFamily="34" charset="-120"/>
              </a:rPr>
              <a:t>Conclua a avaliação final para validar seu aprendizado.</a:t>
            </a:r>
            <a:endParaRPr lang="en-US" sz="1600" dirty="0"/>
          </a:p>
        </p:txBody>
      </p:sp>
      <p:sp>
        <p:nvSpPr>
          <p:cNvPr id="8" name="Text 6"/>
          <p:cNvSpPr/>
          <p:nvPr/>
        </p:nvSpPr>
        <p:spPr>
          <a:xfrm>
            <a:off x="2103120" y="4197096"/>
            <a:ext cx="365760" cy="457200"/>
          </a:xfrm>
          <a:prstGeom prst="rect">
            <a:avLst/>
          </a:prstGeom>
          <a:noFill/>
          <a:ln/>
        </p:spPr>
        <p:txBody>
          <a:bodyPr wrap="square" rtlCol="0" anchor="ctr"/>
          <a:lstStyle/>
          <a:p>
            <a:pPr algn="ctr" indent="0" marL="0">
              <a:buNone/>
            </a:pPr>
            <a:r>
              <a:rPr lang="en-US" sz="1600" b="1" dirty="0">
                <a:solidFill>
                  <a:srgbClr val="E8943A"/>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2560320" y="4197096"/>
            <a:ext cx="7528255" cy="457200"/>
          </a:xfrm>
          <a:prstGeom prst="rect">
            <a:avLst/>
          </a:prstGeom>
          <a:noFill/>
          <a:ln/>
        </p:spPr>
        <p:txBody>
          <a:bodyPr wrap="square" rtlCol="0" anchor="ctr"/>
          <a:lstStyle/>
          <a:p>
            <a:pPr algn="l" indent="0" marL="0">
              <a:buNone/>
            </a:pPr>
            <a:r>
              <a:rPr lang="en-US" sz="1600" dirty="0">
                <a:solidFill>
                  <a:srgbClr val="E8EEF5"/>
                </a:solidFill>
                <a:latin typeface="Calibri" pitchFamily="34" charset="0"/>
                <a:ea typeface="Calibri" pitchFamily="34" charset="-122"/>
                <a:cs typeface="Calibri" pitchFamily="34" charset="-120"/>
              </a:rPr>
              <a:t>Receba seu certificado de conclusão.</a:t>
            </a:r>
            <a:endParaRPr lang="en-US" sz="1600" dirty="0"/>
          </a:p>
        </p:txBody>
      </p:sp>
      <p:sp>
        <p:nvSpPr>
          <p:cNvPr id="10" name="Shape 8"/>
          <p:cNvSpPr/>
          <p:nvPr/>
        </p:nvSpPr>
        <p:spPr>
          <a:xfrm>
            <a:off x="5638648" y="5212080"/>
            <a:ext cx="914400" cy="45720"/>
          </a:xfrm>
          <a:prstGeom prst="rect">
            <a:avLst/>
          </a:prstGeom>
          <a:solidFill>
            <a:srgbClr val="E8943A"/>
          </a:solidFill>
          <a:ln/>
        </p:spPr>
      </p:sp>
      <p:sp>
        <p:nvSpPr>
          <p:cNvPr id="11" name="Text 9"/>
          <p:cNvSpPr/>
          <p:nvPr/>
        </p:nvSpPr>
        <p:spPr>
          <a:xfrm>
            <a:off x="1097280" y="5394960"/>
            <a:ext cx="9997135" cy="457200"/>
          </a:xfrm>
          <a:prstGeom prst="rect">
            <a:avLst/>
          </a:prstGeom>
          <a:noFill/>
          <a:ln/>
        </p:spPr>
        <p:txBody>
          <a:bodyPr wrap="square" rtlCol="0" anchor="ctr"/>
          <a:lstStyle/>
          <a:p>
            <a:pPr algn="ctr" indent="0" marL="0">
              <a:buNone/>
            </a:pPr>
            <a:r>
              <a:rPr lang="en-US" sz="1400" i="1" dirty="0">
                <a:solidFill>
                  <a:srgbClr val="A8B4C2"/>
                </a:solidFill>
                <a:latin typeface="Calibri" pitchFamily="34" charset="0"/>
                <a:ea typeface="Calibri" pitchFamily="34" charset="-122"/>
                <a:cs typeface="Calibri" pitchFamily="34" charset="-120"/>
              </a:rPr>
              <a:t>Obrigado por participar.</a:t>
            </a:r>
            <a:endParaRPr lang="en-US" sz="1400" dirty="0"/>
          </a:p>
        </p:txBody>
      </p:sp>
      <p:sp>
        <p:nvSpPr>
          <p:cNvPr id="12" name="Text 10"/>
          <p:cNvSpPr/>
          <p:nvPr/>
        </p:nvSpPr>
        <p:spPr>
          <a:xfrm>
            <a:off x="640080" y="6510528"/>
            <a:ext cx="5455768" cy="274320"/>
          </a:xfrm>
          <a:prstGeom prst="rect">
            <a:avLst/>
          </a:prstGeom>
          <a:noFill/>
          <a:ln/>
        </p:spPr>
        <p:txBody>
          <a:bodyPr wrap="square" rtlCol="0" anchor="ctr"/>
          <a:lstStyle/>
          <a:p>
            <a:pPr algn="l" indent="0" marL="0">
              <a:buNone/>
            </a:pPr>
            <a:r>
              <a:rPr lang="en-US" sz="900" dirty="0">
                <a:solidFill>
                  <a:srgbClr val="8595A6"/>
                </a:solidFill>
                <a:latin typeface="Calibri" pitchFamily="34" charset="0"/>
                <a:ea typeface="Calibri" pitchFamily="34" charset="-122"/>
                <a:cs typeface="Calibri" pitchFamily="34" charset="-120"/>
              </a:rPr>
              <a:t>EduGenAI</a:t>
            </a:r>
            <a:endParaRPr lang="en-US" sz="900" dirty="0"/>
          </a:p>
        </p:txBody>
      </p:sp>
      <p:sp>
        <p:nvSpPr>
          <p:cNvPr id="13" name="Text 11"/>
          <p:cNvSpPr/>
          <p:nvPr/>
        </p:nvSpPr>
        <p:spPr>
          <a:xfrm>
            <a:off x="6095848" y="6510528"/>
            <a:ext cx="5455768" cy="274320"/>
          </a:xfrm>
          <a:prstGeom prst="rect">
            <a:avLst/>
          </a:prstGeom>
          <a:noFill/>
          <a:ln/>
        </p:spPr>
        <p:txBody>
          <a:bodyPr wrap="square" rtlCol="0" anchor="ctr"/>
          <a:lstStyle/>
          <a:p>
            <a:pPr algn="r" indent="0" marL="0">
              <a:buNone/>
            </a:pPr>
            <a:r>
              <a:rPr lang="en-US" sz="900" dirty="0">
                <a:solidFill>
                  <a:srgbClr val="8595A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Precificação de produtos para pequenos negócios</dc:title>
  <dc:subject>PptxGenJS Presentation</dc:subject>
  <dc:creator>EduGenAI</dc:creator>
  <cp:lastModifiedBy>EduGenAI</cp:lastModifiedBy>
  <cp:revision>1</cp:revision>
  <dcterms:created xsi:type="dcterms:W3CDTF">2026-07-08T22:49:46Z</dcterms:created>
  <dcterms:modified xsi:type="dcterms:W3CDTF">2026-07-08T22:49:46Z</dcterms:modified>
</cp:coreProperties>
</file>