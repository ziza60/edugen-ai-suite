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notesMasterIdLst>
    <p:notesMasterId r:id="rId9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1143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2286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3429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4572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5715000"/>
            <a:ext cx="6705432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6705432" y="-2400300"/>
            <a:ext cx="8534187" cy="853418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822960"/>
            <a:ext cx="32004" cy="5212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100584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" y="128016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55448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82880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2103120"/>
            <a:ext cx="292608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1188720"/>
            <a:ext cx="3200400" cy="16459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COMPLETO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1828800"/>
            <a:ext cx="633968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 para Aumentar a Produtividade no Trabalho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10972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5029200"/>
            <a:ext cx="466344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814255" y="365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17175" y="1188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20095" y="201168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5321808"/>
            <a:ext cx="109728" cy="10972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5760720"/>
            <a:ext cx="274320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Text 27"/>
          <p:cNvSpPr/>
          <p:nvPr/>
        </p:nvSpPr>
        <p:spPr>
          <a:xfrm>
            <a:off x="9448495" y="6263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2026-03-09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 ·  1/2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8288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5501488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740664" y="17922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2377440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" y="2907792"/>
            <a:ext cx="1778965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999232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conceitos fundamentais da Inteligência Artificial (IA).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77970" y="3694176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35170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16882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19" name="Shape 17"/>
          <p:cNvSpPr/>
          <p:nvPr/>
        </p:nvSpPr>
        <p:spPr>
          <a:xfrm>
            <a:off x="4316882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63186" y="17922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63186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81474" y="2377440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81474" y="2907792"/>
            <a:ext cx="1778965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81474" y="2999232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como a Inteligência Artificial otimiza a comunicação e a gestão da informação.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00493" y="369417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057693" y="167335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039405" y="1645920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28" name="Shape 26"/>
          <p:cNvSpPr/>
          <p:nvPr/>
        </p:nvSpPr>
        <p:spPr>
          <a:xfrm>
            <a:off x="8039405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185709" y="17922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185709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03997" y="2377440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03997" y="2907792"/>
            <a:ext cx="1778965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203997" y="2999232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utilizar ferramentas de Inteligência Artificial para agilizar o processo de criação.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323015" y="369417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" y="4123944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409651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4096512"/>
            <a:ext cx="45720" cy="228600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740664" y="42428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58952" y="4828032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8952" y="5358384"/>
            <a:ext cx="1778965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" y="5449824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Habilitar a utilização de ferramentas de IA para otimizar a tomada de decisões em contextos.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77970" y="61447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4335170" y="4123944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4316882" y="409651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46" name="Shape 44"/>
          <p:cNvSpPr/>
          <p:nvPr/>
        </p:nvSpPr>
        <p:spPr>
          <a:xfrm>
            <a:off x="4316882" y="4096512"/>
            <a:ext cx="45720" cy="228600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47" name="Shape 45"/>
          <p:cNvSpPr/>
          <p:nvPr/>
        </p:nvSpPr>
        <p:spPr>
          <a:xfrm>
            <a:off x="4463186" y="42428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48" name="Text 46"/>
          <p:cNvSpPr/>
          <p:nvPr/>
        </p:nvSpPr>
        <p:spPr>
          <a:xfrm>
            <a:off x="4463186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481474" y="4828032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481474" y="5358384"/>
            <a:ext cx="1778965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4481474" y="5449824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papel da IA na otimização de rotinas de trabalho e pessoais.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600493" y="614476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3" name="Shape 51"/>
          <p:cNvSpPr/>
          <p:nvPr/>
        </p:nvSpPr>
        <p:spPr>
          <a:xfrm>
            <a:off x="8057693" y="4123944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8039405" y="4096512"/>
            <a:ext cx="3557930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55" name="Shape 53"/>
          <p:cNvSpPr/>
          <p:nvPr/>
        </p:nvSpPr>
        <p:spPr>
          <a:xfrm>
            <a:off x="8039405" y="4096512"/>
            <a:ext cx="45720" cy="228600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56" name="Shape 54"/>
          <p:cNvSpPr/>
          <p:nvPr/>
        </p:nvSpPr>
        <p:spPr>
          <a:xfrm>
            <a:off x="8185709" y="42428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57" name="Text 55"/>
          <p:cNvSpPr/>
          <p:nvPr/>
        </p:nvSpPr>
        <p:spPr>
          <a:xfrm>
            <a:off x="8185709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8203997" y="4828032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203997" y="5358384"/>
            <a:ext cx="1778965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Text 58"/>
          <p:cNvSpPr/>
          <p:nvPr/>
        </p:nvSpPr>
        <p:spPr>
          <a:xfrm>
            <a:off x="8203997" y="5449824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princípios éticos e de segurança essenciais no uso da Inteligência Artificial.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1323015" y="6144768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 ·  2/2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828800" cy="27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673352"/>
            <a:ext cx="11002975" cy="2286000"/>
          </a:xfrm>
          <a:prstGeom prst="roundRect">
            <a:avLst>
              <a:gd name="adj" fmla="val 4800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45920"/>
            <a:ext cx="11002975" cy="2286000"/>
          </a:xfrm>
          <a:prstGeom prst="roundRect">
            <a:avLst>
              <a:gd name="adj" fmla="val 4800"/>
            </a:avLst>
          </a:prstGeom>
          <a:solidFill>
            <a:srgbClr val="111D3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645920"/>
            <a:ext cx="45720" cy="228600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740664" y="17922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2377440"/>
            <a:ext cx="10673791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" y="2907792"/>
            <a:ext cx="5501488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999232"/>
            <a:ext cx="10673791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Selecionar e implementar ferramentas de IA de forma eficaz no dia a dia profissional.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323015" y="369417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619695" y="27432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6C63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9448495" y="-548640"/>
            <a:ext cx="3200400" cy="320040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81328"/>
            <a:ext cx="1280160" cy="20117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691640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conceitos fundamentais da Inteligência Artificial (IA).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946904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os principais tipos e aplicações da IA no contexto profissional.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349240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estratégias para aproveitar os benefícios da IA na otimização da produtividade.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 campo da ciência da computação que desenvolve máquinas capazes de executar tarefas que normalmente exigem inteligência humana.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principal objetivo é simular as habilidades cognitivas humanas para resolver problemas e otimizar processos.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501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758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902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2902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59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Embora complexa, a IA está presente em nosso cotidiano, desde assistentes de voz até recomendações personalizadas.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da 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9576" y="1664208"/>
            <a:ext cx="4774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4088" y="2176272"/>
            <a:ext cx="5268316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2231136"/>
            <a:ext cx="523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Execução de tarefas repetitivas e baseadas em regras por máquinas, sem intervenção humana.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6452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6452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31940" y="1664208"/>
            <a:ext cx="4774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 (aprendizado de máquina)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56452" y="2176272"/>
            <a:ext cx="5268316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6374740" y="2231136"/>
            <a:ext cx="523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Capacidade dos sistemas de aprenderem a partir de dados, identificando padrões e realizando previsões.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" y="4151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79576" y="4114800"/>
            <a:ext cx="4774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Raciocínio Lógico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4088" y="4626864"/>
            <a:ext cx="5268316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" y="4681728"/>
            <a:ext cx="523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Processamento de informações para chegar a conclusões, simulando o raciocínio humano.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56452" y="4151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356452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31940" y="4114800"/>
            <a:ext cx="4774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Percepção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56452" y="4626864"/>
            <a:ext cx="5268316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6374740" y="4681728"/>
            <a:ext cx="523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Interpretação de dados sensoriais (como imagens ou sons) para compreender o ambiente.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8" name="Text 46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da IA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Linguagem Natural: Avanço da IA na compreensão e geração de linguagem humana. Assistentes Virtuais: Siri, Alexa e Google Assistant respondem a comandos de voz.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Recomendação: Netflix e Spotify utilizam IA para sugerir conteúdo baseado em hábitos.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3938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6506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7946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47946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4522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de Spam: E-mails usam IA para identificar e bloquear mensagens indesejadas.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46085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8118653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0093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210093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6669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Reconhecimento Facial: Presente em celulares e sistemas de segurança para identificar pessoas.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IA Fraca (Narrow AI)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IA Forte (General AI)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Capacidade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Projetada para tarefas específicas.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Possui inteligência em nível humano ou superior.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🌐 Consciência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possui consciência, emoções ou inteligência geral.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Capaz de aprender, raciocinar e compreender tarefas complexas.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🌍 Prevalência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 a forma de IA mais comum e difundida atualmente.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Conceito teórico, objetivo de pesquisa de longo prazo.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💡 Exemplos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Carros autônomos, assistentes de voz, mecanismos de recomendação.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existem sistemas em funcionamento no mundo real.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03650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tem um vasto potencial para aumentar a produtividade no trabalho, impulsionando profissionais de diversas áreas.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71893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B82F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90618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automatiza tarefas, otimiza processos e oferece percepções valiosas.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0135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58861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E-mails podem ser classificados e respondidos com base em seu conteúdo.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603650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22376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Planilhas de dados podem ser analisadas e preenchidas automaticamente pela IA.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371893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6B6D4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490618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Rotinas administrativas, como agendamento de reuniões, podem ser simplificadas.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58277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8130845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6" name="Shape 34"/>
          <p:cNvSpPr/>
          <p:nvPr/>
        </p:nvSpPr>
        <p:spPr>
          <a:xfrm>
            <a:off x="8130845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140135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258861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RPA (Robotic Process Automation) executam tarefas altamente repetitivas.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43661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7086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7086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tempo para que os colaboradores se concentrem em atividades estratégicas.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571293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34717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34717"/>
            <a:ext cx="45720" cy="943661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86938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86938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562149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grandes volumes de dados para identificar gargalos e ineficiências.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" y="3569818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533242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533242"/>
            <a:ext cx="45720" cy="943661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" y="3867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560674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 percepções baseadas em dados para apoiar decisões mais assertivas e rápidas.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568342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31766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31766"/>
            <a:ext cx="45720" cy="943661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" y="4866437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" y="486643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4559198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Projeções de vendas e análises de mercado são aprimoradas com modelos preditivos.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21792" y="5566867"/>
            <a:ext cx="5387188" cy="943661"/>
          </a:xfrm>
          <a:prstGeom prst="roundRect">
            <a:avLst>
              <a:gd name="adj" fmla="val 9690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5530291"/>
            <a:ext cx="5387188" cy="943661"/>
          </a:xfrm>
          <a:prstGeom prst="roundRect">
            <a:avLst>
              <a:gd name="adj" fmla="val 5814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5530291"/>
            <a:ext cx="45720" cy="943661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376" y="586496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" y="586496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69848" y="5557723"/>
            <a:ext cx="4838548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podem otimizar rotas de entrega ou alocação de recursos. Permite a criação de fluxos de trabalho eficientes e eficazes.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Chatbots e assistentes virtuais fornecem suporte ao cliente 24/7 de forma eficiente.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cria ofertas e comunicações altamente personalizadas para clientes.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329020" y="3694176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1588" y="3657600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1588" y="3657600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56" name="Shape 54"/>
          <p:cNvSpPr/>
          <p:nvPr/>
        </p:nvSpPr>
        <p:spPr>
          <a:xfrm>
            <a:off x="6429604" y="40142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429604" y="4014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77076" y="3685032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Aprimora a experiência do usuário, tornando interações mais rápidas e relevantes.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329020" y="4754880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6301588" y="4718304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61" name="Shape 59"/>
          <p:cNvSpPr/>
          <p:nvPr/>
        </p:nvSpPr>
        <p:spPr>
          <a:xfrm>
            <a:off x="6301588" y="4718304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62" name="Shape 60"/>
          <p:cNvSpPr/>
          <p:nvPr/>
        </p:nvSpPr>
        <p:spPr>
          <a:xfrm>
            <a:off x="6429604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6429604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777076" y="4745736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de sentimentos monitoram a satisfação do cliente em tempo real. Resulta em maior satisfação do cliente e fidelização.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6" name="Shape 64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7" name="Shape 65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8" name="Shape 66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9" name="Shape 67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0" name="Shape 68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1" name="Shape 69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72" name="Text 70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03650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auxiliam na criação de textos, resumos e roteiros. Traduz documentos e comunicações para múltiplos idiomas rapidamente.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71893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B82F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90618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tendências e informações relevantes em grandes massas de texto.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0135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58861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revisão gramatical e ortográfica em documentos e apresentações.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603650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22376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relatórios e dashboards concisos com base em dados complexos.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371893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6B6D4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490618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o processo de recrutamento, filtrando currículos e identificando candidatos.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58277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8130845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6" name="Shape 34"/>
          <p:cNvSpPr/>
          <p:nvPr/>
        </p:nvSpPr>
        <p:spPr>
          <a:xfrm>
            <a:off x="8130845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140135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258861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preditivas ajudam a antecipar a rotatividade de funcionários e gerenciar equipes.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personalizam trilhas de aprendizado e desenvolvimento profissional.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 do engajamento dos colaboradores através da análise de dados internos.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3938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6506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7946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47946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4522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consolidação de feedbacks e a criação de planos de ação.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46085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8118653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0093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210093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6669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Quais tarefas no seu dia a dia profissional são repetitivas e poderiam ser automatizadas por uma ferramenta de IA?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5010912"/>
          </a:xfrm>
          <a:prstGeom prst="roundRect">
            <a:avLst>
              <a:gd name="adj" fmla="val 1825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5010912"/>
          </a:xfrm>
          <a:prstGeom prst="roundRect">
            <a:avLst>
              <a:gd name="adj" fmla="val 1825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5010912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5010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4791456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5010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Mesmo sem ter conhecimento em programação, profissionais de diversas áreas podem aproveitar os benefícios da IA.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002975" y="158191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C63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8952" y="1618488"/>
            <a:ext cx="10225735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Aplicados: Marketing: Personaliza campanhas, analisa tendências de consumo e otimiza conteúdo para SEO.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aproveitar a IA de forma estratégica, é essencial estar atento a como ela pode ser integrada ao seu trabalho.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560320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23744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você trabalhe de maneira mais inteligente.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6" name="Text 2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Chave para 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130552"/>
            <a:ext cx="52134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Tarefas Repetitivas: Observe quais tarefas em seu dia a dia profissional poderiam ser automatizadas.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6724" y="1536192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8436" y="1508760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8436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74740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74740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4740" y="2130552"/>
            <a:ext cx="52134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Ferramentas Existentes: Pesquise softwares e aplicações já disponíveis que utilizam IA e que podem ser úteis.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3310128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282696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" y="3904488"/>
            <a:ext cx="52134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Pense em Otimização: Considere como a IA poderia otimizar um processo atualmente demorado ou ineficiente.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6724" y="3310128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8436" y="3282696"/>
            <a:ext cx="5506060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8436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74740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7474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74740" y="3904488"/>
            <a:ext cx="52134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Mantenha-se Informado: Acompanhe as novidades e tendências da IA para identificar novas oportunidades de aplicação.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fundamentos da Inteligência Artificial, entendendo seus conceitos essenciais e diferentes tipos, com foco na IA Fraca como a mais presente.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474720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como a IA atua como um catalisador para aumentar a produtividade no ambiente de trabalho. Os profissionais podem automatizar, otimizar e inovar suas tarefas independentemente da área de atuação.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máquinas simulem capacidades cognitivas humanas.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671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9671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Fraca é especializada para tarefas específicas e é a mais comum atualmente.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2765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52765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de máquina é um campo crucial da IA que permite sistemas aprenderem com dados.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repetitivas, liberando tempo para atividades estratégicas e criativas.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9671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9671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otimiza processos, fornecendo percepções para decisões mais inteligentes e baseadas em dados.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4749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6461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52765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52765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proporciona benefícios em diversas áreas, independentemente da expertise técnica do profissional.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619695" y="27432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B82F6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9448495" y="-548640"/>
            <a:ext cx="3200400" cy="3200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81328"/>
            <a:ext cx="1280160" cy="201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691640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como a Inteligência Artificial otimiza a comunicação e a gestão da informação.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946904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habilidades para aplicar ferramentas de IA em tarefas de e-mails, agendamentos e documentos.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349240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a IA para extrair informações relevantes e aprimorar a produtividade no trabalho.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aumentar a eficiência, reduzir tarefas repetitivas e permitir maior atenção a atividades estratégicas.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tecnologias de IA usam algoritmos e aprendizado de máquina para automatizar, organizar e analisar grandes volumes de dados.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501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758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902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2902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59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final, você terá clareza sobre como incorporar essas ferramentas para novos níveis de produtividade.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03650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e a gestão da informação são pilares essenciais para a produtividade.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71893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B82F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90618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o volume crescente de dados, a Inteligência Artificial (IA) otimiza esses processos, transformando o dia a dia profissional.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0135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58861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apresentará soluções práticas para gerir e-mails, agendamentos, documentos e a extração de informações.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83971" y="1517904"/>
            <a:ext cx="21946" cy="49194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670739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70739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1453896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1417320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" y="1417320"/>
            <a:ext cx="45720" cy="689719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417320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soluções inovadoras para transformar a gestão de e-mails, tornando-a mais eficiente e menos estressante.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240617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0617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264" y="2189335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832" y="2152759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" y="2152759"/>
            <a:ext cx="45720" cy="689719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171047"/>
            <a:ext cx="10637215" cy="2690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Limpeza em massa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2421801"/>
            <a:ext cx="10637215" cy="410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 e arquiva e-mails antigos ou desnecessários.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141617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141617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9264" y="2924774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941832" y="2888198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941832" y="2888198"/>
            <a:ext cx="45720" cy="689719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2888198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contribui para um ambiente digital mais organizado.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4360" y="387705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877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9264" y="3660213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941832" y="3623637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33" name="Shape 31"/>
          <p:cNvSpPr/>
          <p:nvPr/>
        </p:nvSpPr>
        <p:spPr>
          <a:xfrm>
            <a:off x="941832" y="3623637"/>
            <a:ext cx="45720" cy="689719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3641925"/>
            <a:ext cx="10637215" cy="2690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Reserva de recursos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3892679"/>
            <a:ext cx="10637215" cy="410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Algumas ferramentas permitem a reserva de salas e equipamentos automaticamente, centralizando informações do evento.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94360" y="4612495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612495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69264" y="4395651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941832" y="4359075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40" name="Shape 38"/>
          <p:cNvSpPr/>
          <p:nvPr/>
        </p:nvSpPr>
        <p:spPr>
          <a:xfrm>
            <a:off x="941832" y="4359075"/>
            <a:ext cx="45720" cy="689719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" y="4377363"/>
            <a:ext cx="10637215" cy="2690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Indexação eficiente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97280" y="4628118"/>
            <a:ext cx="10637215" cy="410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que documentos sejam facilmente localizados por palavras-chave, melhorando a relevância da busca.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" y="534793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534793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69264" y="5131090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941832" y="5094514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47" name="Shape 45"/>
          <p:cNvSpPr/>
          <p:nvPr/>
        </p:nvSpPr>
        <p:spPr>
          <a:xfrm>
            <a:off x="941832" y="5094514"/>
            <a:ext cx="45720" cy="689719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8" name="Text 46"/>
          <p:cNvSpPr/>
          <p:nvPr/>
        </p:nvSpPr>
        <p:spPr>
          <a:xfrm>
            <a:off x="1097280" y="5112802"/>
            <a:ext cx="10637215" cy="2690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documentos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97280" y="5363557"/>
            <a:ext cx="10637215" cy="410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Processamento de Linguagem Natural (PLN) analisam textos extensos e sintetizam os pontos principais.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94360" y="6083373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6083373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69264" y="5866529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941832" y="5829953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54" name="Shape 52"/>
          <p:cNvSpPr/>
          <p:nvPr/>
        </p:nvSpPr>
        <p:spPr>
          <a:xfrm>
            <a:off x="941832" y="5829953"/>
            <a:ext cx="45720" cy="689719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1097280" y="5829953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gera resumos concisos.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7" name="Shape 55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9" name="Shape 57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0" name="Shape 58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63" name="Text 61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1184148"/>
          </a:xfrm>
          <a:prstGeom prst="roundRect">
            <a:avLst>
              <a:gd name="adj" fmla="val 7722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1184148"/>
          </a:xfrm>
          <a:prstGeom prst="roundRect">
            <a:avLst>
              <a:gd name="adj" fmla="val 7722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1184148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96469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Maria, gerente de marketing, tem sua caixa de entrada sempre lotada e perde muito tempo agendando reuniões com fornecedores de diferentes fusos horários.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41832" y="2683764"/>
            <a:ext cx="5486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2793492"/>
            <a:ext cx="11002975" cy="1184148"/>
          </a:xfrm>
          <a:prstGeom prst="roundRect">
            <a:avLst>
              <a:gd name="adj" fmla="val 7722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756916"/>
            <a:ext cx="11002975" cy="1184148"/>
          </a:xfrm>
          <a:prstGeom prst="roundRect">
            <a:avLst>
              <a:gd name="adj" fmla="val 7722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56916"/>
            <a:ext cx="54864" cy="1184148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56916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2866644"/>
            <a:ext cx="13716" cy="96469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2756916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 economiza horas diárias, reduzindo o estresse e dedicando mais tempo a iniciativas criativas e estratégicas.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4069080"/>
            <a:ext cx="11002975" cy="1184148"/>
          </a:xfrm>
          <a:prstGeom prst="roundRect">
            <a:avLst>
              <a:gd name="adj" fmla="val 772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032504"/>
            <a:ext cx="11002975" cy="1184148"/>
          </a:xfrm>
          <a:prstGeom prst="roundRect">
            <a:avLst>
              <a:gd name="adj" fmla="val 7722"/>
            </a:avLst>
          </a:prstGeom>
          <a:solidFill>
            <a:srgbClr val="141E34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032504"/>
            <a:ext cx="54864" cy="1184148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32504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4142232"/>
            <a:ext cx="13716" cy="96469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4032504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sua caixa de entrada principal para interações urgentes.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 rot="2700000">
            <a:off x="941832" y="5234940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5344668"/>
            <a:ext cx="11002975" cy="1184148"/>
          </a:xfrm>
          <a:prstGeom prst="roundRect">
            <a:avLst>
              <a:gd name="adj" fmla="val 7722"/>
            </a:avLst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308092"/>
            <a:ext cx="11002975" cy="1184148"/>
          </a:xfrm>
          <a:prstGeom prst="roundRect">
            <a:avLst>
              <a:gd name="adj" fmla="val 7722"/>
            </a:avLst>
          </a:prstGeom>
          <a:solidFill>
            <a:srgbClr val="141E34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5308092"/>
            <a:ext cx="54864" cy="1184148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308092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14600" y="5417820"/>
            <a:ext cx="13716" cy="96469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Text 31"/>
          <p:cNvSpPr/>
          <p:nvPr/>
        </p:nvSpPr>
        <p:spPr>
          <a:xfrm>
            <a:off x="2697480" y="5308092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 configura seu cliente de e-mail com regras inteligentes de IA, que movem e-mails de newsletters para uma pasta específica e priorizam mensagens de clientes.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1" name="Text 3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adaptação: A resistência à mudança por parte dos colaboradores pode dificultar a implementação de novas ferramentas.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40334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36677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36677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39420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depende de dados de entrada de qualidade; dados imprecisos ou incompletos podem gerar resultados insatisfatórios.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" y="323392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19735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19735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22478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Privacidade e segurança: Ferramentas de IA que processam comunicações e documentos exigem atenção rigorosa à privacidade dos dados e à segurança da informação.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406450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02793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02793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05536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Curva de aprendizado: Embora visem simplificar, algumas ferramentas podem ter uma curva de aprendizado inicial que exige tempo e treinamento.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" y="489508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85851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85851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488594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Excesso de confiança: A dependência excessiva na IA pode levar à negligência da revisão humana, perdendo percepções originais ou detectando erros.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" y="572566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568909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568909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57165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automação de tarefas repetitivas, como a triagem de e-mails, poderia impactar positivamente seu foco em atividades estratégicas no dia a dia?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as ferramentas de Inteligência Artificial otimizam a gestão de comunicação e informação.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474720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aplicação da IA na organização de e-mails, agendamento inteligente, gestão de documentos e extração rápida de informações, salientando seu potencial para revolucionar a produtividade.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4462272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25696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5354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4956048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não técnicos podem aproveitar essas inovações para focar em tarefas de maior valor e promover a eficiência.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 em e-mails, liberando tempo para atividades estratégicas.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671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9671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inteligentes de agendamento eliminam conflitos de horário e melhoram a coordenação.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2765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52765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gestão de documentos com IA permite categorização automática, busca eficiente e maior segurança.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extração de informações por IA acelera a análise de dados, oferecendo resumos e percepções concisos.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9671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9671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adoção dessas ferramentas de IA impulsiona a eficiência e produtividade individual e coletiva.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4749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6461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52765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52765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em áreas chave transforma o dia a dia profissional, tornando-o mais organizado.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548626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548626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548626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548626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548626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5486263" cy="1152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619695" y="27432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0B981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9448495" y="-548640"/>
            <a:ext cx="3200400" cy="3200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81328"/>
            <a:ext cx="1280160" cy="201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691640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utilizar ferramentas de Inteligência Artificial para agilizar o processo de criação de conteúdo.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946904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habilidade de gerar textos de alta qualidade, como e-mails, relatórios e posts para redes sociais.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349240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a IA para otimizar a redação, garantindo maior qualidade textual e produtividade.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(IA), por meio de modelos de linguagem avançados (LLMs), transformou a interação com textos.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ferramentas analisam grandes volumes de dados textuais.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3938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6506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7946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47946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4522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compreendem padrões, estilos e contextos. Consequentemente, podem gerar textos coesos e relevantes.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46085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8118653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0093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210093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6669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Muitas vezes, esses textos são indistinguíveis da produção humana.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711403" y="1545336"/>
            <a:ext cx="21946" cy="486460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7942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7942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" y="1453896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" y="1417320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" y="1417320"/>
            <a:ext cx="45720" cy="961949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52144" y="1417320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na escrita e criação de conteúdo opera por meio de algoritmos complexos.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2814523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81452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" y="2488997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" y="2452421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" y="2452421"/>
            <a:ext cx="45720" cy="961949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152144" y="2452421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processam prompts (instruções) fornecidos pelo usuário.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38496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4128" y="35240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96696" y="34875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996696" y="3487522"/>
            <a:ext cx="45720" cy="961949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152144" y="3487522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nesses prompts e em seu vasto treinamento, a IA gera o texto desejado.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4360" y="4884725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88472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4128" y="45591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96696" y="45226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6696" y="4522622"/>
            <a:ext cx="45720" cy="961949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152144" y="4522622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 processo envolve a seleção de palavras, a construção de frases e a estruturação de parágrafos.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4360" y="591982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9198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4128" y="5594299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" y="5557723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" y="5557723"/>
            <a:ext cx="45720" cy="961949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1152144" y="5557723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produzir um conteúdo que atenda aos requisitos especificados.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228027"/>
                <a:gridCol w="2228027"/>
                <a:gridCol w="2228027"/>
                <a:gridCol w="2228027"/>
                <a:gridCol w="2228027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Critério 🚀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Geradores de Texto Puros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Ferramentas de Marketing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Assistentes de Escrita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Transcrição/Sumarização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conteúdo a partir de prompts.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Modelos específicos para marketing.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Aprimora textos existentes.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Converte áudio, resume documentos.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Exemplos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ChatGPT, Google Gemini, Claude.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Jasper, Copy.ai.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Grammarly, QuillBot.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Otter.ai, Fireflies.ai.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Conteúdos variados, como artigos e scripts.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Posts de blog, anúncios, descrições de produtos.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Correção gramatical, estilo, clareza.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Atas de reunião, longos documentos.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11140135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9576" y="1664208"/>
            <a:ext cx="1042690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Posts para Redes Sociais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4088" y="2176272"/>
            <a:ext cx="10920679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2231136"/>
            <a:ext cx="10884103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 conteúdo para diversas plataformas, adaptando a linguagem e sugerindo hashtags relevantes.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 objetividade e economia de tempo.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Descrições de Produtos e Serviços: Gera textos persuasivos e otimizados para e-commerce. Inclui palavras-chave SEO para maior visibilidade.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0" name="Text 28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3)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7772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1682496"/>
            <a:ext cx="47196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diversas tarefas de escrita no dia a dia profissional, acelerando processos e melhorando a qualidade.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4156" y="1572768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6724" y="1536192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46724" y="1536192"/>
            <a:ext cx="5487772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6452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56452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31940" y="1664208"/>
            <a:ext cx="4774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E-mails e Comunicações Internas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6452" y="2176272"/>
            <a:ext cx="5268316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Text 19"/>
          <p:cNvSpPr/>
          <p:nvPr/>
        </p:nvSpPr>
        <p:spPr>
          <a:xfrm>
            <a:off x="6374740" y="2231136"/>
            <a:ext cx="523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criação de e-mails comerciais ou de comunicados internos é otimizada.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7772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2376" y="4133088"/>
            <a:ext cx="47196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garante tom e clareza adequados para cada mensagem.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74156" y="4023360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6246724" y="3986784"/>
            <a:ext cx="5487772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9" name="Shape 27"/>
          <p:cNvSpPr/>
          <p:nvPr/>
        </p:nvSpPr>
        <p:spPr>
          <a:xfrm>
            <a:off x="6246724" y="3986784"/>
            <a:ext cx="5487772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6452" y="4151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356452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31940" y="4114800"/>
            <a:ext cx="47745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Relatórios e Documentação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56452" y="4626864"/>
            <a:ext cx="5268316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6374740" y="4681728"/>
            <a:ext cx="52317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Auxilia na estruturação de relatórios e na sumarização de documentos extensos.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E-mail de Prospecção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2459736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"Crie um e-mail formal para agendar uma reunião de apresentação de projeto com o cliente 'SolarTech'. Sugira três datas e horários na próxima semana. Inclua uma breve agenda.".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4069080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40325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032504"/>
            <a:ext cx="54864" cy="2459736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32504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4142232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4032504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geraria um e-mail com estrutura profissional. Conteria as datas sugeridas e uma agenda clara para a reunião. Imagine precisar enviar um e-mail a um novo contato.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Sumarização de Conteúdo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1609344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138988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"Sumarize o seguinte texto sobre as tendências de marketing digital de 2024 em três parágrafos, focando nos principais pontos para pequenas empresas.".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41832" y="3108960"/>
            <a:ext cx="5486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3218688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182112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182112"/>
            <a:ext cx="54864" cy="1609344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3291840"/>
            <a:ext cx="13716" cy="138988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182112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Adapte o prompt ao contexto do caso.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 rot="2700000">
            <a:off x="941832" y="4809744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4919472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882896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141E34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882896"/>
            <a:ext cx="54864" cy="1609344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82896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4992624"/>
            <a:ext cx="13716" cy="138988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4882896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produziria um resumo conciso. Ele destacaria as tendências mais relevantes para o público-alvo especificado. Para condensar um material extenso rapidamente.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Descrição de Produto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2459736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"Escreva uma descrição de produto para um smartwatch à prova d'água. Destaque sua durabilidade, funções fitness e conectividade com smartphone. Use tom persuasivo.".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4069080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40325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032504"/>
            <a:ext cx="54864" cy="2459736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32504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4142232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4032504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criaria uma descrição atraente. Ela enfatizaria os benefícios e características essenciais do produto. Para impulsionar vendas online.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Post para Redes Sociais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4983480"/>
          </a:xfrm>
          <a:prstGeom prst="roundRect">
            <a:avLst>
              <a:gd name="adj" fmla="val 1835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47274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483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automação da escrita com IA pode impactar sua rotina profissional mais desafiadora, gerando ganhos de tempo e qualidade?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Post para Redes Sociais (Parte 2)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2459736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"Crie três ideias de posts para o LinkedIn sobre o tema 'Importância da Inteligência Emocional no Ambiente Corporativo'. Inclua emojis e hashtags relevantes.".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4069080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40325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032504"/>
            <a:ext cx="54864" cy="2459736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32504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4142232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4032504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apresentaria posts distintos, direcionados ao público do LinkedIn. Conteriam emojis e hashtags estratégicas. Para engajar a audiência no LinkedIn.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513207"/>
          </a:xfrm>
          <a:prstGeom prst="roundRect">
            <a:avLst>
              <a:gd name="adj" fmla="val 1781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513207"/>
          </a:xfrm>
          <a:prstGeom prst="roundRect">
            <a:avLst>
              <a:gd name="adj" fmla="val 14254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513207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45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maximizar os resultados e evitar problemas, algumas práticas são essenciais ao usar a IA.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195703"/>
            <a:ext cx="11140135" cy="513207"/>
          </a:xfrm>
          <a:prstGeom prst="roundRect">
            <a:avLst>
              <a:gd name="adj" fmla="val 1781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159127"/>
            <a:ext cx="11140135" cy="513207"/>
          </a:xfrm>
          <a:prstGeom prst="roundRect">
            <a:avLst>
              <a:gd name="adj" fmla="val 14254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159127"/>
            <a:ext cx="54864" cy="513207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186559"/>
            <a:ext cx="10865815" cy="45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 Prompt: Prompts vagos geram respostas genéricas. Seja sempre específico e claro nas instruções.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" y="2818638"/>
            <a:ext cx="11140135" cy="513207"/>
          </a:xfrm>
          <a:prstGeom prst="roundRect">
            <a:avLst>
              <a:gd name="adj" fmla="val 1781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782062"/>
            <a:ext cx="11140135" cy="513207"/>
          </a:xfrm>
          <a:prstGeom prst="roundRect">
            <a:avLst>
              <a:gd name="adj" fmla="val 14254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782062"/>
            <a:ext cx="54864" cy="513207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2809494"/>
            <a:ext cx="10865815" cy="45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Insuficiente: A IA precisa de contexto completo para produzir conteúdo relevante. Forneça informações de fundo e histórico.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3441573"/>
            <a:ext cx="11140135" cy="513207"/>
          </a:xfrm>
          <a:prstGeom prst="roundRect">
            <a:avLst>
              <a:gd name="adj" fmla="val 17817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404997"/>
            <a:ext cx="11140135" cy="513207"/>
          </a:xfrm>
          <a:prstGeom prst="roundRect">
            <a:avLst>
              <a:gd name="adj" fmla="val 14254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404997"/>
            <a:ext cx="54864" cy="513207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3432429"/>
            <a:ext cx="10865815" cy="45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 e Estilo Inadequados: Sem a indicação do tom e estilo desejados, o texto pode não se alinhar à sua marca. Defina-os claramente.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" y="4064508"/>
            <a:ext cx="11140135" cy="513207"/>
          </a:xfrm>
          <a:prstGeom prst="roundRect">
            <a:avLst>
              <a:gd name="adj" fmla="val 1781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027932"/>
            <a:ext cx="11140135" cy="513207"/>
          </a:xfrm>
          <a:prstGeom prst="roundRect">
            <a:avLst>
              <a:gd name="adj" fmla="val 14254"/>
            </a:avLst>
          </a:prstGeom>
          <a:solidFill>
            <a:srgbClr val="FF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027932"/>
            <a:ext cx="54864" cy="513207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4055364"/>
            <a:ext cx="10865815" cy="45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Alucinações da IA: A ferramenta pode gerar informações incorretas ou fictícias. Revise sempre o conteúdo gerado.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" y="4687443"/>
            <a:ext cx="11140135" cy="513207"/>
          </a:xfrm>
          <a:prstGeom prst="roundRect">
            <a:avLst>
              <a:gd name="adj" fmla="val 17817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4650867"/>
            <a:ext cx="11140135" cy="513207"/>
          </a:xfrm>
          <a:prstGeom prst="roundRect">
            <a:avLst>
              <a:gd name="adj" fmla="val 14254"/>
            </a:avLst>
          </a:prstGeom>
          <a:solidFill>
            <a:srgbClr val="141E34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4650867"/>
            <a:ext cx="54864" cy="513207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4678299"/>
            <a:ext cx="10865815" cy="45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Personalização: O texto da IA pode parecer genérico. Edite e personalize para se adequar à sua voz.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" y="5310378"/>
            <a:ext cx="11140135" cy="513207"/>
          </a:xfrm>
          <a:prstGeom prst="roundRect">
            <a:avLst>
              <a:gd name="adj" fmla="val 17817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5273802"/>
            <a:ext cx="11140135" cy="513207"/>
          </a:xfrm>
          <a:prstGeom prst="roundRect">
            <a:avLst>
              <a:gd name="adj" fmla="val 14254"/>
            </a:avLst>
          </a:prstGeom>
          <a:solidFill>
            <a:srgbClr val="FFF5F5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5273802"/>
            <a:ext cx="54864" cy="513207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795528" y="5301234"/>
            <a:ext cx="10865815" cy="45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Substituição Total: A IA é um assistente, não um substituto. Use-a para potencializar, não para substituir a criatividade humana.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" y="5933313"/>
            <a:ext cx="11140135" cy="513207"/>
          </a:xfrm>
          <a:prstGeom prst="roundRect">
            <a:avLst>
              <a:gd name="adj" fmla="val 17817"/>
            </a:avLst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594360" y="5896737"/>
            <a:ext cx="11140135" cy="513207"/>
          </a:xfrm>
          <a:prstGeom prst="roundRect">
            <a:avLst>
              <a:gd name="adj" fmla="val 14254"/>
            </a:avLst>
          </a:prstGeom>
          <a:solidFill>
            <a:srgbClr val="141E34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" y="5896737"/>
            <a:ext cx="54864" cy="513207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42" name="Text 40"/>
          <p:cNvSpPr/>
          <p:nvPr/>
        </p:nvSpPr>
        <p:spPr>
          <a:xfrm>
            <a:off x="795528" y="5924169"/>
            <a:ext cx="10865815" cy="45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Originalidade: Sempre verifique a originalidade do conteúdo, especialmente para evitar plágio.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0" name="Text 48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revoluciona a criação de conteúdo e automação de tarefas de escrita.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474720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aplicações práticas em e-mails, relatórios, descrições de produtos e posts para redes sociais.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4462272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25696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5354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4956048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Enfatizamos a importância de prompts claros, revisão humana e personalização para obter os melhores resultados.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06296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130552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de escrita, aumentando a velocidade e qualidade do conteúdo.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06296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671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9671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6714" y="2130552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como ChatGPT e Grammarly auxiliam na redação de e-mails, relatórios e descrições.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06296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2765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52765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2765" y="2130552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clareza e especificação dos prompts são cruciais para resultados eficazes da IA.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270504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43072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43072"/>
            <a:ext cx="45720" cy="1606296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" y="3389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3389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" y="3864864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revisar e personalizar o conteúdo gerado pela IA para garantir precisão e adequação.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270504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43072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43072"/>
            <a:ext cx="45720" cy="1606296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96714" y="3389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96714" y="3389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96714" y="3864864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atua como um assistente poderoso, potencializando a produtividade sem substituir a análise humana.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4749" y="3270504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106461" y="3243072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111D38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6461" y="3243072"/>
            <a:ext cx="45720" cy="1606296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52765" y="3389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52765" y="3389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52765" y="3864864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experimentação com diferentes ferramentas e prompts otimiza o uso da IA na escrita.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2648" y="5004816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594360" y="4977384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111D38"/>
          </a:solidFill>
          <a:ln/>
        </p:spPr>
      </p:sp>
      <p:sp>
        <p:nvSpPr>
          <p:cNvPr id="44" name="Shape 42"/>
          <p:cNvSpPr/>
          <p:nvPr/>
        </p:nvSpPr>
        <p:spPr>
          <a:xfrm>
            <a:off x="594360" y="4977384"/>
            <a:ext cx="45720" cy="1606296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" y="51236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740664" y="5123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40664" y="5599176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automação do conteúdo criativo contribui para uma comunicação consistente e de alta qualidade.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368698" y="5004816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4350410" y="4977384"/>
            <a:ext cx="3628034" cy="1606296"/>
          </a:xfrm>
          <a:prstGeom prst="roundRect">
            <a:avLst>
              <a:gd name="adj" fmla="val 6831"/>
            </a:avLst>
          </a:prstGeom>
          <a:solidFill>
            <a:srgbClr val="111D38"/>
          </a:solidFill>
          <a:ln/>
        </p:spPr>
      </p:sp>
      <p:sp>
        <p:nvSpPr>
          <p:cNvPr id="50" name="Shape 48"/>
          <p:cNvSpPr/>
          <p:nvPr/>
        </p:nvSpPr>
        <p:spPr>
          <a:xfrm>
            <a:off x="4350410" y="4977384"/>
            <a:ext cx="45720" cy="1606296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51" name="Shape 49"/>
          <p:cNvSpPr/>
          <p:nvPr/>
        </p:nvSpPr>
        <p:spPr>
          <a:xfrm>
            <a:off x="4496714" y="51236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4496714" y="5123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496714" y="5599176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no fluxo de trabalho diário pode transformar a gestão de textos e documentos.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548626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548626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548626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548626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548626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5486263" cy="11521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619695" y="27432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59E0B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9448495" y="-548640"/>
            <a:ext cx="3200400" cy="3200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81328"/>
            <a:ext cx="1280160" cy="2011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691640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papel da Inteligência Artificial na análise e interpretação de grandes volumes de dados.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946904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Habilitar a utilização de ferramentas de IA para otimizar a tomada de decisões em contextos profissionais.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349240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percepções geradas por IA para desenvolver estratégias mais eficazes e fundamentadas.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dados é vital para a operação e crescimento de negócios modernos.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volume e a velocidade dos dados atuais superam a capacidade de processamento humano.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501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758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902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2902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59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preenche essa lacuna, tornando-se essencial para extrair valor dessas informações.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e Pré-processamento de Dados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automatizam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coleta de dados de diversas fontes.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pré-processamento inclui limpeza,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padronização e estruturação dos dados.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Essa automação reduz significativamente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tempo e o erro humano nas tarefas.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qualidade dos dados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402089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para a precisão das análises de IA.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Padrões e Tendências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3493922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2067001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2067001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86000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Algoritmos de IA, como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3311042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de máquina, identificam padrões complexos em grandes conjuntos de dados.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5754" y="1746504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1719072"/>
            <a:ext cx="3493922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1548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81548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286000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Esses padrões são, muitas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651760"/>
            <a:ext cx="3311042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vezes, imperceptíveis pela análise humana tradicional.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50301" y="1746504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3141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1719072"/>
            <a:ext cx="3493922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9896094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9896094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286000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automatiza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3453" y="2651760"/>
            <a:ext cx="3311042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tendências, como picos de vendas ou mudanças no comportamento do cliente, o que permite que empresas respondam proativamente às mudanças de mercado.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8" name="Text 36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Preditiva e Prescritiva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prevê resultados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futuros com base em dados históricos, como demanda de produtos.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análise preditiva antecipa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cenários, permitindo que as empresas se preparem.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análise prescritiva recomenda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melhores ações para alcançar um objetivo específico.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exemplo, a IA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402089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 sugerir otimização de rotas ou personalização de ofertas.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Análise Preditiva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Análise Prescritiva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63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Objetivo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Prever eventos futuros.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Recomendar ações para resultados ideais.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💡 Saída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Probabilidades, previsões, classificações.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Sugestões de estratégias, otimizações.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🚀 Capacidade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Antecipa o que deve acontecer.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Sugere o que fazer acontecer.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📊 Exemplo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Prever churn de clientes.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Otimizar campanhas de marketing.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2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7" name="Text 1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1152144"/>
          </a:xfrm>
          <a:prstGeom prst="roundRect">
            <a:avLst>
              <a:gd name="adj" fmla="val 793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1152144"/>
          </a:xfrm>
          <a:prstGeom prst="roundRect">
            <a:avLst>
              <a:gd name="adj" fmla="val 6349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152144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9202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920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16152" y="1536192"/>
            <a:ext cx="1038118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identificação de um padrão oculto em dados de comportamento do cliente poderia mudar radicalmente a forma como sua empresa se comunica com ele?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2" name="Text 20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2459736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exemplo prático é a previsão de demanda em gestão de estoque. A IA analisa dados históricos de vendas, sazonalidade, promoções e até mesmo notícias econômicas.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4069080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40325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032504"/>
            <a:ext cx="54864" cy="2459736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32504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4142232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4032504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prevê a quantidade exata de produto a ser estocada para evitar excessos ou rupturas. Isso economiza custos e garante a disponibilidade do produto.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11140135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140135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1682496"/>
            <a:ext cx="1037203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impacta a tomada de decisão em diversos setores.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Vendas e Marketing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Clientes Potenciais: A IA analisa dados para encontrar leads com maior probabilidade de conversão.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Personalização de Ofertas: Recomenda produtos com base no histórico e preferências do cliente.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 de Vendas: Modelos de IA preveem a demanda futura, auxiliando na definição de metas.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de Campanhas: A IA ajusta lances de anúncios em tempo real para maximizar o desempenho.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Operações e Logística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9576" y="1664208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Estoque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4088" y="2176272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2231136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níveis de estoque, prevendo demanda para evitar excessos ou faltas.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72330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72330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47818" y="1664208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de Rotas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72330" y="2176272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90618" y="2231136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calculam rotas mais eficientes, reduzindo custos.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40573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40573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16061" y="1664208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Manutenção Preditiva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40573" y="2176272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58861" y="2231136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prevê falhas em equipamentos antes que ocorram, minimizando tempo de inatividade.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Humanos (RH)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Recrutamento Inteligente: A IA analisa currículos para identificar candidatos imparcialmente.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Desempenho: Ferramentas de IA fornecem percepções sobre o desempenho e necessidades de treinamento.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501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758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902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2902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59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 de Turnover: A IA ajuda a identificar funcionários em risco de sair, permitindo ações de retenção.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Finanças e Contabilidade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9576" y="1664208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Detecção de Fraudes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4088" y="2176272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2231136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padrões anormais em transações financeiras.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72330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472330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47818" y="1664208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Risco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72330" y="2176272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Text 22"/>
          <p:cNvSpPr/>
          <p:nvPr/>
        </p:nvSpPr>
        <p:spPr>
          <a:xfrm>
            <a:off x="4490618" y="2231136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 o risco de crédito de clientes ou projetos com base em dados financeiros.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40573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40573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16061" y="1664208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Financeira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40573" y="2176272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2" name="Text 30"/>
          <p:cNvSpPr/>
          <p:nvPr/>
        </p:nvSpPr>
        <p:spPr>
          <a:xfrm>
            <a:off x="8258861" y="2231136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Prevê tendências de mercado e desempenho de investimentos.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0" name="Text 38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é tão boa quanto os dados que a alimentam; dados ruins geram percepções imprecisos.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560320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23744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Algorítmico: Algoritmos podem perpetuar ou ampliar vieses existentes nos dados históricos.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" y="3547872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511296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511296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538728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Complexidade e Transparência: Alguns modelos de IA são "caixas-pretas," dificultando a compreensão de suas decisões.".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4535424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498848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498848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526280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e Privacidade: A manipulação de grandes volumes de dados sensíveis exige rigorosas medidas de segurança.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" y="5522976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5486400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486400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5513832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Excessiva: A confiança cega na IA pode reduzir a capacidade humana de análise crítica.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8" name="Text 36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é crucial para analisar rapidamente grandes volumes de dados complexos.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474720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que ela identifica padrões ocultos, prevê tendências e prescreve ações otimizadas. A IA transforma a tomada de decisão em diversas áreas, tornando-a mais rápida, precisa e estratégica.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a coleta, limpeza e pré-processamento de dados para análise eficiente.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671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9671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identificam padrões e tendências complexas, invisíveis à análise humana.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2765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52765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análises preditivas e prescritivas da IA antecipam cenários e sugerem as melhores ações.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BI, análise de texto e automação de marketing incorporam IA para usuários não técnicos.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9671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9671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a tomada de decisão em vendas, operações, RH e finanças, promovendo maior produtividade.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4749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6461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52765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52765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Interpretar percepções geradas por IA é uma habilidade fundamental no ambiente de trabalho moderno.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548626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548626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548626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548626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548626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548626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619695" y="27432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6B6D4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9448495" y="-548640"/>
            <a:ext cx="3200400" cy="32004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81328"/>
            <a:ext cx="1280160" cy="20117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691640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papel da IA na otimização de rotinas de trabalho e pessoais.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946904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Conhecer ferramentas e estratégias de IA para planejamento e execução de projetos.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349240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soluções de IA para melhorar a eficiência e produtividade na gestão e organização.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uma aliada poderosa para otimizar rotinas de trabalho e pessoais.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transforma a maneira como planejamos, executamos e acompanhamos projetos.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3938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6506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7946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47946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4522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otimizar o planejamento, gerenciamento de tarefas, alocação de recursos e organização pessoal.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46085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8118653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0093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210093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6669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melhora a eficiência e a produtividade em qualquer iniciativa, ao integrar a IA para impulsionar resultados e organizar a vida de forma inteligente.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revoluciona 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 de projetos com capacidades analíticas e preditivas.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 permite uma visão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clara e tomadas de decisão mais embasadas desde o início. Previsão e Análise de Riscos.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Geração Automática de Cronogramas.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Softwares com IA criam cronogramas de projeto de forma dinâmica.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Consideram dependências de tarefas,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402089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disponibilidade de recursos e prazos.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711403" y="1545336"/>
            <a:ext cx="21946" cy="486460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7942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7942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" y="1453896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" y="1417320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" y="1417320"/>
            <a:ext cx="45720" cy="961949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52144" y="1417320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otimiza o fluxo de trabalho para atividades de maior valor. Automação de Tarefas Repetitivas.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2814523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81452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" y="2488997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" y="2452421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" y="2452421"/>
            <a:ext cx="45720" cy="961949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152144" y="2452421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automatizam tarefas rotineiras e repetitivas.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38496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4128" y="35240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96696" y="34875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996696" y="3487522"/>
            <a:ext cx="45720" cy="961949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152144" y="3487522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da Alocação de Equipes. A IA analisa habilidades, disponibilidade e carga de trabalho da equipe.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4360" y="4884725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88472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4128" y="4559198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96696" y="4522622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6696" y="4522622"/>
            <a:ext cx="45720" cy="961949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152144" y="4522622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Sugere as melhores atribuições para maximizar eficiência. Minimiza custos e maximiza o valor dos ativos disponíveis.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4360" y="591982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9198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4128" y="5594299"/>
            <a:ext cx="10829239" cy="961949"/>
          </a:xfrm>
          <a:prstGeom prst="roundRect">
            <a:avLst>
              <a:gd name="adj" fmla="val 9506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6696" y="5557723"/>
            <a:ext cx="10829239" cy="961949"/>
          </a:xfrm>
          <a:prstGeom prst="roundRect">
            <a:avLst>
              <a:gd name="adj" fmla="val 5703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" y="5557723"/>
            <a:ext cx="45720" cy="961949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1152144" y="5557723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vai além dos projetos, revolucionando a organização pessoal. Assistência Virtual e Agendamento.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03650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já são uma realidade prática, incorporadas em softwares amplamente utilizado.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71893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B82F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90618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Projetos e Tarefas. Asana e Trello (com integrações de IA): Automatizam lembretes e sugerem prioridades.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8240573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40573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16061" y="1664208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Monday. com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40573" y="2176272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6" name="Text 24"/>
          <p:cNvSpPr/>
          <p:nvPr/>
        </p:nvSpPr>
        <p:spPr>
          <a:xfrm>
            <a:off x="8258861" y="2231136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 fluxos de trabalho e realiza análises preditivas via IA.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" y="4151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79576" y="4114800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 (com plugins de IA)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04088" y="4626864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" y="4681728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a prever prazos e alocar recursos de forma eficiente.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7" name="Shape 35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7371893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6B6D4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490618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Pessoais Inteligentes. Calendly: Otimiza o agendamento de reuniões, evitando conflitos de horários.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58277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8130845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42" name="Shape 40"/>
          <p:cNvSpPr/>
          <p:nvPr/>
        </p:nvSpPr>
        <p:spPr>
          <a:xfrm>
            <a:off x="8130845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240573" y="4151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44" name="Text 42"/>
          <p:cNvSpPr/>
          <p:nvPr/>
        </p:nvSpPr>
        <p:spPr>
          <a:xfrm>
            <a:off x="8240573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16061" y="4114800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Agenda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240573" y="4626864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7" name="Text 45"/>
          <p:cNvSpPr/>
          <p:nvPr/>
        </p:nvSpPr>
        <p:spPr>
          <a:xfrm>
            <a:off x="8258861" y="4681728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Integra-se a assistentes de IA para sugestões inteligentes.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5" name="Text 53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Sunsama: Aplica IA para planejar o dia com base em prioridades e capacidade individual. Organização de Documentos e E-mails.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Workspace (Gmail, Drive): Utiliza IA para filtragem inteligente e organização de arquivos.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9020" y="1572768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1588" y="1536192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1588" y="1536192"/>
            <a:ext cx="45720" cy="98755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29604" y="1892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29604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77076" y="1563624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Evernote (com recursos de IA): Ajuda a organizar notas e documentos com inteligência.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29020" y="2633472"/>
            <a:ext cx="5387188" cy="987552"/>
          </a:xfrm>
          <a:prstGeom prst="roundRect">
            <a:avLst>
              <a:gd name="adj" fmla="val 9259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1588" y="2596896"/>
            <a:ext cx="5387188" cy="987552"/>
          </a:xfrm>
          <a:prstGeom prst="roundRect">
            <a:avLst>
              <a:gd name="adj" fmla="val 5556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1588" y="2596896"/>
            <a:ext cx="45720" cy="98755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9604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604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7076" y="2624328"/>
            <a:ext cx="48385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Front: Unifica caixas de entrada e aplica IA para roteamento inteligente de mensagens.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integrar a IA na gestão de projetos e organização pessoal, é crucial estar ciente de alguns desafios e precauções.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40334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36677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36677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39420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de Dados. A IA lida com dados sensíveis de projetos e pessoais.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" y="323392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19735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19735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22478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as políticas de privacidade e segurança das ferramentas. Evite compartilhar informações críticas com plataformas não confiáveis.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406450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02793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02793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05536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Tecnológica. O excesso de confiança na IA pode diminuir a capacidade humana de tomada de decisão.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" y="489508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85851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85851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488594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 um equilíbrio entre a automação e a intervenção humana. Desenvolva habilidades críticas mesmo com o uso de ferramentas inteligentes.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" y="572566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568909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568909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57165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Algorítmico. Ferramentas de IA podem herdar vieses dos dados em que foram treinadas.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901598"/>
          </a:xfrm>
          <a:prstGeom prst="rect">
            <a:avLst>
              <a:gd name="adj" fmla="val 133333"/>
            </a:avLst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1794967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1794967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16152" y="1536192"/>
            <a:ext cx="10381183" cy="846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pode levar a decisões não éticas ou injustas, especialmente em alocação de recursos. Monitore e ajuste os resultados da IA para garantir equidade e imparcialidade.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55666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008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20086"/>
            <a:ext cx="54864" cy="901598"/>
          </a:xfrm>
          <a:prstGeom prst="rect">
            <a:avLst>
              <a:gd name="adj" fmla="val 133333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280629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280629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16152" y="2547518"/>
            <a:ext cx="10381183" cy="846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e Complexidade. Algumas soluções de IA podem ser caras ou complexas de implementar.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" y="3567989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531413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31413"/>
            <a:ext cx="54864" cy="901598"/>
          </a:xfrm>
          <a:prstGeom prst="rect">
            <a:avLst>
              <a:gd name="adj" fmla="val 133333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" y="38176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8176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16152" y="3558845"/>
            <a:ext cx="10381183" cy="846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o retorno sobre o investimento e a curva de aprendizado da equipe. Comece com ferramentas mais simples e escaláveis conforme a necessidade.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" y="4579315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542739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42739"/>
            <a:ext cx="54864" cy="901598"/>
          </a:xfrm>
          <a:prstGeom prst="rect">
            <a:avLst>
              <a:gd name="adj" fmla="val 133333"/>
            </a:avLst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482894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482894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16152" y="4570171"/>
            <a:ext cx="10381183" cy="846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Interoperabilidade. A integração entre diferentes ferramentas de IA pode ser um desafio técnico.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" y="5590642"/>
            <a:ext cx="11094415" cy="901598"/>
          </a:xfrm>
          <a:prstGeom prst="roundRect">
            <a:avLst>
              <a:gd name="adj" fmla="val 10142"/>
            </a:avLst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554066"/>
            <a:ext cx="11094415" cy="901598"/>
          </a:xfrm>
          <a:prstGeom prst="roundRect">
            <a:avLst>
              <a:gd name="adj" fmla="val 8114"/>
            </a:avLst>
          </a:prstGeom>
          <a:solidFill>
            <a:srgbClr val="141E34"/>
          </a:solidFill>
          <a:ln w="3810">
            <a:solidFill>
              <a:srgbClr val="222E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554066"/>
            <a:ext cx="54864" cy="901598"/>
          </a:xfrm>
          <a:prstGeom prst="rect">
            <a:avLst>
              <a:gd name="adj" fmla="val 133333"/>
            </a:avLst>
          </a:prstGeom>
          <a:solidFill>
            <a:srgbClr val="06B6D4"/>
          </a:solidFill>
          <a:ln/>
        </p:spPr>
      </p:sp>
      <p:sp>
        <p:nvSpPr>
          <p:cNvPr id="36" name="Shape 34"/>
          <p:cNvSpPr/>
          <p:nvPr/>
        </p:nvSpPr>
        <p:spPr>
          <a:xfrm>
            <a:off x="758952" y="5840273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5840273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16152" y="5581498"/>
            <a:ext cx="10381183" cy="846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Verifique a compatibilidade e a facilidade de fluxo de dados entre plataformas. Evite silos de informação que comprometam a eficiência geral.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 IA pode ser uma força transformadora na gestão de projetos e organização pessoal.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474720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Cobrimos desde a otimização de planejamento e gerenciamento de tarefas até a alocação de recursos e organização individual.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4462272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25696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5354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4956048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ferramentas para maior eficiência e produtividade, permitindo que você foque em atividades estratégicas e criativas.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aprimora o planejamento de projetos com previsão de riscos e cronogramas automatizados.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671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9671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gerenciamento de tarefas se torna inteligente com a IA, priorizando e automatizando rotinas.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2765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52765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alocação de recursos é otimizada pela IA, garantindo o melhor uso de talentos e orçamento.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pessoal é estratégica com a IA, atuando como assistente e otimizando hábitos.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9671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9671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Diversas ferramentas de gestão incorporam IA, tornando a elevação da produtividade uma realidade.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4749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6461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52765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52765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considerar a segurança de dados e evitar a dependência excessiva da tecnologia.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5486263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619695" y="27432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6C63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9448495" y="-548640"/>
            <a:ext cx="3200400" cy="320040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81328"/>
            <a:ext cx="1280160" cy="20117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691640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princípios éticos e de segurança essenciais no uso da Inteligência Artificial.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946904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riscos como privacidade de dados, viés algorítmico e vulnerabilidades cibernéticas da IA.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349240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estratégias para promover um uso responsável, justo e seguro da IA no ambiente profissional.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rápida evolução da IA exige uma compreensão profunda de suas implicações éticas e de segurança.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abrange os princípios morais que orientam seu desenvolvimento e aplicação. A avaliação do impacto social das ferramentas de IA é fundamental.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3938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6506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7946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47946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4522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sobre o funcionamento da IA deve ser priorizada. A responsabilidade pelas decisões da IA precisa ser clara e definida.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46085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8118653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0093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210093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6669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não deve violar a dignidade humana e os direitos individuais.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602198"/>
          </a:xfrm>
          <a:prstGeom prst="roundRect">
            <a:avLst>
              <a:gd name="adj" fmla="val 15184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602198"/>
          </a:xfrm>
          <a:prstGeom prst="roundRect">
            <a:avLst>
              <a:gd name="adj" fmla="val 12147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602198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é uma preocupação central na IA, que frequentemente requer grandes volumes de informações.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284694"/>
            <a:ext cx="11140135" cy="602198"/>
          </a:xfrm>
          <a:prstGeom prst="roundRect">
            <a:avLst>
              <a:gd name="adj" fmla="val 15184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248118"/>
            <a:ext cx="11140135" cy="602198"/>
          </a:xfrm>
          <a:prstGeom prst="roundRect">
            <a:avLst>
              <a:gd name="adj" fmla="val 12147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248118"/>
            <a:ext cx="54864" cy="602198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275550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garantir a coleta, armazenamento e uso responsável e seguro desses dados.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" y="2996619"/>
            <a:ext cx="11140135" cy="602198"/>
          </a:xfrm>
          <a:prstGeom prst="roundRect">
            <a:avLst>
              <a:gd name="adj" fmla="val 15184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960043"/>
            <a:ext cx="11140135" cy="602198"/>
          </a:xfrm>
          <a:prstGeom prst="roundRect">
            <a:avLst>
              <a:gd name="adj" fmla="val 12147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2960043"/>
            <a:ext cx="54864" cy="602198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2987475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consentimento explícito para coleta de dados pessoais é indispensável. A finalidade da coleta de dados deve ser clara e específica.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3708545"/>
            <a:ext cx="11140135" cy="602198"/>
          </a:xfrm>
          <a:prstGeom prst="roundRect">
            <a:avLst>
              <a:gd name="adj" fmla="val 15184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671969"/>
            <a:ext cx="11140135" cy="602198"/>
          </a:xfrm>
          <a:prstGeom prst="roundRect">
            <a:avLst>
              <a:gd name="adj" fmla="val 12147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71969"/>
            <a:ext cx="54864" cy="602198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3699401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minimização de dados é uma prática recomendada, coletando apenas o essencial. A anonimização ou pseudonimização de dados reduz riscos de identificação.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" y="4420471"/>
            <a:ext cx="11140135" cy="602198"/>
          </a:xfrm>
          <a:prstGeom prst="roundRect">
            <a:avLst>
              <a:gd name="adj" fmla="val 15184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383895"/>
            <a:ext cx="11140135" cy="602198"/>
          </a:xfrm>
          <a:prstGeom prst="roundRect">
            <a:avLst>
              <a:gd name="adj" fmla="val 12147"/>
            </a:avLst>
          </a:prstGeom>
          <a:solidFill>
            <a:srgbClr val="FF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383895"/>
            <a:ext cx="54864" cy="602198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4411327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precisam estar em conformidade com leis como a LGPD. Os dados da IA devem ser armazenados em ambientes seguros.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" y="5132397"/>
            <a:ext cx="11140135" cy="602198"/>
          </a:xfrm>
          <a:prstGeom prst="roundRect">
            <a:avLst>
              <a:gd name="adj" fmla="val 15184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5095821"/>
            <a:ext cx="11140135" cy="602198"/>
          </a:xfrm>
          <a:prstGeom prst="roundRect">
            <a:avLst>
              <a:gd name="adj" fmla="val 12147"/>
            </a:avLst>
          </a:prstGeom>
          <a:solidFill>
            <a:srgbClr val="141E34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5095821"/>
            <a:ext cx="54864" cy="602198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5123253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criptografia protege dados em trânsito e em repouso. Controles de acesso rigorosos limitam quem pode visualizar os dados.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" y="5844322"/>
            <a:ext cx="11140135" cy="602198"/>
          </a:xfrm>
          <a:prstGeom prst="roundRect">
            <a:avLst>
              <a:gd name="adj" fmla="val 15184"/>
            </a:avLst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5807746"/>
            <a:ext cx="11140135" cy="602198"/>
          </a:xfrm>
          <a:prstGeom prst="roundRect">
            <a:avLst>
              <a:gd name="adj" fmla="val 12147"/>
            </a:avLst>
          </a:prstGeom>
          <a:solidFill>
            <a:srgbClr val="FFF5F5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5807746"/>
            <a:ext cx="54864" cy="602198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795528" y="5835178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regulares de segurança identificam e corrigem vulnerabilidades. O descarte seguro de dados obsoletos é uma prática essencial.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73472" y="158191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C63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8952" y="1618488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sistemas de IA pode introduzir vulnerabilidades cibernéticas significativas. Proteger a IA é tão crítico quanto proteger qualquer outro ativo digital.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1002975" y="158191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B82F6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88456" y="1618488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IA podem ser envenenados por dados maliciosos durante o treinamento. Ataques adversariais podem manipular entradas para enganar a IA.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373472" y="311810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0B981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8952" y="3154680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engenharia reversa pode extrair informações sensíveis do modelo. A integridade dos modelos de IA deve ser constantemente verificada.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1002975" y="311810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9E0B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388456" y="3154680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de treinamento precisam de proteção contra acesso não autorizado. Implementar autenticação multifator para acesso aos sistemas de IA.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61772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81144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81144"/>
            <a:ext cx="54864" cy="1371600"/>
          </a:xfrm>
          <a:prstGeom prst="rect">
            <a:avLst>
              <a:gd name="adj" fmla="val 166667"/>
            </a:avLst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5373472" y="465429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6B6D4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58952" y="4690872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Monitorar continuamente os sistemas para detectar anomalias. Atualizar regularmente softwares e modelos para corrigir falhas de segurança.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51296" y="461772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223864" y="4581144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36" name="Shape 34"/>
          <p:cNvSpPr/>
          <p:nvPr/>
        </p:nvSpPr>
        <p:spPr>
          <a:xfrm>
            <a:off x="6223864" y="4581144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002975" y="465429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C63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388456" y="4690872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testes de penetração em sistemas de IA para identificar fraquezas. Treinar a equipe sobre práticas de segurança cibernética é essencial.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é um dos maiores desafios éticos da IA, onde preconceitos sociais podem ser perpetuados.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os dados de treinamento refletem desigualdades, o algoritmo pode amplificá-las.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3938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6506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7946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47946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4522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de treinamento podem conter preconceitos históricos ou sociais. A representação desigual em conjuntos de dados leva a decisões injustas.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46085" y="2980944"/>
            <a:ext cx="3615842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8" name="Shape 26"/>
          <p:cNvSpPr/>
          <p:nvPr/>
        </p:nvSpPr>
        <p:spPr>
          <a:xfrm>
            <a:off x="8118653" y="2944368"/>
            <a:ext cx="3615842" cy="45720"/>
          </a:xfrm>
          <a:prstGeom prst="rect">
            <a:avLst>
              <a:gd name="adj" fmla="val 160000"/>
            </a:avLst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0093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210093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6669" y="3447288"/>
            <a:ext cx="335981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humanas anteriores nos dados podem ser inerentemente enviesadas. A escolha de características (features) para treinamento pode introduzir viés.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03650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métricas de equidade para avaliar o desempenho em diferentes grupos.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71893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B82F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90618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Testar exaustivamente o algoritmo em vários cenários antes da implantação. Acompanhar o desempenho pós-implantação, ajustando conforme necessário.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8240573" y="1700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40573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16061" y="1664208"/>
            <a:ext cx="2890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💭 Pare um momento e reflita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40573" y="2176272"/>
            <a:ext cx="3384194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6" name="Text 24"/>
          <p:cNvSpPr/>
          <p:nvPr/>
        </p:nvSpPr>
        <p:spPr>
          <a:xfrm>
            <a:off x="8258861" y="2231136"/>
            <a:ext cx="334761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as decisões de um modelo de IA enviesado poderiam afetar a produtividade ou a cultura da sua própria equipe ou organização?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3)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pode surgir no projeto ou na interpretação dos resultados. Utilizar conjuntos de dados diversos e representativos.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auditorias regulares nos algoritmos para identificar e corrigir vieses. Desenvolver modelos de IA mais transparentes e explicáveis (XAI).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501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758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902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2902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59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a inclusão de diferentes perspectivas na equipe de desenvolvimento da IA.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83971" y="1517904"/>
            <a:ext cx="21946" cy="49194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670739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70739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1453896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1417320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" y="1417320"/>
            <a:ext cx="45720" cy="689719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417320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o uso ético e seguro da IA, a transparência e a explicabilidade são fundamentais.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240617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0617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264" y="2189335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832" y="2152759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" y="2152759"/>
            <a:ext cx="45720" cy="689719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152759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incapacidade de entender as decisões da IA ("caixas pretas") representa um risco significativo. ".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141617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141617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" y="2924774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" y="2888198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1832" y="2888198"/>
            <a:ext cx="45720" cy="689719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2888198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entender o "porquê" das decisões da IA. ".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387705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877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9264" y="3660213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41832" y="3623637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32" name="Shape 30"/>
          <p:cNvSpPr/>
          <p:nvPr/>
        </p:nvSpPr>
        <p:spPr>
          <a:xfrm>
            <a:off x="941832" y="3623637"/>
            <a:ext cx="45720" cy="689719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3623637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explicabilidade auxilia na identificação e correção de erros ou vieses.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4360" y="4612495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612495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9264" y="4395651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" y="4359075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41832" y="4359075"/>
            <a:ext cx="45720" cy="689719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4359075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aumenta a confiança dos usuários nos sistemas de IA.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94360" y="534793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534793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9264" y="5131090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941832" y="5094514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44" name="Shape 42"/>
          <p:cNvSpPr/>
          <p:nvPr/>
        </p:nvSpPr>
        <p:spPr>
          <a:xfrm>
            <a:off x="941832" y="5094514"/>
            <a:ext cx="45720" cy="689719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" y="5094514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políticas internas sobre o uso de IA devem ser claras e acessíveis.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94360" y="6083373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6083373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69264" y="5866529"/>
            <a:ext cx="10884103" cy="689719"/>
          </a:xfrm>
          <a:prstGeom prst="roundRect">
            <a:avLst>
              <a:gd name="adj" fmla="val 13258"/>
            </a:avLst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941832" y="5829953"/>
            <a:ext cx="10884103" cy="689719"/>
          </a:xfrm>
          <a:prstGeom prst="roundRect">
            <a:avLst>
              <a:gd name="adj" fmla="val 7955"/>
            </a:avLst>
          </a:prstGeom>
          <a:solidFill>
            <a:srgbClr val="141E34"/>
          </a:solidFill>
          <a:ln/>
        </p:spPr>
      </p:sp>
      <p:sp>
        <p:nvSpPr>
          <p:cNvPr id="50" name="Shape 48"/>
          <p:cNvSpPr/>
          <p:nvPr/>
        </p:nvSpPr>
        <p:spPr>
          <a:xfrm>
            <a:off x="941832" y="5829953"/>
            <a:ext cx="45720" cy="689719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1097280" y="5829953"/>
            <a:ext cx="10637215" cy="6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usuários precisam ser informados ao interagir com um sistema de IA.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6" name="Shape 5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8" name="Shape 5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9" name="Text 5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1609344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138988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de IA para triagem de currículos pode ser um exemplo de explicabilidade.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41832" y="3108960"/>
            <a:ext cx="5486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3218688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182112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182112"/>
            <a:ext cx="54864" cy="1609344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3291840"/>
            <a:ext cx="13716" cy="138988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182112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treinado com dados passados que favoreceram um perfil demográfico, ele pode rejeitar candidatos qualificados de outros grupos.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 rot="2700000">
            <a:off x="941832" y="4809744"/>
            <a:ext cx="548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4919472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882896"/>
            <a:ext cx="11002975" cy="1609344"/>
          </a:xfrm>
          <a:prstGeom prst="roundRect">
            <a:avLst>
              <a:gd name="adj" fmla="val 5682"/>
            </a:avLst>
          </a:prstGeom>
          <a:solidFill>
            <a:srgbClr val="141E34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882896"/>
            <a:ext cx="54864" cy="1609344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82896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4992624"/>
            <a:ext cx="13716" cy="138988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4882896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mais explicável indicaria os critérios da rejeição, permitindo análise e ajuste.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03650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da IA são cada vez mais necessárias para garantir seu uso responsável.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90034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2602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2602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71893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B82F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90618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estruturas visam proteger os direitos individuais e promover o bem-estar social.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8277" y="1572768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0845" y="1536192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0845" y="1536192"/>
            <a:ext cx="3603650" cy="4572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0135" y="16276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58861" y="1682496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políticas internas claras para o uso de IA é vital. Estabelecer comitês de ética em IA para supervisionar a implementação.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603650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22376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regulamentações governamentais de IA.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90034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4362602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4362602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371893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6B6D4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490618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Promover a conscientização sobre as melhores práticas entre os colaboradores.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58277" y="4023360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8130845" y="3986784"/>
            <a:ext cx="3603650" cy="2286000"/>
          </a:xfrm>
          <a:prstGeom prst="roundRect">
            <a:avLst>
              <a:gd name="adj" fmla="val 4000"/>
            </a:avLst>
          </a:prstGeom>
          <a:solidFill>
            <a:srgbClr val="141E34"/>
          </a:solidFill>
          <a:ln/>
        </p:spPr>
      </p:sp>
      <p:sp>
        <p:nvSpPr>
          <p:cNvPr id="36" name="Shape 34"/>
          <p:cNvSpPr/>
          <p:nvPr/>
        </p:nvSpPr>
        <p:spPr>
          <a:xfrm>
            <a:off x="8130845" y="3986784"/>
            <a:ext cx="3603650" cy="4572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140135" y="40782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C63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258861" y="4133088"/>
            <a:ext cx="283555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entre setores público e privado fomenta o uso ético da IA.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questão da responsabilidade e accountability na IA é complexa, mas crucial para um uso ético.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560320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23744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definir quem é responsável quando a IA comete erros ou causa danos. As responsabilidades no desenvolvimento e uso da IA precisam ser claras.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" y="3547872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511296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511296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538728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Desenvolvedores e usuários da IA devem ser responsabilizados por seus impactos. Mecanismos de revisão e apelação para decisões da IA são necessários.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4535424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498848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498848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526280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independentes dos sistemas de IA fortalecem a accountability. A ética deve ser integrada em todo o ciclo de vida da IA, do design à desativação.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pilares da ética e segurança no uso da IA, ressaltando que sua adoção é uma responsabilidade moral e social.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474720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privacidade de dados, segurança cibernética, viés algorítmico, transparência e responsabilidade, essenciais para um uso da IA que promova um ambiente de trabalho justo e seguro.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4462272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25696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5354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4956048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conhecimento prepara você para usar a IA de forma eficaz e ética, tornando-o um agente de mudança para um futuro digital responsável.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é um conjunto de princípios que guia seu uso responsável.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671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9671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exige consentimento, minimização e segurança robusta.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2765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52765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sistemas de IA podem ser tanto alvos quanto ferramentas para a segurança cibernética.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pode levar a discriminação e deve ser ativamente mitigado.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9671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9671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Transparência e explicabilidade são cruciais para a confiança e correção de erros na IA.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24749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6461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52765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52765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são essenciais para um uso responsável da IA.</a:t>
            </a:r>
            <a:endParaRPr 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17" y="1143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2286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017" y="3429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017" y="4572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017" y="5715000"/>
            <a:ext cx="5486263" cy="1152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619695" y="27432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3B82F6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0" dirty="0"/>
          </a:p>
        </p:txBody>
      </p:sp>
      <p:sp>
        <p:nvSpPr>
          <p:cNvPr id="9" name="Shape 7"/>
          <p:cNvSpPr/>
          <p:nvPr/>
        </p:nvSpPr>
        <p:spPr>
          <a:xfrm>
            <a:off x="9448495" y="-548640"/>
            <a:ext cx="3200400" cy="3200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0545775" y="59436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005840"/>
            <a:ext cx="45720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005840"/>
            <a:ext cx="13716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097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1481328"/>
            <a:ext cx="1280160" cy="2011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691640"/>
            <a:ext cx="646159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05840" y="4142232"/>
            <a:ext cx="2011680" cy="1097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519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544568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Selecionar e implementar ferramentas de IA de forma eficaz no dia a dia profissional.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9926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946904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estratégias para a adoção bem-sucedida de IA em equipes.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349240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as tendências futuras da IA e seu impacto na produtividade.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49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983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28651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8520" y="6446520"/>
            <a:ext cx="542544" cy="731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72768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50A1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36192"/>
            <a:ext cx="54864" cy="118872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Inteligência Artificial (IA) no ambiente de trabalho transforma o conhecimento em ação.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processo envolve a seleção criteriosa de ferramentas e a superação de desafios de adoção.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5012" y="2980944"/>
            <a:ext cx="5496916" cy="3502152"/>
          </a:xfrm>
          <a:prstGeom prst="roundRect">
            <a:avLst>
              <a:gd name="adj" fmla="val 2611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2089"/>
            </a:avLst>
          </a:prstGeom>
          <a:solidFill>
            <a:srgbClr val="141E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7580" y="2944368"/>
            <a:ext cx="5496916" cy="45720"/>
          </a:xfrm>
          <a:prstGeom prst="rect">
            <a:avLst>
              <a:gd name="adj" fmla="val 160000"/>
            </a:avLst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9020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2902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596" y="3447288"/>
            <a:ext cx="52408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integrar a IA estrategicamente para colher seus benefícios e preparar-se para futuras inovações.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escolha da ferramenta de IA ideal é crucial.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53027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se busca 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3027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tecnologia mais avançada, mas sim a mais alinhada às necessidades e objetivos específicos do usuário ou da equipe.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6618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das Necessidades 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6618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Desafios. Identificar o problema que a IA pode resolver é o primeiro passo.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02089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Mapear processos e tarefas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402089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 consomem mais tempo ou apresentam gargalos.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83971" y="1517904"/>
            <a:ext cx="21946" cy="49194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3202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202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145389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141732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" y="141732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417320"/>
            <a:ext cx="10637215" cy="81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métricas claras para o sucesso, que medirão o impacto da IA. Critérios Essenciais para a Escolha.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259003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9003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264" y="2311908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832" y="2275332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" y="2275332"/>
            <a:ext cx="45720" cy="81229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275332"/>
            <a:ext cx="10637215" cy="81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Após identificar as necessidades, aplicar critérios de avaliação rigorosos.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44805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4805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" y="3169920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" y="3133344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1832" y="3133344"/>
            <a:ext cx="45720" cy="81229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151632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Facilidade de Uso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97280" y="3448964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intuitiva e de fácil aprendizado acelera a adoção.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430606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30606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9264" y="4027932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941832" y="3991356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3" name="Shape 31"/>
          <p:cNvSpPr/>
          <p:nvPr/>
        </p:nvSpPr>
        <p:spPr>
          <a:xfrm>
            <a:off x="941832" y="3991356"/>
            <a:ext cx="45720" cy="81229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4009644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306976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 compatibilidade com outras plataformas existentes.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94360" y="516407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16407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69264" y="4885944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941832" y="4849368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40" name="Shape 38"/>
          <p:cNvSpPr/>
          <p:nvPr/>
        </p:nvSpPr>
        <p:spPr>
          <a:xfrm>
            <a:off x="941832" y="4849368"/>
            <a:ext cx="45720" cy="81229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" y="4867656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Custo-Benefício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97280" y="5164988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o valor entregue em relação ao investimento.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4360" y="602208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602208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69264" y="574395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941832" y="570738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47" name="Shape 45"/>
          <p:cNvSpPr/>
          <p:nvPr/>
        </p:nvSpPr>
        <p:spPr>
          <a:xfrm>
            <a:off x="941832" y="570738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8" name="Text 46"/>
          <p:cNvSpPr/>
          <p:nvPr/>
        </p:nvSpPr>
        <p:spPr>
          <a:xfrm>
            <a:off x="1097280" y="5725668"/>
            <a:ext cx="10637215" cy="315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Suporte e Documentação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97280" y="6023000"/>
            <a:ext cx="10637215" cy="48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bom suporte técnico é um diferencial importante.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3" name="Shape 5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4" name="Shape 5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5" name="Shape 5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6" name="Shape 5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7" name="Text 5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4983480"/>
          </a:xfrm>
          <a:prstGeom prst="roundRect">
            <a:avLst>
              <a:gd name="adj" fmla="val 1835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47274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483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Aplicados: Relevância: Ferramenta de IA que gera texto a partir de prompts; Facilidade de Uso: Interface simples para inserir contexto rapidamente.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2459736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Reduzir o tempo na criação de rascunhos de e-mails de follow-up para clientes.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4069080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4032504"/>
            <a:ext cx="11002975" cy="2459736"/>
          </a:xfrm>
          <a:prstGeom prst="roundRect">
            <a:avLst>
              <a:gd name="adj" fmla="val 371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032504"/>
            <a:ext cx="54864" cy="2459736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32504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4142232"/>
            <a:ext cx="13716" cy="2240280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4032504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assistente de escrita baseado em IA, como o ChatGPT ou o Google Gemini, configurado com modelos de e-mail.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157768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768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Integrar a IA 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equipe exige planejamento e comunicação. Isso garante engajamento e a adesão de todos.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5711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1359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1359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Estratégias de Implementação Gradual.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93028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7449503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449503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66180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um grupo pequeno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66180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 entusiasta para experimentar a IA primeiro, criando "embaixadores".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28937" y="1746504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4362"/>
            </a:avLst>
          </a:prstGeom>
          <a:solidFill>
            <a:srgbClr val="111D38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457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85412" y="1847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10385412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02089" y="2286000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Documentar os sucessos 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402089" y="2651760"/>
            <a:ext cx="233240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aprendizados do piloto para compartilhar com a equipe.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83971" y="1517904"/>
            <a:ext cx="21946" cy="49194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73202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3202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145389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141732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" y="141732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417320"/>
            <a:ext cx="10637215" cy="81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Oferecer workshops e treinamentos práticos sobre o uso das novas ferramentas de IA.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259003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9003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264" y="2311908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832" y="2275332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" y="2275332"/>
            <a:ext cx="45720" cy="812292"/>
          </a:xfrm>
          <a:prstGeom prst="rect">
            <a:avLst>
              <a:gd name="adj" fmla="val 120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275332"/>
            <a:ext cx="10637215" cy="81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materiais de suporte acessíveis, como guias rápidos e FAQs.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44805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4805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" y="3169920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832" y="3133344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1832" y="3133344"/>
            <a:ext cx="45720" cy="812292"/>
          </a:xfrm>
          <a:prstGeom prst="rect">
            <a:avLst>
              <a:gd name="adj" fmla="val 12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133344"/>
            <a:ext cx="10637215" cy="81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Destacar os benefícios pessoais que a IA trará para cada membro da equipe.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430606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30606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9264" y="4027932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41832" y="3991356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2" name="Shape 30"/>
          <p:cNvSpPr/>
          <p:nvPr/>
        </p:nvSpPr>
        <p:spPr>
          <a:xfrm>
            <a:off x="941832" y="3991356"/>
            <a:ext cx="45720" cy="812292"/>
          </a:xfrm>
          <a:prstGeom prst="rect">
            <a:avLst>
              <a:gd name="adj" fmla="val 1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3991356"/>
            <a:ext cx="10637215" cy="81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Incentivar a experimentação e a troca de experiências entre os colegas. Gestão da Mudança e Superando Resistências.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4360" y="516407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16407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9264" y="4885944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41832" y="4849368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38" name="Shape 36"/>
          <p:cNvSpPr/>
          <p:nvPr/>
        </p:nvSpPr>
        <p:spPr>
          <a:xfrm>
            <a:off x="941832" y="4849368"/>
            <a:ext cx="45720" cy="812292"/>
          </a:xfrm>
          <a:prstGeom prst="rect">
            <a:avLst>
              <a:gd name="adj" fmla="val 120000"/>
            </a:avLst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4849368"/>
            <a:ext cx="10637215" cy="81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Comunicar claramente o propósito da implementação da IA e seus benefícios.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94360" y="602208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602208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9264" y="5743956"/>
            <a:ext cx="10884103" cy="812292"/>
          </a:xfrm>
          <a:prstGeom prst="roundRect">
            <a:avLst>
              <a:gd name="adj" fmla="val 11257"/>
            </a:avLst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941832" y="5707380"/>
            <a:ext cx="10884103" cy="812292"/>
          </a:xfrm>
          <a:prstGeom prst="roundRect">
            <a:avLst>
              <a:gd name="adj" fmla="val 6754"/>
            </a:avLst>
          </a:prstGeom>
          <a:solidFill>
            <a:srgbClr val="141E34"/>
          </a:solidFill>
          <a:ln/>
        </p:spPr>
      </p:sp>
      <p:sp>
        <p:nvSpPr>
          <p:cNvPr id="44" name="Shape 42"/>
          <p:cNvSpPr/>
          <p:nvPr/>
        </p:nvSpPr>
        <p:spPr>
          <a:xfrm>
            <a:off x="941832" y="5707380"/>
            <a:ext cx="45720" cy="812292"/>
          </a:xfrm>
          <a:prstGeom prst="rect">
            <a:avLst>
              <a:gd name="adj" fmla="val 120000"/>
            </a:avLst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" y="5707380"/>
            <a:ext cx="10637215" cy="81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Abordar abertamente preocupações sobre substituição de empregos, focando na IA como complemento.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Shape 45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9" name="Shape 47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0" name="Shape 48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2" name="Shape 50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53" name="Text 51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508760"/>
            <a:ext cx="11094415" cy="4983480"/>
          </a:xfrm>
          <a:prstGeom prst="roundRect">
            <a:avLst>
              <a:gd name="adj" fmla="val 1835"/>
            </a:avLst>
          </a:prstGeom>
          <a:solidFill>
            <a:srgbClr val="05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636776"/>
            <a:ext cx="45720" cy="4727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1581912"/>
            <a:ext cx="10655503" cy="483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Aplicados: Piloto: Escolher dois membros da equipe para testar a ferramenta em uma campanha secundária.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17904"/>
            <a:ext cx="11002975" cy="5010912"/>
          </a:xfrm>
          <a:prstGeom prst="roundRect">
            <a:avLst>
              <a:gd name="adj" fmla="val 1825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11002975" cy="5010912"/>
          </a:xfrm>
          <a:prstGeom prst="roundRect">
            <a:avLst>
              <a:gd name="adj" fmla="val 1825"/>
            </a:avLst>
          </a:prstGeom>
          <a:solidFill>
            <a:srgbClr val="141E3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54864" cy="5010912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81328"/>
            <a:ext cx="1645920" cy="5010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13716" cy="4791456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481328"/>
            <a:ext cx="8716975" cy="5010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equipe de marketing precisa adotar uma ferramenta de IA para análise de dados de campanhas.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Inteligente de Processos (IPA): Combina IA e RPA para automatizar tarefas complexas.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560320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23744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Explicável (XAI): Torna algoritmos de IA mais transparentes e compreensíveis.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" y="3547872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511296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511296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538728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na Análise Preditiva e Prescritiva: Previsão de eventos e recomendação de ações específicas.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4535424"/>
            <a:ext cx="11140135" cy="877824"/>
          </a:xfrm>
          <a:prstGeom prst="roundRect">
            <a:avLst>
              <a:gd name="adj" fmla="val 10417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498848"/>
            <a:ext cx="11140135" cy="877824"/>
          </a:xfrm>
          <a:prstGeom prst="roundRect">
            <a:avLst>
              <a:gd name="adj" fmla="val 8333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498848"/>
            <a:ext cx="54864" cy="877824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526280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o Bem-Estar e Saúde Profissional: Ferramentas que monitoram e apoiam a saúde mental.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4" name="Text 32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73472" y="158191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C63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58952" y="1618488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está em constante evolução. Estar atento às tendências futuras é crucial para manter a vantagem competitiva.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51296" y="1545336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50876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1508760"/>
            <a:ext cx="54864" cy="1371600"/>
          </a:xfrm>
          <a:prstGeom prst="rect">
            <a:avLst>
              <a:gd name="adj" fmla="val 166667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1002975" y="158191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B82F6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88456" y="1618488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Tendências Atuais e Emergentes. Acompanhe as inovações que moldarão o panorama da produtividade.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373472" y="311810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0B981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8952" y="3154680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Generativa Avançada: Modelos capazes de criar conteúdo (texto, imagem, vídeo) de alta qualidade.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51296" y="3081528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3864" y="3044952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23864" y="3044952"/>
            <a:ext cx="54864" cy="1371600"/>
          </a:xfrm>
          <a:prstGeom prst="rect">
            <a:avLst>
              <a:gd name="adj" fmla="val 166667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1002975" y="311810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9E0B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388456" y="3154680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de Conversação Evoluída: Assistentes virtuais mais inteligentes e contextuais aprimorarão o suporte.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" y="4617720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581144"/>
            <a:ext cx="5464912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581144"/>
            <a:ext cx="54864" cy="1371600"/>
          </a:xfrm>
          <a:prstGeom prst="rect">
            <a:avLst>
              <a:gd name="adj" fmla="val 166667"/>
            </a:avLst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5373472" y="465429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6B6D4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58952" y="4690872"/>
            <a:ext cx="45962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Personalização Extrema: Experiências de usuário e recomendações ultrassegmentadas.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1" name="Text 3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1828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640080" cy="2194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85216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1185855" cy="731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08176"/>
            <a:ext cx="11185855" cy="3658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9" name="Shape 7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" y="157276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53619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5636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da IA no Mercado de Trabalho. A IA transformará a natureza do trabalho, não eliminará empregos.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" y="240334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36677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36677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239420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automatizará tarefas rotineiras, liberando profissionais para atividades estratégicas.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" y="323392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19735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19735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22478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Novas profissões surgirão e a demanda por habilidades complementares à IA crescerá. A colaboração humano-IA será a norma, com a IA atuando como "copiloto" inteligente.".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" y="406450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02793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02793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05536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tomada de decisão será aprimorada pela IA, baseada em dados e análises complexas.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" y="489508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85851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FF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85851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488594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lifelong learning (aprendizado contínuo) será essencial para a adaptabilidade profissional.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" y="5725668"/>
            <a:ext cx="11140135" cy="720852"/>
          </a:xfrm>
          <a:prstGeom prst="roundRect">
            <a:avLst>
              <a:gd name="adj" fmla="val 12685"/>
            </a:avLst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5689092"/>
            <a:ext cx="11140135" cy="720852"/>
          </a:xfrm>
          <a:prstGeom prst="roundRect">
            <a:avLst>
              <a:gd name="adj" fmla="val 10148"/>
            </a:avLst>
          </a:prstGeom>
          <a:solidFill>
            <a:srgbClr val="141E34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5689092"/>
            <a:ext cx="54864" cy="720852"/>
          </a:xfrm>
          <a:prstGeom prst="rect">
            <a:avLst>
              <a:gd name="adj" fmla="val 133333"/>
            </a:avLst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57165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tendências emergentes da IA podem impactar ou transformar sua área de atuação nos próximos 5 anos?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42" name="Text 40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43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286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572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715000"/>
            <a:ext cx="4267093" cy="115214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813" y="0"/>
            <a:ext cx="13716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51206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54864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87133" y="512064"/>
            <a:ext cx="41148" cy="9509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1725" y="457200"/>
            <a:ext cx="702849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Preparando-se para o Futuro. Aja agora para estar à frente das transformações.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1725" y="1588313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7133" y="1682496"/>
            <a:ext cx="41148" cy="9509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1725" y="1627632"/>
            <a:ext cx="702849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Investir no desenvolvimento de habilidades socioemocionais (habilidades interpessoais), como pensamento crítico.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1725" y="2758745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87133" y="2852928"/>
            <a:ext cx="41148" cy="9509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1725" y="2798064"/>
            <a:ext cx="702849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novas tecnologias de IA e suas aplicações. Desenvolver a capacidade de trabalhar em conjunto com sistemas de IA.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1725" y="3929177"/>
            <a:ext cx="7028490" cy="4572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87133" y="4023360"/>
            <a:ext cx="41148" cy="9509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751725" y="3968496"/>
            <a:ext cx="702849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Cultivar uma mentalidade de aprendizado contínuo e adaptabilidade. Buscar oportunidades para aplicar a IA no trabalho, mesmo em pequena escala.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6" name="Text 34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63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9961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63040"/>
            <a:ext cx="45720" cy="1371600"/>
          </a:xfrm>
          <a:prstGeom prst="rect">
            <a:avLst>
              <a:gd name="adj" fmla="val 20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5727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1993392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capacitou você a selecionar, implementar e gerenciar ferramentas de IA para produtividade.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944368"/>
            <a:ext cx="45720" cy="1371600"/>
          </a:xfrm>
          <a:prstGeom prst="rect">
            <a:avLst>
              <a:gd name="adj" fmla="val 20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" y="3474720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importância da identificação de necessidades, critérios de escolha e estratégias para adoção em equipe.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4462272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6667"/>
            </a:avLst>
          </a:prstGeom>
          <a:solidFill>
            <a:srgbClr val="141E3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425696"/>
            <a:ext cx="45720" cy="1371600"/>
          </a:xfrm>
          <a:prstGeom prst="rect">
            <a:avLst>
              <a:gd name="adj" fmla="val 20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5354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" y="4956048"/>
            <a:ext cx="1079266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Exploramos as tendências futuras da IA e como se preparar para o impacto no mercado de trabalho.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601968"/>
            <a:ext cx="2041093" cy="457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606540"/>
            <a:ext cx="12191695" cy="2743"/>
          </a:xfrm>
          <a:prstGeom prst="rect">
            <a:avLst/>
          </a:prstGeom>
          <a:solidFill>
            <a:srgbClr val="222E48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5775" y="6638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36047" y="6693408"/>
            <a:ext cx="73152" cy="73152"/>
          </a:xfrm>
          <a:prstGeom prst="ellipse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6C63FF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ferramenta de IA ideal deve ser baseada em necessidades claras e múltiplos critérios de avaliação.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0410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96714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96714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em equipes exige um plano gradual, treinamento adequado e gestão proativa da mudança.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4749" y="1536192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461" y="1508760"/>
            <a:ext cx="45720" cy="1645920"/>
          </a:xfrm>
          <a:prstGeom prst="rect">
            <a:avLst>
              <a:gd name="adj" fmla="val 240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2765" y="1655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52765" y="1655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futuro da IA na produtividade é promissor, com avanços que transformarão o trabalho.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devem desenvolver novas habilidades e adotar uma mentalidade de aprendizado contínuo.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68698" y="3310128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6667"/>
            </a:avLst>
          </a:prstGeom>
          <a:solidFill>
            <a:srgbClr val="111D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350410" y="3282696"/>
            <a:ext cx="45720" cy="1645920"/>
          </a:xfrm>
          <a:prstGeom prst="rect">
            <a:avLst>
              <a:gd name="adj" fmla="val 240000"/>
            </a:avLst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4496714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496714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serve como uma aliada estratégica, liberando tempo para atividades de maior valor.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263" y="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263" y="1143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2286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263" y="3429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263" y="4572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263" y="5715000"/>
            <a:ext cx="7315017" cy="11521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8534095" y="-1097280"/>
            <a:ext cx="4572000" cy="45720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822960"/>
            <a:ext cx="45720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822960"/>
            <a:ext cx="13716" cy="3474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188720"/>
            <a:ext cx="2743200" cy="1371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005840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6C6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261872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1517904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" y="1773936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" y="2029968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645920"/>
            <a:ext cx="6705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6800" dirty="0"/>
          </a:p>
        </p:txBody>
      </p:sp>
      <p:sp>
        <p:nvSpPr>
          <p:cNvPr id="18" name="Shape 16"/>
          <p:cNvSpPr/>
          <p:nvPr/>
        </p:nvSpPr>
        <p:spPr>
          <a:xfrm>
            <a:off x="10972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8496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7264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04800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535680" y="3703320"/>
            <a:ext cx="496824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931920"/>
            <a:ext cx="6095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4A3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Inteligência Artificial para Aumentar a Produtividade no Trabalho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4663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6C63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80015" y="5029200"/>
            <a:ext cx="457200" cy="457200"/>
          </a:xfrm>
          <a:prstGeom prst="rect">
            <a:avLst>
              <a:gd name="adj" fmla="val 8000"/>
            </a:avLst>
          </a:prstGeom>
          <a:solidFill>
            <a:srgbClr val="6C63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91495" y="5394960"/>
            <a:ext cx="685800" cy="685800"/>
          </a:xfrm>
          <a:prstGeom prst="rect">
            <a:avLst>
              <a:gd name="adj" fmla="val 5333"/>
            </a:avLst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02975" y="5760720"/>
            <a:ext cx="914400" cy="914400"/>
          </a:xfrm>
          <a:prstGeom prst="rect">
            <a:avLst>
              <a:gd name="adj" fmla="val 400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9905695" y="6355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C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2026-03-09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97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para Aumentar a Produtividade no Trabalho</dc:title>
  <dc:subject>PptxGenJS Presentation</dc:subject>
  <dc:creator>EduGenAI v2</dc:creator>
  <cp:lastModifiedBy>EduGenAI v2</cp:lastModifiedBy>
  <cp:revision>1</cp:revision>
  <dcterms:created xsi:type="dcterms:W3CDTF">2026-03-09T04:37:23Z</dcterms:created>
  <dcterms:modified xsi:type="dcterms:W3CDTF">2026-03-09T04:37:23Z</dcterms:modified>
</cp:coreProperties>
</file>