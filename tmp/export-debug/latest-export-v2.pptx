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Lst>
  <p:notesMasterIdLst>
    <p:notesMasterId r:id="rId9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notesMaster" Target="notesMasters/notesMaster1.xml"/><Relationship Id="rId95" Type="http://schemas.openxmlformats.org/officeDocument/2006/relationships/presProps" Target="presProps.xml"/><Relationship Id="rId96" Type="http://schemas.openxmlformats.org/officeDocument/2006/relationships/viewProps" Target="viewProps.xml"/><Relationship Id="rId97" Type="http://schemas.openxmlformats.org/officeDocument/2006/relationships/theme" Target="theme/theme1.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731520" y="1371600"/>
            <a:ext cx="7680960" cy="182880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Inteligência Artificial na Prática: Aplicações Reais para Profissionais Não Técnicos</a:t>
            </a:r>
            <a:endParaRPr lang="en-US" sz="3600" dirty="0"/>
          </a:p>
        </p:txBody>
      </p:sp>
      <p:sp>
        <p:nvSpPr>
          <p:cNvPr id="3" name="Text 1"/>
          <p:cNvSpPr/>
          <p:nvPr/>
        </p:nvSpPr>
        <p:spPr>
          <a:xfrm>
            <a:off x="1371600" y="3474720"/>
            <a:ext cx="6400800" cy="914400"/>
          </a:xfrm>
          <a:prstGeom prst="rect">
            <a:avLst/>
          </a:prstGeom>
          <a:noFill/>
          <a:ln/>
        </p:spPr>
        <p:txBody>
          <a:bodyPr wrap="square" rtlCol="0" anchor="ctr"/>
          <a:lstStyle/>
          <a:p>
            <a:pPr algn="ctr" indent="0" marL="0">
              <a:buNone/>
            </a:pPr>
            <a:r>
              <a:rPr lang="en-US" sz="1600" dirty="0">
                <a:solidFill>
                  <a:srgbClr val="B0BEC5"/>
                </a:solidFill>
                <a:latin typeface="Arial" pitchFamily="34" charset="0"/>
                <a:ea typeface="Arial" pitchFamily="34" charset="-122"/>
                <a:cs typeface="Arial" pitchFamily="34" charset="-120"/>
              </a:rPr>
              <a:t>Este curso foi desenhado para democratizar o acesso à Inteligência Artificial (IA), capacitando profissionais de todas as áreas a compreenderem e aplicarem suas ferramentas no cotidiano. Com foco em aplicações práticas, utilizaremos recursos acessíveis e estratégias para a tomada de decisão, dispensando a necessidade de conhecimentos prévios em programação ou áreas técnicas. Explore como a IA pode otimizar seu trabalho, impulsionar a inovação e gerar resultados tangíveis, mesmo sem ser um especialista.</a:t>
            </a:r>
            <a:endParaRPr lang="en-US" sz="1600" dirty="0"/>
          </a:p>
        </p:txBody>
      </p:sp>
      <p:sp>
        <p:nvSpPr>
          <p:cNvPr id="4" name="Text 2"/>
          <p:cNvSpPr/>
          <p:nvPr/>
        </p:nvSpPr>
        <p:spPr>
          <a:xfrm>
            <a:off x="0" y="4389120"/>
            <a:ext cx="9144000" cy="457200"/>
          </a:xfrm>
          <a:prstGeom prst="rect">
            <a:avLst/>
          </a:prstGeom>
          <a:noFill/>
          <a:ln/>
        </p:spPr>
        <p:txBody>
          <a:bodyPr wrap="square" rtlCol="0" anchor="ctr"/>
          <a:lstStyle/>
          <a:p>
            <a:pPr algn="ctr" indent="0" marL="0">
              <a:buNone/>
            </a:pPr>
            <a:r>
              <a:rPr lang="en-US" sz="1100" dirty="0">
                <a:solidFill>
                  <a:srgbClr val="78909C"/>
                </a:solidFill>
                <a:latin typeface="Arial" pitchFamily="34" charset="0"/>
                <a:ea typeface="Arial" pitchFamily="34" charset="-122"/>
                <a:cs typeface="Arial" pitchFamily="34" charset="-120"/>
              </a:rPr>
              <a:t>6 módulos • Gerado por EduGen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1: Módulo 1: Desmistificando a Inteligência Artificial para Profissionais</a:t>
            </a:r>
            <a:endParaRPr lang="en-US" sz="20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457200" y="713232"/>
            <a:ext cx="3200400" cy="219456"/>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Objetivos</a:t>
            </a:r>
            <a:endParaRPr lang="en-US" sz="1300" dirty="0"/>
          </a:p>
        </p:txBody>
      </p:sp>
      <p:sp>
        <p:nvSpPr>
          <p:cNvPr id="6" name="Text 4"/>
          <p:cNvSpPr/>
          <p:nvPr/>
        </p:nvSpPr>
        <p:spPr>
          <a:xfrm>
            <a:off x="640080" y="868680"/>
            <a:ext cx="7863840" cy="3730752"/>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Compreender os fundamentos e conceitos essenciais da Inteligência Artificial (IA).</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Distinguir os tipos de IA e reconhecer suas aplicações práticas.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Identificar a relevância da IA para profissionais não técnicos no mercado atual.</a:t>
            </a:r>
            <a:endParaRPr lang="en-US" sz="24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 / 92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Inteligência Artificial (IA) é a capacidade de máquinas simularem e executarem tarefas que tradicionalmente exigem inteligência humana. Isso inclui aprender, raciocinar, resolver problemas e tomar decisões.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Não se trata de máquinas "sentindo" ou "pensando" como humanos. A IA é programada para identificar padrões, processar dados em larga escala e atuar com base neles. É uma ferramenta que amplifica nossas capacidades e automatiza tarefas.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O termo "artificial" indica que essa inteligência é projetada e construída por humanos, via algoritmos e dados.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 / 92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IA é geralmente classificada em dois tipos principais, baseados em suas capacidades:</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 / 92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Objetivo → 🤖 IA Fraca (Estreita): Realizar tarefas específicas com alta proficiência. → 🧠 IA Forte (Geral): Compreender, aprender e aplicar inteligência em qualquer tarefa intelectual humana.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Alcance → 🤖 IA Fraca (Estreita): Domínio restrito e especializado. → 🧠 IA Forte (Geral): Generalista, capaz de transferir conhecimento entre áreas.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Consciência → 🤖 IA Fraca (Estreita): Não possui consciência, emoções ou autoconsciência. → 🧠 IA Forte (Geral): Possuiria consciência, emoções e autoconsciência (hipotético).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Realidade → 🤖 IA Fraca (Estreita): Já existe e é amplamente utilizada atualmente. → 🧠 IA Forte (Geral): Conceito futurista, ainda distante de ser alcançado.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Exemplos → 🤖 IA Fraca (Estreita): Siri, Alexa, filtros de spam, sistemas de recomendação. → 🧠 IA Forte (Geral): HAL 9000 ("2001: Uma Odisseia no Espaço"), robôs de "Eu, Robô".</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 / 92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maior parte das aplicações atuais de IA pertence à categoria de IA Fraca.</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 / 92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já está integrada em nosso cotidiano, e muitas vezes nem nos damos conta.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Smartphones: Reconhecimento facial, assistentes de voz (Siri, Google Assistant), teclados preditivos.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Redes Sociais: Filtros de feed, sugestões de amizade, anúncios personalizados, detecção de conteúdo inadequado.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Compras Online: Recomendações de produtos, chatbots de suporte.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Bancos e Finanças: Detecção de fraudes, análise de risco de crédito, atendimento via chatbot.</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Streaming de Mídia: Sugestão de filmes, séries e músicas baseadas em seu histórico e preferências.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Navegação: Google Maps e Waze analisam tráfego em tempo real para sugerir rotas otimizadas.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Saúde: Análise de imagens médicas (raio-X, ressonância), desenvolvimento de novas medicações.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Marketing: Segmentação de público, criação de e-mails, otimização de campanhas.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Pare um momento e reflita: Quais dessas aplicações de IA você já utiliza no seu dia a dia profissional ou pessoal sem se dar conta? Como elas impactam suas atividades?</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 / 92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É fundamental encarar a IA como uma poderosa ferramenta. Ela serve para amplificar nossas capacidades, automatizar tarefas repetitivas e analisar dados.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IA não é um substituto completo para a inteligência humana. Ela ainda não compreende emoções complexas ou nuances de linguagem como um ser humano.</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performance da IA é diretamente ligada à qualidade e quantidade dos dados com os quais foi treinada.</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 / 92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Por que a IA é Relevante para Profissionais não Técnicos?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é uma habilidade fundamental para profissionais em todas as áreas, não apenas para técnicos.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Otimização de Processos: Automatiza tarefas repetitivas, liberando tempo para atividades estratégicas.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Tomada de Decisão: Fornece insights valiosos ao analisar grandes volumes de dados.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Inovação: Abre portas para novos produtos, serviços e modelos de negócio, gerando vantagem competitiva.</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Experiência do Cliente: Personaliza e melhora a interação com o cliente através de recomendações e chatbots.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Empregabilidade: Profissionais que entendem e usam IA são mais valorizados e resilientes no mercado.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Gestão de Riscos: Ajuda a detectar fraudes e identificar ameaças cibernéticas em tempo real.</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Preparação para o Futuro: Compreender a IA é essencial para acompanhar as transformações tecnológicas e sociais.</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 / 92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Neste módulo, desmistificamos a Inteligência Artificial, definindo-a como a capacidade de máquinas simularem habilidades humanas.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Exploramos os tipos de IA Fraca e Forte, enfatizando a relevância da IA Fraca em nossas vidas.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Por fim, demonstramos como a compreensão da IA é crucial para profissionais não técnicos, impulsionando a eficiência e a inovação.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 Inteligência Artificial (IA) é a capacidade de máquinas simularem tarefas cognitivas humanas, sendo uma poderosa ferramenta.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Existem dois tipos principais: IA Fraca (tarefas específicas, presente hoje) e IA Forte (inteligência geral, futura e teórica).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 IA já está amplamente integrada em nosso cotidiano e ambiente de trabalho, de smartphones a sistemas de recomendação.</a:t>
            </a:r>
            <a:endParaRPr lang="en-US" sz="18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10 / 92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Para profissionais não técnicos, a IA é vital para otimizar processos, tomar decisões informadas e inovar.</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Compreender a IA aumenta a empregabilidade e a resiliência profissional no mercado em constante evolução.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IA serve para amplificar as capacidades humanas, não para substituí-las por completo.</a:t>
            </a:r>
            <a:endParaRPr lang="en-US" sz="24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11 / 92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2: Módulo 2: Ferramentas de IA Acessíveis para o Dia a Dia Profissional</a:t>
            </a:r>
            <a:endParaRPr lang="en-US" sz="20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457200" y="713232"/>
            <a:ext cx="3200400" cy="219456"/>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Objetivos</a:t>
            </a:r>
            <a:endParaRPr lang="en-US" sz="1300" dirty="0"/>
          </a:p>
        </p:txBody>
      </p:sp>
      <p:sp>
        <p:nvSpPr>
          <p:cNvPr id="6" name="Text 4"/>
          <p:cNvSpPr/>
          <p:nvPr/>
        </p:nvSpPr>
        <p:spPr>
          <a:xfrm>
            <a:off x="640080" y="868680"/>
            <a:ext cx="7863840" cy="3730752"/>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Identificar ferramentas de IA acessíveis para otimizar tarefas profissionais.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Desenvolver habilidades no uso prático de assistentes, geradores de texto e ferramentas de análise/automação.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Aplicar a IA para aumentar a produtividade e a eficiência no cotidiano de trabalho.</a:t>
            </a:r>
            <a:endParaRPr lang="en-US" sz="24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12 / 92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Inteligência Artificial (IA) deixou de ser um privilégio de especialistas para se tornar uma força democratizante.</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Ela empodera profissionais de diversas áreas, desde gestores a empreendedores, sem exigir conhecimento em programação.</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O foco é integrar a IA para otimizar tarefas diárias, aumentar a produtividade e gerar resultados tangíveis.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IA atua como uma aliada, amplificando o trabalho humano e permitindo foco em atividades que exigem criatividade e inteligência.</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13 / 92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Ferramentas de IA Acessíveis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Diversas ferramentas de IA estão disponíveis para profissionais não técnicos. Elas podem ser categorizadas conforme sua principal função.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14 / 92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Ferramentas de IA Acessíveis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Objetivo Principal → Assistentes Virtuais: Gerenciar rotinas e comandos → Geradores de Texto: Criar conteúdo escrito → Análise de Dados Simplificada: Extrair insights de dados → Automação de Tarefas Básicas: Otimizar fluxos de trabalho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Tecnologia Base → Assistentes Virtuais: PLN, Machine Learning → Geradores de Texto: Grandes Modelos de Linguagem (LLM) → Análise de Dados Simplificada: Machine Learning, BI → Automação de Tarefas Básicas: Fluxos lógicos ("Se-Então")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Exemplos → Assistentes Virtuais: Google Assistant, Copilot → Geradores de Texto: ChatGPT, Google Gemini → Análise de Dados Simplificada: Power BI, Looker Studio → Automação de Tarefas Básicas: Zapier, Make, Power Automate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Benefício Chave → Assistentes Virtuais: Otimização de tempo → Geradores de Texto: Aceleração da produção → Análise de Dados Simplificada: Tomada de decisão informada → Automação de Tarefas Básicas: Redução de tarefas repetitivas</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15 / 92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Assistentes Virtuais Inteligentes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Assistentes virtuais como Google Assistant, Siri e Microsoft Copilot utilizam Processamento de Linguagem Natural (PLN) e Machine Learning. Eles interpretam comandos de voz ou texto, compreendem intenções e executam ações. Aprendem com as interações para se tornarem mais precisos e personalizados.</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16 / 92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Assistentes Virtuais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Organização e Gestão de Tempo: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Agendamento de reuniões: Verificam agendas e enviam convites automaticamente.</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Lembretes e prazos: Definem alertas como "Lembre-me de enviar o relatório até 17h".</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Gestão de tarefas: Adicionam itens a listas de afazeres.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Acesso Rápido a Informações:</a:t>
            </a:r>
            <a:endParaRPr lang="en-US" sz="20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Pesquisa imediata: Fornecem definições, dados de mercado ou notícias sem abrir o navegador.</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Consultas: Podem resumir e-mails ou encontrar informações em documentos (com integração, ex: Copilot).</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Comunicação Eficiente:</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Ditado de texto: Redigem e-mails ou notas por voz.</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Tradução instantânea: Oferecem traduções rápidas em diversos contextos.</a:t>
            </a:r>
            <a:endParaRPr lang="en-US" sz="20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17 / 92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Exemplo prático: Microsoft Copilot no Teams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Durante uma reunião online no Microsoft Teams, você pode pedir:</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"Copilot, resuma os pontos-chave discutidos até agora." (Gera resumo em tempo real)</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"Copilot, liste os itens de ação e para quem eles foram atribuídos." (Identifica e organiza tarefas pós-reunião)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18 / 92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Geradores de Texto e Conteúdo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Ferramentas como ChatGPT e Google Gemini são baseadas em Grandes Modelos de Linguagem (LLM). Elas são treinadas em vastos volumes de texto para aprender padrões de linguagem, fatos e estilos. A partir de um prompt (instrução) fornecido pelo usuário, geram texto coerente e relevante.</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19 / 92</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Geradores de Texto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Marketing e Comunicação: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Geração de ideias: Sugerem tópicos para posts de blog ou campanhas.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Rascunhos de e-mails: Criam e-mails para clientes, ajustando o tom (formal, informal).</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Textos para redes sociais: Elaboram legendas engajadoras.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Educação e Treinamento: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Conteúdo didático: Desenvolvem explicações simplificadas sobre temas complexos.</a:t>
            </a:r>
            <a:endParaRPr lang="en-US" sz="20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Exercícios e quizzes: Criam perguntas de múltipla escolha.</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Material de apoio: Resumem artigos científicos para apresentações.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Gestão e Planejamento: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Documentos internos: Redigem comunicados sobre políticas.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Roteiros de apresentações: Estruturam o conteúdo para palestras.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Brainstorming: Geram ideias para resolver problemas ou inovar.</a:t>
            </a:r>
            <a:endParaRPr lang="en-US" sz="20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20 / 92</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Geradores de Texto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Revisão Humana Crucial: A IA é um apoio, não um substituto. Sempre revise e edite o conteúdo para garantir precisão, originalidade e alinhamento com seu tom de voz.</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Limitações: A IA pode "alucinar" (gerar informações falsas). Use-a como um ponto de partida, não como autoridade final.</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Pare um momento e reflita: Qual tarefa repetitiva ou demorada do seu dia a dia profissional você acredita que poderia ser otimizada com a ajuda de um assistente virtual ou gerador de texto?</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21 / 92</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Análise de Dados Simplificada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Ferramentas como Google Looker Studio e Microsoft Power BI utilizam algoritmos de Machine Learning e interfaces intuitivas.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Elas processam grandes volumes de dados para identificar padrões, anomalias, tendências e correlações.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Os resultados são apresentados em formatos compreensíveis, como gráficos e painéis interativos, muitas vezes respondendo a perguntas em linguagem natural.</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22 / 92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Análise de Dados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3794760" cy="3785616"/>
          </a:xfrm>
          <a:prstGeom prst="rect">
            <a:avLst/>
          </a:prstGeom>
          <a:noFill/>
          <a:ln/>
        </p:spPr>
        <p:txBody>
          <a:bodyPr wrap="square" rtlCol="0" anchor="t">
            <a:normAutofit/>
          </a:bodyPr>
          <a:lstStyle/>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Identificação de Tendências de Vendas:</a:t>
            </a:r>
            <a:endParaRPr lang="en-US" sz="2200" dirty="0"/>
          </a:p>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Cenário: Você tem uma planilha de vendas mensal. A IA pode responder "Qual produto teve o maior crescimento de vendas no último trimestre?" e gerar gráficos.</a:t>
            </a:r>
            <a:endParaRPr lang="en-US" sz="2200" dirty="0"/>
          </a:p>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Análise de Feedback de Clientes:</a:t>
            </a:r>
            <a:endParaRPr lang="en-US" sz="2200" dirty="0"/>
          </a:p>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Cenário: Com centenas de comentários, a IA classifica-os como positivos/negativos e identifica temas recorrentes.</a:t>
            </a:r>
            <a:endParaRPr lang="en-US" sz="2200" dirty="0"/>
          </a:p>
        </p:txBody>
      </p:sp>
      <p:sp>
        <p:nvSpPr>
          <p:cNvPr id="6" name="Text 4"/>
          <p:cNvSpPr/>
          <p:nvPr/>
        </p:nvSpPr>
        <p:spPr>
          <a:xfrm>
            <a:off x="4709160" y="795528"/>
            <a:ext cx="3794760" cy="3785616"/>
          </a:xfrm>
          <a:prstGeom prst="rect">
            <a:avLst/>
          </a:prstGeom>
          <a:noFill/>
          <a:ln/>
        </p:spPr>
        <p:txBody>
          <a:bodyPr wrap="square" rtlCol="0" anchor="t">
            <a:normAutofit/>
          </a:bodyPr>
          <a:lstStyle/>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Otimização de Campanhas de Marketing:</a:t>
            </a:r>
            <a:endParaRPr lang="en-US" sz="2200" dirty="0"/>
          </a:p>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Cenário: Plataformas como Google Ads usam IA para otimizar lances e segmentar público, sugerindo ajustes para melhorar o ROI (Retorno sobre Investimento).</a:t>
            </a:r>
            <a:endParaRPr lang="en-US" sz="2200" dirty="0"/>
          </a:p>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Previsões Simples:</a:t>
            </a:r>
            <a:endParaRPr lang="en-US" sz="2200" dirty="0"/>
          </a:p>
          <a:p>
            <a:pPr>
              <a:lnSpc>
                <a:spcPts val="2400"/>
              </a:lnSpc>
              <a:spcAft>
                <a:spcPts val="300"/>
              </a:spcAft>
            </a:pPr>
            <a:r>
              <a:rPr lang="en-US" sz="2200" dirty="0">
                <a:solidFill>
                  <a:srgbClr val="1E1E23"/>
                </a:solidFill>
                <a:latin typeface="Arial" pitchFamily="34" charset="0"/>
                <a:ea typeface="Arial" pitchFamily="34" charset="-122"/>
                <a:cs typeface="Arial" pitchFamily="34" charset="-120"/>
              </a:rPr>
              <a:t>Cenário: Com base em dados históricos, a IA pode prever custos para o próximo trimestre, auxiliando no planejamento orçamentário.</a:t>
            </a:r>
            <a:endParaRPr lang="en-US" sz="22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23 / 92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Análise de Dados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Visualização Clara: A força dessas ferramentas reside em transformar dados brutos em histórias visuais claras.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Perguntas em Linguagem Natural: Muitas permitem fazer perguntas em português, e a IA tenta gerar a resposta visualmente.</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Não Substitui o Especialista: A interpretação profunda e a tomada de decisões estratégicas ainda dependem do profissional humano. A IA serve como um "olho extra".</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24 / 92</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 Automação de Tarefas Básicas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automação utiliza ferramentas no-code (sem código) e low-code (pouco código), como Zapier e Make. A ideia é criar "receitas" onde um "gatilho" (trigger) provoca uma "ação" (action) predefinida.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Essas ferramentas funcionam como "pontes" entre diferentes aplicativos, realizando tarefas sem intervenção humana e muitas vezes com IA para otimizar os fluxos.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25 / 92</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 Automação de Tarefas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Gestão de E-mails e Notificações: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Automação: Ao receber um e-mail específico, cria uma tarefa no Trello e envia uma notificação SMS.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Automação: Salva automaticamente anexos de e-mails em uma pasta do Google Drive.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Coleta e Organização de Dados: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Cenário: Novo preenchimento de formulário no Google Forms adiciona uma linha a uma planilha e envia um e-mail de boas-vindas.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Cenário: Monitora menções da marca em redes sociais e as salva em um documento para análise.</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Atualização de Sistemas e Bancos de Dados Simples: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Cenário: Venda em plataforma e-commerce atualiza automaticamente o estoque em planilha de controle.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Cenário: Conclusão de tarefa em um software atualiza o status do projeto em outro.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Geração de Relatórios Simplificados: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Cenário: Fim do mês: extrai dados de vendas, organiza em modelo e envia relatório por e-mail.</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26 / 92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Automação de Tarefas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Pensamento "Se Isso, Então Aquilo": A chave é identificar pares de "Acontece X" e "Faça Y".</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Liberdade para o Trabalho Estratégico: Automatizar tarefas repetitivas libera tempo para atividades que exigem criatividade e resolução de problemas complexos.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Comece Pequeno: Identifique 1-2 tarefas repetitivas e teste a automação. O impacto cumulativo pode ser surpreendente.</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27 / 92</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Neste módulo, exploramos como a Inteligência Artificial pode transformar a rotina profissional, abordando ferramentas acessíveis que dispensam conhecimentos de programação para otimizar tarefas e aumentar a produtividade.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Cobrimos assistentes virtuais, geradores de texto, soluções de análise de dados simplificada e plataformas de automação.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O foco principal foi desmistificar o uso da IA, mostrando como ela atua como uma poderosa aliada no dia a dia, desde a gestão do tempo até a criação de conteúdo e análise de informações.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 IA é acessível a profissionais não técnicos através de ferramentas intuitivas e sem código (no-code).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Há uma gama de ferramentas para otimizar tarefas diárias, como agendamentos, escrita e análise de dados.</a:t>
            </a:r>
            <a:endParaRPr lang="en-US" sz="18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28 / 92</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IA potencializa a produtividade, liberando tempo para atividades mais estratégicas e criativas.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revisão humana é crucial: a IA é uma ferramenta de apoio, mas a validação e a decisão final são sempre do profissional.</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Experimentar as ferramentas é o primeiro passo para extrair valor e entender seu potencial.</a:t>
            </a:r>
            <a:endParaRPr lang="en-US" sz="24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29 / 92</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3: Módulo 3: IA para Otimização da Comunicação e Conteúdo</a:t>
            </a:r>
            <a:endParaRPr lang="en-US" sz="20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457200" y="713232"/>
            <a:ext cx="3200400" cy="219456"/>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Objetivos</a:t>
            </a:r>
            <a:endParaRPr lang="en-US" sz="1300" dirty="0"/>
          </a:p>
        </p:txBody>
      </p:sp>
      <p:sp>
        <p:nvSpPr>
          <p:cNvPr id="6" name="Text 4"/>
          <p:cNvSpPr/>
          <p:nvPr/>
        </p:nvSpPr>
        <p:spPr>
          <a:xfrm>
            <a:off x="640080" y="868680"/>
            <a:ext cx="7863840" cy="3730752"/>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Entender como a IA aprimora a comunicação e a criação de conteúdo.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Desenvolver a capacidade de usar ferramentas de IA para gerar mensagens claras e eficazes.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Aplicar a IA para personalizar a comunicação e otimizar apresentações e traduções.</a:t>
            </a:r>
            <a:endParaRPr lang="en-US" sz="24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30 / 92</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Inteligência Artificial (IA) é uma ferramenta poderosa para otimizar a comunicação e a criação de conteúdo. Em um cenário com sobrecarga de informação, clareza e impacto são essenciais. A IA atua como uma aliada, elevando a qualidade e a eficácia de e-mails, apresentações, traduções e mensagens personalizadas.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Este módulo foca em como a IA pode transformar a forma de se comunicar. Exploraremos técnicas e ferramentas para gerar conteúdo eficaz, envolvente e adaptado ao público, garantindo que as mensagens sejam compreendidas e lembradas.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31 / 92</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da Escrita com IA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Ferramentas de IA para escrita utilizam Modelos de Linguagem Grande (LLMs), treinados em vasta quantidade de textos. Elas analisam seu conteúdo e oferecem sugestões para melhorar clareza, estilo e impacto.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Os LLMs atuam em diversas frentes: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Clareza e Concisão: Identificam frases prolixas e sugerem formas mais diretas.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Gramática e Ortografia Avançada: Corrigem problemas complexos de pontuação, concordância e uso de preposições.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Estilo e Tom: Adaptam o texto para um tom específico (formal, persuasivo) e garantem consistência estilística.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Reescrita e Paráfrase: Oferecem variações da mesma ideia para evitar plágio ou diversificar a apresentação.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Geração de Ideias: Criam rascunhos iniciais ou outlines de conteúdo a partir de um prompt.</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32 / 92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Criação de Apresentações Eficazes com IA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IA simplifica o processo de criação de apresentações, desde a estrutura até o design.</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Estruturas e Tópicos: Propõe uma sequência lógica de slides e subtópicos para um tema.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Sugestão de Conteúdo: Expande bullet points, sugere títulos e resumos impactantes.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Auxílio Visual: Recomenda layouts, paletas de cores, imagens e até ícones/gráficos.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Revisão: Analisa a coesão do conteúdo, a consistência do design e a legibilidade.</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33 / 92</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Precisa e Contextualizada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IAs de tradução modernas (Traducão de Máquina Neural - NMT) usam redes neurais profundas para um contexto mais natural.</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Textos e Documentos: Traduzem mantendo a coerência e coesão.</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Nuances e Tom: Adaptam a tradução para preservar o tom original.</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Termos Específicos: Reconhecem e traduzem corretamente jargões da indústria.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Tempo Real: Permitem tradução simultânea de voz ou texto em conversas.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34 / 92</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Mensagens para Diferentes Públicos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 IA permite adaptar a mensagem ao público-alvo, gerando mensagens personalizadas em escala. Ela analisa dados sobre o público (demografia, interesses, histórico) e customiza o conteúdo.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Segmentação Avançada: Identifica padrões complexos em dados de clientes para segmentação precisa.</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Conteúdo Dinâmico: Automatiza a criação de diferentes versões do mesmo conteúdo (e-mails, posts) para cada segmento.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Recomendação: Sugere produtos, artigos ou informações relevantes com base no comportamento do usuário.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Adaptação de Linguagem: Reescreve mensagens para se adequar ao perfil do público (formal, informal, técnico).</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35 / 92</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de E-mail com IA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Cenário: Redação de um e-mail para cliente sobre atraso.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36 / 92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de E-mail com IA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Tom → Texto Original (Humano): Informal, pouco profissional → Sugestão da IA: Profissional, empático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Objetivo → Texto Original (Humano): Informar o problema → Sugestão da IA: Informar, pedir desculpas e prover solução (nova data)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Concisão → Texto Original (Humano): Prolixo e com redundâncias → Sugestão da IA: Direto e objetivo, com informações essenciais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Direção → Texto Original (Humano): Sem direcionamento claro para o cliente → Sugestão da IA: Sugere passos claros e novas informações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Clareza → Texto Original (Humano): "Por um tempo" pouco específico → Sugestão da IA: "Estimamos uma nova data de entrega em [Data]" fornece clareza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Impacto → Texto Original (Humano): Causa frustração → Sugestão da IA: Diminui atrito, oferece resolução</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37 / 92</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Aprimoramento de E-mail com IA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Aspecto: 🎯 Resultado → Texto Original (Humano): "Gostaria de informar que, infelizmente, houve um problema com a logística e, portanto, a entrega do produto que você encomendou será atrasada por um tempo.</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Pedimos desculpas por isso." → Sugestão da IA: "Lamentamos informar que a entrega do seu pedido sofrerá um pequeno atraso devido a imprevistos logísticos.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Estamos trabalhando para resolver a situação e estimamos uma nova data de entrega em [Data]. Pedimos desculpas pelo inconveniente."</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38 / 92</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Criação de Estrutura de Apresentação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Cenário: Apresentação sobre "Tendências de Marketing Digital para 2024".</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Prompt para IA: "Crie um roteiro para uma apresentação de 15 minutos sobre as principais tendências de marketing digital para 2024, focando em IA e personalização."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Saída da IA (exemplo de estrutura):</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Slide 1: Título: Desvendando o Futuro: Tendências de Marketing Digital 2024</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Slide 2: Introdução: Por que o Marketing Digital está em constante evolução?</a:t>
            </a:r>
            <a:endParaRPr lang="en-US" sz="20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Slide 3: Tendência 1: A Revolução da IA no Marketing</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Subtópico: Análise Preditiva e Comportamental</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Subtópico: Automação de Conteúdo e Campanhas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Slide 4: Tendência 2: Hiperpersonalização em Escala</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Subtópico: Experiências do Cliente 1:1</a:t>
            </a:r>
            <a:endParaRPr lang="en-US" sz="20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39 / 92</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Criação de Estrutura de Apresentação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Subtópico: Segmentação Dinâmica</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Slide Final: Perguntas e Respostas / Conclusão.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40 / 92</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de Relatório Técnico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Cenário: Traduzir relatório técnico do Português para o Inglês.</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41 / 92</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de Relatório Técnico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Aspecto: 🌐 Idioma → Texto Original (Português): Português → Tradução IA (Inglês): Inglês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Aspecto: ⚙️ Conceitos → Texto Original (Português): "Arquitetura de microserviços", "latência das transações" → Tradução IA (Inglês): "Microservices architecture", "transaction latency"</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Aspecto: 🎯 Precisão → Texto Original (Português): Mantém os termos técnicos e o sentido original → Tradução IA (Inglês): Mantém os termos técnicos e o sentido original</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Aspecto: 💬 Fluidez → Texto Original (Português): Profissional e direto → Tradução IA (Inglês): Profissional e direto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Aspecto: ✅ Coerência → Texto Original (Português): Mensagem técnica clara → Tradução IA (Inglês): Mensagem técnica clara</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42 / 92</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Tradução de Relatório Técnico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Aspecto: ⚡ Resultado → Texto Original (Português): "A implementação da nova arquitetura de microserviços otimizou o desempenho do sistema em 30%, resultando em uma redução significativa na latência das transações." → Tradução IA (Inglês): "The implementation of the new microservices architecture optimized system performance by 30%, resulting in a significant reduction in transaction latency."</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43 / 92</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Cenário: E-mail de e-commerce, gerando mensagens diferentes para dois perfis de clientes.</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44 / 92</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Público → Para Cliente A (Tecnologia, 25-35 anos): Jovem, interesse em tecnologia → Para Cliente B (Moda Feminina, 45-55 anos): Mulher adulta, interesse em moda feminina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Tom → Para Cliente A (Tecnologia, 25-35 anos): Entusiasmado, informal, uso de emojis → Para Cliente B (Moda Feminina, 45-55 anos): Elegante, respeitoso, uso sutil de emoji</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Foco → Para Cliente A (Tecnologia, 25-35 anos): Gadgets, smartphones, dispositivos inteligentes → Para Cliente B (Moda Feminina, 45-55 anos): Coleção exclusiva, peças elegantes, moda primavera-verão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Chamada → Para Cliente A (Tecnologia, 25-35 anos): Impulsiona a ser o "primeiro a conferir" novidades → Para Cliente B (Moda Feminina, 45-55 anos): Convida a "visitar loja online" para explorar</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Aspecto: 💌 Mensagem IA → Para Cliente A (Tecnologia, 25-35 anos): "Olá [Nome do Cliente A], as novidades em gadgets estão de cair o queixo!</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45 / 92</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 Descubra nossos lançamentos de smartphones e dispositivos inteligentes que vão revolucionar sua rotina. Clique aqui e seja o primeiro a conferir!" → Para Cliente B (Moda Feminina, 45-55 anos): "Prezada Sra.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[Sobrenome do Cliente B], as tendências da moda primavera-verão chegaram! 🌸 Explore nossa coleção exclusiva de peças elegantes e atemporais, pensadas para você brilhar. Visite nossa loja online!"</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46 / 92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Personalização de E-mail de Marketing</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Pare um momento e reflita: Como a automação de tarefas de comunicação pela IA pode liberar seu tempo para focar em aspectos mais estratégicos e criativos do seu trabalho?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47 / 92</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 IA se torna um assistente inteligente para o profissional moderno, otimizando as seguintes áreas: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Redação: Melhora textos para e-mails, relatórios, propostas, artigos e posts de blog, elevando a clareza e persuasão.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Marketing e Vendas: Cria campanhas mais eficientes, personaliza mensagens e aumenta o engajamento do cliente.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Treinamento e Educação: Gera materiais didáticos, resumos e questões, adaptando o conteúdo ao nível de aprendizado dos alunos.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Comunicação Interna: Ajuda a redigir comunicados claros e objetivos, garantindo que a informação seja bem recebida por toda a equipe.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Atendimento ao Cliente: Automatiza respostas, cria scripts de atendimento e personaliza interações, melhorando a experiência do usuário.</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48 / 92</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Ao usar a IA na comunicação, é importante estar ciente de alguns pontos: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Dependência Excessiva: A IA é uma ferramenta; a revisão humana é indispensável para garantir a precisão e o tom.</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Viés nos Dados: Modelos de IA podem reproduzir vieses presentes nos dados de treinamento, resultando em conteúdo tendencioso. A curadoria é vital.</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Falta de Originalidade: Em excesso, o conteúdo gerado por IA pode soar genérico ou repetitivo, perdendo a voz única.</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Segurança e Privacidade: Atenção ao compartilhar informações sensíveis com ferramentas de IA, especialmente as baseadas na nuvem.</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Contexto e Nuance: A IA ainda pode falhar em captar o contexto cultural e as nuances mais sutis, que apenas a inteligência humana percebe.</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49 / 92</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Para mitigar esses desafios, é crucial sempre avaliar criticamente a saída da IA e usá-la como um ponto de partida, não como um substituto.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50 / 92</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Técnicas para Gerar Conteúdo Mais Eficaz e Envolvente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Para maximizar o uso da IA, siga estas técnicas: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Definição Clara de Objetivo e Público: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Antes de usar a IA, tenha clareza sobre o que você deseja alcançar (informar, persuadir, educar).</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Entenda seu público: nível de conhecimento, interesses, demografia e persona.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Esta clareza será o seu prompt inicial, direcionando a geração de conteúdo pela 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Iteração e Refinamento com a 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Use a IA como um assistente interativo.</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Gere um rascunho: Peça a primeira versão à 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Revise e edite: Identifique melhorias e forneça feedback específico.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Comunique-se com a IA: Peça para "deixar o parágrafo mais conciso" ou "mudar o tom".</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Itere: O processo de feedback contínuo leva a resultados superiores.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Foco em Clareza e Impacto: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ajuda, mas a responsabilidade final é sua.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Utilize linguagem simples e direta, evitando jargões desnecessários.</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51 / 92</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Técnicas para Gerar Conteúdo Mais Eficaz e Envolvente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Preserve a estrutura lógica do conteúdo para um fluxo natural de ideias.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Inclua Chamadas para Ação (CTAs) claras, se o objetivo for uma reação do leitor.</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Para apresentações, use elementos visuais relevantes e impactantes.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Monitoramento e Análise (Para Conteúdo em Larga Escala):</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Para personalização e campanhas, é essencial medir o desempenho.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Teste diferentes versões geradas pela IA (Testes A/B).</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Analise métricas como taxas de abertura, cliques e engajamento.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Ajuste prompts e estratégias de IA com base nos dados, criando um ciclo de melhoria contínua.</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52 / 92</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Neste módulo, exploramos como a IA revoluciona a comunicação e a criação de conteúdo, agindo como um poderoso assistente.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Aprendemos a usar ferramentas de IA para aprimorar textos, construir apresentações eficazes, realizar traduções precisas e personalizar mensagens em escala.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 prática com a IA, aliada ao feedback humano, é fundamental para resultados excepcionais.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 IA é um aliado estratégico para otimizar textos, apresentações e traduções, liberando tempo para foco estratégico.</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Ferramentas de IA permitem criar conteúdo mais claro, conciso e com tom adequado para diversos públicos.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 personalização em escala é viabilizada pela capacidade da IA de analisar dados e adaptar mensagens.</a:t>
            </a:r>
            <a:endParaRPr lang="en-US" sz="18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53 / 92</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IA amplia as capacidades humanas, atuando como um assistente inteligente, mas não substitui a criatividade ou o senso crítico.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experimentação, prompts claros e iteração são cruciais para obter os melhores resultados da IA na comunicação.</a:t>
            </a:r>
            <a:endParaRPr lang="en-US" sz="24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54 / 92</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4: Módulo 4: IA no Apoio à Tomada de Decisão e Análise Preliminar</a:t>
            </a:r>
            <a:endParaRPr lang="en-US" sz="20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457200" y="713232"/>
            <a:ext cx="3200400" cy="219456"/>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Objetivos</a:t>
            </a:r>
            <a:endParaRPr lang="en-US" sz="1300" dirty="0"/>
          </a:p>
        </p:txBody>
      </p:sp>
      <p:sp>
        <p:nvSpPr>
          <p:cNvPr id="6" name="Text 4"/>
          <p:cNvSpPr/>
          <p:nvPr/>
        </p:nvSpPr>
        <p:spPr>
          <a:xfrm>
            <a:off x="640080" y="868680"/>
            <a:ext cx="7863840" cy="3730752"/>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Analisar como a IA aprimora a análise de dados e a tomada de decisão.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Explorar ferramentas acessíveis de IA para identificar padrões e prever resultados.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Aplicar insights gerados por IA para decisões estratégicas e otimização.</a:t>
            </a:r>
            <a:endParaRPr lang="en-US" sz="24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55 / 92</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Inteligência Artificial atua como um co-piloto para a tomada de decisão. Ela processa volumes de informações. Identifica padrões ocultos e prevê cenários.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O objetivo não é substituir o julgamento humano, mas amplificar a capacidade de análise. A IA apresenta insights de forma clara, mesmo para não especialistas.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eficácia da IA depende da qualidade e quantidade dos dados. Dados brutos podem ser numéricos, textuais, imagens ou áudios.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Dados ruins (incompletos, inconsistentes) levam a insights ruins. É crucial saber onde os dados estão e quais são os mais importantes.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56 / 92</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análise de dados assistida por IA aprimora a análise humana. Ela automatiza tarefas repetitivas e identifica padrões que seriam difíceis de perceber.</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Identificação de Tendências: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analisa séries históricas de dados.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Ela aponta padrões de crescimento, declínio ou sazonalidade.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Detecção de Anomalias (Outliers):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identifica dados que se desviam do padrão esperado.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Pode indicar problemas ou oportunidades.</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Visão Geral Rápida: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Ferramentas de IA geram dashboards e relatórios interativos.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Apresentam informações relevantes em formatos gráficos e fáceis de entender.</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Previsão de Resultados Básicos: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projeta o futuro próximo com base em dados históricos.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Modelos aprendem com o passado para fazer "apostas" educadas.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precisão depende da qualidade dos dados e da estabilidade do cenário.</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57 / 92</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Exemplo prático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Um sistema de IA analisa dados de vendas dos últimos 5 anos. Ele identifica um aumento significativo em novembro e dezembro para produtos específicos.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Este insight permite planejar estoques e campanhas de marketing para o próximo ano. Demonstra a IA otimizando o planejamento com base em tendências.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Em dados financeiros, um gasto muito acima da média em uma categoria é sinalizado pela IA. Pode ser um erro, fraude ou uma nova oportunidade.</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58 / 92</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 IA gera insights para decisões estratégicas: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Diagnóstico de Causa Raiz: A IA aponta as prováveis causas de problemas.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Segmentação de Clientes: Agrupa clientes com características similares para marketing.</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Otimização de Processos: Identifica gargalos e sugere melhorias em fluxos de trabalho.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Identificação de Oportunidades: Sinaliza novos nichos ou produtos em potencial.</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Exemplos de Previsão: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Previsão de vendas: Estima vendas futuras para gestão de estoque.</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Demanda por serviços: Otimiza a distribuição para empresas de saneamento.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Adesão a cursos/eventos: Prevê taxas de inscrição em instituições de ensino.</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59 / 92</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Ferramentas com IA simplificam a análise para não técnicos:</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60 / 92</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Critério 🚀: Função → Planilhas Inteligentes: Gráficos automáticos, previsões básicas → Plataformas BI com IA: Dashboards interativos, PLN → Sistemas CRM/ERP com IA: Previsão de vendas, sugestões → Ferramentas Marketing Digital IA: Análise comp. usuário, otimização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Critério 🚀: Recursos → Planilhas Inteligentes: Geração automática de gráficos, "Ideias" → Plataformas BI com IA: Perguntas em linguagem natural, insights automáticos → Sistemas CRM/ERP com IA: Probabilidade fechamento negócio, análise sentimento → Ferramentas Marketing Digital IA: Identificação canais valiosos, segmentação automática</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Critério 🚀: Ferramenta → Planilhas Inteligentes: Excel (recursos de IA), Google Sheets (Add-ons) → Plataformas BI com IA: Power BI, Tableau, Qlik Sense → Sistemas CRM/ERP com IA: Salesforce (Einstein AI), SAP (Leonardo AI) → Ferramentas Marketing Digital IA: Google Analytics, Mailchimp</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61 / 92</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Critério 🚀: Exemplo → Planilhas Inteligentes: Função "Análise Rápida" sugere gráficos → Plataformas BI com IA: Perguntar "vendas por produto" gera gráfico → Sistemas CRM/ERP com IA: "Cliente X se beneficiaria de produto Y" → Ferramentas Marketing Digital IA: Prever usuários com maior prob. de conversão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62 / 92</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Pare um momento e reflita: Como você poderia começar a aplicar a identificação de tendências ou anomalias em seus próprios dados de trabalho hoje, mesmo sem uma ferramenta de IA dedicada?</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63 / 92</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Desafios e cuidados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qualidade dos dados é um fator crítico. Dados ruins ou incompletos podem levar a insights distorcidos.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IA é uma ferramenta; o julgamento humano é sempre essencial. As previsões são estimativas, não certezas absolutas.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dependência excessiva da IA pode ofuscar a intuição e experiência humana. É importante equilibrar a tecnologia com o conhecimento do domínio.</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Viés nos dados pode levar a decisões injustas ou ineficazes. É crucial considerar a origem e representatividade dos dados.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64 / 92</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3794760" cy="3858768"/>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Inteligência Artificial atua como um potente assistente na tomada de decisão e análise preliminar, processando grandes volumes de dados para identificar tendências, anomalias e gerar previsões.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Ferramentas acessíveis permitem que mesmo profissionais não técnicos obtenham insights valiosos, otimizando processos e aprimorando estratégias com base em dados.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O uso eficaz da IA requer dados de qualidade e um equilíbrio com o julgamento humano.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aprimora a análise de dados, agindo como um co-piloto para decisões informadas.</a:t>
            </a:r>
            <a:endParaRPr lang="en-US" sz="1800" dirty="0"/>
          </a:p>
        </p:txBody>
      </p:sp>
      <p:sp>
        <p:nvSpPr>
          <p:cNvPr id="5" name="Text 3"/>
          <p:cNvSpPr/>
          <p:nvPr/>
        </p:nvSpPr>
        <p:spPr>
          <a:xfrm>
            <a:off x="4709160" y="795528"/>
            <a:ext cx="3794760" cy="3858768"/>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Dados de qualidade são a base para insights precisos e eficazes da 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identifica tendências, anomalias e oferece previsões para melhor planejamento.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Insights estratégicos para diagnóstico, segmentação e otimização são gerados pela 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Ferramentas de IA são acessíveis e intuitivas para profissionais não técnicos.</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65 / 92</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combinação de IA e julgamento humano resulta nas melhores decisões.</a:t>
            </a:r>
            <a:endParaRPr lang="en-US" sz="24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66 / 92</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5: Módulo 5: Ética, Segurança e o Futuro da IA no Trabalho</a:t>
            </a:r>
            <a:endParaRPr lang="en-US" sz="20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457200" y="713232"/>
            <a:ext cx="3200400" cy="219456"/>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Objetivos</a:t>
            </a:r>
            <a:endParaRPr lang="en-US" sz="1300" dirty="0"/>
          </a:p>
        </p:txBody>
      </p:sp>
      <p:sp>
        <p:nvSpPr>
          <p:cNvPr id="6" name="Text 4"/>
          <p:cNvSpPr/>
          <p:nvPr/>
        </p:nvSpPr>
        <p:spPr>
          <a:xfrm>
            <a:off x="640080" y="868680"/>
            <a:ext cx="7863840" cy="3730752"/>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Entender as implicações éticas e os riscos de segurança da IA.</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Reconhecer o impacto da IA na redefinição de funções profissionais.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Desenvolver uma visão estratégica para colaborar de forma consciente e responsável com a IA.</a:t>
            </a:r>
            <a:endParaRPr lang="en-US" sz="24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67 / 92</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Inteligência Artificial redefine como vivemos e trabalhamos. Ir além da funcionalidade e focar na ética, segurança e futuro é essencial. Este módulo equipa profissionais para navegar no cenário da IA de modo consciente e estratégico.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68 / 92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Implicações Éticas do Uso da IA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ética na IA guia o desenvolvimento e a aplicação de sistemas. À medida que a IA se torna autônoma, novas questões complexas surgem.</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Vieses e Discriminação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Sistemas de IA podem perpetuar vieses sociais presentes nos dados de treinamento.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Decisões discriminatórias podem surgir se os dados refletem preconceitos (racismo, sexismo).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Contratação: IA que prioriza um gênero por histórico de dados.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Crédito: Negação de crédito a minorias, reproduzindo desigualdades históricas.</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Curadoria de dados e auditorias algorítmicas regulares.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Busca por datasets diversos e representativos.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Desenvolvimento de IA explicável (XAI).</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Transparência e Explicabilidade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Entender como a IA decide é crucial para confiança e responsabilidade.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Sistemas complexos, como redes neurais, são "caixas pretas" difíceis de interpretar.</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69 / 92</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Implicações Éticas do Uso da IA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Diagnóstico Médico: Ausência de explicação dificulta a justificativa do médico ao paciente.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Decisões Judiciais: Falta de clareza impede questionamento das previsões de reincidência.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Importância: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Permite identificação de vieses e depuração de erros.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Aumenta a aceitação e confiança dos usuários.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Autonomia e Responsabilidade</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crescente autonomia da IA levanta a questão da atribuição de responsabilidade.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Quem é culpado se as ações da IA causam danos?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Veículos Autônomos: Acidentes geram complexidade na atribuição de responsabilidade.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Assistentes de Batalha: IA autônoma em contextos militares questiona a responsabilidade por decisões de vida ou morte.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Estabelecer marcos regulatórios claros e éticos para responsabilidade da IA.</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70 / 92</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 Importância da Segurança de Dados ao Utilizar Ferramentas de IA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IA exige acesso a grandes volumes de dados, incluindo informações sensíveis. Isso cria novos vetores de ameaça e amplia a superfície de ataque.</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Vulnerabilidades de Dados em Sistemas de 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Sistemas de IA são alvos de ataques que comprometem a integridade ou confidencialidade dos dados.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Exemplos de ataques:</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Envenenamento de Dados (Data Poisoning): Dados corrompidos no treinamento geram decisões erradas ou manipulam resultados.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Evasão (Adversarial Attacks): Pequenas alterações em inputs enganam a IA (ex: sinal de "PARE" identificado como "VELOCIDADE LIMITADA").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Extração de Dados Sensíveis (Model Inversion Attacks): Infeccionar dados de treinamento apenas observando as saídas do modelo.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 sofisticação da IA oferece novas ferramentas para cibercriminosos, como deepfakes e contorno de segurança.</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71 / 92</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Boas Práticas de Segurança de Dados com IA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Criptografia: Proteger dados em repouso e em trânsito com criptografia forte.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Controle de Acesso: Adotar o privilégio mínimo, garantindo acesso apenas essencial.</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Anonimização e Pseudonimização: Remover ou substituir identificadores antes do uso de dados sensíveis na IA.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Auditorias de Segurança Regulares: Testar sistemas de IA para identificar vulnerabilidades.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Monitoramento Constante: Detectar anomalias que possam indicar ataques ou falhas.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Conformidade Regulatória: Alinhar o uso da IA com LGPD/GDPR para proteger dados pessoais.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Pare um momento e reflita: Como sua empresa ou área de atuação pode ser impactada por um viés em um sistema de IA? Que tipo de dados seriam mais críticos para proteger em um cenário com IA? Pense em exemplos concretos.</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72 / 92</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Automação e Redefinição de Papéis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 IA automatizará tarefas repetitivas, liberando humanos para atividades estratégicas e criativas.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Serviço ao Cliente: Chatbots lidam com perguntas frequentes, liberando humanos para casos complexos.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Contabilidade: IA automatiza reconciliação, faturas, permitindo foco em análise e consultoria.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Necessidade de requalificação e desenvolvimento de novas habilidades para colaboração com IA.</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73 / 92</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IA Colaborativa (Human-in-the-Loop)</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O futuro não é a substituição, mas a colaboração humano-IA.</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IA aprimora e suporta decisões humanas.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Design Gráfico: IA gera rascunhos, designers refinam com criatividade.</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Medicina: IA sugere diagnósticos, mas a decisão final é do especialista humano.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Otimiza produtividade, alavanca capacidade de processamento da IA e intuição humana.</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74 / 92</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Habilidades Essenciais para o Futuro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Pensamento Crítico: Analisar saídas da IA, questionar recomendações e identificar vieses.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Criatividade e Inovação: Capacidade de pensar "fora da caixa" como diferencial humano.</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Inteligência Emocional: Empatia, comunicação e negociação em funções de liderança.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Alfabetização de Dados (Data Literacy): Entender e interpretar dados para interagir com a IA.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Adaptabilidade e Aprendizagem Contínua: Abertura para aprender novas ferramentas e habilidades.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75 / 92</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Impacto na Sociedade e Governança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Regulamentação: Necessidade de novas leis e diretrizes éticas (ex: UE) para IA.</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Transformação Social: A IA influenciará educação e saúde, exigindo políticas públicas justas.</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76 / 92</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Este módulo explorou a ética, segurança e o futuro da IA no trabalho, destacando a necessidade de abordar vieses, transparência e responsabilidade.</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Discutimos a importância da segurança de dados e as melhores práticas para mitigar riscos em sistemas de IA.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Com a continuação da automação, a colaboração humano-IA emerge como o modelo predominante, exigindo o desenvolvimento de novas habilidades essenciais para profissionais e uma governança mais robusta da tecnologia.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Ética é fundamental: Vieses, falta de transparência e responsabilidade são desafios críticos da IA.</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Segurança de Dados é Inegociável: Proteja dados em IA contra ataques de envenenamento e evasão com boas práticas.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Colaboração Humano-IA: O trabalho será focado em aprimoramento e interação entre humanos e IA.</a:t>
            </a:r>
            <a:endParaRPr lang="en-US" sz="18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77 / 92</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Desenvolva Novas Habilidades: Pensamento crítico, criatividade e alfabetização de dados são cruciais para o futuro.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Seja um Agente de Mudança: Profissionais com conhecimento em IA podem liderar a integração ética e segura da tecnologia.</a:t>
            </a:r>
            <a:endParaRPr lang="en-US" sz="24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78 / 92</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Módulo 6: Módulo 6: Criando sua Jornada Pessoal com IA</a:t>
            </a:r>
            <a:endParaRPr lang="en-US" sz="20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457200" y="713232"/>
            <a:ext cx="3200400" cy="219456"/>
          </a:xfrm>
          <a:prstGeom prst="rect">
            <a:avLst/>
          </a:prstGeom>
          <a:noFill/>
          <a:ln/>
        </p:spPr>
        <p:txBody>
          <a:bodyPr wrap="square" rtlCol="0" anchor="ctr"/>
          <a:lstStyle/>
          <a:p>
            <a:pPr indent="0" marL="0">
              <a:buNone/>
            </a:pPr>
            <a:r>
              <a:rPr lang="en-US" sz="1300" b="1" dirty="0">
                <a:solidFill>
                  <a:srgbClr val="5C6BC0"/>
                </a:solidFill>
                <a:latin typeface="Arial" pitchFamily="34" charset="0"/>
                <a:ea typeface="Arial" pitchFamily="34" charset="-122"/>
                <a:cs typeface="Arial" pitchFamily="34" charset="-120"/>
              </a:rPr>
              <a:t>Objetivos</a:t>
            </a:r>
            <a:endParaRPr lang="en-US" sz="1300" dirty="0"/>
          </a:p>
        </p:txBody>
      </p:sp>
      <p:sp>
        <p:nvSpPr>
          <p:cNvPr id="6" name="Text 4"/>
          <p:cNvSpPr/>
          <p:nvPr/>
        </p:nvSpPr>
        <p:spPr>
          <a:xfrm>
            <a:off x="640080" y="868680"/>
            <a:ext cx="7863840" cy="3730752"/>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Integrar a IA estrategicamente no fluxo de trabalho individual.</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Identificar ferramentas relevantes e estabelecer um plano de ação.</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Desenvolver uma mentalidade de aprendizado contínuo em IA.</a:t>
            </a:r>
            <a:endParaRPr lang="en-US" sz="24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79 / 92</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Fundamentos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Inteligência Artificial remodela o modo de trabalho, agindo como multiplicador de capacidade. Compreender essa transformação em nível individual é chave para um plano eficaz.</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80 / 92</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Como funciona</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IA impacta o trabalho individual através de três pilares principais, transformando atividades e resultados.</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81 / 92</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Aplicações reais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Automação de Tarefas Repetitivas: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A IA otimiza tarefas rotineiras e demoradas.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Libera tempo para foco em estratégias, criatividade e interações humanas.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Ferramentas de PLN, visão computacional e Machine Learning são aplicadas.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Potencialização da Análise de Dados e Tomada de Decisão: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Capacidade superior de processar grandes volumes de dados.</a:t>
            </a:r>
            <a:endParaRPr lang="en-US" sz="20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Fornece insights profundos e rápidos.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Ajuda na tomada de decisões mais assertivas.</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Suporte à Criatividade e Inovação: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IA atua como "copiloto" criativo.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Ferramentas generativas (texto, imagem, código) aceleram o processo criativo.</a:t>
            </a:r>
            <a:endParaRPr lang="en-US" sz="2000" dirty="0"/>
          </a:p>
          <a:p>
            <a:pPr>
              <a:lnSpc>
                <a:spcPts val="2200"/>
              </a:lnSpc>
              <a:spcAft>
                <a:spcPts val="300"/>
              </a:spcAft>
            </a:pPr>
            <a:r>
              <a:rPr lang="en-US" sz="2000" dirty="0">
                <a:solidFill>
                  <a:srgbClr val="1E1E23"/>
                </a:solidFill>
                <a:latin typeface="Arial" pitchFamily="34" charset="0"/>
                <a:ea typeface="Arial" pitchFamily="34" charset="-122"/>
                <a:cs typeface="Arial" pitchFamily="34" charset="-120"/>
              </a:rPr>
              <a:t>Explora novas possibilidades e aprimora ideias existentes.</a:t>
            </a:r>
            <a:endParaRPr lang="en-US" sz="20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82 / 92</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Exemplo prático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Dimensão: 🧑‍🏫 Educação → Antes da IA: Professor transcreve discussões de fóruns manualmente. → Com IA: Professor usa PLN para analisar fóruns, identificar tópicos e sumarizar sentimentos, economizando horas.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Dimensão: 📈 Marketing → Antes da IA: Gerente analisa planilhas de vendas manualmente. → Com IA: Gerente usa IA para processar dados de vendas, mídias sociais e feedback, revelando padrões e previsões em minutos, permitindo ajustes rápidos.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Dimensão: ✍️ Criação de Conteúdo → Antes da IA: Empreendedor gasta horas em textos e rascunhos. → Com IA: Empreendedor usa gerador de texto com IA para criar variações de anúncios e gerador de imagem para explorar conceitos visuais, servindo de ponto de partida.</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83 / 92</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Modelos / Tipos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A integração da IA começa identificando prioridades e desafios pessoais. Isso requer autoavaliação sobre responsabilidades e aspirações.</a:t>
            </a:r>
            <a:endParaRPr lang="en-US" sz="2400" dirty="0"/>
          </a:p>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&lt;!-- Pergunta reflexiva move para aqui (próximo checkpoint) para fluidez --</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84 / 92</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1. Identificando Suas Prioridades e Desafios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95528"/>
            <a:ext cx="7863840" cy="3785616"/>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Um exercício de autoanálise ajuda a visualizar onde a IA pode ter maior utilidade.</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Liste suas tarefas diárias e semanais mais demoradas.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Identifique tarefas repetitivas e monótonas que gostaria de otimizar.</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Aponte seus principais desafios atuais no trabalho.</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Onde você buscaria mais eficiência ou insights?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Quais são seus objetivos profissionais e como a IA pode ajudar a alcançá-los?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Pare um momento e reflita: Quais das suas tarefas diárias se encaixam perfeitamente para serem otimizadas por uma ferramenta de IA? Imagine o impacto de liberá-las.</a:t>
            </a:r>
            <a:endParaRPr lang="en-US" sz="20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85 / 92</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32104"/>
            <a:ext cx="7863840" cy="3694176"/>
          </a:xfrm>
          <a:prstGeom prst="rect">
            <a:avLst/>
          </a:prstGeom>
          <a:noFill/>
          <a:ln/>
        </p:spPr>
        <p:txBody>
          <a:bodyPr wrap="square" rtlCol="0" anchor="t">
            <a:normAutofit/>
          </a:bodyPr>
          <a:lstStyle/>
          <a:p>
            <a:pPr>
              <a:lnSpc>
                <a:spcPts val="2800"/>
              </a:lnSpc>
              <a:spcAft>
                <a:spcPts val="400"/>
              </a:spcAft>
            </a:pPr>
            <a:r>
              <a:rPr lang="en-US" sz="2400" dirty="0">
                <a:solidFill>
                  <a:srgbClr val="1E1E23"/>
                </a:solidFill>
                <a:latin typeface="Arial" pitchFamily="34" charset="0"/>
                <a:ea typeface="Arial" pitchFamily="34" charset="-122"/>
                <a:cs typeface="Arial" pitchFamily="34" charset="-120"/>
              </a:rPr>
              <a:t>Com as prioridades definidas, o próximo passo é associá-las a ferramentas de IA disponíveis. Você não precisa ser especialista técnico.</a:t>
            </a:r>
            <a:endParaRPr lang="en-US" sz="24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86 / 92</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 (1/2)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7863840" cy="3822192"/>
          </a:xfrm>
          <a:prstGeom prst="rect">
            <a:avLst/>
          </a:prstGeom>
          <a:noFill/>
          <a:ln/>
        </p:spPr>
        <p:txBody>
          <a:bodyPr wrap="square" rtlCol="0" anchor="t">
            <a:normAutofit/>
          </a:bodyPr>
          <a:lstStyle/>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Critério: 🗣️ Assistentes Virtuais e Chatbots → Ferramentas de IA para Não Técnicos: Propósito: Geração de texto, sumarização, brainstorm, tradução, planejamento, pesquisa. &lt;brExemplos: ChatGPT, Google Gemini, Microsoft Copilot. &lt;brAplicação: Criar rascunhos de e-mails, resumir artigos, gerar ideias para projetos.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Critério: 🎨 IA Generativa (Texto/Imagem/Vídeo) → Ferramentas de IA para Não Técnicos: Propósito: Criação de conteúdo original a partir de prompts.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&lt;brExemplos: Midjourney, Stable Diffusion, DALL-E (imagens); RunwayML, Synthesia (vídeo); Copy.ai, Jasper (texto). &lt;brAplicação: Criar ilustrações, posts para redes sociais.</a:t>
            </a:r>
            <a:endParaRPr lang="en-US" sz="1800" dirty="0"/>
          </a:p>
          <a:p>
            <a:pPr>
              <a:lnSpc>
                <a:spcPts val="2200"/>
              </a:lnSpc>
              <a:spcAft>
                <a:spcPts val="300"/>
              </a:spcAft>
            </a:pPr>
            <a:r>
              <a:rPr lang="en-US" sz="1800" dirty="0">
                <a:solidFill>
                  <a:srgbClr val="1E1E23"/>
                </a:solidFill>
                <a:latin typeface="Arial" pitchFamily="34" charset="0"/>
                <a:ea typeface="Arial" pitchFamily="34" charset="-122"/>
                <a:cs typeface="Arial" pitchFamily="34" charset="-120"/>
              </a:rPr>
              <a:t>Critério: ⚙️ Automação e Produtividade → Ferramentas de IA para Não Técnicos: Propósito: Otimizar tarefas repetitivas e integrar aplicativos. &lt;brExemplos: Zapier (com integrações de IA), IFTTT, Microsoft Power Automate. &lt;brAplicação: Automatizar salvamento de anexos, criar lembretes, programar postagens.</a:t>
            </a:r>
            <a:endParaRPr lang="en-US" sz="18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87 / 92</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 (2/2)</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Critério: 📊 Análise de Dados e BI (com IA) → Ferramentas de IA para Não Técnicos: Propósito: Extrair insights, visualizar informações, prever tendências.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&lt;brExemplos: Microsoft Excel (recursos "Ideas"), Google Sheets (Smart Fill), Tableau, Power BI. &lt;brAplicação: Identificar padrões de vendas, prever demandas, analisar feedback.</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Critério: 📚 Educação e Pesquisa → Ferramentas de IA para Não Técnicos: Propósito: Auxiliar no aprendizado, pesquisa e criação de materiais didáticos. &lt;brExemplos: Elicit (acadêmico), QuillBot (reformulador de texto). &lt;brAplicação: Encontrar artigos, parafrasear textos, gerar questionários.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88 / 92</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2. Explorando Ferramentas de IA Relevantes</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813816"/>
            <a:ext cx="7863840" cy="3749040"/>
          </a:xfrm>
          <a:prstGeom prst="rect">
            <a:avLst/>
          </a:prstGeom>
          <a:noFill/>
          <a:ln/>
        </p:spPr>
        <p:txBody>
          <a:bodyPr wrap="square" rtlCol="0" anchor="t">
            <a:normAutofit/>
          </a:bodyPr>
          <a:lstStyle/>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Como Escolher Suas Ferramentas: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Comece com uma ou duas ferramentas que resolvam suas maiores prioridades.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Experimente versões gratuitas ou testes sem compromisso.</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Priorize a usabilidade e interfaces intuitivas.</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Avalie a integração com softwares que você já usa.</a:t>
            </a:r>
            <a:endParaRPr lang="en-US" sz="2200" dirty="0"/>
          </a:p>
          <a:p>
            <a:pPr>
              <a:lnSpc>
                <a:spcPts val="2600"/>
              </a:lnSpc>
              <a:spcAft>
                <a:spcPts val="300"/>
              </a:spcAft>
            </a:pPr>
            <a:r>
              <a:rPr lang="en-US" sz="2200" dirty="0">
                <a:solidFill>
                  <a:srgbClr val="1E1E23"/>
                </a:solidFill>
                <a:latin typeface="Arial" pitchFamily="34" charset="0"/>
                <a:ea typeface="Arial" pitchFamily="34" charset="-122"/>
                <a:cs typeface="Arial" pitchFamily="34" charset="-120"/>
              </a:rPr>
              <a:t>Busque comunidades de usuários para dicas e soluções.</a:t>
            </a:r>
            <a:endParaRPr lang="en-US" sz="2200" dirty="0"/>
          </a:p>
        </p:txBody>
      </p:sp>
      <p:sp>
        <p:nvSpPr>
          <p:cNvPr id="6" name="Text 4"/>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89 / 92</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Shape 0"/>
          <p:cNvSpPr/>
          <p:nvPr/>
        </p:nvSpPr>
        <p:spPr>
          <a:xfrm>
            <a:off x="0" y="0"/>
            <a:ext cx="9144000" cy="585216"/>
          </a:xfrm>
          <a:prstGeom prst="rect">
            <a:avLst/>
          </a:prstGeom>
          <a:solidFill>
            <a:srgbClr val="16213E"/>
          </a:solidFill>
          <a:ln/>
        </p:spPr>
      </p:sp>
      <p:sp>
        <p:nvSpPr>
          <p:cNvPr id="3" name="Text 1"/>
          <p:cNvSpPr/>
          <p:nvPr/>
        </p:nvSpPr>
        <p:spPr>
          <a:xfrm>
            <a:off x="365760" y="73152"/>
            <a:ext cx="8412480" cy="420624"/>
          </a:xfrm>
          <a:prstGeom prst="rect">
            <a:avLst/>
          </a:prstGeom>
          <a:noFill/>
          <a:ln/>
        </p:spPr>
        <p:txBody>
          <a:bodyPr wrap="square" rtlCol="0" anchor="ctr"/>
          <a:lstStyle/>
          <a:p>
            <a:pPr indent="0" marL="0">
              <a:buNone/>
            </a:pPr>
            <a:r>
              <a:rPr lang="en-US" sz="1900" b="1" dirty="0">
                <a:solidFill>
                  <a:srgbClr val="FFFFFF"/>
                </a:solidFill>
                <a:latin typeface="Arial" pitchFamily="34" charset="0"/>
                <a:ea typeface="Arial" pitchFamily="34" charset="-122"/>
                <a:cs typeface="Arial" pitchFamily="34" charset="-120"/>
              </a:rPr>
              <a:t>3. Estabelecendo Metas de Aprendizado Contínuo</a:t>
            </a:r>
            <a:endParaRPr lang="en-US" sz="1900" dirty="0"/>
          </a:p>
        </p:txBody>
      </p:sp>
      <p:sp>
        <p:nvSpPr>
          <p:cNvPr id="4" name="Shape 2"/>
          <p:cNvSpPr/>
          <p:nvPr/>
        </p:nvSpPr>
        <p:spPr>
          <a:xfrm>
            <a:off x="457200" y="649224"/>
            <a:ext cx="1097280" cy="27432"/>
          </a:xfrm>
          <a:prstGeom prst="rect">
            <a:avLst/>
          </a:prstGeom>
          <a:solidFill>
            <a:srgbClr val="5C6BC0"/>
          </a:solidFill>
          <a:ln/>
        </p:spPr>
      </p:sp>
      <p:sp>
        <p:nvSpPr>
          <p:cNvPr id="5" name="Text 3"/>
          <p:cNvSpPr/>
          <p:nvPr/>
        </p:nvSpPr>
        <p:spPr>
          <a:xfrm>
            <a:off x="64008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O cenário da IA evolui rapidamente. O aprendizado contínuo é essencial para se manter relevante e eficaz.</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Estratégias para Aprendizado Contínuo:</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Defina Metas SMART: Específicas, Mensuráveis, Atingíveis, Relevantes, Temporais.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Ex: "Dominar o ChatGPT para gerar 5 rascunhos de comunicação interna até o final do mês."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Dedique Tempo Regularmente: Reserve blocos semanais (ex: 30 minutos a 1 hora) para explorar e aprender.</a:t>
            </a:r>
            <a:endParaRPr lang="en-US" sz="1800" dirty="0"/>
          </a:p>
        </p:txBody>
      </p:sp>
      <p:sp>
        <p:nvSpPr>
          <p:cNvPr id="6" name="Text 4"/>
          <p:cNvSpPr/>
          <p:nvPr/>
        </p:nvSpPr>
        <p:spPr>
          <a:xfrm>
            <a:off x="4709160" y="777240"/>
            <a:ext cx="3794760" cy="3822192"/>
          </a:xfrm>
          <a:prstGeom prst="rect">
            <a:avLst/>
          </a:prstGeom>
          <a:noFill/>
          <a:ln/>
        </p:spPr>
        <p:txBody>
          <a:bodyPr wrap="square" rtlCol="0" anchor="t">
            <a:normAutofit/>
          </a:bodyPr>
          <a:lstStyle/>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Siga Fontes Confiáveis: Assine newsletters, siga especialistas e participe de fóruns de IA.</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Aproveite Recursos Educacionais: Utilize cursos online (Coursera, Udemy), tutoriais e webinars.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Documente Seu Progresso: Mantenha um diário simples do que aprendeu e dos resultados.</a:t>
            </a:r>
            <a:endParaRPr lang="en-US" sz="1800" dirty="0"/>
          </a:p>
          <a:p>
            <a:pPr>
              <a:lnSpc>
                <a:spcPts val="2000"/>
              </a:lnSpc>
              <a:spcAft>
                <a:spcPts val="300"/>
              </a:spcAft>
            </a:pPr>
            <a:r>
              <a:rPr lang="en-US" sz="1800" dirty="0">
                <a:solidFill>
                  <a:srgbClr val="1E1E23"/>
                </a:solidFill>
                <a:latin typeface="Arial" pitchFamily="34" charset="0"/>
                <a:ea typeface="Arial" pitchFamily="34" charset="-122"/>
                <a:cs typeface="Arial" pitchFamily="34" charset="-120"/>
              </a:rPr>
              <a:t>Compartilhe Seu Conhecimento: Discuta com colegas para solidificar o aprendizado.</a:t>
            </a:r>
            <a:endParaRPr lang="en-US" sz="1800" dirty="0"/>
          </a:p>
        </p:txBody>
      </p:sp>
      <p:sp>
        <p:nvSpPr>
          <p:cNvPr id="7" name="Text 5"/>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90 / 92</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8E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9A825"/>
          </a:solidFill>
          <a:ln/>
        </p:spPr>
      </p:sp>
      <p:sp>
        <p:nvSpPr>
          <p:cNvPr id="3" name="Text 1"/>
          <p:cNvSpPr/>
          <p:nvPr/>
        </p:nvSpPr>
        <p:spPr>
          <a:xfrm>
            <a:off x="365760" y="146304"/>
            <a:ext cx="8412480" cy="402336"/>
          </a:xfrm>
          <a:prstGeom prst="rect">
            <a:avLst/>
          </a:prstGeom>
          <a:noFill/>
          <a:ln/>
        </p:spPr>
        <p:txBody>
          <a:bodyPr wrap="square" rtlCol="0" anchor="ctr"/>
          <a:lstStyle/>
          <a:p>
            <a:pPr indent="0" marL="0">
              <a:buNone/>
            </a:pPr>
            <a:r>
              <a:rPr lang="en-US" sz="1900" b="1" dirty="0">
                <a:solidFill>
                  <a:srgbClr val="1E1E23"/>
                </a:solidFill>
                <a:latin typeface="Arial" pitchFamily="34" charset="0"/>
                <a:ea typeface="Arial" pitchFamily="34" charset="-122"/>
                <a:cs typeface="Arial" pitchFamily="34" charset="-120"/>
              </a:rPr>
              <a:t>Resumo / Key Takeaways</a:t>
            </a:r>
            <a:endParaRPr lang="en-US" sz="1900" dirty="0"/>
          </a:p>
        </p:txBody>
      </p:sp>
      <p:sp>
        <p:nvSpPr>
          <p:cNvPr id="4" name="Text 2"/>
          <p:cNvSpPr/>
          <p:nvPr/>
        </p:nvSpPr>
        <p:spPr>
          <a:xfrm>
            <a:off x="640080" y="795528"/>
            <a:ext cx="7863840" cy="3858768"/>
          </a:xfrm>
          <a:prstGeom prst="rect">
            <a:avLst/>
          </a:prstGeom>
          <a:noFill/>
          <a:ln/>
        </p:spPr>
        <p:txBody>
          <a:bodyPr wrap="square" rtlCol="0" anchor="t">
            <a:normAutofit/>
          </a:bodyPr>
          <a:lstStyle/>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Este módulo capacitou você a criar uma jornada pessoal com IA, identificando prioridades, explorando ferramentas relevantes e estabelecendo uma rotina de aprendizado contínuo. A integração estratégica da IA potencializa habilidades e libera tempo para tarefas de maior valor.</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 IA é acessível para todos os profissionais, independente da formação técnica.</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Comece focando nos seus desafios e tarefas para identificar as melhores aplicações da IA.</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Há uma vasta gama de ferramentas de IA intuitivas; comece experimentando uma ou duas.</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O aprendizado contínuo é vital para se adaptar à evolução da IA.</a:t>
            </a:r>
            <a:endParaRPr lang="en-US" sz="2000" dirty="0"/>
          </a:p>
          <a:p>
            <a:pPr>
              <a:lnSpc>
                <a:spcPts val="2400"/>
              </a:lnSpc>
              <a:spcAft>
                <a:spcPts val="300"/>
              </a:spcAft>
            </a:pPr>
            <a:r>
              <a:rPr lang="en-US" sz="2000" dirty="0">
                <a:solidFill>
                  <a:srgbClr val="1E1E23"/>
                </a:solidFill>
                <a:latin typeface="Arial" pitchFamily="34" charset="0"/>
                <a:ea typeface="Arial" pitchFamily="34" charset="-122"/>
                <a:cs typeface="Arial" pitchFamily="34" charset="-120"/>
              </a:rPr>
              <a:t>A IA é uma ferramenta de potencialização, não um substitutivo total do pensamento humano.</a:t>
            </a:r>
            <a:endParaRPr lang="en-US" sz="2000" dirty="0"/>
          </a:p>
        </p:txBody>
      </p:sp>
      <p:sp>
        <p:nvSpPr>
          <p:cNvPr id="5" name="Text 3"/>
          <p:cNvSpPr/>
          <p:nvPr/>
        </p:nvSpPr>
        <p:spPr>
          <a:xfrm>
            <a:off x="3657600" y="4873752"/>
            <a:ext cx="1828800" cy="219456"/>
          </a:xfrm>
          <a:prstGeom prst="rect">
            <a:avLst/>
          </a:prstGeom>
          <a:noFill/>
          <a:ln/>
        </p:spPr>
        <p:txBody>
          <a:bodyPr wrap="square" rtlCol="0" anchor="ctr"/>
          <a:lstStyle/>
          <a:p>
            <a:pPr algn="ctr" indent="0" marL="0">
              <a:buNone/>
            </a:pPr>
            <a:r>
              <a:rPr lang="en-US" sz="800" dirty="0">
                <a:solidFill>
                  <a:srgbClr val="999999"/>
                </a:solidFill>
                <a:latin typeface="Arial" pitchFamily="34" charset="0"/>
                <a:ea typeface="Arial" pitchFamily="34" charset="-122"/>
                <a:cs typeface="Arial" pitchFamily="34" charset="-120"/>
              </a:rPr>
              <a:t>91 / 92</a:t>
            </a:r>
            <a:endParaRPr lang="en-US" sz="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0" y="1645920"/>
            <a:ext cx="9144000" cy="137160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Obrigado!</a:t>
            </a:r>
            <a:endParaRPr lang="en-US" sz="4000" dirty="0"/>
          </a:p>
        </p:txBody>
      </p:sp>
      <p:sp>
        <p:nvSpPr>
          <p:cNvPr id="3" name="Text 1"/>
          <p:cNvSpPr/>
          <p:nvPr/>
        </p:nvSpPr>
        <p:spPr>
          <a:xfrm>
            <a:off x="914400" y="3200400"/>
            <a:ext cx="7315200" cy="548640"/>
          </a:xfrm>
          <a:prstGeom prst="rect">
            <a:avLst/>
          </a:prstGeom>
          <a:noFill/>
          <a:ln/>
        </p:spPr>
        <p:txBody>
          <a:bodyPr wrap="square" rtlCol="0" anchor="ctr"/>
          <a:lstStyle/>
          <a:p>
            <a:pPr algn="ctr" indent="0" marL="0">
              <a:buNone/>
            </a:pPr>
            <a:r>
              <a:rPr lang="en-US" sz="1600" dirty="0">
                <a:solidFill>
                  <a:srgbClr val="B0BEC5"/>
                </a:solidFill>
                <a:latin typeface="Arial" pitchFamily="34" charset="0"/>
                <a:ea typeface="Arial" pitchFamily="34" charset="-122"/>
                <a:cs typeface="Arial" pitchFamily="34" charset="-120"/>
              </a:rPr>
              <a:t>Inteligência Artificial na Prática: Aplicações Reais para Profissionais Não Técnicos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92</Slides>
  <Notes>92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92</vt:i4>
      </vt:variant>
    </vt:vector>
  </HeadingPairs>
  <TitlesOfParts>
    <vt:vector size="9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Inteligência Artificial na Prática: Aplicações Reais para Profissionais Não Técnicos</dc:title>
  <dc:subject>Este curso foi desenhado para democratizar o acesso à Inteligência Artificial (IA), capacitando profissionais de todas as áreas a compreenderem e aplicarem suas ferramentas no cotidiano. Com foco em aplicações práticas, utilizaremos recursos acessíveis e estratégias para a tomada de decisão, dispensando a necessidade de conhecimentos prévios em programação ou áreas técnicas. Explore como a IA pode otimizar seu trabalho, impulsionar a inovação e gerar resultados tangíveis, mesmo sem ser um especialista.</dc:subject>
  <dc:creator>EduGen AI</dc:creator>
  <cp:lastModifiedBy>EduGen AI</cp:lastModifiedBy>
  <cp:revision>1</cp:revision>
  <dcterms:created xsi:type="dcterms:W3CDTF">2026-03-02T22:44:52Z</dcterms:created>
  <dcterms:modified xsi:type="dcterms:W3CDTF">2026-03-02T22:44:52Z</dcterms:modified>
</cp:coreProperties>
</file>