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gridSpacing cx="76200" cy="76200"/>
</p:viewPr>
</file>

<file path=ppt/_rels/presentation.xml.rels><?xml version="1.0" encoding="UTF-8" standalone="yes"?> 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1197864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2395728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3593592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4791456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5989320"/>
            <a:ext cx="609584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705432" y="-2400300"/>
            <a:ext cx="8534187" cy="853418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9631375" y="54864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34295" y="54864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637215" y="54864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40135" y="54864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31375" y="119786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34295" y="119786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37215" y="119786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0135" y="119786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1375" y="155448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34295" y="155448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37215" y="155448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0135" y="1554480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31375" y="239572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4295" y="239572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37215" y="239572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40135" y="239572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032" y="100584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" y="128016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155448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" y="182880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" y="210312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2395728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em Python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1097280" y="5458968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554480" y="5568696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11680" y="5458968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468880" y="5568696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926080" y="5458968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383280" y="5568696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814255" y="365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17175" y="1188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20095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5568696"/>
            <a:ext cx="109728" cy="10972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· 1/2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53896"/>
            <a:ext cx="5501488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48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a sintaxe básica do Python para escrever programas simples e legíveis. Identificar e utilizar os principais tipos de dados (inteiros, floats, strings…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19756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952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estruturas condicionais (if, elif, else) para tomar decisões lógicas no código Python. Utilizar laços de repetição (for, while) para executar blocos de…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470148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5707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456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3467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46704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 deste módulo, você será capaz de: Compreender as características e funcionalidades das principais estruturas de dados do Python: Listas, Tuplas, Dicionários e Conjuntos…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320540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4211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7960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4197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197096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 deste módulo, você será capaz de: Ler e escrever dados em arquivos de texto e binários, utilizando as melhores práticas do Python. Compreender o conceito de exceções e…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5170932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715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6464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5047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047488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\n\nAo final deste módulo, você será capaz de:\n\n Compreender a estrutura e a importância do JSON para a troca de dados na web.\n Aprender a serializar (converter Python para…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6021324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61219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4968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5897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589788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 deste módulo, você será capaz de: Compreender os conceitos fundamentais da Programação Orientada a Objetos (POO), incluindo classes, objetos, atributos e métodos. Criar e…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· 2/2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53896"/>
            <a:ext cx="11002975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48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\n\n Compreender a importância fundamental de testes unitários para garantir a qualidade e a robustez do seu código Python.\n Aprender a implementar e configurar sistemas de log…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19756"/>
            <a:ext cx="11094415" cy="7315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952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 deste módulo, você será capaz de: Aplicar as principais boas práticas de codificação em Python, tornando seu código mais legível, manutenível e colaborativo. Organizar a…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C63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utilizar os principais tipos de dados (inteiros, floats, strings, booleanos) e manipul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Empregar operadores aritméticos, de comparação, lógicos e de atribuição para realizar cálculos e tom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Python é reconhecido por sua simplicidade e alta legibilidade, tornando-o ideal para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utilizar os principais tipos de dados (inteiros, floats, strings, booleanos) e manipular variáveis de forma eficaz.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Empregar operadores aritméticos, de comparação, lógicos e de atribuição para realizar cálculos e tomar decisões em seu código.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67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Python é reconhecido por sua simplicidade e alta legibilidade, tornando-o ideal para iniciantes na programação.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sintaxe é projetada para ser clara e concisa, utilizando indentação para definir blocos de código, o que promove um estilo de escrita limpo e consistente.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estabelecemos a base para a programação em Python.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Ao executar um código Python, o interpretador processa suas instruções linha por linha.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Variáveis são criadas na memória do computador para guardar os valores atribuídos, como idade = 30, onde 30 é armazenado e associado ao nome idade.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67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 (Continuação)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Operadores, como +, instruem o interpretador a realizar ações específicas nos valores.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indentação é um pilar fundamental em Python, não apenas para a legibilidade, mas para a própria estrutura do código.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define blocos lógicos (como funções ou loops), e um nível de indentação consistente é obrigatório.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Erros de indentação são tratados como erros de sintaxe, impedindo a execução do programa.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tipos de dados informam ao Python como interpretar e manipular os valores.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um int (inteiro) é tratado de forma diferente de um str (string) em operações.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compreensão desses tipos é crucial para garantir que as operações e comparações sejam realizadas corretamente, produzindo os resultados esperados.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Automatizar tarefas diárias e repetitivas com scripts simples.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919472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web robustas e escaláveis.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67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B82F6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laços de repetição (for, while) para executar blocos de código múltiplas vezes, processando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 chamar funções para organizar o código, promover a reutilização, melhorar a legibilidade 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mundo da programação, nem sempre o código é executado de forma linear, linha após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laços de repetição (for, while) para executar blocos de código múltiplas vezes, processando dados de forma eficiente.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 chamar funções para organizar o código, promover a reutilização, melhorar a legibilidade e facilitar a manutenção de programas complexos.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67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mundo da programação, nem sempre o código é executado de forma linear, linha após linha, do início ao fim.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precisamos que nossos programas tomem decisões, repitam ações ou executem blocos de código específicos apenas sob certas condições.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aqui que entram os conceitos de Controle de Fluxo e Funções, pilares fundamentais para construir qualquer aplicação robusta e inteligente.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Fluxo refere-se à ordem em que as instruções de um programa são executadas.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nos permite desviar o caminho padrão de execução, pular seções de código, ou repetir outras.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67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 (Continuação)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principais ferramentas para isso são as estruturas condicionais (para tomar decisões) e os laços de repetição (para executar tarefas repetitivas).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083564"/>
          </a:xfrm>
          <a:prstGeom prst="roundRect">
            <a:avLst>
              <a:gd name="adj" fmla="val 8439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083564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08356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469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Já as Funções são blocos de código nomeados e reutilizáveis que realizam uma tarefa específica.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186684"/>
            <a:ext cx="10698480" cy="1083564"/>
          </a:xfrm>
          <a:prstGeom prst="roundRect">
            <a:avLst>
              <a:gd name="adj" fmla="val 8439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86684"/>
            <a:ext cx="10698480" cy="1083564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86684"/>
            <a:ext cx="54864" cy="108356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1866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433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186684"/>
            <a:ext cx="9893808" cy="10469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são essenciais para organizar seu código, dividindo um problema grande em partes menores e mais gerenciáveis.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15968"/>
            <a:ext cx="10698480" cy="1083564"/>
          </a:xfrm>
          <a:prstGeom prst="roundRect">
            <a:avLst>
              <a:gd name="adj" fmla="val 8439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15968"/>
            <a:ext cx="10698480" cy="1083564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15968"/>
            <a:ext cx="54864" cy="108356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28167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63875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15968"/>
            <a:ext cx="9893808" cy="10469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Python, usamos as palavras-chave if, elif (abreviação de "else if") e else.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" y="5445252"/>
            <a:ext cx="10698480" cy="1083564"/>
          </a:xfrm>
          <a:prstGeom prst="roundRect">
            <a:avLst>
              <a:gd name="adj" fmla="val 8439"/>
            </a:avLst>
          </a:prstGeom>
          <a:solidFill>
            <a:srgbClr val="8896B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445252"/>
            <a:ext cx="10698480" cy="1083564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445252"/>
            <a:ext cx="54864" cy="108356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896112" y="54749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83204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53312" y="5445252"/>
            <a:ext cx="9893808" cy="10469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 um bloco de código se a condição for verdadeira.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67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elif: </a:t>
            </a:r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 uma nova condição se a condição do if anterior (e de qualquer elif anterior) for falsa.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199632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336792" y="2377440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else: </a:t>
            </a:r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 um bloco de código se nenhuma das condições anteriores (if ou elif) for verdadeira.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58952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896112" y="3355848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sintaxe envolve uma condição seguida por dois pontos (:) e um bloco de código indentado.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99632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6336792" y="3355848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8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indentação é crucial em Python para definir os blocos de código.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67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0B981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Dados Fundamentais Bem-vindo ao terceiro módulo do nosso curso de Introdução à Program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mergulharemos nas estruturas de dados fundamentais que são a espinha dorsal de qualque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oferece um conjunto poderoso de estruturas de dados embutidas que simplificam essa tarefa, 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Dados Fundamentais Bem-vindo ao terceiro módulo do nosso curso de Introdução à Programação em Python.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mergulharemos nas estruturas de dados fundamentais que são a espinha dorsal de qualquer aplicação robusta.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oferece um conjunto poderoso de estruturas de dados embutidas que simplificam essa tarefa, e exploraremos cada uma delas em detalhes.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67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as operações básicas e avançadas para manipular dados em cada uma dessas estruturas.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cenários e escolher a estrutura de dados mais apropriada para resolver problemas específicos de forma eficiente.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coração de qualquer programa está a manipulação de dados.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745736"/>
            <a:ext cx="54864" cy="12984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7457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5065776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estrutura de dados é uma forma particular de organizar dados em um computador para que possam ser acessados e modificados de forma eficiente.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67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44531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2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quatro estruturas de dados fundamentais que abordaremos são: Listas (list): Coleções ordenadas e mutáveis de itens.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949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3898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48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797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59746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812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67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45775" y="68625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862572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(tuple):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Coleções ordenadas e imutáveis de itens.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Dicionários (dict):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Coleções não ordenadas (a partir do Python 3.7, mantêm a ordem de inserção) de pares chave-valor, onde cada chave é única.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(set):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Coleções não ordenadas de itens únicos.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Vamos explorar cada estrutura com exemplos práticos.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67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(list) Listas são as estruturas de dados mais versáteis e amplamente utilizadas em Python.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são coleções ordenadas, o que significa que a ordem dos itens é mantida, e cada item pode ser acessado por um índice numérico (começando em 0).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mutáveis, ou seja, você pode adicionar, remover ou modificar itens após a criação.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2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vez criada, uma tupla não pode ser alterada (seus elementos não podem ser adicionados, removidos ou modificados).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9E0B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Manipulação de Arquivos e Exceções Bem-vindo ao Módulo 4 do nosso curso de Introdução à Programação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conceito de exceções e aplicar blocos try-except-finally para tratar erros de forma 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Python mais seguras e confiáveis, capazes de lidar com cenários inesperados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4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Manipulação de Arquivos e Exceções Bem-vindo ao Módulo 4 do nosso curso de Introdução à Programação em Python.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4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conceito de exceções e aplicar blocos try-except-finally para tratar erros de forma robusta.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4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Python mais seguras e confiáveis, capazes de lidar com cenários inesperados sem travar.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67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mundo real, seus programas raramente operarão apenas com dados que existem na memória enquanto estão em execução.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3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Compartilhar dados: </a:t>
            </a:r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Trocar informações com outros programas ou usuários através de formatos padronizados.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3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Processar grandes volumes de dados: </a:t>
            </a:r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Lidar com conjuntos de dados que são grandes demais para caber na memória RAM.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758952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745736"/>
            <a:ext cx="54864" cy="12984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7457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896112" y="5065776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3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eventos (Logging): </a:t>
            </a:r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 um histórico das operações do programa para depuração ou auditoria.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67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44531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9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ideais para armazenar configurações, logs, documentos e dados estruturados como CSV ou JSON.</a:t>
            </a:r>
            <a:endParaRPr lang="en-US" sz="1890" dirty="0"/>
          </a:p>
        </p:txBody>
      </p:sp>
      <p:sp>
        <p:nvSpPr>
          <p:cNvPr id="11" name="Shape 9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949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3898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48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797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59746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812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67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45775" y="68625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862572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Python lida com a codificação de caracteres (como UTF-8) automaticamente na maioria dos casos.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Arquivos Binários: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Contêm dados em um formato não legível por humanos, como imagens, vídeos, executáveis ou dados serializados.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trabalhar com arquivos binários, você lida diretamente com bytes.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são eventos que interrompem o fluxo normal de execução de um programa.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67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indicam que algo inesperado ou problemático ocorreu.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Ignorar exceções pode levar a programas que travam abruptamente, resultando em uma experiência de usuário ruim e perda de dados.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Melhore a experiência do usuário: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vez de um travamento, o usuário pode receber uma mensagem de erro útil ou o programa pode tentar uma alternativa.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Depure com mais facilidade: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Mensagens de erro claras e logs ajudam a identificar a causa raiz dos problemas.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6B6D4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Trabalhando com JSON e APIs Web { "content": "Trabalhando com JSON e APIs Web\n\nBem-vindo ao Módulo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será em JSON, o formato de dados mais popular na web, e em APIs Web, as portas de comunicação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simplicidade e eficiência o tornaram o padrão de fato para comunicação entre aplicações web e 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Trabalhando com JSON e APIs Web { "content":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"Trabalhando com JSON e APIs Web\n\nBem-vindo ao Módulo 5.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será em JSON, o formato de dados mais popular na web, e em APIs Web, as portas de comunicação que permitem essa interação.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simplicidade e eficiência o tornaram o padrão de fato para comunicação entre aplicações web e serviços.\n\nPor que JSON é tão importante?\n\n1.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67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Legibilidade: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fácil para humanos lerem e escreverem.\n2.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Leveza: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Comparado a outros formatos como XML, JSON é mais conciso, o que resulta em menor tráfego de rede.\n3.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205740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6792" y="2377440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Ubiquidade: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o formato preferido para APIs Web e configurações de aplicações.\n4.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355848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Objetos: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Representados por chaves {}.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9632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340156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6792" y="3355848"/>
            <a:ext cx="492861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Contêm pares de chave-valor, onde as chaves são strings (sempre entre aspas duplas) e os valores podem ser qualquer tipo de dado JSON.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67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{\"nome\": \"Alice\", \"idade\": 30}.\n2.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Arrays: </a:t>
            </a:r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Representados por colchetes [].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Contêm uma lista ordenada de valores.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919472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módulo json do Python permite serializar objetos Python para JSON e desserializar JSON para objetos Python, tanto com strings quanto com arquivos.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67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também explorou as APIs Web como interfaces de comunicação entre sistemas via HTTP, utilizando métodos como GET e POST.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Requests.get(url) faz a requisição GET, e o método.json() da resposta já parseia o conteúdo JSON para um objeto Python (dicionário ou lista).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opção A é inválida porque a chave idade não está entre aspas duplas.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67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opção C é inválida devido à vírgula extra após true, (trailing comma).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900" b="1" dirty="0">
                <a:solidFill>
                  <a:srgbClr val="6C63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Programação Orientada a Objetos (POO) Bem-vindo ao módulo 6 do nosso curso de Introduçã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Até agora, exploramos os fundamentos da linguagem, estruturas de controle, funções e manipulação 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Agora, daremos um passo crucial para a construção de softwares mais complexos, organizados e escaláv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Programação Orientada a Objetos (POO) Bem-vindo ao módulo 6 do nosso curso de Introdução à Programação em Python.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Até agora, exploramos os fundamentos da linguagem, estruturas de controle, funções e manipulação de dados.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Agora, daremos um passo crucial para a construção de softwares mais complexos, organizados e escaláveis: a Programação Orientada a Objetos (POO).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 / 67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POO é um paradigma de programação que organiza o software em torno de "objetos", que são instâncias de "classes"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e utilizar classes e objetos em Python, aplicando o construtor init para inicializar instâncias.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e aplicar o conceito de herança para promover a reutilização de código e a criação de hierarquias de classes.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Vamos explorar os mais importantes: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Classes: Uma classe é um "molde" ou "planta" para criar objetos.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define um conjunto de atributos (características) e métodos (comportamentos) que todos os objetos criados a partir dela terão.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7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uma classe como a planta de uma casa: ela descreve como a casa será, mas não é a casa em si.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7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 (Instâncias): </a:t>
            </a:r>
            <a:pPr indent="0" marL="0">
              <a:lnSpc>
                <a:spcPct val="116000"/>
              </a:lnSpc>
              <a:buNone/>
            </a:pPr>
            <a:r>
              <a:rPr lang="en-US" sz="157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objeto é uma instância concreta de uma classe.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7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a "coisa" real criada a partir do molde.</a:t>
            </a:r>
            <a:endParaRPr lang="en-US" sz="1570" dirty="0"/>
          </a:p>
        </p:txBody>
      </p:sp>
      <p:sp>
        <p:nvSpPr>
          <p:cNvPr id="15" name="Shape 13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919472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7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Seguindo a analogia da casa, um objeto seria uma casa específica construída a partir da planta.</a:t>
            </a:r>
            <a:endParaRPr lang="en-US" sz="1570" dirty="0"/>
          </a:p>
        </p:txBody>
      </p:sp>
      <p:sp>
        <p:nvSpPr>
          <p:cNvPr id="17" name="Shape 1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 / 67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objeto tem seus próprios valores para os atributos definidos na classe.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as características ou dados associados a um objeto.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representam o estado de um objeto.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para uma classe Carro, atributos poderiam ser cor, modelo, velocidadeatual.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 / 67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B82F6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construir ferramentas do mundo real que sejam confiáveis, escaláveis e fáceis de manter, é esse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depuração é o processo de identificar, analisar e remover erros (bugs) de um programa.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uma habilidade essencial para qualquer desenvolvedor.\n\n Mentalidade de Detetive: Depurar exige 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construir ferramentas do mundo real que sejam confiáveis, escaláveis e fáceis de manter, é essencial ir além.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01568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2984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4015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depuração é o processo de identificar, analisar e remover erros (bugs) de um programa.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745736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745736"/>
            <a:ext cx="54864" cy="12984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7457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5065776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uma habilidade essencial para qualquer desenvolvedor.\n\n Mentalidade de Detetive: Depurar exige paciência, lógica e uma abordagem sistemática.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 / 67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44531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Crie uma classe de teste: Ela deve herdar de unittest.TestCase.\n2.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949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3898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48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797" y="6862572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59746" y="681228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812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 / 67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45775" y="68625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862572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de teste: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método de teste deve começar com test.\n3.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setUp e tearDown (Opcional):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\n setUp(): Executado antes de cada método de teste.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Útil para inicializar recursos.\n tearDown():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Executado após cada método de teste.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Útil para limpar recursos.\n4.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70013" y="4454957"/>
            <a:ext cx="6973626" cy="4572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87133" y="4553712"/>
            <a:ext cx="41148" cy="7955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4770013" y="448970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assert: </a:t>
            </a:r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Usados para verificar condições.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 / 67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{resultado}\")\.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 / 67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97864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395728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593592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791456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98932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395728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0B981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357055" y="-548640"/>
            <a:ext cx="2743200" cy="274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Boas Práticas e Implantação de Projetos Bem-vindo ao último módulo do nosso curso de Introdução à Pr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longo desta jornada, você adquiriu habilidades fundamentais para construir ferramentas e resolver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a estrutura de seus projetos Python de maneira padronizada, facilitando o desenvolvimento,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Boas Práticas e Implantação de Projetos Bem-vindo ao último módulo do nosso curso de Introdução à Programação em Python.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longo desta jornada, você adquiriu habilidades fundamentais para construir ferramentas e resolver problemas.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a estrutura de seus projetos Python de maneira padronizada, facilitando o desenvolvimento, testes e futuras expansões.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 / 67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7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Preparar e empacotar seus utilitários Python para distribuição e implantação em diferentes ambientes.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Para que um projeto Python seja considerado profissional e pronto para o uso, ele precisa ir além da simples funcionalidade.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deve ser bem-escrito, bem-organizado e fácil de implantar.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define convenções para formatação, nomes de variáveis, funções, classes, uso de espaços, comentários e muito mais.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Seguir a PEP 8 não é uma regra rígida, mas uma recomendação forte que promove a legibilidade e a consistência do código em toda a comunidade Python.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1C3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057400"/>
            <a:ext cx="45720" cy="11155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057400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2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facilita a colaboração e a manutenção, pois o código se torna familiar para qualquer desenvolvedor Python.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7472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2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(Docstrings e Comentários): </a:t>
            </a:r>
            <a:pPr indent="0" marL="0">
              <a:lnSpc>
                <a:spcPct val="116000"/>
              </a:lnSpc>
              <a:buNone/>
            </a:pPr>
            <a:r>
              <a:rPr lang="en-US" sz="152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código bem documentado é um código compreensível.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197096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Docstrings são strings de documentação que aparecem como a primeira instrução em módulos, classes, funções ou métodos.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 / 67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fornecem uma descrição concisa do propósito e uso do código.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 / 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124712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057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057400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Comentários, por outro lado, explicam partes específicas do código que podem não ser imediatamente óbvias.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227832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27832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27832"/>
            <a:ext cx="54864" cy="1124712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32278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3227832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Ambos são cruciais para que outros (e você mesmo no futuro) entendam rapidamente o que o código faz e como usá-lo.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4398264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8896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398264"/>
            <a:ext cx="1069848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C8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98264"/>
            <a:ext cx="54864" cy="1124712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845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7411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4398264"/>
            <a:ext cx="9893808" cy="10881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de Projetos: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de arquivos e diretórios é vital.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 / 67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548640"/>
            <a:ext cx="1645920" cy="16459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60175" y="457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8896B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106984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12984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057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896112" y="2377440"/>
            <a:ext cx="1036929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Dependências e Ambientes Virtuais: Projetos Python frequentemente dependem de bibliotecas externas.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 / 67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1E2D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C8CED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 / 67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263" y="1197864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2395728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593592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263" y="4791456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263" y="598932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8534095" y="-109728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26187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51790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773936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2029968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4960" y="3803904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3803904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535680" y="3803904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Programação em Python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6C63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80015" y="5029200"/>
            <a:ext cx="457200" cy="457200"/>
          </a:xfrm>
          <a:prstGeom prst="rect">
            <a:avLst>
              <a:gd name="adj" fmla="val 8000"/>
            </a:avLst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1495" y="5989320"/>
            <a:ext cx="685800" cy="685800"/>
          </a:xfrm>
          <a:prstGeom prst="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02975" y="5989320"/>
            <a:ext cx="914400" cy="914400"/>
          </a:xfrm>
          <a:prstGeom prst="rect">
            <a:avLst>
              <a:gd name="adj" fmla="val 4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631375" y="6949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0AE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Programação em Python</dc:title>
  <dc:subject>PptxGenJS Presentation</dc:subject>
  <dc:creator>EduGenAI v3</dc:creator>
  <cp:lastModifiedBy>EduGenAI v3</cp:lastModifiedBy>
  <cp:revision>1</cp:revision>
  <dcterms:created xsi:type="dcterms:W3CDTF">2026-05-02T21:34:38Z</dcterms:created>
  <dcterms:modified xsi:type="dcterms:W3CDTF">2026-05-02T21:34:38Z</dcterms:modified>
</cp:coreProperties>
</file>