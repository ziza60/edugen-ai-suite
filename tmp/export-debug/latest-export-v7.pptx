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slideMasters/slideMaster71.xml" ContentType="application/vnd.openxmlformats-officedocument.presentationml.slideMaster+xml"/>
  <Override PartName="/ppt/slides/slide71.xml" ContentType="application/vnd.openxmlformats-officedocument.presentationml.slide+xml"/>
  <Override PartName="/ppt/slideMasters/slideMaster72.xml" ContentType="application/vnd.openxmlformats-officedocument.presentationml.slideMaster+xml"/>
  <Override PartName="/ppt/slides/slide72.xml" ContentType="application/vnd.openxmlformats-officedocument.presentationml.slide+xml"/>
  <Override PartName="/ppt/slideMasters/slideMaster73.xml" ContentType="application/vnd.openxmlformats-officedocument.presentationml.slideMaster+xml"/>
  <Override PartName="/ppt/slides/slide73.xml" ContentType="application/vnd.openxmlformats-officedocument.presentationml.slide+xml"/>
  <Override PartName="/ppt/slideMasters/slideMaster74.xml" ContentType="application/vnd.openxmlformats-officedocument.presentationml.slideMaster+xml"/>
  <Override PartName="/ppt/slides/slide74.xml" ContentType="application/vnd.openxmlformats-officedocument.presentationml.slide+xml"/>
  <Override PartName="/ppt/slideMasters/slideMaster75.xml" ContentType="application/vnd.openxmlformats-officedocument.presentationml.slideMaster+xml"/>
  <Override PartName="/ppt/slides/slide75.xml" ContentType="application/vnd.openxmlformats-officedocument.presentationml.slide+xml"/>
  <Override PartName="/ppt/slideMasters/slideMaster76.xml" ContentType="application/vnd.openxmlformats-officedocument.presentationml.slideMaster+xml"/>
  <Override PartName="/ppt/slides/slide76.xml" ContentType="application/vnd.openxmlformats-officedocument.presentationml.slide+xml"/>
  <Override PartName="/ppt/slideMasters/slideMaster77.xml" ContentType="application/vnd.openxmlformats-officedocument.presentationml.slideMaster+xml"/>
  <Override PartName="/ppt/slides/slide77.xml" ContentType="application/vnd.openxmlformats-officedocument.presentationml.slide+xml"/>
  <Override PartName="/ppt/slideMasters/slideMaster78.xml" ContentType="application/vnd.openxmlformats-officedocument.presentationml.slideMaster+xml"/>
  <Override PartName="/ppt/slides/slide78.xml" ContentType="application/vnd.openxmlformats-officedocument.presentationml.slide+xml"/>
  <Override PartName="/ppt/slideMasters/slideMaster79.xml" ContentType="application/vnd.openxmlformats-officedocument.presentationml.slideMaster+xml"/>
  <Override PartName="/ppt/slides/slide79.xml" ContentType="application/vnd.openxmlformats-officedocument.presentationml.slide+xml"/>
  <Override PartName="/ppt/slideMasters/slideMaster80.xml" ContentType="application/vnd.openxmlformats-officedocument.presentationml.slideMaster+xml"/>
  <Override PartName="/ppt/slides/slide80.xml" ContentType="application/vnd.openxmlformats-officedocument.presentationml.slide+xml"/>
  <Override PartName="/ppt/slideMasters/slideMaster81.xml" ContentType="application/vnd.openxmlformats-officedocument.presentationml.slideMaster+xml"/>
  <Override PartName="/ppt/slides/slide81.xml" ContentType="application/vnd.openxmlformats-officedocument.presentationml.slide+xml"/>
  <Override PartName="/ppt/slideMasters/slideMaster82.xml" ContentType="application/vnd.openxmlformats-officedocument.presentationml.slideMaster+xml"/>
  <Override PartName="/ppt/slides/slide82.xml" ContentType="application/vnd.openxmlformats-officedocument.presentationml.slide+xml"/>
  <Override PartName="/ppt/slideMasters/slideMaster83.xml" ContentType="application/vnd.openxmlformats-officedocument.presentationml.slideMaster+xml"/>
  <Override PartName="/ppt/slides/slide83.xml" ContentType="application/vnd.openxmlformats-officedocument.presentationml.slide+xml"/>
  <Override PartName="/ppt/slideMasters/slideMaster84.xml" ContentType="application/vnd.openxmlformats-officedocument.presentationml.slideMaster+xml"/>
  <Override PartName="/ppt/slides/slide84.xml" ContentType="application/vnd.openxmlformats-officedocument.presentationml.slide+xml"/>
  <Override PartName="/ppt/slideMasters/slideMaster85.xml" ContentType="application/vnd.openxmlformats-officedocument.presentationml.slideMaster+xml"/>
  <Override PartName="/ppt/slides/slide85.xml" ContentType="application/vnd.openxmlformats-officedocument.presentationml.slide+xml"/>
  <Override PartName="/ppt/slideMasters/slideMaster86.xml" ContentType="application/vnd.openxmlformats-officedocument.presentationml.slideMaster+xml"/>
  <Override PartName="/ppt/slides/slide86.xml" ContentType="application/vnd.openxmlformats-officedocument.presentationml.slide+xml"/>
  <Override PartName="/ppt/slideMasters/slideMaster87.xml" ContentType="application/vnd.openxmlformats-officedocument.presentationml.slideMaster+xml"/>
  <Override PartName="/ppt/slides/slide87.xml" ContentType="application/vnd.openxmlformats-officedocument.presentationml.slide+xml"/>
  <Override PartName="/ppt/slideMasters/slideMaster88.xml" ContentType="application/vnd.openxmlformats-officedocument.presentationml.slideMaster+xml"/>
  <Override PartName="/ppt/slides/slide88.xml" ContentType="application/vnd.openxmlformats-officedocument.presentationml.slide+xml"/>
  <Override PartName="/ppt/slideMasters/slideMaster89.xml" ContentType="application/vnd.openxmlformats-officedocument.presentationml.slideMaster+xml"/>
  <Override PartName="/ppt/slides/slide89.xml" ContentType="application/vnd.openxmlformats-officedocument.presentationml.slide+xml"/>
  <Override PartName="/ppt/slideMasters/slideMaster90.xml" ContentType="application/vnd.openxmlformats-officedocument.presentationml.slideMaster+xml"/>
  <Override PartName="/ppt/slides/slide90.xml" ContentType="application/vnd.openxmlformats-officedocument.presentationml.slide+xml"/>
  <Override PartName="/ppt/slideMasters/slideMaster91.xml" ContentType="application/vnd.openxmlformats-officedocument.presentationml.slideMaster+xml"/>
  <Override PartName="/ppt/slides/slide91.xml" ContentType="application/vnd.openxmlformats-officedocument.presentationml.slide+xml"/>
  <Override PartName="/ppt/slideMasters/slideMaster92.xml" ContentType="application/vnd.openxmlformats-officedocument.presentationml.slideMaster+xml"/>
  <Override PartName="/ppt/slides/slide92.xml" ContentType="application/vnd.openxmlformats-officedocument.presentationml.slide+xml"/>
  <Override PartName="/ppt/slideMasters/slideMaster93.xml" ContentType="application/vnd.openxmlformats-officedocument.presentationml.slideMaster+xml"/>
  <Override PartName="/ppt/slides/slide93.xml" ContentType="application/vnd.openxmlformats-officedocument.presentationml.slide+xml"/>
  <Override PartName="/ppt/slideMasters/slideMaster94.xml" ContentType="application/vnd.openxmlformats-officedocument.presentationml.slideMaster+xml"/>
  <Override PartName="/ppt/slides/slide94.xml" ContentType="application/vnd.openxmlformats-officedocument.presentationml.slide+xml"/>
  <Override PartName="/ppt/slideMasters/slideMaster95.xml" ContentType="application/vnd.openxmlformats-officedocument.presentationml.slideMaster+xml"/>
  <Override PartName="/ppt/slides/slide95.xml" ContentType="application/vnd.openxmlformats-officedocument.presentationml.slide+xml"/>
  <Override PartName="/ppt/slideMasters/slideMaster96.xml" ContentType="application/vnd.openxmlformats-officedocument.presentationml.slideMaster+xml"/>
  <Override PartName="/ppt/slides/slide96.xml" ContentType="application/vnd.openxmlformats-officedocument.presentationml.slide+xml"/>
  <Override PartName="/ppt/slideMasters/slideMaster97.xml" ContentType="application/vnd.openxmlformats-officedocument.presentationml.slideMaster+xml"/>
  <Override PartName="/ppt/slides/slide97.xml" ContentType="application/vnd.openxmlformats-officedocument.presentationml.slide+xml"/>
  <Override PartName="/ppt/slideMasters/slideMaster98.xml" ContentType="application/vnd.openxmlformats-officedocument.presentationml.slideMaster+xml"/>
  <Override PartName="/ppt/slides/slide98.xml" ContentType="application/vnd.openxmlformats-officedocument.presentationml.slide+xml"/>
  <Override PartName="/ppt/slideMasters/slideMaster99.xml" ContentType="application/vnd.openxmlformats-officedocument.presentationml.slideMaster+xml"/>
  <Override PartName="/ppt/slides/slide99.xml" ContentType="application/vnd.openxmlformats-officedocument.presentationml.slide+xml"/>
  <Override PartName="/ppt/slideMasters/slideMaster100.xml" ContentType="application/vnd.openxmlformats-officedocument.presentationml.slideMaster+xml"/>
  <Override PartName="/ppt/slides/slide100.xml" ContentType="application/vnd.openxmlformats-officedocument.presentationml.slide+xml"/>
  <Override PartName="/ppt/slideMasters/slideMaster101.xml" ContentType="application/vnd.openxmlformats-officedocument.presentationml.slideMaster+xml"/>
  <Override PartName="/ppt/slides/slide101.xml" ContentType="application/vnd.openxmlformats-officedocument.presentationml.slide+xml"/>
  <Override PartName="/ppt/slideMasters/slideMaster102.xml" ContentType="application/vnd.openxmlformats-officedocument.presentationml.slideMaster+xml"/>
  <Override PartName="/ppt/slides/slide102.xml" ContentType="application/vnd.openxmlformats-officedocument.presentationml.slide+xml"/>
  <Override PartName="/ppt/slideMasters/slideMaster103.xml" ContentType="application/vnd.openxmlformats-officedocument.presentationml.slideMaster+xml"/>
  <Override PartName="/ppt/slides/slide103.xml" ContentType="application/vnd.openxmlformats-officedocument.presentationml.slide+xml"/>
  <Override PartName="/ppt/slideMasters/slideMaster104.xml" ContentType="application/vnd.openxmlformats-officedocument.presentationml.slideMaster+xml"/>
  <Override PartName="/ppt/slides/slide104.xml" ContentType="application/vnd.openxmlformats-officedocument.presentationml.slide+xml"/>
  <Override PartName="/ppt/slideMasters/slideMaster105.xml" ContentType="application/vnd.openxmlformats-officedocument.presentationml.slideMaster+xml"/>
  <Override PartName="/ppt/slides/slide105.xml" ContentType="application/vnd.openxmlformats-officedocument.presentationml.slide+xml"/>
  <Override PartName="/ppt/slideMasters/slideMaster106.xml" ContentType="application/vnd.openxmlformats-officedocument.presentationml.slideMaster+xml"/>
  <Override PartName="/ppt/slides/slide106.xml" ContentType="application/vnd.openxmlformats-officedocument.presentationml.slide+xml"/>
  <Override PartName="/ppt/slideMasters/slideMaster107.xml" ContentType="application/vnd.openxmlformats-officedocument.presentationml.slideMaster+xml"/>
  <Override PartName="/ppt/slides/slide107.xml" ContentType="application/vnd.openxmlformats-officedocument.presentationml.slide+xml"/>
  <Override PartName="/ppt/slideMasters/slideMaster108.xml" ContentType="application/vnd.openxmlformats-officedocument.presentationml.slideMaster+xml"/>
  <Override PartName="/ppt/slides/slide108.xml" ContentType="application/vnd.openxmlformats-officedocument.presentationml.slide+xml"/>
  <Override PartName="/ppt/slideMasters/slideMaster109.xml" ContentType="application/vnd.openxmlformats-officedocument.presentationml.slideMaster+xml"/>
  <Override PartName="/ppt/slides/slide109.xml" ContentType="application/vnd.openxmlformats-officedocument.presentationml.slide+xml"/>
  <Override PartName="/ppt/slideMasters/slideMaster110.xml" ContentType="application/vnd.openxmlformats-officedocument.presentationml.slideMaster+xml"/>
  <Override PartName="/ppt/slides/slide110.xml" ContentType="application/vnd.openxmlformats-officedocument.presentationml.slide+xml"/>
  <Override PartName="/ppt/slideMasters/slideMaster111.xml" ContentType="application/vnd.openxmlformats-officedocument.presentationml.slideMaster+xml"/>
  <Override PartName="/ppt/slides/slide1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07.xml" ContentType="application/vnd.openxmlformats-officedocument.presentationml.notesSlide+xml"/>
  <Override PartName="/ppt/notesSlides/notesSlide108.xml" ContentType="application/vnd.openxmlformats-officedocument.presentationml.notesSlide+xml"/>
  <Override PartName="/ppt/notesSlides/notesSlide109.xml" ContentType="application/vnd.openxmlformats-officedocument.presentationml.notesSlide+xml"/>
  <Override PartName="/ppt/notesSlides/notesSlide110.xml" ContentType="application/vnd.openxmlformats-officedocument.presentationml.notesSlide+xml"/>
  <Override PartName="/ppt/notesSlides/notesSlide1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  <p:sldId id="342" r:id="rId88"/>
    <p:sldId id="343" r:id="rId89"/>
    <p:sldId id="344" r:id="rId90"/>
    <p:sldId id="345" r:id="rId91"/>
    <p:sldId id="346" r:id="rId92"/>
    <p:sldId id="347" r:id="rId93"/>
    <p:sldId id="348" r:id="rId94"/>
    <p:sldId id="349" r:id="rId95"/>
    <p:sldId id="350" r:id="rId96"/>
    <p:sldId id="351" r:id="rId97"/>
    <p:sldId id="352" r:id="rId98"/>
    <p:sldId id="353" r:id="rId99"/>
    <p:sldId id="354" r:id="rId100"/>
    <p:sldId id="355" r:id="rId101"/>
    <p:sldId id="356" r:id="rId102"/>
    <p:sldId id="357" r:id="rId103"/>
    <p:sldId id="358" r:id="rId104"/>
    <p:sldId id="359" r:id="rId105"/>
    <p:sldId id="360" r:id="rId106"/>
    <p:sldId id="361" r:id="rId107"/>
    <p:sldId id="362" r:id="rId108"/>
    <p:sldId id="363" r:id="rId109"/>
    <p:sldId id="364" r:id="rId110"/>
    <p:sldId id="365" r:id="rId111"/>
    <p:sldId id="366" r:id="rId112"/>
  </p:sldIdLst>
  <p:notesMasterIdLst>
    <p:notesMasterId r:id="rId1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slide" Target="slides/slide76.xml"/><Relationship Id="rId78" Type="http://schemas.openxmlformats.org/officeDocument/2006/relationships/slide" Target="slides/slide77.xml"/><Relationship Id="rId79" Type="http://schemas.openxmlformats.org/officeDocument/2006/relationships/slide" Target="slides/slide78.xml"/><Relationship Id="rId80" Type="http://schemas.openxmlformats.org/officeDocument/2006/relationships/slide" Target="slides/slide79.xml"/><Relationship Id="rId81" Type="http://schemas.openxmlformats.org/officeDocument/2006/relationships/slide" Target="slides/slide80.xml"/><Relationship Id="rId82" Type="http://schemas.openxmlformats.org/officeDocument/2006/relationships/slide" Target="slides/slide81.xml"/><Relationship Id="rId83" Type="http://schemas.openxmlformats.org/officeDocument/2006/relationships/slide" Target="slides/slide82.xml"/><Relationship Id="rId84" Type="http://schemas.openxmlformats.org/officeDocument/2006/relationships/slide" Target="slides/slide83.xml"/><Relationship Id="rId85" Type="http://schemas.openxmlformats.org/officeDocument/2006/relationships/slide" Target="slides/slide84.xml"/><Relationship Id="rId86" Type="http://schemas.openxmlformats.org/officeDocument/2006/relationships/slide" Target="slides/slide85.xml"/><Relationship Id="rId87" Type="http://schemas.openxmlformats.org/officeDocument/2006/relationships/slide" Target="slides/slide86.xml"/><Relationship Id="rId88" Type="http://schemas.openxmlformats.org/officeDocument/2006/relationships/slide" Target="slides/slide87.xml"/><Relationship Id="rId89" Type="http://schemas.openxmlformats.org/officeDocument/2006/relationships/slide" Target="slides/slide88.xml"/><Relationship Id="rId90" Type="http://schemas.openxmlformats.org/officeDocument/2006/relationships/slide" Target="slides/slide89.xml"/><Relationship Id="rId91" Type="http://schemas.openxmlformats.org/officeDocument/2006/relationships/slide" Target="slides/slide90.xml"/><Relationship Id="rId92" Type="http://schemas.openxmlformats.org/officeDocument/2006/relationships/slide" Target="slides/slide91.xml"/><Relationship Id="rId93" Type="http://schemas.openxmlformats.org/officeDocument/2006/relationships/slide" Target="slides/slide92.xml"/><Relationship Id="rId94" Type="http://schemas.openxmlformats.org/officeDocument/2006/relationships/slide" Target="slides/slide93.xml"/><Relationship Id="rId95" Type="http://schemas.openxmlformats.org/officeDocument/2006/relationships/slide" Target="slides/slide94.xml"/><Relationship Id="rId96" Type="http://schemas.openxmlformats.org/officeDocument/2006/relationships/slide" Target="slides/slide95.xml"/><Relationship Id="rId97" Type="http://schemas.openxmlformats.org/officeDocument/2006/relationships/slide" Target="slides/slide96.xml"/><Relationship Id="rId98" Type="http://schemas.openxmlformats.org/officeDocument/2006/relationships/slide" Target="slides/slide97.xml"/><Relationship Id="rId99" Type="http://schemas.openxmlformats.org/officeDocument/2006/relationships/slide" Target="slides/slide98.xml"/><Relationship Id="rId100" Type="http://schemas.openxmlformats.org/officeDocument/2006/relationships/slide" Target="slides/slide99.xml"/><Relationship Id="rId101" Type="http://schemas.openxmlformats.org/officeDocument/2006/relationships/slide" Target="slides/slide100.xml"/><Relationship Id="rId102" Type="http://schemas.openxmlformats.org/officeDocument/2006/relationships/slide" Target="slides/slide101.xml"/><Relationship Id="rId103" Type="http://schemas.openxmlformats.org/officeDocument/2006/relationships/slide" Target="slides/slide102.xml"/><Relationship Id="rId104" Type="http://schemas.openxmlformats.org/officeDocument/2006/relationships/slide" Target="slides/slide103.xml"/><Relationship Id="rId105" Type="http://schemas.openxmlformats.org/officeDocument/2006/relationships/slide" Target="slides/slide104.xml"/><Relationship Id="rId106" Type="http://schemas.openxmlformats.org/officeDocument/2006/relationships/slide" Target="slides/slide105.xml"/><Relationship Id="rId107" Type="http://schemas.openxmlformats.org/officeDocument/2006/relationships/slide" Target="slides/slide106.xml"/><Relationship Id="rId108" Type="http://schemas.openxmlformats.org/officeDocument/2006/relationships/slide" Target="slides/slide107.xml"/><Relationship Id="rId109" Type="http://schemas.openxmlformats.org/officeDocument/2006/relationships/slide" Target="slides/slide108.xml"/><Relationship Id="rId110" Type="http://schemas.openxmlformats.org/officeDocument/2006/relationships/slide" Target="slides/slide109.xml"/><Relationship Id="rId111" Type="http://schemas.openxmlformats.org/officeDocument/2006/relationships/slide" Target="slides/slide110.xml"/><Relationship Id="rId112" Type="http://schemas.openxmlformats.org/officeDocument/2006/relationships/slide" Target="slides/slide111.xml"/><Relationship Id="rId113" Type="http://schemas.openxmlformats.org/officeDocument/2006/relationships/notesMaster" Target="notesMasters/notesMaster1.xml"/><Relationship Id="rId114" Type="http://schemas.openxmlformats.org/officeDocument/2006/relationships/presProps" Target="presProps.xml"/><Relationship Id="rId115" Type="http://schemas.openxmlformats.org/officeDocument/2006/relationships/viewProps" Target="viewProps.xml"/><Relationship Id="rId116" Type="http://schemas.openxmlformats.org/officeDocument/2006/relationships/theme" Target="theme/theme1.xml"/><Relationship Id="rId1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_rels/notesSlide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1.xml"/>
		</Relationships>
</file>

<file path=ppt/notesSlides/_rels/notesSlide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2.xml"/>
		</Relationships>
</file>

<file path=ppt/notesSlides/_rels/notesSlide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3.xml"/>
		</Relationships>
</file>

<file path=ppt/notesSlides/_rels/notesSlide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4.xml"/>
		</Relationships>
</file>

<file path=ppt/notesSlides/_rels/notesSlide7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5.xml"/>
		</Relationships>
</file>

<file path=ppt/notesSlides/_rels/notesSlide7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6.xml"/>
		</Relationships>
</file>

<file path=ppt/notesSlides/_rels/notesSlide7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7.xml"/>
		</Relationships>
</file>

<file path=ppt/notesSlides/_rels/notesSlide7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8.xml"/>
		</Relationships>
</file>

<file path=ppt/notesSlides/_rels/notesSlide7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9.xml"/>
		</Relationships>
</file>

<file path=ppt/notesSlides/_rels/notesSlide8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0.xml"/>
		</Relationships>
</file>

<file path=ppt/notesSlides/_rels/notesSlide8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1.xml"/>
		</Relationships>
</file>

<file path=ppt/notesSlides/_rels/notesSlide8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2.xml"/>
		</Relationships>
</file>

<file path=ppt/notesSlides/_rels/notesSlide8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3.xml"/>
		</Relationships>
</file>

<file path=ppt/notesSlides/_rels/notesSlide8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4.xml"/>
		</Relationships>
</file>

<file path=ppt/notesSlides/_rels/notesSlide8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5.xml"/>
		</Relationships>
</file>

<file path=ppt/notesSlides/_rels/notesSlide8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6.xml"/>
		</Relationships>
</file>

<file path=ppt/notesSlides/_rels/notesSlide8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7.xml"/>
		</Relationships>
</file>

<file path=ppt/notesSlides/_rels/notesSlide8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8.xml"/>
		</Relationships>
</file>

<file path=ppt/notesSlides/_rels/notesSlide8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9.xml"/>
		</Relationships>
</file>

<file path=ppt/notesSlides/_rels/notesSlide9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0.xml"/>
		</Relationships>
</file>

<file path=ppt/notesSlides/_rels/notesSlide9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1.xml"/>
		</Relationships>
</file>

<file path=ppt/notesSlides/_rels/notesSlide9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2.xml"/>
		</Relationships>
</file>

<file path=ppt/notesSlides/_rels/notesSlide9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3.xml"/>
		</Relationships>
</file>

<file path=ppt/notesSlides/_rels/notesSlide9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4.xml"/>
		</Relationships>
</file>

<file path=ppt/notesSlides/_rels/notesSlide9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5.xml"/>
		</Relationships>
</file>

<file path=ppt/notesSlides/_rels/notesSlide9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6.xml"/>
		</Relationships>
</file>

<file path=ppt/notesSlides/_rels/notesSlide9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7.xml"/>
		</Relationships>
</file>

<file path=ppt/notesSlides/_rels/notesSlide9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8.xml"/>
		</Relationships>
</file>

<file path=ppt/notesSlides/_rels/notesSlide9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9.xml"/>
		</Relationships>
</file>

<file path=ppt/notesSlides/_rels/notesSlide10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0.xml"/>
		</Relationships>
</file>

<file path=ppt/notesSlides/_rels/notesSlide10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1.xml"/>
		</Relationships>
</file>

<file path=ppt/notesSlides/_rels/notesSlide10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2.xml"/>
		</Relationships>
</file>

<file path=ppt/notesSlides/_rels/notesSlide10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3.xml"/>
		</Relationships>
</file>

<file path=ppt/notesSlides/_rels/notesSlide10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4.xml"/>
		</Relationships>
</file>

<file path=ppt/notesSlides/_rels/notesSlide10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5.xml"/>
		</Relationships>
</file>

<file path=ppt/notesSlides/_rels/notesSlide10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6.xml"/>
		</Relationships>
</file>

<file path=ppt/notesSlides/_rels/notesSlide10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7.xml"/>
		</Relationships>
</file>

<file path=ppt/notesSlides/_rels/notesSlide10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8.xml"/>
		</Relationships>
</file>

<file path=ppt/notesSlides/_rels/notesSlide10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9.xml"/>
		</Relationships>
</file>

<file path=ppt/notesSlides/_rels/notesSlide1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0.xml"/>
		</Relationships>
</file>

<file path=ppt/notesSlides/_rels/notesSlide1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6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8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9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0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1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3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4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5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6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7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8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9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0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1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3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4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5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6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7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8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9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0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1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3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4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5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6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7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8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9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0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1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2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3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4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5.xml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6.xml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7.xml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8.xml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9.xml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0.xml"/></Relationships>
</file>

<file path=ppt/slides/_rels/slide1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731520"/>
            <a:ext cx="8046720" cy="1579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Artificial na Prática: Aplicações Reais para Profissionais Não Técnicos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640080" y="2494280"/>
            <a:ext cx="75895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Este curso foi desenhado para democratizar o acesso à Inteligência Artificial (IA), capacitando profissionais de todas as áreas a compreenderem e aplicarem suas ferramentas no cotidiano. Com foco em aplicações práticas, utilizaremos recursos acessíveis e estratégias para a tomada de decisão, dispensando a necessidade de conhecimentos prévios em programação ou áreas técnicas. Explore como a IA pode otimizar seu trabalho, impulsionar a inovação e gerar resultados tangíveis, mesmo sem ser um especialista.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459486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módulos  •  03 de março de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1463040" cy="347472"/>
          </a:xfrm>
          <a:prstGeom prst="roundRect">
            <a:avLst>
              <a:gd name="adj" fmla="val 21053"/>
            </a:avLst>
          </a:prstGeom>
          <a:solidFill>
            <a:srgbClr val="F5A62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1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229600" cy="119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1: Desmistificando a Inteligência Artificial para Profissionais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21590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2488184"/>
            <a:ext cx="8229600" cy="1292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Compreender os fundamentos e conceitos essenciais da Inteligência Artificial (IA).
</a:t>
            </a:r>
            <a:endParaRPr lang="en-US" sz="1400" dirty="0"/>
          </a:p>
          <a:p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Distinguir os tipos de IA e reconhecer suas aplicações práticas.
</a:t>
            </a:r>
            <a:endParaRPr lang="en-US" sz="1400" dirty="0"/>
          </a:p>
          <a:p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Identificar a relevância da IA para profissionais não técnicos no mercado atual.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3152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Fundamentos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033272"/>
            <a:ext cx="8229600" cy="27782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5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Inteligência Artificial (IA) é a capacidade de máquinas simularem e executarem tarefas que tradicionalmente exigem inteligência humana.
</a:t>
            </a:r>
            <a:endParaRPr lang="en-US" sz="1500" dirty="0"/>
          </a:p>
          <a:p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5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Isso inclui aprender, raciocinar, resolver problemas e tomar decisões.
</a:t>
            </a:r>
            <a:endParaRPr lang="en-US" sz="1500" dirty="0"/>
          </a:p>
          <a:p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5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se trata de máquinas "sentindo" ou "pensando" como humanos. A IA é programada para identificar padrões, processar dados em larga escala e atuar com base neles.
</a:t>
            </a:r>
            <a:endParaRPr lang="en-US" sz="1500" dirty="0"/>
          </a:p>
          <a:p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5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uma ferramenta que amplifica nossas capacidades e automatiza tarefas.
</a:t>
            </a:r>
            <a:endParaRPr lang="en-US" sz="1500" dirty="0"/>
          </a:p>
          <a:p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5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termo "artificial" indica que essa inteligência é projetada e construída por humanos, via algoritmos e dados.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3152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Modelos / Tipos (Parte 1)</a:t>
            </a:r>
            <a:endParaRPr lang="en-US" sz="24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87552"/>
          <a:ext cx="8229600" cy="3881628"/>
        </p:xfrm>
        <a:graphic>
          <a:graphicData uri="http://schemas.openxmlformats.org/drawingml/2006/table">
            <a:tbl>
              <a:tblPr/>
              <a:tblGrid>
                <a:gridCol w="2743200"/>
                <a:gridCol w="2743200"/>
                <a:gridCol w="274320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Aspecto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IA Fraca (Estreita)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IA Forte (Geral)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b="1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Objetivo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Realizar tarefas específicas com alta proficiência.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Compreender, aprender e aplicar inteligência em qualquer tarefa intelectual humana.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b="1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Alcance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Domínio restrito e especializado.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Generalista, capaz de transferir conhecimento entre áreas.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b="1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Consciência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Não possui consciência, emoções ou autoconsciência.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Possuiria consciência, emoções e autoconsciência (hipotético).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b="1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Realidade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Já existe e é amplamente utilizada atualmente.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Conceito futurista, ainda distante de ser alcançado.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3152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Modelos / Tipos (Parte 2)</a:t>
            </a:r>
            <a:endParaRPr lang="en-US" sz="24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87552"/>
          <a:ext cx="8229600" cy="1465783"/>
        </p:xfrm>
        <a:graphic>
          <a:graphicData uri="http://schemas.openxmlformats.org/drawingml/2006/table">
            <a:tbl>
              <a:tblPr/>
              <a:tblGrid>
                <a:gridCol w="2743200"/>
                <a:gridCol w="2743200"/>
                <a:gridCol w="274320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Aspecto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IA Fraca (Estreita)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IA Forte (Geral)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b="1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Exemplos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Siri, Alexa, filtros de spam, sistemas de recomendação.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HAL 9000 ("2001: Uma Odisseia no Espaço"), robôs de "Eu, Robô".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3152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Aplicações reais (Parte 1)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78992"/>
            <a:ext cx="3977640" cy="128016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133856"/>
            <a:ext cx="54864" cy="11704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170432"/>
            <a:ext cx="3657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maior parte das aplicações atuais de IA pertence à categoria de IA Fraca.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709160" y="1078992"/>
            <a:ext cx="3977640" cy="128016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709160" y="1133856"/>
            <a:ext cx="54864" cy="11704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9" name="Text 7"/>
          <p:cNvSpPr/>
          <p:nvPr/>
        </p:nvSpPr>
        <p:spPr>
          <a:xfrm>
            <a:off x="4892040" y="1170432"/>
            <a:ext cx="3657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IA já está integrada em nosso cotidiano, e muitas vezes nem nos damos conta.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2542032"/>
            <a:ext cx="3977640" cy="128016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" y="2596896"/>
            <a:ext cx="54864" cy="11704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263347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Smartphones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40080" y="2926080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Reconhecimento facial, assistentes de voz (Siri, Google Assistant), teclados preditivos.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709160" y="2542032"/>
            <a:ext cx="3977640" cy="128016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709160" y="2596896"/>
            <a:ext cx="54864" cy="11704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6" name="Text 14"/>
          <p:cNvSpPr/>
          <p:nvPr/>
        </p:nvSpPr>
        <p:spPr>
          <a:xfrm>
            <a:off x="4892040" y="263347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Redes Sociais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892040" y="2926080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Filtros de feed, sugestões de amizade, anúncios personalizados, detecção de conteúdo inadequado.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3152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Aplicações reais (Parte 2)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78992"/>
            <a:ext cx="3977640" cy="128016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133856"/>
            <a:ext cx="54864" cy="11704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17043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Compras Online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1463040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Recomendações de produtos, chatbots de suporte.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709160" y="1078992"/>
            <a:ext cx="3977640" cy="128016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09160" y="1133856"/>
            <a:ext cx="54864" cy="11704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0" name="Text 8"/>
          <p:cNvSpPr/>
          <p:nvPr/>
        </p:nvSpPr>
        <p:spPr>
          <a:xfrm>
            <a:off x="4892040" y="117043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Bancos e Finanças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892040" y="1463040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Detecção de fraudes, análise de risco de crédito, atendimento via chatbot.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3152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Aplicações reais (Parte 1)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78992"/>
            <a:ext cx="3977640" cy="128016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133856"/>
            <a:ext cx="54864" cy="11704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17043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Streaming de Mídia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1463040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Sugestão de filmes, séries e músicas baseadas em seu histórico e preferências.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709160" y="1078992"/>
            <a:ext cx="3977640" cy="128016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09160" y="1133856"/>
            <a:ext cx="54864" cy="11704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0" name="Text 8"/>
          <p:cNvSpPr/>
          <p:nvPr/>
        </p:nvSpPr>
        <p:spPr>
          <a:xfrm>
            <a:off x="4892040" y="117043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Navegação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892040" y="1463040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Maps e Waze analisam tráfego em tempo real para sugerir rotas otimizadas.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2542032"/>
            <a:ext cx="3977640" cy="128016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" y="2596896"/>
            <a:ext cx="54864" cy="11704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263347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Saúde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0080" y="2926080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 de imagens médicas (raio-X, ressonância), desenvolvimento de novas medicações.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709160" y="2542032"/>
            <a:ext cx="3977640" cy="128016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09160" y="2596896"/>
            <a:ext cx="54864" cy="11704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8" name="Text 16"/>
          <p:cNvSpPr/>
          <p:nvPr/>
        </p:nvSpPr>
        <p:spPr>
          <a:xfrm>
            <a:off x="4892040" y="263347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892040" y="2926080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Segmentação de público, criação de e-mails, otimização de campanhas.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3152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Aplicações reais (Parte 2)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78992"/>
            <a:ext cx="3977640" cy="128016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133856"/>
            <a:ext cx="54864" cy="11704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17043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 um momento e reflita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1463040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Quais dessas aplicações de IA você já utiliza no seu dia a dia profissional ou pessoal sem se dar conta? Como elas impactam suas atividades?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3152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Desafios e cuidados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033272"/>
            <a:ext cx="8229600" cy="20162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5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fundamental encarar a IA como uma poderosa ferramenta. Ela serve para amplificar nossas capacidades, automatizar tarefas repetitivas e analisar dados.
</a:t>
            </a:r>
            <a:endParaRPr lang="en-US" sz="1500" dirty="0"/>
          </a:p>
          <a:p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5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IA não é um substituto completo para a inteligência humana. Ela ainda não compreende emoções complexas ou nuances de linguagem como um ser humano.
</a:t>
            </a:r>
            <a:endParaRPr lang="en-US" sz="1500" dirty="0"/>
          </a:p>
          <a:p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5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performance da IA é diretamente ligada à qualidade e quantidade dos dados com os quais foi treinada.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3152"/>
            <a:ext cx="8229600" cy="9052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a IA é Relevante para Profissionais não Técnicos?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3977640" cy="128016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380744"/>
            <a:ext cx="54864" cy="11704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417320"/>
            <a:ext cx="3657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IA é uma habilidade fundamental para profissionais em todas as áreas, não apenas para técnicos.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709160" y="1325880"/>
            <a:ext cx="3977640" cy="128016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709160" y="1380744"/>
            <a:ext cx="54864" cy="11704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9" name="Text 7"/>
          <p:cNvSpPr/>
          <p:nvPr/>
        </p:nvSpPr>
        <p:spPr>
          <a:xfrm>
            <a:off x="4892040" y="14173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Otimização de Processos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892040" y="1709928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Automatiza tarefas repetitivas, liberando tempo para atividades estratégicas.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2788920"/>
            <a:ext cx="3977640" cy="128016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7200" y="2843784"/>
            <a:ext cx="54864" cy="11704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28803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Tomada de Decisão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40080" y="3172968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Fornece insights valiosos ao analisar grandes volumes de dados.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709160" y="2788920"/>
            <a:ext cx="3977640" cy="128016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709160" y="2843784"/>
            <a:ext cx="54864" cy="11704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7" name="Text 15"/>
          <p:cNvSpPr/>
          <p:nvPr/>
        </p:nvSpPr>
        <p:spPr>
          <a:xfrm>
            <a:off x="4892040" y="28803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Inovação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892040" y="3172968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Abre portas para novos produtos, serviços e modelos de negócio, gerando vantagem competitiva.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3152"/>
            <a:ext cx="8229600" cy="9052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a IA é Relevante para Profissionais não Técnicos?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3977640" cy="128016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380744"/>
            <a:ext cx="54864" cy="11704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4173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Experiência do Cliente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1709928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Personaliza e melhora a interação com o cliente através de recomendações e chatbots.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709160" y="1325880"/>
            <a:ext cx="3977640" cy="128016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09160" y="1380744"/>
            <a:ext cx="54864" cy="11704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0" name="Text 8"/>
          <p:cNvSpPr/>
          <p:nvPr/>
        </p:nvSpPr>
        <p:spPr>
          <a:xfrm>
            <a:off x="4892040" y="14173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Empregabilidade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892040" y="1709928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Profissionais que entendem e usam IA são mais valorizados e resilientes no mercado.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2788920"/>
            <a:ext cx="3977640" cy="128016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" y="2843784"/>
            <a:ext cx="54864" cy="11704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28803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Gestão de Riscos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0080" y="3172968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Ajuda a detectar fraudes e identificar ameaças cibernéticas em tempo real.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709160" y="2788920"/>
            <a:ext cx="3977640" cy="128016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09160" y="2843784"/>
            <a:ext cx="54864" cy="11704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8" name="Text 16"/>
          <p:cNvSpPr/>
          <p:nvPr/>
        </p:nvSpPr>
        <p:spPr>
          <a:xfrm>
            <a:off x="4892040" y="28803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Preparação para o Futuro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892040" y="3172968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Compreender a IA é essencial para acompanhar as transformações tecnológicas e sociais.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RESUMO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8156448" cy="94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1: Desmistificando a Inteligência Artificial para Profissionais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1722120"/>
            <a:ext cx="8156448" cy="31470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Neste módulo, desmistificamos a Inteligência Artificial, definindo-a como a capacidade de máquinas simularem habilidades humanas.
</a:t>
            </a:r>
            <a:endParaRPr lang="en-US" sz="1400" dirty="0"/>
          </a:p>
          <a:p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Exploramos os tipos de IA Fraca e Forte, enfatizando a relevância da IA Fraca em nossas vidas.
</a:t>
            </a:r>
            <a:endParaRPr lang="en-US" sz="1400" dirty="0"/>
          </a:p>
          <a:p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fim, demonstramos como a compreensão da IA é crucial para profissionais não técnicos, impulsionando a eficiência e a inovação.
</a:t>
            </a:r>
            <a:endParaRPr lang="en-US" sz="1400" dirty="0"/>
          </a:p>
          <a:p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Inteligência Artificial (IA) é a capacidade de máquinas simularem tarefas cognitivas humanas, sendo uma poderosa ferramenta.
</a:t>
            </a:r>
            <a:endParaRPr lang="en-US" sz="1400" dirty="0"/>
          </a:p>
          <a:p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Existem dois tipos principais: IA Fraca (tarefas específicas, presente hoje) e IA Forte (inteligência geral, futura e teórica).
</a:t>
            </a:r>
            <a:endParaRPr lang="en-US" sz="1400" dirty="0"/>
          </a:p>
          <a:p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IA já está amplamente integrada em nosso cotidiano e ambiente de trabalho, de smartphones a sistemas de recomendação.
</a:t>
            </a:r>
            <a:endParaRPr lang="en-US" sz="1400" dirty="0"/>
          </a:p>
          <a:p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profissionais não técnicos, a IA é vital para otimizar processos, tomar decisões informadas e inovar.
</a:t>
            </a:r>
            <a:endParaRPr lang="en-US" sz="1400" dirty="0"/>
          </a:p>
          <a:p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Compreender a IA aumenta a empregabilidade e a resiliência profissional no mercado em constante evolução.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1463040" cy="347472"/>
          </a:xfrm>
          <a:prstGeom prst="roundRect">
            <a:avLst>
              <a:gd name="adj" fmla="val 21053"/>
            </a:avLst>
          </a:prstGeom>
          <a:solidFill>
            <a:srgbClr val="F5A62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2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229600" cy="119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2: Ferramentas de IA Acessíveis para o Dia a Dia Profissional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21590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2488184"/>
            <a:ext cx="8229600" cy="15057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Identificar ferramentas de IA acessíveis para otimizar tarefas profissionais.
</a:t>
            </a:r>
            <a:endParaRPr lang="en-US" sz="1400" dirty="0"/>
          </a:p>
          <a:p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Desenvolver habilidades no uso prático de assistentes, geradores de texto e ferramentas de análise/automação.
</a:t>
            </a:r>
            <a:endParaRPr lang="en-US" sz="1400" dirty="0"/>
          </a:p>
          <a:p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Aplicar a IA para aumentar a produtividade e a eficiência no cotidiano de trabalho.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3152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Modelos / Tipos: Ferramentas de IA Acessíveis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033272"/>
            <a:ext cx="8229600" cy="25496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5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Inteligência Artificial (IA) deixou de ser um privilégio de especialistas para se tornar uma força democratizante.
</a:t>
            </a:r>
            <a:endParaRPr lang="en-US" sz="1500" dirty="0"/>
          </a:p>
          <a:p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5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 empodera profissionais de diversas áreas, desde gestores a empreendedores, sem exigir conhecimento em programação.
</a:t>
            </a:r>
            <a:endParaRPr lang="en-US" sz="1500" dirty="0"/>
          </a:p>
          <a:p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5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foco é integrar a IA para otimizar tarefas diárias, aumentar a produtividade e gerar resultados tangíveis.
</a:t>
            </a:r>
            <a:endParaRPr lang="en-US" sz="1500" dirty="0"/>
          </a:p>
          <a:p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5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IA atua como uma aliada, amplificando o trabalho humano e permitindo foco em atividades que exigem criatividade e inteligência.
</a:t>
            </a:r>
            <a:endParaRPr lang="en-US" sz="1500" dirty="0"/>
          </a:p>
          <a:p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5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Diversas ferramentas de IA estão disponíveis para profissionais não técnicos. Elas podem ser categorizadas conforme sua principal função.</a:t>
            </a:r>
            <a:endParaRPr lang="en-US" sz="15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3152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Modelos / Tipos: Ferramentas de IA Acessíveis</a:t>
            </a:r>
            <a:endParaRPr lang="en-US" sz="24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87552"/>
          <a:ext cx="8229600" cy="3881628"/>
        </p:xfrm>
        <a:graphic>
          <a:graphicData uri="http://schemas.openxmlformats.org/drawingml/2006/table">
            <a:tbl>
              <a:tblPr/>
              <a:tblGrid>
                <a:gridCol w="1645920"/>
                <a:gridCol w="1645920"/>
                <a:gridCol w="1645920"/>
                <a:gridCol w="1645920"/>
                <a:gridCol w="164592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Aspecto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Assistentes Virtuais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Geradores de Texto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Análise de Dados Simplificada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Automação de Tarefas Básicas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b="1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Objetivo Principal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Gerenciar rotinas e comandos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Criar conteúdo escrito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Extrair insights de dados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Otimizar fluxos de trabalho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b="1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Tecnologia Base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PLN, Machine Learning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Grandes Modelos de Linguagem (LLM)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Machine Learning, BI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Fluxos lógicos ("Se-Então")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b="1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Exemplos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Google Assistant, Copilot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ChatGPT, Google Gemini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Power BI, Looker Studio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Zapier, Make, Power Automate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b="1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Benefício Chave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Otimização de tempo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Aceleração da produção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Tomada de decisão informada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Redução de tarefas repetitivas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3152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Aplicações Reais: Assistentes Virtuais (Parte 1)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78992"/>
            <a:ext cx="3977640" cy="128016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133856"/>
            <a:ext cx="54864" cy="11704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170432"/>
            <a:ext cx="3657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Assistentes virtuais como Google Assistant, Siri e Microsoft Copilot utilizam Processamento de Linguagem Natural (PLN) e Machine Learning. Eles interpretam comandos de voz ou texto, compreendem intenções e executam ações. Aprendem com as interações para se tornarem mais precisos e personalizados.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709160" y="1078992"/>
            <a:ext cx="3977640" cy="128016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709160" y="1133856"/>
            <a:ext cx="54864" cy="11704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9" name="Text 7"/>
          <p:cNvSpPr/>
          <p:nvPr/>
        </p:nvSpPr>
        <p:spPr>
          <a:xfrm>
            <a:off x="4892040" y="117043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Organização e Gestão de Tempo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892040" y="1463040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2542032"/>
            <a:ext cx="3977640" cy="128016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7200" y="2596896"/>
            <a:ext cx="54864" cy="11704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263347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Agendamento de reuniões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40080" y="2926080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Verificam agendas e enviam convites automaticamente.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709160" y="2542032"/>
            <a:ext cx="3977640" cy="128016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709160" y="2596896"/>
            <a:ext cx="54864" cy="11704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7" name="Text 15"/>
          <p:cNvSpPr/>
          <p:nvPr/>
        </p:nvSpPr>
        <p:spPr>
          <a:xfrm>
            <a:off x="4892040" y="263347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Lembretes e prazos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892040" y="2926080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Definem alertas como "Lembre-me de enviar o relatório até 17h".</a:t>
            </a:r>
            <a:endParaRPr lang="en-US" sz="13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3152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Aplicações Reais: Assistentes Virtuais (Parte 2)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78992"/>
            <a:ext cx="3977640" cy="128016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133856"/>
            <a:ext cx="54864" cy="11704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17043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Gestão de tarefas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1463040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Adicionam itens a listas de afazeres.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709160" y="1078992"/>
            <a:ext cx="3977640" cy="128016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09160" y="1133856"/>
            <a:ext cx="54864" cy="11704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0" name="Text 8"/>
          <p:cNvSpPr/>
          <p:nvPr/>
        </p:nvSpPr>
        <p:spPr>
          <a:xfrm>
            <a:off x="4892040" y="117043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Acesso Rápido a Informações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892040" y="1463040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sz="13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3152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Aplicações Reais: Assistentes Virtuais (Parte 1)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78992"/>
            <a:ext cx="3977640" cy="128016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133856"/>
            <a:ext cx="54864" cy="11704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17043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Pesquisa imediata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1463040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Fornecem definições, dados de mercado ou notícias sem abrir o navegador.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709160" y="1078992"/>
            <a:ext cx="3977640" cy="128016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09160" y="1133856"/>
            <a:ext cx="54864" cy="11704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0" name="Text 8"/>
          <p:cNvSpPr/>
          <p:nvPr/>
        </p:nvSpPr>
        <p:spPr>
          <a:xfrm>
            <a:off x="4892040" y="117043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892040" y="1463040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Podem resumir e-mails ou encontrar informações em documentos (com integração, ex: Copilot).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2542032"/>
            <a:ext cx="3977640" cy="128016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" y="2596896"/>
            <a:ext cx="54864" cy="11704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263347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Comunicação Eficiente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0080" y="2926080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709160" y="2542032"/>
            <a:ext cx="3977640" cy="128016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09160" y="2596896"/>
            <a:ext cx="54864" cy="11704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8" name="Text 16"/>
          <p:cNvSpPr/>
          <p:nvPr/>
        </p:nvSpPr>
        <p:spPr>
          <a:xfrm>
            <a:off x="4892040" y="263347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Ditado de texto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892040" y="2926080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Redigem e-mails ou notas por voz.</a:t>
            </a:r>
            <a:endParaRPr lang="en-US" sz="13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3152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Aplicações Reais: Assistentes Virtuais (Parte 2)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78992"/>
            <a:ext cx="3977640" cy="128016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133856"/>
            <a:ext cx="54864" cy="11704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17043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Tradução instantânea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1463040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Oferecem traduções rápidas em diversos contextos.</a:t>
            </a:r>
            <a:endParaRPr lang="en-US" sz="13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3152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 prático: Microsoft Copilot no Teams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033272"/>
            <a:ext cx="8229600" cy="2865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Durante uma reunião online no Microsoft Teams, você pode pedir: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374648"/>
            <a:ext cx="8229600" cy="10637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5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"Copilot, resuma os pontos-chave discutidos até agora." (Gera resumo em tempo real)
</a:t>
            </a:r>
            <a:endParaRPr lang="en-US" sz="1500" dirty="0"/>
          </a:p>
          <a:p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5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"Copilot, liste os itens de ação e para quem eles foram atribuídos." (Identifica e organiza tarefas pós-reunião)</a:t>
            </a:r>
            <a:endParaRPr lang="en-US" sz="15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3152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Aplicações Reais: Geradores de Texto (Parte 1)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033272"/>
            <a:ext cx="3977640" cy="24734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5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Ferramentas como ChatGPT e Google Gemini são baseadas em Grandes Modelos de Linguagem (LLM).
</a:t>
            </a:r>
            <a:endParaRPr lang="en-US" sz="1500" dirty="0"/>
          </a:p>
          <a:p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5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Elas são treinadas em vastos volumes de texto para aprender padrões de linguagem, fatos e estilos.
</a:t>
            </a:r>
            <a:endParaRPr lang="en-US" sz="1500" dirty="0"/>
          </a:p>
          <a:p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5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partir de um prompt (instrução) fornecido pelo usuário, geram texto coerente e relevante.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709160" y="1033272"/>
            <a:ext cx="3977640" cy="2865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e Comunicação: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709160" y="1374648"/>
            <a:ext cx="3977640" cy="20162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5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Geração de ideias: Sugerem tópicos para posts de blog ou campanhas.
</a:t>
            </a:r>
            <a:endParaRPr lang="en-US" sz="1500" dirty="0"/>
          </a:p>
          <a:p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5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Rascunhos de e-mails: Criam e-mails para clientes, ajustando o tom (formal, informal).
</a:t>
            </a:r>
            <a:endParaRPr lang="en-US" sz="1500" dirty="0"/>
          </a:p>
          <a:p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5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Textos para redes sociais: Elaboram legendas engajadoras.</a:t>
            </a:r>
            <a:endParaRPr lang="en-US" sz="15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3152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Aplicações Reais: Geradores de Texto (Parte 2)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033272"/>
            <a:ext cx="8229600" cy="2865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Educação e Treinamento: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374648"/>
            <a:ext cx="8229600" cy="5684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5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Conteúdo didático: Desenvolvem explicações simplificadas sobre temas complexos.</a:t>
            </a:r>
            <a:endParaRPr lang="en-US" sz="15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3152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Aplicações Reais: Geradores de Texto (Parte 1)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78992"/>
            <a:ext cx="3977640" cy="128016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133856"/>
            <a:ext cx="54864" cy="11704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17043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Exercícios e quizzes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1463040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Criam perguntas de múltipla escolha.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709160" y="1078992"/>
            <a:ext cx="3977640" cy="128016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09160" y="1133856"/>
            <a:ext cx="54864" cy="11704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0" name="Text 8"/>
          <p:cNvSpPr/>
          <p:nvPr/>
        </p:nvSpPr>
        <p:spPr>
          <a:xfrm>
            <a:off x="4892040" y="117043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 de apoio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892040" y="1463040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Resumem artigos científicos para apresentações.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2542032"/>
            <a:ext cx="3977640" cy="128016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" y="2596896"/>
            <a:ext cx="54864" cy="11704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263347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Gestão e Planejamento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0080" y="2926080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709160" y="2542032"/>
            <a:ext cx="3977640" cy="128016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09160" y="2596896"/>
            <a:ext cx="54864" cy="11704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8" name="Text 16"/>
          <p:cNvSpPr/>
          <p:nvPr/>
        </p:nvSpPr>
        <p:spPr>
          <a:xfrm>
            <a:off x="4892040" y="263347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Documentos internos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892040" y="2926080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Redigem comunicados sobre políticas.</a:t>
            </a:r>
            <a:endParaRPr lang="en-US" sz="13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3152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Aplicações Reais: Geradores de Texto (Parte 2)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78992"/>
            <a:ext cx="3977640" cy="128016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133856"/>
            <a:ext cx="54864" cy="11704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17043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Roteiros de apresentações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1463040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Estruturam o conteúdo para palestras.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709160" y="1078992"/>
            <a:ext cx="3977640" cy="128016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09160" y="1133856"/>
            <a:ext cx="54864" cy="11704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0" name="Text 8"/>
          <p:cNvSpPr/>
          <p:nvPr/>
        </p:nvSpPr>
        <p:spPr>
          <a:xfrm>
            <a:off x="4892040" y="117043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Brainstorming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892040" y="1463040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Geram ideias para resolver problemas ou inovar.</a:t>
            </a:r>
            <a:endParaRPr lang="en-US" sz="13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3152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Desafios e cuidados: Geradores de Texto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033272"/>
            <a:ext cx="8229600" cy="22829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5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Revisão Humana Crucial: A IA é um apoio, não um substituto. Sempre revise e edite o conteúdo para garantir precisão, originalidade e alinhamento com seu tom de voz.
</a:t>
            </a:r>
            <a:endParaRPr lang="en-US" sz="1500" dirty="0"/>
          </a:p>
          <a:p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5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Limitações: A IA pode "alucinar" (gerar informações falsas). Use-a como um ponto de partida, não como autoridade final.
</a:t>
            </a:r>
            <a:endParaRPr lang="en-US" sz="1500" dirty="0"/>
          </a:p>
          <a:p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5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 um momento e reflita: Qual tarefa repetitiva ou demorada do seu dia a dia profissional você acredita que poderia ser otimizada com a ajuda de um assistente virtual ou gerador
</a:t>
            </a:r>
            <a:endParaRPr lang="en-US" sz="1500" dirty="0"/>
          </a:p>
          <a:p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5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texto?</a:t>
            </a:r>
            <a:endParaRPr lang="en-US" sz="15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3152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Aplicações Reais: Análise de Dados (Parte 1)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78992"/>
            <a:ext cx="3977640" cy="128016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133856"/>
            <a:ext cx="54864" cy="11704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170432"/>
            <a:ext cx="3657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Ferramentas como Google Looker Studio e Microsoft Power BI utilizam algoritmos de Machine Learning e interfaces intuitivas. Elas processam grandes volumes de dados para identificar padrões, anomalias, tendências e correlações. Os resultados são apresentados em formatos compreensíveis, como gráficos e painéis interativos, muitas vezes respondendo a perguntas em linguagem natural.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709160" y="1078992"/>
            <a:ext cx="3977640" cy="128016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709160" y="1133856"/>
            <a:ext cx="54864" cy="11704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9" name="Text 7"/>
          <p:cNvSpPr/>
          <p:nvPr/>
        </p:nvSpPr>
        <p:spPr>
          <a:xfrm>
            <a:off x="4892040" y="117043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Identificação de Tendências de Vendas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892040" y="1463040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2542032"/>
            <a:ext cx="3977640" cy="128016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7200" y="2596896"/>
            <a:ext cx="54864" cy="11704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263347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Cenário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40080" y="2926080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Você tem uma planilha de vendas mensal. A IA pode responder "Qual produto teve o maior crescimento de vendas no último trimestre?" e gerar gráficos.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709160" y="2542032"/>
            <a:ext cx="3977640" cy="128016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709160" y="2596896"/>
            <a:ext cx="54864" cy="11704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7" name="Text 15"/>
          <p:cNvSpPr/>
          <p:nvPr/>
        </p:nvSpPr>
        <p:spPr>
          <a:xfrm>
            <a:off x="4892040" y="263347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 de Feedback de Clientes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892040" y="2926080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sz="13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3152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Aplicações Reais: Análise de Dados (Parte 2)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78992"/>
            <a:ext cx="3977640" cy="128016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133856"/>
            <a:ext cx="54864" cy="11704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17043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Cenário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1463040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 centenas de comentários, a IA classifica-os como positivos/negativos e identifica temas recorrentes.</a:t>
            </a:r>
            <a:endParaRPr lang="en-US" sz="13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3152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Aplicações Reais: Análise de Dados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78992"/>
            <a:ext cx="3977640" cy="128016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133856"/>
            <a:ext cx="54864" cy="11704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17043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Otimização de Campanhas de Marketing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1463040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709160" y="1078992"/>
            <a:ext cx="3977640" cy="128016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09160" y="1133856"/>
            <a:ext cx="54864" cy="11704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0" name="Text 8"/>
          <p:cNvSpPr/>
          <p:nvPr/>
        </p:nvSpPr>
        <p:spPr>
          <a:xfrm>
            <a:off x="4892040" y="117043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Cenário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892040" y="1463040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Plataformas como Google Ads usam IA para otimizar lances e segmentar público, sugerindo ajustes para melhorar o ROI (Retorno sobre Investimento).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2542032"/>
            <a:ext cx="3977640" cy="128016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" y="2596896"/>
            <a:ext cx="54864" cy="11704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263347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Previsões Simples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0080" y="2926080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709160" y="2542032"/>
            <a:ext cx="3977640" cy="128016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09160" y="2596896"/>
            <a:ext cx="54864" cy="11704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8" name="Text 16"/>
          <p:cNvSpPr/>
          <p:nvPr/>
        </p:nvSpPr>
        <p:spPr>
          <a:xfrm>
            <a:off x="4892040" y="263347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Cenário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892040" y="2926080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 base em dados históricos, a IA pode prever custos para o próximo trimestre, auxiliando no planejamento orçamentário.</a:t>
            </a:r>
            <a:endParaRPr lang="en-US" sz="13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3152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Desafios e cuidados: Análise de Dados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033272"/>
            <a:ext cx="8229600" cy="17876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5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Visualização Clara: A força dessas ferramentas reside em transformar dados brutos em histórias visuais claras.
</a:t>
            </a:r>
            <a:endParaRPr lang="en-US" sz="1500" dirty="0"/>
          </a:p>
          <a:p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5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Perguntas em Linguagem Natural: Muitas permitem fazer perguntas em português, e a IA tenta gerar a resposta visualmente.
</a:t>
            </a:r>
            <a:endParaRPr lang="en-US" sz="1500" dirty="0"/>
          </a:p>
          <a:p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5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Substitui o Especialista: A interpretação profunda e a tomada de decisões estratégicas ainda dependem do profissional humano. A IA serve como um "olho extra".</a:t>
            </a:r>
            <a:endParaRPr lang="en-US" sz="15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3152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Aplicações Reais: Automação de Tarefas (Parte 1)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78992"/>
            <a:ext cx="3977640" cy="128016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133856"/>
            <a:ext cx="54864" cy="11704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170432"/>
            <a:ext cx="3657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automação utiliza ferramentas no-code (sem código) e low-code (pouco código), como Zapier e Make. A ideia é criar "receitas" onde um "gatilho" (trigger) provoca uma "ação" (action) predefinida. Essas ferramentas funcionam como "pontes" entre diferentes aplicativos, realizando tarefas sem intervenção humana e muitas vezes com IA para otimizar os fluxos.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709160" y="1078992"/>
            <a:ext cx="3977640" cy="128016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709160" y="1133856"/>
            <a:ext cx="54864" cy="11704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9" name="Text 7"/>
          <p:cNvSpPr/>
          <p:nvPr/>
        </p:nvSpPr>
        <p:spPr>
          <a:xfrm>
            <a:off x="4892040" y="117043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Gestão de E-mails e Notificações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892040" y="1463040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2542032"/>
            <a:ext cx="3977640" cy="128016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7200" y="2596896"/>
            <a:ext cx="54864" cy="11704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263347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Automação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40080" y="2926080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Ao receber um e-mail específico, cria uma tarefa no Trello e envia uma notificação SMS.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709160" y="2542032"/>
            <a:ext cx="3977640" cy="128016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709160" y="2596896"/>
            <a:ext cx="54864" cy="11704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7" name="Text 15"/>
          <p:cNvSpPr/>
          <p:nvPr/>
        </p:nvSpPr>
        <p:spPr>
          <a:xfrm>
            <a:off x="4892040" y="263347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Automação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892040" y="2926080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Salva automaticamente anexos de e-mails em uma pasta do Google Drive.</a:t>
            </a:r>
            <a:endParaRPr lang="en-US" sz="13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3152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Aplicações Reais: Automação de Tarefas (Parte 2)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78992"/>
            <a:ext cx="3977640" cy="128016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133856"/>
            <a:ext cx="54864" cy="11704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17043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Coleta e Organização de Dados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1463040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709160" y="1078992"/>
            <a:ext cx="3977640" cy="128016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09160" y="1133856"/>
            <a:ext cx="54864" cy="11704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0" name="Text 8"/>
          <p:cNvSpPr/>
          <p:nvPr/>
        </p:nvSpPr>
        <p:spPr>
          <a:xfrm>
            <a:off x="4892040" y="117043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Cenário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892040" y="1463040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Novo preenchimento de formulário no Google Forms adiciona uma linha a uma planilha e envia um e-mail de boas-vindas.</a:t>
            </a:r>
            <a:endParaRPr lang="en-US" sz="13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3152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Aplicações Reais: Automação de Tarefas (Parte 1)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78992"/>
            <a:ext cx="3977640" cy="128016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133856"/>
            <a:ext cx="54864" cy="11704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17043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Cenário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1463040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Monitora menções da marca em redes sociais e as salva em um documento para análise.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709160" y="1078992"/>
            <a:ext cx="3977640" cy="128016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09160" y="1133856"/>
            <a:ext cx="54864" cy="11704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0" name="Text 8"/>
          <p:cNvSpPr/>
          <p:nvPr/>
        </p:nvSpPr>
        <p:spPr>
          <a:xfrm>
            <a:off x="4892040" y="117043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Atualização de Sistemas e Bancos de Dados Simples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892040" y="1463040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2542032"/>
            <a:ext cx="3977640" cy="128016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" y="2596896"/>
            <a:ext cx="54864" cy="11704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263347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Cenário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0080" y="2926080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Venda em plataforma e-commerce atualiza automaticamente o estoque em planilha de controle.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709160" y="2542032"/>
            <a:ext cx="3977640" cy="128016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09160" y="2596896"/>
            <a:ext cx="54864" cy="11704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8" name="Text 16"/>
          <p:cNvSpPr/>
          <p:nvPr/>
        </p:nvSpPr>
        <p:spPr>
          <a:xfrm>
            <a:off x="4892040" y="263347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Cenário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892040" y="2926080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Conclusão de tarefa em um software atualiza o status do projeto em outro.</a:t>
            </a:r>
            <a:endParaRPr lang="en-US" sz="13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3152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Aplicações Reais: Automação de Tarefas (Parte 2)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78992"/>
            <a:ext cx="3977640" cy="128016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133856"/>
            <a:ext cx="54864" cy="11704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17043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Geração de Relatórios Simplificados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1463040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709160" y="1078992"/>
            <a:ext cx="3977640" cy="128016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09160" y="1133856"/>
            <a:ext cx="54864" cy="11704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0" name="Text 8"/>
          <p:cNvSpPr/>
          <p:nvPr/>
        </p:nvSpPr>
        <p:spPr>
          <a:xfrm>
            <a:off x="4892040" y="117043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Cenário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892040" y="1463040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Fim do mês: extrai dados de vendas, organiza em modelo e envia relatório por e-mail.</a:t>
            </a:r>
            <a:endParaRPr lang="en-US" sz="13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3152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Desafios e cuidados: Automação de Tarefas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033272"/>
            <a:ext cx="8229600" cy="17876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5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Pensamento "Se Isso, Então Aquilo": A chave é identificar pares de "Acontece X" e "Faça Y".
</a:t>
            </a:r>
            <a:endParaRPr lang="en-US" sz="1500" dirty="0"/>
          </a:p>
          <a:p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5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Liberdade para o Trabalho Estratégico: Automatizar tarefas repetitivas libera tempo para atividades que exigem criatividade e resolução de problemas complexos.
</a:t>
            </a:r>
            <a:endParaRPr lang="en-US" sz="1500" dirty="0"/>
          </a:p>
          <a:p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5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Comece Pequeno: Identifique 1-2 tarefas repetitivas e teste a automação. O impacto cumulativo pode ser surpreendente.</a:t>
            </a:r>
            <a:endParaRPr lang="en-US" sz="15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RESUMO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8156448" cy="94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2: Ferramentas de IA Acessíveis para o Dia a Dia Profissional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1722120"/>
            <a:ext cx="8156448" cy="31470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Neste módulo, exploramos como a Inteligência Artificial pode transformar a rotina profissional, abordando ferramentas acessíveis que dispensam conhecimentos de
</a:t>
            </a:r>
            <a:endParaRPr lang="en-US" sz="1400" dirty="0"/>
          </a:p>
          <a:p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programação para otimizar tarefas e aumentar a produtividade.
</a:t>
            </a:r>
            <a:endParaRPr lang="en-US" sz="1400" dirty="0"/>
          </a:p>
          <a:p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Cobrimos assistentes virtuais, geradores de texto, soluções de análise de dados simplificada e plataformas de automação.
</a:t>
            </a:r>
            <a:endParaRPr lang="en-US" sz="1400" dirty="0"/>
          </a:p>
          <a:p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foco principal foi desmistificar o uso da IA, mostrando como ela atua como uma poderosa aliada no dia a dia, desde a gestão do tempo até a criação de conteúdo e análise
</a:t>
            </a:r>
            <a:endParaRPr lang="en-US" sz="1400" dirty="0"/>
          </a:p>
          <a:p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informações.
</a:t>
            </a:r>
            <a:endParaRPr lang="en-US" sz="1400" dirty="0"/>
          </a:p>
          <a:p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IA é acessível a profissionais não técnicos através de ferramentas intuitivas e sem código (no-code).
</a:t>
            </a:r>
            <a:endParaRPr lang="en-US" sz="1400" dirty="0"/>
          </a:p>
          <a:p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Há uma gama de ferramentas para otimizar tarefas diárias, como agendamentos, escrita e análise de dados.
</a:t>
            </a:r>
            <a:endParaRPr lang="en-US" sz="1400" dirty="0"/>
          </a:p>
          <a:p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IA potencializa a produtividade, liberando tempo para atividades mais estratégicas e criativas.
</a:t>
            </a:r>
            <a:endParaRPr lang="en-US" sz="1400" dirty="0"/>
          </a:p>
          <a:p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revisão humana é crucial: a IA é uma ferramenta de apoio, mas a validação e a decisão final são sempre do profissional.
</a:t>
            </a:r>
            <a:endParaRPr lang="en-US" sz="1400" dirty="0"/>
          </a:p>
          <a:p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Experimentar as ferramentas é o primeiro passo para extrair valor e entender seu potencial.</a:t>
            </a:r>
            <a:endParaRPr lang="en-US" sz="14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1463040" cy="347472"/>
          </a:xfrm>
          <a:prstGeom prst="roundRect">
            <a:avLst>
              <a:gd name="adj" fmla="val 21053"/>
            </a:avLst>
          </a:prstGeom>
          <a:solidFill>
            <a:srgbClr val="F5A62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3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229600" cy="119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3: IA para Otimização da Comunicação e Conteúdo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21590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2488184"/>
            <a:ext cx="8229600" cy="1292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Entender como a IA aprimora a comunicação e a criação de conteúdo.
</a:t>
            </a:r>
            <a:endParaRPr lang="en-US" sz="1400" dirty="0"/>
          </a:p>
          <a:p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Desenvolver a capacidade de usar ferramentas de IA para gerar mensagens claras e eficazes.
</a:t>
            </a:r>
            <a:endParaRPr lang="en-US" sz="1400" dirty="0"/>
          </a:p>
          <a:p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Aplicar a IA para personalizar a comunicação e otimizar apresentações e traduções.</a:t>
            </a:r>
            <a:endParaRPr lang="en-US" sz="14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3152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Fundamentos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033272"/>
            <a:ext cx="8229600" cy="27782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5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Inteligência Artificial (IA) é uma ferramenta poderosa para otimizar a comunicação e a criação de conteúdo.
</a:t>
            </a:r>
            <a:endParaRPr lang="en-US" sz="1500" dirty="0"/>
          </a:p>
          <a:p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5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um cenário com sobrecarga de informação, clareza e impacto são essenciais.
</a:t>
            </a:r>
            <a:endParaRPr lang="en-US" sz="1500" dirty="0"/>
          </a:p>
          <a:p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5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IA atua como uma aliada, elevando a qualidade e a eficácia de e-mails, apresentações, traduções e mensagens personalizadas.
</a:t>
            </a:r>
            <a:endParaRPr lang="en-US" sz="1500" dirty="0"/>
          </a:p>
          <a:p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5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Este módulo foca em como a IA pode transformar a forma de se comunicar.
</a:t>
            </a:r>
            <a:endParaRPr lang="en-US" sz="1500" dirty="0"/>
          </a:p>
          <a:p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5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Exploraremos técnicas e ferramentas para gerar conteúdo eficaz, envolvente e adaptado ao público, garantindo que as mensagens sejam compreendidas e lembradas.</a:t>
            </a:r>
            <a:endParaRPr lang="en-US" sz="15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3152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Aprimoramento da Escrita com IA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78992"/>
            <a:ext cx="3977640" cy="128016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133856"/>
            <a:ext cx="54864" cy="11704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170432"/>
            <a:ext cx="3657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Ferramentas de IA para escrita utilizam Modelos de Linguagem Grande (LLMs), treinados em vasta quantidade de textos. Elas analisam seu conteúdo e oferecem sugestões para melhorar clareza, estilo e impacto.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709160" y="1078992"/>
            <a:ext cx="3977640" cy="128016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709160" y="1133856"/>
            <a:ext cx="54864" cy="11704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9" name="Text 7"/>
          <p:cNvSpPr/>
          <p:nvPr/>
        </p:nvSpPr>
        <p:spPr>
          <a:xfrm>
            <a:off x="4892040" y="117043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LLMs atuam em diversas frentes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892040" y="1463040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2542032"/>
            <a:ext cx="3977640" cy="128016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7200" y="2596896"/>
            <a:ext cx="54864" cy="11704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263347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Clareza e Concisão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40080" y="2926080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Identificam frases prolixas e sugerem formas mais diretas.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709160" y="2542032"/>
            <a:ext cx="3977640" cy="128016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709160" y="2596896"/>
            <a:ext cx="54864" cy="11704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7" name="Text 15"/>
          <p:cNvSpPr/>
          <p:nvPr/>
        </p:nvSpPr>
        <p:spPr>
          <a:xfrm>
            <a:off x="4892040" y="263347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Gramática e Ortografia Avançada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892040" y="2926080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Corrigem problemas complexos de pontuação, concordância e uso de preposições.</a:t>
            </a:r>
            <a:endParaRPr lang="en-US" sz="13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3152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Aprimoramento da Escrita com IA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033272"/>
            <a:ext cx="8229600" cy="15590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5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Estilo e Tom: Adaptam o texto para um tom específico (formal, persuasivo) e garantem consistência estilística.
</a:t>
            </a:r>
            <a:endParaRPr lang="en-US" sz="1500" dirty="0"/>
          </a:p>
          <a:p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5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Reescrita e Paráfrase: Oferecem variações da mesma ideia para evitar plágio ou diversificar a apresentação.
</a:t>
            </a:r>
            <a:endParaRPr lang="en-US" sz="1500" dirty="0"/>
          </a:p>
          <a:p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5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Geração de Ideias: Criam rascunhos iniciais ou outlines de conteúdo a partir de um prompt.</a:t>
            </a:r>
            <a:endParaRPr lang="en-US" sz="15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3152"/>
            <a:ext cx="8229600" cy="9052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Criação de Apresentações Eficazes com IA (Parte 1)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3977640" cy="128016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380744"/>
            <a:ext cx="54864" cy="11704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417320"/>
            <a:ext cx="3657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IA simplifica o processo de criação de apresentações, desde a estrutura até o design.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709160" y="1325880"/>
            <a:ext cx="3977640" cy="128016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709160" y="1380744"/>
            <a:ext cx="54864" cy="11704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9" name="Text 7"/>
          <p:cNvSpPr/>
          <p:nvPr/>
        </p:nvSpPr>
        <p:spPr>
          <a:xfrm>
            <a:off x="4892040" y="14173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Estruturas e Tópicos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892040" y="1709928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Propõe uma sequência lógica de slides e subtópicos para um tema.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2788920"/>
            <a:ext cx="3977640" cy="128016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7200" y="2843784"/>
            <a:ext cx="54864" cy="11704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28803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Sugestão de Conteúdo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40080" y="3172968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Expande bullet points, sugere títulos e resumos impactantes.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709160" y="2788920"/>
            <a:ext cx="3977640" cy="128016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709160" y="2843784"/>
            <a:ext cx="54864" cy="11704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7" name="Text 15"/>
          <p:cNvSpPr/>
          <p:nvPr/>
        </p:nvSpPr>
        <p:spPr>
          <a:xfrm>
            <a:off x="4892040" y="28803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Auxílio Visual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892040" y="3172968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Recomenda layouts, paletas de cores, imagens e até ícones/gráficos.</a:t>
            </a:r>
            <a:endParaRPr lang="en-US" sz="13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3152"/>
            <a:ext cx="8229600" cy="9052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Criação de Apresentações Eficazes com IA (Parte 2)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3977640" cy="128016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380744"/>
            <a:ext cx="54864" cy="11704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4173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Revisão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1709928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Analisa a coesão do conteúdo, a consistência do design e a legibilidade.</a:t>
            </a:r>
            <a:endParaRPr lang="en-US" sz="13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3152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Tradução Precisa e Contextualizada (Parte 1)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78992"/>
            <a:ext cx="3977640" cy="128016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133856"/>
            <a:ext cx="54864" cy="11704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170432"/>
            <a:ext cx="3657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IAs de tradução modernas (Traducão de Máquina Neural - NMT) usam redes neurais profundas para um contexto mais natural.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709160" y="1078992"/>
            <a:ext cx="3977640" cy="128016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709160" y="1133856"/>
            <a:ext cx="54864" cy="11704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9" name="Text 7"/>
          <p:cNvSpPr/>
          <p:nvPr/>
        </p:nvSpPr>
        <p:spPr>
          <a:xfrm>
            <a:off x="4892040" y="117043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Textos e Documentos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892040" y="1463040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Traduzem mantendo a coerência e coesão.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2542032"/>
            <a:ext cx="3977640" cy="128016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7200" y="2596896"/>
            <a:ext cx="54864" cy="11704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263347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Nuances e Tom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40080" y="2926080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Adaptam a tradução para preservar o tom original.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709160" y="2542032"/>
            <a:ext cx="3977640" cy="128016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709160" y="2596896"/>
            <a:ext cx="54864" cy="11704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7" name="Text 15"/>
          <p:cNvSpPr/>
          <p:nvPr/>
        </p:nvSpPr>
        <p:spPr>
          <a:xfrm>
            <a:off x="4892040" y="263347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Termos Específicos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892040" y="2926080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Reconhecem e traduzem corretamente jargões da indústria.</a:t>
            </a:r>
            <a:endParaRPr lang="en-US" sz="13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3152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Tradução Precisa e Contextualizada (Parte 2)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78992"/>
            <a:ext cx="3977640" cy="128016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133856"/>
            <a:ext cx="54864" cy="11704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17043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 Real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1463040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Permitem tradução simultânea de voz ou texto em conversas.</a:t>
            </a:r>
            <a:endParaRPr lang="en-US" sz="13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3152"/>
            <a:ext cx="8229600" cy="9052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Personalização de Mensagens para Diferentes Públicos (Parte 1)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3977640" cy="128016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380744"/>
            <a:ext cx="54864" cy="11704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417320"/>
            <a:ext cx="3657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IA permite adaptar a mensagem ao público-alvo, gerando mensagens personalizadas em escala. Ela analisa dados sobre o público (demografia, interesses, histórico) e customiza o conteúdo.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709160" y="1325880"/>
            <a:ext cx="3977640" cy="128016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709160" y="1380744"/>
            <a:ext cx="54864" cy="11704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9" name="Text 7"/>
          <p:cNvSpPr/>
          <p:nvPr/>
        </p:nvSpPr>
        <p:spPr>
          <a:xfrm>
            <a:off x="4892040" y="14173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Segmentação Avançada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892040" y="1709928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 padrões complexos em dados de clientes para segmentação precisa.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2788920"/>
            <a:ext cx="3977640" cy="128016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7200" y="2843784"/>
            <a:ext cx="54864" cy="11704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28803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Conteúdo Dinâmico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40080" y="3172968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Automatiza a criação de diferentes versões do mesmo conteúdo (e-mails, posts) para cada segmento.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709160" y="2788920"/>
            <a:ext cx="3977640" cy="128016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709160" y="2843784"/>
            <a:ext cx="54864" cy="11704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7" name="Text 15"/>
          <p:cNvSpPr/>
          <p:nvPr/>
        </p:nvSpPr>
        <p:spPr>
          <a:xfrm>
            <a:off x="4892040" y="28803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Recomendação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892040" y="3172968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Sugere produtos, artigos ou informações relevantes com base no comportamento do usuário.</a:t>
            </a:r>
            <a:endParaRPr lang="en-US" sz="13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3152"/>
            <a:ext cx="8229600" cy="9052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Personalização de Mensagens para Diferentes Públicos (Parte 2)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3977640" cy="128016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380744"/>
            <a:ext cx="54864" cy="11704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4173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Adaptação de Linguagem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1709928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Reescreve mensagens para se adequar ao perfil do público (formal, informal, técnico).</a:t>
            </a:r>
            <a:endParaRPr lang="en-US" sz="13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3152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Aprimoramento de E-mail com IA (Parte 1)</a:t>
            </a:r>
            <a:endParaRPr lang="en-US" sz="2400" dirty="0"/>
          </a:p>
        </p:txBody>
      </p:sp>
      <p:graphicFrame>
        <p:nvGraphicFramePr>
          <p:cNvPr id="4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87552"/>
          <a:ext cx="8229600" cy="3881628"/>
        </p:xfrm>
        <a:graphic>
          <a:graphicData uri="http://schemas.openxmlformats.org/drawingml/2006/table">
            <a:tbl>
              <a:tblPr/>
              <a:tblGrid>
                <a:gridCol w="2743200"/>
                <a:gridCol w="2743200"/>
                <a:gridCol w="274320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Aspecto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Texto Original (Humano)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Sugestão da IA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b="1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Informal, pouco profissional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Profissional, empático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b="1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Objetivo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Informar o problema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Informar, pedir desculpas e prover solução (nova data)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b="1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Concisão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Prolixo e com redundâncias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Direto e objetivo, com informações essenciais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b="1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Direção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Sem direcionamento claro para o cliente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Sugere passos claros e novas informações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b="1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Clareza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"Por um tempo" pouco específico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"Estimamos uma nova data de entrega em [Data]" fornece clareza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3152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Aprimoramento de E-mail com IA (Parte 2)</a:t>
            </a:r>
            <a:endParaRPr lang="en-US" sz="2400" dirty="0"/>
          </a:p>
        </p:txBody>
      </p:sp>
      <p:graphicFrame>
        <p:nvGraphicFramePr>
          <p:cNvPr id="4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87552"/>
          <a:ext cx="8229600" cy="3200857"/>
        </p:xfrm>
        <a:graphic>
          <a:graphicData uri="http://schemas.openxmlformats.org/drawingml/2006/table">
            <a:tbl>
              <a:tblPr/>
              <a:tblGrid>
                <a:gridCol w="2743200"/>
                <a:gridCol w="2743200"/>
                <a:gridCol w="274320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Aspecto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Texto Original (Humano)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Sugestão da IA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b="1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Impacto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Causa frustração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Diminui atrito, oferece resolução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b="1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Resultado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"Gostaria de informar que, infelizmente, houve um problema com a logística e, portanto, a entrega do produto que você encomendou será atrasada por um tempo. Pedimos desculpas por isso."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"Lamentamos informar que a entrega do seu pedido sofrerá um pequeno atraso devido a imprevistos logísticos. Estamos trabalhando para resolver a situação e estimamos uma nova data de entrega em [Data]. Pedimos desculpas pelo inconveniente."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3152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Criação de Estrutura de Apresentação (Parte 1)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78992"/>
            <a:ext cx="3977640" cy="128016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133856"/>
            <a:ext cx="54864" cy="11704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17043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Cenário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1463040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Apresentação sobre "Tendências de Marketing Digital para 2024".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709160" y="1078992"/>
            <a:ext cx="3977640" cy="128016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09160" y="1133856"/>
            <a:ext cx="54864" cy="11704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0" name="Text 8"/>
          <p:cNvSpPr/>
          <p:nvPr/>
        </p:nvSpPr>
        <p:spPr>
          <a:xfrm>
            <a:off x="4892040" y="117043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para IA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892040" y="1463040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"Crie um roteiro para uma apresentação de 15 minutos sobre as principais tendências de marketing digital para 2024, focando em IA e personalização."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2542032"/>
            <a:ext cx="3977640" cy="128016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" y="2596896"/>
            <a:ext cx="54864" cy="11704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263347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Saída da IA (exemplo de estrutura)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0080" y="2926080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709160" y="2542032"/>
            <a:ext cx="3977640" cy="128016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09160" y="2596896"/>
            <a:ext cx="54864" cy="11704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8" name="Text 16"/>
          <p:cNvSpPr/>
          <p:nvPr/>
        </p:nvSpPr>
        <p:spPr>
          <a:xfrm>
            <a:off x="4892040" y="263347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892040" y="2926080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Título: Desvendando o Futuro: Tendências de Marketing Digital 2024</a:t>
            </a:r>
            <a:endParaRPr lang="en-US" sz="13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3152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Criação de Estrutura de Apresentação (Parte 2)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78992"/>
            <a:ext cx="3977640" cy="128016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133856"/>
            <a:ext cx="54864" cy="11704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17043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2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1463040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Introdução: Por que o Marketing Digital está em constante evolução?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709160" y="1078992"/>
            <a:ext cx="3977640" cy="128016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09160" y="1133856"/>
            <a:ext cx="54864" cy="11704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0" name="Text 8"/>
          <p:cNvSpPr/>
          <p:nvPr/>
        </p:nvSpPr>
        <p:spPr>
          <a:xfrm>
            <a:off x="4892040" y="117043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3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892040" y="1463040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Tendência 1: A Revolução da IA no Marketing</a:t>
            </a:r>
            <a:endParaRPr lang="en-US" sz="13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3152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Criação de Estrutura de Apresentação (Parte 1)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78992"/>
            <a:ext cx="3977640" cy="128016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133856"/>
            <a:ext cx="54864" cy="11704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17043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Subtópico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1463040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 Preditiva e Comportamental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709160" y="1078992"/>
            <a:ext cx="3977640" cy="128016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09160" y="1133856"/>
            <a:ext cx="54864" cy="11704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0" name="Text 8"/>
          <p:cNvSpPr/>
          <p:nvPr/>
        </p:nvSpPr>
        <p:spPr>
          <a:xfrm>
            <a:off x="4892040" y="117043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Subtópico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892040" y="1463040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Automação de Conteúdo e Campanhas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2542032"/>
            <a:ext cx="3977640" cy="128016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" y="2596896"/>
            <a:ext cx="54864" cy="11704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263347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4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0080" y="2926080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Tendência 2: Hiperpersonalização em Escala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709160" y="2542032"/>
            <a:ext cx="3977640" cy="128016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09160" y="2596896"/>
            <a:ext cx="54864" cy="11704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8" name="Text 16"/>
          <p:cNvSpPr/>
          <p:nvPr/>
        </p:nvSpPr>
        <p:spPr>
          <a:xfrm>
            <a:off x="4892040" y="263347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Subtópico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892040" y="2926080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Experiências do Cliente 1:1</a:t>
            </a:r>
            <a:endParaRPr lang="en-US" sz="13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3152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Criação de Estrutura de Apresentação (Parte 2)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78992"/>
            <a:ext cx="3977640" cy="128016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133856"/>
            <a:ext cx="54864" cy="11704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17043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Subtópico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1463040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Segmentação Dinâmica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709160" y="1078992"/>
            <a:ext cx="3977640" cy="128016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09160" y="1133856"/>
            <a:ext cx="54864" cy="11704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0" name="Text 8"/>
          <p:cNvSpPr/>
          <p:nvPr/>
        </p:nvSpPr>
        <p:spPr>
          <a:xfrm>
            <a:off x="4892040" y="117043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Final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892040" y="1463040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Perguntas e Respostas / Conclusão.</a:t>
            </a:r>
            <a:endParaRPr lang="en-US" sz="13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3152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Tradução de Relatório Técnico (Parte 1)</a:t>
            </a:r>
            <a:endParaRPr lang="en-US" sz="2400" dirty="0"/>
          </a:p>
        </p:txBody>
      </p:sp>
      <p:graphicFrame>
        <p:nvGraphicFramePr>
          <p:cNvPr id="5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87552"/>
          <a:ext cx="8229600" cy="3881628"/>
        </p:xfrm>
        <a:graphic>
          <a:graphicData uri="http://schemas.openxmlformats.org/drawingml/2006/table">
            <a:tbl>
              <a:tblPr/>
              <a:tblGrid>
                <a:gridCol w="2743200"/>
                <a:gridCol w="2743200"/>
                <a:gridCol w="274320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Aspecto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Texto Original (Português)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Tradução IA (Inglês)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b="1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Idioma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Português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Inglês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b="1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Conceitos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"Arquitetura de microserviços", "latência das transações"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"Microservices architecture", "transaction latency"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b="1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Precisão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Mantém os termos técnicos e o sentido original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Mantém os termos técnicos e o sentido original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b="1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Fluidez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Profissional e direto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Profissional e direto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b="1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Coerência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Mensagem técnica clara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Mensagem técnica clara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3152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Tradução de Relatório Técnico (Parte 2)</a:t>
            </a:r>
            <a:endParaRPr lang="en-US" sz="2400" dirty="0"/>
          </a:p>
        </p:txBody>
      </p:sp>
      <p:graphicFrame>
        <p:nvGraphicFramePr>
          <p:cNvPr id="5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87552"/>
          <a:ext cx="8229600" cy="2159813"/>
        </p:xfrm>
        <a:graphic>
          <a:graphicData uri="http://schemas.openxmlformats.org/drawingml/2006/table">
            <a:tbl>
              <a:tblPr/>
              <a:tblGrid>
                <a:gridCol w="2743200"/>
                <a:gridCol w="2743200"/>
                <a:gridCol w="274320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Aspecto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Texto Original (Português)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Tradução IA (Inglês)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b="1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Resultado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"A implementação da nova arquitetura de microserviços otimizou o desempenho do sistema em 30%, resultando em uma redução significativa na latência das transações."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"The implementation of the new microservices architecture optimized system performance by 30%, resulting in a significant reduction in transaction latency."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3152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Personalização de E-mail de Marketing (Parte 1)</a:t>
            </a:r>
            <a:endParaRPr lang="en-US" sz="2400" dirty="0"/>
          </a:p>
        </p:txBody>
      </p:sp>
      <p:graphicFrame>
        <p:nvGraphicFramePr>
          <p:cNvPr id="5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87552"/>
          <a:ext cx="8229600" cy="3881628"/>
        </p:xfrm>
        <a:graphic>
          <a:graphicData uri="http://schemas.openxmlformats.org/drawingml/2006/table">
            <a:tbl>
              <a:tblPr/>
              <a:tblGrid>
                <a:gridCol w="2743200"/>
                <a:gridCol w="2743200"/>
                <a:gridCol w="274320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Aspecto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 Cliente A (Tecnologia, 25-35 anos)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 Cliente B (Moda Feminina, 45-55 anos)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b="1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Público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Jovem, interesse em tecnologia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Mulher adulta, interesse em moda feminina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b="1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Entusiasmado, informal, uso de emojis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Elegante, respeitoso, uso sutil de emoji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b="1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Foco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Gadgets, smartphones, dispositivos inteligentes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Coleção exclusiva, peças elegantes, moda primavera-verão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b="1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Chamada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Impulsiona a ser o "primeiro a conferir" novidades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Convida a "visitar loja online" para explorar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3152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Personalização de E-mail de Marketing (Parte 2)</a:t>
            </a:r>
            <a:endParaRPr lang="en-US" sz="2400" dirty="0"/>
          </a:p>
        </p:txBody>
      </p:sp>
      <p:graphicFrame>
        <p:nvGraphicFramePr>
          <p:cNvPr id="5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87552"/>
          <a:ext cx="8229600" cy="2622499"/>
        </p:xfrm>
        <a:graphic>
          <a:graphicData uri="http://schemas.openxmlformats.org/drawingml/2006/table">
            <a:tbl>
              <a:tblPr/>
              <a:tblGrid>
                <a:gridCol w="2743200"/>
                <a:gridCol w="2743200"/>
                <a:gridCol w="274320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Aspecto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 Cliente A (Tecnologia, 25-35 anos)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 Cliente B (Moda Feminina, 45-55 anos)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b="1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Mensagem IA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"Olá [Nome do Cliente A], as novidades em gadgets estão de cair o queixo! Descubra nossos lançamentos de smartphones e dispositivos inteligentes que vão revolucionar sua rotina. Clique aqui e seja o primeiro a conferir!"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"Prezada Sra. [Sobrenome do Cliente B], as tendências da moda primavera-verão chegaram! Explore nossa coleção exclusiva de peças elegantes e atemporais, pensadas para você brilhar. Visite nossa loja online!"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3152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Aplicações reais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78992"/>
            <a:ext cx="3977640" cy="128016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133856"/>
            <a:ext cx="54864" cy="11704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17043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 um momento e reflita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1463040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a automação de tarefas de comunicação pela IA pode liberar seu tempo para focar em aspectos mais estratégicos e criativos do seu trabalho?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709160" y="1078992"/>
            <a:ext cx="3977640" cy="128016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09160" y="1133856"/>
            <a:ext cx="54864" cy="11704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0" name="Text 8"/>
          <p:cNvSpPr/>
          <p:nvPr/>
        </p:nvSpPr>
        <p:spPr>
          <a:xfrm>
            <a:off x="4892040" y="1170432"/>
            <a:ext cx="3657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IA se torna um assistente inteligente para o profissional moderno, otimizando as seguintes áreas: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2542032"/>
            <a:ext cx="3977640" cy="128016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7200" y="2596896"/>
            <a:ext cx="54864" cy="11704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263347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Redação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40080" y="2926080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Melhora textos para e-mails, relatórios, propostas, artigos e posts de blog, elevando a clareza e persuasão.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709160" y="2542032"/>
            <a:ext cx="3977640" cy="128016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709160" y="2596896"/>
            <a:ext cx="54864" cy="11704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7" name="Text 15"/>
          <p:cNvSpPr/>
          <p:nvPr/>
        </p:nvSpPr>
        <p:spPr>
          <a:xfrm>
            <a:off x="4892040" y="263347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e Vendas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892040" y="2926080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Cria campanhas mais eficientes, personaliza mensagens e aumenta o engajamento do cliente.</a:t>
            </a:r>
            <a:endParaRPr lang="en-US" sz="130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3152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Aplicações reais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033272"/>
            <a:ext cx="8229600" cy="15590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5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Treinamento e Educação: Gera materiais didáticos, resumos e questões, adaptando o conteúdo ao nível de aprendizado dos alunos.
</a:t>
            </a:r>
            <a:endParaRPr lang="en-US" sz="1500" dirty="0"/>
          </a:p>
          <a:p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5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Comunicação Interna: Ajuda a redigir comunicados claros e objetivos, garantindo que a informação seja bem recebida por toda a equipe.
</a:t>
            </a:r>
            <a:endParaRPr lang="en-US" sz="1500" dirty="0"/>
          </a:p>
          <a:p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5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Atendimento ao Cliente: Automatiza respostas, cria scripts de atendimento e personaliza interações, melhorando a experiência do usuário.</a:t>
            </a:r>
            <a:endParaRPr lang="en-US" sz="150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3152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Desafios e cuidados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78992"/>
            <a:ext cx="3977640" cy="128016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133856"/>
            <a:ext cx="54864" cy="11704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170432"/>
            <a:ext cx="3657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Ao usar a IA na comunicação, é importante estar ciente de alguns pontos: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709160" y="1078992"/>
            <a:ext cx="3977640" cy="128016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709160" y="1133856"/>
            <a:ext cx="54864" cy="11704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9" name="Text 7"/>
          <p:cNvSpPr/>
          <p:nvPr/>
        </p:nvSpPr>
        <p:spPr>
          <a:xfrm>
            <a:off x="4892040" y="117043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Dependência Excessiva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892040" y="1463040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IA é uma ferramenta; a revisão humana é indispensável para garantir a precisão e o tom.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2542032"/>
            <a:ext cx="3977640" cy="128016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7200" y="2596896"/>
            <a:ext cx="54864" cy="11704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263347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Viés nos Dados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40080" y="2926080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Modelos de IA podem reproduzir vieses presentes nos dados de treinamento, resultando em conteúdo tendencioso. A curadoria é vital.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709160" y="2542032"/>
            <a:ext cx="3977640" cy="128016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709160" y="2596896"/>
            <a:ext cx="54864" cy="11704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7" name="Text 15"/>
          <p:cNvSpPr/>
          <p:nvPr/>
        </p:nvSpPr>
        <p:spPr>
          <a:xfrm>
            <a:off x="4892040" y="263347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Falta de Originalidade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892040" y="2926080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excesso, o conteúdo gerado por IA pode soar genérico ou repetitivo, perdendo a voz única.</a:t>
            </a:r>
            <a:endParaRPr lang="en-US" sz="1300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3152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Desafios e cuidados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033272"/>
            <a:ext cx="8229600" cy="17876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5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Segurança e Privacidade: Atenção ao compartilhar informações sensíveis com ferramentas de IA, especialmente as baseadas na nuvem.
</a:t>
            </a:r>
            <a:endParaRPr lang="en-US" sz="1500" dirty="0"/>
          </a:p>
          <a:p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5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 e Nuance: A IA ainda pode falhar em captar o contexto cultural e as nuances mais sutis, que apenas a inteligência humana percebe.
</a:t>
            </a:r>
            <a:endParaRPr lang="en-US" sz="1500" dirty="0"/>
          </a:p>
          <a:p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5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mitigar esses desafios, é crucial sempre avaliar criticamente a saída da IA e usá-la como um ponto de partida, não como um substituto.</a:t>
            </a:r>
            <a:endParaRPr lang="en-US" sz="1500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3152"/>
            <a:ext cx="8229600" cy="9052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Técnicas para Gerar Conteúdo Mais Eficaz e Envolvente (Parte 1)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280160"/>
            <a:ext cx="3977640" cy="4998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maximizar o uso da IA, siga estas técnicas: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709160" y="1280160"/>
            <a:ext cx="3977640" cy="4998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Definição Clara de Objetivo e Público: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709160" y="1834896"/>
            <a:ext cx="3977640" cy="24734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5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de usar a IA, tenha clareza sobre o que você deseja alcançar (informar, persuadir, educar).
</a:t>
            </a:r>
            <a:endParaRPr lang="en-US" sz="1500" dirty="0"/>
          </a:p>
          <a:p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5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Entenda seu público: nível de conhecimento, interesses, demografia e persona.
</a:t>
            </a:r>
            <a:endParaRPr lang="en-US" sz="1500" dirty="0"/>
          </a:p>
          <a:p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5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 clareza será o seu prompt inicial, direcionando a geração de conteúdo pela IA.</a:t>
            </a:r>
            <a:endParaRPr lang="en-US" sz="1500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3152"/>
            <a:ext cx="8229600" cy="9052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Técnicas para Gerar Conteúdo Mais Eficaz e Envolvente (Parte 2)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280160"/>
            <a:ext cx="8229600" cy="2865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Iteração e Refinamento com a IA: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621536"/>
            <a:ext cx="8229600" cy="16352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5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 IA como um assistente interativo.
</a:t>
            </a:r>
            <a:endParaRPr lang="en-US" sz="1500" dirty="0"/>
          </a:p>
          <a:p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5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Gere um rascunho: Peça a primeira versão à IA.
</a:t>
            </a:r>
            <a:endParaRPr lang="en-US" sz="1500" dirty="0"/>
          </a:p>
          <a:p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5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Revise e edite: Identifique melhorias e forneça feedback específico.
</a:t>
            </a:r>
            <a:endParaRPr lang="en-US" sz="1500" dirty="0"/>
          </a:p>
          <a:p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5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Comunique-se com a IA: Peça para "deixar o parágrafo mais conciso" ou "mudar o tom".
</a:t>
            </a:r>
            <a:endParaRPr lang="en-US" sz="1500" dirty="0"/>
          </a:p>
          <a:p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5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Itere: O processo de feedback contínuo leva a resultados superiores.</a:t>
            </a:r>
            <a:endParaRPr lang="en-US" sz="1500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3152"/>
            <a:ext cx="8229600" cy="9052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Técnicas para Gerar Conteúdo Mais Eficaz e Envolvente (Parte 1)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280160"/>
            <a:ext cx="8229600" cy="2865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Foco em Clareza e Impacto: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621536"/>
            <a:ext cx="8229600" cy="18638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5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IA ajuda, mas a responsabilidade final é sua.
</a:t>
            </a:r>
            <a:endParaRPr lang="en-US" sz="1500" dirty="0"/>
          </a:p>
          <a:p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5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Utilize linguagem simples e direta, evitando jargões desnecessários.
</a:t>
            </a:r>
            <a:endParaRPr lang="en-US" sz="1500" dirty="0"/>
          </a:p>
          <a:p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5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Preserve a estrutura lógica do conteúdo para um fluxo natural de ideias.
</a:t>
            </a:r>
            <a:endParaRPr lang="en-US" sz="1500" dirty="0"/>
          </a:p>
          <a:p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5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Inclua Chamadas para Ação (CTAs) claras, se o objetivo for uma reação do leitor.
</a:t>
            </a:r>
            <a:endParaRPr lang="en-US" sz="1500" dirty="0"/>
          </a:p>
          <a:p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5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apresentações, use elementos visuais relevantes e impactantes.</a:t>
            </a:r>
            <a:endParaRPr lang="en-US" sz="1500" dirty="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3152"/>
            <a:ext cx="8229600" cy="9052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Técnicas para Gerar Conteúdo Mais Eficaz e Envolvente (Parte 2)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280160"/>
            <a:ext cx="8229600" cy="2865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Monitoramento e Análise (Para Conteúdo em Larga Escala):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621536"/>
            <a:ext cx="8229600" cy="13685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5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personalização e campanhas, é essencial medir o desempenho.
</a:t>
            </a:r>
            <a:endParaRPr lang="en-US" sz="1500" dirty="0"/>
          </a:p>
          <a:p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5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 diferentes versões geradas pela IA (Testes A/B).
</a:t>
            </a:r>
            <a:endParaRPr lang="en-US" sz="1500" dirty="0"/>
          </a:p>
          <a:p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5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Analise métricas como taxas de abertura, cliques e engajamento.
</a:t>
            </a:r>
            <a:endParaRPr lang="en-US" sz="1500" dirty="0"/>
          </a:p>
          <a:p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5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Ajuste prompts e estratégias de IA com base nos dados, criando um ciclo de melhoria contínua.</a:t>
            </a:r>
            <a:endParaRPr lang="en-US" sz="1500" dirty="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RESUMO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8156448" cy="94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3: IA para Otimização da Comunicação e Conteúdo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1722120"/>
            <a:ext cx="8156448" cy="31470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Neste módulo, exploramos como a IA revoluciona a comunicação e a criação de conteúdo, agindo como um poderoso assistente.
</a:t>
            </a:r>
            <a:endParaRPr lang="en-US" sz="1400" dirty="0"/>
          </a:p>
          <a:p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Aprendemos a usar ferramentas de IA para aprimorar textos, construir apresentações eficazes, realizar traduções precisas e personalizar mensagens em escala.
</a:t>
            </a:r>
            <a:endParaRPr lang="en-US" sz="1400" dirty="0"/>
          </a:p>
          <a:p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prática com a IA, aliada ao feedback humano, é fundamental para resultados excepcionais.
</a:t>
            </a:r>
            <a:endParaRPr lang="en-US" sz="1400" dirty="0"/>
          </a:p>
          <a:p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IA é um aliado estratégico para otimizar textos, apresentações e traduções, liberando tempo para foco estratégico.
</a:t>
            </a:r>
            <a:endParaRPr lang="en-US" sz="1400" dirty="0"/>
          </a:p>
          <a:p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Ferramentas de IA permitem criar conteúdo mais claro, conciso e com tom adequado para diversos públicos.
</a:t>
            </a:r>
            <a:endParaRPr lang="en-US" sz="1400" dirty="0"/>
          </a:p>
          <a:p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personalização em escala é viabilizada pela capacidade da IA de analisar dados e adaptar mensagens.
</a:t>
            </a:r>
            <a:endParaRPr lang="en-US" sz="1400" dirty="0"/>
          </a:p>
          <a:p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IA amplia as capacidades humanas, atuando como um assistente inteligente, mas não substitui a criatividade ou o senso crítico.
</a:t>
            </a:r>
            <a:endParaRPr lang="en-US" sz="1400" dirty="0"/>
          </a:p>
          <a:p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experimentação, prompts claros e iteração são cruciais para obter os melhores resultados da IA na comunicação.</a:t>
            </a:r>
            <a:endParaRPr lang="en-US" sz="1400" dirty="0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1463040" cy="347472"/>
          </a:xfrm>
          <a:prstGeom prst="roundRect">
            <a:avLst>
              <a:gd name="adj" fmla="val 21053"/>
            </a:avLst>
          </a:prstGeom>
          <a:solidFill>
            <a:srgbClr val="F5A62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4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229600" cy="119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4: IA no Apoio à Tomada de Decisão e Análise Preliminar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21590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2488184"/>
            <a:ext cx="8229600" cy="10789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Analisar como a IA aprimora a análise de dados e a tomada de decisão.
</a:t>
            </a:r>
            <a:endParaRPr lang="en-US" sz="1400" dirty="0"/>
          </a:p>
          <a:p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Explorar ferramentas acessíveis de IA para identificar padrões e prever resultados.
</a:t>
            </a:r>
            <a:endParaRPr lang="en-US" sz="1400" dirty="0"/>
          </a:p>
          <a:p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Aplicar insights gerados por IA para decisões estratégicas e otimização.</a:t>
            </a:r>
            <a:endParaRPr lang="en-US" sz="1400" dirty="0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3152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Fundamentos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033272"/>
            <a:ext cx="8229600" cy="25115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5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Inteligência Artificial atua como um co-piloto para a tomada de decisão. Ela processa volumes de informações. Identifica padrões ocultos e prevê cenários.
</a:t>
            </a:r>
            <a:endParaRPr lang="en-US" sz="1500" dirty="0"/>
          </a:p>
          <a:p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5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objetivo não é substituir o julgamento humano, mas amplificar a capacidade de análise. A IA apresenta insights de forma clara, mesmo para não especialistas.
</a:t>
            </a:r>
            <a:endParaRPr lang="en-US" sz="1500" dirty="0"/>
          </a:p>
          <a:p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5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eficácia da IA depende da qualidade e quantidade dos dados. Dados brutos podem ser numéricos, textuais, imagens ou áudios.
</a:t>
            </a:r>
            <a:endParaRPr lang="en-US" sz="1500" dirty="0"/>
          </a:p>
          <a:p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5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 ruins (incompletos, inconsistentes) levam a insights ruins. É crucial saber onde os dados estão e quais são os mais importantes.</a:t>
            </a:r>
            <a:endParaRPr lang="en-US" sz="1500" dirty="0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3152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funciona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033272"/>
            <a:ext cx="8229600" cy="7970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5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análise de dados assistida por IA aprimora a análise humana. Ela automatiza tarefas repetitivas e identifica padrões que seriam difíceis de perceber.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1967484"/>
            <a:ext cx="8229600" cy="2865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Identificação de Tendências: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2308860"/>
            <a:ext cx="8229600" cy="6065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5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IA analisa séries históricas de dados.
</a:t>
            </a:r>
            <a:endParaRPr lang="en-US" sz="1500" dirty="0"/>
          </a:p>
          <a:p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5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 aponta padrões de crescimento, declínio ou sazonalidade.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7200" y="3052572"/>
            <a:ext cx="8229600" cy="2865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Detecção de Anomalias (Outliers):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3393948"/>
            <a:ext cx="8229600" cy="6065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5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IA identifica dados que se desviam do padrão esperado.
</a:t>
            </a:r>
            <a:endParaRPr lang="en-US" sz="1500" dirty="0"/>
          </a:p>
          <a:p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5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Pode indicar problemas ou oportunidades.</a:t>
            </a:r>
            <a:endParaRPr lang="en-US" sz="1500" dirty="0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3152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funciona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033272"/>
            <a:ext cx="3977640" cy="2865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Visão Geral Rápida: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374648"/>
            <a:ext cx="3977640" cy="1292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5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Ferramentas de IA geram dashboards e relatórios interativos.
</a:t>
            </a:r>
            <a:endParaRPr lang="en-US" sz="1500" dirty="0"/>
          </a:p>
          <a:p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5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Apresentam informações relevantes em formatos gráficos e fáceis de entender.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709160" y="1033272"/>
            <a:ext cx="3977640" cy="2865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Previsão de Resultados Básicos: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709160" y="1374648"/>
            <a:ext cx="3977640" cy="17876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5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IA projeta o futuro próximo com base em dados históricos.
</a:t>
            </a:r>
            <a:endParaRPr lang="en-US" sz="1500" dirty="0"/>
          </a:p>
          <a:p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5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Modelos aprendem com o passado para fazer "apostas" educadas.
</a:t>
            </a:r>
            <a:endParaRPr lang="en-US" sz="1500" dirty="0"/>
          </a:p>
          <a:p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5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precisão depende da qualidade dos dados e da estabilidade do cenário.</a:t>
            </a:r>
            <a:endParaRPr lang="en-US" sz="1500" dirty="0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3152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 prático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033272"/>
            <a:ext cx="8229600" cy="22448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5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sistema de IA analisa dados de vendas dos últimos 5 anos. Ele identifica um aumento significativo em novembro e dezembro para produtos específicos.
</a:t>
            </a:r>
            <a:endParaRPr lang="en-US" sz="1500" dirty="0"/>
          </a:p>
          <a:p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5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Este insight permite planejar estoques e campanhas de marketing para o próximo ano. Demonstra a IA otimizando o planejamento com base em tendências.
</a:t>
            </a:r>
            <a:endParaRPr lang="en-US" sz="1500" dirty="0"/>
          </a:p>
          <a:p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5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dados financeiros, um gasto muito acima da média em uma categoria é sinalizado pela IA. Pode ser um erro, fraude ou uma nova oportunidade.</a:t>
            </a:r>
            <a:endParaRPr lang="en-US" sz="1500" dirty="0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3152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Aplicações reais (Parte 1)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78992"/>
            <a:ext cx="3977640" cy="128016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133856"/>
            <a:ext cx="54864" cy="11704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17043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IA gera insights para decisões estratégicas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1463040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709160" y="1078992"/>
            <a:ext cx="3977640" cy="128016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09160" y="1133856"/>
            <a:ext cx="54864" cy="11704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0" name="Text 8"/>
          <p:cNvSpPr/>
          <p:nvPr/>
        </p:nvSpPr>
        <p:spPr>
          <a:xfrm>
            <a:off x="4892040" y="117043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Diagnóstico de Causa Raiz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892040" y="1463040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IA aponta as prováveis causas de problemas.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2542032"/>
            <a:ext cx="3977640" cy="128016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" y="2596896"/>
            <a:ext cx="54864" cy="11704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263347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Segmentação de Clientes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0080" y="2926080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Agrupa clientes com características similares para marketing.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709160" y="2542032"/>
            <a:ext cx="3977640" cy="128016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09160" y="2596896"/>
            <a:ext cx="54864" cy="11704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8" name="Text 16"/>
          <p:cNvSpPr/>
          <p:nvPr/>
        </p:nvSpPr>
        <p:spPr>
          <a:xfrm>
            <a:off x="4892040" y="263347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Otimização de Processos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892040" y="2926080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 gargalos e sugere melhorias em fluxos de trabalho.</a:t>
            </a:r>
            <a:endParaRPr lang="en-US" sz="1300" dirty="0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3152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Aplicações reais (Parte 2)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78992"/>
            <a:ext cx="3977640" cy="128016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133856"/>
            <a:ext cx="54864" cy="11704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17043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Identificação de Oportunidades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1463040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Sinaliza novos nichos ou produtos em potencial.</a:t>
            </a:r>
            <a:endParaRPr lang="en-US" sz="1300" dirty="0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3152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Aplicações reais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78992"/>
            <a:ext cx="3977640" cy="128016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133856"/>
            <a:ext cx="54864" cy="11704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17043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Exemplos de Previsão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1463040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709160" y="1078992"/>
            <a:ext cx="3977640" cy="128016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09160" y="1133856"/>
            <a:ext cx="54864" cy="11704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0" name="Text 8"/>
          <p:cNvSpPr/>
          <p:nvPr/>
        </p:nvSpPr>
        <p:spPr>
          <a:xfrm>
            <a:off x="4892040" y="117043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Previsão de vendas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892040" y="1463040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 vendas futuras para gestão de estoque.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2542032"/>
            <a:ext cx="3977640" cy="128016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" y="2596896"/>
            <a:ext cx="54864" cy="11704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263347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Demanda por serviços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0080" y="2926080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Otimiza a distribuição para empresas de saneamento.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709160" y="2542032"/>
            <a:ext cx="3977640" cy="128016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09160" y="2596896"/>
            <a:ext cx="54864" cy="11704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8" name="Text 16"/>
          <p:cNvSpPr/>
          <p:nvPr/>
        </p:nvSpPr>
        <p:spPr>
          <a:xfrm>
            <a:off x="4892040" y="263347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Adesão a cursos/eventos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892040" y="2926080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Prevê taxas de inscrição em instituições de ensino.</a:t>
            </a:r>
            <a:endParaRPr lang="en-US" sz="1300" dirty="0"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3152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Modelos / Tipos</a:t>
            </a:r>
            <a:endParaRPr lang="en-US" sz="2400" dirty="0"/>
          </a:p>
        </p:txBody>
      </p:sp>
      <p:graphicFrame>
        <p:nvGraphicFramePr>
          <p:cNvPr id="7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87552"/>
          <a:ext cx="8229600" cy="3881628"/>
        </p:xfrm>
        <a:graphic>
          <a:graphicData uri="http://schemas.openxmlformats.org/drawingml/2006/table">
            <a:tbl>
              <a:tblPr/>
              <a:tblGrid>
                <a:gridCol w="1645920"/>
                <a:gridCol w="1645920"/>
                <a:gridCol w="1645920"/>
                <a:gridCol w="1645920"/>
                <a:gridCol w="164592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Critério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Planilhas Inteligentes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Plataformas BI com IA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Sistemas CRM/ERP com IA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Ferramentas Marketing Digital IA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b="1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Função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Gráficos automáticos, previsões básicas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Dashboards interativos, PLN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Previsão de vendas, sugestões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Análise comp. usuário, otimização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b="1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Recursos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Geração automática de gráficos, "Ideias"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Perguntas em linguagem natural, insights automáticos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Probabilidade fechamento negócio, análise sentimento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Identificação canais valiosos, segmentação automática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b="1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Ferramenta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Excel (recursos de IA), Google Sheets (Add-ons)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Power BI, Tableau, Qlik Sense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Salesforce (Einstein AI), SAP (Leonardo AI)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Google Analytics, Mailchimp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b="1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Exemplo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Função "Análise Rápida" sugere gráficos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Perguntar "vendas por produto" gera gráfico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"Cliente X se beneficiaria de produto Y"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Prever usuários com maior prob. de conversão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3152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Desafios e cuidados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033272"/>
            <a:ext cx="8229600" cy="32735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5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 um momento e reflita: Como você poderia começar a aplicar a identificação de tendências ou anomalias em seus próprios dados de trabalho hoje, mesmo sem uma ferramenta de IA
</a:t>
            </a:r>
            <a:endParaRPr lang="en-US" sz="1500" dirty="0"/>
          </a:p>
          <a:p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5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dedicada?
</a:t>
            </a:r>
            <a:endParaRPr lang="en-US" sz="1500" dirty="0"/>
          </a:p>
          <a:p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5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qualidade dos dados é um fator crítico. Dados ruins ou incompletos podem levar a insights distorcidos.
</a:t>
            </a:r>
            <a:endParaRPr lang="en-US" sz="1500" dirty="0"/>
          </a:p>
          <a:p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5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IA é uma ferramenta; o julgamento humano é sempre essencial. As previsões são estimativas, não certezas absolutas.
</a:t>
            </a:r>
            <a:endParaRPr lang="en-US" sz="1500" dirty="0"/>
          </a:p>
          <a:p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5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dependência excessiva da IA pode ofuscar a intuição e experiência humana. É importante equilibrar a tecnologia com o conhecimento do domínio.
</a:t>
            </a:r>
            <a:endParaRPr lang="en-US" sz="1500" dirty="0"/>
          </a:p>
          <a:p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5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Viés nos dados pode levar a decisões injustas ou ineficazes. É crucial considerar a origem e representatividade dos dados.</a:t>
            </a:r>
            <a:endParaRPr lang="en-US" sz="1500" dirty="0"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RESUMO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8156448" cy="94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4: IA no Apoio à Tomada de Decisão e Análise Preliminar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1722120"/>
            <a:ext cx="8156448" cy="31470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Inteligência Artificial atua como um potente assistente na tomada de decisão e análise preliminar, processando grandes volumes de dados para identificar tendências,
</a:t>
            </a:r>
            <a:endParaRPr lang="en-US" sz="1400" dirty="0"/>
          </a:p>
          <a:p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anomalias e gerar previsões.
</a:t>
            </a:r>
            <a:endParaRPr lang="en-US" sz="1400" dirty="0"/>
          </a:p>
          <a:p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Ferramentas acessíveis permitem que mesmo profissionais não técnicos obtenham insights valiosos, otimizando processos e aprimorando estratégias com base em dados.
</a:t>
            </a:r>
            <a:endParaRPr lang="en-US" sz="1400" dirty="0"/>
          </a:p>
          <a:p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uso eficaz da IA requer dados de qualidade e um equilíbrio com o julgamento humano.
</a:t>
            </a:r>
            <a:endParaRPr lang="en-US" sz="1400" dirty="0"/>
          </a:p>
          <a:p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IA aprimora a análise de dados, agindo como um co-piloto para decisões informadas.
</a:t>
            </a:r>
            <a:endParaRPr lang="en-US" sz="1400" dirty="0"/>
          </a:p>
          <a:p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 de qualidade são a base para insights precisos e eficazes da IA.
</a:t>
            </a:r>
            <a:endParaRPr lang="en-US" sz="1400" dirty="0"/>
          </a:p>
          <a:p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IA identifica tendências, anomalias e oferece previsões para melhor planejamento.
</a:t>
            </a:r>
            <a:endParaRPr lang="en-US" sz="1400" dirty="0"/>
          </a:p>
          <a:p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Insights estratégicos para diagnóstico, segmentação e otimização são gerados pela IA.
</a:t>
            </a:r>
            <a:endParaRPr lang="en-US" sz="1400" dirty="0"/>
          </a:p>
          <a:p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Ferramentas de IA são acessíveis e intuitivas para profissionais não técnicos.</a:t>
            </a:r>
            <a:endParaRPr lang="en-US" sz="1400" dirty="0"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7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1463040" cy="347472"/>
          </a:xfrm>
          <a:prstGeom prst="roundRect">
            <a:avLst>
              <a:gd name="adj" fmla="val 21053"/>
            </a:avLst>
          </a:prstGeom>
          <a:solidFill>
            <a:srgbClr val="F5A62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5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229600" cy="119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5: Ética, Segurança e o Futuro da IA no Trabalho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21590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2488184"/>
            <a:ext cx="8229600" cy="10789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Entender as implicações éticas e os riscos de segurança da IA.
</a:t>
            </a:r>
            <a:endParaRPr lang="en-US" sz="1400" dirty="0"/>
          </a:p>
          <a:p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Reconhecer o impacto da IA na redefinição de funções profissionais.
</a:t>
            </a:r>
            <a:endParaRPr lang="en-US" sz="1400" dirty="0"/>
          </a:p>
          <a:p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Desenvolver uma visão estratégica para colaborar de forma consciente e responsável com a IA.</a:t>
            </a:r>
            <a:endParaRPr lang="en-US" sz="1400" dirty="0"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8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3152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Implicações Éticas do Uso da IA (Parte 1)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033272"/>
            <a:ext cx="8229600" cy="2816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5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Inteligência Artificial redefine como vivemos e trabalhamos. Ir além da funcionalidade e focar na ética, segurança e futuro é essencial.
</a:t>
            </a:r>
            <a:endParaRPr lang="en-US" sz="1500" dirty="0"/>
          </a:p>
          <a:p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5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Este módulo equipa profissionais para navegar no cenário da IA de modo consciente e estratégico.
</a:t>
            </a:r>
            <a:endParaRPr lang="en-US" sz="1500" dirty="0"/>
          </a:p>
          <a:p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5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ética na IA guia o desenvolvimento e a aplicação de sistemas. À medida que a IA se torna autônoma, novas questões complexas surgem.
</a:t>
            </a:r>
            <a:endParaRPr lang="en-US" sz="1500" dirty="0"/>
          </a:p>
          <a:p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5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Vieses e Discriminação
</a:t>
            </a:r>
            <a:endParaRPr lang="en-US" sz="1500" dirty="0"/>
          </a:p>
          <a:p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5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 de IA podem perpetuar vieses sociais presentes nos dados de treinamento.
</a:t>
            </a:r>
            <a:endParaRPr lang="en-US" sz="1500" dirty="0"/>
          </a:p>
          <a:p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5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Decisões discriminatórias podem surgir se os dados refletem preconceitos (racismo, sexismo).</a:t>
            </a:r>
            <a:endParaRPr lang="en-US" sz="1500" dirty="0"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9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3152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Implicações Éticas do Uso da IA (Parte 2)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033272"/>
            <a:ext cx="8229600" cy="2865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Exemplos: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374648"/>
            <a:ext cx="8229600" cy="8351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5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Contratação: IA que prioriza um gênero por histórico de dados.
</a:t>
            </a:r>
            <a:endParaRPr lang="en-US" sz="1500" dirty="0"/>
          </a:p>
          <a:p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5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Crédito: Negação de crédito a minorias, reproduzindo desigualdades históricas.</a:t>
            </a:r>
            <a:endParaRPr lang="en-US" sz="1500" dirty="0"/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0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3152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Implicações Éticas do Uso da IA (Parte 3)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033272"/>
            <a:ext cx="8229600" cy="2865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Mitigação: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374648"/>
            <a:ext cx="8229600" cy="16352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5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Curadoria de dados e auditorias algorítmicas regulares.
</a:t>
            </a:r>
            <a:endParaRPr lang="en-US" sz="1500" dirty="0"/>
          </a:p>
          <a:p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5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Busca por datasets diversos e representativos.
</a:t>
            </a:r>
            <a:endParaRPr lang="en-US" sz="1500" dirty="0"/>
          </a:p>
          <a:p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5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Desenvolvimento de IA explicável (XAI).
</a:t>
            </a:r>
            <a:endParaRPr lang="en-US" sz="1500" dirty="0"/>
          </a:p>
          <a:p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5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Transparência e Explicabilidade
</a:t>
            </a:r>
            <a:endParaRPr lang="en-US" sz="1500" dirty="0"/>
          </a:p>
          <a:p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5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Entender como a IA decide é crucial para confiança e responsabilidade.</a:t>
            </a:r>
            <a:endParaRPr lang="en-US" sz="1500" dirty="0"/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1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3152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Implicações Éticas do Uso da IA (Parte 1)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033272"/>
            <a:ext cx="3977640" cy="7970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5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 complexos, como redes neurais, são "caixas pretas" difíceis de interpretar.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709160" y="1033272"/>
            <a:ext cx="3977640" cy="2865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Exemplos: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709160" y="1374648"/>
            <a:ext cx="3977640" cy="15209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5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Diagnóstico Médico: Ausência de explicação dificulta a justificativa do médico ao paciente.
</a:t>
            </a:r>
            <a:endParaRPr lang="en-US" sz="1500" dirty="0"/>
          </a:p>
          <a:p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5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Decisões Judiciais: Falta de clareza impede questionamento das previsões de reincidência.</a:t>
            </a:r>
            <a:endParaRPr lang="en-US" sz="1500" dirty="0"/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2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3152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Implicações Éticas do Uso da IA (Parte 2)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033272"/>
            <a:ext cx="8229600" cy="2865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Importância: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374648"/>
            <a:ext cx="8229600" cy="16352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5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Permite identificação de vieses e depuração de erros.
</a:t>
            </a:r>
            <a:endParaRPr lang="en-US" sz="1500" dirty="0"/>
          </a:p>
          <a:p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5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Aumenta a aceitação e confiança dos usuários.
</a:t>
            </a:r>
            <a:endParaRPr lang="en-US" sz="1500" dirty="0"/>
          </a:p>
          <a:p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5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Autonomia e Responsabilidade
</a:t>
            </a:r>
            <a:endParaRPr lang="en-US" sz="1500" dirty="0"/>
          </a:p>
          <a:p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5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crescente autonomia da IA levanta a questão da atribuição de responsabilidade.
</a:t>
            </a:r>
            <a:endParaRPr lang="en-US" sz="1500" dirty="0"/>
          </a:p>
          <a:p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5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Quem é culpado se as ações da IA causam danos?</a:t>
            </a:r>
            <a:endParaRPr lang="en-US" sz="1500" dirty="0"/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3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3152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Implicações Éticas do Uso da IA (Parte 3)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033272"/>
            <a:ext cx="8229600" cy="2865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Exemplos: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374648"/>
            <a:ext cx="8229600" cy="15590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5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Veículos Autônomos: Acidentes geram complexidade na atribuição de responsabilidade.
</a:t>
            </a:r>
            <a:endParaRPr lang="en-US" sz="1500" dirty="0"/>
          </a:p>
          <a:p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5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Assistentes de Batalha: IA autônoma em contextos militares questiona a responsabilidade por decisões de vida ou morte.
</a:t>
            </a:r>
            <a:endParaRPr lang="en-US" sz="1500" dirty="0"/>
          </a:p>
          <a:p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5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Estabelecer marcos regulatórios claros e éticos para responsabilidade da IA.</a:t>
            </a:r>
            <a:endParaRPr lang="en-US" sz="1500" dirty="0"/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4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3152"/>
            <a:ext cx="8229600" cy="9052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Importância da Segurança de Dados ao Utilizar Ferramentas de IA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280160"/>
            <a:ext cx="3977640" cy="27020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5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IA exige acesso a grandes volumes de dados, incluindo informações sensíveis. Isso cria novos vetores de ameaça e amplia a superfície de ataque.
</a:t>
            </a:r>
            <a:endParaRPr lang="en-US" sz="1500" dirty="0"/>
          </a:p>
          <a:p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5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Vulnerabilidades de Dados em Sistemas de IA
</a:t>
            </a:r>
            <a:endParaRPr lang="en-US" sz="1500" dirty="0"/>
          </a:p>
          <a:p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5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 de IA são alvos de ataques que comprometem a integridade ou confidencialidade dos dados.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709160" y="1280160"/>
            <a:ext cx="3977640" cy="2865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Exemplos de ataques:</a:t>
            </a:r>
            <a:endParaRPr lang="en-US" sz="1400" dirty="0"/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5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3152"/>
            <a:ext cx="8229600" cy="9052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Importância da Segurança de Dados ao Utilizar Ferramentas de IA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280160"/>
            <a:ext cx="8229600" cy="2054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5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Envenenamento de Dados (Data Poisoning): Dados corrompidos no treinamento geram decisões erradas ou manipulam resultados.
</a:t>
            </a:r>
            <a:endParaRPr lang="en-US" sz="1500" dirty="0"/>
          </a:p>
          <a:p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5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Evasão (Adversarial Attacks): Pequenas alterações em inputs enganam a IA (ex: sinal de "PARE" identificado como "VELOCIDADE LIMITADA").
</a:t>
            </a:r>
            <a:endParaRPr lang="en-US" sz="1500" dirty="0"/>
          </a:p>
          <a:p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5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Extração de Dados Sensíveis (Model Inversion Attacks): Infeccionar dados de treinamento apenas observando as saídas do modelo.
</a:t>
            </a:r>
            <a:endParaRPr lang="en-US" sz="1500" dirty="0"/>
          </a:p>
          <a:p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5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sofisticação da IA oferece novas ferramentas para cibercriminosos, como deepfakes e contorno de segurança.</a:t>
            </a:r>
            <a:endParaRPr lang="en-US" sz="1500" dirty="0"/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6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3152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Boas Práticas de Segurança de Dados com IA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78992"/>
            <a:ext cx="3977640" cy="128016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133856"/>
            <a:ext cx="54864" cy="11704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17043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Criptografia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1463040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Proteger dados em repouso e em trânsito com criptografia forte.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709160" y="1078992"/>
            <a:ext cx="3977640" cy="128016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09160" y="1133856"/>
            <a:ext cx="54864" cy="11704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0" name="Text 8"/>
          <p:cNvSpPr/>
          <p:nvPr/>
        </p:nvSpPr>
        <p:spPr>
          <a:xfrm>
            <a:off x="4892040" y="117043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Controle de Acesso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892040" y="1463040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Adotar o privilégio mínimo, garantindo acesso apenas essencial.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2542032"/>
            <a:ext cx="3977640" cy="128016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" y="2596896"/>
            <a:ext cx="54864" cy="11704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263347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Anonimização e Pseudonimização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0080" y="2926080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Remover ou substituir identificadores antes do uso de dados sensíveis na IA.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709160" y="2542032"/>
            <a:ext cx="3977640" cy="128016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09160" y="2596896"/>
            <a:ext cx="54864" cy="11704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8" name="Text 16"/>
          <p:cNvSpPr/>
          <p:nvPr/>
        </p:nvSpPr>
        <p:spPr>
          <a:xfrm>
            <a:off x="4892040" y="263347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Auditorias de Segurança Regulares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892040" y="2926080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Testar sistemas de IA para identificar vulnerabilidades.</a:t>
            </a:r>
            <a:endParaRPr lang="en-US" sz="1300" dirty="0"/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7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3152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Boas Práticas de Segurança de Dados com IA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033272"/>
            <a:ext cx="8229600" cy="2054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5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Monitoramento Constante: Detectar anomalias que possam indicar ataques ou falhas.
</a:t>
            </a:r>
            <a:endParaRPr lang="en-US" sz="1500" dirty="0"/>
          </a:p>
          <a:p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5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Conformidade Regulatória: Alinhar o uso da IA com LGPD/GDPR para proteger dados pessoais.
</a:t>
            </a:r>
            <a:endParaRPr lang="en-US" sz="1500" dirty="0"/>
          </a:p>
          <a:p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5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 um momento e reflita: Como sua empresa ou área de atuação pode ser impactada por um viés em um sistema de IA?
</a:t>
            </a:r>
            <a:endParaRPr lang="en-US" sz="1500" dirty="0"/>
          </a:p>
          <a:p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5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tipo de dados seriam mais críticos para proteger em um cenário com IA? Pense em exemplos concretos.</a:t>
            </a:r>
            <a:endParaRPr lang="en-US" sz="1500" dirty="0"/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8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3152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Automação e Redefinição de Papéis (Parte 1)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78992"/>
            <a:ext cx="3977640" cy="128016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133856"/>
            <a:ext cx="54864" cy="11704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170432"/>
            <a:ext cx="3657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IA automatizará tarefas repetitivas, liberando humanos para atividades estratégicas e criativas.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709160" y="1078992"/>
            <a:ext cx="3977640" cy="128016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709160" y="1133856"/>
            <a:ext cx="54864" cy="11704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9" name="Text 7"/>
          <p:cNvSpPr/>
          <p:nvPr/>
        </p:nvSpPr>
        <p:spPr>
          <a:xfrm>
            <a:off x="4892040" y="117043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892040" y="1463040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2542032"/>
            <a:ext cx="3977640" cy="128016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7200" y="2596896"/>
            <a:ext cx="54864" cy="11704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263347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Serviço ao Cliente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40080" y="2926080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Chatbots lidam com perguntas frequentes, liberando humanos para casos complexos.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709160" y="2542032"/>
            <a:ext cx="3977640" cy="128016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709160" y="2596896"/>
            <a:ext cx="54864" cy="11704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7" name="Text 15"/>
          <p:cNvSpPr/>
          <p:nvPr/>
        </p:nvSpPr>
        <p:spPr>
          <a:xfrm>
            <a:off x="4892040" y="263347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Contabilidade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892040" y="2926080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automatiza reconciliação, faturas, permitindo foco em análise e consultoria.</a:t>
            </a:r>
            <a:endParaRPr lang="en-US" sz="1300" dirty="0"/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9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3152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Automação e Redefinição de Papéis (Parte 2)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78992"/>
            <a:ext cx="3977640" cy="128016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133856"/>
            <a:ext cx="54864" cy="11704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170432"/>
            <a:ext cx="3657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Necessidade de requalificação e desenvolvimento de novas habilidades para colaboração com IA.</a:t>
            </a:r>
            <a:endParaRPr lang="en-US" sz="1400" dirty="0"/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0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3152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Colaborativa (Human-in-the-Loop)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033272"/>
            <a:ext cx="3977640" cy="10637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5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futuro não é a substituição, mas a colaboração humano-IA.
</a:t>
            </a:r>
            <a:endParaRPr lang="en-US" sz="1500" dirty="0"/>
          </a:p>
          <a:p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5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IA aprimora e suporta decisões humanas.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709160" y="1033272"/>
            <a:ext cx="3977640" cy="2865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Exemplos: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709160" y="1374648"/>
            <a:ext cx="3977640" cy="7970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5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Gráfico: IA gera rascunhos, designers refinam com criatividade.</a:t>
            </a:r>
            <a:endParaRPr lang="en-US" sz="1500" dirty="0"/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1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3152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Colaborativa (Human-in-the-Loop)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033272"/>
            <a:ext cx="3977640" cy="7970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5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Medicina: IA sugere diagnósticos, mas a decisão final é do especialista humano.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709160" y="1033272"/>
            <a:ext cx="3977640" cy="2865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Benefício: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709160" y="1374648"/>
            <a:ext cx="3977640" cy="7970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5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Otimiza produtividade, alavanca capacidade de processamento da IA e intuição humana.</a:t>
            </a:r>
            <a:endParaRPr lang="en-US" sz="1500" dirty="0"/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2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3152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Habilidades Essenciais para o Futuro (Parte 1)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78992"/>
            <a:ext cx="3977640" cy="128016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133856"/>
            <a:ext cx="54864" cy="11704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17043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Pensamento Crítico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1463040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Analisar saídas da IA, questionar recomendações e identificar vieses.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709160" y="1078992"/>
            <a:ext cx="3977640" cy="128016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09160" y="1133856"/>
            <a:ext cx="54864" cy="11704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0" name="Text 8"/>
          <p:cNvSpPr/>
          <p:nvPr/>
        </p:nvSpPr>
        <p:spPr>
          <a:xfrm>
            <a:off x="4892040" y="117043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Criatividade e Inovação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892040" y="1463040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Capacidade de pensar "fora da caixa" como diferencial humano.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2542032"/>
            <a:ext cx="3977640" cy="128016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" y="2596896"/>
            <a:ext cx="54864" cy="11704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263347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Emocional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0080" y="2926080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Empatia, comunicação e negociação em funções de liderança.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709160" y="2542032"/>
            <a:ext cx="3977640" cy="128016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09160" y="2596896"/>
            <a:ext cx="54864" cy="11704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8" name="Text 16"/>
          <p:cNvSpPr/>
          <p:nvPr/>
        </p:nvSpPr>
        <p:spPr>
          <a:xfrm>
            <a:off x="4892040" y="263347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Alfabetização de Dados (Data Literacy)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892040" y="2926080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Entender e interpretar dados para interagir com a IA.</a:t>
            </a:r>
            <a:endParaRPr lang="en-US" sz="1300" dirty="0"/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3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3152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Habilidades Essenciais para o Futuro (Parte 2)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78992"/>
            <a:ext cx="3977640" cy="128016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133856"/>
            <a:ext cx="54864" cy="11704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17043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Adaptabilidade e Aprendizagem Contínua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1463040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Abertura para aprender novas ferramentas e habilidades.</a:t>
            </a:r>
            <a:endParaRPr lang="en-US" sz="1300" dirty="0"/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4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3152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Impacto na Sociedade e Governança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033272"/>
            <a:ext cx="8229600" cy="10637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5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Regulamentação: Necessidade de novas leis e diretrizes éticas (ex: UE) para IA.
</a:t>
            </a:r>
            <a:endParaRPr lang="en-US" sz="1500" dirty="0"/>
          </a:p>
          <a:p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5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Transformação Social: A IA influenciará educação e saúde, exigindo políticas públicas justas.</a:t>
            </a:r>
            <a:endParaRPr lang="en-US" sz="1500" dirty="0"/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5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RESUMO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8156448" cy="94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5: Ética, Segurança e o Futuro da IA no Trabalho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1722120"/>
            <a:ext cx="8156448" cy="31470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Este módulo explorou a ética, segurança e o futuro da IA no trabalho, destacando a necessidade de abordar vieses, transparência e responsabilidade.
</a:t>
            </a:r>
            <a:endParaRPr lang="en-US" sz="1400" dirty="0"/>
          </a:p>
          <a:p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Discutimos a importância da segurança de dados e as melhores práticas para mitigar riscos em sistemas de IA.
</a:t>
            </a:r>
            <a:endParaRPr lang="en-US" sz="1400" dirty="0"/>
          </a:p>
          <a:p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 a continuação da automação, a colaboração humano-IA emerge como o modelo predominante, exigindo o desenvolvimento de novas habilidades essenciais para profissionais e
</a:t>
            </a:r>
            <a:endParaRPr lang="en-US" sz="1400" dirty="0"/>
          </a:p>
          <a:p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governança mais robusta da tecnologia.
</a:t>
            </a:r>
            <a:endParaRPr lang="en-US" sz="1400" dirty="0"/>
          </a:p>
          <a:p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Ética é fundamental: Vieses, falta de transparência e responsabilidade são desafios críticos da IA.
</a:t>
            </a:r>
            <a:endParaRPr lang="en-US" sz="1400" dirty="0"/>
          </a:p>
          <a:p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Segurança de Dados é Inegociável: Proteja dados em IA contra ataques de envenenamento e evasão com boas práticas.
</a:t>
            </a:r>
            <a:endParaRPr lang="en-US" sz="1400" dirty="0"/>
          </a:p>
          <a:p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Colaboração Humano-IA: O trabalho será focado em aprimoramento e interação entre humanos e IA.
</a:t>
            </a:r>
            <a:endParaRPr lang="en-US" sz="1400" dirty="0"/>
          </a:p>
          <a:p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Desenvolva Novas Habilidades: Pensamento crítico, criatividade e alfabetização de dados são cruciais para o futuro.
</a:t>
            </a:r>
            <a:endParaRPr lang="en-US" sz="1400" dirty="0"/>
          </a:p>
          <a:p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Seja um Agente de Mudança: Profissionais com conhecimento em IA podem liderar a integração ética e segura da tecnologia.</a:t>
            </a:r>
            <a:endParaRPr lang="en-US" sz="1400" dirty="0"/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6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1463040" cy="347472"/>
          </a:xfrm>
          <a:prstGeom prst="roundRect">
            <a:avLst>
              <a:gd name="adj" fmla="val 21053"/>
            </a:avLst>
          </a:prstGeom>
          <a:solidFill>
            <a:srgbClr val="F5A62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6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229600" cy="690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6: Criando sua Jornada Pessoal com IA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16510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980184"/>
            <a:ext cx="8229600" cy="8656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Integrar a IA estrategicamente no fluxo de trabalho individual.
</a:t>
            </a:r>
            <a:endParaRPr lang="en-US" sz="1400" dirty="0"/>
          </a:p>
          <a:p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Identificar ferramentas relevantes e estabelecer um plano de ação.
</a:t>
            </a:r>
            <a:endParaRPr lang="en-US" sz="1400" dirty="0"/>
          </a:p>
          <a:p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Desenvolver uma mentalidade de aprendizado contínuo em IA.</a:t>
            </a:r>
            <a:endParaRPr lang="en-US" sz="1400" dirty="0"/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7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3152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funciona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033272"/>
            <a:ext cx="8229600" cy="1292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5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Inteligência Artificial remodela o modo de trabalho, agindo como multiplicador de capacidade. Compreender essa transformação em nível individual é chave para um plano eficaz.
</a:t>
            </a:r>
            <a:endParaRPr lang="en-US" sz="1500" dirty="0"/>
          </a:p>
          <a:p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5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IA impacta o trabalho individual através de três pilares principais, transformando atividades e resultados.</a:t>
            </a:r>
            <a:endParaRPr lang="en-US" sz="1500" dirty="0"/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8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3152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Aplicações reais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033272"/>
            <a:ext cx="3977640" cy="2865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Automação de Tarefas Repetitivas: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374648"/>
            <a:ext cx="3977640" cy="20162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5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IA otimiza tarefas rotineiras e demoradas.
</a:t>
            </a:r>
            <a:endParaRPr lang="en-US" sz="1500" dirty="0"/>
          </a:p>
          <a:p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5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Libera tempo para foco em estratégias, criatividade e interações humanas.
</a:t>
            </a:r>
            <a:endParaRPr lang="en-US" sz="1500" dirty="0"/>
          </a:p>
          <a:p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5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Ferramentas de PLN, visão computacional e Machine Learning são aplicadas.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709160" y="1033272"/>
            <a:ext cx="3977640" cy="4998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Potencialização da Análise de Dados e Tomada de Decisão: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709160" y="1588008"/>
            <a:ext cx="3977640" cy="5684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5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Capacidade superior de processar grandes volumes de dados.</a:t>
            </a:r>
            <a:endParaRPr lang="en-US" sz="1500" dirty="0"/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9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3152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Aplicações reais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033272"/>
            <a:ext cx="3977640" cy="10637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5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Fornece insights profundos e rápidos.
</a:t>
            </a:r>
            <a:endParaRPr lang="en-US" sz="1500" dirty="0"/>
          </a:p>
          <a:p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5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Ajuda na tomada de decisões mais assertivas.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709160" y="1033272"/>
            <a:ext cx="3977640" cy="2865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Suporte à Criatividade e Inovação: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709160" y="1374648"/>
            <a:ext cx="3977640" cy="17876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5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atua como "copiloto" criativo.
</a:t>
            </a:r>
            <a:endParaRPr lang="en-US" sz="1500" dirty="0"/>
          </a:p>
          <a:p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5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Ferramentas generativas (texto, imagem, código) aceleram o processo criativo.
</a:t>
            </a:r>
            <a:endParaRPr lang="en-US" sz="1500" dirty="0"/>
          </a:p>
          <a:p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5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 novas possibilidades e aprimora ideias existentes.</a:t>
            </a:r>
            <a:endParaRPr lang="en-US" sz="1500" dirty="0"/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0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3152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 prático</a:t>
            </a:r>
            <a:endParaRPr lang="en-US" sz="2400" dirty="0"/>
          </a:p>
        </p:txBody>
      </p:sp>
      <p:graphicFrame>
        <p:nvGraphicFramePr>
          <p:cNvPr id="10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87552"/>
          <a:ext cx="8229600" cy="3881628"/>
        </p:xfrm>
        <a:graphic>
          <a:graphicData uri="http://schemas.openxmlformats.org/drawingml/2006/table">
            <a:tbl>
              <a:tblPr/>
              <a:tblGrid>
                <a:gridCol w="2743200"/>
                <a:gridCol w="2743200"/>
                <a:gridCol w="274320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Dimensão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Antes da IA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 IA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b="1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Educação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Professor transcreve discussões de fóruns manualmente.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Professor usa PLN para analisar fóruns, identificar tópicos e sumarizar sentimentos, economizando horas.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b="1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Marketing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Gerente analisa planilhas de vendas manualmente.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Gerente usa IA para processar dados de vendas, mídias sociais e feedback, revelando padrões e previsões em minutos, permitindo ajustes rápidos.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b="1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Criação de Conteúdo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Empreendedor gasta horas em textos e rascunhos.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Empreendedor usa gerador de texto com IA para criar variações de anúncios e gerador de imagem para explorar conceitos visuais, servindo de ponto de partida.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1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3152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Identificando Suas Prioridades e Desafios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033272"/>
            <a:ext cx="8229600" cy="15971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5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integração da IA começa identificando prioridades e desafios pessoais. Isso requer autoavaliação sobre responsabilidades e aspirações.
</a:t>
            </a:r>
            <a:endParaRPr lang="en-US" sz="1500" dirty="0"/>
          </a:p>
          <a:p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5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exercício de autoanálise ajuda a visualizar onde a IA pode ter maior utilidade.
</a:t>
            </a:r>
            <a:endParaRPr lang="en-US" sz="1500" dirty="0"/>
          </a:p>
          <a:p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5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 suas tarefas diárias e semanais mais demoradas.
</a:t>
            </a:r>
            <a:endParaRPr lang="en-US" sz="1500" dirty="0"/>
          </a:p>
          <a:p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5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Identifique tarefas repetitivas e monótonas que gostaria de otimizar.</a:t>
            </a:r>
            <a:endParaRPr lang="en-US" sz="1500" dirty="0"/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2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3152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Identificando Suas Prioridades e Desafios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033272"/>
            <a:ext cx="8229600" cy="18257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5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Aponte seus principais desafios atuais no trabalho.
</a:t>
            </a:r>
            <a:endParaRPr lang="en-US" sz="1500" dirty="0"/>
          </a:p>
          <a:p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5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Onde você buscaria mais eficiência ou insights?
</a:t>
            </a:r>
            <a:endParaRPr lang="en-US" sz="1500" dirty="0"/>
          </a:p>
          <a:p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5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Quais são seus objetivos profissionais e como a IA pode ajudar a alcançá-los?
</a:t>
            </a:r>
            <a:endParaRPr lang="en-US" sz="1500" dirty="0"/>
          </a:p>
          <a:p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5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 um momento e reflita: Quais das suas tarefas diárias se encaixam perfeitamente para serem otimizadas por uma ferramenta de IA? Imagine o impacto de liberá-las.</a:t>
            </a:r>
            <a:endParaRPr lang="en-US" sz="1500" dirty="0"/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3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3152"/>
            <a:ext cx="8229600" cy="9052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Explorando Ferramentas de IA Relevantes (Parte 1)</a:t>
            </a:r>
            <a:endParaRPr lang="en-US" sz="2400" dirty="0"/>
          </a:p>
        </p:txBody>
      </p:sp>
      <p:graphicFrame>
        <p:nvGraphicFramePr>
          <p:cNvPr id="10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34440"/>
          <a:ext cx="8229600" cy="3634740"/>
        </p:xfrm>
        <a:graphic>
          <a:graphicData uri="http://schemas.openxmlformats.org/drawingml/2006/table">
            <a:tbl>
              <a:tblPr/>
              <a:tblGrid>
                <a:gridCol w="4114800"/>
                <a:gridCol w="411480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Critério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Ferramentas de IA para Não Técnicos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b="1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Assistentes Virtuais e Chatbots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Propósito: Geração de texto, sumarização, brainstorm, tradução, planejamento, pesquisa. Exemplos: ChatGPT, Google Gemini, Microsoft Copilot. Aplicação: Criar rascunhos de e-mails, resumir artigos, gerar ideias para projetos.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b="1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IA Generativa (Texto/Imagem/Vídeo)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Propósito: Criação de conteúdo original a partir de prompts. Exemplos: Midjourney, Stable Diffusion, DALL-E (imagens); RunwayML, Synthesia (vídeo); Copy.ai, Jasper (texto). Aplicação: Criar ilustrações, posts para redes sociais.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4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3152"/>
            <a:ext cx="8229600" cy="9052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Explorando Ferramentas de IA Relevantes (Parte 2)</a:t>
            </a:r>
            <a:endParaRPr lang="en-US" sz="2400" dirty="0"/>
          </a:p>
        </p:txBody>
      </p:sp>
      <p:graphicFrame>
        <p:nvGraphicFramePr>
          <p:cNvPr id="10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34440"/>
          <a:ext cx="8229600" cy="3634740"/>
        </p:xfrm>
        <a:graphic>
          <a:graphicData uri="http://schemas.openxmlformats.org/drawingml/2006/table">
            <a:tbl>
              <a:tblPr/>
              <a:tblGrid>
                <a:gridCol w="4114800"/>
                <a:gridCol w="411480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Critério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Ferramentas de IA para Não Técnicos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b="1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Automação e Produtividade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Propósito: Otimizar tarefas repetitivas e integrar aplicativos. Exemplos: Zapier (com integrações de IA), IFTTT, Microsoft Power Automate. Aplicação: Automatizar salvamento de anexos, criar lembretes, programar postagens.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b="1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Análise de Dados e BI (com IA)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Propósito: Extrair insights, visualizar informações, prever tendências. Exemplos: Microsoft Excel (recursos "Ideas"), Google Sheets (Smart Fill), Tableau, Power BI. Aplicação: Identificar padrões de vendas, prever demandas, analisar feedback.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5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3152"/>
            <a:ext cx="8229600" cy="9052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Explorando Ferramentas de IA Relevantes (Parte 3)</a:t>
            </a:r>
            <a:endParaRPr lang="en-US" sz="2400" dirty="0"/>
          </a:p>
        </p:txBody>
      </p:sp>
      <p:graphicFrame>
        <p:nvGraphicFramePr>
          <p:cNvPr id="10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34440"/>
          <a:ext cx="8229600" cy="1928470"/>
        </p:xfrm>
        <a:graphic>
          <a:graphicData uri="http://schemas.openxmlformats.org/drawingml/2006/table">
            <a:tbl>
              <a:tblPr/>
              <a:tblGrid>
                <a:gridCol w="4114800"/>
                <a:gridCol w="411480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Critério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Ferramentas de IA para Não Técnicos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b="1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Educação e Pesquisa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Propósito: Auxiliar no aprendizado, pesquisa e criação de materiais didáticos. Exemplos: Elicit (acadêmico), QuillBot (reformulador de texto). Aplicação: Encontrar artigos, parafrasear textos, gerar questionários.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6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3152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Explorando Ferramentas de IA Relevantes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033272"/>
            <a:ext cx="8229600" cy="2865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Escolher Suas Ferramentas: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374648"/>
            <a:ext cx="8229600" cy="16352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5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Comece com uma ou duas ferramentas que resolvam suas maiores prioridades.
</a:t>
            </a:r>
            <a:endParaRPr lang="en-US" sz="1500" dirty="0"/>
          </a:p>
          <a:p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5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Experimente versões gratuitas ou testes sem compromisso.
</a:t>
            </a:r>
            <a:endParaRPr lang="en-US" sz="1500" dirty="0"/>
          </a:p>
          <a:p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5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Priorize a usabilidade e interfaces intuitivas.
</a:t>
            </a:r>
            <a:endParaRPr lang="en-US" sz="1500" dirty="0"/>
          </a:p>
          <a:p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5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Avalie a integração com softwares que você já usa.
</a:t>
            </a:r>
            <a:endParaRPr lang="en-US" sz="1500" dirty="0"/>
          </a:p>
          <a:p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5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Busque comunidades de usuários para dicas e soluções.</a:t>
            </a:r>
            <a:endParaRPr lang="en-US" sz="1500" dirty="0"/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7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3152"/>
            <a:ext cx="8229600" cy="9052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Estabelecendo Metas de Aprendizado Contínuo (Parte 1)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3977640" cy="128016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380744"/>
            <a:ext cx="54864" cy="11704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417320"/>
            <a:ext cx="3657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cenário da IA evolui rapidamente. O aprendizado contínuo é essencial para se manter relevante e eficaz.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709160" y="1325880"/>
            <a:ext cx="3977640" cy="128016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709160" y="1380744"/>
            <a:ext cx="54864" cy="11704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9" name="Text 7"/>
          <p:cNvSpPr/>
          <p:nvPr/>
        </p:nvSpPr>
        <p:spPr>
          <a:xfrm>
            <a:off x="4892040" y="14173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Estratégias para Aprendizado Contínuo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892040" y="1709928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2788920"/>
            <a:ext cx="3977640" cy="128016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7200" y="2843784"/>
            <a:ext cx="54864" cy="11704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28803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Defina Metas SMART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40080" y="3172968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Específicas, Mensuráveis, Atingíveis, Relevantes, Temporais.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709160" y="2788920"/>
            <a:ext cx="3977640" cy="128016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709160" y="2843784"/>
            <a:ext cx="54864" cy="11704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7" name="Text 15"/>
          <p:cNvSpPr/>
          <p:nvPr/>
        </p:nvSpPr>
        <p:spPr>
          <a:xfrm>
            <a:off x="4892040" y="2880360"/>
            <a:ext cx="3657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Ex: "Dominar o ChatGPT para gerar 5 rascunhos de comunicação interna até o final do mês."</a:t>
            </a:r>
            <a:endParaRPr lang="en-US" sz="1400" dirty="0"/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8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3152"/>
            <a:ext cx="8229600" cy="9052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Estabelecendo Metas de Aprendizado Contínuo (Parte 2)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3977640" cy="128016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380744"/>
            <a:ext cx="54864" cy="11704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4173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Dedique Tempo Regularmente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1709928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Reserve blocos semanais (ex: 30 minutos a 1 hora) para explorar e aprender.</a:t>
            </a:r>
            <a:endParaRPr lang="en-US" sz="1300" dirty="0"/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9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3152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Estabelecendo Metas de Aprendizado Contínuo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78992"/>
            <a:ext cx="3977640" cy="128016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133856"/>
            <a:ext cx="54864" cy="11704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17043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Siga Fontes Confiáveis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1463040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Assine newsletters, siga especialistas e participe de fóruns de IA.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709160" y="1078992"/>
            <a:ext cx="3977640" cy="128016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09160" y="1133856"/>
            <a:ext cx="54864" cy="11704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0" name="Text 8"/>
          <p:cNvSpPr/>
          <p:nvPr/>
        </p:nvSpPr>
        <p:spPr>
          <a:xfrm>
            <a:off x="4892040" y="117043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Aproveite Recursos Educacionais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892040" y="1463040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Utilize cursos online (Coursera, Udemy), tutoriais e webinars.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2542032"/>
            <a:ext cx="3977640" cy="128016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" y="2596896"/>
            <a:ext cx="54864" cy="11704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263347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Documente Seu Progresso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0080" y="2926080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Mantenha um diário simples do que aprendeu e dos resultados.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709160" y="2542032"/>
            <a:ext cx="3977640" cy="128016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09160" y="2596896"/>
            <a:ext cx="54864" cy="11704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8" name="Text 16"/>
          <p:cNvSpPr/>
          <p:nvPr/>
        </p:nvSpPr>
        <p:spPr>
          <a:xfrm>
            <a:off x="4892040" y="263347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Compartilhe Seu Conhecimento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892040" y="2926080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Discuta com colegas para solidificar o aprendizado.</a:t>
            </a:r>
            <a:endParaRPr lang="en-US" sz="1300" dirty="0"/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0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RESUMO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8156448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6: Criando sua Jornada Pessoal com IA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1417320"/>
            <a:ext cx="8156448" cy="33268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Este módulo capacitou você a criar uma jornada pessoal com IA, identificando prioridades, explorando ferramentas relevantes e estabelecendo uma rotina de aprendizado
</a:t>
            </a:r>
            <a:endParaRPr lang="en-US" sz="1400" dirty="0"/>
          </a:p>
          <a:p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contínuo. A integração estratégica da IA potencializa habilidades e libera tempo para tarefas de maior valor.
</a:t>
            </a:r>
            <a:endParaRPr lang="en-US" sz="1400" dirty="0"/>
          </a:p>
          <a:p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IA é acessível para todos os profissionais, independente da formação técnica.
</a:t>
            </a:r>
            <a:endParaRPr lang="en-US" sz="1400" dirty="0"/>
          </a:p>
          <a:p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Comece focando nos seus desafios e tarefas para identificar as melhores aplicações da IA.
</a:t>
            </a:r>
            <a:endParaRPr lang="en-US" sz="1400" dirty="0"/>
          </a:p>
          <a:p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Há uma vasta gama de ferramentas de IA intuitivas; comece experimentando uma ou duas.
</a:t>
            </a:r>
            <a:endParaRPr lang="en-US" sz="1400" dirty="0"/>
          </a:p>
          <a:p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aprendizado contínuo é vital para se adaptar à evolução da IA.
</a:t>
            </a:r>
            <a:endParaRPr lang="en-US" sz="1400" dirty="0"/>
          </a:p>
          <a:p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IA é uma ferramenta de potencialização, não um substitutivo total do pensamento humano.</a:t>
            </a:r>
            <a:endParaRPr lang="en-US" sz="1400" dirty="0"/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8229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Obrigado!</a:t>
            </a:r>
            <a:endParaRPr lang="en-US" sz="5200" dirty="0"/>
          </a:p>
        </p:txBody>
      </p:sp>
      <p:sp>
        <p:nvSpPr>
          <p:cNvPr id="3" name="Text 1"/>
          <p:cNvSpPr/>
          <p:nvPr/>
        </p:nvSpPr>
        <p:spPr>
          <a:xfrm>
            <a:off x="914400" y="27432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Artificial na Prática: Aplicações Reais para Profissionais Não Técnicos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14400" y="36576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Continue praticando  |  Acesse os materiais complementares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111</Slides>
  <Notes>111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111</vt:i4>
      </vt:variant>
    </vt:vector>
  </HeadingPairs>
  <TitlesOfParts>
    <vt:vector size="1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  <vt:lpstr>Slide 77</vt:lpstr>
      <vt:lpstr>Slide 78</vt:lpstr>
      <vt:lpstr>Slide 79</vt:lpstr>
      <vt:lpstr>Slide 80</vt:lpstr>
      <vt:lpstr>Slide 81</vt:lpstr>
      <vt:lpstr>Slide 82</vt:lpstr>
      <vt:lpstr>Slide 83</vt:lpstr>
      <vt:lpstr>Slide 84</vt:lpstr>
      <vt:lpstr>Slide 85</vt:lpstr>
      <vt:lpstr>Slide 86</vt:lpstr>
      <vt:lpstr>Slide 87</vt:lpstr>
      <vt:lpstr>Slide 88</vt:lpstr>
      <vt:lpstr>Slide 89</vt:lpstr>
      <vt:lpstr>Slide 90</vt:lpstr>
      <vt:lpstr>Slide 91</vt:lpstr>
      <vt:lpstr>Slide 92</vt:lpstr>
      <vt:lpstr>Slide 93</vt:lpstr>
      <vt:lpstr>Slide 94</vt:lpstr>
      <vt:lpstr>Slide 95</vt:lpstr>
      <vt:lpstr>Slide 96</vt:lpstr>
      <vt:lpstr>Slide 97</vt:lpstr>
      <vt:lpstr>Slide 98</vt:lpstr>
      <vt:lpstr>Slide 99</vt:lpstr>
      <vt:lpstr>Slide 100</vt:lpstr>
      <vt:lpstr>Slide 101</vt:lpstr>
      <vt:lpstr>Slide 102</vt:lpstr>
      <vt:lpstr>Slide 103</vt:lpstr>
      <vt:lpstr>Slide 104</vt:lpstr>
      <vt:lpstr>Slide 105</vt:lpstr>
      <vt:lpstr>Slide 106</vt:lpstr>
      <vt:lpstr>Slide 107</vt:lpstr>
      <vt:lpstr>Slide 108</vt:lpstr>
      <vt:lpstr>Slide 109</vt:lpstr>
      <vt:lpstr>Slide 110</vt:lpstr>
      <vt:lpstr>Slide 111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Inteligência Artificial na Prática: Aplicações Reais para Profissionais Não Técnicos</dc:title>
  <dc:subject>Este curso foi desenhado para democratizar o acesso à Inteligência Artificial (IA), capacitando profissionais de todas as áreas a compreenderem e aplicarem suas ferramentas no cotidiano. Com foco em aplicações práticas, utilizaremos recursos acessíveis e estratégias para a tomada de decisão, dispensando a necessidade de conhecimentos prévios em programação ou áreas técnicas. Explore como a IA pode otimizar seu trabalho, impulsionar a inovação e gerar resultados tangíveis, mesmo sem ser um especialista.</dc:subject>
  <dc:creator>EduGen AI</dc:creator>
  <cp:lastModifiedBy>EduGen AI</cp:lastModifiedBy>
  <cp:revision>1</cp:revision>
  <dcterms:created xsi:type="dcterms:W3CDTF">2026-03-03T16:13:22Z</dcterms:created>
  <dcterms:modified xsi:type="dcterms:W3CDTF">2026-03-03T16:13:22Z</dcterms:modified>
</cp:coreProperties>
</file>