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gridSpacing cx="76200" cy="76200"/>
</p:viewPr>
</file>

<file path=ppt/_rels/presentation.xml.rels><?xml version="1.0" encoding="UTF-8" standalone="yes"?> 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2" Type="http://schemas.openxmlformats.org/officeDocument/2006/relationships/presProps" Target="presProps.xml"/><Relationship Id="rId83" Type="http://schemas.openxmlformats.org/officeDocument/2006/relationships/viewProps" Target="viewProps.xml"/><Relationship Id="rId84" Type="http://schemas.openxmlformats.org/officeDocument/2006/relationships/theme" Target="theme/theme1.xml"/><Relationship Id="rId8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 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263" y="0"/>
            <a:ext cx="6705432" cy="115214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5486263" y="1197864"/>
            <a:ext cx="6705432" cy="115214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" name="Shape 2"/>
          <p:cNvSpPr/>
          <p:nvPr/>
        </p:nvSpPr>
        <p:spPr>
          <a:xfrm>
            <a:off x="5486263" y="2395728"/>
            <a:ext cx="6705432" cy="115214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5" name="Shape 3"/>
          <p:cNvSpPr/>
          <p:nvPr/>
        </p:nvSpPr>
        <p:spPr>
          <a:xfrm>
            <a:off x="5486263" y="3593592"/>
            <a:ext cx="6705432" cy="115214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6" name="Shape 4"/>
          <p:cNvSpPr/>
          <p:nvPr/>
        </p:nvSpPr>
        <p:spPr>
          <a:xfrm>
            <a:off x="5486263" y="4791456"/>
            <a:ext cx="6705432" cy="115214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7" name="Shape 5"/>
          <p:cNvSpPr/>
          <p:nvPr/>
        </p:nvSpPr>
        <p:spPr>
          <a:xfrm>
            <a:off x="5486263" y="5989320"/>
            <a:ext cx="6705432" cy="115214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8" name="Shape 6"/>
          <p:cNvSpPr/>
          <p:nvPr/>
        </p:nvSpPr>
        <p:spPr>
          <a:xfrm>
            <a:off x="6339682" y="-3086100"/>
            <a:ext cx="9143771" cy="9143771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9" name="Shape 7"/>
          <p:cNvSpPr/>
          <p:nvPr/>
        </p:nvSpPr>
        <p:spPr>
          <a:xfrm>
            <a:off x="8778021" y="3771900"/>
            <a:ext cx="5486263" cy="5486263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822960"/>
            <a:ext cx="32004" cy="521208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1" name="Shape 9"/>
          <p:cNvSpPr/>
          <p:nvPr/>
        </p:nvSpPr>
        <p:spPr>
          <a:xfrm>
            <a:off x="256032" y="1005840"/>
            <a:ext cx="292608" cy="164592"/>
          </a:xfrm>
          <a:prstGeom prst="roundRect">
            <a:avLst>
              <a:gd name="adj" fmla="val 22222"/>
            </a:avLst>
          </a:prstGeom>
          <a:solidFill>
            <a:srgbClr val="4F46E5"/>
          </a:solidFill>
          <a:ln/>
        </p:spPr>
      </p:sp>
      <p:sp>
        <p:nvSpPr>
          <p:cNvPr id="12" name="Shape 10"/>
          <p:cNvSpPr/>
          <p:nvPr/>
        </p:nvSpPr>
        <p:spPr>
          <a:xfrm>
            <a:off x="256032" y="1280160"/>
            <a:ext cx="292608" cy="164592"/>
          </a:xfrm>
          <a:prstGeom prst="roundRect">
            <a:avLst>
              <a:gd name="adj" fmla="val 22222"/>
            </a:avLst>
          </a:prstGeom>
          <a:solidFill>
            <a:srgbClr val="7C3AED"/>
          </a:solidFill>
          <a:ln/>
        </p:spPr>
      </p:sp>
      <p:sp>
        <p:nvSpPr>
          <p:cNvPr id="13" name="Shape 11"/>
          <p:cNvSpPr/>
          <p:nvPr/>
        </p:nvSpPr>
        <p:spPr>
          <a:xfrm>
            <a:off x="256032" y="1554480"/>
            <a:ext cx="292608" cy="164592"/>
          </a:xfrm>
          <a:prstGeom prst="roundRect">
            <a:avLst>
              <a:gd name="adj" fmla="val 22222"/>
            </a:avLst>
          </a:prstGeom>
          <a:solidFill>
            <a:srgbClr val="0891B2"/>
          </a:solidFill>
          <a:ln/>
        </p:spPr>
      </p:sp>
      <p:sp>
        <p:nvSpPr>
          <p:cNvPr id="14" name="Shape 12"/>
          <p:cNvSpPr/>
          <p:nvPr/>
        </p:nvSpPr>
        <p:spPr>
          <a:xfrm>
            <a:off x="256032" y="1828800"/>
            <a:ext cx="292608" cy="164592"/>
          </a:xfrm>
          <a:prstGeom prst="roundRect">
            <a:avLst>
              <a:gd name="adj" fmla="val 22222"/>
            </a:avLst>
          </a:prstGeom>
          <a:solidFill>
            <a:srgbClr val="059669"/>
          </a:solidFill>
          <a:ln/>
        </p:spPr>
      </p:sp>
      <p:sp>
        <p:nvSpPr>
          <p:cNvPr id="15" name="Shape 13"/>
          <p:cNvSpPr/>
          <p:nvPr/>
        </p:nvSpPr>
        <p:spPr>
          <a:xfrm>
            <a:off x="256032" y="2103120"/>
            <a:ext cx="292608" cy="164592"/>
          </a:xfrm>
          <a:prstGeom prst="roundRect">
            <a:avLst>
              <a:gd name="adj" fmla="val 22222"/>
            </a:avLst>
          </a:prstGeom>
          <a:solidFill>
            <a:srgbClr val="D97706"/>
          </a:solidFill>
          <a:ln/>
        </p:spPr>
      </p:sp>
      <p:sp>
        <p:nvSpPr>
          <p:cNvPr id="16" name="Shape 14"/>
          <p:cNvSpPr/>
          <p:nvPr/>
        </p:nvSpPr>
        <p:spPr>
          <a:xfrm>
            <a:off x="1097280" y="1188720"/>
            <a:ext cx="3200400" cy="16459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141732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4F46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CURSO COMPLETO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97280" y="1691640"/>
            <a:ext cx="7558851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Introdução à Programação em Python</a:t>
            </a:r>
            <a:endParaRPr lang="en-US" sz="4500" dirty="0"/>
          </a:p>
        </p:txBody>
      </p:sp>
      <p:sp>
        <p:nvSpPr>
          <p:cNvPr id="19" name="Shape 17"/>
          <p:cNvSpPr/>
          <p:nvPr/>
        </p:nvSpPr>
        <p:spPr>
          <a:xfrm>
            <a:off x="1097280" y="5120640"/>
            <a:ext cx="542544" cy="7315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0" name="Shape 18"/>
          <p:cNvSpPr/>
          <p:nvPr/>
        </p:nvSpPr>
        <p:spPr>
          <a:xfrm>
            <a:off x="1630680" y="5239512"/>
            <a:ext cx="542544" cy="7315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1" name="Shape 19"/>
          <p:cNvSpPr/>
          <p:nvPr/>
        </p:nvSpPr>
        <p:spPr>
          <a:xfrm>
            <a:off x="2164080" y="5120640"/>
            <a:ext cx="542544" cy="7315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2" name="Shape 20"/>
          <p:cNvSpPr/>
          <p:nvPr/>
        </p:nvSpPr>
        <p:spPr>
          <a:xfrm>
            <a:off x="2697480" y="5239512"/>
            <a:ext cx="542544" cy="7315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3" name="Shape 21"/>
          <p:cNvSpPr/>
          <p:nvPr/>
        </p:nvSpPr>
        <p:spPr>
          <a:xfrm>
            <a:off x="3230880" y="5120640"/>
            <a:ext cx="542544" cy="7315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4" name="Shape 22"/>
          <p:cNvSpPr/>
          <p:nvPr/>
        </p:nvSpPr>
        <p:spPr>
          <a:xfrm>
            <a:off x="3764280" y="5239512"/>
            <a:ext cx="542544" cy="7315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5" name="Shape 23"/>
          <p:cNvSpPr/>
          <p:nvPr/>
        </p:nvSpPr>
        <p:spPr>
          <a:xfrm>
            <a:off x="9814255" y="3657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F46E5"/>
          </a:solidFill>
          <a:ln/>
        </p:spPr>
      </p:sp>
      <p:sp>
        <p:nvSpPr>
          <p:cNvPr id="26" name="Shape 24"/>
          <p:cNvSpPr/>
          <p:nvPr/>
        </p:nvSpPr>
        <p:spPr>
          <a:xfrm>
            <a:off x="10317175" y="118872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7C3AED"/>
          </a:solidFill>
          <a:ln/>
        </p:spPr>
      </p:sp>
      <p:sp>
        <p:nvSpPr>
          <p:cNvPr id="27" name="Shape 25"/>
          <p:cNvSpPr/>
          <p:nvPr/>
        </p:nvSpPr>
        <p:spPr>
          <a:xfrm>
            <a:off x="10820095" y="2395728"/>
            <a:ext cx="1097280" cy="1097280"/>
          </a:xfrm>
          <a:prstGeom prst="roundRect">
            <a:avLst>
              <a:gd name="adj" fmla="val 5000"/>
            </a:avLst>
          </a:prstGeom>
          <a:solidFill>
            <a:srgbClr val="0891B2"/>
          </a:solidFill>
          <a:ln/>
        </p:spPr>
      </p:sp>
      <p:sp>
        <p:nvSpPr>
          <p:cNvPr id="28" name="Shape 26"/>
          <p:cNvSpPr/>
          <p:nvPr/>
        </p:nvSpPr>
        <p:spPr>
          <a:xfrm>
            <a:off x="1097280" y="5321808"/>
            <a:ext cx="109728" cy="10972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9" name="Shape 27"/>
          <p:cNvSpPr/>
          <p:nvPr/>
        </p:nvSpPr>
        <p:spPr>
          <a:xfrm>
            <a:off x="1097280" y="5760720"/>
            <a:ext cx="2743200" cy="10973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0" name="Text 28"/>
          <p:cNvSpPr/>
          <p:nvPr/>
        </p:nvSpPr>
        <p:spPr>
          <a:xfrm>
            <a:off x="9448495" y="62636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250" kern="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maio de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4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"/>
            <a:ext cx="12191695" cy="4114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9260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4F46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 PROGRAMÁTICO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6692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Índice · 1/2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1188720"/>
            <a:ext cx="1828800" cy="2743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371600"/>
            <a:ext cx="11002975" cy="36576"/>
          </a:xfrm>
          <a:prstGeom prst="rect">
            <a:avLst/>
          </a:prstGeom>
          <a:solidFill>
            <a:srgbClr val="0F1A30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453896"/>
            <a:ext cx="5501488" cy="3657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86994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4F46E5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2448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78992" y="164592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 Essenciais de Python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0" y="1645920"/>
            <a:ext cx="53336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Compreender e aplicar a sintaxe básica do Python para escrever programas simples e legíveis. Identificar e utilizar os principais tipos de dados (inteiros, floats, strings…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" y="2619756"/>
            <a:ext cx="11094415" cy="7315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" y="272034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309524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78992" y="2496312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Controle de Fluxo e Funções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0" y="2496312"/>
            <a:ext cx="53336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Compreender e aplicar estruturas condicionais (if, elif, else) para tomar decisões lógicas no código Python. Utilizar laços de repetição (for, while) para executar blocos de…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4360" y="3470148"/>
            <a:ext cx="11094415" cy="7315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" y="3570732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0891B2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94563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78992" y="3346704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Estruturas de Dados Fundamentais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3346704"/>
            <a:ext cx="53336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Compreender as características e funcionalidades das principais estruturas de dados do Python. Aplicar operações básicas e avançadas para manipular dados em cada estrutura…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94360" y="4320540"/>
            <a:ext cx="11094415" cy="7315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23" name="Shape 21"/>
          <p:cNvSpPr/>
          <p:nvPr/>
        </p:nvSpPr>
        <p:spPr>
          <a:xfrm>
            <a:off x="594360" y="4421124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059669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47960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78992" y="4197096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Manipulação de Arquivos e Exceções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0" y="4197096"/>
            <a:ext cx="53336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Ler e escrever dados em arquivos de texto e binários, aplicando as melhores práticas. Compreender e aplicar blocos try-except-finally para tratamento robusto de erros. Desenvolver…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94360" y="5170932"/>
            <a:ext cx="11094415" cy="7315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28" name="Shape 26"/>
          <p:cNvSpPr/>
          <p:nvPr/>
        </p:nvSpPr>
        <p:spPr>
          <a:xfrm>
            <a:off x="594360" y="5271516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/>
        </p:spPr>
      </p:sp>
      <p:sp>
        <p:nvSpPr>
          <p:cNvPr id="29" name="Text 27"/>
          <p:cNvSpPr/>
          <p:nvPr/>
        </p:nvSpPr>
        <p:spPr>
          <a:xfrm>
            <a:off x="594360" y="56464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78992" y="5047488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Trabalhando com JSON e APIs Web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00800" y="5047488"/>
            <a:ext cx="53336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Compreender a estrutura e a importância do JSON para a troca de dados na web. Aprender a serializar e desserializar dados usando o módulo json do Python. Dominar a interação com…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94360" y="6021324"/>
            <a:ext cx="11094415" cy="7315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33" name="Shape 31"/>
          <p:cNvSpPr/>
          <p:nvPr/>
        </p:nvSpPr>
        <p:spPr>
          <a:xfrm>
            <a:off x="594360" y="612190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4F46E5"/>
          </a:solidFill>
          <a:ln/>
        </p:spPr>
      </p:sp>
      <p:sp>
        <p:nvSpPr>
          <p:cNvPr id="34" name="Text 32"/>
          <p:cNvSpPr/>
          <p:nvPr/>
        </p:nvSpPr>
        <p:spPr>
          <a:xfrm>
            <a:off x="594360" y="64968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078992" y="589788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Introdução à Programação Orientada a Objetos (POO)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400800" y="5897880"/>
            <a:ext cx="53336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Compreender os conceitos fundamentais da Programação Orientada a Objetos (POO), como classes, objetos, atributos e métodos. Criar e utilizar classes e objetos em Python, aplicando…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4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"/>
            <a:ext cx="12191695" cy="4114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9260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4F46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 PROGRAMÁTICO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6692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Índice · 2/2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1188720"/>
            <a:ext cx="1828800" cy="2743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371600"/>
            <a:ext cx="11002975" cy="36576"/>
          </a:xfrm>
          <a:prstGeom prst="rect">
            <a:avLst/>
          </a:prstGeom>
          <a:solidFill>
            <a:srgbClr val="0F1A30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453896"/>
            <a:ext cx="11002975" cy="3657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86994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2448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78992" y="164592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Testes, Logs e Depuração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0" y="1645920"/>
            <a:ext cx="53336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Compreender a importância fundamental de testes unitários para garantir a qualidade e a robustez do seu código Python. Aprender a implementar e configurar sistemas de log eficazes…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" y="2619756"/>
            <a:ext cx="11094415" cy="7315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" y="272034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309524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78992" y="2496312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Boas Práticas e Implantação de Projetos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0" y="2496312"/>
            <a:ext cx="53336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Aplicar boas práticas de codificação para tornar o código legível e manutenível. Organizar projetos Python com estrutura padronizada para facilitar o desenvolvimento. Preparar e…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4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021" y="0"/>
            <a:ext cx="3413675" cy="6858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7071055" y="1463040"/>
            <a:ext cx="4754880" cy="4206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4F46E5">
                    <a:alpha val="2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0728655" y="502920"/>
            <a:ext cx="118872" cy="118872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005840"/>
            <a:ext cx="45720" cy="21031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1005840"/>
            <a:ext cx="13716" cy="21031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097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0" kern="0" dirty="0">
                <a:solidFill>
                  <a:srgbClr val="4F46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MÓDULO 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05840" y="1435608"/>
            <a:ext cx="1828800" cy="2286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600200"/>
            <a:ext cx="6827349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 Essenciais de Python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1005840" y="4142232"/>
            <a:ext cx="2011680" cy="10973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425196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4F46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QUE VOCÊ VAI APRENDER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005840" y="45902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4F46E5"/>
          </a:solidFill>
          <a:ln/>
        </p:spPr>
      </p:sp>
      <p:sp>
        <p:nvSpPr>
          <p:cNvPr id="13" name="Text 11"/>
          <p:cNvSpPr/>
          <p:nvPr/>
        </p:nvSpPr>
        <p:spPr>
          <a:xfrm>
            <a:off x="1234440" y="4544568"/>
            <a:ext cx="58520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Identificar e utilizar os principais tipos de dados (inteiros, floats, strings, booleanos) e manipul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05840" y="50474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4F46E5"/>
          </a:solidFill>
          <a:ln/>
        </p:spPr>
      </p:sp>
      <p:sp>
        <p:nvSpPr>
          <p:cNvPr id="15" name="Text 13"/>
          <p:cNvSpPr/>
          <p:nvPr/>
        </p:nvSpPr>
        <p:spPr>
          <a:xfrm>
            <a:off x="1234440" y="5001768"/>
            <a:ext cx="58520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Empregar operadores aritméticos, de comparação, lógicos e de atribuição para realizar cálculos e tom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05840" y="55046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4F46E5"/>
          </a:solidFill>
          <a:ln/>
        </p:spPr>
      </p:sp>
      <p:sp>
        <p:nvSpPr>
          <p:cNvPr id="17" name="Text 15"/>
          <p:cNvSpPr/>
          <p:nvPr/>
        </p:nvSpPr>
        <p:spPr>
          <a:xfrm>
            <a:off x="1234440" y="5715000"/>
            <a:ext cx="58520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 Python é reconhecido por sua simplicidade e alta legibilidade, tornando-o ideal para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6446520"/>
            <a:ext cx="542544" cy="7315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9" name="Shape 17"/>
          <p:cNvSpPr/>
          <p:nvPr/>
        </p:nvSpPr>
        <p:spPr>
          <a:xfrm>
            <a:off x="1264920" y="6499555"/>
            <a:ext cx="542544" cy="7315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0" name="Shape 18"/>
          <p:cNvSpPr/>
          <p:nvPr/>
        </p:nvSpPr>
        <p:spPr>
          <a:xfrm>
            <a:off x="1798320" y="6446520"/>
            <a:ext cx="542544" cy="7315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1" name="Shape 19"/>
          <p:cNvSpPr/>
          <p:nvPr/>
        </p:nvSpPr>
        <p:spPr>
          <a:xfrm>
            <a:off x="2331720" y="6499555"/>
            <a:ext cx="542544" cy="7315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2" name="Shape 20"/>
          <p:cNvSpPr/>
          <p:nvPr/>
        </p:nvSpPr>
        <p:spPr>
          <a:xfrm>
            <a:off x="2865120" y="6446520"/>
            <a:ext cx="542544" cy="7315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3" name="Shape 21"/>
          <p:cNvSpPr/>
          <p:nvPr/>
        </p:nvSpPr>
        <p:spPr>
          <a:xfrm>
            <a:off x="3398520" y="6499555"/>
            <a:ext cx="542544" cy="7315"/>
          </a:xfrm>
          <a:prstGeom prst="rect">
            <a:avLst/>
          </a:prstGeom>
          <a:solidFill>
            <a:srgbClr val="4F46E5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9260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7C3AE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 Essenciais de Python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58952" y="1545336"/>
            <a:ext cx="10698480" cy="1124712"/>
          </a:xfrm>
          <a:prstGeom prst="roundRect">
            <a:avLst>
              <a:gd name="adj" fmla="val 8130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508760"/>
            <a:ext cx="10698480" cy="1124712"/>
          </a:xfrm>
          <a:prstGeom prst="roundRect">
            <a:avLst>
              <a:gd name="adj" fmla="val 8130"/>
            </a:avLst>
          </a:prstGeom>
          <a:solidFill>
            <a:srgbClr val="0F1629"/>
          </a:solidFill>
          <a:ln w="6350">
            <a:solidFill>
              <a:srgbClr val="1E2D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508760"/>
            <a:ext cx="749808" cy="1124712"/>
          </a:xfrm>
          <a:prstGeom prst="roundRect">
            <a:avLst>
              <a:gd name="adj" fmla="val 12195"/>
            </a:avLst>
          </a:prstGeom>
          <a:solidFill>
            <a:srgbClr val="4F46E5"/>
          </a:solidFill>
          <a:ln/>
        </p:spPr>
      </p:sp>
      <p:sp>
        <p:nvSpPr>
          <p:cNvPr id="9" name="Shape 7"/>
          <p:cNvSpPr/>
          <p:nvPr/>
        </p:nvSpPr>
        <p:spPr>
          <a:xfrm>
            <a:off x="1389888" y="1508760"/>
            <a:ext cx="91440" cy="112471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508760"/>
            <a:ext cx="658368" cy="1124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>
                    <a:alpha val="9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1481328" y="1733702"/>
            <a:ext cx="7315" cy="674827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2" name="Text 10"/>
          <p:cNvSpPr/>
          <p:nvPr/>
        </p:nvSpPr>
        <p:spPr>
          <a:xfrm>
            <a:off x="1591056" y="1536192"/>
            <a:ext cx="9747504" cy="10698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Identificar e utilizar os principais tipos de dados (inteiros, floats, strings, booleanos) e manipular variáveis de forma eficaz.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58952" y="2779776"/>
            <a:ext cx="10698480" cy="1124712"/>
          </a:xfrm>
          <a:prstGeom prst="roundRect">
            <a:avLst>
              <a:gd name="adj" fmla="val 8130"/>
            </a:avLst>
          </a:prstGeom>
          <a:solidFill>
            <a:srgbClr val="000000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2743200"/>
            <a:ext cx="10698480" cy="1124712"/>
          </a:xfrm>
          <a:prstGeom prst="roundRect">
            <a:avLst>
              <a:gd name="adj" fmla="val 8130"/>
            </a:avLst>
          </a:prstGeom>
          <a:solidFill>
            <a:srgbClr val="0F1629"/>
          </a:solidFill>
          <a:ln w="6350">
            <a:solidFill>
              <a:srgbClr val="1E2D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2743200"/>
            <a:ext cx="749808" cy="1124712"/>
          </a:xfrm>
          <a:prstGeom prst="roundRect">
            <a:avLst>
              <a:gd name="adj" fmla="val 12195"/>
            </a:avLst>
          </a:prstGeom>
          <a:solidFill>
            <a:srgbClr val="7C3AED"/>
          </a:solidFill>
          <a:ln/>
        </p:spPr>
      </p:sp>
      <p:sp>
        <p:nvSpPr>
          <p:cNvPr id="16" name="Shape 14"/>
          <p:cNvSpPr/>
          <p:nvPr/>
        </p:nvSpPr>
        <p:spPr>
          <a:xfrm>
            <a:off x="1389888" y="2743200"/>
            <a:ext cx="91440" cy="112471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743200"/>
            <a:ext cx="658368" cy="1124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>
                    <a:alpha val="9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1481328" y="2968142"/>
            <a:ext cx="7315" cy="674827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1591056" y="2770632"/>
            <a:ext cx="9747504" cy="10698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Empregar operadores aritméticos, de comparação, lógicos e de atribuição para realizar cálculos e tomar decisões em seu código.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0" y="6903720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1" name="Shape 19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2" name="Shape 20"/>
          <p:cNvSpPr/>
          <p:nvPr/>
        </p:nvSpPr>
        <p:spPr>
          <a:xfrm>
            <a:off x="4063898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3" name="Shape 21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4" name="Shape 22"/>
          <p:cNvSpPr/>
          <p:nvPr/>
        </p:nvSpPr>
        <p:spPr>
          <a:xfrm>
            <a:off x="8127797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5" name="Shape 23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6" name="Shape 24"/>
          <p:cNvSpPr/>
          <p:nvPr/>
        </p:nvSpPr>
        <p:spPr>
          <a:xfrm>
            <a:off x="0" y="6954012"/>
            <a:ext cx="12191695" cy="2743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 / 75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4F46E5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9260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0891B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 Essenciais de Python (Continuação)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58952" y="1545336"/>
            <a:ext cx="10698480" cy="1335024"/>
          </a:xfrm>
          <a:prstGeom prst="roundRect">
            <a:avLst>
              <a:gd name="adj" fmla="val 6849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508760"/>
            <a:ext cx="10698480" cy="1335024"/>
          </a:xfrm>
          <a:prstGeom prst="roundRect">
            <a:avLst>
              <a:gd name="adj" fmla="val 8219"/>
            </a:avLst>
          </a:prstGeom>
          <a:solidFill>
            <a:srgbClr val="0F162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508760"/>
            <a:ext cx="10698480" cy="512064"/>
          </a:xfrm>
          <a:prstGeom prst="roundRect">
            <a:avLst>
              <a:gd name="adj" fmla="val 21429"/>
            </a:avLst>
          </a:prstGeom>
          <a:solidFill>
            <a:srgbClr val="4F46E5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066544"/>
            <a:ext cx="10698480" cy="1097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2221992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2020824"/>
            <a:ext cx="10442448" cy="749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 Python é reconhecido por sua simplicidade e alta legibilidade, tornando-o ideal para iniciantes na programação.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58952" y="3044952"/>
            <a:ext cx="10698480" cy="1335024"/>
          </a:xfrm>
          <a:prstGeom prst="roundRect">
            <a:avLst>
              <a:gd name="adj" fmla="val 6849"/>
            </a:avLst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3008376"/>
            <a:ext cx="10698480" cy="1335024"/>
          </a:xfrm>
          <a:prstGeom prst="roundRect">
            <a:avLst>
              <a:gd name="adj" fmla="val 8219"/>
            </a:avLst>
          </a:prstGeom>
          <a:solidFill>
            <a:srgbClr val="0F162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3008376"/>
            <a:ext cx="10698480" cy="512064"/>
          </a:xfrm>
          <a:prstGeom prst="roundRect">
            <a:avLst>
              <a:gd name="adj" fmla="val 21429"/>
            </a:avLst>
          </a:prstGeom>
          <a:solidFill>
            <a:srgbClr val="7C3AED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3566160"/>
            <a:ext cx="10698480" cy="1097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3721608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3520440"/>
            <a:ext cx="10442448" cy="749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Sua sintaxe é projetada para ser clara e concisa, utilizando indentação para definir blocos de código, o que promove um estilo de escrita limpo e consistente.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6903720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9" name="Shape 17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0" name="Shape 18"/>
          <p:cNvSpPr/>
          <p:nvPr/>
        </p:nvSpPr>
        <p:spPr>
          <a:xfrm>
            <a:off x="4063898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1" name="Shape 19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2" name="Shape 20"/>
          <p:cNvSpPr/>
          <p:nvPr/>
        </p:nvSpPr>
        <p:spPr>
          <a:xfrm>
            <a:off x="8127797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3" name="Shape 21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6954012"/>
            <a:ext cx="12191695" cy="2743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 / 75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4F46E5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9260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0596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 Essenciais de Python (Continuação)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1508760"/>
            <a:ext cx="10698480" cy="1371600"/>
          </a:xfrm>
          <a:prstGeom prst="roundRect">
            <a:avLst>
              <a:gd name="adj" fmla="val 6667"/>
            </a:avLst>
          </a:prstGeom>
          <a:solidFill>
            <a:srgbClr val="040810"/>
          </a:solidFill>
          <a:ln/>
        </p:spPr>
      </p:sp>
      <p:sp>
        <p:nvSpPr>
          <p:cNvPr id="7" name="Shape 5"/>
          <p:cNvSpPr/>
          <p:nvPr/>
        </p:nvSpPr>
        <p:spPr>
          <a:xfrm>
            <a:off x="877824" y="1636776"/>
            <a:ext cx="45720" cy="111556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8" name="Text 6"/>
          <p:cNvSpPr/>
          <p:nvPr/>
        </p:nvSpPr>
        <p:spPr>
          <a:xfrm>
            <a:off x="1060704" y="1618488"/>
            <a:ext cx="10149840" cy="11521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Neste módulo, estabelecemos a base para a programação em Python.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3355848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950976" y="3063240"/>
            <a:ext cx="10424160" cy="6766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 Ao executar um código Python, o interpretador processa suas instruções linha por linha.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77240" y="4096512"/>
            <a:ext cx="91440" cy="914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950976" y="3803904"/>
            <a:ext cx="10424160" cy="6766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Variáveis são criadas na memória do computador para guardar os valores atribuídos, como idade = 30, onde 30 é armazenado e associado ao nome idade.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6903720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4" name="Shape 12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5" name="Shape 13"/>
          <p:cNvSpPr/>
          <p:nvPr/>
        </p:nvSpPr>
        <p:spPr>
          <a:xfrm>
            <a:off x="4063898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6" name="Shape 14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7" name="Shape 15"/>
          <p:cNvSpPr/>
          <p:nvPr/>
        </p:nvSpPr>
        <p:spPr>
          <a:xfrm>
            <a:off x="8127797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8" name="Shape 16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6954012"/>
            <a:ext cx="12191695" cy="2743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 / 75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4F46E5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67093" cy="6858000"/>
          </a:xfrm>
          <a:prstGeom prst="rect">
            <a:avLst/>
          </a:prstGeom>
          <a:solidFill>
            <a:srgbClr val="0408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267093" cy="115214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197864"/>
            <a:ext cx="4267093" cy="115214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2395728"/>
            <a:ext cx="4267093" cy="115214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3593592"/>
            <a:ext cx="4267093" cy="115214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4791456"/>
            <a:ext cx="4267093" cy="115214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5989320"/>
            <a:ext cx="4267093" cy="115214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9" name="Shape 7"/>
          <p:cNvSpPr/>
          <p:nvPr/>
        </p:nvSpPr>
        <p:spPr>
          <a:xfrm>
            <a:off x="4267093" y="0"/>
            <a:ext cx="45720" cy="6858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0" name="Shape 8"/>
          <p:cNvSpPr/>
          <p:nvPr/>
        </p:nvSpPr>
        <p:spPr>
          <a:xfrm>
            <a:off x="4312813" y="0"/>
            <a:ext cx="13716" cy="6858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502920"/>
            <a:ext cx="344413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9770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" y="1197864"/>
            <a:ext cx="1097280" cy="10973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1254557"/>
            <a:ext cx="3444133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 Essenciais de Python (Continuação) (Continuação)</a:t>
            </a:r>
            <a:endParaRPr lang="en-US" sz="2500" dirty="0"/>
          </a:p>
        </p:txBody>
      </p:sp>
      <p:sp>
        <p:nvSpPr>
          <p:cNvPr id="14" name="Shape 12"/>
          <p:cNvSpPr/>
          <p:nvPr/>
        </p:nvSpPr>
        <p:spPr>
          <a:xfrm>
            <a:off x="4587133" y="530352"/>
            <a:ext cx="41148" cy="7955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5" name="Text 13"/>
          <p:cNvSpPr/>
          <p:nvPr/>
        </p:nvSpPr>
        <p:spPr>
          <a:xfrm>
            <a:off x="4770013" y="466344"/>
            <a:ext cx="6973626" cy="9418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Operadores, como +, instruem o interpretador a realizar ações específicas nos valores.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0" y="718718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7" name="Shape 15"/>
          <p:cNvSpPr/>
          <p:nvPr/>
        </p:nvSpPr>
        <p:spPr>
          <a:xfrm>
            <a:off x="2031949" y="723747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8" name="Shape 16"/>
          <p:cNvSpPr/>
          <p:nvPr/>
        </p:nvSpPr>
        <p:spPr>
          <a:xfrm>
            <a:off x="4063898" y="718718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9" name="Shape 17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0" name="Shape 18"/>
          <p:cNvSpPr/>
          <p:nvPr/>
        </p:nvSpPr>
        <p:spPr>
          <a:xfrm>
            <a:off x="8127797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1" name="Shape 19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7287768"/>
            <a:ext cx="12191695" cy="2743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723747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 / 75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4F46E5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9260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4F46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 Essenciais de Python (Continuação)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58952" y="1545336"/>
            <a:ext cx="10698480" cy="1124712"/>
          </a:xfrm>
          <a:prstGeom prst="roundRect">
            <a:avLst>
              <a:gd name="adj" fmla="val 8130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508760"/>
            <a:ext cx="10698480" cy="1124712"/>
          </a:xfrm>
          <a:prstGeom prst="roundRect">
            <a:avLst>
              <a:gd name="adj" fmla="val 8130"/>
            </a:avLst>
          </a:prstGeom>
          <a:solidFill>
            <a:srgbClr val="0F1629"/>
          </a:solidFill>
          <a:ln w="6350">
            <a:solidFill>
              <a:srgbClr val="1E2D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508760"/>
            <a:ext cx="749808" cy="1124712"/>
          </a:xfrm>
          <a:prstGeom prst="roundRect">
            <a:avLst>
              <a:gd name="adj" fmla="val 12195"/>
            </a:avLst>
          </a:prstGeom>
          <a:solidFill>
            <a:srgbClr val="4F46E5"/>
          </a:solidFill>
          <a:ln/>
        </p:spPr>
      </p:sp>
      <p:sp>
        <p:nvSpPr>
          <p:cNvPr id="9" name="Shape 7"/>
          <p:cNvSpPr/>
          <p:nvPr/>
        </p:nvSpPr>
        <p:spPr>
          <a:xfrm>
            <a:off x="1389888" y="1508760"/>
            <a:ext cx="91440" cy="112471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508760"/>
            <a:ext cx="658368" cy="1124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>
                    <a:alpha val="9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1481328" y="1733702"/>
            <a:ext cx="7315" cy="674827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2" name="Text 10"/>
          <p:cNvSpPr/>
          <p:nvPr/>
        </p:nvSpPr>
        <p:spPr>
          <a:xfrm>
            <a:off x="1591056" y="1536192"/>
            <a:ext cx="9747504" cy="10698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72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indentação é um pilar fundamental em Python, não apenas para a legibilidade, mas para a própria estrutura do código.</a:t>
            </a:r>
            <a:endParaRPr lang="en-US" sz="1720" dirty="0"/>
          </a:p>
        </p:txBody>
      </p:sp>
      <p:sp>
        <p:nvSpPr>
          <p:cNvPr id="13" name="Shape 11"/>
          <p:cNvSpPr/>
          <p:nvPr/>
        </p:nvSpPr>
        <p:spPr>
          <a:xfrm>
            <a:off x="758952" y="2779776"/>
            <a:ext cx="10698480" cy="1124712"/>
          </a:xfrm>
          <a:prstGeom prst="roundRect">
            <a:avLst>
              <a:gd name="adj" fmla="val 8130"/>
            </a:avLst>
          </a:prstGeom>
          <a:solidFill>
            <a:srgbClr val="000000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2743200"/>
            <a:ext cx="10698480" cy="1124712"/>
          </a:xfrm>
          <a:prstGeom prst="roundRect">
            <a:avLst>
              <a:gd name="adj" fmla="val 8130"/>
            </a:avLst>
          </a:prstGeom>
          <a:solidFill>
            <a:srgbClr val="0F1629"/>
          </a:solidFill>
          <a:ln w="6350">
            <a:solidFill>
              <a:srgbClr val="1E2D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2743200"/>
            <a:ext cx="749808" cy="1124712"/>
          </a:xfrm>
          <a:prstGeom prst="roundRect">
            <a:avLst>
              <a:gd name="adj" fmla="val 12195"/>
            </a:avLst>
          </a:prstGeom>
          <a:solidFill>
            <a:srgbClr val="7C3AED"/>
          </a:solidFill>
          <a:ln/>
        </p:spPr>
      </p:sp>
      <p:sp>
        <p:nvSpPr>
          <p:cNvPr id="16" name="Shape 14"/>
          <p:cNvSpPr/>
          <p:nvPr/>
        </p:nvSpPr>
        <p:spPr>
          <a:xfrm>
            <a:off x="1389888" y="2743200"/>
            <a:ext cx="91440" cy="112471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743200"/>
            <a:ext cx="658368" cy="1124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>
                    <a:alpha val="9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1481328" y="2968142"/>
            <a:ext cx="7315" cy="674827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1591056" y="2770632"/>
            <a:ext cx="9747504" cy="10698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72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Ela define blocos lógicos (como funções ou loops), e um nível de indentação consistente é obrigatório.</a:t>
            </a:r>
            <a:endParaRPr lang="en-US" sz="1720" dirty="0"/>
          </a:p>
        </p:txBody>
      </p:sp>
      <p:sp>
        <p:nvSpPr>
          <p:cNvPr id="20" name="Shape 18"/>
          <p:cNvSpPr/>
          <p:nvPr/>
        </p:nvSpPr>
        <p:spPr>
          <a:xfrm>
            <a:off x="758952" y="4014216"/>
            <a:ext cx="10698480" cy="1124712"/>
          </a:xfrm>
          <a:prstGeom prst="roundRect">
            <a:avLst>
              <a:gd name="adj" fmla="val 8130"/>
            </a:avLst>
          </a:prstGeom>
          <a:solidFill>
            <a:srgbClr val="000000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3977640"/>
            <a:ext cx="10698480" cy="1124712"/>
          </a:xfrm>
          <a:prstGeom prst="roundRect">
            <a:avLst>
              <a:gd name="adj" fmla="val 8130"/>
            </a:avLst>
          </a:prstGeom>
          <a:solidFill>
            <a:srgbClr val="0F1629"/>
          </a:solidFill>
          <a:ln w="6350">
            <a:solidFill>
              <a:srgbClr val="1E2D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3977640"/>
            <a:ext cx="749808" cy="1124712"/>
          </a:xfrm>
          <a:prstGeom prst="roundRect">
            <a:avLst>
              <a:gd name="adj" fmla="val 12195"/>
            </a:avLst>
          </a:prstGeom>
          <a:solidFill>
            <a:srgbClr val="0891B2"/>
          </a:solidFill>
          <a:ln/>
        </p:spPr>
      </p:sp>
      <p:sp>
        <p:nvSpPr>
          <p:cNvPr id="23" name="Shape 21"/>
          <p:cNvSpPr/>
          <p:nvPr/>
        </p:nvSpPr>
        <p:spPr>
          <a:xfrm>
            <a:off x="1389888" y="3977640"/>
            <a:ext cx="91440" cy="112471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3977640"/>
            <a:ext cx="658368" cy="1124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>
                    <a:alpha val="9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800" dirty="0"/>
          </a:p>
        </p:txBody>
      </p:sp>
      <p:sp>
        <p:nvSpPr>
          <p:cNvPr id="25" name="Shape 23"/>
          <p:cNvSpPr/>
          <p:nvPr/>
        </p:nvSpPr>
        <p:spPr>
          <a:xfrm>
            <a:off x="1481328" y="4202582"/>
            <a:ext cx="7315" cy="674827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6" name="Text 24"/>
          <p:cNvSpPr/>
          <p:nvPr/>
        </p:nvSpPr>
        <p:spPr>
          <a:xfrm>
            <a:off x="1591056" y="4005072"/>
            <a:ext cx="9747504" cy="10698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72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Erros de indentação são tratados como erros de sintaxe, impedindo a execução do programa.</a:t>
            </a:r>
            <a:endParaRPr lang="en-US" sz="1720" dirty="0"/>
          </a:p>
        </p:txBody>
      </p:sp>
      <p:sp>
        <p:nvSpPr>
          <p:cNvPr id="27" name="Shape 25"/>
          <p:cNvSpPr/>
          <p:nvPr/>
        </p:nvSpPr>
        <p:spPr>
          <a:xfrm>
            <a:off x="0" y="6903720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8" name="Shape 26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9" name="Shape 27"/>
          <p:cNvSpPr/>
          <p:nvPr/>
        </p:nvSpPr>
        <p:spPr>
          <a:xfrm>
            <a:off x="4063898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0" name="Shape 28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1" name="Shape 29"/>
          <p:cNvSpPr/>
          <p:nvPr/>
        </p:nvSpPr>
        <p:spPr>
          <a:xfrm>
            <a:off x="8127797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2" name="Shape 30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3" name="Shape 31"/>
          <p:cNvSpPr/>
          <p:nvPr/>
        </p:nvSpPr>
        <p:spPr>
          <a:xfrm>
            <a:off x="0" y="6954012"/>
            <a:ext cx="12191695" cy="2743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 / 75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4F46E5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9260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7C3AE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 Essenciais de Python (Continuação) (Continuação)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58952" y="1545336"/>
            <a:ext cx="10698480" cy="1335024"/>
          </a:xfrm>
          <a:prstGeom prst="roundRect">
            <a:avLst>
              <a:gd name="adj" fmla="val 6849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508760"/>
            <a:ext cx="10698480" cy="1335024"/>
          </a:xfrm>
          <a:prstGeom prst="roundRect">
            <a:avLst>
              <a:gd name="adj" fmla="val 8219"/>
            </a:avLst>
          </a:prstGeom>
          <a:solidFill>
            <a:srgbClr val="0F162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508760"/>
            <a:ext cx="10698480" cy="512064"/>
          </a:xfrm>
          <a:prstGeom prst="roundRect">
            <a:avLst>
              <a:gd name="adj" fmla="val 21429"/>
            </a:avLst>
          </a:prstGeom>
          <a:solidFill>
            <a:srgbClr val="4F46E5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066544"/>
            <a:ext cx="10698480" cy="1097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2221992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68680" y="2020824"/>
            <a:ext cx="10442448" cy="749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9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Os tipos de dados informam ao Python como interpretar e manipular os valores.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0" y="6903720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3" name="Shape 11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4" name="Shape 12"/>
          <p:cNvSpPr/>
          <p:nvPr/>
        </p:nvSpPr>
        <p:spPr>
          <a:xfrm>
            <a:off x="4063898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5" name="Shape 13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6" name="Shape 14"/>
          <p:cNvSpPr/>
          <p:nvPr/>
        </p:nvSpPr>
        <p:spPr>
          <a:xfrm>
            <a:off x="8127797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7" name="Shape 15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6954012"/>
            <a:ext cx="12191695" cy="2743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 / 75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4F46E5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9260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0891B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 Essenciais de Python (Continuação)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1508760"/>
            <a:ext cx="10698480" cy="1371600"/>
          </a:xfrm>
          <a:prstGeom prst="roundRect">
            <a:avLst>
              <a:gd name="adj" fmla="val 6667"/>
            </a:avLst>
          </a:prstGeom>
          <a:solidFill>
            <a:srgbClr val="040810"/>
          </a:solidFill>
          <a:ln/>
        </p:spPr>
      </p:sp>
      <p:sp>
        <p:nvSpPr>
          <p:cNvPr id="7" name="Shape 5"/>
          <p:cNvSpPr/>
          <p:nvPr/>
        </p:nvSpPr>
        <p:spPr>
          <a:xfrm>
            <a:off x="877824" y="1636776"/>
            <a:ext cx="45720" cy="11155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1060704" y="1618488"/>
            <a:ext cx="10149840" cy="11521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 exemplo, um int (inteiro) é tratado de forma diferente de um str (string) em operações.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7240" y="3355848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950976" y="3063240"/>
            <a:ext cx="10424160" cy="6766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compreensão desses tipos é crucial para garantir que as operações e comparações sejam realizadas corretamente, produzindo os resultados esperados.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" y="4096512"/>
            <a:ext cx="91440" cy="914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950976" y="3803904"/>
            <a:ext cx="10424160" cy="6766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8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reais Automatizar tarefas diárias e repetitivas com scripts simples.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77240" y="4837176"/>
            <a:ext cx="91440" cy="914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950976" y="4544568"/>
            <a:ext cx="10424160" cy="6766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8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Desenvolver aplicações web robustas e escaláveis.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0" y="6903720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6" name="Shape 14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7" name="Shape 15"/>
          <p:cNvSpPr/>
          <p:nvPr/>
        </p:nvSpPr>
        <p:spPr>
          <a:xfrm>
            <a:off x="4063898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8" name="Shape 16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9" name="Shape 17"/>
          <p:cNvSpPr/>
          <p:nvPr/>
        </p:nvSpPr>
        <p:spPr>
          <a:xfrm>
            <a:off x="8127797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0" name="Shape 18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1" name="Shape 19"/>
          <p:cNvSpPr/>
          <p:nvPr/>
        </p:nvSpPr>
        <p:spPr>
          <a:xfrm>
            <a:off x="0" y="6954012"/>
            <a:ext cx="12191695" cy="2743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 / 75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4F46E5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4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"/>
            <a:ext cx="12191695" cy="4114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D9770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PRINCIPAIS APRENDIZADOS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Principais Aprendizados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12648" y="1536192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000000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508760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0F1A30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508760"/>
            <a:ext cx="45720" cy="1691640"/>
          </a:xfrm>
          <a:prstGeom prst="rect">
            <a:avLst>
              <a:gd name="adj" fmla="val 240000"/>
            </a:avLst>
          </a:prstGeom>
          <a:solidFill>
            <a:srgbClr val="4F46E5"/>
          </a:solidFill>
          <a:ln/>
        </p:spPr>
      </p:sp>
      <p:sp>
        <p:nvSpPr>
          <p:cNvPr id="8" name="Shape 6"/>
          <p:cNvSpPr/>
          <p:nvPr/>
        </p:nvSpPr>
        <p:spPr>
          <a:xfrm>
            <a:off x="722376" y="16367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4F46E5"/>
          </a:solidFill>
          <a:ln/>
        </p:spPr>
      </p:sp>
      <p:sp>
        <p:nvSpPr>
          <p:cNvPr id="9" name="Text 7"/>
          <p:cNvSpPr/>
          <p:nvPr/>
        </p:nvSpPr>
        <p:spPr>
          <a:xfrm>
            <a:off x="722376" y="20299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58952" y="2423160"/>
            <a:ext cx="517687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Agora você domina os conceitos fundamentais deste módulo e pode aplicá-los na prática.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46724" y="1536192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00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6228436" y="1508760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0F1A30"/>
          </a:solidFill>
          <a:ln/>
        </p:spPr>
      </p:sp>
      <p:sp>
        <p:nvSpPr>
          <p:cNvPr id="13" name="Shape 11"/>
          <p:cNvSpPr/>
          <p:nvPr/>
        </p:nvSpPr>
        <p:spPr>
          <a:xfrm>
            <a:off x="6228436" y="1508760"/>
            <a:ext cx="45720" cy="1691640"/>
          </a:xfrm>
          <a:prstGeom prst="rect">
            <a:avLst>
              <a:gd name="adj" fmla="val 240000"/>
            </a:avLst>
          </a:prstGeom>
          <a:solidFill>
            <a:srgbClr val="7C3AED"/>
          </a:solidFill>
          <a:ln/>
        </p:spPr>
      </p:sp>
      <p:sp>
        <p:nvSpPr>
          <p:cNvPr id="14" name="Shape 12"/>
          <p:cNvSpPr/>
          <p:nvPr/>
        </p:nvSpPr>
        <p:spPr>
          <a:xfrm>
            <a:off x="6356452" y="16367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6356452" y="20299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93028" y="2423160"/>
            <a:ext cx="517687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Lembre-se de revisar os pontos principais antes de avançar para o próximo módulo.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2648" y="3355848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00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" y="3328416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0F1A30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" y="3328416"/>
            <a:ext cx="45720" cy="1691640"/>
          </a:xfrm>
          <a:prstGeom prst="rect">
            <a:avLst>
              <a:gd name="adj" fmla="val 240000"/>
            </a:avLst>
          </a:prstGeom>
          <a:solidFill>
            <a:srgbClr val="0891B2"/>
          </a:solidFill>
          <a:ln/>
        </p:spPr>
      </p:sp>
      <p:sp>
        <p:nvSpPr>
          <p:cNvPr id="20" name="Shape 18"/>
          <p:cNvSpPr/>
          <p:nvPr/>
        </p:nvSpPr>
        <p:spPr>
          <a:xfrm>
            <a:off x="722376" y="345643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722376" y="38496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58952" y="4242816"/>
            <a:ext cx="517687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Você é capaz de explicar estes conceitos com suas próprias palavras e usá-los em projetos reais.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46724" y="3355848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000000"/>
          </a:solidFill>
          <a:ln/>
        </p:spPr>
      </p:sp>
      <p:sp>
        <p:nvSpPr>
          <p:cNvPr id="24" name="Shape 22"/>
          <p:cNvSpPr/>
          <p:nvPr/>
        </p:nvSpPr>
        <p:spPr>
          <a:xfrm>
            <a:off x="6228436" y="3328416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0F1A30"/>
          </a:solidFill>
          <a:ln/>
        </p:spPr>
      </p:sp>
      <p:sp>
        <p:nvSpPr>
          <p:cNvPr id="25" name="Shape 23"/>
          <p:cNvSpPr/>
          <p:nvPr/>
        </p:nvSpPr>
        <p:spPr>
          <a:xfrm>
            <a:off x="6228436" y="3328416"/>
            <a:ext cx="45720" cy="1691640"/>
          </a:xfrm>
          <a:prstGeom prst="rect">
            <a:avLst>
              <a:gd name="adj" fmla="val 240000"/>
            </a:avLst>
          </a:prstGeom>
          <a:solidFill>
            <a:srgbClr val="059669"/>
          </a:solidFill>
          <a:ln/>
        </p:spPr>
      </p:sp>
      <p:sp>
        <p:nvSpPr>
          <p:cNvPr id="26" name="Shape 24"/>
          <p:cNvSpPr/>
          <p:nvPr/>
        </p:nvSpPr>
        <p:spPr>
          <a:xfrm>
            <a:off x="6356452" y="345643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059669"/>
          </a:solidFill>
          <a:ln/>
        </p:spPr>
      </p:sp>
      <p:sp>
        <p:nvSpPr>
          <p:cNvPr id="27" name="Text 25"/>
          <p:cNvSpPr/>
          <p:nvPr/>
        </p:nvSpPr>
        <p:spPr>
          <a:xfrm>
            <a:off x="6356452" y="38496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93028" y="4242816"/>
            <a:ext cx="517687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Continue praticando: a maestria vem com a aplicação consistente do conhecimento adquirido.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0" name="Shape 28"/>
          <p:cNvSpPr/>
          <p:nvPr/>
        </p:nvSpPr>
        <p:spPr>
          <a:xfrm>
            <a:off x="2031949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1" name="Shape 29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2" name="Shape 30"/>
          <p:cNvSpPr/>
          <p:nvPr/>
        </p:nvSpPr>
        <p:spPr>
          <a:xfrm>
            <a:off x="6095848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3" name="Shape 31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4" name="Shape 32"/>
          <p:cNvSpPr/>
          <p:nvPr/>
        </p:nvSpPr>
        <p:spPr>
          <a:xfrm>
            <a:off x="10159746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 / 75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4F46E5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4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021" y="0"/>
            <a:ext cx="3413675" cy="6858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7071055" y="1463040"/>
            <a:ext cx="4754880" cy="4206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7C3AED">
                    <a:alpha val="2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0728655" y="502920"/>
            <a:ext cx="118872" cy="11887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005840"/>
            <a:ext cx="45720" cy="21031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1005840"/>
            <a:ext cx="13716" cy="21031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097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0" kern="0" dirty="0">
                <a:solidFill>
                  <a:srgbClr val="7C3AE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MÓDULO 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05840" y="1435608"/>
            <a:ext cx="1828800" cy="228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600200"/>
            <a:ext cx="6827349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Controle de Fluxo e Funções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1005840" y="4142232"/>
            <a:ext cx="2011680" cy="10973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425196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7C3AE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QUE VOCÊ VAI APRENDER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005840" y="45902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1234440" y="4544568"/>
            <a:ext cx="58520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Utilizar laços de repetição (for, while) para executar blocos de código múltiplas vezes, processando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05840" y="50474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1234440" y="5001768"/>
            <a:ext cx="58520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Definir e chamar funções para organizar o código, promover a reutilização, melhorar a legibilidade 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05840" y="55046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1234440" y="5715000"/>
            <a:ext cx="58520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 No mundo da programação, o código nem sempre é executado de forma linear.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6446520"/>
            <a:ext cx="542544" cy="7315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Shape 17"/>
          <p:cNvSpPr/>
          <p:nvPr/>
        </p:nvSpPr>
        <p:spPr>
          <a:xfrm>
            <a:off x="1264920" y="6499555"/>
            <a:ext cx="542544" cy="7315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Shape 18"/>
          <p:cNvSpPr/>
          <p:nvPr/>
        </p:nvSpPr>
        <p:spPr>
          <a:xfrm>
            <a:off x="1798320" y="6446520"/>
            <a:ext cx="542544" cy="7315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Shape 19"/>
          <p:cNvSpPr/>
          <p:nvPr/>
        </p:nvSpPr>
        <p:spPr>
          <a:xfrm>
            <a:off x="2331720" y="6499555"/>
            <a:ext cx="542544" cy="7315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Shape 20"/>
          <p:cNvSpPr/>
          <p:nvPr/>
        </p:nvSpPr>
        <p:spPr>
          <a:xfrm>
            <a:off x="2865120" y="6446520"/>
            <a:ext cx="542544" cy="7315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Shape 21"/>
          <p:cNvSpPr/>
          <p:nvPr/>
        </p:nvSpPr>
        <p:spPr>
          <a:xfrm>
            <a:off x="3398520" y="6499555"/>
            <a:ext cx="542544" cy="7315"/>
          </a:xfrm>
          <a:prstGeom prst="rect">
            <a:avLst/>
          </a:prstGeom>
          <a:solidFill>
            <a:srgbClr val="7C3AED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0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9260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D9770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Controle de Fluxo e Funções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58952" y="1545336"/>
            <a:ext cx="10698480" cy="1124712"/>
          </a:xfrm>
          <a:prstGeom prst="roundRect">
            <a:avLst>
              <a:gd name="adj" fmla="val 8130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508760"/>
            <a:ext cx="10698480" cy="1124712"/>
          </a:xfrm>
          <a:prstGeom prst="roundRect">
            <a:avLst>
              <a:gd name="adj" fmla="val 8130"/>
            </a:avLst>
          </a:prstGeom>
          <a:solidFill>
            <a:srgbClr val="0F1629"/>
          </a:solidFill>
          <a:ln w="6350">
            <a:solidFill>
              <a:srgbClr val="1E2D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508760"/>
            <a:ext cx="749808" cy="1124712"/>
          </a:xfrm>
          <a:prstGeom prst="roundRect">
            <a:avLst>
              <a:gd name="adj" fmla="val 12195"/>
            </a:avLst>
          </a:prstGeom>
          <a:solidFill>
            <a:srgbClr val="4F46E5"/>
          </a:solidFill>
          <a:ln/>
        </p:spPr>
      </p:sp>
      <p:sp>
        <p:nvSpPr>
          <p:cNvPr id="9" name="Shape 7"/>
          <p:cNvSpPr/>
          <p:nvPr/>
        </p:nvSpPr>
        <p:spPr>
          <a:xfrm>
            <a:off x="1389888" y="1508760"/>
            <a:ext cx="91440" cy="112471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508760"/>
            <a:ext cx="658368" cy="1124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>
                    <a:alpha val="9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1481328" y="1733702"/>
            <a:ext cx="7315" cy="674827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2" name="Text 10"/>
          <p:cNvSpPr/>
          <p:nvPr/>
        </p:nvSpPr>
        <p:spPr>
          <a:xfrm>
            <a:off x="1591056" y="1536192"/>
            <a:ext cx="9747504" cy="10698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Utilizar laços de repetição (for, while) para executar blocos de código múltiplas vezes, processando dados de forma eficiente.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58952" y="2779776"/>
            <a:ext cx="10698480" cy="1124712"/>
          </a:xfrm>
          <a:prstGeom prst="roundRect">
            <a:avLst>
              <a:gd name="adj" fmla="val 8130"/>
            </a:avLst>
          </a:prstGeom>
          <a:solidFill>
            <a:srgbClr val="000000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2743200"/>
            <a:ext cx="10698480" cy="1124712"/>
          </a:xfrm>
          <a:prstGeom prst="roundRect">
            <a:avLst>
              <a:gd name="adj" fmla="val 8130"/>
            </a:avLst>
          </a:prstGeom>
          <a:solidFill>
            <a:srgbClr val="0F1629"/>
          </a:solidFill>
          <a:ln w="6350">
            <a:solidFill>
              <a:srgbClr val="1E2D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2743200"/>
            <a:ext cx="749808" cy="1124712"/>
          </a:xfrm>
          <a:prstGeom prst="roundRect">
            <a:avLst>
              <a:gd name="adj" fmla="val 12195"/>
            </a:avLst>
          </a:prstGeom>
          <a:solidFill>
            <a:srgbClr val="7C3AED"/>
          </a:solidFill>
          <a:ln/>
        </p:spPr>
      </p:sp>
      <p:sp>
        <p:nvSpPr>
          <p:cNvPr id="16" name="Shape 14"/>
          <p:cNvSpPr/>
          <p:nvPr/>
        </p:nvSpPr>
        <p:spPr>
          <a:xfrm>
            <a:off x="1389888" y="2743200"/>
            <a:ext cx="91440" cy="112471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743200"/>
            <a:ext cx="658368" cy="1124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>
                    <a:alpha val="9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1481328" y="2968142"/>
            <a:ext cx="7315" cy="674827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1591056" y="2770632"/>
            <a:ext cx="9747504" cy="10698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Definir e chamar funções para organizar o código, promover a reutilização, melhorar a legibilidade e facilitar a manutenção de programas complexos.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58952" y="4014216"/>
            <a:ext cx="10698480" cy="1124712"/>
          </a:xfrm>
          <a:prstGeom prst="roundRect">
            <a:avLst>
              <a:gd name="adj" fmla="val 8130"/>
            </a:avLst>
          </a:prstGeom>
          <a:solidFill>
            <a:srgbClr val="000000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3977640"/>
            <a:ext cx="10698480" cy="1124712"/>
          </a:xfrm>
          <a:prstGeom prst="roundRect">
            <a:avLst>
              <a:gd name="adj" fmla="val 8130"/>
            </a:avLst>
          </a:prstGeom>
          <a:solidFill>
            <a:srgbClr val="0F1629"/>
          </a:solidFill>
          <a:ln w="6350">
            <a:solidFill>
              <a:srgbClr val="1E2D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3977640"/>
            <a:ext cx="749808" cy="1124712"/>
          </a:xfrm>
          <a:prstGeom prst="roundRect">
            <a:avLst>
              <a:gd name="adj" fmla="val 12195"/>
            </a:avLst>
          </a:prstGeom>
          <a:solidFill>
            <a:srgbClr val="0891B2"/>
          </a:solidFill>
          <a:ln/>
        </p:spPr>
      </p:sp>
      <p:sp>
        <p:nvSpPr>
          <p:cNvPr id="23" name="Shape 21"/>
          <p:cNvSpPr/>
          <p:nvPr/>
        </p:nvSpPr>
        <p:spPr>
          <a:xfrm>
            <a:off x="1389888" y="3977640"/>
            <a:ext cx="91440" cy="112471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3977640"/>
            <a:ext cx="658368" cy="1124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>
                    <a:alpha val="9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800" dirty="0"/>
          </a:p>
        </p:txBody>
      </p:sp>
      <p:sp>
        <p:nvSpPr>
          <p:cNvPr id="25" name="Shape 23"/>
          <p:cNvSpPr/>
          <p:nvPr/>
        </p:nvSpPr>
        <p:spPr>
          <a:xfrm>
            <a:off x="1481328" y="4202582"/>
            <a:ext cx="7315" cy="674827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6" name="Text 24"/>
          <p:cNvSpPr/>
          <p:nvPr/>
        </p:nvSpPr>
        <p:spPr>
          <a:xfrm>
            <a:off x="1591056" y="4005072"/>
            <a:ext cx="9747504" cy="10698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 No mundo da programação, o código nem sempre é executado de forma linear.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0" y="6903720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8" name="Shape 26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9" name="Shape 27"/>
          <p:cNvSpPr/>
          <p:nvPr/>
        </p:nvSpPr>
        <p:spPr>
          <a:xfrm>
            <a:off x="4063898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0" name="Shape 28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1" name="Shape 29"/>
          <p:cNvSpPr/>
          <p:nvPr/>
        </p:nvSpPr>
        <p:spPr>
          <a:xfrm>
            <a:off x="8127797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2" name="Shape 30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3" name="Shape 31"/>
          <p:cNvSpPr/>
          <p:nvPr/>
        </p:nvSpPr>
        <p:spPr>
          <a:xfrm>
            <a:off x="0" y="6954012"/>
            <a:ext cx="12191695" cy="2743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 / 75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4F46E5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0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9260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4F46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Controle de Fluxo e Funções (Continuação)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58952" y="1545336"/>
            <a:ext cx="10698480" cy="1335024"/>
          </a:xfrm>
          <a:prstGeom prst="roundRect">
            <a:avLst>
              <a:gd name="adj" fmla="val 6849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508760"/>
            <a:ext cx="10698480" cy="1335024"/>
          </a:xfrm>
          <a:prstGeom prst="roundRect">
            <a:avLst>
              <a:gd name="adj" fmla="val 8219"/>
            </a:avLst>
          </a:prstGeom>
          <a:solidFill>
            <a:srgbClr val="0F162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508760"/>
            <a:ext cx="10698480" cy="512064"/>
          </a:xfrm>
          <a:prstGeom prst="roundRect">
            <a:avLst>
              <a:gd name="adj" fmla="val 21429"/>
            </a:avLst>
          </a:prstGeom>
          <a:solidFill>
            <a:srgbClr val="4F46E5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066544"/>
            <a:ext cx="10698480" cy="1097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2221992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2020824"/>
            <a:ext cx="10442448" cy="749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Precisamos que nossos programas tomem decisões, repitam ações ou executem blocos de código específicos sob certas condições.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6903720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3" name="Shape 11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4" name="Shape 12"/>
          <p:cNvSpPr/>
          <p:nvPr/>
        </p:nvSpPr>
        <p:spPr>
          <a:xfrm>
            <a:off x="4063898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5" name="Shape 13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6" name="Shape 14"/>
          <p:cNvSpPr/>
          <p:nvPr/>
        </p:nvSpPr>
        <p:spPr>
          <a:xfrm>
            <a:off x="8127797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7" name="Shape 15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6954012"/>
            <a:ext cx="12191695" cy="2743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 / 75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4F46E5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0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9260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7C3AE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Controle de Fluxo e Funções (Continuação)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1508760"/>
            <a:ext cx="10698480" cy="1371600"/>
          </a:xfrm>
          <a:prstGeom prst="roundRect">
            <a:avLst>
              <a:gd name="adj" fmla="val 6667"/>
            </a:avLst>
          </a:prstGeom>
          <a:solidFill>
            <a:srgbClr val="040810"/>
          </a:solidFill>
          <a:ln/>
        </p:spPr>
      </p:sp>
      <p:sp>
        <p:nvSpPr>
          <p:cNvPr id="7" name="Shape 5"/>
          <p:cNvSpPr/>
          <p:nvPr/>
        </p:nvSpPr>
        <p:spPr>
          <a:xfrm>
            <a:off x="877824" y="1636776"/>
            <a:ext cx="45720" cy="11155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1060704" y="1618488"/>
            <a:ext cx="10149840" cy="11521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Já as Funções são blocos de código nomeados e reutilizáveis que realizam uma tarefa específica.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3355848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950976" y="3063240"/>
            <a:ext cx="10424160" cy="6766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Elas são essenciais para organizar o código, dividindo um problema grande em partes menores e mais gerenciáveis.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4096512"/>
            <a:ext cx="91440" cy="914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950976" y="3803904"/>
            <a:ext cx="10424160" cy="6766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Pense nelas como "mini-programas" que podem ser chamados sempre que sua funcionalidade for necessária, evitando a repetição de código.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6903720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4" name="Shape 12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5" name="Shape 13"/>
          <p:cNvSpPr/>
          <p:nvPr/>
        </p:nvSpPr>
        <p:spPr>
          <a:xfrm>
            <a:off x="4063898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6" name="Shape 14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7" name="Shape 15"/>
          <p:cNvSpPr/>
          <p:nvPr/>
        </p:nvSpPr>
        <p:spPr>
          <a:xfrm>
            <a:off x="8127797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8" name="Shape 16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6954012"/>
            <a:ext cx="12191695" cy="2743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11 / 75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4F46E5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70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67093" cy="6858000"/>
          </a:xfrm>
          <a:prstGeom prst="rect">
            <a:avLst/>
          </a:prstGeom>
          <a:solidFill>
            <a:srgbClr val="0408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267093" cy="115214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197864"/>
            <a:ext cx="4267093" cy="115214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2395728"/>
            <a:ext cx="4267093" cy="115214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3593592"/>
            <a:ext cx="4267093" cy="115214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4791456"/>
            <a:ext cx="4267093" cy="115214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5989320"/>
            <a:ext cx="4267093" cy="115214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Shape 7"/>
          <p:cNvSpPr/>
          <p:nvPr/>
        </p:nvSpPr>
        <p:spPr>
          <a:xfrm>
            <a:off x="4267093" y="0"/>
            <a:ext cx="45720" cy="68580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Shape 8"/>
          <p:cNvSpPr/>
          <p:nvPr/>
        </p:nvSpPr>
        <p:spPr>
          <a:xfrm>
            <a:off x="4312813" y="0"/>
            <a:ext cx="13716" cy="68580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502920"/>
            <a:ext cx="344413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891B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" y="1197864"/>
            <a:ext cx="1097280" cy="10973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1254557"/>
            <a:ext cx="3444133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Controle de Fluxo e Funções (Continuação) (Continuação)</a:t>
            </a:r>
            <a:endParaRPr lang="en-US" sz="2500" dirty="0"/>
          </a:p>
        </p:txBody>
      </p:sp>
      <p:sp>
        <p:nvSpPr>
          <p:cNvPr id="14" name="Shape 12"/>
          <p:cNvSpPr/>
          <p:nvPr/>
        </p:nvSpPr>
        <p:spPr>
          <a:xfrm>
            <a:off x="4587133" y="530352"/>
            <a:ext cx="41148" cy="7955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5" name="Text 13"/>
          <p:cNvSpPr/>
          <p:nvPr/>
        </p:nvSpPr>
        <p:spPr>
          <a:xfrm>
            <a:off x="4770013" y="466344"/>
            <a:ext cx="6973626" cy="9418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if executa se a condição for verdadeira, elif testa novas condições se as anteriores forem falsas, e else atua como um fallback.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718718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7" name="Shape 15"/>
          <p:cNvSpPr/>
          <p:nvPr/>
        </p:nvSpPr>
        <p:spPr>
          <a:xfrm>
            <a:off x="2031949" y="723747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8" name="Shape 16"/>
          <p:cNvSpPr/>
          <p:nvPr/>
        </p:nvSpPr>
        <p:spPr>
          <a:xfrm>
            <a:off x="4063898" y="718718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9" name="Shape 17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0" name="Shape 18"/>
          <p:cNvSpPr/>
          <p:nvPr/>
        </p:nvSpPr>
        <p:spPr>
          <a:xfrm>
            <a:off x="8127797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1" name="Shape 19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7287768"/>
            <a:ext cx="12191695" cy="2743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723747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12 / 75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4F46E5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70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9260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0596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Controle de Fluxo e Funções (Continuação)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58952" y="1545336"/>
            <a:ext cx="10698480" cy="1124712"/>
          </a:xfrm>
          <a:prstGeom prst="roundRect">
            <a:avLst>
              <a:gd name="adj" fmla="val 8130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508760"/>
            <a:ext cx="10698480" cy="1124712"/>
          </a:xfrm>
          <a:prstGeom prst="roundRect">
            <a:avLst>
              <a:gd name="adj" fmla="val 8130"/>
            </a:avLst>
          </a:prstGeom>
          <a:solidFill>
            <a:srgbClr val="0F1629"/>
          </a:solidFill>
          <a:ln w="6350">
            <a:solidFill>
              <a:srgbClr val="1E2D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508760"/>
            <a:ext cx="749808" cy="1124712"/>
          </a:xfrm>
          <a:prstGeom prst="roundRect">
            <a:avLst>
              <a:gd name="adj" fmla="val 12195"/>
            </a:avLst>
          </a:prstGeom>
          <a:solidFill>
            <a:srgbClr val="4F46E5"/>
          </a:solidFill>
          <a:ln/>
        </p:spPr>
      </p:sp>
      <p:sp>
        <p:nvSpPr>
          <p:cNvPr id="9" name="Shape 7"/>
          <p:cNvSpPr/>
          <p:nvPr/>
        </p:nvSpPr>
        <p:spPr>
          <a:xfrm>
            <a:off x="1389888" y="1508760"/>
            <a:ext cx="91440" cy="112471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508760"/>
            <a:ext cx="658368" cy="1124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>
                    <a:alpha val="9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1481328" y="1733702"/>
            <a:ext cx="7315" cy="674827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2" name="Text 10"/>
          <p:cNvSpPr/>
          <p:nvPr/>
        </p:nvSpPr>
        <p:spPr>
          <a:xfrm>
            <a:off x="1591056" y="1536192"/>
            <a:ext cx="9747504" cy="10698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87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indentação em Python é fundamental para definir esses blocos de código.</a:t>
            </a:r>
            <a:endParaRPr lang="en-US" sz="1870" dirty="0"/>
          </a:p>
        </p:txBody>
      </p:sp>
      <p:sp>
        <p:nvSpPr>
          <p:cNvPr id="13" name="Shape 11"/>
          <p:cNvSpPr/>
          <p:nvPr/>
        </p:nvSpPr>
        <p:spPr>
          <a:xfrm>
            <a:off x="758952" y="2779776"/>
            <a:ext cx="10698480" cy="1124712"/>
          </a:xfrm>
          <a:prstGeom prst="roundRect">
            <a:avLst>
              <a:gd name="adj" fmla="val 8130"/>
            </a:avLst>
          </a:prstGeom>
          <a:solidFill>
            <a:srgbClr val="000000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2743200"/>
            <a:ext cx="10698480" cy="1124712"/>
          </a:xfrm>
          <a:prstGeom prst="roundRect">
            <a:avLst>
              <a:gd name="adj" fmla="val 8130"/>
            </a:avLst>
          </a:prstGeom>
          <a:solidFill>
            <a:srgbClr val="0F1629"/>
          </a:solidFill>
          <a:ln w="6350">
            <a:solidFill>
              <a:srgbClr val="1E2D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2743200"/>
            <a:ext cx="749808" cy="1124712"/>
          </a:xfrm>
          <a:prstGeom prst="roundRect">
            <a:avLst>
              <a:gd name="adj" fmla="val 12195"/>
            </a:avLst>
          </a:prstGeom>
          <a:solidFill>
            <a:srgbClr val="7C3AED"/>
          </a:solidFill>
          <a:ln/>
        </p:spPr>
      </p:sp>
      <p:sp>
        <p:nvSpPr>
          <p:cNvPr id="16" name="Shape 14"/>
          <p:cNvSpPr/>
          <p:nvPr/>
        </p:nvSpPr>
        <p:spPr>
          <a:xfrm>
            <a:off x="1389888" y="2743200"/>
            <a:ext cx="91440" cy="112471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743200"/>
            <a:ext cx="658368" cy="1124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>
                    <a:alpha val="9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1481328" y="2968142"/>
            <a:ext cx="7315" cy="674827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1591056" y="2770632"/>
            <a:ext cx="9747504" cy="10698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87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Laços de repetição (for, while) executam um bloco de código repetidamente.</a:t>
            </a:r>
            <a:endParaRPr lang="en-US" sz="1870" dirty="0"/>
          </a:p>
        </p:txBody>
      </p:sp>
      <p:sp>
        <p:nvSpPr>
          <p:cNvPr id="20" name="Shape 18"/>
          <p:cNvSpPr/>
          <p:nvPr/>
        </p:nvSpPr>
        <p:spPr>
          <a:xfrm>
            <a:off x="758952" y="4014216"/>
            <a:ext cx="10698480" cy="1124712"/>
          </a:xfrm>
          <a:prstGeom prst="roundRect">
            <a:avLst>
              <a:gd name="adj" fmla="val 8130"/>
            </a:avLst>
          </a:prstGeom>
          <a:solidFill>
            <a:srgbClr val="000000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3977640"/>
            <a:ext cx="10698480" cy="1124712"/>
          </a:xfrm>
          <a:prstGeom prst="roundRect">
            <a:avLst>
              <a:gd name="adj" fmla="val 8130"/>
            </a:avLst>
          </a:prstGeom>
          <a:solidFill>
            <a:srgbClr val="0F1629"/>
          </a:solidFill>
          <a:ln w="6350">
            <a:solidFill>
              <a:srgbClr val="1E2D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3977640"/>
            <a:ext cx="749808" cy="1124712"/>
          </a:xfrm>
          <a:prstGeom prst="roundRect">
            <a:avLst>
              <a:gd name="adj" fmla="val 12195"/>
            </a:avLst>
          </a:prstGeom>
          <a:solidFill>
            <a:srgbClr val="0891B2"/>
          </a:solidFill>
          <a:ln/>
        </p:spPr>
      </p:sp>
      <p:sp>
        <p:nvSpPr>
          <p:cNvPr id="23" name="Shape 21"/>
          <p:cNvSpPr/>
          <p:nvPr/>
        </p:nvSpPr>
        <p:spPr>
          <a:xfrm>
            <a:off x="1389888" y="3977640"/>
            <a:ext cx="91440" cy="112471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3977640"/>
            <a:ext cx="658368" cy="1124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>
                    <a:alpha val="9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800" dirty="0"/>
          </a:p>
        </p:txBody>
      </p:sp>
      <p:sp>
        <p:nvSpPr>
          <p:cNvPr id="25" name="Shape 23"/>
          <p:cNvSpPr/>
          <p:nvPr/>
        </p:nvSpPr>
        <p:spPr>
          <a:xfrm>
            <a:off x="1481328" y="4202582"/>
            <a:ext cx="7315" cy="674827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6" name="Text 24"/>
          <p:cNvSpPr/>
          <p:nvPr/>
        </p:nvSpPr>
        <p:spPr>
          <a:xfrm>
            <a:off x="1591056" y="4005072"/>
            <a:ext cx="9747504" cy="10698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87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for é usado para iterar sobre sequências (como listas ou range), executando o bloco para cada item.</a:t>
            </a:r>
            <a:endParaRPr lang="en-US" sz="1870" dirty="0"/>
          </a:p>
        </p:txBody>
      </p:sp>
      <p:sp>
        <p:nvSpPr>
          <p:cNvPr id="27" name="Shape 25"/>
          <p:cNvSpPr/>
          <p:nvPr/>
        </p:nvSpPr>
        <p:spPr>
          <a:xfrm>
            <a:off x="0" y="6903720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8" name="Shape 26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9" name="Shape 27"/>
          <p:cNvSpPr/>
          <p:nvPr/>
        </p:nvSpPr>
        <p:spPr>
          <a:xfrm>
            <a:off x="4063898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0" name="Shape 28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1" name="Shape 29"/>
          <p:cNvSpPr/>
          <p:nvPr/>
        </p:nvSpPr>
        <p:spPr>
          <a:xfrm>
            <a:off x="8127797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2" name="Shape 30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3" name="Shape 31"/>
          <p:cNvSpPr/>
          <p:nvPr/>
        </p:nvSpPr>
        <p:spPr>
          <a:xfrm>
            <a:off x="0" y="6954012"/>
            <a:ext cx="12191695" cy="2743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13 / 75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4F46E5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70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9260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D9770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Controle de Fluxo e Funções (Continuação) (Continuação)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58952" y="1545336"/>
            <a:ext cx="10698480" cy="1335024"/>
          </a:xfrm>
          <a:prstGeom prst="roundRect">
            <a:avLst>
              <a:gd name="adj" fmla="val 6849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508760"/>
            <a:ext cx="10698480" cy="1335024"/>
          </a:xfrm>
          <a:prstGeom prst="roundRect">
            <a:avLst>
              <a:gd name="adj" fmla="val 8219"/>
            </a:avLst>
          </a:prstGeom>
          <a:solidFill>
            <a:srgbClr val="0F162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508760"/>
            <a:ext cx="10698480" cy="512064"/>
          </a:xfrm>
          <a:prstGeom prst="roundRect">
            <a:avLst>
              <a:gd name="adj" fmla="val 21429"/>
            </a:avLst>
          </a:prstGeom>
          <a:solidFill>
            <a:srgbClr val="4F46E5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066544"/>
            <a:ext cx="10698480" cy="1097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2221992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2020824"/>
            <a:ext cx="10442448" cy="749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while repete enquanto uma condição for verdadeira, sendo crucial garantir que a condição eventualmente se torne falsa para evitar laços infinitos.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6903720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3" name="Shape 11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4" name="Shape 12"/>
          <p:cNvSpPr/>
          <p:nvPr/>
        </p:nvSpPr>
        <p:spPr>
          <a:xfrm>
            <a:off x="4063898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5" name="Shape 13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6" name="Shape 14"/>
          <p:cNvSpPr/>
          <p:nvPr/>
        </p:nvSpPr>
        <p:spPr>
          <a:xfrm>
            <a:off x="8127797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7" name="Shape 15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6954012"/>
            <a:ext cx="12191695" cy="2743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14 / 75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4F46E5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70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9260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4F46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Controle de Fluxo e Funções (Continuação)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1508760"/>
            <a:ext cx="10698480" cy="1371600"/>
          </a:xfrm>
          <a:prstGeom prst="roundRect">
            <a:avLst>
              <a:gd name="adj" fmla="val 6667"/>
            </a:avLst>
          </a:prstGeom>
          <a:solidFill>
            <a:srgbClr val="040810"/>
          </a:solidFill>
          <a:ln/>
        </p:spPr>
      </p:sp>
      <p:sp>
        <p:nvSpPr>
          <p:cNvPr id="7" name="Shape 5"/>
          <p:cNvSpPr/>
          <p:nvPr/>
        </p:nvSpPr>
        <p:spPr>
          <a:xfrm>
            <a:off x="877824" y="1636776"/>
            <a:ext cx="45720" cy="111556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8" name="Text 6"/>
          <p:cNvSpPr/>
          <p:nvPr/>
        </p:nvSpPr>
        <p:spPr>
          <a:xfrm>
            <a:off x="1060704" y="1618488"/>
            <a:ext cx="10149840" cy="11521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 palavras-chave break e continue oferecem controle adicional sobre o fluxo interno dos laços.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7240" y="3355848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950976" y="3063240"/>
            <a:ext cx="10424160" cy="6766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Funções (def, return) são definidas para encapsular uma tarefa específica, promovendo a reutilização e organização do código.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" y="4096512"/>
            <a:ext cx="91440" cy="914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950976" y="3803904"/>
            <a:ext cx="10424160" cy="6766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Elas são declaradas com a palavra-chave def, podem receber parâmetros para dados de entrada e utilizam return para enviar um valor de volta ao local de chamada.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6903720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4" name="Shape 12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5" name="Shape 13"/>
          <p:cNvSpPr/>
          <p:nvPr/>
        </p:nvSpPr>
        <p:spPr>
          <a:xfrm>
            <a:off x="4063898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6" name="Shape 14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7" name="Shape 15"/>
          <p:cNvSpPr/>
          <p:nvPr/>
        </p:nvSpPr>
        <p:spPr>
          <a:xfrm>
            <a:off x="8127797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8" name="Shape 16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6954012"/>
            <a:ext cx="12191695" cy="2743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15 / 75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4F46E5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70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67093" cy="6858000"/>
          </a:xfrm>
          <a:prstGeom prst="rect">
            <a:avLst/>
          </a:prstGeom>
          <a:solidFill>
            <a:srgbClr val="0408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267093" cy="115214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197864"/>
            <a:ext cx="4267093" cy="115214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2395728"/>
            <a:ext cx="4267093" cy="115214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3593592"/>
            <a:ext cx="4267093" cy="115214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4791456"/>
            <a:ext cx="4267093" cy="115214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5989320"/>
            <a:ext cx="4267093" cy="115214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Shape 7"/>
          <p:cNvSpPr/>
          <p:nvPr/>
        </p:nvSpPr>
        <p:spPr>
          <a:xfrm>
            <a:off x="4267093" y="0"/>
            <a:ext cx="45720" cy="6858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Shape 8"/>
          <p:cNvSpPr/>
          <p:nvPr/>
        </p:nvSpPr>
        <p:spPr>
          <a:xfrm>
            <a:off x="4312813" y="0"/>
            <a:ext cx="13716" cy="6858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502920"/>
            <a:ext cx="344413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C3AE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" y="1197864"/>
            <a:ext cx="1097280" cy="10973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1254557"/>
            <a:ext cx="3444133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Controle de Fluxo e Funções (Continuação) (Continuação)</a:t>
            </a:r>
            <a:endParaRPr lang="en-US" sz="2500" dirty="0"/>
          </a:p>
        </p:txBody>
      </p:sp>
      <p:sp>
        <p:nvSpPr>
          <p:cNvPr id="14" name="Shape 12"/>
          <p:cNvSpPr/>
          <p:nvPr/>
        </p:nvSpPr>
        <p:spPr>
          <a:xfrm>
            <a:off x="4587133" y="530352"/>
            <a:ext cx="41148" cy="7955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5" name="Text 13"/>
          <p:cNvSpPr/>
          <p:nvPr/>
        </p:nvSpPr>
        <p:spPr>
          <a:xfrm>
            <a:off x="4770013" y="466344"/>
            <a:ext cx="6973626" cy="9418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Funções também gerenciam o escopo de variáveis, mantendo-as locais e isoladas.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0" y="718718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7" name="Shape 15"/>
          <p:cNvSpPr/>
          <p:nvPr/>
        </p:nvSpPr>
        <p:spPr>
          <a:xfrm>
            <a:off x="2031949" y="723747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8" name="Shape 16"/>
          <p:cNvSpPr/>
          <p:nvPr/>
        </p:nvSpPr>
        <p:spPr>
          <a:xfrm>
            <a:off x="4063898" y="718718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9" name="Shape 17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0" name="Shape 18"/>
          <p:cNvSpPr/>
          <p:nvPr/>
        </p:nvSpPr>
        <p:spPr>
          <a:xfrm>
            <a:off x="8127797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1" name="Shape 19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7287768"/>
            <a:ext cx="12191695" cy="2743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723747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16 / 75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4F46E5"/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4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"/>
            <a:ext cx="12191695" cy="4114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D9770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PRINCIPAIS APRENDIZADOS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Principais Aprendizados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12648" y="1536192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000000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508760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0F1A30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508760"/>
            <a:ext cx="45720" cy="1691640"/>
          </a:xfrm>
          <a:prstGeom prst="rect">
            <a:avLst>
              <a:gd name="adj" fmla="val 240000"/>
            </a:avLst>
          </a:prstGeom>
          <a:solidFill>
            <a:srgbClr val="4F46E5"/>
          </a:solidFill>
          <a:ln/>
        </p:spPr>
      </p:sp>
      <p:sp>
        <p:nvSpPr>
          <p:cNvPr id="8" name="Shape 6"/>
          <p:cNvSpPr/>
          <p:nvPr/>
        </p:nvSpPr>
        <p:spPr>
          <a:xfrm>
            <a:off x="722376" y="16367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4F46E5"/>
          </a:solidFill>
          <a:ln/>
        </p:spPr>
      </p:sp>
      <p:sp>
        <p:nvSpPr>
          <p:cNvPr id="9" name="Text 7"/>
          <p:cNvSpPr/>
          <p:nvPr/>
        </p:nvSpPr>
        <p:spPr>
          <a:xfrm>
            <a:off x="722376" y="20299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58952" y="2423160"/>
            <a:ext cx="517687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Agora você domina os conceitos fundamentais deste módulo e pode aplicá-los na prática.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46724" y="1536192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00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6228436" y="1508760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0F1A30"/>
          </a:solidFill>
          <a:ln/>
        </p:spPr>
      </p:sp>
      <p:sp>
        <p:nvSpPr>
          <p:cNvPr id="13" name="Shape 11"/>
          <p:cNvSpPr/>
          <p:nvPr/>
        </p:nvSpPr>
        <p:spPr>
          <a:xfrm>
            <a:off x="6228436" y="1508760"/>
            <a:ext cx="45720" cy="1691640"/>
          </a:xfrm>
          <a:prstGeom prst="rect">
            <a:avLst>
              <a:gd name="adj" fmla="val 240000"/>
            </a:avLst>
          </a:prstGeom>
          <a:solidFill>
            <a:srgbClr val="7C3AED"/>
          </a:solidFill>
          <a:ln/>
        </p:spPr>
      </p:sp>
      <p:sp>
        <p:nvSpPr>
          <p:cNvPr id="14" name="Shape 12"/>
          <p:cNvSpPr/>
          <p:nvPr/>
        </p:nvSpPr>
        <p:spPr>
          <a:xfrm>
            <a:off x="6356452" y="16367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6356452" y="20299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93028" y="2423160"/>
            <a:ext cx="517687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Lembre-se de revisar os pontos principais antes de avançar para o próximo módulo.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2648" y="3355848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00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" y="3328416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0F1A30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" y="3328416"/>
            <a:ext cx="45720" cy="1691640"/>
          </a:xfrm>
          <a:prstGeom prst="rect">
            <a:avLst>
              <a:gd name="adj" fmla="val 240000"/>
            </a:avLst>
          </a:prstGeom>
          <a:solidFill>
            <a:srgbClr val="0891B2"/>
          </a:solidFill>
          <a:ln/>
        </p:spPr>
      </p:sp>
      <p:sp>
        <p:nvSpPr>
          <p:cNvPr id="20" name="Shape 18"/>
          <p:cNvSpPr/>
          <p:nvPr/>
        </p:nvSpPr>
        <p:spPr>
          <a:xfrm>
            <a:off x="722376" y="345643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722376" y="38496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58952" y="4242816"/>
            <a:ext cx="517687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Você é capaz de explicar estes conceitos com suas próprias palavras e usá-los em projetos reais.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46724" y="3355848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000000"/>
          </a:solidFill>
          <a:ln/>
        </p:spPr>
      </p:sp>
      <p:sp>
        <p:nvSpPr>
          <p:cNvPr id="24" name="Shape 22"/>
          <p:cNvSpPr/>
          <p:nvPr/>
        </p:nvSpPr>
        <p:spPr>
          <a:xfrm>
            <a:off x="6228436" y="3328416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0F1A30"/>
          </a:solidFill>
          <a:ln/>
        </p:spPr>
      </p:sp>
      <p:sp>
        <p:nvSpPr>
          <p:cNvPr id="25" name="Shape 23"/>
          <p:cNvSpPr/>
          <p:nvPr/>
        </p:nvSpPr>
        <p:spPr>
          <a:xfrm>
            <a:off x="6228436" y="3328416"/>
            <a:ext cx="45720" cy="1691640"/>
          </a:xfrm>
          <a:prstGeom prst="rect">
            <a:avLst>
              <a:gd name="adj" fmla="val 240000"/>
            </a:avLst>
          </a:prstGeom>
          <a:solidFill>
            <a:srgbClr val="059669"/>
          </a:solidFill>
          <a:ln/>
        </p:spPr>
      </p:sp>
      <p:sp>
        <p:nvSpPr>
          <p:cNvPr id="26" name="Shape 24"/>
          <p:cNvSpPr/>
          <p:nvPr/>
        </p:nvSpPr>
        <p:spPr>
          <a:xfrm>
            <a:off x="6356452" y="345643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059669"/>
          </a:solidFill>
          <a:ln/>
        </p:spPr>
      </p:sp>
      <p:sp>
        <p:nvSpPr>
          <p:cNvPr id="27" name="Text 25"/>
          <p:cNvSpPr/>
          <p:nvPr/>
        </p:nvSpPr>
        <p:spPr>
          <a:xfrm>
            <a:off x="6356452" y="38496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93028" y="4242816"/>
            <a:ext cx="517687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Continue praticando: a maestria vem com a aplicação consistente do conhecimento adquirido.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0" name="Shape 28"/>
          <p:cNvSpPr/>
          <p:nvPr/>
        </p:nvSpPr>
        <p:spPr>
          <a:xfrm>
            <a:off x="2031949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1" name="Shape 29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2" name="Shape 30"/>
          <p:cNvSpPr/>
          <p:nvPr/>
        </p:nvSpPr>
        <p:spPr>
          <a:xfrm>
            <a:off x="6095848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3" name="Shape 31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4" name="Shape 32"/>
          <p:cNvSpPr/>
          <p:nvPr/>
        </p:nvSpPr>
        <p:spPr>
          <a:xfrm>
            <a:off x="10159746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17 / 75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4F46E5"/>
          </a:solidFill>
          <a:ln/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4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021" y="0"/>
            <a:ext cx="3413675" cy="68580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071055" y="1463040"/>
            <a:ext cx="4754880" cy="4206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0891B2">
                    <a:alpha val="2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0728655" y="502920"/>
            <a:ext cx="118872" cy="11887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005840"/>
            <a:ext cx="45720" cy="21031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1005840"/>
            <a:ext cx="13716" cy="21031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097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0" kern="0" dirty="0">
                <a:solidFill>
                  <a:srgbClr val="0891B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MÓDULO 3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05840" y="1435608"/>
            <a:ext cx="1828800" cy="228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600200"/>
            <a:ext cx="6827349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Estruturas de Dados Fundamentais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1005840" y="4142232"/>
            <a:ext cx="2011680" cy="10973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425196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0891B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QUE VOCÊ VAI APRENDER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005840" y="45902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1234440" y="4544568"/>
            <a:ext cx="58520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Aplicar operações básicas e avançadas para manipular dados em cada estrutura.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05840" y="50474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1234440" y="5001768"/>
            <a:ext cx="58520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Analisar cenários e escolher a estrutura de dados mais apropriada para resolver problemas.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05840" y="55046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1234440" y="5715000"/>
            <a:ext cx="58520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🧠 Fundamentos No coração de qualquer programa está a manipulação de dados.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6446520"/>
            <a:ext cx="542544" cy="7315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9" name="Shape 17"/>
          <p:cNvSpPr/>
          <p:nvPr/>
        </p:nvSpPr>
        <p:spPr>
          <a:xfrm>
            <a:off x="1264920" y="6499555"/>
            <a:ext cx="542544" cy="7315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0" name="Shape 18"/>
          <p:cNvSpPr/>
          <p:nvPr/>
        </p:nvSpPr>
        <p:spPr>
          <a:xfrm>
            <a:off x="1798320" y="6446520"/>
            <a:ext cx="542544" cy="7315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1" name="Shape 19"/>
          <p:cNvSpPr/>
          <p:nvPr/>
        </p:nvSpPr>
        <p:spPr>
          <a:xfrm>
            <a:off x="2331720" y="6499555"/>
            <a:ext cx="542544" cy="7315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2" name="Shape 20"/>
          <p:cNvSpPr/>
          <p:nvPr/>
        </p:nvSpPr>
        <p:spPr>
          <a:xfrm>
            <a:off x="2865120" y="6446520"/>
            <a:ext cx="542544" cy="7315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3" name="Shape 21"/>
          <p:cNvSpPr/>
          <p:nvPr/>
        </p:nvSpPr>
        <p:spPr>
          <a:xfrm>
            <a:off x="3398520" y="6499555"/>
            <a:ext cx="542544" cy="7315"/>
          </a:xfrm>
          <a:prstGeom prst="rect">
            <a:avLst/>
          </a:prstGeom>
          <a:solidFill>
            <a:srgbClr val="0891B2"/>
          </a:solidFill>
          <a:ln/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70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9260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0596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Estruturas de Dados Fundamentais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58952" y="1545336"/>
            <a:ext cx="10698480" cy="1335024"/>
          </a:xfrm>
          <a:prstGeom prst="roundRect">
            <a:avLst>
              <a:gd name="adj" fmla="val 6849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508760"/>
            <a:ext cx="10698480" cy="1335024"/>
          </a:xfrm>
          <a:prstGeom prst="roundRect">
            <a:avLst>
              <a:gd name="adj" fmla="val 8219"/>
            </a:avLst>
          </a:prstGeom>
          <a:solidFill>
            <a:srgbClr val="0F162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508760"/>
            <a:ext cx="10698480" cy="512064"/>
          </a:xfrm>
          <a:prstGeom prst="roundRect">
            <a:avLst>
              <a:gd name="adj" fmla="val 21429"/>
            </a:avLst>
          </a:prstGeom>
          <a:solidFill>
            <a:srgbClr val="4F46E5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066544"/>
            <a:ext cx="10698480" cy="1097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2221992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2020824"/>
            <a:ext cx="10442448" cy="749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Aplicar operações básicas e avançadas para manipular dados em cada estrutura.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58952" y="3044952"/>
            <a:ext cx="10698480" cy="1335024"/>
          </a:xfrm>
          <a:prstGeom prst="roundRect">
            <a:avLst>
              <a:gd name="adj" fmla="val 6849"/>
            </a:avLst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3008376"/>
            <a:ext cx="10698480" cy="1335024"/>
          </a:xfrm>
          <a:prstGeom prst="roundRect">
            <a:avLst>
              <a:gd name="adj" fmla="val 8219"/>
            </a:avLst>
          </a:prstGeom>
          <a:solidFill>
            <a:srgbClr val="0F162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3008376"/>
            <a:ext cx="10698480" cy="512064"/>
          </a:xfrm>
          <a:prstGeom prst="roundRect">
            <a:avLst>
              <a:gd name="adj" fmla="val 21429"/>
            </a:avLst>
          </a:prstGeom>
          <a:solidFill>
            <a:srgbClr val="7C3AED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3566160"/>
            <a:ext cx="10698480" cy="1097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3721608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8680" y="3520440"/>
            <a:ext cx="10442448" cy="749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Analisar cenários e escolher a estrutura de dados mais apropriada para resolver problemas.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58952" y="4544568"/>
            <a:ext cx="10698480" cy="1335024"/>
          </a:xfrm>
          <a:prstGeom prst="roundRect">
            <a:avLst>
              <a:gd name="adj" fmla="val 6849"/>
            </a:avLst>
          </a:prstGeom>
          <a:solidFill>
            <a:srgbClr val="00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4507992"/>
            <a:ext cx="10698480" cy="1335024"/>
          </a:xfrm>
          <a:prstGeom prst="roundRect">
            <a:avLst>
              <a:gd name="adj" fmla="val 8219"/>
            </a:avLst>
          </a:prstGeom>
          <a:solidFill>
            <a:srgbClr val="0F1629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4507992"/>
            <a:ext cx="10698480" cy="512064"/>
          </a:xfrm>
          <a:prstGeom prst="roundRect">
            <a:avLst>
              <a:gd name="adj" fmla="val 21429"/>
            </a:avLst>
          </a:prstGeom>
          <a:solidFill>
            <a:srgbClr val="0891B2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5065776"/>
            <a:ext cx="10698480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" y="5221224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68680" y="5020056"/>
            <a:ext cx="10442448" cy="749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 No coração de qualquer programa está a manipulação de dados.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0" y="6903720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5" name="Shape 23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6" name="Shape 24"/>
          <p:cNvSpPr/>
          <p:nvPr/>
        </p:nvSpPr>
        <p:spPr>
          <a:xfrm>
            <a:off x="4063898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7" name="Shape 25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8" name="Shape 26"/>
          <p:cNvSpPr/>
          <p:nvPr/>
        </p:nvSpPr>
        <p:spPr>
          <a:xfrm>
            <a:off x="8127797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9" name="Shape 27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6954012"/>
            <a:ext cx="12191695" cy="2743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18 / 75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4F46E5"/>
          </a:solidFill>
          <a:ln/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70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9260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D9770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Estruturas de Dados Fundamentais (Continuação)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1508760"/>
            <a:ext cx="10698480" cy="4709160"/>
          </a:xfrm>
          <a:prstGeom prst="roundRect">
            <a:avLst>
              <a:gd name="adj" fmla="val 1942"/>
            </a:avLst>
          </a:prstGeom>
          <a:solidFill>
            <a:srgbClr val="040810"/>
          </a:solidFill>
          <a:ln/>
        </p:spPr>
      </p:sp>
      <p:sp>
        <p:nvSpPr>
          <p:cNvPr id="7" name="Shape 5"/>
          <p:cNvSpPr/>
          <p:nvPr/>
        </p:nvSpPr>
        <p:spPr>
          <a:xfrm>
            <a:off x="877824" y="1636776"/>
            <a:ext cx="45720" cy="445312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8" name="Text 6"/>
          <p:cNvSpPr/>
          <p:nvPr/>
        </p:nvSpPr>
        <p:spPr>
          <a:xfrm>
            <a:off x="1060704" y="1618488"/>
            <a:ext cx="10149840" cy="44897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Precisamos de maneiras eficazes de organizar informações, seja para armazenar uma lista de usuários, configurações de um aplicativo ou resultados de um sensor.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0" y="6903720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0" name="Shape 8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1" name="Shape 9"/>
          <p:cNvSpPr/>
          <p:nvPr/>
        </p:nvSpPr>
        <p:spPr>
          <a:xfrm>
            <a:off x="4063898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2" name="Shape 10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3" name="Shape 11"/>
          <p:cNvSpPr/>
          <p:nvPr/>
        </p:nvSpPr>
        <p:spPr>
          <a:xfrm>
            <a:off x="8127797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4" name="Shape 12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6954012"/>
            <a:ext cx="12191695" cy="2743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19 / 75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4F46E5"/>
          </a:solidFill>
          <a:ln/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70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67093" cy="6858000"/>
          </a:xfrm>
          <a:prstGeom prst="rect">
            <a:avLst/>
          </a:prstGeom>
          <a:solidFill>
            <a:srgbClr val="0408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267093" cy="115214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197864"/>
            <a:ext cx="4267093" cy="115214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2395728"/>
            <a:ext cx="4267093" cy="115214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3593592"/>
            <a:ext cx="4267093" cy="115214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4791456"/>
            <a:ext cx="4267093" cy="115214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5989320"/>
            <a:ext cx="4267093" cy="115214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9" name="Shape 7"/>
          <p:cNvSpPr/>
          <p:nvPr/>
        </p:nvSpPr>
        <p:spPr>
          <a:xfrm>
            <a:off x="4267093" y="0"/>
            <a:ext cx="45720" cy="6858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0" name="Shape 8"/>
          <p:cNvSpPr/>
          <p:nvPr/>
        </p:nvSpPr>
        <p:spPr>
          <a:xfrm>
            <a:off x="4312813" y="0"/>
            <a:ext cx="13716" cy="6858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502920"/>
            <a:ext cx="344413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F46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" y="1197864"/>
            <a:ext cx="1097280" cy="10973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1254557"/>
            <a:ext cx="3444133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Estruturas de Dados Fundamentais (Continuação)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4587133" y="530352"/>
            <a:ext cx="41148" cy="7955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5" name="Text 13"/>
          <p:cNvSpPr/>
          <p:nvPr/>
        </p:nvSpPr>
        <p:spPr>
          <a:xfrm>
            <a:off x="4770013" y="466344"/>
            <a:ext cx="6973626" cy="9418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Uma estrutura de dados é uma forma particular de organizar dados em um computador para que possam ser acessados e modificados de forma eficiente.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70013" y="1437437"/>
            <a:ext cx="6973626" cy="4572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17" name="Shape 15"/>
          <p:cNvSpPr/>
          <p:nvPr/>
        </p:nvSpPr>
        <p:spPr>
          <a:xfrm>
            <a:off x="4587133" y="1536192"/>
            <a:ext cx="41148" cy="7955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4770013" y="1472184"/>
            <a:ext cx="6973626" cy="9418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Python, sendo uma linguagem de alto nível, abstrai muitos dos detalhes complexos de implementação dessas estruturas.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0" y="718718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0" name="Shape 18"/>
          <p:cNvSpPr/>
          <p:nvPr/>
        </p:nvSpPr>
        <p:spPr>
          <a:xfrm>
            <a:off x="2031949" y="723747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1" name="Shape 19"/>
          <p:cNvSpPr/>
          <p:nvPr/>
        </p:nvSpPr>
        <p:spPr>
          <a:xfrm>
            <a:off x="4063898" y="718718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2" name="Shape 20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3" name="Shape 21"/>
          <p:cNvSpPr/>
          <p:nvPr/>
        </p:nvSpPr>
        <p:spPr>
          <a:xfrm>
            <a:off x="8127797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4" name="Shape 22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7287768"/>
            <a:ext cx="12191695" cy="2743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723747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 / 75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4F46E5"/>
          </a:solidFill>
          <a:ln/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70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9260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7C3AE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Estruturas de Dados Fundamentais (Continuação) (Continuação)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58952" y="1545336"/>
            <a:ext cx="10698480" cy="1124712"/>
          </a:xfrm>
          <a:prstGeom prst="roundRect">
            <a:avLst>
              <a:gd name="adj" fmla="val 8130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508760"/>
            <a:ext cx="10698480" cy="1124712"/>
          </a:xfrm>
          <a:prstGeom prst="roundRect">
            <a:avLst>
              <a:gd name="adj" fmla="val 8130"/>
            </a:avLst>
          </a:prstGeom>
          <a:solidFill>
            <a:srgbClr val="0F1629"/>
          </a:solidFill>
          <a:ln w="6350">
            <a:solidFill>
              <a:srgbClr val="1E2D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508760"/>
            <a:ext cx="749808" cy="1124712"/>
          </a:xfrm>
          <a:prstGeom prst="roundRect">
            <a:avLst>
              <a:gd name="adj" fmla="val 12195"/>
            </a:avLst>
          </a:prstGeom>
          <a:solidFill>
            <a:srgbClr val="4F46E5"/>
          </a:solidFill>
          <a:ln/>
        </p:spPr>
      </p:sp>
      <p:sp>
        <p:nvSpPr>
          <p:cNvPr id="9" name="Shape 7"/>
          <p:cNvSpPr/>
          <p:nvPr/>
        </p:nvSpPr>
        <p:spPr>
          <a:xfrm>
            <a:off x="1389888" y="1508760"/>
            <a:ext cx="91440" cy="112471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508760"/>
            <a:ext cx="658368" cy="1124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>
                    <a:alpha val="9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1481328" y="1733702"/>
            <a:ext cx="7315" cy="674827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2" name="Text 10"/>
          <p:cNvSpPr/>
          <p:nvPr/>
        </p:nvSpPr>
        <p:spPr>
          <a:xfrm>
            <a:off x="1591056" y="1536192"/>
            <a:ext cx="9747504" cy="10698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Ela oferece ferramentas prontas para uso que são poderosas e intuitivas, simplificando a tarefa de organizar e gerenciar dados de forma robusta e performática.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58952" y="2779776"/>
            <a:ext cx="10698480" cy="1124712"/>
          </a:xfrm>
          <a:prstGeom prst="roundRect">
            <a:avLst>
              <a:gd name="adj" fmla="val 8130"/>
            </a:avLst>
          </a:prstGeom>
          <a:solidFill>
            <a:srgbClr val="000000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2743200"/>
            <a:ext cx="10698480" cy="1124712"/>
          </a:xfrm>
          <a:prstGeom prst="roundRect">
            <a:avLst>
              <a:gd name="adj" fmla="val 8130"/>
            </a:avLst>
          </a:prstGeom>
          <a:solidFill>
            <a:srgbClr val="0F1629"/>
          </a:solidFill>
          <a:ln w="6350">
            <a:solidFill>
              <a:srgbClr val="1E2D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2743200"/>
            <a:ext cx="749808" cy="1124712"/>
          </a:xfrm>
          <a:prstGeom prst="roundRect">
            <a:avLst>
              <a:gd name="adj" fmla="val 12195"/>
            </a:avLst>
          </a:prstGeom>
          <a:solidFill>
            <a:srgbClr val="7C3AED"/>
          </a:solidFill>
          <a:ln/>
        </p:spPr>
      </p:sp>
      <p:sp>
        <p:nvSpPr>
          <p:cNvPr id="16" name="Shape 14"/>
          <p:cNvSpPr/>
          <p:nvPr/>
        </p:nvSpPr>
        <p:spPr>
          <a:xfrm>
            <a:off x="1389888" y="2743200"/>
            <a:ext cx="91440" cy="112471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743200"/>
            <a:ext cx="658368" cy="1124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>
                    <a:alpha val="9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1481328" y="2968142"/>
            <a:ext cx="7315" cy="674827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1591056" y="2770632"/>
            <a:ext cx="9747504" cy="10698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 Python oferece estruturas de dados embutidas que simplificam a organização e manipulação de informações.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6903720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1" name="Shape 19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2" name="Shape 20"/>
          <p:cNvSpPr/>
          <p:nvPr/>
        </p:nvSpPr>
        <p:spPr>
          <a:xfrm>
            <a:off x="4063898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3" name="Shape 21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4" name="Shape 22"/>
          <p:cNvSpPr/>
          <p:nvPr/>
        </p:nvSpPr>
        <p:spPr>
          <a:xfrm>
            <a:off x="8127797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5" name="Shape 23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6" name="Shape 24"/>
          <p:cNvSpPr/>
          <p:nvPr/>
        </p:nvSpPr>
        <p:spPr>
          <a:xfrm>
            <a:off x="0" y="6954012"/>
            <a:ext cx="12191695" cy="2743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21 / 75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4F46E5"/>
          </a:solidFill>
          <a:ln/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70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9260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0891B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Estruturas de Dados Fundamentais (Continuação)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58952" y="1545336"/>
            <a:ext cx="10698480" cy="1335024"/>
          </a:xfrm>
          <a:prstGeom prst="roundRect">
            <a:avLst>
              <a:gd name="adj" fmla="val 6849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508760"/>
            <a:ext cx="10698480" cy="1335024"/>
          </a:xfrm>
          <a:prstGeom prst="roundRect">
            <a:avLst>
              <a:gd name="adj" fmla="val 8219"/>
            </a:avLst>
          </a:prstGeom>
          <a:solidFill>
            <a:srgbClr val="0F162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508760"/>
            <a:ext cx="10698480" cy="512064"/>
          </a:xfrm>
          <a:prstGeom prst="roundRect">
            <a:avLst>
              <a:gd name="adj" fmla="val 21429"/>
            </a:avLst>
          </a:prstGeom>
          <a:solidFill>
            <a:srgbClr val="4F46E5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066544"/>
            <a:ext cx="10698480" cy="1097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2221992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1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310" dirty="0"/>
          </a:p>
        </p:txBody>
      </p:sp>
      <p:sp>
        <p:nvSpPr>
          <p:cNvPr id="11" name="Text 9"/>
          <p:cNvSpPr/>
          <p:nvPr/>
        </p:nvSpPr>
        <p:spPr>
          <a:xfrm>
            <a:off x="868680" y="2020824"/>
            <a:ext cx="10442448" cy="749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31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Elas permitem armazenar coleções de itens, associar dados através de chaves, ou garantir a unicidade de elementos.</a:t>
            </a:r>
            <a:endParaRPr lang="en-US" sz="1310" dirty="0"/>
          </a:p>
        </p:txBody>
      </p:sp>
      <p:sp>
        <p:nvSpPr>
          <p:cNvPr id="12" name="Shape 10"/>
          <p:cNvSpPr/>
          <p:nvPr/>
        </p:nvSpPr>
        <p:spPr>
          <a:xfrm>
            <a:off x="758952" y="3044952"/>
            <a:ext cx="10698480" cy="1335024"/>
          </a:xfrm>
          <a:prstGeom prst="roundRect">
            <a:avLst>
              <a:gd name="adj" fmla="val 6849"/>
            </a:avLst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3008376"/>
            <a:ext cx="10698480" cy="1335024"/>
          </a:xfrm>
          <a:prstGeom prst="roundRect">
            <a:avLst>
              <a:gd name="adj" fmla="val 8219"/>
            </a:avLst>
          </a:prstGeom>
          <a:solidFill>
            <a:srgbClr val="0F162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3008376"/>
            <a:ext cx="10698480" cy="512064"/>
          </a:xfrm>
          <a:prstGeom prst="roundRect">
            <a:avLst>
              <a:gd name="adj" fmla="val 21429"/>
            </a:avLst>
          </a:prstGeom>
          <a:solidFill>
            <a:srgbClr val="7C3AED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3566160"/>
            <a:ext cx="10698480" cy="1097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3721608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1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310" dirty="0"/>
          </a:p>
        </p:txBody>
      </p:sp>
      <p:sp>
        <p:nvSpPr>
          <p:cNvPr id="17" name="Text 15"/>
          <p:cNvSpPr/>
          <p:nvPr/>
        </p:nvSpPr>
        <p:spPr>
          <a:xfrm>
            <a:off x="868680" y="3520440"/>
            <a:ext cx="10442448" cy="749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31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Cada estrutura possui características específicas de ordenação, mutabilidade e acesso, que determinam sua aplicação ideal.</a:t>
            </a:r>
            <a:endParaRPr lang="en-US" sz="1310" dirty="0"/>
          </a:p>
        </p:txBody>
      </p:sp>
      <p:sp>
        <p:nvSpPr>
          <p:cNvPr id="18" name="Shape 16"/>
          <p:cNvSpPr/>
          <p:nvPr/>
        </p:nvSpPr>
        <p:spPr>
          <a:xfrm>
            <a:off x="758952" y="4544568"/>
            <a:ext cx="10698480" cy="1335024"/>
          </a:xfrm>
          <a:prstGeom prst="roundRect">
            <a:avLst>
              <a:gd name="adj" fmla="val 6849"/>
            </a:avLst>
          </a:prstGeom>
          <a:solidFill>
            <a:srgbClr val="00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4507992"/>
            <a:ext cx="10698480" cy="1335024"/>
          </a:xfrm>
          <a:prstGeom prst="roundRect">
            <a:avLst>
              <a:gd name="adj" fmla="val 8219"/>
            </a:avLst>
          </a:prstGeom>
          <a:solidFill>
            <a:srgbClr val="0F1629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4507992"/>
            <a:ext cx="10698480" cy="512064"/>
          </a:xfrm>
          <a:prstGeom prst="roundRect">
            <a:avLst>
              <a:gd name="adj" fmla="val 21429"/>
            </a:avLst>
          </a:prstGeom>
          <a:solidFill>
            <a:srgbClr val="0891B2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5065776"/>
            <a:ext cx="10698480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" y="5221224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1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310" dirty="0"/>
          </a:p>
        </p:txBody>
      </p:sp>
      <p:sp>
        <p:nvSpPr>
          <p:cNvPr id="23" name="Text 21"/>
          <p:cNvSpPr/>
          <p:nvPr/>
        </p:nvSpPr>
        <p:spPr>
          <a:xfrm>
            <a:off x="868680" y="5020056"/>
            <a:ext cx="10442448" cy="749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31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Compreender seu funcionamento é crucial para otimizar o código e resolver problemas de forma eficiente.</a:t>
            </a:r>
            <a:endParaRPr lang="en-US" sz="1310" dirty="0"/>
          </a:p>
        </p:txBody>
      </p:sp>
      <p:sp>
        <p:nvSpPr>
          <p:cNvPr id="24" name="Shape 22"/>
          <p:cNvSpPr/>
          <p:nvPr/>
        </p:nvSpPr>
        <p:spPr>
          <a:xfrm>
            <a:off x="0" y="6903720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5" name="Shape 23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6" name="Shape 24"/>
          <p:cNvSpPr/>
          <p:nvPr/>
        </p:nvSpPr>
        <p:spPr>
          <a:xfrm>
            <a:off x="4063898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7" name="Shape 25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8" name="Shape 26"/>
          <p:cNvSpPr/>
          <p:nvPr/>
        </p:nvSpPr>
        <p:spPr>
          <a:xfrm>
            <a:off x="8127797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9" name="Shape 27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6954012"/>
            <a:ext cx="12191695" cy="2743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22 / 75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4F46E5"/>
          </a:solidFill>
          <a:ln/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70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9260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0596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Estruturas de Dados Fundamentais (Continuação) (Continuação)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1508760"/>
            <a:ext cx="10698480" cy="4709160"/>
          </a:xfrm>
          <a:prstGeom prst="roundRect">
            <a:avLst>
              <a:gd name="adj" fmla="val 1942"/>
            </a:avLst>
          </a:prstGeom>
          <a:solidFill>
            <a:srgbClr val="040810"/>
          </a:solidFill>
          <a:ln/>
        </p:spPr>
      </p:sp>
      <p:sp>
        <p:nvSpPr>
          <p:cNvPr id="7" name="Shape 5"/>
          <p:cNvSpPr/>
          <p:nvPr/>
        </p:nvSpPr>
        <p:spPr>
          <a:xfrm>
            <a:off x="877824" y="1636776"/>
            <a:ext cx="45720" cy="445312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8" name="Text 6"/>
          <p:cNvSpPr/>
          <p:nvPr/>
        </p:nvSpPr>
        <p:spPr>
          <a:xfrm>
            <a:off x="1060704" y="1618488"/>
            <a:ext cx="10149840" cy="44897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Mutável Sequências dinâmicas de itens (logs, filas).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0" y="6903720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0" name="Shape 8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1" name="Shape 9"/>
          <p:cNvSpPr/>
          <p:nvPr/>
        </p:nvSpPr>
        <p:spPr>
          <a:xfrm>
            <a:off x="4063898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2" name="Shape 10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3" name="Shape 11"/>
          <p:cNvSpPr/>
          <p:nvPr/>
        </p:nvSpPr>
        <p:spPr>
          <a:xfrm>
            <a:off x="8127797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4" name="Shape 12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6954012"/>
            <a:ext cx="12191695" cy="2743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23 / 75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4F46E5"/>
          </a:solidFill>
          <a:ln/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70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67093" cy="6858000"/>
          </a:xfrm>
          <a:prstGeom prst="rect">
            <a:avLst/>
          </a:prstGeom>
          <a:solidFill>
            <a:srgbClr val="0408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267093" cy="115214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197864"/>
            <a:ext cx="4267093" cy="115214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2395728"/>
            <a:ext cx="4267093" cy="115214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3593592"/>
            <a:ext cx="4267093" cy="115214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4791456"/>
            <a:ext cx="4267093" cy="115214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5989320"/>
            <a:ext cx="4267093" cy="115214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9" name="Shape 7"/>
          <p:cNvSpPr/>
          <p:nvPr/>
        </p:nvSpPr>
        <p:spPr>
          <a:xfrm>
            <a:off x="4267093" y="0"/>
            <a:ext cx="45720" cy="6858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0" name="Shape 8"/>
          <p:cNvSpPr/>
          <p:nvPr/>
        </p:nvSpPr>
        <p:spPr>
          <a:xfrm>
            <a:off x="4312813" y="0"/>
            <a:ext cx="13716" cy="6858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502920"/>
            <a:ext cx="344413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9770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" y="1197864"/>
            <a:ext cx="1097280" cy="10973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1254557"/>
            <a:ext cx="3444133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Estruturas de Dados Fundamentais (Continuação)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4587133" y="530352"/>
            <a:ext cx="41148" cy="7955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5" name="Text 13"/>
          <p:cNvSpPr/>
          <p:nvPr/>
        </p:nvSpPr>
        <p:spPr>
          <a:xfrm>
            <a:off x="4770013" y="466344"/>
            <a:ext cx="6973626" cy="9418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Tuplas (tuple) Coleção ordenada e indexada.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70013" y="1437437"/>
            <a:ext cx="6973626" cy="4572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17" name="Shape 15"/>
          <p:cNvSpPr/>
          <p:nvPr/>
        </p:nvSpPr>
        <p:spPr>
          <a:xfrm>
            <a:off x="4587133" y="1536192"/>
            <a:ext cx="41148" cy="7955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4770013" y="1472184"/>
            <a:ext cx="6973626" cy="9418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Imutável Dados fixos e agrupados (coordenadas, registros).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770013" y="2443277"/>
            <a:ext cx="6973626" cy="4572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20" name="Shape 18"/>
          <p:cNvSpPr/>
          <p:nvPr/>
        </p:nvSpPr>
        <p:spPr>
          <a:xfrm>
            <a:off x="4587133" y="2542032"/>
            <a:ext cx="41148" cy="7955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4770013" y="2478024"/>
            <a:ext cx="6973626" cy="9418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Dicionários (dict) Coleção de pares chave-valor (chaves únicas).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770013" y="3449117"/>
            <a:ext cx="6973626" cy="4572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23" name="Shape 21"/>
          <p:cNvSpPr/>
          <p:nvPr/>
        </p:nvSpPr>
        <p:spPr>
          <a:xfrm>
            <a:off x="4587133" y="3547872"/>
            <a:ext cx="41148" cy="79552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4" name="Text 22"/>
          <p:cNvSpPr/>
          <p:nvPr/>
        </p:nvSpPr>
        <p:spPr>
          <a:xfrm>
            <a:off x="4770013" y="3483864"/>
            <a:ext cx="6973626" cy="9418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Mutável Dados estruturados, mapeamentos (usuários, configurações).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0" y="718718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6" name="Shape 24"/>
          <p:cNvSpPr/>
          <p:nvPr/>
        </p:nvSpPr>
        <p:spPr>
          <a:xfrm>
            <a:off x="2031949" y="723747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7" name="Shape 25"/>
          <p:cNvSpPr/>
          <p:nvPr/>
        </p:nvSpPr>
        <p:spPr>
          <a:xfrm>
            <a:off x="4063898" y="718718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8" name="Shape 26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9" name="Shape 27"/>
          <p:cNvSpPr/>
          <p:nvPr/>
        </p:nvSpPr>
        <p:spPr>
          <a:xfrm>
            <a:off x="8127797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0" name="Shape 28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1" name="Shape 29"/>
          <p:cNvSpPr/>
          <p:nvPr/>
        </p:nvSpPr>
        <p:spPr>
          <a:xfrm>
            <a:off x="0" y="7287768"/>
            <a:ext cx="12191695" cy="2743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" y="723747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24 / 75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4F46E5"/>
          </a:solidFill>
          <a:ln/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4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"/>
            <a:ext cx="12191695" cy="4114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D9770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PRINCIPAIS APRENDIZADOS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Principais Aprendizados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12648" y="1536192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000000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508760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0F1A30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508760"/>
            <a:ext cx="45720" cy="1691640"/>
          </a:xfrm>
          <a:prstGeom prst="rect">
            <a:avLst>
              <a:gd name="adj" fmla="val 240000"/>
            </a:avLst>
          </a:prstGeom>
          <a:solidFill>
            <a:srgbClr val="4F46E5"/>
          </a:solidFill>
          <a:ln/>
        </p:spPr>
      </p:sp>
      <p:sp>
        <p:nvSpPr>
          <p:cNvPr id="8" name="Shape 6"/>
          <p:cNvSpPr/>
          <p:nvPr/>
        </p:nvSpPr>
        <p:spPr>
          <a:xfrm>
            <a:off x="722376" y="16367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4F46E5"/>
          </a:solidFill>
          <a:ln/>
        </p:spPr>
      </p:sp>
      <p:sp>
        <p:nvSpPr>
          <p:cNvPr id="9" name="Text 7"/>
          <p:cNvSpPr/>
          <p:nvPr/>
        </p:nvSpPr>
        <p:spPr>
          <a:xfrm>
            <a:off x="722376" y="20299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58952" y="2423160"/>
            <a:ext cx="517687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Agora você domina os conceitos fundamentais deste módulo e pode aplicá-los na prática.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46724" y="1536192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00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6228436" y="1508760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0F1A30"/>
          </a:solidFill>
          <a:ln/>
        </p:spPr>
      </p:sp>
      <p:sp>
        <p:nvSpPr>
          <p:cNvPr id="13" name="Shape 11"/>
          <p:cNvSpPr/>
          <p:nvPr/>
        </p:nvSpPr>
        <p:spPr>
          <a:xfrm>
            <a:off x="6228436" y="1508760"/>
            <a:ext cx="45720" cy="1691640"/>
          </a:xfrm>
          <a:prstGeom prst="rect">
            <a:avLst>
              <a:gd name="adj" fmla="val 240000"/>
            </a:avLst>
          </a:prstGeom>
          <a:solidFill>
            <a:srgbClr val="7C3AED"/>
          </a:solidFill>
          <a:ln/>
        </p:spPr>
      </p:sp>
      <p:sp>
        <p:nvSpPr>
          <p:cNvPr id="14" name="Shape 12"/>
          <p:cNvSpPr/>
          <p:nvPr/>
        </p:nvSpPr>
        <p:spPr>
          <a:xfrm>
            <a:off x="6356452" y="16367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6356452" y="20299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93028" y="2423160"/>
            <a:ext cx="517687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Lembre-se de revisar os pontos principais antes de avançar para o próximo módulo.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2648" y="3355848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00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" y="3328416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0F1A30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" y="3328416"/>
            <a:ext cx="45720" cy="1691640"/>
          </a:xfrm>
          <a:prstGeom prst="rect">
            <a:avLst>
              <a:gd name="adj" fmla="val 240000"/>
            </a:avLst>
          </a:prstGeom>
          <a:solidFill>
            <a:srgbClr val="0891B2"/>
          </a:solidFill>
          <a:ln/>
        </p:spPr>
      </p:sp>
      <p:sp>
        <p:nvSpPr>
          <p:cNvPr id="20" name="Shape 18"/>
          <p:cNvSpPr/>
          <p:nvPr/>
        </p:nvSpPr>
        <p:spPr>
          <a:xfrm>
            <a:off x="722376" y="345643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722376" y="38496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58952" y="4242816"/>
            <a:ext cx="517687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Você é capaz de explicar estes conceitos com suas próprias palavras e usá-los em projetos reais.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46724" y="3355848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000000"/>
          </a:solidFill>
          <a:ln/>
        </p:spPr>
      </p:sp>
      <p:sp>
        <p:nvSpPr>
          <p:cNvPr id="24" name="Shape 22"/>
          <p:cNvSpPr/>
          <p:nvPr/>
        </p:nvSpPr>
        <p:spPr>
          <a:xfrm>
            <a:off x="6228436" y="3328416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0F1A30"/>
          </a:solidFill>
          <a:ln/>
        </p:spPr>
      </p:sp>
      <p:sp>
        <p:nvSpPr>
          <p:cNvPr id="25" name="Shape 23"/>
          <p:cNvSpPr/>
          <p:nvPr/>
        </p:nvSpPr>
        <p:spPr>
          <a:xfrm>
            <a:off x="6228436" y="3328416"/>
            <a:ext cx="45720" cy="1691640"/>
          </a:xfrm>
          <a:prstGeom prst="rect">
            <a:avLst>
              <a:gd name="adj" fmla="val 240000"/>
            </a:avLst>
          </a:prstGeom>
          <a:solidFill>
            <a:srgbClr val="059669"/>
          </a:solidFill>
          <a:ln/>
        </p:spPr>
      </p:sp>
      <p:sp>
        <p:nvSpPr>
          <p:cNvPr id="26" name="Shape 24"/>
          <p:cNvSpPr/>
          <p:nvPr/>
        </p:nvSpPr>
        <p:spPr>
          <a:xfrm>
            <a:off x="6356452" y="345643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059669"/>
          </a:solidFill>
          <a:ln/>
        </p:spPr>
      </p:sp>
      <p:sp>
        <p:nvSpPr>
          <p:cNvPr id="27" name="Text 25"/>
          <p:cNvSpPr/>
          <p:nvPr/>
        </p:nvSpPr>
        <p:spPr>
          <a:xfrm>
            <a:off x="6356452" y="38496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93028" y="4242816"/>
            <a:ext cx="517687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Continue praticando: a maestria vem com a aplicação consistente do conhecimento adquirido.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0" name="Shape 28"/>
          <p:cNvSpPr/>
          <p:nvPr/>
        </p:nvSpPr>
        <p:spPr>
          <a:xfrm>
            <a:off x="2031949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1" name="Shape 29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2" name="Shape 30"/>
          <p:cNvSpPr/>
          <p:nvPr/>
        </p:nvSpPr>
        <p:spPr>
          <a:xfrm>
            <a:off x="6095848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3" name="Shape 31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4" name="Shape 32"/>
          <p:cNvSpPr/>
          <p:nvPr/>
        </p:nvSpPr>
        <p:spPr>
          <a:xfrm>
            <a:off x="10159746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25 / 75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4F46E5"/>
          </a:solidFill>
          <a:ln/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4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021" y="0"/>
            <a:ext cx="3413675" cy="6858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7071055" y="1463040"/>
            <a:ext cx="4754880" cy="4206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059669">
                    <a:alpha val="2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0728655" y="502920"/>
            <a:ext cx="118872" cy="118872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005840"/>
            <a:ext cx="45720" cy="21031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1005840"/>
            <a:ext cx="13716" cy="21031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097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0" kern="0" dirty="0">
                <a:solidFill>
                  <a:srgbClr val="0596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MÓDULO 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05840" y="1435608"/>
            <a:ext cx="1828800" cy="228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600200"/>
            <a:ext cx="6827349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Manipulação de Arquivos e Exceções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1005840" y="4142232"/>
            <a:ext cx="2011680" cy="10973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425196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0596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QUE VOCÊ VAI APRENDER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005840" y="45902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1234440" y="4544568"/>
            <a:ext cx="58520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Módulo 4: Manipulação de Arquivos e Exceções Objetivo do Módulo Ler e escrever dados em arquivos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05840" y="50474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059669"/>
          </a:solidFill>
          <a:ln/>
        </p:spPr>
      </p:sp>
      <p:sp>
        <p:nvSpPr>
          <p:cNvPr id="15" name="Text 13"/>
          <p:cNvSpPr/>
          <p:nvPr/>
        </p:nvSpPr>
        <p:spPr>
          <a:xfrm>
            <a:off x="1234440" y="5001768"/>
            <a:ext cx="58520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Compreender e aplicar blocos try-except-finally para tratamento robusto de erros.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05840" y="55046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1234440" y="5715000"/>
            <a:ext cx="58520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Desenvolver aplicações Python mais seguras e confiáveis, capazes de lidar com cenários inesperados.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6446520"/>
            <a:ext cx="542544" cy="7315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9" name="Shape 17"/>
          <p:cNvSpPr/>
          <p:nvPr/>
        </p:nvSpPr>
        <p:spPr>
          <a:xfrm>
            <a:off x="1264920" y="6499555"/>
            <a:ext cx="542544" cy="7315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0" name="Shape 18"/>
          <p:cNvSpPr/>
          <p:nvPr/>
        </p:nvSpPr>
        <p:spPr>
          <a:xfrm>
            <a:off x="1798320" y="6446520"/>
            <a:ext cx="542544" cy="7315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1" name="Shape 19"/>
          <p:cNvSpPr/>
          <p:nvPr/>
        </p:nvSpPr>
        <p:spPr>
          <a:xfrm>
            <a:off x="2331720" y="6499555"/>
            <a:ext cx="542544" cy="7315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2" name="Shape 20"/>
          <p:cNvSpPr/>
          <p:nvPr/>
        </p:nvSpPr>
        <p:spPr>
          <a:xfrm>
            <a:off x="2865120" y="6446520"/>
            <a:ext cx="542544" cy="7315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3" name="Shape 21"/>
          <p:cNvSpPr/>
          <p:nvPr/>
        </p:nvSpPr>
        <p:spPr>
          <a:xfrm>
            <a:off x="3398520" y="6499555"/>
            <a:ext cx="542544" cy="7315"/>
          </a:xfrm>
          <a:prstGeom prst="rect">
            <a:avLst/>
          </a:prstGeom>
          <a:solidFill>
            <a:srgbClr val="059669"/>
          </a:solidFill>
          <a:ln/>
        </p:spPr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70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9260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7C3AE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Manipulação de Arquivos e Exceções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58952" y="1545336"/>
            <a:ext cx="10698480" cy="1335024"/>
          </a:xfrm>
          <a:prstGeom prst="roundRect">
            <a:avLst>
              <a:gd name="adj" fmla="val 6849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508760"/>
            <a:ext cx="10698480" cy="1335024"/>
          </a:xfrm>
          <a:prstGeom prst="roundRect">
            <a:avLst>
              <a:gd name="adj" fmla="val 8219"/>
            </a:avLst>
          </a:prstGeom>
          <a:solidFill>
            <a:srgbClr val="0F162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508760"/>
            <a:ext cx="10698480" cy="512064"/>
          </a:xfrm>
          <a:prstGeom prst="roundRect">
            <a:avLst>
              <a:gd name="adj" fmla="val 21429"/>
            </a:avLst>
          </a:prstGeom>
          <a:solidFill>
            <a:srgbClr val="4F46E5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066544"/>
            <a:ext cx="10698480" cy="1097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2221992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2020824"/>
            <a:ext cx="10442448" cy="749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b="1" dirty="0">
                <a:solidFill>
                  <a:srgbClr val="4F46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Módulo 4: Manipulação de Arquivos e Exceções Objetivo do Módulo Ler e escrever dados em arquivos de texto e binários, aplicando as melhores práticas.</a:t>
            </a:r>
            <a:pPr indent="0" marL="0">
              <a:lnSpc>
                <a:spcPct val="116000"/>
              </a:lnSpc>
              <a:buNone/>
            </a:pP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58952" y="3044952"/>
            <a:ext cx="10698480" cy="1335024"/>
          </a:xfrm>
          <a:prstGeom prst="roundRect">
            <a:avLst>
              <a:gd name="adj" fmla="val 6849"/>
            </a:avLst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3008376"/>
            <a:ext cx="10698480" cy="1335024"/>
          </a:xfrm>
          <a:prstGeom prst="roundRect">
            <a:avLst>
              <a:gd name="adj" fmla="val 8219"/>
            </a:avLst>
          </a:prstGeom>
          <a:solidFill>
            <a:srgbClr val="0F162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3008376"/>
            <a:ext cx="10698480" cy="512064"/>
          </a:xfrm>
          <a:prstGeom prst="roundRect">
            <a:avLst>
              <a:gd name="adj" fmla="val 21429"/>
            </a:avLst>
          </a:prstGeom>
          <a:solidFill>
            <a:srgbClr val="7C3AED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3566160"/>
            <a:ext cx="10698480" cy="1097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3721608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3520440"/>
            <a:ext cx="10442448" cy="749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Compreender e aplicar blocos try-except-finally para tratamento robusto de erros.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58952" y="4544568"/>
            <a:ext cx="10698480" cy="1335024"/>
          </a:xfrm>
          <a:prstGeom prst="roundRect">
            <a:avLst>
              <a:gd name="adj" fmla="val 6849"/>
            </a:avLst>
          </a:prstGeom>
          <a:solidFill>
            <a:srgbClr val="00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4507992"/>
            <a:ext cx="10698480" cy="1335024"/>
          </a:xfrm>
          <a:prstGeom prst="roundRect">
            <a:avLst>
              <a:gd name="adj" fmla="val 8219"/>
            </a:avLst>
          </a:prstGeom>
          <a:solidFill>
            <a:srgbClr val="0F1629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4507992"/>
            <a:ext cx="10698480" cy="512064"/>
          </a:xfrm>
          <a:prstGeom prst="roundRect">
            <a:avLst>
              <a:gd name="adj" fmla="val 21429"/>
            </a:avLst>
          </a:prstGeom>
          <a:solidFill>
            <a:srgbClr val="0891B2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5065776"/>
            <a:ext cx="10698480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" y="5221224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68680" y="5020056"/>
            <a:ext cx="10442448" cy="749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Desenvolver aplicações Python mais seguras e confiáveis, capazes de lidar com cenários inesperados.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0" y="6903720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5" name="Shape 23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6" name="Shape 24"/>
          <p:cNvSpPr/>
          <p:nvPr/>
        </p:nvSpPr>
        <p:spPr>
          <a:xfrm>
            <a:off x="4063898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7" name="Shape 25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8" name="Shape 26"/>
          <p:cNvSpPr/>
          <p:nvPr/>
        </p:nvSpPr>
        <p:spPr>
          <a:xfrm>
            <a:off x="8127797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9" name="Shape 27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6954012"/>
            <a:ext cx="12191695" cy="2743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26 / 75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4F46E5"/>
          </a:solidFill>
          <a:ln/>
        </p:spPr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70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9260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0891B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Manipulação de Arquivos e Exceções (Continuação)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1508760"/>
            <a:ext cx="10698480" cy="4709160"/>
          </a:xfrm>
          <a:prstGeom prst="roundRect">
            <a:avLst>
              <a:gd name="adj" fmla="val 1942"/>
            </a:avLst>
          </a:prstGeom>
          <a:solidFill>
            <a:srgbClr val="040810"/>
          </a:solidFill>
          <a:ln/>
        </p:spPr>
      </p:sp>
      <p:sp>
        <p:nvSpPr>
          <p:cNvPr id="7" name="Shape 5"/>
          <p:cNvSpPr/>
          <p:nvPr/>
        </p:nvSpPr>
        <p:spPr>
          <a:xfrm>
            <a:off x="877824" y="1636776"/>
            <a:ext cx="45720" cy="44531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1060704" y="1618488"/>
            <a:ext cx="10149840" cy="44897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Também é fundamental para registrar eventos e depuração.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0" y="6903720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0" name="Shape 8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1" name="Shape 9"/>
          <p:cNvSpPr/>
          <p:nvPr/>
        </p:nvSpPr>
        <p:spPr>
          <a:xfrm>
            <a:off x="4063898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2" name="Shape 10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3" name="Shape 11"/>
          <p:cNvSpPr/>
          <p:nvPr/>
        </p:nvSpPr>
        <p:spPr>
          <a:xfrm>
            <a:off x="8127797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4" name="Shape 12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6954012"/>
            <a:ext cx="12191695" cy="2743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27 / 75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4F46E5"/>
          </a:solidFill>
          <a:ln/>
        </p:spPr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70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67093" cy="6858000"/>
          </a:xfrm>
          <a:prstGeom prst="rect">
            <a:avLst/>
          </a:prstGeom>
          <a:solidFill>
            <a:srgbClr val="0408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267093" cy="115214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197864"/>
            <a:ext cx="4267093" cy="115214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2395728"/>
            <a:ext cx="4267093" cy="115214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3593592"/>
            <a:ext cx="4267093" cy="115214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4791456"/>
            <a:ext cx="4267093" cy="115214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5989320"/>
            <a:ext cx="4267093" cy="115214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9" name="Shape 7"/>
          <p:cNvSpPr/>
          <p:nvPr/>
        </p:nvSpPr>
        <p:spPr>
          <a:xfrm>
            <a:off x="4267093" y="0"/>
            <a:ext cx="45720" cy="6858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0" name="Shape 8"/>
          <p:cNvSpPr/>
          <p:nvPr/>
        </p:nvSpPr>
        <p:spPr>
          <a:xfrm>
            <a:off x="4312813" y="0"/>
            <a:ext cx="13716" cy="6858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502920"/>
            <a:ext cx="344413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596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" y="1197864"/>
            <a:ext cx="1097280" cy="10973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1254557"/>
            <a:ext cx="3444133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Manipulação de Arquivos e Exceções (Continuação)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4587133" y="530352"/>
            <a:ext cx="41148" cy="7955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5" name="Text 13"/>
          <p:cNvSpPr/>
          <p:nvPr/>
        </p:nvSpPr>
        <p:spPr>
          <a:xfrm>
            <a:off x="4770013" y="466344"/>
            <a:ext cx="6973626" cy="9418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Exceções são eventos que interrompem o fluxo normal de um programa, indicando problemas como arquivos não encontrados ou divisões por zero.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70013" y="1437437"/>
            <a:ext cx="6973626" cy="4572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17" name="Shape 15"/>
          <p:cNvSpPr/>
          <p:nvPr/>
        </p:nvSpPr>
        <p:spPr>
          <a:xfrm>
            <a:off x="4587133" y="1536192"/>
            <a:ext cx="41148" cy="7955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4770013" y="1472184"/>
            <a:ext cx="6973626" cy="9418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 A manipulação de arquivos em Python utiliza a função open() para criar um objeto de arquivo, que permite operações de leitura e escrita.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70013" y="2443277"/>
            <a:ext cx="6973626" cy="4572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20" name="Shape 18"/>
          <p:cNvSpPr/>
          <p:nvPr/>
        </p:nvSpPr>
        <p:spPr>
          <a:xfrm>
            <a:off x="4587133" y="2542032"/>
            <a:ext cx="41148" cy="7955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4770013" y="2478024"/>
            <a:ext cx="6973626" cy="9418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É essencial fechar o arquivo após o uso para liberar recursos.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0" y="718718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3" name="Shape 21"/>
          <p:cNvSpPr/>
          <p:nvPr/>
        </p:nvSpPr>
        <p:spPr>
          <a:xfrm>
            <a:off x="2031949" y="723747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4" name="Shape 22"/>
          <p:cNvSpPr/>
          <p:nvPr/>
        </p:nvSpPr>
        <p:spPr>
          <a:xfrm>
            <a:off x="4063898" y="718718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5" name="Shape 23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6" name="Shape 24"/>
          <p:cNvSpPr/>
          <p:nvPr/>
        </p:nvSpPr>
        <p:spPr>
          <a:xfrm>
            <a:off x="8127797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7" name="Shape 25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8" name="Shape 26"/>
          <p:cNvSpPr/>
          <p:nvPr/>
        </p:nvSpPr>
        <p:spPr>
          <a:xfrm>
            <a:off x="0" y="7287768"/>
            <a:ext cx="12191695" cy="2743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" y="723747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28 / 75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4F46E5"/>
          </a:solidFill>
          <a:ln/>
        </p:spPr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70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9260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D9770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Manipulação de Arquivos e Exceções (Continuação) (Continuação)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58952" y="1545336"/>
            <a:ext cx="10698480" cy="1124712"/>
          </a:xfrm>
          <a:prstGeom prst="roundRect">
            <a:avLst>
              <a:gd name="adj" fmla="val 8130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508760"/>
            <a:ext cx="10698480" cy="1124712"/>
          </a:xfrm>
          <a:prstGeom prst="roundRect">
            <a:avLst>
              <a:gd name="adj" fmla="val 8130"/>
            </a:avLst>
          </a:prstGeom>
          <a:solidFill>
            <a:srgbClr val="0F1629"/>
          </a:solidFill>
          <a:ln w="6350">
            <a:solidFill>
              <a:srgbClr val="1E2D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508760"/>
            <a:ext cx="749808" cy="1124712"/>
          </a:xfrm>
          <a:prstGeom prst="roundRect">
            <a:avLst>
              <a:gd name="adj" fmla="val 12195"/>
            </a:avLst>
          </a:prstGeom>
          <a:solidFill>
            <a:srgbClr val="4F46E5"/>
          </a:solidFill>
          <a:ln/>
        </p:spPr>
      </p:sp>
      <p:sp>
        <p:nvSpPr>
          <p:cNvPr id="9" name="Shape 7"/>
          <p:cNvSpPr/>
          <p:nvPr/>
        </p:nvSpPr>
        <p:spPr>
          <a:xfrm>
            <a:off x="1389888" y="1508760"/>
            <a:ext cx="91440" cy="112471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508760"/>
            <a:ext cx="658368" cy="1124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>
                    <a:alpha val="9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1481328" y="1733702"/>
            <a:ext cx="7315" cy="674827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2" name="Text 10"/>
          <p:cNvSpPr/>
          <p:nvPr/>
        </p:nvSpPr>
        <p:spPr>
          <a:xfrm>
            <a:off x="1591056" y="1536192"/>
            <a:ext cx="9747504" cy="10698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4F46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Modos de Abertura: </a:t>
            </a:r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Arquivos podem ser abertos em modos como 'r' (leitura), 'w' (escrita, sobrescreve), 'a' (anexar), 'x' (criação exclusiva) e 'b' (binário).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0" y="6903720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4" name="Shape 12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5" name="Shape 13"/>
          <p:cNvSpPr/>
          <p:nvPr/>
        </p:nvSpPr>
        <p:spPr>
          <a:xfrm>
            <a:off x="4063898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6" name="Shape 14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7" name="Shape 15"/>
          <p:cNvSpPr/>
          <p:nvPr/>
        </p:nvSpPr>
        <p:spPr>
          <a:xfrm>
            <a:off x="8127797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8" name="Shape 16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6954012"/>
            <a:ext cx="12191695" cy="2743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29 / 75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4F46E5"/>
          </a:solidFill>
          <a:ln/>
        </p:spPr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70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9260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4F46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Manipulação de Arquivos e Exceções (Continuação)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58952" y="1545336"/>
            <a:ext cx="10698480" cy="1335024"/>
          </a:xfrm>
          <a:prstGeom prst="roundRect">
            <a:avLst>
              <a:gd name="adj" fmla="val 6849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508760"/>
            <a:ext cx="10698480" cy="1335024"/>
          </a:xfrm>
          <a:prstGeom prst="roundRect">
            <a:avLst>
              <a:gd name="adj" fmla="val 8219"/>
            </a:avLst>
          </a:prstGeom>
          <a:solidFill>
            <a:srgbClr val="0F162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508760"/>
            <a:ext cx="10698480" cy="512064"/>
          </a:xfrm>
          <a:prstGeom prst="roundRect">
            <a:avLst>
              <a:gd name="adj" fmla="val 21429"/>
            </a:avLst>
          </a:prstGeom>
          <a:solidFill>
            <a:srgbClr val="4F46E5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066544"/>
            <a:ext cx="10698480" cy="1097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2221992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2020824"/>
            <a:ext cx="10442448" cy="749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b="1" dirty="0">
                <a:solidFill>
                  <a:srgbClr val="4F46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Leitura e Escrita: </a:t>
            </a:r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Métodos como read(), readline(), readlines() são usados para ler, enquanto write() é para escrever conteúdo.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58952" y="3044952"/>
            <a:ext cx="10698480" cy="1335024"/>
          </a:xfrm>
          <a:prstGeom prst="roundRect">
            <a:avLst>
              <a:gd name="adj" fmla="val 6849"/>
            </a:avLst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3008376"/>
            <a:ext cx="10698480" cy="1335024"/>
          </a:xfrm>
          <a:prstGeom prst="roundRect">
            <a:avLst>
              <a:gd name="adj" fmla="val 8219"/>
            </a:avLst>
          </a:prstGeom>
          <a:solidFill>
            <a:srgbClr val="0F162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3008376"/>
            <a:ext cx="10698480" cy="512064"/>
          </a:xfrm>
          <a:prstGeom prst="roundRect">
            <a:avLst>
              <a:gd name="adj" fmla="val 21429"/>
            </a:avLst>
          </a:prstGeom>
          <a:solidFill>
            <a:srgbClr val="7C3AED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3566160"/>
            <a:ext cx="10698480" cy="1097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3721608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3520440"/>
            <a:ext cx="10442448" cy="749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b="1" dirty="0">
                <a:solidFill>
                  <a:srgbClr val="7C3AE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Gerenciamento Automático: </a:t>
            </a:r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instrução with open(...) é a melhor prática, garantindo que o arquivo seja automaticamente fechado, mesmo em caso de erros.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58952" y="4544568"/>
            <a:ext cx="10698480" cy="1335024"/>
          </a:xfrm>
          <a:prstGeom prst="roundRect">
            <a:avLst>
              <a:gd name="adj" fmla="val 6849"/>
            </a:avLst>
          </a:prstGeom>
          <a:solidFill>
            <a:srgbClr val="00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4507992"/>
            <a:ext cx="10698480" cy="1335024"/>
          </a:xfrm>
          <a:prstGeom prst="roundRect">
            <a:avLst>
              <a:gd name="adj" fmla="val 8219"/>
            </a:avLst>
          </a:prstGeom>
          <a:solidFill>
            <a:srgbClr val="0F1629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4507992"/>
            <a:ext cx="10698480" cy="512064"/>
          </a:xfrm>
          <a:prstGeom prst="roundRect">
            <a:avLst>
              <a:gd name="adj" fmla="val 21429"/>
            </a:avLst>
          </a:prstGeom>
          <a:solidFill>
            <a:srgbClr val="0891B2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5065776"/>
            <a:ext cx="10698480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" y="5221224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68680" y="5020056"/>
            <a:ext cx="10442448" cy="749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b="1" dirty="0">
                <a:solidFill>
                  <a:srgbClr val="0891B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Tratamento de Exceções: </a:t>
            </a:r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bloco try encapsula o código propenso a erros.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0" y="6903720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5" name="Shape 23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6" name="Shape 24"/>
          <p:cNvSpPr/>
          <p:nvPr/>
        </p:nvSpPr>
        <p:spPr>
          <a:xfrm>
            <a:off x="4063898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7" name="Shape 25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8" name="Shape 26"/>
          <p:cNvSpPr/>
          <p:nvPr/>
        </p:nvSpPr>
        <p:spPr>
          <a:xfrm>
            <a:off x="8127797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9" name="Shape 27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6954012"/>
            <a:ext cx="12191695" cy="2743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30 / 75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4F46E5"/>
          </a:solidFill>
          <a:ln/>
        </p:spPr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70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9260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7C3AE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Manipulação de Arquivos e Exceções (Continuação) (Continuação)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1508760"/>
            <a:ext cx="10698480" cy="4709160"/>
          </a:xfrm>
          <a:prstGeom prst="roundRect">
            <a:avLst>
              <a:gd name="adj" fmla="val 1942"/>
            </a:avLst>
          </a:prstGeom>
          <a:solidFill>
            <a:srgbClr val="040810"/>
          </a:solidFill>
          <a:ln/>
        </p:spPr>
      </p:sp>
      <p:sp>
        <p:nvSpPr>
          <p:cNvPr id="7" name="Shape 5"/>
          <p:cNvSpPr/>
          <p:nvPr/>
        </p:nvSpPr>
        <p:spPr>
          <a:xfrm>
            <a:off x="877824" y="1636776"/>
            <a:ext cx="45720" cy="44531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1060704" y="1618488"/>
            <a:ext cx="10149840" cy="44897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 uma exceção ocorre, o controle passa para um bloco except correspondente.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0" y="6903720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0" name="Shape 8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1" name="Shape 9"/>
          <p:cNvSpPr/>
          <p:nvPr/>
        </p:nvSpPr>
        <p:spPr>
          <a:xfrm>
            <a:off x="4063898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2" name="Shape 10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3" name="Shape 11"/>
          <p:cNvSpPr/>
          <p:nvPr/>
        </p:nvSpPr>
        <p:spPr>
          <a:xfrm>
            <a:off x="8127797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4" name="Shape 12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6954012"/>
            <a:ext cx="12191695" cy="2743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31 / 75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4F46E5"/>
          </a:solidFill>
          <a:ln/>
        </p:spPr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70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67093" cy="6858000"/>
          </a:xfrm>
          <a:prstGeom prst="rect">
            <a:avLst/>
          </a:prstGeom>
          <a:solidFill>
            <a:srgbClr val="0408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267093" cy="115214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197864"/>
            <a:ext cx="4267093" cy="115214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2395728"/>
            <a:ext cx="4267093" cy="115214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3593592"/>
            <a:ext cx="4267093" cy="115214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4791456"/>
            <a:ext cx="4267093" cy="115214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5989320"/>
            <a:ext cx="4267093" cy="115214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Shape 7"/>
          <p:cNvSpPr/>
          <p:nvPr/>
        </p:nvSpPr>
        <p:spPr>
          <a:xfrm>
            <a:off x="4267093" y="0"/>
            <a:ext cx="45720" cy="68580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Shape 8"/>
          <p:cNvSpPr/>
          <p:nvPr/>
        </p:nvSpPr>
        <p:spPr>
          <a:xfrm>
            <a:off x="4312813" y="0"/>
            <a:ext cx="13716" cy="68580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502920"/>
            <a:ext cx="344413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891B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" y="1197864"/>
            <a:ext cx="1097280" cy="10973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1254557"/>
            <a:ext cx="3444133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Manipulação de Arquivos e Exceções (Continuação)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4587133" y="530352"/>
            <a:ext cx="41148" cy="7955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5" name="Text 13"/>
          <p:cNvSpPr/>
          <p:nvPr/>
        </p:nvSpPr>
        <p:spPr>
          <a:xfrm>
            <a:off x="4770013" y="466344"/>
            <a:ext cx="6973626" cy="9418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b="1" dirty="0">
                <a:solidFill>
                  <a:srgbClr val="4F46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Fluxo de Controle de Exceções: </a:t>
            </a:r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Opcionalmente, else é executado se nenhuma exceção ocorrer, e finally é sempre executado, ideal para limpeza de recursos.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70013" y="1437437"/>
            <a:ext cx="6973626" cy="4572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17" name="Shape 15"/>
          <p:cNvSpPr/>
          <p:nvPr/>
        </p:nvSpPr>
        <p:spPr>
          <a:xfrm>
            <a:off x="4587133" y="1536192"/>
            <a:ext cx="41148" cy="7955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4770013" y="1472184"/>
            <a:ext cx="6973626" cy="9418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b="1" dirty="0">
                <a:solidFill>
                  <a:srgbClr val="7C3AE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Levantando Exceções: </a:t>
            </a:r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palavra-chave raise permite que você crie e lance suas próprias exceções para sinalizar condições de erro específicas.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70013" y="2443277"/>
            <a:ext cx="6973626" cy="4572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20" name="Shape 18"/>
          <p:cNvSpPr/>
          <p:nvPr/>
        </p:nvSpPr>
        <p:spPr>
          <a:xfrm>
            <a:off x="4587133" y="2542032"/>
            <a:ext cx="41148" cy="7955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4770013" y="2478024"/>
            <a:ext cx="6973626" cy="9418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Processar grandes conjuntos de dados em formatos como CSV ou JSON.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0" y="718718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3" name="Shape 21"/>
          <p:cNvSpPr/>
          <p:nvPr/>
        </p:nvSpPr>
        <p:spPr>
          <a:xfrm>
            <a:off x="2031949" y="723747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4" name="Shape 22"/>
          <p:cNvSpPr/>
          <p:nvPr/>
        </p:nvSpPr>
        <p:spPr>
          <a:xfrm>
            <a:off x="4063898" y="718718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5" name="Shape 23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6" name="Shape 24"/>
          <p:cNvSpPr/>
          <p:nvPr/>
        </p:nvSpPr>
        <p:spPr>
          <a:xfrm>
            <a:off x="8127797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7" name="Shape 25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8" name="Shape 26"/>
          <p:cNvSpPr/>
          <p:nvPr/>
        </p:nvSpPr>
        <p:spPr>
          <a:xfrm>
            <a:off x="0" y="7287768"/>
            <a:ext cx="12191695" cy="2743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" y="723747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32 / 75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4F46E5"/>
          </a:solidFill>
          <a:ln/>
        </p:spPr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70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9260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0596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Manipulação de Arquivos e Exceções (Continuação) (Continuação)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58952" y="1545336"/>
            <a:ext cx="10698480" cy="1124712"/>
          </a:xfrm>
          <a:prstGeom prst="roundRect">
            <a:avLst>
              <a:gd name="adj" fmla="val 8130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508760"/>
            <a:ext cx="10698480" cy="1124712"/>
          </a:xfrm>
          <a:prstGeom prst="roundRect">
            <a:avLst>
              <a:gd name="adj" fmla="val 8130"/>
            </a:avLst>
          </a:prstGeom>
          <a:solidFill>
            <a:srgbClr val="0F1629"/>
          </a:solidFill>
          <a:ln w="6350">
            <a:solidFill>
              <a:srgbClr val="1E2D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508760"/>
            <a:ext cx="749808" cy="1124712"/>
          </a:xfrm>
          <a:prstGeom prst="roundRect">
            <a:avLst>
              <a:gd name="adj" fmla="val 12195"/>
            </a:avLst>
          </a:prstGeom>
          <a:solidFill>
            <a:srgbClr val="4F46E5"/>
          </a:solidFill>
          <a:ln/>
        </p:spPr>
      </p:sp>
      <p:sp>
        <p:nvSpPr>
          <p:cNvPr id="9" name="Shape 7"/>
          <p:cNvSpPr/>
          <p:nvPr/>
        </p:nvSpPr>
        <p:spPr>
          <a:xfrm>
            <a:off x="1389888" y="1508760"/>
            <a:ext cx="91440" cy="112471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508760"/>
            <a:ext cx="658368" cy="1124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>
                    <a:alpha val="9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1481328" y="1733702"/>
            <a:ext cx="7315" cy="674827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2" name="Text 10"/>
          <p:cNvSpPr/>
          <p:nvPr/>
        </p:nvSpPr>
        <p:spPr>
          <a:xfrm>
            <a:off x="1591056" y="1536192"/>
            <a:ext cx="9747504" cy="10698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9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Gerar logs de sistema para depuração e auditoria de aplicações.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0" y="6903720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4" name="Shape 12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5" name="Shape 13"/>
          <p:cNvSpPr/>
          <p:nvPr/>
        </p:nvSpPr>
        <p:spPr>
          <a:xfrm>
            <a:off x="4063898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6" name="Shape 14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7" name="Shape 15"/>
          <p:cNvSpPr/>
          <p:nvPr/>
        </p:nvSpPr>
        <p:spPr>
          <a:xfrm>
            <a:off x="8127797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8" name="Shape 16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6954012"/>
            <a:ext cx="12191695" cy="2743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33 / 75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4F46E5"/>
          </a:solidFill>
          <a:ln/>
        </p:spPr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4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"/>
            <a:ext cx="12191695" cy="4114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D9770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PRINCIPAIS APRENDIZADOS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Principais Aprendizados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12648" y="1536192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000000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508760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0F1A30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508760"/>
            <a:ext cx="45720" cy="1691640"/>
          </a:xfrm>
          <a:prstGeom prst="rect">
            <a:avLst>
              <a:gd name="adj" fmla="val 240000"/>
            </a:avLst>
          </a:prstGeom>
          <a:solidFill>
            <a:srgbClr val="4F46E5"/>
          </a:solidFill>
          <a:ln/>
        </p:spPr>
      </p:sp>
      <p:sp>
        <p:nvSpPr>
          <p:cNvPr id="8" name="Shape 6"/>
          <p:cNvSpPr/>
          <p:nvPr/>
        </p:nvSpPr>
        <p:spPr>
          <a:xfrm>
            <a:off x="722376" y="16367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4F46E5"/>
          </a:solidFill>
          <a:ln/>
        </p:spPr>
      </p:sp>
      <p:sp>
        <p:nvSpPr>
          <p:cNvPr id="9" name="Text 7"/>
          <p:cNvSpPr/>
          <p:nvPr/>
        </p:nvSpPr>
        <p:spPr>
          <a:xfrm>
            <a:off x="722376" y="20299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58952" y="2423160"/>
            <a:ext cx="517687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Agora você domina os conceitos fundamentais deste módulo e pode aplicá-los na prática.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46724" y="1536192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00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6228436" y="1508760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0F1A30"/>
          </a:solidFill>
          <a:ln/>
        </p:spPr>
      </p:sp>
      <p:sp>
        <p:nvSpPr>
          <p:cNvPr id="13" name="Shape 11"/>
          <p:cNvSpPr/>
          <p:nvPr/>
        </p:nvSpPr>
        <p:spPr>
          <a:xfrm>
            <a:off x="6228436" y="1508760"/>
            <a:ext cx="45720" cy="1691640"/>
          </a:xfrm>
          <a:prstGeom prst="rect">
            <a:avLst>
              <a:gd name="adj" fmla="val 240000"/>
            </a:avLst>
          </a:prstGeom>
          <a:solidFill>
            <a:srgbClr val="7C3AED"/>
          </a:solidFill>
          <a:ln/>
        </p:spPr>
      </p:sp>
      <p:sp>
        <p:nvSpPr>
          <p:cNvPr id="14" name="Shape 12"/>
          <p:cNvSpPr/>
          <p:nvPr/>
        </p:nvSpPr>
        <p:spPr>
          <a:xfrm>
            <a:off x="6356452" y="16367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6356452" y="20299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93028" y="2423160"/>
            <a:ext cx="517687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Lembre-se de revisar os pontos principais antes de avançar para o próximo módulo.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2648" y="3355848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00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" y="3328416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0F1A30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" y="3328416"/>
            <a:ext cx="45720" cy="1691640"/>
          </a:xfrm>
          <a:prstGeom prst="rect">
            <a:avLst>
              <a:gd name="adj" fmla="val 240000"/>
            </a:avLst>
          </a:prstGeom>
          <a:solidFill>
            <a:srgbClr val="0891B2"/>
          </a:solidFill>
          <a:ln/>
        </p:spPr>
      </p:sp>
      <p:sp>
        <p:nvSpPr>
          <p:cNvPr id="20" name="Shape 18"/>
          <p:cNvSpPr/>
          <p:nvPr/>
        </p:nvSpPr>
        <p:spPr>
          <a:xfrm>
            <a:off x="722376" y="345643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722376" y="38496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58952" y="4242816"/>
            <a:ext cx="517687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Você é capaz de explicar estes conceitos com suas próprias palavras e usá-los em projetos reais.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46724" y="3355848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000000"/>
          </a:solidFill>
          <a:ln/>
        </p:spPr>
      </p:sp>
      <p:sp>
        <p:nvSpPr>
          <p:cNvPr id="24" name="Shape 22"/>
          <p:cNvSpPr/>
          <p:nvPr/>
        </p:nvSpPr>
        <p:spPr>
          <a:xfrm>
            <a:off x="6228436" y="3328416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0F1A30"/>
          </a:solidFill>
          <a:ln/>
        </p:spPr>
      </p:sp>
      <p:sp>
        <p:nvSpPr>
          <p:cNvPr id="25" name="Shape 23"/>
          <p:cNvSpPr/>
          <p:nvPr/>
        </p:nvSpPr>
        <p:spPr>
          <a:xfrm>
            <a:off x="6228436" y="3328416"/>
            <a:ext cx="45720" cy="1691640"/>
          </a:xfrm>
          <a:prstGeom prst="rect">
            <a:avLst>
              <a:gd name="adj" fmla="val 240000"/>
            </a:avLst>
          </a:prstGeom>
          <a:solidFill>
            <a:srgbClr val="059669"/>
          </a:solidFill>
          <a:ln/>
        </p:spPr>
      </p:sp>
      <p:sp>
        <p:nvSpPr>
          <p:cNvPr id="26" name="Shape 24"/>
          <p:cNvSpPr/>
          <p:nvPr/>
        </p:nvSpPr>
        <p:spPr>
          <a:xfrm>
            <a:off x="6356452" y="345643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059669"/>
          </a:solidFill>
          <a:ln/>
        </p:spPr>
      </p:sp>
      <p:sp>
        <p:nvSpPr>
          <p:cNvPr id="27" name="Text 25"/>
          <p:cNvSpPr/>
          <p:nvPr/>
        </p:nvSpPr>
        <p:spPr>
          <a:xfrm>
            <a:off x="6356452" y="38496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93028" y="4242816"/>
            <a:ext cx="517687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Continue praticando: a maestria vem com a aplicação consistente do conhecimento adquirido.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0" name="Shape 28"/>
          <p:cNvSpPr/>
          <p:nvPr/>
        </p:nvSpPr>
        <p:spPr>
          <a:xfrm>
            <a:off x="2031949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1" name="Shape 29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2" name="Shape 30"/>
          <p:cNvSpPr/>
          <p:nvPr/>
        </p:nvSpPr>
        <p:spPr>
          <a:xfrm>
            <a:off x="6095848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3" name="Shape 31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4" name="Shape 32"/>
          <p:cNvSpPr/>
          <p:nvPr/>
        </p:nvSpPr>
        <p:spPr>
          <a:xfrm>
            <a:off x="10159746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34 / 75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4F46E5"/>
          </a:solidFill>
          <a:ln/>
        </p:spPr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4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021" y="0"/>
            <a:ext cx="3413675" cy="6858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071055" y="1463040"/>
            <a:ext cx="4754880" cy="4206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7706">
                    <a:alpha val="2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0728655" y="502920"/>
            <a:ext cx="118872" cy="11887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005840"/>
            <a:ext cx="45720" cy="21031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1005840"/>
            <a:ext cx="13716" cy="21031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097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0" kern="0" dirty="0">
                <a:solidFill>
                  <a:srgbClr val="D9770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MÓDULO 5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05840" y="1435608"/>
            <a:ext cx="1828800" cy="228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600200"/>
            <a:ext cx="6827349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Trabalhando com JSON e APIs Web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1005840" y="4142232"/>
            <a:ext cx="2011680" cy="10973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425196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D9770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QUE VOCÊ VAI APRENDER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005840" y="45902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1234440" y="4544568"/>
            <a:ext cx="58520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Módulo 5: Trabalhando com JSON e APIs Web Objetivo do Módulo Compreender a estrutura e a importân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05840" y="50474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1234440" y="5001768"/>
            <a:ext cx="58520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Aprender a serializar e desserializar dados usando o módulo json do Python.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05840" y="55046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1234440" y="5715000"/>
            <a:ext cx="58520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Dominar a interação com APIs Web, realizando requisições HTTP com a biblioteca requests.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6446520"/>
            <a:ext cx="542544" cy="7315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Shape 17"/>
          <p:cNvSpPr/>
          <p:nvPr/>
        </p:nvSpPr>
        <p:spPr>
          <a:xfrm>
            <a:off x="1264920" y="6499555"/>
            <a:ext cx="542544" cy="7315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0" name="Shape 18"/>
          <p:cNvSpPr/>
          <p:nvPr/>
        </p:nvSpPr>
        <p:spPr>
          <a:xfrm>
            <a:off x="1798320" y="6446520"/>
            <a:ext cx="542544" cy="7315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1" name="Shape 19"/>
          <p:cNvSpPr/>
          <p:nvPr/>
        </p:nvSpPr>
        <p:spPr>
          <a:xfrm>
            <a:off x="2331720" y="6499555"/>
            <a:ext cx="542544" cy="7315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2" name="Shape 20"/>
          <p:cNvSpPr/>
          <p:nvPr/>
        </p:nvSpPr>
        <p:spPr>
          <a:xfrm>
            <a:off x="2865120" y="6446520"/>
            <a:ext cx="542544" cy="7315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3" name="Shape 21"/>
          <p:cNvSpPr/>
          <p:nvPr/>
        </p:nvSpPr>
        <p:spPr>
          <a:xfrm>
            <a:off x="3398520" y="6499555"/>
            <a:ext cx="542544" cy="7315"/>
          </a:xfrm>
          <a:prstGeom prst="rect">
            <a:avLst/>
          </a:prstGeom>
          <a:solidFill>
            <a:srgbClr val="D97706"/>
          </a:solidFill>
          <a:ln/>
        </p:spPr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70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9260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4F46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Trabalhando com JSON e APIs Web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1508760"/>
            <a:ext cx="10698480" cy="1371600"/>
          </a:xfrm>
          <a:prstGeom prst="roundRect">
            <a:avLst>
              <a:gd name="adj" fmla="val 6667"/>
            </a:avLst>
          </a:prstGeom>
          <a:solidFill>
            <a:srgbClr val="040810"/>
          </a:solidFill>
          <a:ln/>
        </p:spPr>
      </p:sp>
      <p:sp>
        <p:nvSpPr>
          <p:cNvPr id="7" name="Shape 5"/>
          <p:cNvSpPr/>
          <p:nvPr/>
        </p:nvSpPr>
        <p:spPr>
          <a:xfrm>
            <a:off x="877824" y="1636776"/>
            <a:ext cx="45720" cy="111556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8" name="Text 6"/>
          <p:cNvSpPr/>
          <p:nvPr/>
        </p:nvSpPr>
        <p:spPr>
          <a:xfrm>
            <a:off x="1060704" y="1618488"/>
            <a:ext cx="10149840" cy="11521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Módulo 5: Trabalhando com JSON e APIs Web Objetivo do Módulo Compreender a estrutura e a importância do JSON para a troca de dados na web.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77240" y="3355848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950976" y="3063240"/>
            <a:ext cx="10424160" cy="6766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Aprender a serializar e desserializar dados usando o módulo json do Python.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77240" y="4096512"/>
            <a:ext cx="91440" cy="914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950976" y="3803904"/>
            <a:ext cx="10424160" cy="6766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Dominar a interação com APIs Web, realizando requisições HTTP com a biblioteca requests.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0" y="6903720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4" name="Shape 12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5" name="Shape 13"/>
          <p:cNvSpPr/>
          <p:nvPr/>
        </p:nvSpPr>
        <p:spPr>
          <a:xfrm>
            <a:off x="4063898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6" name="Shape 14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7" name="Shape 15"/>
          <p:cNvSpPr/>
          <p:nvPr/>
        </p:nvSpPr>
        <p:spPr>
          <a:xfrm>
            <a:off x="8127797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8" name="Shape 16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6954012"/>
            <a:ext cx="12191695" cy="2743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35 / 75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4F46E5"/>
          </a:solidFill>
          <a:ln/>
        </p:spPr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70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67093" cy="6858000"/>
          </a:xfrm>
          <a:prstGeom prst="rect">
            <a:avLst/>
          </a:prstGeom>
          <a:solidFill>
            <a:srgbClr val="0408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267093" cy="115214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197864"/>
            <a:ext cx="4267093" cy="115214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2395728"/>
            <a:ext cx="4267093" cy="115214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3593592"/>
            <a:ext cx="4267093" cy="115214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4791456"/>
            <a:ext cx="4267093" cy="115214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5989320"/>
            <a:ext cx="4267093" cy="115214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Shape 7"/>
          <p:cNvSpPr/>
          <p:nvPr/>
        </p:nvSpPr>
        <p:spPr>
          <a:xfrm>
            <a:off x="4267093" y="0"/>
            <a:ext cx="45720" cy="6858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Shape 8"/>
          <p:cNvSpPr/>
          <p:nvPr/>
        </p:nvSpPr>
        <p:spPr>
          <a:xfrm>
            <a:off x="4312813" y="0"/>
            <a:ext cx="13716" cy="6858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502920"/>
            <a:ext cx="344413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C3AE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" y="1197864"/>
            <a:ext cx="1097280" cy="10973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1254557"/>
            <a:ext cx="3444133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Trabalhando com JSON e APIs Web (Continuação)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4587133" y="530352"/>
            <a:ext cx="41148" cy="7955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5" name="Text 13"/>
          <p:cNvSpPr/>
          <p:nvPr/>
        </p:nvSpPr>
        <p:spPr>
          <a:xfrm>
            <a:off x="4770013" y="466344"/>
            <a:ext cx="6973626" cy="9418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21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 JSON (JavaScript Object Notation) é um formato leve e legível para troca de dados, independente de linguagem.</a:t>
            </a:r>
            <a:endParaRPr lang="en-US" sz="1210" dirty="0"/>
          </a:p>
        </p:txBody>
      </p:sp>
      <p:sp>
        <p:nvSpPr>
          <p:cNvPr id="16" name="Shape 14"/>
          <p:cNvSpPr/>
          <p:nvPr/>
        </p:nvSpPr>
        <p:spPr>
          <a:xfrm>
            <a:off x="0" y="718718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7" name="Shape 15"/>
          <p:cNvSpPr/>
          <p:nvPr/>
        </p:nvSpPr>
        <p:spPr>
          <a:xfrm>
            <a:off x="2031949" y="723747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8" name="Shape 16"/>
          <p:cNvSpPr/>
          <p:nvPr/>
        </p:nvSpPr>
        <p:spPr>
          <a:xfrm>
            <a:off x="4063898" y="718718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9" name="Shape 17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0" name="Shape 18"/>
          <p:cNvSpPr/>
          <p:nvPr/>
        </p:nvSpPr>
        <p:spPr>
          <a:xfrm>
            <a:off x="8127797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1" name="Shape 19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7287768"/>
            <a:ext cx="12191695" cy="2743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723747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36 / 75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4F46E5"/>
          </a:solidFill>
          <a:ln/>
        </p:spPr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70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9260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0891B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Trabalhando com JSON e APIs Web (Continuação)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58952" y="1545336"/>
            <a:ext cx="10698480" cy="1124712"/>
          </a:xfrm>
          <a:prstGeom prst="roundRect">
            <a:avLst>
              <a:gd name="adj" fmla="val 8130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508760"/>
            <a:ext cx="10698480" cy="1124712"/>
          </a:xfrm>
          <a:prstGeom prst="roundRect">
            <a:avLst>
              <a:gd name="adj" fmla="val 8130"/>
            </a:avLst>
          </a:prstGeom>
          <a:solidFill>
            <a:srgbClr val="0F1629"/>
          </a:solidFill>
          <a:ln w="6350">
            <a:solidFill>
              <a:srgbClr val="1E2D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508760"/>
            <a:ext cx="749808" cy="1124712"/>
          </a:xfrm>
          <a:prstGeom prst="roundRect">
            <a:avLst>
              <a:gd name="adj" fmla="val 12195"/>
            </a:avLst>
          </a:prstGeom>
          <a:solidFill>
            <a:srgbClr val="4F46E5"/>
          </a:solidFill>
          <a:ln/>
        </p:spPr>
      </p:sp>
      <p:sp>
        <p:nvSpPr>
          <p:cNvPr id="9" name="Shape 7"/>
          <p:cNvSpPr/>
          <p:nvPr/>
        </p:nvSpPr>
        <p:spPr>
          <a:xfrm>
            <a:off x="1389888" y="1508760"/>
            <a:ext cx="91440" cy="112471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508760"/>
            <a:ext cx="658368" cy="1124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>
                    <a:alpha val="9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1481328" y="1733702"/>
            <a:ext cx="7315" cy="674827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2" name="Text 10"/>
          <p:cNvSpPr/>
          <p:nvPr/>
        </p:nvSpPr>
        <p:spPr>
          <a:xfrm>
            <a:off x="1591056" y="1536192"/>
            <a:ext cx="9747504" cy="10698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Sua simplicidade e eficiência o tornaram o padrão para comunicação entre aplicações web e serviços, sendo fácil de ler, conciso e universalmente suportado.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58952" y="2779776"/>
            <a:ext cx="10698480" cy="1124712"/>
          </a:xfrm>
          <a:prstGeom prst="roundRect">
            <a:avLst>
              <a:gd name="adj" fmla="val 8130"/>
            </a:avLst>
          </a:prstGeom>
          <a:solidFill>
            <a:srgbClr val="000000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2743200"/>
            <a:ext cx="10698480" cy="1124712"/>
          </a:xfrm>
          <a:prstGeom prst="roundRect">
            <a:avLst>
              <a:gd name="adj" fmla="val 8130"/>
            </a:avLst>
          </a:prstGeom>
          <a:solidFill>
            <a:srgbClr val="0F1629"/>
          </a:solidFill>
          <a:ln w="6350">
            <a:solidFill>
              <a:srgbClr val="1E2D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2743200"/>
            <a:ext cx="749808" cy="1124712"/>
          </a:xfrm>
          <a:prstGeom prst="roundRect">
            <a:avLst>
              <a:gd name="adj" fmla="val 12195"/>
            </a:avLst>
          </a:prstGeom>
          <a:solidFill>
            <a:srgbClr val="7C3AED"/>
          </a:solidFill>
          <a:ln/>
        </p:spPr>
      </p:sp>
      <p:sp>
        <p:nvSpPr>
          <p:cNvPr id="16" name="Shape 14"/>
          <p:cNvSpPr/>
          <p:nvPr/>
        </p:nvSpPr>
        <p:spPr>
          <a:xfrm>
            <a:off x="1389888" y="2743200"/>
            <a:ext cx="91440" cy="112471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743200"/>
            <a:ext cx="658368" cy="1124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>
                    <a:alpha val="9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1481328" y="2968142"/>
            <a:ext cx="7315" cy="674827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1591056" y="2770632"/>
            <a:ext cx="9747504" cy="10698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estrutura JSON é baseada em objetos (pares chave-valor em {}) e arrays (listas ordenadas em []).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58952" y="4014216"/>
            <a:ext cx="10698480" cy="1124712"/>
          </a:xfrm>
          <a:prstGeom prst="roundRect">
            <a:avLst>
              <a:gd name="adj" fmla="val 8130"/>
            </a:avLst>
          </a:prstGeom>
          <a:solidFill>
            <a:srgbClr val="000000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3977640"/>
            <a:ext cx="10698480" cy="1124712"/>
          </a:xfrm>
          <a:prstGeom prst="roundRect">
            <a:avLst>
              <a:gd name="adj" fmla="val 8130"/>
            </a:avLst>
          </a:prstGeom>
          <a:solidFill>
            <a:srgbClr val="0F1629"/>
          </a:solidFill>
          <a:ln w="6350">
            <a:solidFill>
              <a:srgbClr val="1E2D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3977640"/>
            <a:ext cx="749808" cy="1124712"/>
          </a:xfrm>
          <a:prstGeom prst="roundRect">
            <a:avLst>
              <a:gd name="adj" fmla="val 12195"/>
            </a:avLst>
          </a:prstGeom>
          <a:solidFill>
            <a:srgbClr val="0891B2"/>
          </a:solidFill>
          <a:ln/>
        </p:spPr>
      </p:sp>
      <p:sp>
        <p:nvSpPr>
          <p:cNvPr id="23" name="Shape 21"/>
          <p:cNvSpPr/>
          <p:nvPr/>
        </p:nvSpPr>
        <p:spPr>
          <a:xfrm>
            <a:off x="1389888" y="3977640"/>
            <a:ext cx="91440" cy="112471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3977640"/>
            <a:ext cx="658368" cy="1124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>
                    <a:alpha val="9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800" dirty="0"/>
          </a:p>
        </p:txBody>
      </p:sp>
      <p:sp>
        <p:nvSpPr>
          <p:cNvPr id="25" name="Shape 23"/>
          <p:cNvSpPr/>
          <p:nvPr/>
        </p:nvSpPr>
        <p:spPr>
          <a:xfrm>
            <a:off x="1481328" y="4202582"/>
            <a:ext cx="7315" cy="674827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6" name="Text 24"/>
          <p:cNvSpPr/>
          <p:nvPr/>
        </p:nvSpPr>
        <p:spPr>
          <a:xfrm>
            <a:off x="1591056" y="4005072"/>
            <a:ext cx="9747504" cy="10698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Valores podem ser strings, números, booleanos, null, ou objetos/arrays aninhados.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0" y="6903720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8" name="Shape 26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9" name="Shape 27"/>
          <p:cNvSpPr/>
          <p:nvPr/>
        </p:nvSpPr>
        <p:spPr>
          <a:xfrm>
            <a:off x="4063898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0" name="Shape 28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1" name="Shape 29"/>
          <p:cNvSpPr/>
          <p:nvPr/>
        </p:nvSpPr>
        <p:spPr>
          <a:xfrm>
            <a:off x="8127797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2" name="Shape 30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3" name="Shape 31"/>
          <p:cNvSpPr/>
          <p:nvPr/>
        </p:nvSpPr>
        <p:spPr>
          <a:xfrm>
            <a:off x="0" y="6954012"/>
            <a:ext cx="12191695" cy="2743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37 / 75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4F46E5"/>
          </a:solidFill>
          <a:ln/>
        </p:spPr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70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9260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0596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Trabalhando com JSON e APIs Web (Continuação) (Continuação)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58952" y="1545336"/>
            <a:ext cx="10698480" cy="1335024"/>
          </a:xfrm>
          <a:prstGeom prst="roundRect">
            <a:avLst>
              <a:gd name="adj" fmla="val 6849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508760"/>
            <a:ext cx="10698480" cy="1335024"/>
          </a:xfrm>
          <a:prstGeom prst="roundRect">
            <a:avLst>
              <a:gd name="adj" fmla="val 8219"/>
            </a:avLst>
          </a:prstGeom>
          <a:solidFill>
            <a:srgbClr val="0F162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508760"/>
            <a:ext cx="10698480" cy="512064"/>
          </a:xfrm>
          <a:prstGeom prst="roundRect">
            <a:avLst>
              <a:gd name="adj" fmla="val 21429"/>
            </a:avLst>
          </a:prstGeom>
          <a:solidFill>
            <a:srgbClr val="4F46E5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066544"/>
            <a:ext cx="10698480" cy="1097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2221992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68680" y="2020824"/>
            <a:ext cx="10442448" cy="749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9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 chaves são sempre strings entre aspas duplas.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0" y="6903720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3" name="Shape 11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4" name="Shape 12"/>
          <p:cNvSpPr/>
          <p:nvPr/>
        </p:nvSpPr>
        <p:spPr>
          <a:xfrm>
            <a:off x="4063898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5" name="Shape 13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6" name="Shape 14"/>
          <p:cNvSpPr/>
          <p:nvPr/>
        </p:nvSpPr>
        <p:spPr>
          <a:xfrm>
            <a:off x="8127797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7" name="Shape 15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6954012"/>
            <a:ext cx="12191695" cy="2743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38 / 75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4F46E5"/>
          </a:solidFill>
          <a:ln/>
        </p:spPr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70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9260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D9770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Trabalhando com JSON e APIs Web (Continuação)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1508760"/>
            <a:ext cx="10698480" cy="1371600"/>
          </a:xfrm>
          <a:prstGeom prst="roundRect">
            <a:avLst>
              <a:gd name="adj" fmla="val 6667"/>
            </a:avLst>
          </a:prstGeom>
          <a:solidFill>
            <a:srgbClr val="040810"/>
          </a:solidFill>
          <a:ln/>
        </p:spPr>
      </p:sp>
      <p:sp>
        <p:nvSpPr>
          <p:cNvPr id="7" name="Shape 5"/>
          <p:cNvSpPr/>
          <p:nvPr/>
        </p:nvSpPr>
        <p:spPr>
          <a:xfrm>
            <a:off x="877824" y="1636776"/>
            <a:ext cx="45720" cy="111556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8" name="Text 6"/>
          <p:cNvSpPr/>
          <p:nvPr/>
        </p:nvSpPr>
        <p:spPr>
          <a:xfrm>
            <a:off x="1060704" y="1618488"/>
            <a:ext cx="10149840" cy="11521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 O módulo json do Python facilita a conversão entre strings JSON e objetos Python (dicionários/listas).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7240" y="3355848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950976" y="3063240"/>
            <a:ext cx="10424160" cy="6766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Json.loads() desserializa uma string JSON para Python, enquanto json.dumps() serializa um objeto Python para uma string JSON.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" y="4096512"/>
            <a:ext cx="91440" cy="914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950976" y="3803904"/>
            <a:ext cx="10424160" cy="6766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8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Para arquivos, usa-se json.load() e json.dump().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77240" y="4837176"/>
            <a:ext cx="91440" cy="914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950976" y="4544568"/>
            <a:ext cx="10424160" cy="6766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8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APIs Web são interfaces que permitem a comunicação entre softwares via HTTP.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0" y="6903720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6" name="Shape 14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7" name="Shape 15"/>
          <p:cNvSpPr/>
          <p:nvPr/>
        </p:nvSpPr>
        <p:spPr>
          <a:xfrm>
            <a:off x="4063898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8" name="Shape 16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9" name="Shape 17"/>
          <p:cNvSpPr/>
          <p:nvPr/>
        </p:nvSpPr>
        <p:spPr>
          <a:xfrm>
            <a:off x="8127797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0" name="Shape 18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1" name="Shape 19"/>
          <p:cNvSpPr/>
          <p:nvPr/>
        </p:nvSpPr>
        <p:spPr>
          <a:xfrm>
            <a:off x="0" y="6954012"/>
            <a:ext cx="12191695" cy="2743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39 / 75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4F46E5"/>
          </a:solidFill>
          <a:ln/>
        </p:spPr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70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67093" cy="6858000"/>
          </a:xfrm>
          <a:prstGeom prst="rect">
            <a:avLst/>
          </a:prstGeom>
          <a:solidFill>
            <a:srgbClr val="0408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267093" cy="115214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197864"/>
            <a:ext cx="4267093" cy="115214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2395728"/>
            <a:ext cx="4267093" cy="115214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3593592"/>
            <a:ext cx="4267093" cy="115214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4791456"/>
            <a:ext cx="4267093" cy="115214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5989320"/>
            <a:ext cx="4267093" cy="115214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9" name="Shape 7"/>
          <p:cNvSpPr/>
          <p:nvPr/>
        </p:nvSpPr>
        <p:spPr>
          <a:xfrm>
            <a:off x="4267093" y="0"/>
            <a:ext cx="45720" cy="6858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0" name="Shape 8"/>
          <p:cNvSpPr/>
          <p:nvPr/>
        </p:nvSpPr>
        <p:spPr>
          <a:xfrm>
            <a:off x="4312813" y="0"/>
            <a:ext cx="13716" cy="6858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502920"/>
            <a:ext cx="344413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F46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" y="1197864"/>
            <a:ext cx="1097280" cy="10973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1254557"/>
            <a:ext cx="3444133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Trabalhando com JSON e APIs Web (Continuação)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4587133" y="530352"/>
            <a:ext cx="41148" cy="7955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5" name="Text 13"/>
          <p:cNvSpPr/>
          <p:nvPr/>
        </p:nvSpPr>
        <p:spPr>
          <a:xfrm>
            <a:off x="4770013" y="466344"/>
            <a:ext cx="6973626" cy="9418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36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biblioteca requests é a ferramenta padrão em Python para interagir com APIs Web.</a:t>
            </a:r>
            <a:endParaRPr lang="en-US" sz="1360" dirty="0"/>
          </a:p>
        </p:txBody>
      </p:sp>
      <p:sp>
        <p:nvSpPr>
          <p:cNvPr id="16" name="Shape 14"/>
          <p:cNvSpPr/>
          <p:nvPr/>
        </p:nvSpPr>
        <p:spPr>
          <a:xfrm>
            <a:off x="4770013" y="1437437"/>
            <a:ext cx="6973626" cy="4572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17" name="Shape 15"/>
          <p:cNvSpPr/>
          <p:nvPr/>
        </p:nvSpPr>
        <p:spPr>
          <a:xfrm>
            <a:off x="4587133" y="1536192"/>
            <a:ext cx="41148" cy="7955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4770013" y="1472184"/>
            <a:ext cx="6973626" cy="9418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36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método response.raiseforstatus() é útil para tratamento automático de erros HTTP.</a:t>
            </a:r>
            <a:endParaRPr lang="en-US" sz="1360" dirty="0"/>
          </a:p>
        </p:txBody>
      </p:sp>
      <p:sp>
        <p:nvSpPr>
          <p:cNvPr id="19" name="Shape 17"/>
          <p:cNvSpPr/>
          <p:nvPr/>
        </p:nvSpPr>
        <p:spPr>
          <a:xfrm>
            <a:off x="4770013" y="2443277"/>
            <a:ext cx="6973626" cy="4572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20" name="Shape 18"/>
          <p:cNvSpPr/>
          <p:nvPr/>
        </p:nvSpPr>
        <p:spPr>
          <a:xfrm>
            <a:off x="4587133" y="2542032"/>
            <a:ext cx="41148" cy="7955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4770013" y="2478024"/>
            <a:ext cx="6973626" cy="9418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36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reais Integrar seu aplicativo a serviços de terceiros, como APIs de pagamento ou redes sociais.</a:t>
            </a:r>
            <a:endParaRPr lang="en-US" sz="1360" dirty="0"/>
          </a:p>
        </p:txBody>
      </p:sp>
      <p:sp>
        <p:nvSpPr>
          <p:cNvPr id="22" name="Shape 20"/>
          <p:cNvSpPr/>
          <p:nvPr/>
        </p:nvSpPr>
        <p:spPr>
          <a:xfrm>
            <a:off x="4770013" y="3449117"/>
            <a:ext cx="6973626" cy="4572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23" name="Shape 21"/>
          <p:cNvSpPr/>
          <p:nvPr/>
        </p:nvSpPr>
        <p:spPr>
          <a:xfrm>
            <a:off x="4587133" y="3547872"/>
            <a:ext cx="41148" cy="79552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4" name="Text 22"/>
          <p:cNvSpPr/>
          <p:nvPr/>
        </p:nvSpPr>
        <p:spPr>
          <a:xfrm>
            <a:off x="4770013" y="3483864"/>
            <a:ext cx="6973626" cy="9418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36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Desenvolver a parte do servidor (backend) de aplicações web e móveis.</a:t>
            </a:r>
            <a:endParaRPr lang="en-US" sz="1360" dirty="0"/>
          </a:p>
        </p:txBody>
      </p:sp>
      <p:sp>
        <p:nvSpPr>
          <p:cNvPr id="25" name="Shape 23"/>
          <p:cNvSpPr/>
          <p:nvPr/>
        </p:nvSpPr>
        <p:spPr>
          <a:xfrm>
            <a:off x="0" y="718718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6" name="Shape 24"/>
          <p:cNvSpPr/>
          <p:nvPr/>
        </p:nvSpPr>
        <p:spPr>
          <a:xfrm>
            <a:off x="2031949" y="723747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7" name="Shape 25"/>
          <p:cNvSpPr/>
          <p:nvPr/>
        </p:nvSpPr>
        <p:spPr>
          <a:xfrm>
            <a:off x="4063898" y="718718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8" name="Shape 26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9" name="Shape 27"/>
          <p:cNvSpPr/>
          <p:nvPr/>
        </p:nvSpPr>
        <p:spPr>
          <a:xfrm>
            <a:off x="8127797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0" name="Shape 28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1" name="Shape 29"/>
          <p:cNvSpPr/>
          <p:nvPr/>
        </p:nvSpPr>
        <p:spPr>
          <a:xfrm>
            <a:off x="0" y="7287768"/>
            <a:ext cx="12191695" cy="2743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" y="723747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40 / 75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4F46E5"/>
          </a:solidFill>
          <a:ln/>
        </p:spPr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4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"/>
            <a:ext cx="12191695" cy="4114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D9770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PRINCIPAIS APRENDIZADOS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Principais Aprendizados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12648" y="1536192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000000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508760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0F1A30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508760"/>
            <a:ext cx="45720" cy="1691640"/>
          </a:xfrm>
          <a:prstGeom prst="rect">
            <a:avLst>
              <a:gd name="adj" fmla="val 240000"/>
            </a:avLst>
          </a:prstGeom>
          <a:solidFill>
            <a:srgbClr val="4F46E5"/>
          </a:solidFill>
          <a:ln/>
        </p:spPr>
      </p:sp>
      <p:sp>
        <p:nvSpPr>
          <p:cNvPr id="8" name="Shape 6"/>
          <p:cNvSpPr/>
          <p:nvPr/>
        </p:nvSpPr>
        <p:spPr>
          <a:xfrm>
            <a:off x="722376" y="16367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4F46E5"/>
          </a:solidFill>
          <a:ln/>
        </p:spPr>
      </p:sp>
      <p:sp>
        <p:nvSpPr>
          <p:cNvPr id="9" name="Text 7"/>
          <p:cNvSpPr/>
          <p:nvPr/>
        </p:nvSpPr>
        <p:spPr>
          <a:xfrm>
            <a:off x="722376" y="20299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58952" y="2423160"/>
            <a:ext cx="517687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Agora você domina os conceitos fundamentais deste módulo e pode aplicá-los na prática.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46724" y="1536192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00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6228436" y="1508760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0F1A30"/>
          </a:solidFill>
          <a:ln/>
        </p:spPr>
      </p:sp>
      <p:sp>
        <p:nvSpPr>
          <p:cNvPr id="13" name="Shape 11"/>
          <p:cNvSpPr/>
          <p:nvPr/>
        </p:nvSpPr>
        <p:spPr>
          <a:xfrm>
            <a:off x="6228436" y="1508760"/>
            <a:ext cx="45720" cy="1691640"/>
          </a:xfrm>
          <a:prstGeom prst="rect">
            <a:avLst>
              <a:gd name="adj" fmla="val 240000"/>
            </a:avLst>
          </a:prstGeom>
          <a:solidFill>
            <a:srgbClr val="7C3AED"/>
          </a:solidFill>
          <a:ln/>
        </p:spPr>
      </p:sp>
      <p:sp>
        <p:nvSpPr>
          <p:cNvPr id="14" name="Shape 12"/>
          <p:cNvSpPr/>
          <p:nvPr/>
        </p:nvSpPr>
        <p:spPr>
          <a:xfrm>
            <a:off x="6356452" y="16367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6356452" y="20299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93028" y="2423160"/>
            <a:ext cx="517687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Lembre-se de revisar os pontos principais antes de avançar para o próximo módulo.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2648" y="3355848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00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" y="3328416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0F1A30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" y="3328416"/>
            <a:ext cx="45720" cy="1691640"/>
          </a:xfrm>
          <a:prstGeom prst="rect">
            <a:avLst>
              <a:gd name="adj" fmla="val 240000"/>
            </a:avLst>
          </a:prstGeom>
          <a:solidFill>
            <a:srgbClr val="0891B2"/>
          </a:solidFill>
          <a:ln/>
        </p:spPr>
      </p:sp>
      <p:sp>
        <p:nvSpPr>
          <p:cNvPr id="20" name="Shape 18"/>
          <p:cNvSpPr/>
          <p:nvPr/>
        </p:nvSpPr>
        <p:spPr>
          <a:xfrm>
            <a:off x="722376" y="345643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722376" y="38496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58952" y="4242816"/>
            <a:ext cx="517687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Você é capaz de explicar estes conceitos com suas próprias palavras e usá-los em projetos reais.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46724" y="3355848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000000"/>
          </a:solidFill>
          <a:ln/>
        </p:spPr>
      </p:sp>
      <p:sp>
        <p:nvSpPr>
          <p:cNvPr id="24" name="Shape 22"/>
          <p:cNvSpPr/>
          <p:nvPr/>
        </p:nvSpPr>
        <p:spPr>
          <a:xfrm>
            <a:off x="6228436" y="3328416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0F1A30"/>
          </a:solidFill>
          <a:ln/>
        </p:spPr>
      </p:sp>
      <p:sp>
        <p:nvSpPr>
          <p:cNvPr id="25" name="Shape 23"/>
          <p:cNvSpPr/>
          <p:nvPr/>
        </p:nvSpPr>
        <p:spPr>
          <a:xfrm>
            <a:off x="6228436" y="3328416"/>
            <a:ext cx="45720" cy="1691640"/>
          </a:xfrm>
          <a:prstGeom prst="rect">
            <a:avLst>
              <a:gd name="adj" fmla="val 240000"/>
            </a:avLst>
          </a:prstGeom>
          <a:solidFill>
            <a:srgbClr val="059669"/>
          </a:solidFill>
          <a:ln/>
        </p:spPr>
      </p:sp>
      <p:sp>
        <p:nvSpPr>
          <p:cNvPr id="26" name="Shape 24"/>
          <p:cNvSpPr/>
          <p:nvPr/>
        </p:nvSpPr>
        <p:spPr>
          <a:xfrm>
            <a:off x="6356452" y="345643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059669"/>
          </a:solidFill>
          <a:ln/>
        </p:spPr>
      </p:sp>
      <p:sp>
        <p:nvSpPr>
          <p:cNvPr id="27" name="Text 25"/>
          <p:cNvSpPr/>
          <p:nvPr/>
        </p:nvSpPr>
        <p:spPr>
          <a:xfrm>
            <a:off x="6356452" y="38496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93028" y="4242816"/>
            <a:ext cx="517687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Continue praticando: a maestria vem com a aplicação consistente do conhecimento adquirido.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0" name="Shape 28"/>
          <p:cNvSpPr/>
          <p:nvPr/>
        </p:nvSpPr>
        <p:spPr>
          <a:xfrm>
            <a:off x="2031949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1" name="Shape 29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2" name="Shape 30"/>
          <p:cNvSpPr/>
          <p:nvPr/>
        </p:nvSpPr>
        <p:spPr>
          <a:xfrm>
            <a:off x="6095848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3" name="Shape 31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4" name="Shape 32"/>
          <p:cNvSpPr/>
          <p:nvPr/>
        </p:nvSpPr>
        <p:spPr>
          <a:xfrm>
            <a:off x="10159746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41 / 75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4F46E5"/>
          </a:solidFill>
          <a:ln/>
        </p:spPr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4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021" y="0"/>
            <a:ext cx="3413675" cy="6858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7071055" y="1463040"/>
            <a:ext cx="4754880" cy="4206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4F46E5">
                    <a:alpha val="2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728655" y="502920"/>
            <a:ext cx="118872" cy="118872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005840"/>
            <a:ext cx="45720" cy="21031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1005840"/>
            <a:ext cx="13716" cy="21031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097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0" kern="0" dirty="0">
                <a:solidFill>
                  <a:srgbClr val="4F46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MÓDULO 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05840" y="1435608"/>
            <a:ext cx="1828800" cy="2286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600200"/>
            <a:ext cx="6827349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Introdução à Programação Orientada a Objetos (POO)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1005840" y="4142232"/>
            <a:ext cx="2011680" cy="10973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425196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4F46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QUE VOCÊ VAI APRENDER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005840" y="45902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4F46E5"/>
          </a:solidFill>
          <a:ln/>
        </p:spPr>
      </p:sp>
      <p:sp>
        <p:nvSpPr>
          <p:cNvPr id="13" name="Text 11"/>
          <p:cNvSpPr/>
          <p:nvPr/>
        </p:nvSpPr>
        <p:spPr>
          <a:xfrm>
            <a:off x="1234440" y="4544568"/>
            <a:ext cx="58520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Criar e utilizar classes e objetos em Python, aplicando o construtor init para inicializar instância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05840" y="50474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4F46E5"/>
          </a:solidFill>
          <a:ln/>
        </p:spPr>
      </p:sp>
      <p:sp>
        <p:nvSpPr>
          <p:cNvPr id="15" name="Text 13"/>
          <p:cNvSpPr/>
          <p:nvPr/>
        </p:nvSpPr>
        <p:spPr>
          <a:xfrm>
            <a:off x="1234440" y="5001768"/>
            <a:ext cx="58520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Entender e aplicar o conceito de herança para promover a reutilização de código e a criação de hiera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05840" y="55046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4F46E5"/>
          </a:solidFill>
          <a:ln/>
        </p:spPr>
      </p:sp>
      <p:sp>
        <p:nvSpPr>
          <p:cNvPr id="17" name="Text 15"/>
          <p:cNvSpPr/>
          <p:nvPr/>
        </p:nvSpPr>
        <p:spPr>
          <a:xfrm>
            <a:off x="1234440" y="5715000"/>
            <a:ext cx="58520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 A Programação Orientada a Objetos (POO) é um paradigma que organiza o software em tor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6446520"/>
            <a:ext cx="542544" cy="7315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9" name="Shape 17"/>
          <p:cNvSpPr/>
          <p:nvPr/>
        </p:nvSpPr>
        <p:spPr>
          <a:xfrm>
            <a:off x="1264920" y="6499555"/>
            <a:ext cx="542544" cy="7315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0" name="Shape 18"/>
          <p:cNvSpPr/>
          <p:nvPr/>
        </p:nvSpPr>
        <p:spPr>
          <a:xfrm>
            <a:off x="1798320" y="6446520"/>
            <a:ext cx="542544" cy="7315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1" name="Shape 19"/>
          <p:cNvSpPr/>
          <p:nvPr/>
        </p:nvSpPr>
        <p:spPr>
          <a:xfrm>
            <a:off x="2331720" y="6499555"/>
            <a:ext cx="542544" cy="7315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2" name="Shape 20"/>
          <p:cNvSpPr/>
          <p:nvPr/>
        </p:nvSpPr>
        <p:spPr>
          <a:xfrm>
            <a:off x="2865120" y="6446520"/>
            <a:ext cx="542544" cy="7315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3" name="Shape 21"/>
          <p:cNvSpPr/>
          <p:nvPr/>
        </p:nvSpPr>
        <p:spPr>
          <a:xfrm>
            <a:off x="3398520" y="6499555"/>
            <a:ext cx="542544" cy="7315"/>
          </a:xfrm>
          <a:prstGeom prst="rect">
            <a:avLst/>
          </a:prstGeom>
          <a:solidFill>
            <a:srgbClr val="4F46E5"/>
          </a:solidFill>
          <a:ln/>
        </p:spPr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70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9260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0891B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Introdução à Programação Orientada a Objetos (POO)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58952" y="1545336"/>
            <a:ext cx="10698480" cy="1335024"/>
          </a:xfrm>
          <a:prstGeom prst="roundRect">
            <a:avLst>
              <a:gd name="adj" fmla="val 6849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508760"/>
            <a:ext cx="10698480" cy="1335024"/>
          </a:xfrm>
          <a:prstGeom prst="roundRect">
            <a:avLst>
              <a:gd name="adj" fmla="val 8219"/>
            </a:avLst>
          </a:prstGeom>
          <a:solidFill>
            <a:srgbClr val="0F162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508760"/>
            <a:ext cx="10698480" cy="512064"/>
          </a:xfrm>
          <a:prstGeom prst="roundRect">
            <a:avLst>
              <a:gd name="adj" fmla="val 21429"/>
            </a:avLst>
          </a:prstGeom>
          <a:solidFill>
            <a:srgbClr val="4F46E5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066544"/>
            <a:ext cx="10698480" cy="1097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2221992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2020824"/>
            <a:ext cx="10442448" cy="749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Criar e utilizar classes e objetos em Python, aplicando o construtor init para inicializar instâncias.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58952" y="3044952"/>
            <a:ext cx="10698480" cy="1335024"/>
          </a:xfrm>
          <a:prstGeom prst="roundRect">
            <a:avLst>
              <a:gd name="adj" fmla="val 6849"/>
            </a:avLst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3008376"/>
            <a:ext cx="10698480" cy="1335024"/>
          </a:xfrm>
          <a:prstGeom prst="roundRect">
            <a:avLst>
              <a:gd name="adj" fmla="val 8219"/>
            </a:avLst>
          </a:prstGeom>
          <a:solidFill>
            <a:srgbClr val="0F162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3008376"/>
            <a:ext cx="10698480" cy="512064"/>
          </a:xfrm>
          <a:prstGeom prst="roundRect">
            <a:avLst>
              <a:gd name="adj" fmla="val 21429"/>
            </a:avLst>
          </a:prstGeom>
          <a:solidFill>
            <a:srgbClr val="7C3AED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3566160"/>
            <a:ext cx="10698480" cy="1097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3721608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3520440"/>
            <a:ext cx="10442448" cy="749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Entender e aplicar o conceito de herança para promover a reutilização de código e a criação de hierarquias de classes.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58952" y="4544568"/>
            <a:ext cx="10698480" cy="1335024"/>
          </a:xfrm>
          <a:prstGeom prst="roundRect">
            <a:avLst>
              <a:gd name="adj" fmla="val 6849"/>
            </a:avLst>
          </a:prstGeom>
          <a:solidFill>
            <a:srgbClr val="00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4507992"/>
            <a:ext cx="10698480" cy="1335024"/>
          </a:xfrm>
          <a:prstGeom prst="roundRect">
            <a:avLst>
              <a:gd name="adj" fmla="val 8219"/>
            </a:avLst>
          </a:prstGeom>
          <a:solidFill>
            <a:srgbClr val="0F1629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4507992"/>
            <a:ext cx="10698480" cy="512064"/>
          </a:xfrm>
          <a:prstGeom prst="roundRect">
            <a:avLst>
              <a:gd name="adj" fmla="val 21429"/>
            </a:avLst>
          </a:prstGeom>
          <a:solidFill>
            <a:srgbClr val="0891B2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5065776"/>
            <a:ext cx="10698480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" y="5221224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68680" y="5020056"/>
            <a:ext cx="10442448" cy="749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 A Programação Orientada a Objetos (POO) é um paradigma que organiza o software em torno de "objetos", que são instâncias de "classes"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0" y="6903720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5" name="Shape 23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6" name="Shape 24"/>
          <p:cNvSpPr/>
          <p:nvPr/>
        </p:nvSpPr>
        <p:spPr>
          <a:xfrm>
            <a:off x="4063898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7" name="Shape 25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8" name="Shape 26"/>
          <p:cNvSpPr/>
          <p:nvPr/>
        </p:nvSpPr>
        <p:spPr>
          <a:xfrm>
            <a:off x="8127797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9" name="Shape 27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6954012"/>
            <a:ext cx="12191695" cy="2743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42 / 75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4F46E5"/>
          </a:solidFill>
          <a:ln/>
        </p:spPr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70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9260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0596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Introdução à Programação Orientada a Objetos (POO) (Continuação)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1508760"/>
            <a:ext cx="10698480" cy="4709160"/>
          </a:xfrm>
          <a:prstGeom prst="roundRect">
            <a:avLst>
              <a:gd name="adj" fmla="val 1942"/>
            </a:avLst>
          </a:prstGeom>
          <a:solidFill>
            <a:srgbClr val="040810"/>
          </a:solidFill>
          <a:ln/>
        </p:spPr>
      </p:sp>
      <p:sp>
        <p:nvSpPr>
          <p:cNvPr id="7" name="Shape 5"/>
          <p:cNvSpPr/>
          <p:nvPr/>
        </p:nvSpPr>
        <p:spPr>
          <a:xfrm>
            <a:off x="877824" y="1636776"/>
            <a:ext cx="45720" cy="445312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8" name="Text 6"/>
          <p:cNvSpPr/>
          <p:nvPr/>
        </p:nvSpPr>
        <p:spPr>
          <a:xfrm>
            <a:off x="1060704" y="1618488"/>
            <a:ext cx="10149840" cy="44897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Uma classe atua como um "molde" ou "planta", definindo um conjunto de atributos (características) e métodos (comportamentos).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0" y="6903720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0" name="Shape 8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1" name="Shape 9"/>
          <p:cNvSpPr/>
          <p:nvPr/>
        </p:nvSpPr>
        <p:spPr>
          <a:xfrm>
            <a:off x="4063898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2" name="Shape 10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3" name="Shape 11"/>
          <p:cNvSpPr/>
          <p:nvPr/>
        </p:nvSpPr>
        <p:spPr>
          <a:xfrm>
            <a:off x="8127797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4" name="Shape 12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6954012"/>
            <a:ext cx="12191695" cy="2743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43 / 75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4F46E5"/>
          </a:solidFill>
          <a:ln/>
        </p:spPr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70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67093" cy="6858000"/>
          </a:xfrm>
          <a:prstGeom prst="rect">
            <a:avLst/>
          </a:prstGeom>
          <a:solidFill>
            <a:srgbClr val="0408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267093" cy="115214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197864"/>
            <a:ext cx="4267093" cy="115214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2395728"/>
            <a:ext cx="4267093" cy="115214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3593592"/>
            <a:ext cx="4267093" cy="115214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4791456"/>
            <a:ext cx="4267093" cy="115214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5989320"/>
            <a:ext cx="4267093" cy="115214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9" name="Shape 7"/>
          <p:cNvSpPr/>
          <p:nvPr/>
        </p:nvSpPr>
        <p:spPr>
          <a:xfrm>
            <a:off x="4267093" y="0"/>
            <a:ext cx="45720" cy="6858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0" name="Shape 8"/>
          <p:cNvSpPr/>
          <p:nvPr/>
        </p:nvSpPr>
        <p:spPr>
          <a:xfrm>
            <a:off x="4312813" y="0"/>
            <a:ext cx="13716" cy="6858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502920"/>
            <a:ext cx="344413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9770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" y="1197864"/>
            <a:ext cx="1097280" cy="10973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1254557"/>
            <a:ext cx="3444133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Introdução à Programação Orientada a Objetos (POO) (Continuação)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587133" y="530352"/>
            <a:ext cx="41148" cy="7955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5" name="Text 13"/>
          <p:cNvSpPr/>
          <p:nvPr/>
        </p:nvSpPr>
        <p:spPr>
          <a:xfrm>
            <a:off x="4770013" y="466344"/>
            <a:ext cx="6973626" cy="9418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Um objeto, por sua vez, é uma instância concreta dessa classe, possuindo seus próprios valores para os atributos definidos.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70013" y="1437437"/>
            <a:ext cx="6973626" cy="4572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17" name="Shape 15"/>
          <p:cNvSpPr/>
          <p:nvPr/>
        </p:nvSpPr>
        <p:spPr>
          <a:xfrm>
            <a:off x="4587133" y="1536192"/>
            <a:ext cx="41148" cy="7955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4770013" y="1472184"/>
            <a:ext cx="6973626" cy="9418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Os atributos representam o estado de um objeto, enquanto os métodos são as ações que ele pode realizar.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70013" y="2443277"/>
            <a:ext cx="6973626" cy="4572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20" name="Shape 18"/>
          <p:cNvSpPr/>
          <p:nvPr/>
        </p:nvSpPr>
        <p:spPr>
          <a:xfrm>
            <a:off x="4587133" y="2542032"/>
            <a:ext cx="41148" cy="7955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4770013" y="2478024"/>
            <a:ext cx="6973626" cy="9418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 Python é uma linguagem intrinsecamente orientada a objetos, onde a maioria dos elementos são objetos.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718718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3" name="Shape 21"/>
          <p:cNvSpPr/>
          <p:nvPr/>
        </p:nvSpPr>
        <p:spPr>
          <a:xfrm>
            <a:off x="2031949" y="723747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4" name="Shape 22"/>
          <p:cNvSpPr/>
          <p:nvPr/>
        </p:nvSpPr>
        <p:spPr>
          <a:xfrm>
            <a:off x="4063898" y="718718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5" name="Shape 23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6" name="Shape 24"/>
          <p:cNvSpPr/>
          <p:nvPr/>
        </p:nvSpPr>
        <p:spPr>
          <a:xfrm>
            <a:off x="8127797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7" name="Shape 25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8" name="Shape 26"/>
          <p:cNvSpPr/>
          <p:nvPr/>
        </p:nvSpPr>
        <p:spPr>
          <a:xfrm>
            <a:off x="0" y="7287768"/>
            <a:ext cx="12191695" cy="2743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" y="723747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44 / 75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4F46E5"/>
          </a:solidFill>
          <a:ln/>
        </p:spPr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70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9260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4F46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Introdução à Programação Orientada a Objetos (POO) (Continuação) (Continuação)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58952" y="1545336"/>
            <a:ext cx="10698480" cy="1124712"/>
          </a:xfrm>
          <a:prstGeom prst="roundRect">
            <a:avLst>
              <a:gd name="adj" fmla="val 8130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508760"/>
            <a:ext cx="10698480" cy="1124712"/>
          </a:xfrm>
          <a:prstGeom prst="roundRect">
            <a:avLst>
              <a:gd name="adj" fmla="val 8130"/>
            </a:avLst>
          </a:prstGeom>
          <a:solidFill>
            <a:srgbClr val="0F1629"/>
          </a:solidFill>
          <a:ln w="6350">
            <a:solidFill>
              <a:srgbClr val="1E2D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508760"/>
            <a:ext cx="749808" cy="1124712"/>
          </a:xfrm>
          <a:prstGeom prst="roundRect">
            <a:avLst>
              <a:gd name="adj" fmla="val 12195"/>
            </a:avLst>
          </a:prstGeom>
          <a:solidFill>
            <a:srgbClr val="4F46E5"/>
          </a:solidFill>
          <a:ln/>
        </p:spPr>
      </p:sp>
      <p:sp>
        <p:nvSpPr>
          <p:cNvPr id="9" name="Shape 7"/>
          <p:cNvSpPr/>
          <p:nvPr/>
        </p:nvSpPr>
        <p:spPr>
          <a:xfrm>
            <a:off x="1389888" y="1508760"/>
            <a:ext cx="91440" cy="112471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508760"/>
            <a:ext cx="658368" cy="1124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>
                    <a:alpha val="9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1481328" y="1733702"/>
            <a:ext cx="7315" cy="674827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2" name="Text 10"/>
          <p:cNvSpPr/>
          <p:nvPr/>
        </p:nvSpPr>
        <p:spPr>
          <a:xfrm>
            <a:off x="1591056" y="1536192"/>
            <a:ext cx="9747504" cy="10698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780" b="1" dirty="0">
                <a:solidFill>
                  <a:srgbClr val="4F46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Construtor init: </a:t>
            </a:r>
            <a:pPr indent="0" marL="0">
              <a:lnSpc>
                <a:spcPct val="116000"/>
              </a:lnSpc>
              <a:buNone/>
            </a:pPr>
            <a:r>
              <a:rPr lang="en-US" sz="178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Este é um método especial que é invocado automaticamente ao criar um novo objeto.</a:t>
            </a:r>
            <a:endParaRPr lang="en-US" sz="1780" dirty="0"/>
          </a:p>
        </p:txBody>
      </p:sp>
      <p:sp>
        <p:nvSpPr>
          <p:cNvPr id="13" name="Shape 11"/>
          <p:cNvSpPr/>
          <p:nvPr/>
        </p:nvSpPr>
        <p:spPr>
          <a:xfrm>
            <a:off x="0" y="6903720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4" name="Shape 12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5" name="Shape 13"/>
          <p:cNvSpPr/>
          <p:nvPr/>
        </p:nvSpPr>
        <p:spPr>
          <a:xfrm>
            <a:off x="4063898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6" name="Shape 14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7" name="Shape 15"/>
          <p:cNvSpPr/>
          <p:nvPr/>
        </p:nvSpPr>
        <p:spPr>
          <a:xfrm>
            <a:off x="8127797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8" name="Shape 16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6954012"/>
            <a:ext cx="12191695" cy="2743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45 / 75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4F46E5"/>
          </a:solidFill>
          <a:ln/>
        </p:spPr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70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9260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7C3AE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Introdução à Programação Orientada a Objetos (POO) (Continuação)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58952" y="1545336"/>
            <a:ext cx="10698480" cy="1335024"/>
          </a:xfrm>
          <a:prstGeom prst="roundRect">
            <a:avLst>
              <a:gd name="adj" fmla="val 6849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508760"/>
            <a:ext cx="10698480" cy="1335024"/>
          </a:xfrm>
          <a:prstGeom prst="roundRect">
            <a:avLst>
              <a:gd name="adj" fmla="val 8219"/>
            </a:avLst>
          </a:prstGeom>
          <a:solidFill>
            <a:srgbClr val="0F162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508760"/>
            <a:ext cx="10698480" cy="512064"/>
          </a:xfrm>
          <a:prstGeom prst="roundRect">
            <a:avLst>
              <a:gd name="adj" fmla="val 21429"/>
            </a:avLst>
          </a:prstGeom>
          <a:solidFill>
            <a:srgbClr val="4F46E5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066544"/>
            <a:ext cx="10698480" cy="1097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2221992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2020824"/>
            <a:ext cx="10442448" cy="749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Ele é essencial para inicializar os atributos do objeto, recebendo self como primeiro parâmetro para referenciar a própria instância.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58952" y="3044952"/>
            <a:ext cx="10698480" cy="1335024"/>
          </a:xfrm>
          <a:prstGeom prst="roundRect">
            <a:avLst>
              <a:gd name="adj" fmla="val 6849"/>
            </a:avLst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3008376"/>
            <a:ext cx="10698480" cy="1335024"/>
          </a:xfrm>
          <a:prstGeom prst="roundRect">
            <a:avLst>
              <a:gd name="adj" fmla="val 8219"/>
            </a:avLst>
          </a:prstGeom>
          <a:solidFill>
            <a:srgbClr val="0F162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3008376"/>
            <a:ext cx="10698480" cy="512064"/>
          </a:xfrm>
          <a:prstGeom prst="roundRect">
            <a:avLst>
              <a:gd name="adj" fmla="val 21429"/>
            </a:avLst>
          </a:prstGeom>
          <a:solidFill>
            <a:srgbClr val="7C3AED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3566160"/>
            <a:ext cx="10698480" cy="1097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3721608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3520440"/>
            <a:ext cx="10442448" cy="749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b="1" dirty="0">
                <a:solidFill>
                  <a:srgbClr val="7C3AE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Criação de Objetos: </a:t>
            </a:r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Para instanciar uma classe, você a "chama" como uma função, passando os argumentos necessários para o construtor init.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58952" y="4544568"/>
            <a:ext cx="10698480" cy="1335024"/>
          </a:xfrm>
          <a:prstGeom prst="roundRect">
            <a:avLst>
              <a:gd name="adj" fmla="val 6849"/>
            </a:avLst>
          </a:prstGeom>
          <a:solidFill>
            <a:srgbClr val="00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4507992"/>
            <a:ext cx="10698480" cy="1335024"/>
          </a:xfrm>
          <a:prstGeom prst="roundRect">
            <a:avLst>
              <a:gd name="adj" fmla="val 8219"/>
            </a:avLst>
          </a:prstGeom>
          <a:solidFill>
            <a:srgbClr val="0F1629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4507992"/>
            <a:ext cx="10698480" cy="512064"/>
          </a:xfrm>
          <a:prstGeom prst="roundRect">
            <a:avLst>
              <a:gd name="adj" fmla="val 21429"/>
            </a:avLst>
          </a:prstGeom>
          <a:solidFill>
            <a:srgbClr val="0891B2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5065776"/>
            <a:ext cx="10698480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" y="5221224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68680" y="5020056"/>
            <a:ext cx="10442448" cy="749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Cada chamada cria um objeto único com seus próprios valores de atributo.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0" y="6903720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5" name="Shape 23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6" name="Shape 24"/>
          <p:cNvSpPr/>
          <p:nvPr/>
        </p:nvSpPr>
        <p:spPr>
          <a:xfrm>
            <a:off x="4063898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7" name="Shape 25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8" name="Shape 26"/>
          <p:cNvSpPr/>
          <p:nvPr/>
        </p:nvSpPr>
        <p:spPr>
          <a:xfrm>
            <a:off x="8127797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9" name="Shape 27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6954012"/>
            <a:ext cx="12191695" cy="2743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46 / 75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4F46E5"/>
          </a:solidFill>
          <a:ln/>
        </p:spPr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70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9260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0891B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Introdução à Programação Orientada a Objetos (POO) (Continuação) (Continuação)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1508760"/>
            <a:ext cx="10698480" cy="4709160"/>
          </a:xfrm>
          <a:prstGeom prst="roundRect">
            <a:avLst>
              <a:gd name="adj" fmla="val 1942"/>
            </a:avLst>
          </a:prstGeom>
          <a:solidFill>
            <a:srgbClr val="040810"/>
          </a:solidFill>
          <a:ln/>
        </p:spPr>
      </p:sp>
      <p:sp>
        <p:nvSpPr>
          <p:cNvPr id="7" name="Shape 5"/>
          <p:cNvSpPr/>
          <p:nvPr/>
        </p:nvSpPr>
        <p:spPr>
          <a:xfrm>
            <a:off x="877824" y="1636776"/>
            <a:ext cx="45720" cy="44531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1060704" y="1618488"/>
            <a:ext cx="10149840" cy="44897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Implementação de Herança: Para que uma classe herde de outra, a superclasse é especificada entre parênteses após o nome da subclasse.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0" y="6903720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0" name="Shape 8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1" name="Shape 9"/>
          <p:cNvSpPr/>
          <p:nvPr/>
        </p:nvSpPr>
        <p:spPr>
          <a:xfrm>
            <a:off x="4063898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2" name="Shape 10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3" name="Shape 11"/>
          <p:cNvSpPr/>
          <p:nvPr/>
        </p:nvSpPr>
        <p:spPr>
          <a:xfrm>
            <a:off x="8127797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4" name="Shape 12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6954012"/>
            <a:ext cx="12191695" cy="2743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47 / 75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4F46E5"/>
          </a:solidFill>
          <a:ln/>
        </p:spPr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70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67093" cy="6858000"/>
          </a:xfrm>
          <a:prstGeom prst="rect">
            <a:avLst/>
          </a:prstGeom>
          <a:solidFill>
            <a:srgbClr val="0408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267093" cy="115214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197864"/>
            <a:ext cx="4267093" cy="115214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2395728"/>
            <a:ext cx="4267093" cy="115214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3593592"/>
            <a:ext cx="4267093" cy="115214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4791456"/>
            <a:ext cx="4267093" cy="115214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5989320"/>
            <a:ext cx="4267093" cy="115214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9" name="Shape 7"/>
          <p:cNvSpPr/>
          <p:nvPr/>
        </p:nvSpPr>
        <p:spPr>
          <a:xfrm>
            <a:off x="4267093" y="0"/>
            <a:ext cx="45720" cy="6858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0" name="Shape 8"/>
          <p:cNvSpPr/>
          <p:nvPr/>
        </p:nvSpPr>
        <p:spPr>
          <a:xfrm>
            <a:off x="4312813" y="0"/>
            <a:ext cx="13716" cy="6858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502920"/>
            <a:ext cx="344413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596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" y="1197864"/>
            <a:ext cx="1097280" cy="10973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1254557"/>
            <a:ext cx="3444133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Introdução à Programação Orientada a Objetos (POO) (Continuação)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587133" y="530352"/>
            <a:ext cx="41148" cy="7955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5" name="Text 13"/>
          <p:cNvSpPr/>
          <p:nvPr/>
        </p:nvSpPr>
        <p:spPr>
          <a:xfrm>
            <a:off x="4770013" y="466344"/>
            <a:ext cx="6973626" cy="9418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método super().init() é usado dentro do construtor da subclasse para garantir que a inicialização da classe pai seja executada.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70013" y="1437437"/>
            <a:ext cx="6973626" cy="4572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17" name="Shape 15"/>
          <p:cNvSpPr/>
          <p:nvPr/>
        </p:nvSpPr>
        <p:spPr>
          <a:xfrm>
            <a:off x="4587133" y="1536192"/>
            <a:ext cx="41148" cy="7955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4770013" y="1472184"/>
            <a:ext cx="6973626" cy="9418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500" b="1" dirty="0">
                <a:solidFill>
                  <a:srgbClr val="7C3AE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Reutilização: </a:t>
            </a:r>
            <a:pPr indent="0" marL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Permite a criação de classes genéricas e a reutilização de código através da herança.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770013" y="2443277"/>
            <a:ext cx="6973626" cy="4572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20" name="Shape 18"/>
          <p:cNvSpPr/>
          <p:nvPr/>
        </p:nvSpPr>
        <p:spPr>
          <a:xfrm>
            <a:off x="4587133" y="2542032"/>
            <a:ext cx="41148" cy="7955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4770013" y="2478024"/>
            <a:ext cx="6973626" cy="9418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500" b="1" dirty="0">
                <a:solidFill>
                  <a:srgbClr val="0891B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Manutenção: </a:t>
            </a:r>
            <a:pPr indent="0" marL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Facilita a manutenção do código, pois as alterações tendem a ter impacto localizado.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0" y="718718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3" name="Shape 21"/>
          <p:cNvSpPr/>
          <p:nvPr/>
        </p:nvSpPr>
        <p:spPr>
          <a:xfrm>
            <a:off x="2031949" y="723747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4" name="Shape 22"/>
          <p:cNvSpPr/>
          <p:nvPr/>
        </p:nvSpPr>
        <p:spPr>
          <a:xfrm>
            <a:off x="4063898" y="718718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5" name="Shape 23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6" name="Shape 24"/>
          <p:cNvSpPr/>
          <p:nvPr/>
        </p:nvSpPr>
        <p:spPr>
          <a:xfrm>
            <a:off x="8127797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7" name="Shape 25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8" name="Shape 26"/>
          <p:cNvSpPr/>
          <p:nvPr/>
        </p:nvSpPr>
        <p:spPr>
          <a:xfrm>
            <a:off x="0" y="7287768"/>
            <a:ext cx="12191695" cy="2743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" y="723747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48 / 75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4F46E5"/>
          </a:solidFill>
          <a:ln/>
        </p:spPr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70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9260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D9770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Introdução à Programação Orientada a Objetos (POO) (Continuação) (Continuação)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58952" y="1545336"/>
            <a:ext cx="10698480" cy="1124712"/>
          </a:xfrm>
          <a:prstGeom prst="roundRect">
            <a:avLst>
              <a:gd name="adj" fmla="val 8130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508760"/>
            <a:ext cx="10698480" cy="1124712"/>
          </a:xfrm>
          <a:prstGeom prst="roundRect">
            <a:avLst>
              <a:gd name="adj" fmla="val 8130"/>
            </a:avLst>
          </a:prstGeom>
          <a:solidFill>
            <a:srgbClr val="0F1629"/>
          </a:solidFill>
          <a:ln w="6350">
            <a:solidFill>
              <a:srgbClr val="1E2D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508760"/>
            <a:ext cx="749808" cy="1124712"/>
          </a:xfrm>
          <a:prstGeom prst="roundRect">
            <a:avLst>
              <a:gd name="adj" fmla="val 12195"/>
            </a:avLst>
          </a:prstGeom>
          <a:solidFill>
            <a:srgbClr val="4F46E5"/>
          </a:solidFill>
          <a:ln/>
        </p:spPr>
      </p:sp>
      <p:sp>
        <p:nvSpPr>
          <p:cNvPr id="9" name="Shape 7"/>
          <p:cNvSpPr/>
          <p:nvPr/>
        </p:nvSpPr>
        <p:spPr>
          <a:xfrm>
            <a:off x="1389888" y="1508760"/>
            <a:ext cx="91440" cy="112471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508760"/>
            <a:ext cx="658368" cy="1124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>
                    <a:alpha val="9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1481328" y="1733702"/>
            <a:ext cx="7315" cy="674827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2" name="Text 10"/>
          <p:cNvSpPr/>
          <p:nvPr/>
        </p:nvSpPr>
        <p:spPr>
          <a:xfrm>
            <a:off x="1591056" y="1536192"/>
            <a:ext cx="9747504" cy="10698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790" b="1" dirty="0">
                <a:solidFill>
                  <a:srgbClr val="4F46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Escalabilidade: </a:t>
            </a:r>
            <a:pPr indent="0" marL="0">
              <a:lnSpc>
                <a:spcPct val="116000"/>
              </a:lnSpc>
              <a:buNone/>
            </a:pPr>
            <a:r>
              <a:rPr lang="en-US" sz="179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Torna os sistemas mais fáceis de expandir com a adição de novas funcionalidades.</a:t>
            </a:r>
            <a:endParaRPr lang="en-US" sz="1790" dirty="0"/>
          </a:p>
        </p:txBody>
      </p:sp>
      <p:sp>
        <p:nvSpPr>
          <p:cNvPr id="13" name="Shape 11"/>
          <p:cNvSpPr/>
          <p:nvPr/>
        </p:nvSpPr>
        <p:spPr>
          <a:xfrm>
            <a:off x="0" y="6903720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4" name="Shape 12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5" name="Shape 13"/>
          <p:cNvSpPr/>
          <p:nvPr/>
        </p:nvSpPr>
        <p:spPr>
          <a:xfrm>
            <a:off x="4063898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6" name="Shape 14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7" name="Shape 15"/>
          <p:cNvSpPr/>
          <p:nvPr/>
        </p:nvSpPr>
        <p:spPr>
          <a:xfrm>
            <a:off x="8127797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8" name="Shape 16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6954012"/>
            <a:ext cx="12191695" cy="2743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49 / 75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4F46E5"/>
          </a:solidFill>
          <a:ln/>
        </p:spPr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4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"/>
            <a:ext cx="12191695" cy="4114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D9770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PRINCIPAIS APRENDIZADOS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Principais Aprendizados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12648" y="1536192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000000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508760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0F1A30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508760"/>
            <a:ext cx="45720" cy="1691640"/>
          </a:xfrm>
          <a:prstGeom prst="rect">
            <a:avLst>
              <a:gd name="adj" fmla="val 240000"/>
            </a:avLst>
          </a:prstGeom>
          <a:solidFill>
            <a:srgbClr val="4F46E5"/>
          </a:solidFill>
          <a:ln/>
        </p:spPr>
      </p:sp>
      <p:sp>
        <p:nvSpPr>
          <p:cNvPr id="8" name="Shape 6"/>
          <p:cNvSpPr/>
          <p:nvPr/>
        </p:nvSpPr>
        <p:spPr>
          <a:xfrm>
            <a:off x="722376" y="16367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4F46E5"/>
          </a:solidFill>
          <a:ln/>
        </p:spPr>
      </p:sp>
      <p:sp>
        <p:nvSpPr>
          <p:cNvPr id="9" name="Text 7"/>
          <p:cNvSpPr/>
          <p:nvPr/>
        </p:nvSpPr>
        <p:spPr>
          <a:xfrm>
            <a:off x="722376" y="20299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58952" y="2423160"/>
            <a:ext cx="517687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Agora você domina os conceitos fundamentais deste módulo e pode aplicá-los na prática.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46724" y="1536192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00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6228436" y="1508760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0F1A30"/>
          </a:solidFill>
          <a:ln/>
        </p:spPr>
      </p:sp>
      <p:sp>
        <p:nvSpPr>
          <p:cNvPr id="13" name="Shape 11"/>
          <p:cNvSpPr/>
          <p:nvPr/>
        </p:nvSpPr>
        <p:spPr>
          <a:xfrm>
            <a:off x="6228436" y="1508760"/>
            <a:ext cx="45720" cy="1691640"/>
          </a:xfrm>
          <a:prstGeom prst="rect">
            <a:avLst>
              <a:gd name="adj" fmla="val 240000"/>
            </a:avLst>
          </a:prstGeom>
          <a:solidFill>
            <a:srgbClr val="7C3AED"/>
          </a:solidFill>
          <a:ln/>
        </p:spPr>
      </p:sp>
      <p:sp>
        <p:nvSpPr>
          <p:cNvPr id="14" name="Shape 12"/>
          <p:cNvSpPr/>
          <p:nvPr/>
        </p:nvSpPr>
        <p:spPr>
          <a:xfrm>
            <a:off x="6356452" y="16367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6356452" y="20299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93028" y="2423160"/>
            <a:ext cx="517687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Lembre-se de revisar os pontos principais antes de avançar para o próximo módulo.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2648" y="3355848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00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" y="3328416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0F1A30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" y="3328416"/>
            <a:ext cx="45720" cy="1691640"/>
          </a:xfrm>
          <a:prstGeom prst="rect">
            <a:avLst>
              <a:gd name="adj" fmla="val 240000"/>
            </a:avLst>
          </a:prstGeom>
          <a:solidFill>
            <a:srgbClr val="0891B2"/>
          </a:solidFill>
          <a:ln/>
        </p:spPr>
      </p:sp>
      <p:sp>
        <p:nvSpPr>
          <p:cNvPr id="20" name="Shape 18"/>
          <p:cNvSpPr/>
          <p:nvPr/>
        </p:nvSpPr>
        <p:spPr>
          <a:xfrm>
            <a:off x="722376" y="345643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722376" y="38496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58952" y="4242816"/>
            <a:ext cx="517687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Você é capaz de explicar estes conceitos com suas próprias palavras e usá-los em projetos reais.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46724" y="3355848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000000"/>
          </a:solidFill>
          <a:ln/>
        </p:spPr>
      </p:sp>
      <p:sp>
        <p:nvSpPr>
          <p:cNvPr id="24" name="Shape 22"/>
          <p:cNvSpPr/>
          <p:nvPr/>
        </p:nvSpPr>
        <p:spPr>
          <a:xfrm>
            <a:off x="6228436" y="3328416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0F1A30"/>
          </a:solidFill>
          <a:ln/>
        </p:spPr>
      </p:sp>
      <p:sp>
        <p:nvSpPr>
          <p:cNvPr id="25" name="Shape 23"/>
          <p:cNvSpPr/>
          <p:nvPr/>
        </p:nvSpPr>
        <p:spPr>
          <a:xfrm>
            <a:off x="6228436" y="3328416"/>
            <a:ext cx="45720" cy="1691640"/>
          </a:xfrm>
          <a:prstGeom prst="rect">
            <a:avLst>
              <a:gd name="adj" fmla="val 240000"/>
            </a:avLst>
          </a:prstGeom>
          <a:solidFill>
            <a:srgbClr val="059669"/>
          </a:solidFill>
          <a:ln/>
        </p:spPr>
      </p:sp>
      <p:sp>
        <p:nvSpPr>
          <p:cNvPr id="26" name="Shape 24"/>
          <p:cNvSpPr/>
          <p:nvPr/>
        </p:nvSpPr>
        <p:spPr>
          <a:xfrm>
            <a:off x="6356452" y="345643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059669"/>
          </a:solidFill>
          <a:ln/>
        </p:spPr>
      </p:sp>
      <p:sp>
        <p:nvSpPr>
          <p:cNvPr id="27" name="Text 25"/>
          <p:cNvSpPr/>
          <p:nvPr/>
        </p:nvSpPr>
        <p:spPr>
          <a:xfrm>
            <a:off x="6356452" y="38496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93028" y="4242816"/>
            <a:ext cx="517687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Continue praticando: a maestria vem com a aplicação consistente do conhecimento adquirido.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0" name="Shape 28"/>
          <p:cNvSpPr/>
          <p:nvPr/>
        </p:nvSpPr>
        <p:spPr>
          <a:xfrm>
            <a:off x="2031949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1" name="Shape 29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2" name="Shape 30"/>
          <p:cNvSpPr/>
          <p:nvPr/>
        </p:nvSpPr>
        <p:spPr>
          <a:xfrm>
            <a:off x="6095848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3" name="Shape 31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4" name="Shape 32"/>
          <p:cNvSpPr/>
          <p:nvPr/>
        </p:nvSpPr>
        <p:spPr>
          <a:xfrm>
            <a:off x="10159746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50 / 75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4F46E5"/>
          </a:solidFill>
          <a:ln/>
        </p:spPr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04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021" y="0"/>
            <a:ext cx="3413675" cy="6858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7071055" y="1463040"/>
            <a:ext cx="4754880" cy="4206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7C3AED">
                    <a:alpha val="2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0728655" y="502920"/>
            <a:ext cx="118872" cy="11887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005840"/>
            <a:ext cx="45720" cy="21031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1005840"/>
            <a:ext cx="13716" cy="21031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097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0" kern="0" dirty="0">
                <a:solidFill>
                  <a:srgbClr val="7C3AE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MÓDULO 7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05840" y="1435608"/>
            <a:ext cx="1828800" cy="228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600200"/>
            <a:ext cx="6827349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Testes, Logs e Depuração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1005840" y="4142232"/>
            <a:ext cx="2011680" cy="10973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425196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7C3AE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QUE VOCÊ VAI APRENDER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005840" y="45902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1234440" y="4544568"/>
            <a:ext cx="58520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Aprender a implementar e configurar sistemas de log eficazes para monitorar a execução de seus aplic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05840" y="50474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1234440" y="5001768"/>
            <a:ext cx="58520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Dominar técnicas e ferramentas de depuração para identificar, localizar e corrigir erros de forma ef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05840" y="55046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1234440" y="5715000"/>
            <a:ext cx="58520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 No desenvolvimento de software, criar um código funcional é apenas o início.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6446520"/>
            <a:ext cx="542544" cy="7315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Shape 17"/>
          <p:cNvSpPr/>
          <p:nvPr/>
        </p:nvSpPr>
        <p:spPr>
          <a:xfrm>
            <a:off x="1264920" y="6499555"/>
            <a:ext cx="542544" cy="7315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Shape 18"/>
          <p:cNvSpPr/>
          <p:nvPr/>
        </p:nvSpPr>
        <p:spPr>
          <a:xfrm>
            <a:off x="1798320" y="6446520"/>
            <a:ext cx="542544" cy="7315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Shape 19"/>
          <p:cNvSpPr/>
          <p:nvPr/>
        </p:nvSpPr>
        <p:spPr>
          <a:xfrm>
            <a:off x="2331720" y="6499555"/>
            <a:ext cx="542544" cy="7315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Shape 20"/>
          <p:cNvSpPr/>
          <p:nvPr/>
        </p:nvSpPr>
        <p:spPr>
          <a:xfrm>
            <a:off x="2865120" y="6446520"/>
            <a:ext cx="542544" cy="7315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Shape 21"/>
          <p:cNvSpPr/>
          <p:nvPr/>
        </p:nvSpPr>
        <p:spPr>
          <a:xfrm>
            <a:off x="3398520" y="6499555"/>
            <a:ext cx="542544" cy="7315"/>
          </a:xfrm>
          <a:prstGeom prst="rect">
            <a:avLst/>
          </a:prstGeom>
          <a:solidFill>
            <a:srgbClr val="7C3AED"/>
          </a:solidFill>
          <a:ln/>
        </p:spPr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070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9260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7C3AE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Testes, Logs e Depuração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31520" y="1508760"/>
            <a:ext cx="10698480" cy="1371600"/>
          </a:xfrm>
          <a:prstGeom prst="roundRect">
            <a:avLst>
              <a:gd name="adj" fmla="val 6667"/>
            </a:avLst>
          </a:prstGeom>
          <a:solidFill>
            <a:srgbClr val="040810"/>
          </a:solidFill>
          <a:ln/>
        </p:spPr>
      </p:sp>
      <p:sp>
        <p:nvSpPr>
          <p:cNvPr id="7" name="Shape 5"/>
          <p:cNvSpPr/>
          <p:nvPr/>
        </p:nvSpPr>
        <p:spPr>
          <a:xfrm>
            <a:off x="877824" y="1636776"/>
            <a:ext cx="45720" cy="11155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1060704" y="1618488"/>
            <a:ext cx="10149840" cy="11521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Aprender a implementar e configurar sistemas de log eficazes para monitorar a execução de seus aplicativos e diagnosticar problemas.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77240" y="3355848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950976" y="3063240"/>
            <a:ext cx="10424160" cy="6766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Dominar técnicas e ferramentas de depuração para identificar, localizar e corrigir erros de forma eficiente em seus programas.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" y="4096512"/>
            <a:ext cx="91440" cy="914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950976" y="3803904"/>
            <a:ext cx="10424160" cy="6766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 No desenvolvimento de software, criar um código funcional é apenas o início.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0" y="6903720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4" name="Shape 12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5" name="Shape 13"/>
          <p:cNvSpPr/>
          <p:nvPr/>
        </p:nvSpPr>
        <p:spPr>
          <a:xfrm>
            <a:off x="4063898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6" name="Shape 14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7" name="Shape 15"/>
          <p:cNvSpPr/>
          <p:nvPr/>
        </p:nvSpPr>
        <p:spPr>
          <a:xfrm>
            <a:off x="8127797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8" name="Shape 16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6954012"/>
            <a:ext cx="12191695" cy="2743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51 / 75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4F46E5"/>
          </a:solidFill>
          <a:ln/>
        </p:spPr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070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67093" cy="6858000"/>
          </a:xfrm>
          <a:prstGeom prst="rect">
            <a:avLst/>
          </a:prstGeom>
          <a:solidFill>
            <a:srgbClr val="0408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267093" cy="115214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197864"/>
            <a:ext cx="4267093" cy="115214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2395728"/>
            <a:ext cx="4267093" cy="115214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3593592"/>
            <a:ext cx="4267093" cy="115214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4791456"/>
            <a:ext cx="4267093" cy="115214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5989320"/>
            <a:ext cx="4267093" cy="115214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Shape 7"/>
          <p:cNvSpPr/>
          <p:nvPr/>
        </p:nvSpPr>
        <p:spPr>
          <a:xfrm>
            <a:off x="4267093" y="0"/>
            <a:ext cx="45720" cy="68580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Shape 8"/>
          <p:cNvSpPr/>
          <p:nvPr/>
        </p:nvSpPr>
        <p:spPr>
          <a:xfrm>
            <a:off x="4312813" y="0"/>
            <a:ext cx="13716" cy="68580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502920"/>
            <a:ext cx="344413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891B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" y="1197864"/>
            <a:ext cx="1097280" cy="10973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1254557"/>
            <a:ext cx="3444133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Testes, Logs e Depuração (Continuação)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4587133" y="530352"/>
            <a:ext cx="41148" cy="7955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5" name="Text 13"/>
          <p:cNvSpPr/>
          <p:nvPr/>
        </p:nvSpPr>
        <p:spPr>
          <a:xfrm>
            <a:off x="4770013" y="466344"/>
            <a:ext cx="6973626" cy="9418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Para construir aplicações confiáveis e escaláveis, é essencial ir além.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0" y="718718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7" name="Shape 15"/>
          <p:cNvSpPr/>
          <p:nvPr/>
        </p:nvSpPr>
        <p:spPr>
          <a:xfrm>
            <a:off x="2031949" y="723747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8" name="Shape 16"/>
          <p:cNvSpPr/>
          <p:nvPr/>
        </p:nvSpPr>
        <p:spPr>
          <a:xfrm>
            <a:off x="4063898" y="718718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9" name="Shape 17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0" name="Shape 18"/>
          <p:cNvSpPr/>
          <p:nvPr/>
        </p:nvSpPr>
        <p:spPr>
          <a:xfrm>
            <a:off x="8127797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1" name="Shape 19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7287768"/>
            <a:ext cx="12191695" cy="2743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723747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52 / 75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4F46E5"/>
          </a:solidFill>
          <a:ln/>
        </p:spPr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070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9260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0596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Testes, Logs e Depuração (Continuação)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758952" y="1545336"/>
            <a:ext cx="10698480" cy="1124712"/>
          </a:xfrm>
          <a:prstGeom prst="roundRect">
            <a:avLst>
              <a:gd name="adj" fmla="val 8130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508760"/>
            <a:ext cx="10698480" cy="1124712"/>
          </a:xfrm>
          <a:prstGeom prst="roundRect">
            <a:avLst>
              <a:gd name="adj" fmla="val 8130"/>
            </a:avLst>
          </a:prstGeom>
          <a:solidFill>
            <a:srgbClr val="0F1629"/>
          </a:solidFill>
          <a:ln w="6350">
            <a:solidFill>
              <a:srgbClr val="1E2D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508760"/>
            <a:ext cx="749808" cy="1124712"/>
          </a:xfrm>
          <a:prstGeom prst="roundRect">
            <a:avLst>
              <a:gd name="adj" fmla="val 12195"/>
            </a:avLst>
          </a:prstGeom>
          <a:solidFill>
            <a:srgbClr val="4F46E5"/>
          </a:solidFill>
          <a:ln/>
        </p:spPr>
      </p:sp>
      <p:sp>
        <p:nvSpPr>
          <p:cNvPr id="9" name="Shape 7"/>
          <p:cNvSpPr/>
          <p:nvPr/>
        </p:nvSpPr>
        <p:spPr>
          <a:xfrm>
            <a:off x="1389888" y="1508760"/>
            <a:ext cx="91440" cy="112471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508760"/>
            <a:ext cx="658368" cy="1124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>
                    <a:alpha val="9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1481328" y="1733702"/>
            <a:ext cx="7315" cy="674827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2" name="Text 10"/>
          <p:cNvSpPr/>
          <p:nvPr/>
        </p:nvSpPr>
        <p:spPr>
          <a:xfrm>
            <a:off x="1591056" y="1536192"/>
            <a:ext cx="9747504" cy="10698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83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Este módulo aborda três pilares cruciais para a qualidade e estabilidade: testes, logs e depuração.</a:t>
            </a:r>
            <a:endParaRPr lang="en-US" sz="1830" dirty="0"/>
          </a:p>
        </p:txBody>
      </p:sp>
      <p:sp>
        <p:nvSpPr>
          <p:cNvPr id="13" name="Shape 11"/>
          <p:cNvSpPr/>
          <p:nvPr/>
        </p:nvSpPr>
        <p:spPr>
          <a:xfrm>
            <a:off x="758952" y="2779776"/>
            <a:ext cx="10698480" cy="1124712"/>
          </a:xfrm>
          <a:prstGeom prst="roundRect">
            <a:avLst>
              <a:gd name="adj" fmla="val 8130"/>
            </a:avLst>
          </a:prstGeom>
          <a:solidFill>
            <a:srgbClr val="000000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2743200"/>
            <a:ext cx="10698480" cy="1124712"/>
          </a:xfrm>
          <a:prstGeom prst="roundRect">
            <a:avLst>
              <a:gd name="adj" fmla="val 8130"/>
            </a:avLst>
          </a:prstGeom>
          <a:solidFill>
            <a:srgbClr val="0F1629"/>
          </a:solidFill>
          <a:ln w="6350">
            <a:solidFill>
              <a:srgbClr val="1E2D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2743200"/>
            <a:ext cx="749808" cy="1124712"/>
          </a:xfrm>
          <a:prstGeom prst="roundRect">
            <a:avLst>
              <a:gd name="adj" fmla="val 12195"/>
            </a:avLst>
          </a:prstGeom>
          <a:solidFill>
            <a:srgbClr val="7C3AED"/>
          </a:solidFill>
          <a:ln/>
        </p:spPr>
      </p:sp>
      <p:sp>
        <p:nvSpPr>
          <p:cNvPr id="16" name="Shape 14"/>
          <p:cNvSpPr/>
          <p:nvPr/>
        </p:nvSpPr>
        <p:spPr>
          <a:xfrm>
            <a:off x="1389888" y="2743200"/>
            <a:ext cx="91440" cy="112471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743200"/>
            <a:ext cx="658368" cy="1124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>
                    <a:alpha val="9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1481328" y="2968142"/>
            <a:ext cx="7315" cy="674827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1591056" y="2770632"/>
            <a:ext cx="9747504" cy="10698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83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Testes unitários são fundamentais para garantir a robustez do código, verificando pequenas partes isoladamente.</a:t>
            </a:r>
            <a:endParaRPr lang="en-US" sz="1830" dirty="0"/>
          </a:p>
        </p:txBody>
      </p:sp>
      <p:sp>
        <p:nvSpPr>
          <p:cNvPr id="20" name="Shape 18"/>
          <p:cNvSpPr/>
          <p:nvPr/>
        </p:nvSpPr>
        <p:spPr>
          <a:xfrm>
            <a:off x="758952" y="4014216"/>
            <a:ext cx="10698480" cy="1124712"/>
          </a:xfrm>
          <a:prstGeom prst="roundRect">
            <a:avLst>
              <a:gd name="adj" fmla="val 8130"/>
            </a:avLst>
          </a:prstGeom>
          <a:solidFill>
            <a:srgbClr val="000000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3977640"/>
            <a:ext cx="10698480" cy="1124712"/>
          </a:xfrm>
          <a:prstGeom prst="roundRect">
            <a:avLst>
              <a:gd name="adj" fmla="val 8130"/>
            </a:avLst>
          </a:prstGeom>
          <a:solidFill>
            <a:srgbClr val="0F1629"/>
          </a:solidFill>
          <a:ln w="6350">
            <a:solidFill>
              <a:srgbClr val="1E2D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3977640"/>
            <a:ext cx="749808" cy="1124712"/>
          </a:xfrm>
          <a:prstGeom prst="roundRect">
            <a:avLst>
              <a:gd name="adj" fmla="val 12195"/>
            </a:avLst>
          </a:prstGeom>
          <a:solidFill>
            <a:srgbClr val="0891B2"/>
          </a:solidFill>
          <a:ln/>
        </p:spPr>
      </p:sp>
      <p:sp>
        <p:nvSpPr>
          <p:cNvPr id="23" name="Shape 21"/>
          <p:cNvSpPr/>
          <p:nvPr/>
        </p:nvSpPr>
        <p:spPr>
          <a:xfrm>
            <a:off x="1389888" y="3977640"/>
            <a:ext cx="91440" cy="112471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3977640"/>
            <a:ext cx="658368" cy="1124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>
                    <a:alpha val="9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800" dirty="0"/>
          </a:p>
        </p:txBody>
      </p:sp>
      <p:sp>
        <p:nvSpPr>
          <p:cNvPr id="25" name="Shape 23"/>
          <p:cNvSpPr/>
          <p:nvPr/>
        </p:nvSpPr>
        <p:spPr>
          <a:xfrm>
            <a:off x="1481328" y="4202582"/>
            <a:ext cx="7315" cy="674827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6" name="Text 24"/>
          <p:cNvSpPr/>
          <p:nvPr/>
        </p:nvSpPr>
        <p:spPr>
          <a:xfrm>
            <a:off x="1591056" y="4005072"/>
            <a:ext cx="9747504" cy="10698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83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Eles reduzem bugs, aumentam a confiança na refatoração e servem como documentação viva, facilitando a manutenção.</a:t>
            </a:r>
            <a:endParaRPr lang="en-US" sz="1830" dirty="0"/>
          </a:p>
        </p:txBody>
      </p:sp>
      <p:sp>
        <p:nvSpPr>
          <p:cNvPr id="27" name="Shape 25"/>
          <p:cNvSpPr/>
          <p:nvPr/>
        </p:nvSpPr>
        <p:spPr>
          <a:xfrm>
            <a:off x="0" y="6903720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8" name="Shape 26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9" name="Shape 27"/>
          <p:cNvSpPr/>
          <p:nvPr/>
        </p:nvSpPr>
        <p:spPr>
          <a:xfrm>
            <a:off x="4063898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0" name="Shape 28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1" name="Shape 29"/>
          <p:cNvSpPr/>
          <p:nvPr/>
        </p:nvSpPr>
        <p:spPr>
          <a:xfrm>
            <a:off x="8127797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2" name="Shape 30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3" name="Shape 31"/>
          <p:cNvSpPr/>
          <p:nvPr/>
        </p:nvSpPr>
        <p:spPr>
          <a:xfrm>
            <a:off x="0" y="6954012"/>
            <a:ext cx="12191695" cy="2743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53 / 75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4F46E5"/>
          </a:solidFill>
          <a:ln/>
        </p:spPr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070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9260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D9770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Testes, Logs e Depuração (Continuação) (Continuação)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58952" y="1545336"/>
            <a:ext cx="10698480" cy="1335024"/>
          </a:xfrm>
          <a:prstGeom prst="roundRect">
            <a:avLst>
              <a:gd name="adj" fmla="val 6849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508760"/>
            <a:ext cx="10698480" cy="1335024"/>
          </a:xfrm>
          <a:prstGeom prst="roundRect">
            <a:avLst>
              <a:gd name="adj" fmla="val 8219"/>
            </a:avLst>
          </a:prstGeom>
          <a:solidFill>
            <a:srgbClr val="0F162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508760"/>
            <a:ext cx="10698480" cy="512064"/>
          </a:xfrm>
          <a:prstGeom prst="roundRect">
            <a:avLst>
              <a:gd name="adj" fmla="val 21429"/>
            </a:avLst>
          </a:prstGeom>
          <a:solidFill>
            <a:srgbClr val="4F46E5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066544"/>
            <a:ext cx="10698480" cy="1097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2221992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2020824"/>
            <a:ext cx="10442448" cy="749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depuração, por sua vez, é o processo de identificar e remover erros que surgem, exigindo uma abordagem sistemática e o uso de ferramentas específicas.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6903720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3" name="Shape 11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4" name="Shape 12"/>
          <p:cNvSpPr/>
          <p:nvPr/>
        </p:nvSpPr>
        <p:spPr>
          <a:xfrm>
            <a:off x="4063898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5" name="Shape 13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6" name="Shape 14"/>
          <p:cNvSpPr/>
          <p:nvPr/>
        </p:nvSpPr>
        <p:spPr>
          <a:xfrm>
            <a:off x="8127797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7" name="Shape 15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6954012"/>
            <a:ext cx="12191695" cy="2743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54 / 75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4F46E5"/>
          </a:solidFill>
          <a:ln/>
        </p:spPr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070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9260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4F46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Testes, Logs e Depuração (Continuação)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731520" y="1508760"/>
            <a:ext cx="10698480" cy="1371600"/>
          </a:xfrm>
          <a:prstGeom prst="roundRect">
            <a:avLst>
              <a:gd name="adj" fmla="val 6667"/>
            </a:avLst>
          </a:prstGeom>
          <a:solidFill>
            <a:srgbClr val="040810"/>
          </a:solidFill>
          <a:ln/>
        </p:spPr>
      </p:sp>
      <p:sp>
        <p:nvSpPr>
          <p:cNvPr id="7" name="Shape 5"/>
          <p:cNvSpPr/>
          <p:nvPr/>
        </p:nvSpPr>
        <p:spPr>
          <a:xfrm>
            <a:off x="877824" y="1636776"/>
            <a:ext cx="45720" cy="111556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8" name="Text 6"/>
          <p:cNvSpPr/>
          <p:nvPr/>
        </p:nvSpPr>
        <p:spPr>
          <a:xfrm>
            <a:off x="1060704" y="1618488"/>
            <a:ext cx="10149840" cy="11521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63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 Testes Unitários com unittest: Crie classes de teste herdando de unittest.TestCase.</a:t>
            </a:r>
            <a:endParaRPr lang="en-US" sz="1630" dirty="0"/>
          </a:p>
        </p:txBody>
      </p:sp>
      <p:sp>
        <p:nvSpPr>
          <p:cNvPr id="9" name="Shape 7"/>
          <p:cNvSpPr/>
          <p:nvPr/>
        </p:nvSpPr>
        <p:spPr>
          <a:xfrm>
            <a:off x="777240" y="3355848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950976" y="3063240"/>
            <a:ext cx="10424160" cy="6766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63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Defina métodos de teste que começam com test e use métodos assert para verificar condições.</a:t>
            </a:r>
            <a:endParaRPr lang="en-US" sz="1630" dirty="0"/>
          </a:p>
        </p:txBody>
      </p:sp>
      <p:sp>
        <p:nvSpPr>
          <p:cNvPr id="11" name="Shape 9"/>
          <p:cNvSpPr/>
          <p:nvPr/>
        </p:nvSpPr>
        <p:spPr>
          <a:xfrm>
            <a:off x="777240" y="4096512"/>
            <a:ext cx="91440" cy="914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950976" y="3803904"/>
            <a:ext cx="10424160" cy="6766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63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Métodos setUp e tearDown podem ser usados para inicialização e limpeza de recursos.</a:t>
            </a:r>
            <a:endParaRPr lang="en-US" sz="1630" dirty="0"/>
          </a:p>
        </p:txBody>
      </p:sp>
      <p:sp>
        <p:nvSpPr>
          <p:cNvPr id="13" name="Shape 11"/>
          <p:cNvSpPr/>
          <p:nvPr/>
        </p:nvSpPr>
        <p:spPr>
          <a:xfrm>
            <a:off x="777240" y="4837176"/>
            <a:ext cx="91440" cy="914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950976" y="4544568"/>
            <a:ext cx="10424160" cy="6766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630" b="1" dirty="0">
                <a:solidFill>
                  <a:srgbClr val="0596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Sistema de Logs com logging: </a:t>
            </a:r>
            <a:pPr indent="0" marL="0">
              <a:lnSpc>
                <a:spcPct val="116000"/>
              </a:lnSpc>
              <a:buNone/>
            </a:pPr>
            <a:r>
              <a:rPr lang="en-US" sz="163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Utilize o módulo logging para registrar eventos.</a:t>
            </a:r>
            <a:endParaRPr lang="en-US" sz="1630" dirty="0"/>
          </a:p>
        </p:txBody>
      </p:sp>
      <p:sp>
        <p:nvSpPr>
          <p:cNvPr id="15" name="Shape 13"/>
          <p:cNvSpPr/>
          <p:nvPr/>
        </p:nvSpPr>
        <p:spPr>
          <a:xfrm>
            <a:off x="0" y="6903720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6" name="Shape 14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7" name="Shape 15"/>
          <p:cNvSpPr/>
          <p:nvPr/>
        </p:nvSpPr>
        <p:spPr>
          <a:xfrm>
            <a:off x="4063898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8" name="Shape 16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9" name="Shape 17"/>
          <p:cNvSpPr/>
          <p:nvPr/>
        </p:nvSpPr>
        <p:spPr>
          <a:xfrm>
            <a:off x="8127797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0" name="Shape 18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1" name="Shape 19"/>
          <p:cNvSpPr/>
          <p:nvPr/>
        </p:nvSpPr>
        <p:spPr>
          <a:xfrm>
            <a:off x="0" y="6954012"/>
            <a:ext cx="12191695" cy="2743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55 / 75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4F46E5"/>
          </a:solidFill>
          <a:ln/>
        </p:spPr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070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67093" cy="6858000"/>
          </a:xfrm>
          <a:prstGeom prst="rect">
            <a:avLst/>
          </a:prstGeom>
          <a:solidFill>
            <a:srgbClr val="0408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267093" cy="115214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197864"/>
            <a:ext cx="4267093" cy="115214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2395728"/>
            <a:ext cx="4267093" cy="115214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3593592"/>
            <a:ext cx="4267093" cy="115214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4791456"/>
            <a:ext cx="4267093" cy="115214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5989320"/>
            <a:ext cx="4267093" cy="115214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Shape 7"/>
          <p:cNvSpPr/>
          <p:nvPr/>
        </p:nvSpPr>
        <p:spPr>
          <a:xfrm>
            <a:off x="4267093" y="0"/>
            <a:ext cx="45720" cy="6858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Shape 8"/>
          <p:cNvSpPr/>
          <p:nvPr/>
        </p:nvSpPr>
        <p:spPr>
          <a:xfrm>
            <a:off x="4312813" y="0"/>
            <a:ext cx="13716" cy="6858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502920"/>
            <a:ext cx="344413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C3AE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" y="1197864"/>
            <a:ext cx="1097280" cy="10973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1254557"/>
            <a:ext cx="3444133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Testes, Logs e Depuração (Continuação)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4587133" y="530352"/>
            <a:ext cx="41148" cy="7955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5" name="Text 13"/>
          <p:cNvSpPr/>
          <p:nvPr/>
        </p:nvSpPr>
        <p:spPr>
          <a:xfrm>
            <a:off x="4770013" y="466344"/>
            <a:ext cx="6973626" cy="9418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Configure níveis de log como DEBUG, INFO, WARNING, ERROR e CRITICAL para controlar a granularidade das mensagens.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70013" y="1437437"/>
            <a:ext cx="6973626" cy="4572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17" name="Shape 15"/>
          <p:cNvSpPr/>
          <p:nvPr/>
        </p:nvSpPr>
        <p:spPr>
          <a:xfrm>
            <a:off x="4587133" y="1536192"/>
            <a:ext cx="41148" cy="7955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4770013" y="1472184"/>
            <a:ext cx="6973626" cy="9418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b="1" dirty="0">
                <a:solidFill>
                  <a:srgbClr val="7C3AE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Configuração de Logs: </a:t>
            </a:r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logging.basicConfig() para definir o nível mínimo de log e o formato das mensagens, direcionando-as para o console ou arquivos.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70013" y="2443277"/>
            <a:ext cx="6973626" cy="4572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20" name="Shape 18"/>
          <p:cNvSpPr/>
          <p:nvPr/>
        </p:nvSpPr>
        <p:spPr>
          <a:xfrm>
            <a:off x="4587133" y="2542032"/>
            <a:ext cx="41148" cy="7955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4770013" y="2478024"/>
            <a:ext cx="6973626" cy="9418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b="1" dirty="0">
                <a:solidFill>
                  <a:srgbClr val="0891B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Depuração com pdb: </a:t>
            </a:r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Python Debugger (pdb) permite pausar a execução do código em pontos específicos.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718718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3" name="Shape 21"/>
          <p:cNvSpPr/>
          <p:nvPr/>
        </p:nvSpPr>
        <p:spPr>
          <a:xfrm>
            <a:off x="2031949" y="723747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4" name="Shape 22"/>
          <p:cNvSpPr/>
          <p:nvPr/>
        </p:nvSpPr>
        <p:spPr>
          <a:xfrm>
            <a:off x="4063898" y="718718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5" name="Shape 23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6" name="Shape 24"/>
          <p:cNvSpPr/>
          <p:nvPr/>
        </p:nvSpPr>
        <p:spPr>
          <a:xfrm>
            <a:off x="8127797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7" name="Shape 25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8" name="Shape 26"/>
          <p:cNvSpPr/>
          <p:nvPr/>
        </p:nvSpPr>
        <p:spPr>
          <a:xfrm>
            <a:off x="0" y="7287768"/>
            <a:ext cx="12191695" cy="2743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" y="723747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56 / 75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4F46E5"/>
          </a:solidFill>
          <a:ln/>
        </p:spPr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070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9260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0891B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Testes, Logs e Depuração (Continuação) (Continuação)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58952" y="1545336"/>
            <a:ext cx="10698480" cy="1124712"/>
          </a:xfrm>
          <a:prstGeom prst="roundRect">
            <a:avLst>
              <a:gd name="adj" fmla="val 8130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508760"/>
            <a:ext cx="10698480" cy="1124712"/>
          </a:xfrm>
          <a:prstGeom prst="roundRect">
            <a:avLst>
              <a:gd name="adj" fmla="val 8130"/>
            </a:avLst>
          </a:prstGeom>
          <a:solidFill>
            <a:srgbClr val="0F1629"/>
          </a:solidFill>
          <a:ln w="6350">
            <a:solidFill>
              <a:srgbClr val="1E2D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508760"/>
            <a:ext cx="749808" cy="1124712"/>
          </a:xfrm>
          <a:prstGeom prst="roundRect">
            <a:avLst>
              <a:gd name="adj" fmla="val 12195"/>
            </a:avLst>
          </a:prstGeom>
          <a:solidFill>
            <a:srgbClr val="4F46E5"/>
          </a:solidFill>
          <a:ln/>
        </p:spPr>
      </p:sp>
      <p:sp>
        <p:nvSpPr>
          <p:cNvPr id="9" name="Shape 7"/>
          <p:cNvSpPr/>
          <p:nvPr/>
        </p:nvSpPr>
        <p:spPr>
          <a:xfrm>
            <a:off x="1389888" y="1508760"/>
            <a:ext cx="91440" cy="112471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508760"/>
            <a:ext cx="658368" cy="1124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>
                    <a:alpha val="9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1481328" y="1733702"/>
            <a:ext cx="7315" cy="674827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2" name="Text 10"/>
          <p:cNvSpPr/>
          <p:nvPr/>
        </p:nvSpPr>
        <p:spPr>
          <a:xfrm>
            <a:off x="1591056" y="1536192"/>
            <a:ext cx="9747504" cy="10698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 ele, é possível inspecionar variáveis, executar comandos e controlar o fluxo do programa passo a passo para identificar a origem dos erros.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0" y="6903720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4" name="Shape 12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5" name="Shape 13"/>
          <p:cNvSpPr/>
          <p:nvPr/>
        </p:nvSpPr>
        <p:spPr>
          <a:xfrm>
            <a:off x="4063898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6" name="Shape 14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7" name="Shape 15"/>
          <p:cNvSpPr/>
          <p:nvPr/>
        </p:nvSpPr>
        <p:spPr>
          <a:xfrm>
            <a:off x="8127797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8" name="Shape 16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6954012"/>
            <a:ext cx="12191695" cy="2743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57 / 75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4F46E5"/>
          </a:solidFill>
          <a:ln/>
        </p:spPr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04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"/>
            <a:ext cx="12191695" cy="4114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D9770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PRINCIPAIS APRENDIZADOS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Principais Aprendizados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12648" y="1536192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000000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508760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0F1A30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508760"/>
            <a:ext cx="45720" cy="1691640"/>
          </a:xfrm>
          <a:prstGeom prst="rect">
            <a:avLst>
              <a:gd name="adj" fmla="val 240000"/>
            </a:avLst>
          </a:prstGeom>
          <a:solidFill>
            <a:srgbClr val="4F46E5"/>
          </a:solidFill>
          <a:ln/>
        </p:spPr>
      </p:sp>
      <p:sp>
        <p:nvSpPr>
          <p:cNvPr id="8" name="Shape 6"/>
          <p:cNvSpPr/>
          <p:nvPr/>
        </p:nvSpPr>
        <p:spPr>
          <a:xfrm>
            <a:off x="722376" y="16367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4F46E5"/>
          </a:solidFill>
          <a:ln/>
        </p:spPr>
      </p:sp>
      <p:sp>
        <p:nvSpPr>
          <p:cNvPr id="9" name="Text 7"/>
          <p:cNvSpPr/>
          <p:nvPr/>
        </p:nvSpPr>
        <p:spPr>
          <a:xfrm>
            <a:off x="722376" y="20299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58952" y="2423160"/>
            <a:ext cx="517687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Agora você domina os conceitos fundamentais deste módulo e pode aplicá-los na prática.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46724" y="1536192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00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6228436" y="1508760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0F1A30"/>
          </a:solidFill>
          <a:ln/>
        </p:spPr>
      </p:sp>
      <p:sp>
        <p:nvSpPr>
          <p:cNvPr id="13" name="Shape 11"/>
          <p:cNvSpPr/>
          <p:nvPr/>
        </p:nvSpPr>
        <p:spPr>
          <a:xfrm>
            <a:off x="6228436" y="1508760"/>
            <a:ext cx="45720" cy="1691640"/>
          </a:xfrm>
          <a:prstGeom prst="rect">
            <a:avLst>
              <a:gd name="adj" fmla="val 240000"/>
            </a:avLst>
          </a:prstGeom>
          <a:solidFill>
            <a:srgbClr val="7C3AED"/>
          </a:solidFill>
          <a:ln/>
        </p:spPr>
      </p:sp>
      <p:sp>
        <p:nvSpPr>
          <p:cNvPr id="14" name="Shape 12"/>
          <p:cNvSpPr/>
          <p:nvPr/>
        </p:nvSpPr>
        <p:spPr>
          <a:xfrm>
            <a:off x="6356452" y="16367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6356452" y="20299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93028" y="2423160"/>
            <a:ext cx="517687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Lembre-se de revisar os pontos principais antes de avançar para o próximo módulo.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2648" y="3355848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00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" y="3328416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0F1A30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" y="3328416"/>
            <a:ext cx="45720" cy="1691640"/>
          </a:xfrm>
          <a:prstGeom prst="rect">
            <a:avLst>
              <a:gd name="adj" fmla="val 240000"/>
            </a:avLst>
          </a:prstGeom>
          <a:solidFill>
            <a:srgbClr val="0891B2"/>
          </a:solidFill>
          <a:ln/>
        </p:spPr>
      </p:sp>
      <p:sp>
        <p:nvSpPr>
          <p:cNvPr id="20" name="Shape 18"/>
          <p:cNvSpPr/>
          <p:nvPr/>
        </p:nvSpPr>
        <p:spPr>
          <a:xfrm>
            <a:off x="722376" y="345643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722376" y="38496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58952" y="4242816"/>
            <a:ext cx="517687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Você é capaz de explicar estes conceitos com suas próprias palavras e usá-los em projetos reais.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46724" y="3355848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000000"/>
          </a:solidFill>
          <a:ln/>
        </p:spPr>
      </p:sp>
      <p:sp>
        <p:nvSpPr>
          <p:cNvPr id="24" name="Shape 22"/>
          <p:cNvSpPr/>
          <p:nvPr/>
        </p:nvSpPr>
        <p:spPr>
          <a:xfrm>
            <a:off x="6228436" y="3328416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0F1A30"/>
          </a:solidFill>
          <a:ln/>
        </p:spPr>
      </p:sp>
      <p:sp>
        <p:nvSpPr>
          <p:cNvPr id="25" name="Shape 23"/>
          <p:cNvSpPr/>
          <p:nvPr/>
        </p:nvSpPr>
        <p:spPr>
          <a:xfrm>
            <a:off x="6228436" y="3328416"/>
            <a:ext cx="45720" cy="1691640"/>
          </a:xfrm>
          <a:prstGeom prst="rect">
            <a:avLst>
              <a:gd name="adj" fmla="val 240000"/>
            </a:avLst>
          </a:prstGeom>
          <a:solidFill>
            <a:srgbClr val="059669"/>
          </a:solidFill>
          <a:ln/>
        </p:spPr>
      </p:sp>
      <p:sp>
        <p:nvSpPr>
          <p:cNvPr id="26" name="Shape 24"/>
          <p:cNvSpPr/>
          <p:nvPr/>
        </p:nvSpPr>
        <p:spPr>
          <a:xfrm>
            <a:off x="6356452" y="345643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059669"/>
          </a:solidFill>
          <a:ln/>
        </p:spPr>
      </p:sp>
      <p:sp>
        <p:nvSpPr>
          <p:cNvPr id="27" name="Text 25"/>
          <p:cNvSpPr/>
          <p:nvPr/>
        </p:nvSpPr>
        <p:spPr>
          <a:xfrm>
            <a:off x="6356452" y="38496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93028" y="4242816"/>
            <a:ext cx="517687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Continue praticando: a maestria vem com a aplicação consistente do conhecimento adquirido.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0" name="Shape 28"/>
          <p:cNvSpPr/>
          <p:nvPr/>
        </p:nvSpPr>
        <p:spPr>
          <a:xfrm>
            <a:off x="2031949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1" name="Shape 29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2" name="Shape 30"/>
          <p:cNvSpPr/>
          <p:nvPr/>
        </p:nvSpPr>
        <p:spPr>
          <a:xfrm>
            <a:off x="6095848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3" name="Shape 31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4" name="Shape 32"/>
          <p:cNvSpPr/>
          <p:nvPr/>
        </p:nvSpPr>
        <p:spPr>
          <a:xfrm>
            <a:off x="10159746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58 / 75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4F46E5"/>
          </a:solidFill>
          <a:ln/>
        </p:spPr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04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021" y="0"/>
            <a:ext cx="3413675" cy="68580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071055" y="1463040"/>
            <a:ext cx="4754880" cy="4206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3800" b="1" dirty="0">
                <a:solidFill>
                  <a:srgbClr val="0891B2">
                    <a:alpha val="2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10728655" y="502920"/>
            <a:ext cx="118872" cy="11887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005840"/>
            <a:ext cx="45720" cy="21031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1005840"/>
            <a:ext cx="13716" cy="21031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097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0" kern="0" dirty="0">
                <a:solidFill>
                  <a:srgbClr val="0891B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MÓDULO 8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05840" y="1435608"/>
            <a:ext cx="1828800" cy="228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600200"/>
            <a:ext cx="6827349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Boas Práticas e Implantação de Projetos</a:t>
            </a:r>
            <a:endParaRPr lang="en-US" sz="3800" dirty="0"/>
          </a:p>
        </p:txBody>
      </p:sp>
      <p:sp>
        <p:nvSpPr>
          <p:cNvPr id="10" name="Shape 8"/>
          <p:cNvSpPr/>
          <p:nvPr/>
        </p:nvSpPr>
        <p:spPr>
          <a:xfrm>
            <a:off x="1005840" y="4142232"/>
            <a:ext cx="2011680" cy="10973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425196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0891B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QUE VOCÊ VAI APRENDER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005840" y="45902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1234440" y="4544568"/>
            <a:ext cx="58520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Módulo: Boas Práticas e Implantação de Projetos Objetivo do Módulo Aplicar boas práticas de codif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05840" y="50474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1234440" y="5001768"/>
            <a:ext cx="58520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Organizar projetos Python com estrutura padronizada para facilitar o desenvolvimento.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05840" y="55046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1234440" y="5715000"/>
            <a:ext cx="58520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Preparar e empacotar utilitários Python para distribuição e implantação eficazes.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6446520"/>
            <a:ext cx="542544" cy="7315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9" name="Shape 17"/>
          <p:cNvSpPr/>
          <p:nvPr/>
        </p:nvSpPr>
        <p:spPr>
          <a:xfrm>
            <a:off x="1264920" y="6499555"/>
            <a:ext cx="542544" cy="7315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0" name="Shape 18"/>
          <p:cNvSpPr/>
          <p:nvPr/>
        </p:nvSpPr>
        <p:spPr>
          <a:xfrm>
            <a:off x="1798320" y="6446520"/>
            <a:ext cx="542544" cy="7315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1" name="Shape 19"/>
          <p:cNvSpPr/>
          <p:nvPr/>
        </p:nvSpPr>
        <p:spPr>
          <a:xfrm>
            <a:off x="2331720" y="6499555"/>
            <a:ext cx="542544" cy="7315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2" name="Shape 20"/>
          <p:cNvSpPr/>
          <p:nvPr/>
        </p:nvSpPr>
        <p:spPr>
          <a:xfrm>
            <a:off x="2865120" y="6446520"/>
            <a:ext cx="542544" cy="7315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3" name="Shape 21"/>
          <p:cNvSpPr/>
          <p:nvPr/>
        </p:nvSpPr>
        <p:spPr>
          <a:xfrm>
            <a:off x="3398520" y="6499555"/>
            <a:ext cx="542544" cy="7315"/>
          </a:xfrm>
          <a:prstGeom prst="rect">
            <a:avLst/>
          </a:prstGeom>
          <a:solidFill>
            <a:srgbClr val="0891B2"/>
          </a:solidFill>
          <a:ln/>
        </p:spPr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070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9260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D9770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Boas Práticas e Implantação de Projetos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1508760"/>
            <a:ext cx="10698480" cy="1371600"/>
          </a:xfrm>
          <a:prstGeom prst="roundRect">
            <a:avLst>
              <a:gd name="adj" fmla="val 6667"/>
            </a:avLst>
          </a:prstGeom>
          <a:solidFill>
            <a:srgbClr val="040810"/>
          </a:solidFill>
          <a:ln/>
        </p:spPr>
      </p:sp>
      <p:sp>
        <p:nvSpPr>
          <p:cNvPr id="7" name="Shape 5"/>
          <p:cNvSpPr/>
          <p:nvPr/>
        </p:nvSpPr>
        <p:spPr>
          <a:xfrm>
            <a:off x="877824" y="1636776"/>
            <a:ext cx="45720" cy="111556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8" name="Text 6"/>
          <p:cNvSpPr/>
          <p:nvPr/>
        </p:nvSpPr>
        <p:spPr>
          <a:xfrm>
            <a:off x="1060704" y="1618488"/>
            <a:ext cx="10149840" cy="11521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Módulo: Boas Práticas e Implantação de Projetos Objetivo do Módulo Aplicar boas práticas de codificação para tornar o código legível e manutenível.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77240" y="3355848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950976" y="3063240"/>
            <a:ext cx="10424160" cy="6766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Organizar projetos Python com estrutura padronizada para facilitar o desenvolvimento.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77240" y="4096512"/>
            <a:ext cx="91440" cy="914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950976" y="3803904"/>
            <a:ext cx="10424160" cy="6766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Preparar e empacotar utilitários Python para distribuição e implantação eficazes.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0" y="6903720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4" name="Shape 12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5" name="Shape 13"/>
          <p:cNvSpPr/>
          <p:nvPr/>
        </p:nvSpPr>
        <p:spPr>
          <a:xfrm>
            <a:off x="4063898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6" name="Shape 14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7" name="Shape 15"/>
          <p:cNvSpPr/>
          <p:nvPr/>
        </p:nvSpPr>
        <p:spPr>
          <a:xfrm>
            <a:off x="8127797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8" name="Shape 16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6954012"/>
            <a:ext cx="12191695" cy="2743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59 / 75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4F46E5"/>
          </a:solidFill>
          <a:ln/>
        </p:spPr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070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67093" cy="6858000"/>
          </a:xfrm>
          <a:prstGeom prst="rect">
            <a:avLst/>
          </a:prstGeom>
          <a:solidFill>
            <a:srgbClr val="0408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267093" cy="115214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197864"/>
            <a:ext cx="4267093" cy="115214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2395728"/>
            <a:ext cx="4267093" cy="115214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3593592"/>
            <a:ext cx="4267093" cy="115214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4791456"/>
            <a:ext cx="4267093" cy="115214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5989320"/>
            <a:ext cx="4267093" cy="115214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9" name="Shape 7"/>
          <p:cNvSpPr/>
          <p:nvPr/>
        </p:nvSpPr>
        <p:spPr>
          <a:xfrm>
            <a:off x="4267093" y="0"/>
            <a:ext cx="45720" cy="6858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0" name="Shape 8"/>
          <p:cNvSpPr/>
          <p:nvPr/>
        </p:nvSpPr>
        <p:spPr>
          <a:xfrm>
            <a:off x="4312813" y="0"/>
            <a:ext cx="13716" cy="6858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502920"/>
            <a:ext cx="344413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F46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" y="1197864"/>
            <a:ext cx="1097280" cy="10973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1254557"/>
            <a:ext cx="3444133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Boas Práticas e Implantação de Projetos (Continuação)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4587133" y="530352"/>
            <a:ext cx="41148" cy="7955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5" name="Text 13"/>
          <p:cNvSpPr/>
          <p:nvPr/>
        </p:nvSpPr>
        <p:spPr>
          <a:xfrm>
            <a:off x="4770013" y="466344"/>
            <a:ext cx="6973626" cy="9418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documentação adequada, através de docstrings e comentários, é crucial para a compreensão rápida do propósito e uso do código.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718718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7" name="Shape 15"/>
          <p:cNvSpPr/>
          <p:nvPr/>
        </p:nvSpPr>
        <p:spPr>
          <a:xfrm>
            <a:off x="2031949" y="723747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8" name="Shape 16"/>
          <p:cNvSpPr/>
          <p:nvPr/>
        </p:nvSpPr>
        <p:spPr>
          <a:xfrm>
            <a:off x="4063898" y="718718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9" name="Shape 17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0" name="Shape 18"/>
          <p:cNvSpPr/>
          <p:nvPr/>
        </p:nvSpPr>
        <p:spPr>
          <a:xfrm>
            <a:off x="8127797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1" name="Shape 19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7287768"/>
            <a:ext cx="12191695" cy="2743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723747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60 / 75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4F46E5"/>
          </a:solidFill>
          <a:ln/>
        </p:spPr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070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9260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7C3AE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Boas Práticas e Implantação de Projetos (Continuação)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58952" y="1545336"/>
            <a:ext cx="10698480" cy="1124712"/>
          </a:xfrm>
          <a:prstGeom prst="roundRect">
            <a:avLst>
              <a:gd name="adj" fmla="val 8130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508760"/>
            <a:ext cx="10698480" cy="1124712"/>
          </a:xfrm>
          <a:prstGeom prst="roundRect">
            <a:avLst>
              <a:gd name="adj" fmla="val 8130"/>
            </a:avLst>
          </a:prstGeom>
          <a:solidFill>
            <a:srgbClr val="0F1629"/>
          </a:solidFill>
          <a:ln w="6350">
            <a:solidFill>
              <a:srgbClr val="1E2D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508760"/>
            <a:ext cx="749808" cy="1124712"/>
          </a:xfrm>
          <a:prstGeom prst="roundRect">
            <a:avLst>
              <a:gd name="adj" fmla="val 12195"/>
            </a:avLst>
          </a:prstGeom>
          <a:solidFill>
            <a:srgbClr val="4F46E5"/>
          </a:solidFill>
          <a:ln/>
        </p:spPr>
      </p:sp>
      <p:sp>
        <p:nvSpPr>
          <p:cNvPr id="9" name="Shape 7"/>
          <p:cNvSpPr/>
          <p:nvPr/>
        </p:nvSpPr>
        <p:spPr>
          <a:xfrm>
            <a:off x="1389888" y="1508760"/>
            <a:ext cx="91440" cy="112471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508760"/>
            <a:ext cx="658368" cy="1124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>
                    <a:alpha val="9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1481328" y="1733702"/>
            <a:ext cx="7315" cy="674827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2" name="Text 10"/>
          <p:cNvSpPr/>
          <p:nvPr/>
        </p:nvSpPr>
        <p:spPr>
          <a:xfrm>
            <a:off x="1591056" y="1536192"/>
            <a:ext cx="9747504" cy="10698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Além disso, uma estrutura de projeto padronizada ajuda a separar responsabilidades, tornando o projeto escalável e fácil de navegar.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58952" y="2779776"/>
            <a:ext cx="10698480" cy="1124712"/>
          </a:xfrm>
          <a:prstGeom prst="roundRect">
            <a:avLst>
              <a:gd name="adj" fmla="val 8130"/>
            </a:avLst>
          </a:prstGeom>
          <a:solidFill>
            <a:srgbClr val="000000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2743200"/>
            <a:ext cx="10698480" cy="1124712"/>
          </a:xfrm>
          <a:prstGeom prst="roundRect">
            <a:avLst>
              <a:gd name="adj" fmla="val 8130"/>
            </a:avLst>
          </a:prstGeom>
          <a:solidFill>
            <a:srgbClr val="0F1629"/>
          </a:solidFill>
          <a:ln w="6350">
            <a:solidFill>
              <a:srgbClr val="1E2D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2743200"/>
            <a:ext cx="749808" cy="1124712"/>
          </a:xfrm>
          <a:prstGeom prst="roundRect">
            <a:avLst>
              <a:gd name="adj" fmla="val 12195"/>
            </a:avLst>
          </a:prstGeom>
          <a:solidFill>
            <a:srgbClr val="7C3AED"/>
          </a:solidFill>
          <a:ln/>
        </p:spPr>
      </p:sp>
      <p:sp>
        <p:nvSpPr>
          <p:cNvPr id="16" name="Shape 14"/>
          <p:cNvSpPr/>
          <p:nvPr/>
        </p:nvSpPr>
        <p:spPr>
          <a:xfrm>
            <a:off x="1389888" y="2743200"/>
            <a:ext cx="91440" cy="112471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743200"/>
            <a:ext cx="658368" cy="1124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>
                    <a:alpha val="9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1481328" y="2968142"/>
            <a:ext cx="7315" cy="674827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1591056" y="2770632"/>
            <a:ext cx="9747504" cy="10698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gerenciamento de dependências com ambientes virtuais isola as bibliotecas de cada projeto, evitando conflitos de versão.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0" y="6903720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1" name="Shape 19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2" name="Shape 20"/>
          <p:cNvSpPr/>
          <p:nvPr/>
        </p:nvSpPr>
        <p:spPr>
          <a:xfrm>
            <a:off x="4063898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3" name="Shape 21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4" name="Shape 22"/>
          <p:cNvSpPr/>
          <p:nvPr/>
        </p:nvSpPr>
        <p:spPr>
          <a:xfrm>
            <a:off x="8127797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5" name="Shape 23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6" name="Shape 24"/>
          <p:cNvSpPr/>
          <p:nvPr/>
        </p:nvSpPr>
        <p:spPr>
          <a:xfrm>
            <a:off x="0" y="6954012"/>
            <a:ext cx="12191695" cy="2743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61 / 75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4F46E5"/>
          </a:solidFill>
          <a:ln/>
        </p:spPr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070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9260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0891B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Boas Práticas e Implantação de Projetos (Continuação) (Continuação)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58952" y="1545336"/>
            <a:ext cx="10698480" cy="1335024"/>
          </a:xfrm>
          <a:prstGeom prst="roundRect">
            <a:avLst>
              <a:gd name="adj" fmla="val 6849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508760"/>
            <a:ext cx="10698480" cy="1335024"/>
          </a:xfrm>
          <a:prstGeom prst="roundRect">
            <a:avLst>
              <a:gd name="adj" fmla="val 8219"/>
            </a:avLst>
          </a:prstGeom>
          <a:solidFill>
            <a:srgbClr val="0F162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508760"/>
            <a:ext cx="10698480" cy="512064"/>
          </a:xfrm>
          <a:prstGeom prst="roundRect">
            <a:avLst>
              <a:gd name="adj" fmla="val 21429"/>
            </a:avLst>
          </a:prstGeom>
          <a:solidFill>
            <a:srgbClr val="4F46E5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066544"/>
            <a:ext cx="10698480" cy="1097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2221992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2020824"/>
            <a:ext cx="10442448" cy="749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 fim, o empacotamento permite que o utilitário seja facilmente instalado e usado por outros, transformando o código em uma solução distribuível.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58952" y="3044952"/>
            <a:ext cx="10698480" cy="1335024"/>
          </a:xfrm>
          <a:prstGeom prst="roundRect">
            <a:avLst>
              <a:gd name="adj" fmla="val 6849"/>
            </a:avLst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3008376"/>
            <a:ext cx="10698480" cy="1335024"/>
          </a:xfrm>
          <a:prstGeom prst="roundRect">
            <a:avLst>
              <a:gd name="adj" fmla="val 8219"/>
            </a:avLst>
          </a:prstGeom>
          <a:solidFill>
            <a:srgbClr val="0F162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3008376"/>
            <a:ext cx="10698480" cy="512064"/>
          </a:xfrm>
          <a:prstGeom prst="roundRect">
            <a:avLst>
              <a:gd name="adj" fmla="val 21429"/>
            </a:avLst>
          </a:prstGeom>
          <a:solidFill>
            <a:srgbClr val="7C3AED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3566160"/>
            <a:ext cx="10698480" cy="1097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3721608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3520440"/>
            <a:ext cx="10442448" cy="749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black garante um estilo consistente sem configuração manual, sendo executado com black seuarquivo.py.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6903720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9" name="Shape 17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0" name="Shape 18"/>
          <p:cNvSpPr/>
          <p:nvPr/>
        </p:nvSpPr>
        <p:spPr>
          <a:xfrm>
            <a:off x="4063898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1" name="Shape 19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2" name="Shape 20"/>
          <p:cNvSpPr/>
          <p:nvPr/>
        </p:nvSpPr>
        <p:spPr>
          <a:xfrm>
            <a:off x="8127797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3" name="Shape 21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6954012"/>
            <a:ext cx="12191695" cy="2743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62 / 75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4F46E5"/>
          </a:solidFill>
          <a:ln/>
        </p:spPr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070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9260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0596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Boas Práticas e Implantação de Projetos (Continuação)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1508760"/>
            <a:ext cx="10698480" cy="1371600"/>
          </a:xfrm>
          <a:prstGeom prst="roundRect">
            <a:avLst>
              <a:gd name="adj" fmla="val 6667"/>
            </a:avLst>
          </a:prstGeom>
          <a:solidFill>
            <a:srgbClr val="040810"/>
          </a:solidFill>
          <a:ln/>
        </p:spPr>
      </p:sp>
      <p:sp>
        <p:nvSpPr>
          <p:cNvPr id="7" name="Shape 5"/>
          <p:cNvSpPr/>
          <p:nvPr/>
        </p:nvSpPr>
        <p:spPr>
          <a:xfrm>
            <a:off x="877824" y="1636776"/>
            <a:ext cx="45720" cy="111556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8" name="Text 6"/>
          <p:cNvSpPr/>
          <p:nvPr/>
        </p:nvSpPr>
        <p:spPr>
          <a:xfrm>
            <a:off x="1060704" y="1618488"/>
            <a:ext cx="10149840" cy="11521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Docstrings e Comentários: Empregue docstrings para descrever módulos, classes e funções, explicando seu propósito, argumentos e retornos.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77240" y="3355848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950976" y="3063240"/>
            <a:ext cx="10424160" cy="6766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comentários para detalhar lógicas complexas ou decisões de design específicas dentro do código.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77240" y="4096512"/>
            <a:ext cx="91440" cy="914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950976" y="3803904"/>
            <a:ext cx="10424160" cy="6766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b="1" dirty="0">
                <a:solidFill>
                  <a:srgbClr val="0891B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Estrutura de Projeto Típica: </a:t>
            </a:r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Organize seu projeto em diretórios como src/ (código-fonte), tests/ (testes), docs/ (documentação).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6903720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4" name="Shape 12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5" name="Shape 13"/>
          <p:cNvSpPr/>
          <p:nvPr/>
        </p:nvSpPr>
        <p:spPr>
          <a:xfrm>
            <a:off x="4063898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6" name="Shape 14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7" name="Shape 15"/>
          <p:cNvSpPr/>
          <p:nvPr/>
        </p:nvSpPr>
        <p:spPr>
          <a:xfrm>
            <a:off x="8127797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8" name="Shape 16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6954012"/>
            <a:ext cx="12191695" cy="2743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63 / 75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4F46E5"/>
          </a:solidFill>
          <a:ln/>
        </p:spPr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070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67093" cy="6858000"/>
          </a:xfrm>
          <a:prstGeom prst="rect">
            <a:avLst/>
          </a:prstGeom>
          <a:solidFill>
            <a:srgbClr val="0408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267093" cy="115214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197864"/>
            <a:ext cx="4267093" cy="115214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2395728"/>
            <a:ext cx="4267093" cy="115214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3593592"/>
            <a:ext cx="4267093" cy="115214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4791456"/>
            <a:ext cx="4267093" cy="115214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5989320"/>
            <a:ext cx="4267093" cy="115214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9" name="Shape 7"/>
          <p:cNvSpPr/>
          <p:nvPr/>
        </p:nvSpPr>
        <p:spPr>
          <a:xfrm>
            <a:off x="4267093" y="0"/>
            <a:ext cx="45720" cy="6858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0" name="Shape 8"/>
          <p:cNvSpPr/>
          <p:nvPr/>
        </p:nvSpPr>
        <p:spPr>
          <a:xfrm>
            <a:off x="4312813" y="0"/>
            <a:ext cx="13716" cy="6858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502920"/>
            <a:ext cx="344413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9770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" y="1197864"/>
            <a:ext cx="1097280" cy="10973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1254557"/>
            <a:ext cx="3444133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Boas Práticas e Implantação de Projetos (Continuação) (Continuação)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587133" y="530352"/>
            <a:ext cx="41148" cy="7955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5" name="Text 13"/>
          <p:cNvSpPr/>
          <p:nvPr/>
        </p:nvSpPr>
        <p:spPr>
          <a:xfrm>
            <a:off x="4770013" y="466344"/>
            <a:ext cx="6973626" cy="9418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21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Inclua arquivos como README.md (descrição), LICENSE (licença), requirements.txt (dependências) e setup.py (empacotamento).</a:t>
            </a:r>
            <a:endParaRPr lang="en-US" sz="1210" dirty="0"/>
          </a:p>
        </p:txBody>
      </p:sp>
      <p:sp>
        <p:nvSpPr>
          <p:cNvPr id="16" name="Shape 14"/>
          <p:cNvSpPr/>
          <p:nvPr/>
        </p:nvSpPr>
        <p:spPr>
          <a:xfrm>
            <a:off x="0" y="718718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7" name="Shape 15"/>
          <p:cNvSpPr/>
          <p:nvPr/>
        </p:nvSpPr>
        <p:spPr>
          <a:xfrm>
            <a:off x="2031949" y="723747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8" name="Shape 16"/>
          <p:cNvSpPr/>
          <p:nvPr/>
        </p:nvSpPr>
        <p:spPr>
          <a:xfrm>
            <a:off x="4063898" y="718718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9" name="Shape 17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0" name="Shape 18"/>
          <p:cNvSpPr/>
          <p:nvPr/>
        </p:nvSpPr>
        <p:spPr>
          <a:xfrm>
            <a:off x="8127797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1" name="Shape 19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7287768"/>
            <a:ext cx="12191695" cy="2743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723747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64 / 75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4F46E5"/>
          </a:solidFill>
          <a:ln/>
        </p:spPr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070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9260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4F46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Boas Práticas e Implantação de Projetos (Continuação)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58952" y="1545336"/>
            <a:ext cx="10698480" cy="1124712"/>
          </a:xfrm>
          <a:prstGeom prst="roundRect">
            <a:avLst>
              <a:gd name="adj" fmla="val 8130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508760"/>
            <a:ext cx="10698480" cy="1124712"/>
          </a:xfrm>
          <a:prstGeom prst="roundRect">
            <a:avLst>
              <a:gd name="adj" fmla="val 8130"/>
            </a:avLst>
          </a:prstGeom>
          <a:solidFill>
            <a:srgbClr val="0F1629"/>
          </a:solidFill>
          <a:ln w="6350">
            <a:solidFill>
              <a:srgbClr val="1E2D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508760"/>
            <a:ext cx="749808" cy="1124712"/>
          </a:xfrm>
          <a:prstGeom prst="roundRect">
            <a:avLst>
              <a:gd name="adj" fmla="val 12195"/>
            </a:avLst>
          </a:prstGeom>
          <a:solidFill>
            <a:srgbClr val="4F46E5"/>
          </a:solidFill>
          <a:ln/>
        </p:spPr>
      </p:sp>
      <p:sp>
        <p:nvSpPr>
          <p:cNvPr id="9" name="Shape 7"/>
          <p:cNvSpPr/>
          <p:nvPr/>
        </p:nvSpPr>
        <p:spPr>
          <a:xfrm>
            <a:off x="1389888" y="1508760"/>
            <a:ext cx="91440" cy="112471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508760"/>
            <a:ext cx="658368" cy="1124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>
                    <a:alpha val="9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1481328" y="1733702"/>
            <a:ext cx="7315" cy="674827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2" name="Text 10"/>
          <p:cNvSpPr/>
          <p:nvPr/>
        </p:nvSpPr>
        <p:spPr>
          <a:xfrm>
            <a:off x="1591056" y="1536192"/>
            <a:ext cx="9747504" cy="10698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4F46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Gerenciamento de Ambientes Virtuais: </a:t>
            </a:r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Crie ambientes isolados para cada projeto com python3 -m venv .venv.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58952" y="2779776"/>
            <a:ext cx="10698480" cy="1124712"/>
          </a:xfrm>
          <a:prstGeom prst="roundRect">
            <a:avLst>
              <a:gd name="adj" fmla="val 8130"/>
            </a:avLst>
          </a:prstGeom>
          <a:solidFill>
            <a:srgbClr val="000000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2743200"/>
            <a:ext cx="10698480" cy="1124712"/>
          </a:xfrm>
          <a:prstGeom prst="roundRect">
            <a:avLst>
              <a:gd name="adj" fmla="val 8130"/>
            </a:avLst>
          </a:prstGeom>
          <a:solidFill>
            <a:srgbClr val="0F1629"/>
          </a:solidFill>
          <a:ln w="6350">
            <a:solidFill>
              <a:srgbClr val="1E2D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2743200"/>
            <a:ext cx="749808" cy="1124712"/>
          </a:xfrm>
          <a:prstGeom prst="roundRect">
            <a:avLst>
              <a:gd name="adj" fmla="val 12195"/>
            </a:avLst>
          </a:prstGeom>
          <a:solidFill>
            <a:srgbClr val="7C3AED"/>
          </a:solidFill>
          <a:ln/>
        </p:spPr>
      </p:sp>
      <p:sp>
        <p:nvSpPr>
          <p:cNvPr id="16" name="Shape 14"/>
          <p:cNvSpPr/>
          <p:nvPr/>
        </p:nvSpPr>
        <p:spPr>
          <a:xfrm>
            <a:off x="1389888" y="2743200"/>
            <a:ext cx="91440" cy="112471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743200"/>
            <a:ext cx="658368" cy="1124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>
                    <a:alpha val="9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1481328" y="2968142"/>
            <a:ext cx="7315" cy="674827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1591056" y="2770632"/>
            <a:ext cx="9747504" cy="10698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Ative-o (source.venv/bin/activate ou.venv\Scripts\activate) e instale as dependências listadas em requirements.txt com pip install -r requirements.txt.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58952" y="4014216"/>
            <a:ext cx="10698480" cy="1124712"/>
          </a:xfrm>
          <a:prstGeom prst="roundRect">
            <a:avLst>
              <a:gd name="adj" fmla="val 8130"/>
            </a:avLst>
          </a:prstGeom>
          <a:solidFill>
            <a:srgbClr val="000000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3977640"/>
            <a:ext cx="10698480" cy="1124712"/>
          </a:xfrm>
          <a:prstGeom prst="roundRect">
            <a:avLst>
              <a:gd name="adj" fmla="val 8130"/>
            </a:avLst>
          </a:prstGeom>
          <a:solidFill>
            <a:srgbClr val="0F1629"/>
          </a:solidFill>
          <a:ln w="6350">
            <a:solidFill>
              <a:srgbClr val="1E2D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3977640"/>
            <a:ext cx="749808" cy="1124712"/>
          </a:xfrm>
          <a:prstGeom prst="roundRect">
            <a:avLst>
              <a:gd name="adj" fmla="val 12195"/>
            </a:avLst>
          </a:prstGeom>
          <a:solidFill>
            <a:srgbClr val="0891B2"/>
          </a:solidFill>
          <a:ln/>
        </p:spPr>
      </p:sp>
      <p:sp>
        <p:nvSpPr>
          <p:cNvPr id="23" name="Shape 21"/>
          <p:cNvSpPr/>
          <p:nvPr/>
        </p:nvSpPr>
        <p:spPr>
          <a:xfrm>
            <a:off x="1389888" y="3977640"/>
            <a:ext cx="91440" cy="112471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3977640"/>
            <a:ext cx="658368" cy="1124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>
                    <a:alpha val="9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800" dirty="0"/>
          </a:p>
        </p:txBody>
      </p:sp>
      <p:sp>
        <p:nvSpPr>
          <p:cNvPr id="25" name="Shape 23"/>
          <p:cNvSpPr/>
          <p:nvPr/>
        </p:nvSpPr>
        <p:spPr>
          <a:xfrm>
            <a:off x="1481328" y="4202582"/>
            <a:ext cx="7315" cy="674827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6" name="Text 24"/>
          <p:cNvSpPr/>
          <p:nvPr/>
        </p:nvSpPr>
        <p:spPr>
          <a:xfrm>
            <a:off x="1591056" y="4005072"/>
            <a:ext cx="9747504" cy="10698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Gere este arquivo com pip freeze &gt; requirements.txt.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0" y="6903720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8" name="Shape 26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9" name="Shape 27"/>
          <p:cNvSpPr/>
          <p:nvPr/>
        </p:nvSpPr>
        <p:spPr>
          <a:xfrm>
            <a:off x="4063898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0" name="Shape 28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1" name="Shape 29"/>
          <p:cNvSpPr/>
          <p:nvPr/>
        </p:nvSpPr>
        <p:spPr>
          <a:xfrm>
            <a:off x="8127797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2" name="Shape 30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3" name="Shape 31"/>
          <p:cNvSpPr/>
          <p:nvPr/>
        </p:nvSpPr>
        <p:spPr>
          <a:xfrm>
            <a:off x="0" y="6954012"/>
            <a:ext cx="12191695" cy="2743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65 / 75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4F46E5"/>
          </a:solidFill>
          <a:ln/>
        </p:spPr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070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9260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7C3AE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Boas Práticas e Implantação de Projetos (Continuação) (Continuação)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58952" y="1545336"/>
            <a:ext cx="10698480" cy="1335024"/>
          </a:xfrm>
          <a:prstGeom prst="roundRect">
            <a:avLst>
              <a:gd name="adj" fmla="val 6849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508760"/>
            <a:ext cx="10698480" cy="1335024"/>
          </a:xfrm>
          <a:prstGeom prst="roundRect">
            <a:avLst>
              <a:gd name="adj" fmla="val 8219"/>
            </a:avLst>
          </a:prstGeom>
          <a:solidFill>
            <a:srgbClr val="0F162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508760"/>
            <a:ext cx="10698480" cy="512064"/>
          </a:xfrm>
          <a:prstGeom prst="roundRect">
            <a:avLst>
              <a:gd name="adj" fmla="val 21429"/>
            </a:avLst>
          </a:prstGeom>
          <a:solidFill>
            <a:srgbClr val="4F46E5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066544"/>
            <a:ext cx="10698480" cy="1097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2221992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2020824"/>
            <a:ext cx="10442448" cy="749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b="1" dirty="0">
                <a:solidFill>
                  <a:srgbClr val="4F46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Empacotamento com setup.py: </a:t>
            </a:r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Utilize setuptools para criar um arquivo setup.py que define metadados do projeto, dependências e pontos de entrada.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6903720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3" name="Shape 11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4" name="Shape 12"/>
          <p:cNvSpPr/>
          <p:nvPr/>
        </p:nvSpPr>
        <p:spPr>
          <a:xfrm>
            <a:off x="4063898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5" name="Shape 13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6" name="Shape 14"/>
          <p:cNvSpPr/>
          <p:nvPr/>
        </p:nvSpPr>
        <p:spPr>
          <a:xfrm>
            <a:off x="8127797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7" name="Shape 15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6954012"/>
            <a:ext cx="12191695" cy="2743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66 / 75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4F46E5"/>
          </a:solidFill>
          <a:ln/>
        </p:spPr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04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"/>
            <a:ext cx="12191695" cy="4114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D9770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PRINCIPAIS APRENDIZADOS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Principais Aprendizados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12648" y="1536192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000000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508760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0F1A30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508760"/>
            <a:ext cx="45720" cy="1691640"/>
          </a:xfrm>
          <a:prstGeom prst="rect">
            <a:avLst>
              <a:gd name="adj" fmla="val 240000"/>
            </a:avLst>
          </a:prstGeom>
          <a:solidFill>
            <a:srgbClr val="4F46E5"/>
          </a:solidFill>
          <a:ln/>
        </p:spPr>
      </p:sp>
      <p:sp>
        <p:nvSpPr>
          <p:cNvPr id="8" name="Shape 6"/>
          <p:cNvSpPr/>
          <p:nvPr/>
        </p:nvSpPr>
        <p:spPr>
          <a:xfrm>
            <a:off x="722376" y="16367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4F46E5"/>
          </a:solidFill>
          <a:ln/>
        </p:spPr>
      </p:sp>
      <p:sp>
        <p:nvSpPr>
          <p:cNvPr id="9" name="Text 7"/>
          <p:cNvSpPr/>
          <p:nvPr/>
        </p:nvSpPr>
        <p:spPr>
          <a:xfrm>
            <a:off x="722376" y="20299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58952" y="2423160"/>
            <a:ext cx="517687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Agora você domina os conceitos fundamentais deste módulo e pode aplicá-los na prática.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46724" y="1536192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00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6228436" y="1508760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0F1A30"/>
          </a:solidFill>
          <a:ln/>
        </p:spPr>
      </p:sp>
      <p:sp>
        <p:nvSpPr>
          <p:cNvPr id="13" name="Shape 11"/>
          <p:cNvSpPr/>
          <p:nvPr/>
        </p:nvSpPr>
        <p:spPr>
          <a:xfrm>
            <a:off x="6228436" y="1508760"/>
            <a:ext cx="45720" cy="1691640"/>
          </a:xfrm>
          <a:prstGeom prst="rect">
            <a:avLst>
              <a:gd name="adj" fmla="val 240000"/>
            </a:avLst>
          </a:prstGeom>
          <a:solidFill>
            <a:srgbClr val="7C3AED"/>
          </a:solidFill>
          <a:ln/>
        </p:spPr>
      </p:sp>
      <p:sp>
        <p:nvSpPr>
          <p:cNvPr id="14" name="Shape 12"/>
          <p:cNvSpPr/>
          <p:nvPr/>
        </p:nvSpPr>
        <p:spPr>
          <a:xfrm>
            <a:off x="6356452" y="16367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6356452" y="20299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93028" y="2423160"/>
            <a:ext cx="517687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Lembre-se de revisar os pontos principais antes de avançar para o próximo módulo.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2648" y="3355848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00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" y="3328416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0F1A30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" y="3328416"/>
            <a:ext cx="45720" cy="1691640"/>
          </a:xfrm>
          <a:prstGeom prst="rect">
            <a:avLst>
              <a:gd name="adj" fmla="val 240000"/>
            </a:avLst>
          </a:prstGeom>
          <a:solidFill>
            <a:srgbClr val="0891B2"/>
          </a:solidFill>
          <a:ln/>
        </p:spPr>
      </p:sp>
      <p:sp>
        <p:nvSpPr>
          <p:cNvPr id="20" name="Shape 18"/>
          <p:cNvSpPr/>
          <p:nvPr/>
        </p:nvSpPr>
        <p:spPr>
          <a:xfrm>
            <a:off x="722376" y="345643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722376" y="38496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58952" y="4242816"/>
            <a:ext cx="517687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Você é capaz de explicar estes conceitos com suas próprias palavras e usá-los em projetos reais.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46724" y="3355848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000000"/>
          </a:solidFill>
          <a:ln/>
        </p:spPr>
      </p:sp>
      <p:sp>
        <p:nvSpPr>
          <p:cNvPr id="24" name="Shape 22"/>
          <p:cNvSpPr/>
          <p:nvPr/>
        </p:nvSpPr>
        <p:spPr>
          <a:xfrm>
            <a:off x="6228436" y="3328416"/>
            <a:ext cx="5506060" cy="1691640"/>
          </a:xfrm>
          <a:prstGeom prst="roundRect">
            <a:avLst>
              <a:gd name="adj" fmla="val 6486"/>
            </a:avLst>
          </a:prstGeom>
          <a:solidFill>
            <a:srgbClr val="0F1A30"/>
          </a:solidFill>
          <a:ln/>
        </p:spPr>
      </p:sp>
      <p:sp>
        <p:nvSpPr>
          <p:cNvPr id="25" name="Shape 23"/>
          <p:cNvSpPr/>
          <p:nvPr/>
        </p:nvSpPr>
        <p:spPr>
          <a:xfrm>
            <a:off x="6228436" y="3328416"/>
            <a:ext cx="45720" cy="1691640"/>
          </a:xfrm>
          <a:prstGeom prst="rect">
            <a:avLst>
              <a:gd name="adj" fmla="val 240000"/>
            </a:avLst>
          </a:prstGeom>
          <a:solidFill>
            <a:srgbClr val="059669"/>
          </a:solidFill>
          <a:ln/>
        </p:spPr>
      </p:sp>
      <p:sp>
        <p:nvSpPr>
          <p:cNvPr id="26" name="Shape 24"/>
          <p:cNvSpPr/>
          <p:nvPr/>
        </p:nvSpPr>
        <p:spPr>
          <a:xfrm>
            <a:off x="6356452" y="345643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059669"/>
          </a:solidFill>
          <a:ln/>
        </p:spPr>
      </p:sp>
      <p:sp>
        <p:nvSpPr>
          <p:cNvPr id="27" name="Text 25"/>
          <p:cNvSpPr/>
          <p:nvPr/>
        </p:nvSpPr>
        <p:spPr>
          <a:xfrm>
            <a:off x="6356452" y="38496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93028" y="4242816"/>
            <a:ext cx="517687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Continue praticando: a maestria vem com a aplicação consistente do conhecimento adquirido.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0" name="Shape 28"/>
          <p:cNvSpPr/>
          <p:nvPr/>
        </p:nvSpPr>
        <p:spPr>
          <a:xfrm>
            <a:off x="2031949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1" name="Shape 29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2" name="Shape 30"/>
          <p:cNvSpPr/>
          <p:nvPr/>
        </p:nvSpPr>
        <p:spPr>
          <a:xfrm>
            <a:off x="6095848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3" name="Shape 31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4" name="Shape 32"/>
          <p:cNvSpPr/>
          <p:nvPr/>
        </p:nvSpPr>
        <p:spPr>
          <a:xfrm>
            <a:off x="10159746" y="6597396"/>
            <a:ext cx="2041093" cy="45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67 / 75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4F46E5"/>
          </a:solidFill>
          <a:ln/>
        </p:spPr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04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263" y="0"/>
            <a:ext cx="6705432" cy="115214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5486263" y="1197864"/>
            <a:ext cx="6705432" cy="115214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" name="Shape 2"/>
          <p:cNvSpPr/>
          <p:nvPr/>
        </p:nvSpPr>
        <p:spPr>
          <a:xfrm>
            <a:off x="5486263" y="2395728"/>
            <a:ext cx="6705432" cy="115214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5" name="Shape 3"/>
          <p:cNvSpPr/>
          <p:nvPr/>
        </p:nvSpPr>
        <p:spPr>
          <a:xfrm>
            <a:off x="5486263" y="3593592"/>
            <a:ext cx="6705432" cy="115214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6" name="Shape 4"/>
          <p:cNvSpPr/>
          <p:nvPr/>
        </p:nvSpPr>
        <p:spPr>
          <a:xfrm>
            <a:off x="5486263" y="4791456"/>
            <a:ext cx="6705432" cy="115214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7" name="Shape 5"/>
          <p:cNvSpPr/>
          <p:nvPr/>
        </p:nvSpPr>
        <p:spPr>
          <a:xfrm>
            <a:off x="5486263" y="5989320"/>
            <a:ext cx="6705432" cy="115214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8" name="Shape 6"/>
          <p:cNvSpPr/>
          <p:nvPr/>
        </p:nvSpPr>
        <p:spPr>
          <a:xfrm>
            <a:off x="8534095" y="-1097280"/>
            <a:ext cx="4572000" cy="45720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822960"/>
            <a:ext cx="45720" cy="34747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0" name="Shape 8"/>
          <p:cNvSpPr/>
          <p:nvPr/>
        </p:nvSpPr>
        <p:spPr>
          <a:xfrm>
            <a:off x="804672" y="822960"/>
            <a:ext cx="13716" cy="34747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1" name="Shape 9"/>
          <p:cNvSpPr/>
          <p:nvPr/>
        </p:nvSpPr>
        <p:spPr>
          <a:xfrm>
            <a:off x="1097280" y="1188720"/>
            <a:ext cx="2743200" cy="1371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2" name="Shape 10"/>
          <p:cNvSpPr/>
          <p:nvPr/>
        </p:nvSpPr>
        <p:spPr>
          <a:xfrm>
            <a:off x="256032" y="1005840"/>
            <a:ext cx="274320" cy="146304"/>
          </a:xfrm>
          <a:prstGeom prst="roundRect">
            <a:avLst>
              <a:gd name="adj" fmla="val 25000"/>
            </a:avLst>
          </a:prstGeom>
          <a:solidFill>
            <a:srgbClr val="4F46E5"/>
          </a:solidFill>
          <a:ln/>
        </p:spPr>
      </p:sp>
      <p:sp>
        <p:nvSpPr>
          <p:cNvPr id="13" name="Shape 11"/>
          <p:cNvSpPr/>
          <p:nvPr/>
        </p:nvSpPr>
        <p:spPr>
          <a:xfrm>
            <a:off x="256032" y="1261872"/>
            <a:ext cx="274320" cy="146304"/>
          </a:xfrm>
          <a:prstGeom prst="roundRect">
            <a:avLst>
              <a:gd name="adj" fmla="val 25000"/>
            </a:avLst>
          </a:prstGeom>
          <a:solidFill>
            <a:srgbClr val="7C3AED"/>
          </a:solidFill>
          <a:ln/>
        </p:spPr>
      </p:sp>
      <p:sp>
        <p:nvSpPr>
          <p:cNvPr id="14" name="Shape 12"/>
          <p:cNvSpPr/>
          <p:nvPr/>
        </p:nvSpPr>
        <p:spPr>
          <a:xfrm>
            <a:off x="256032" y="1517904"/>
            <a:ext cx="274320" cy="146304"/>
          </a:xfrm>
          <a:prstGeom prst="roundRect">
            <a:avLst>
              <a:gd name="adj" fmla="val 25000"/>
            </a:avLst>
          </a:prstGeom>
          <a:solidFill>
            <a:srgbClr val="0891B2"/>
          </a:solidFill>
          <a:ln/>
        </p:spPr>
      </p:sp>
      <p:sp>
        <p:nvSpPr>
          <p:cNvPr id="15" name="Shape 13"/>
          <p:cNvSpPr/>
          <p:nvPr/>
        </p:nvSpPr>
        <p:spPr>
          <a:xfrm>
            <a:off x="256032" y="1773936"/>
            <a:ext cx="274320" cy="146304"/>
          </a:xfrm>
          <a:prstGeom prst="roundRect">
            <a:avLst>
              <a:gd name="adj" fmla="val 25000"/>
            </a:avLst>
          </a:prstGeom>
          <a:solidFill>
            <a:srgbClr val="059669"/>
          </a:solidFill>
          <a:ln/>
        </p:spPr>
      </p:sp>
      <p:sp>
        <p:nvSpPr>
          <p:cNvPr id="16" name="Shape 14"/>
          <p:cNvSpPr/>
          <p:nvPr/>
        </p:nvSpPr>
        <p:spPr>
          <a:xfrm>
            <a:off x="256032" y="2029968"/>
            <a:ext cx="274320" cy="146304"/>
          </a:xfrm>
          <a:prstGeom prst="roundRect">
            <a:avLst>
              <a:gd name="adj" fmla="val 25000"/>
            </a:avLst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1371600"/>
            <a:ext cx="7558851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Parabéns!</a:t>
            </a:r>
            <a:endParaRPr lang="en-US" sz="6100" dirty="0"/>
          </a:p>
        </p:txBody>
      </p:sp>
      <p:sp>
        <p:nvSpPr>
          <p:cNvPr id="18" name="Shape 16"/>
          <p:cNvSpPr/>
          <p:nvPr/>
        </p:nvSpPr>
        <p:spPr>
          <a:xfrm>
            <a:off x="1097280" y="3017520"/>
            <a:ext cx="618744" cy="6400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9" name="Shape 17"/>
          <p:cNvSpPr/>
          <p:nvPr/>
        </p:nvSpPr>
        <p:spPr>
          <a:xfrm>
            <a:off x="1706880" y="3127248"/>
            <a:ext cx="618744" cy="6400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0" name="Shape 18"/>
          <p:cNvSpPr/>
          <p:nvPr/>
        </p:nvSpPr>
        <p:spPr>
          <a:xfrm>
            <a:off x="2316480" y="3017520"/>
            <a:ext cx="618744" cy="6400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1" name="Shape 19"/>
          <p:cNvSpPr/>
          <p:nvPr/>
        </p:nvSpPr>
        <p:spPr>
          <a:xfrm>
            <a:off x="2926080" y="3127248"/>
            <a:ext cx="618744" cy="6400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2" name="Shape 20"/>
          <p:cNvSpPr/>
          <p:nvPr/>
        </p:nvSpPr>
        <p:spPr>
          <a:xfrm>
            <a:off x="3535680" y="3017520"/>
            <a:ext cx="618744" cy="6400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3" name="Shape 21"/>
          <p:cNvSpPr/>
          <p:nvPr/>
        </p:nvSpPr>
        <p:spPr>
          <a:xfrm>
            <a:off x="4145280" y="3127248"/>
            <a:ext cx="618744" cy="6400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4" name="Text 22"/>
          <p:cNvSpPr/>
          <p:nvPr/>
        </p:nvSpPr>
        <p:spPr>
          <a:xfrm>
            <a:off x="1097280" y="3593592"/>
            <a:ext cx="670543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Você concluiu o curso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097280" y="4050792"/>
            <a:ext cx="7071183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Introdução à Programação em Python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097280" y="479145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700" kern="0" dirty="0">
                <a:solidFill>
                  <a:srgbClr val="4F46E5">
                    <a:alpha val="9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CERTIFICADO DE CONCLUSÃO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0180015" y="5029200"/>
            <a:ext cx="457200" cy="457200"/>
          </a:xfrm>
          <a:prstGeom prst="rect">
            <a:avLst>
              <a:gd name="adj" fmla="val 8000"/>
            </a:avLst>
          </a:prstGeom>
          <a:solidFill>
            <a:srgbClr val="4F46E5"/>
          </a:solidFill>
          <a:ln/>
        </p:spPr>
      </p:sp>
      <p:sp>
        <p:nvSpPr>
          <p:cNvPr id="28" name="Shape 26"/>
          <p:cNvSpPr/>
          <p:nvPr/>
        </p:nvSpPr>
        <p:spPr>
          <a:xfrm>
            <a:off x="10591495" y="5989320"/>
            <a:ext cx="685800" cy="685800"/>
          </a:xfrm>
          <a:prstGeom prst="rect">
            <a:avLst>
              <a:gd name="adj" fmla="val 5333"/>
            </a:avLst>
          </a:prstGeom>
          <a:solidFill>
            <a:srgbClr val="7C3AED"/>
          </a:solidFill>
          <a:ln/>
        </p:spPr>
      </p:sp>
      <p:sp>
        <p:nvSpPr>
          <p:cNvPr id="29" name="Shape 27"/>
          <p:cNvSpPr/>
          <p:nvPr/>
        </p:nvSpPr>
        <p:spPr>
          <a:xfrm>
            <a:off x="11002975" y="5989320"/>
            <a:ext cx="914400" cy="914400"/>
          </a:xfrm>
          <a:prstGeom prst="rect">
            <a:avLst>
              <a:gd name="adj" fmla="val 4000"/>
            </a:avLst>
          </a:prstGeom>
          <a:solidFill>
            <a:srgbClr val="0891B2"/>
          </a:solidFill>
          <a:ln/>
        </p:spPr>
      </p:sp>
      <p:sp>
        <p:nvSpPr>
          <p:cNvPr id="30" name="Text 28"/>
          <p:cNvSpPr/>
          <p:nvPr/>
        </p:nvSpPr>
        <p:spPr>
          <a:xfrm>
            <a:off x="9631375" y="694944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64748B">
                    <a:alpha val="7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maio de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79</vt:i4>
      </vt:variant>
    </vt:vector>
  </HeadingPairs>
  <TitlesOfParts>
    <vt:vector size="8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Introdução à Programação em Python</dc:title>
  <dc:subject>PptxGenJS Presentation</dc:subject>
  <dc:creator>EduGenAI v3</dc:creator>
  <cp:lastModifiedBy>EduGenAI v3</cp:lastModifiedBy>
  <cp:revision>1</cp:revision>
  <dcterms:created xsi:type="dcterms:W3CDTF">2026-05-02T22:39:32Z</dcterms:created>
  <dcterms:modified xsi:type="dcterms:W3CDTF">2026-05-02T22:39:32Z</dcterms:modified>
</cp:coreProperties>
</file>