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80268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128455" y="6053328"/>
            <a:ext cx="2788920" cy="621792"/>
          </a:xfrm>
          <a:prstGeom prst="roundRect">
            <a:avLst>
              <a:gd name="adj" fmla="val 7353"/>
            </a:avLst>
          </a:prstGeom>
          <a:solidFill>
            <a:srgbClr val="000000">
              <a:alpha val="6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822960"/>
            <a:ext cx="32004" cy="5212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1188720"/>
            <a:ext cx="3200400" cy="16459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COMPLETO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" y="1828800"/>
            <a:ext cx="633968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Curso de introdução à Programação em Python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1097280" y="5029200"/>
            <a:ext cx="466344" cy="6400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Shape 8"/>
          <p:cNvSpPr/>
          <p:nvPr/>
        </p:nvSpPr>
        <p:spPr>
          <a:xfrm>
            <a:off x="1554480" y="5029200"/>
            <a:ext cx="466344" cy="6400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Shape 9"/>
          <p:cNvSpPr/>
          <p:nvPr/>
        </p:nvSpPr>
        <p:spPr>
          <a:xfrm>
            <a:off x="2011680" y="5029200"/>
            <a:ext cx="466344" cy="6400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Shape 10"/>
          <p:cNvSpPr/>
          <p:nvPr/>
        </p:nvSpPr>
        <p:spPr>
          <a:xfrm>
            <a:off x="2468880" y="5029200"/>
            <a:ext cx="466344" cy="6400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Shape 11"/>
          <p:cNvSpPr/>
          <p:nvPr/>
        </p:nvSpPr>
        <p:spPr>
          <a:xfrm>
            <a:off x="2926080" y="5029200"/>
            <a:ext cx="466344" cy="6400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Shape 12"/>
          <p:cNvSpPr/>
          <p:nvPr/>
        </p:nvSpPr>
        <p:spPr>
          <a:xfrm>
            <a:off x="3383280" y="5029200"/>
            <a:ext cx="466344" cy="6400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Shape 13"/>
          <p:cNvSpPr/>
          <p:nvPr/>
        </p:nvSpPr>
        <p:spPr>
          <a:xfrm>
            <a:off x="1097280" y="5321808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7" name="Shape 14"/>
          <p:cNvSpPr/>
          <p:nvPr/>
        </p:nvSpPr>
        <p:spPr>
          <a:xfrm>
            <a:off x="1097280" y="5760720"/>
            <a:ext cx="2743200" cy="10973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5"/>
          <p:cNvSpPr/>
          <p:nvPr/>
        </p:nvSpPr>
        <p:spPr>
          <a:xfrm>
            <a:off x="9448495" y="6263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março de 2026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Ofspace LLC / Unsplash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 ·  1/2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828800" cy="274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5501488" cy="3657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699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699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Primeiros Passos com Python e Fundamentos da Programação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 um ambiente de desenvolvimento eficiente para programação em 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59736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203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203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496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Essenciais e Manipulação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96312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manipular listas, tuplas, conjuntos e dicionários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310128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5707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707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3467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Funções, Módulos e Organização de Código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346704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criar e utilizar funções eficientes em Python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160520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4211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4211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41970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Formatos de Dados (CSV, JSON)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197096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os módulos csv e json do Python para ler e gravar dados em arquivos, convertendo para e de estru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5010912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7151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2715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504748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Programação Orientada a Objetos (POO) com Python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5047488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criar classes e objetos em Python, definindo seus atributos e métodos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" y="5861304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61219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61219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8992" y="5897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Tratamento de Exceções e Geração de Logs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589788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a geração de logs para depurar, monitorar e manter aplicações Python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 ·  2/2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828800" cy="274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699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699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 Automatizados com `unittest` e Boas Práticas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e aplicar boas práticas que aumentam a confiabilidade do código em projetos de software, como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59736"/>
            <a:ext cx="11094415" cy="7315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203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203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496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 Final: Construindo e Distribuindo um Utilitário Python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96312"/>
            <a:ext cx="5333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Empacotar e gerenciar dependências de projetos Python profissionalmente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Harshit Suryawanshi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Primeiros Passos com Python e Fundamentos da Programação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princípios fundamentais da programação e o papel de Python.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 um ambiente de desenvolvimento eficiente para programação em Python.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e executar seu primeiro programa Python com sucesso.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Programação e Linguagens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Programação é a arte de fornecer instruções a um computador para executar tarefas específicas.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programa de computador é uma sequência lógica de instruções compreendidas pela máquina.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Linguagens de programação de alto nível (ex: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Python) permitem escrever instruções de forma mais intuitiva.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047857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Interpretadores ou compiladores traduzem instruções de alto nível para código binário (0s e 1s).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/ 83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IMPORTÂNCIA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Aprender Python?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Sintaxe Clara e Legível: Python utiliza indentação para definir blocos de código, facilitando a leitura e compreensão, ideal para iniciantes.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Versatilidade Ilimitada: Aplicações em desenvolvimento web, análise de dados, inteligência artificial e automação de tarefas.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Comunidade Ativa: Vastos recursos no PyPI, documentação oficial detalhada, fóruns ativos e meetups locais para suporte.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Demanda no Mercado: Profissionais com habilidades em Python são requisitados em tecnologia, finanças, biotecnologia e pesquisa.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Código Aberto e Gratuito: Python é de uso e distribuição livres, permitindo desenvolvimento colaborativo sem custos de licenciamento.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Ampla Aplicação: Usado em frameworks como Django, Flask, bibliotecas como Pandas, NumPy, TensorFlow e PyTorch.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83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COMEÇAR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Configurando o Ambiente de Desenvolvimento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Interpretador Python lê e executa o código que você escreve.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 (Ambiente de Desenvolvimento Integrado) ou Editor de Código oferece interface para escrever e gerenciar arquivos.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ter o interpretador Python instalado e acessível pelo sistema operacional.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Escolher um bom editor de código melhora significativamente a experiência de programação.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83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Passos para Instalar Python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3493922" cy="457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2067001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2067001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32196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532888"/>
            <a:ext cx="3219602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Baixe a versão estável em python.org/downloads/ e marque 'Add Python X.Y to PATH' durante a instalação. Verifique com `python --version` ou `py --version`.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35754" y="1746504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1719072"/>
            <a:ext cx="3493922" cy="457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5981548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981548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54626" y="2221992"/>
            <a:ext cx="32196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54626" y="2532888"/>
            <a:ext cx="3219602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Homebrew (`brew install python`) para uma instalação completa e adicionada ao PATH. Verifique com `python3 --version`.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50301" y="1746504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1719072"/>
            <a:ext cx="3493922" cy="457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9896094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9896094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69173" y="2221992"/>
            <a:ext cx="321960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(Ubuntu/Debian)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69173" y="2679192"/>
            <a:ext cx="3219602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3 geralmente pré-instalado. Use `sudo apt install python3 python3-pip build-essential` para garantir ferramentas. Verifique com `python3 --version`.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83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Escolhendo um Editor de Código: VS Code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Instalação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Baixe em code.visualstudio.com e marque 'Adicionar ao PATH' para facilitar a abertura via terminal.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Extensão 'Python'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Essencial (ms-python.python) para linting, depuração, autocompletar e gerenciamento de ambientes virtuais.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Extensão 'Pylance'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análise de código mais rápida e inteligente (ms-python.vscode-pylance).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Extensão 'Jupyter'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Necessária se planeja trabalhar com notebooks (ms-toolsai.jupyter).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83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 Primeiro Programa Python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estudante precisa validar a configuração de Python e VS Code escrevendo e executando um script simples.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um programa Python que imprima uma saudação customizada no terminal, confirmando a interação bem-sucedida do ambiente.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estudante abre o VS Code, cria `saudacao.py`, escreve uma instrução `print()` e executa o arquivo pelo terminal integrado do VS Code.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16653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programa exibe '🎉 Olá, Pythonista Iniciante! Seu ambiente está funcionando! 🎉' no terminal, validando a configuração.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83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CHAVE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Entendendo o Código Base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Comentários (linhas iniciadas com '#') são ignorados pelo interpretador Python, utilizados para explicar o código.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função `print()` é uma função built-in de Python para exibir informações no console.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Textos a serem impressos pela função `print()` devem ser colocados entre aspas simples ou duplas.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estrutura do código é simples, focando na exibição de uma mensagem para o usuário no terminal.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83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Programação é fornecer instruções a computadores, usando linguagens de alto nível para facilitar a escrita.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se destaca pela sintaxe legível, versatilidade, comunidade ativa e alta demanda no mercado.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 o ambiente envolve instalar o interpretador Python e um editor de código como o VS Code.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 a instalação e executar o primeiro programa `print()` valida o ambiente configurado.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83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Aprendizados-Chave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Compreendi a importância da programação e o papel das linguagens de alto nível na comunicação com computadores.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6724" y="1536192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28436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6452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356452" y="2075688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Entendi por que Python é uma escolha excelente para iniciantes, devido à sua sintaxe clara e vasta aplicabilidade.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3310128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282696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722376" y="3849624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Consegui configurar meu ambiente de desenvolvimento instalando Python e o VS Code, com as extensões necessárias para otimizar meu trabalho.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6724" y="3310128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282696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8436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6452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56452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6356452" y="3849624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Rodei meu primeiro programa Python, confirmando que meu ambiente está pronto para os próximos desafios.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Paymo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Estruturas de Dados Essenciais e Manipulação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as características e funcionalidades das estruturas de dados básicas em Python.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manipular listas, tuplas, conjuntos e dicionários.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a estrutura de dados mais adequada para resolver problemas de armazenamento e organização de dados.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Importância das Estruturas de 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Estruturas de dados são formas organizadas de armazenar e gerenciar diferentes tipos de informações eficientemente.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estrutura de dados impacta diretamente a eficiência e funcionalidade dos programas.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estas estruturas permite ao programador resolver problemas complexos de forma elegante.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Python, cada estrutura tem características únicas para diferentes cenários de uso.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83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BÁSICOS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Comparativo: Tipos de Estruturas de 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228027"/>
                <a:gridCol w="2228027"/>
                <a:gridCol w="2228027"/>
                <a:gridCol w="2228027"/>
                <a:gridCol w="2228027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Listas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Tuplas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Conjuntos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Dicionários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Ordem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Mantém ordem de inserção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Mantém ordem de inserção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há ordem definida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Ordem de inserção mantida (Py 3.7+)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Mutabilidade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Mutável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Imutável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Mutável (add/rem)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Mutável (pares chave-valor alt.)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Duplicatas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Permitem itens duplicados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Permitem itens duplicados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Exigem itens únicos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Chaves devem ser únicas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Sintaxe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[]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{} ou set()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{chave: valor}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83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COLEÇÃO ORDENADA E MUTÁVEL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Listas (Lists): Criação e Acesso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Listas são estruturas de dados versáteis, ordenadas por índice e mutáveis, permitindo alterações após a criação.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podem conter itens duplicados e elementos de diferentes tipos (heterogêneas).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definidas utilizando colchetes `[]` e separando os itens por vírgulas, como em `['a', 'b', 'c']`.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acesso a elementos individuais é feito por indexação, onde o primeiro item está na posição 0, por exemplo, `lista[0]`.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possível acessar múltiplas partes da lista utilizando fatiamento, especificando um intervalo, como `lista[1:3]`.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fatiamento `lista[0:2]` retornará os elementos do índice 0 até o (2-1), ou seja, os dois primeiros itens.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83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MANIPULAÇÃO DE 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Operações Comuns em Listas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Adicionar Elementos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`.append(item)` para o final, `.insert(indice, item)` para posições específicas ou `.extend(outra_lista)` para concatenar.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Remover Elementos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`.remove(valor)` para a primeira ocorrência, `.pop(indice)` para remover e retornar por índice, ou `del lista[indice]` para remover por índice ou fatias.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Modificar Elementos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Reatribua um novo valor a um índice específico, como `lista[indice] = novo_valor`.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Informações Adicionais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`len(lista)` retorna o número de elementos e `lista.count(valor)` conta ocorrências específicas.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16653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653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e Ordenação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`lista.index(valor)` encontra o índice da primeira ocorrência e `lista.sort()` ordena a lista no local, enquanto `sorted(lista)` retorna uma nova lista ordenada.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58277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8130845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51" name="Shape 49"/>
          <p:cNvSpPr/>
          <p:nvPr/>
        </p:nvSpPr>
        <p:spPr>
          <a:xfrm>
            <a:off x="8130845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8222285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5803D"/>
          </a:solidFill>
          <a:ln/>
        </p:spPr>
      </p:sp>
      <p:sp>
        <p:nvSpPr>
          <p:cNvPr id="53" name="Text 51"/>
          <p:cNvSpPr/>
          <p:nvPr/>
        </p:nvSpPr>
        <p:spPr>
          <a:xfrm>
            <a:off x="8222285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88" dirty="0"/>
          </a:p>
        </p:txBody>
      </p:sp>
      <p:sp>
        <p:nvSpPr>
          <p:cNvPr id="54" name="Text 52"/>
          <p:cNvSpPr/>
          <p:nvPr/>
        </p:nvSpPr>
        <p:spPr>
          <a:xfrm>
            <a:off x="8588045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Iteração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222285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8240573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laços `for` para percorrer todos os elementos da lista, como em `for item in minha_lista: print(item)`.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8" name="Shape 5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9" name="Shape 5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0" name="Shape 5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83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COLEÇÃO ORDENADA E IMUTÁVEL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Tuplas (Tuples): Criação e Acesso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são coleções ordenadas e imutáveis, significando que seus elementos não podem ser alterados após a criação.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permitem duplicatas de elementos e podem conter diferentes tipos de dados (heterogêneas).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definição de tuplas é feita com parênteses `()` e itens separados por vírgula, por exemplo, `(1, 'abc', True)`.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tuplas com um único item, é essencial incluir uma vírgula após o item para diferenciá-la de uma expressão entre parênteses, como `('item',)`.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acesso aos elementos de uma tupla é realizado por indexação (ex: `tupla[0]`) e fatiamento (ex: `tupla[1:3]`), da mesma forma que nas listas.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Qualquer tentativa de modificar um elemento de uma tupla resultará em um erro `TypeError`, pois são imutáveis.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83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QUE TUPLAS?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Vantagens e Usos das Tuplas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garantem a segurança de dados, pois impedem alterações acidentais em informações como credenciais de API ou configurações fixas.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podem oferecer uma leve vantagem de performance para conjuntos de dados estáticos, devido à otimização de armazenamento do Python.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podem ser usadas como chaves em dicionários, diferentemente de listas, por serem imutáveis e hashable.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Sinalizam que o conteúdo é fixo e não deve mudar, agindo como um contrato para outros desenvolvedores.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" y="5815584"/>
            <a:ext cx="91440" cy="9144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5495544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ideais para retornar múltiplos valores de uma função, garantindo que o conjunto de dados permaneça intacto.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83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Gerenciamento de Credenciais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precisa armazenar e usar credenciais de acesso a um banco de dados de forma segura e imutável.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que o nome de usuário e a senha não sejam modificados acidentalmente em tempo de execução, mantendo a integridade.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uma tupla para armazenar as credenciais, como `credenciais = ('admin_db', 'senha@123')`, aproveitando sua imutabilidade.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16653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credenciais são protegidas contra modificações indesejadas, assegurando a estabilidade da conexão e a segurança dos dados.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83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PROPRIEDADES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Conjuntos (Sets): Coleção de Itens Únicos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901598"/>
          </a:xfrm>
          <a:prstGeom prst="rect">
            <a:avLst>
              <a:gd name="adj" fmla="val 133333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80411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80411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Conjuntos são coleções não ordenadas de elementos que garantem a unicidade dos itens.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55666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008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520086"/>
            <a:ext cx="54864" cy="901598"/>
          </a:xfrm>
          <a:prstGeom prst="rect">
            <a:avLst>
              <a:gd name="adj" fmla="val 133333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281543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81543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54751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um item duplicado for adicionado a um conjunto, ele será simplesmente ignorado.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3567989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531413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31413"/>
            <a:ext cx="54864" cy="901598"/>
          </a:xfrm>
          <a:prstGeom prst="rect">
            <a:avLst>
              <a:gd name="adj" fmla="val 133333"/>
            </a:avLst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38267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8267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3558845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Conjuntos são mutáveis, permitindo a adição e remoção de elementos, mas não o acesso por índice.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4579315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542739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542739"/>
            <a:ext cx="54864" cy="901598"/>
          </a:xfrm>
          <a:prstGeom prst="rect">
            <a:avLst>
              <a:gd name="adj" fmla="val 133333"/>
            </a:avLst>
          </a:prstGeom>
          <a:solidFill>
            <a:srgbClr val="047857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48380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48380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4570171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elementos internos de um conjunto devem ser imutáveis (como números, strings ou tuplas), pois são usados para calcular um hash único.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" y="559064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55406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554066"/>
            <a:ext cx="54864" cy="901598"/>
          </a:xfrm>
          <a:prstGeom prst="rect">
            <a:avLst>
              <a:gd name="adj" fmla="val 133333"/>
            </a:avLst>
          </a:prstGeom>
          <a:solidFill>
            <a:srgbClr val="166534"/>
          </a:solidFill>
          <a:ln/>
        </p:spPr>
      </p:sp>
      <p:sp>
        <p:nvSpPr>
          <p:cNvPr id="36" name="Shape 34"/>
          <p:cNvSpPr/>
          <p:nvPr/>
        </p:nvSpPr>
        <p:spPr>
          <a:xfrm>
            <a:off x="758952" y="584941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66534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584941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97864" y="558149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há um índice associado aos elementos em um conjunto, devido à sua natureza não ordenada.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83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estruturas de dados em Python são cruciais para a organização e eficiência do código.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Listas são coleções ordenadas e mutáveis, ideais para dados flexíveis e dinâmicos.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são coleções ordenadas e imutáveis, garantindo a integridade de dados fixos.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Conjuntos são coleções não ordenadas de itens únicos, úteis para operações de unicidade.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83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Aprendizados-Chave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Escolher a estrutura de dados certa melhora significativamente a performance e a legibilidade do código.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6724" y="1536192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28436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6452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6452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356452" y="2075688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Listas são excelentes para coleções que requerem manipulação frequente de seus elementos.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3310128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282696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722376" y="3849624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Tuplas oferecem segurança e estabilidade para dados que não devem ser modificados.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6724" y="3310128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282696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8436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6452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56452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6356452" y="3849624"/>
            <a:ext cx="5250028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Conjuntos são fundamentais para gerenciar coleções onde cada item precisa ser único.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Museums of History New South Wales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Funções, Módulos e Organização de Código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 importância de funções, módulos e boa organização do código.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criar e utilizar funções eficientes em Python.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princípios de modularização para construir programas mais organizados e reutilizáveis.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43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286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572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715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749808"/>
            <a:ext cx="1097280" cy="10973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14400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Organização e Reutilização de Código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75488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51206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54864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87133" y="512064"/>
            <a:ext cx="41148" cy="8595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1725" y="457200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programação eficaz baseia-se na organização e reutilização do código.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1725" y="1496873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7133" y="1591056"/>
            <a:ext cx="41148" cy="8595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1725" y="1536192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permite construir sistemas mais robustos e fáceis de manter.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1725" y="2575865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87133" y="2670048"/>
            <a:ext cx="41148" cy="85953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751725" y="2615184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são blocos de código que executam tarefas específicas.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1725" y="3654857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87133" y="3749040"/>
            <a:ext cx="41148" cy="8595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4751725" y="3694176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agrupam funções, variáveis e classes relacionadas em arquivos.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83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Funções: Blocos Reutilizáveis de Código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Reutilização de Código (DRY):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Encapsulam lógicas comuns para chamá-las em múltiplos pontos de um script ou aplicação.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e Clareza: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o programa em partes menores e mais semânticas para melhor compreensão.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Manutenção Facilitada: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que correções ou melhorias sejam feitas em apenas um ponto, propagando-se automaticamente.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047857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Modularidade: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 o desenvolvimento e teste independente de diferentes componentes do sistema.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/ 83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Módulos: Agrupando Funcionalidades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são arquivos Python que agrupam funções, variáveis e classes relacionadas.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Organizam o código em arquivos separados, funcionando como 'bibliotecas' de funcionalidades.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Lógica: Agrupam funcionalidades semanticamente relacionadas em um único arquivo .py.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Reusabilidade: Permitem que funcionalidades complexas sejam facilmente importadas e utilizadas em outros projetos.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/ 83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BENEFÍCIOS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Vantagens dos Módulos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Lógica: Agrupa funcionalidades relacionadas em um único arquivo .py, facilitando a localização e gestão do código em projetos maiores.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Reusabilidade: Permite que conjuntos de funcionalidades complexas desenvolvidas para um projeto sejam facilmente importados e utilizados em outros.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Resolução de Conflitos: Evita colisões de nomes entre funções ou variáveis, garantindo unicidade via `nome_do_modulo.item`.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Colaboração: Facilita o trabalho em equipe ao permitir o desenvolvimento paralelo em arquivos distintos.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Manutenção Simplificada: Alterações em um módulo impactam apenas as partes do código que o utilizam diretamente.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Escalabilidade: Ajuda a gerenciar a complexidade de projetos grandes, dividindo-os em unidades menores e coesas.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 / 83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de Funções em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83971" y="1517904"/>
            <a:ext cx="21946" cy="49194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3202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202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" y="145389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141732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" y="1417320"/>
            <a:ext cx="45720" cy="81229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435608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`def`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1732940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Palavra-chave obrigatória que sinaliza o início da definição da função.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188464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" y="259003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59003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" y="2311908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41832" y="2275332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832" y="2275332"/>
            <a:ext cx="45720" cy="81229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2293620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`nome_da_funcao`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2590952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Identificador único que descreve a ação, seguindo a convenção `snake_case`.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3046476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" y="344805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44805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9264" y="3169920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941832" y="3133344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832" y="3133344"/>
            <a:ext cx="45720" cy="81229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3151632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`parametros`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448964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Variáveis que recebem os valores passados como argumentos, com escopo restrito à função.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" y="390448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4360" y="430606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47857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30606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9264" y="4027932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" y="3991356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41832" y="3991356"/>
            <a:ext cx="45720" cy="81229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4009644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97280" y="4306976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`: Delimita o cabeçalho da função e indica o início do corpo de código indentado.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3232" y="4762500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4360" y="516407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516407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9264" y="4885944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941832" y="4849368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46" name="Shape 44"/>
          <p:cNvSpPr/>
          <p:nvPr/>
        </p:nvSpPr>
        <p:spPr>
          <a:xfrm>
            <a:off x="941832" y="4849368"/>
            <a:ext cx="45720" cy="812292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47" name="Text 45"/>
          <p:cNvSpPr/>
          <p:nvPr/>
        </p:nvSpPr>
        <p:spPr>
          <a:xfrm>
            <a:off x="1097280" y="4867656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`Docstring`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97280" y="5164988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Explicação breve do que a função faz, opcional, mas altamente recomendada para documentação.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3232" y="5620512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4360" y="602208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5803D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602208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69264" y="574395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941832" y="570738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54" name="Shape 52"/>
          <p:cNvSpPr/>
          <p:nvPr/>
        </p:nvSpPr>
        <p:spPr>
          <a:xfrm>
            <a:off x="941832" y="5707380"/>
            <a:ext cx="45720" cy="81229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55" name="Text 53"/>
          <p:cNvSpPr/>
          <p:nvPr/>
        </p:nvSpPr>
        <p:spPr>
          <a:xfrm>
            <a:off x="1097280" y="5725668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`return`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97280" y="6023000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(Opcional) Declara o valor que a função enviará de volta ao ponto de sua chamada.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8" name="Shape 5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9" name="Shape 5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0" name="Shape 5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/ 83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DETALHES TÉCNICOS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Tipos de Argumentos de Função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Argumentos Padrão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Permitem definir valores pré-definidos para parâmetros, que assumirão este valor se não forem explicitamente fornecidos na chamada da função.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Argumentos de Palavra-Chave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Permitem passar argumentos usando o nome do parâmetro explicitamente, aumentando a legibilidade e permitindo alterar a ordem dos argumentos na chamada.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Shape 2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Shape 2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 / 83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Módulos e Funções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desenvolvedor precisa criar um conjunto de funcionalidades matemáticas que serão utilizadas em diversos programas Python, como cálculo de área e constante PI.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Evitar a reescrita de código para estas funcionalidades em cada novo projeto e garantir consistência nos cálculos.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Criação de um módulo `utilitarios.py` contendo a constante `PI` e a função `calcular_area_circulo(raio)`, e importação deste módulo em um arquivo `app.py`.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16653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código de cálculo é centralizado, reutilizável e fácil de manter, permitindo o uso consistente da lógica matemática em múltiplos pontos da aplicação.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/ 83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6A34A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11002975" cy="16459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31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Refletir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modularização do código pode impactar a colaboração em projetos de software complexos?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72384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que forma a falta de organização e reutilização de código pode gerar problemas em um sistema em crescimento?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Shape 9"/>
          <p:cNvSpPr/>
          <p:nvPr/>
        </p:nvSpPr>
        <p:spPr>
          <a:xfrm>
            <a:off x="2428189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2018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9677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3506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5775" y="6693408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7215" y="66385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são blocos de código reutilizáveis que promovem a modularidade e a clareza do programa.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são arquivos Python que agrupam funções e outras funcionalidades relacionadas, para melhor organização.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definição de funções usa `def` e pode incluir parâmetros e um `return` para valores.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Argumentos padrão e de palavra-chave aumentam a flexibilidade e legibilidade das funções.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/ 83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Aprendizados-Chave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funções para encapsular e reutilizar lógicas, aplicando o princípio DRY (Don't Repeat Yourself).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Organize seu código em módulos para agrupar funcionalidades relacionadas e evitar conflitos de nomes.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Defina funções de forma clara, usando nomes descritivos, docstrings e parâmetros adequados.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Aproveite argumentos padrão e de palavra-chave para criar funções mais flexíveis e legíveis.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16653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653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organização de código com funções e módulos é fundamental para a manutenção e escalabilidade de projetos.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Unlimited Access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Arquivos e Formatos de Dados (CSV, JSON)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 importância da manipulação de arquivos para a persistência de dados em aplicações Python.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os módulos `csv` e `json` para ler e gravar dados em arquivos, convertendo para e de estruturas de dados nativas.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 conhecimento em cenários práticos envolvendo troca de dados, configuração e armazenamento de logs.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047857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Importância da Manipulação de Arquivos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manipulação de arquivos permite a leitura e escrita de informações, persistindo dados além da execução do programa.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temporários em RAM se perdem ao finalizar o programa, enquanto arquivos garantem a retenção da informação.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para o desenvolvimento de software robusto, permitindo o armazenamento permanente de dados no disco rígido.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função `open()` em Python é usada para interagir com arquivos, exigindo o nome e o modo de abertura.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 / 83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IMPORTÂNCIA E USOS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Manipular Arquivos em Python?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Persistência de Dados: Armazena dados de forma permanente no disco, retendo informações entre execuções do programa.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Troca de Dados: Facilita a comunicação e o compartilhamento de informações entre diferentes programas ou sistemas.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Processamento de Dados Massivos: Essencial para trabalhar com grandes volumes de dados que excedem a capacidade de memória RAM.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Configuração de Sistemas: Arquivos de configuração definem o comportamento de programas sem alterar o código-fonte principal.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Armazenamento de logs: Permite registrar eventos e erros do sistema para depuração e auditoria.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de informações: Realiza cópias de segurança de dados importantes de forma sistemática.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/ 83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MODOS DE OPERAÇÃO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Modos de Abertura de Arquivos em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785034"/>
                <a:gridCol w="2785034"/>
                <a:gridCol w="2785034"/>
                <a:gridCol w="2785034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Ação Principal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Arquivo Existente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Arquivo Novo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Exemplo Uso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'r' (Read)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Lê do início ao fim; falha se não existir.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cria o arquivo.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`open('dados.txt', 'r')`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'w' (Write)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Sobrescreve ou trunca se existir.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um novo vazio.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`open('novo.log', 'w')`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'a' (Append)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Adiciona conteúdo ao final.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um novo vazio.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`open('historico.txt', 'a')`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'x' (Exclusive)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novo; falha se existir.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um novo vazio.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`open('backup.txt', 'x')`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/ 83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MANIPULAÇÃO SEGURA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Melhores Práticas ao Abrir Arquivos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901598"/>
          </a:xfrm>
          <a:prstGeom prst="rect">
            <a:avLst>
              <a:gd name="adj" fmla="val 133333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80411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80411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instrução `with open(...) as arquivo: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 é a forma mais segura e recomendada para manipular arquivos em Python.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55666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008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520086"/>
            <a:ext cx="54864" cy="901598"/>
          </a:xfrm>
          <a:prstGeom prst="rect">
            <a:avLst>
              <a:gd name="adj" fmla="val 133333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281543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81543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54751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garante o fechamento automático do recurso, mesmo em casos de erros ou exceções, prevenindo vazamentos.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3567989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531413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31413"/>
            <a:ext cx="54864" cy="901598"/>
          </a:xfrm>
          <a:prstGeom prst="rect">
            <a:avLst>
              <a:gd name="adj" fmla="val 133333"/>
            </a:avLst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38267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8267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3558845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Libera o arquivo e evita corrupção de dados ou travamentos do sistema operacional.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4579315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542739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542739"/>
            <a:ext cx="54864" cy="901598"/>
          </a:xfrm>
          <a:prstGeom prst="rect">
            <a:avLst>
              <a:gd name="adj" fmla="val 133333"/>
            </a:avLst>
          </a:prstGeom>
          <a:solidFill>
            <a:srgbClr val="047857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48380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48380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4570171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modo texto (`'t'`) é o padrão para abrir arquivos e é amplamente utilizado para CSV e JSON.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" y="559064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55406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554066"/>
            <a:ext cx="54864" cy="901598"/>
          </a:xfrm>
          <a:prstGeom prst="rect">
            <a:avLst>
              <a:gd name="adj" fmla="val 133333"/>
            </a:avLst>
          </a:prstGeom>
          <a:solidFill>
            <a:srgbClr val="166534"/>
          </a:solidFill>
          <a:ln/>
        </p:spPr>
      </p:sp>
      <p:sp>
        <p:nvSpPr>
          <p:cNvPr id="36" name="Shape 34"/>
          <p:cNvSpPr/>
          <p:nvPr/>
        </p:nvSpPr>
        <p:spPr>
          <a:xfrm>
            <a:off x="758952" y="584941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66534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584941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97864" y="558149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Modos adicionais como `'b'` (binário) e `'+'` (leitura e escrita) oferecem flexibilidade para diferentes necessidades.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/ 83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ESCRITA DE ARQUIVOS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Escrevendo Dados em Arquivos de Texto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`arquivo.write(string)` para escrever uma única string no arquivo, sem adicionar quebra de linha automaticamente.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`arquivo.writelines(lista_de_strings)` para escrever uma lista de strings de uma vez no arquivo.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string na lista deve conter sua própria quebra de linha (` `) se deseja linhas separadas nos arquivos.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argumento `encoding='utf-8'` é fundamental para lidar corretamente com caracteres especiais e acentuação.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61772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581144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581144"/>
            <a:ext cx="54864" cy="1371600"/>
          </a:xfrm>
          <a:prstGeom prst="rect">
            <a:avLst>
              <a:gd name="adj" fmla="val 166667"/>
            </a:avLst>
          </a:prstGeom>
          <a:solidFill>
            <a:srgbClr val="166534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63600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" y="4928616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argumento `newline=''` é crucial para arquivos CSV ao usar `csv.writer`, evitando linhas em branco extras.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Shape 36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/ 83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LEITURA DE ARQUIVOS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Lendo Dados de Arquivos de Texto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`arquivo.read()`: Lê todo o conteúdo do arquivo como uma única string, ideal para arquivos pequenos.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`arquivo.readline()`: Lê o arquivo linha por linha, retornando uma string que inclui a quebra de linha (` `).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`arquivo.readlines()`: Retorna uma lista de strings, onde cada string é uma linha do arquivo, incluindo quebras de linha.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Iterar diretamente sobre o objeto arquivo (`for linha in arquivo:`) é a forma mais eficiente de ler linha por linha.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 iteração processa cada linha sem carregar o arquivo inteiro na memória, sendo ideal para grandes volumes.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 / 83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Registro de Eventos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aplicação web precisa registrar as ações dos usuários e erros do sistema em um arquivo de log.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garantir que novos eventos sejam adicionados sem apagar os anteriores e facilitar a leitura futura?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o modo de abertura 'a' (append) para escrever eventos, e depois ler linha por linha para análise.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16653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arquivo de log cresce progressivamente, mantendo um histórico completo, e pode ser facilmente processado pelo time de desenvolvimento.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/ 83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manipulação de arquivos é essencial para a persistência e troca de dados em aplicações Python.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uso do `with open(...) as arquivo:` garante o fechamento seguro e evita problemas de corrupção.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Modos de abertura como 'r', 'w', 'a' e 'x' definem as operações permitidas no arquivo.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como `write()`, `writelines()`, `read()`, `readline()` e `readlines()` permitem interagir com o conteúdo.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 / 83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Aprendizados-Chave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Manipular arquivos é fundamental para armazenar dados de forma persistente e compartilhar informações entre sistemas.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Sempre utilize `with open(...) as arquivo:` para garantir o correto gerenciamento dos recursos de arquivo.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Escolha o modo de abertura ('r', 'w', 'a', 'x') adequado para a operação desejada, evitando perda ou corrupção de dados.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Aplique o `encoding='utf-8'` para garantir a correta codificação de caracteres em arquivos de texto.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16653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653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Prefira iterar diretamente sobre o objeto arquivo para ler grandes volumes de dados de forma eficiente.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Ravindra Dhiman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Programação Orientada a Objetos (POO) com Python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Entender os conceitos fundamentais da Programação Orientada a Objetos (POO).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criar classes e objetos em Python, definindo seus atributos e métodos.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os princípios da POO para desenvolver código mais organizado e reutilizável.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66534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POO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da Programação Orientada a Objetos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POO é um paradigma que organiza o código em torno de objetos, modelando entidades do mundo real.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facilita a gestão de programas complexos ao segmentar o sistema em módulos independentes.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Objetos combinam dados (atributos) e as funções (métodos) que operam sobre esses dados.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 abordagem contrasta com a lógica sequencial, aprimorando a organização e reusabilidade.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 / 83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CHAVE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Componentes Essenciais da POO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Funcionam como 'moldes', definindo características e comportamentos de objetos.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Objetos (Instâncias)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as instâncias concretas de uma classe, com seus próprios dados.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Atributos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as características ou dados que um objeto possui, representando seu estado.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as funções que pertencem a uma classe, descrevendo os comportamentos dos objetos.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 / 83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PROPRIEDADES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Atributos: Dados que Definem o Objeto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 são as características ou dados que um objeto possui, representando seu estado atual.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Podem ser de classe (compartilhados por todos os objetos) ou de instância (únicos para cada objeto).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 de instância são definidos no método '__init__', usando `self.atributo = valor`.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047857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Eles permitem que cada objeto mantenha seus próprios valores, mantendo a individualidade e o estado.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 / 83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Método __init__ (Construtor)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711403" y="1545336"/>
            <a:ext cx="21946" cy="486460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7942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7942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" y="1453896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" y="1417320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" y="1417320"/>
            <a:ext cx="45720" cy="961949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1152144" y="1435608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2144" y="1789810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Chamada Automática: É automaticamente chamado quando um novo objeto é criado (instanciado).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2351837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" y="2814523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1452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4128" y="2488997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696" y="2452421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996696" y="2452421"/>
            <a:ext cx="45720" cy="961949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1152144" y="2470709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144" y="2824911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Inicialização: Responsável por inicializar o estado inicial do objeto.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" y="338693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" y="384962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24128" y="35240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996696" y="34875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0" name="Shape 28"/>
          <p:cNvSpPr/>
          <p:nvPr/>
        </p:nvSpPr>
        <p:spPr>
          <a:xfrm>
            <a:off x="996696" y="3487522"/>
            <a:ext cx="45720" cy="961949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1152144" y="3505810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2144" y="3860012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Valores Iniciais: Define os valores iniciais dos atributos para garantir que o objeto seja utilizável.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" y="442203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4360" y="4884725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47857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88472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24128" y="45591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96696" y="45226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96696" y="4522622"/>
            <a:ext cx="45720" cy="961949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9" name="Text 37"/>
          <p:cNvSpPr/>
          <p:nvPr/>
        </p:nvSpPr>
        <p:spPr>
          <a:xfrm>
            <a:off x="1152144" y="4540910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52144" y="4895112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self: O primeiro parâmetro deve ser `self`, uma referência ao próprio objeto em construção.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13232" y="5457139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4360" y="591982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66534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591982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24128" y="5594299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996696" y="5557723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46" name="Shape 44"/>
          <p:cNvSpPr/>
          <p:nvPr/>
        </p:nvSpPr>
        <p:spPr>
          <a:xfrm>
            <a:off x="996696" y="5557723"/>
            <a:ext cx="45720" cy="961949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47" name="Text 45"/>
          <p:cNvSpPr/>
          <p:nvPr/>
        </p:nvSpPr>
        <p:spPr>
          <a:xfrm>
            <a:off x="1152144" y="5576011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 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52144" y="5930213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Acesso a Atributos: `self` permite acessar e definir os atributos da instância, como `self.titulo = titulo`.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/ 83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AÇÕES DO OBJETO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Métodos: Comportamentos que o Objeto Exerce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são funções que pertencem a uma classe, descrevendo os comportamentos que seus objetos podem realizar.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Eles operam sobre os dados (atributos) do próprio objeto, utilizando `self` para acessá-los e modificá-los.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`self` é sempre o primeiro parâmetro, permitindo que o método acesse o estado específico daquela instância.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Exemplo: um método `emprestar()` pode alterar o atributo `emprestado` para `True`, refletindo uma ação no objeto.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 / 83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PRINCÍPIOS DA POO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Pillares Fundamentais da POO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Encapsulamento: Agrupa dados e métodos relacionados em uma única unidade (a classe), protegendo a integridade interna do objeto.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Herança: Permite que classes (subclasses) reutilizem e estendam as características e comportamentos de outras classes (superclasses), estabelecendo hierarquias lógicas.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Polimorfismo: Permite que objetos de diferentes classes respondam a uma mesma chamada de método de maneiras distintas, porém esperadas, tornando o código mais flexível.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Abstração: Foca na funcionalidade essencial e nos comportamentos mais importantes de um objeto, ignorando e ocultando os detalhes de implementação complexos.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Esses pilares promovem a modularidade, reusabilidade e manutenibilidade do código em sistemas complexos.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compreensão desses conceitos é fundamental para o desenvolvimento eficaz em POO e arquiteturas de software escaláveis.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 / 83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Gerenciamento de Livros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biblioteca precisa de um sistema para gerenciar seu acervo de livros, com informações como título, autor e status de empréstimo.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uma estrutura de dados que represente os livros e permita registrar se estão disponíveis ou emprestados para leitores.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uma classe `Livro` com atributos `titulo`, `autor` e `emprestado` (booleano), e métodos `emprestar()` e `devolver()` para alterar o status.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16653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Foi possível criar instâncias de `Livro`, definir suas características e manipular seu estado de empréstimo de forma organizada e intuitiva.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/ 83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VISIBILIDADE DE ATRIBUTOS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Encapsulamento em Python e Níveis de Acesso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Encapsulamento agrupa atributos e métodos em uma classe, controlando o acesso externo para proteger os dados.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 e métodos públicos podem ser acessados livremente de qualquer lugar, como `objeto.atributo_publico`.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 protegidos, indicados por `_atributo`, são acessados com cautela ou apenas por subclasses por convenção.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Atributos privados, com `__atributo`, têm o nome modificado internamente (`_NomeClasse__atributo`), dificultando o acesso direto.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 / 83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6A34A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11002975" cy="16459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31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Refletir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organização em classes e objetos, ao invés de funções sequenciais, pode simplificar a manutenção de um software complexo?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72384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que maneira o encapsulamento contribui para a segurança e integridade dos dados em suas aplicações futuras?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Shape 9"/>
          <p:cNvSpPr/>
          <p:nvPr/>
        </p:nvSpPr>
        <p:spPr>
          <a:xfrm>
            <a:off x="2428189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2018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9677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3506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5775" y="6693408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7215" y="66385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Programação Orientada a Objetos (POO) organiza o código em torno de objetos, que são instâncias de classes.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Classes definem atributos (dados) e métodos (comportamentos), enquanto __init__ inicializa os objetos.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pilares da POO (Encapsulamento, Herança, Polimorfismo e Abstração) promovem código organizado e reutilizável.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Encapsulamento controla o acesso a atributos, protegendo a integridade dos dados do objeto.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 / 83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Aprendizados-Chave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Classes atuam como 'moldes' para a criação de objetos, definindo suas características e comportamentos.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Objetos são instâncias concretas de classes, com seus próprios valores para os atributos definidos.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método `__init__` é essencial para inicializar o estado de um objeto quando ele é criado.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permitem que os objetos realizem ações e interajam com seus próprios dados de forma controlada.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16653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653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pilares da POO (encapsulamento, herança, polimorfismo e abstração) são cruciais para um design de software robusto e flexível.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Sebastian Herrmann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Tratamento de Exceções e Geração de Logs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 tratamento de exceções para criar softwares robustos e tolerantes a falhas.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a geração de logs para depurar, monitorar e manter aplicações Python.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antecipar e gerenciar cenários de erro em sistemas computacionais.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Entendendo Exceções e seu Tratamento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exceção é um evento inesperado que interrompe o fluxo normal de execução do programa, indicando um erro.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falta de tratamento de uma exceção causa o encerramento abrupto do programa, exibindo uma mensagem de erro ("traceback").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Tratamento de exceções é o mecanismo para gerenciar erros de forma controlada, respondendo a condições excepcionais.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Exceções ocorrem durante a execução do código, diferentemente de erros de sintaxe, detectados antes da execução.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 / 83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Importância da Geração de Logs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geração de logs é essencial para registrar informações detalhadas sobre o comportamento do software.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Logs são cruciais para depurar problemas, monitorar aplicações em produção e identificar gargalos de desempenho.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Juntos, tratamento de exceções e logs são fundamentais para construir softwares confiáveis e fáceis de manter.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Eles fornecem visibilidade sobre o que acontece na aplicação, mesmo após a ocorrência de uma falha.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 / 83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SITUAÇÕES DE ERRO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Exemplos Comuns de Exceções em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ZeroDivisionError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Ocorre ao tentar dividir um número por zero.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IndexError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Gerado quando se tenta acessar um índice inválido de uma sequência (lista, tupla).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ValueError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Acontece na conversão de tipo inválida ou quando um valor tem o tipo correto, mas o conteúdo é inadequado.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FileNotFoundError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levantado quando o arquivo especificado não pode ser encontrado.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16653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653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NameError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Sinaliza que uma variável ou nome não foi definido no escopo atual do programa.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 / 83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do Tratamento de Exceções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tratamento de exceções em Python é realizado principalmente pelos blocos `try`, `except`, `else` e `finally`.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Esses blocos permitem executar um código que pode falhar e, em caso de erro, capturar e gerenciar a exceção de forma controlada.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controle do fluxo do programa pode ser alterado para evitar interrupções abruptas e fornecer feedback adequado.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047857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combinação desses blocos garante robustez e resiliência às aplicações Python.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 / 83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FLUXO DE EXECUÇÃO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com try-except-else-finally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try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Onde o código que pode gerar uma exceção é executado sob monitoramento.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357599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except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599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Recebe o controle imediatamente se uma exceção ocorrer dentro do `try`, lidando com erros genéricos ou específicos.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51190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else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190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Executado somente se nenhuma exceção ocorrer dentro do bloco `try`, ideal para operações dependentes do sucesso.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47809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finally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47809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Sempre executado, independentemente de exceções, perfeito para operações de limpeza e liberação de recursos.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 / 83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 Específica e Genérica de Exceções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programa necessita processar dados numéricos que podem vir de diferentes fontes, incluindo entradas do usuário e conversões.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Gerenciar múltiplas exceções, como erro de divisão por zero (`ZeroDivisionError`) e valores inválidos para conversão (`ValueError` ou `TypeError`), sem interromper a execução.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blocos `try` com `except` específicos para cada tipo de erro e um `except Exception as e:` genérico como "catch-all" para erros não previstos.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16653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programa consegue lidar com diferentes falhas de entrada e cálculo, exibindo mensagens claras ao usuário e evitando o travamento, tornando-o mais robusto.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 / 83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43000"/>
            <a:ext cx="4267093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286000"/>
            <a:ext cx="4267093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4267093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572000"/>
            <a:ext cx="4267093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715000"/>
            <a:ext cx="4267093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DECLARANDO ERROS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749808"/>
            <a:ext cx="1097280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14400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Levantando Suas Próprias Exceções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75488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51206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54864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87133" y="512064"/>
            <a:ext cx="41148" cy="8595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1725" y="457200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palavra-chave `raise` permite forçar a ocorrência de uma exceção em seu próprio código, indicando uma condição de erro específica.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1725" y="1496873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7133" y="1591056"/>
            <a:ext cx="41148" cy="8595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1725" y="1536192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útil para sinalizar que uma condição de erro foi detectada e que o código chamador precisa gerenciá-la.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1725" y="2575865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87133" y="2670048"/>
            <a:ext cx="41148" cy="85953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751725" y="2615184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possível criar classes de exceção personalizadas, herdando da classe base `Exception`, para maior granularidade nos erros reportados.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1725" y="3654857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87133" y="3749040"/>
            <a:ext cx="41148" cy="8595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4751725" y="3694176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Exceções personalizadas aprimoram a clareza e a manutenção do código, permitindo que o tratamento de erros seja mais específico.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 / 83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de Idade com Exceções Customizadas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aplicação precisa validar a idade de um usuário, garantindo que seja um número inteiro e esteja dentro de um intervalo razoável.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uma função de validação que sinalize claramente quando a idade não é um número ou está fora dos limites aceitáveis.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`raise TypeError` para tipos inválidos e `raise ValueError` para valores fora do intervalo (0-120), encapsulando a lógica de validação.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16653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função `validar_idade` agora indica precisamente o motivo da falha de validação, permitindo que o código chamador implemente tratamento de erro adequado para cada caso.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 / 83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Tratamento de exceções e geração de logs são essenciais para softwares robustos e tolerantes a falhas.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Blocos `try`, `except`, `else` e `finally` controlam o fluxo de exceções e garantem a limpeza de recursos.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`raise`permite declarar exceções personalizadas para melhor granularidade no tratamento de erros.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Exceções fornecem um mecanismo eficaz para gerenciar erros durante a execução do programa.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 / 83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Aprendizados-Chave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`try-except` para prever e gerenciar erros em potencial, evitando interrupções inesperadas.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Sempre use `finally` para garantir que recursos sejam liberados, independentemente do sucesso ou falha da operação.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Defina exceções específicas ou personalize exceções para comunicar falhas de maneira mais clara e eficiente.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o tratamento de exceções com a geração de logs para depurar, monitorar e manter suas aplicações Python de forma eficaz.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16653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653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Desenvolva uma mentalidade proativa para antecipar cenários de erro e construir sistemas mais resilientes.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FLASHCOM INDONESIA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7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 Automatizados com `unittest` e Boas Práticas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 o uso do módulo `unittest` para criar testes automatizados eficazes.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e aplicar boas práticas que aumentam a confiabilidade do código em projetos de software.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habilidade de escrever código mais robusto e manutenível para CI/CD.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6A34A"/>
          </a:solidFill>
          <a:ln/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43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286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572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715000"/>
            <a:ext cx="4267093" cy="115214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749808"/>
            <a:ext cx="1097280" cy="10973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14400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Importância dos Testes no Desenvolvimento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75488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51206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54864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87133" y="512064"/>
            <a:ext cx="41148" cy="8595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1725" y="457200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Testar softwares é crucial para garantir que funcionem como esperado sob diversas condições.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1725" y="1496873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7133" y="1591056"/>
            <a:ext cx="41148" cy="8595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1725" y="1536192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 testes, alterações simples podem introduzir bugs que levam a interrupções no serviço e depuração complexa.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1725" y="2575865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87133" y="2670048"/>
            <a:ext cx="41148" cy="85953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751725" y="2615184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testes automatizados são executados repetidamente por um programa sem intervenção manual e são menos propensos a falhas humanas.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1725" y="3654857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87133" y="3749040"/>
            <a:ext cx="41148" cy="8595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4751725" y="3694176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Testes manuais são demorados, exigindo até 40% mais tempo do QA para os mesmos resultados que os testes automatizados.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52 / 83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Benefícios dos Testes Automatizados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Detecção precoce de bugs: Erros são encontrados nas etapas iniciais de desenvolvimento, reduzindo o custo de correção em até 10x.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Confiança na refatoração: Permitem reorganizar o código com segurança, economizando dias de QA manual para validar cada mudança.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Documentação viva: Testes bem escritos servem como exemplos de uso, ilustrando cenários de entrada e saída para novos desenvolvedores.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Melhora da qualidade do código: Promovem design mais limpo, modular e de baixa acoplagem, facilitando a manutenção e a escala.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Redução de custos: Corrigir bugs em produção é significativamente mais caro, gerando perdas de clientes, reputação e recursos de engenharia.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Agilidade no desenvolvimento: Asseguram que novas funcionalidades não quebrem as existentes, acelerando a fase de testes e deployment.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53 / 83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`unitest`: Módulo de Testes do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`unittest` é um módulo integrado do Python para escrever testes automatizados que aderem ao paradigma xUnit.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oferece uma abordagem orientada a objetos para criar e organizar suítes de teste de forma eficiente.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Inspirado no JUnit do Java, é uma ferramenta robusta para garantir a qualidade do código Python.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módulo `unittest` possui todos os componentes necessários para a criação e execução de testes de unidade.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61772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581144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581144"/>
            <a:ext cx="54864" cy="1371600"/>
          </a:xfrm>
          <a:prstGeom prst="rect">
            <a:avLst>
              <a:gd name="adj" fmla="val 166667"/>
            </a:avLst>
          </a:prstGeom>
          <a:solidFill>
            <a:srgbClr val="166534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63600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5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" y="4928616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organização em classes e métodos facilita a manutenção e escalabilidade dos conjuntos de testes.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Shape 36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 / 83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PILARESC DO MÓDULO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 Essenciais do `unittest`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Fixtures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`setUp()` e `tearDown()` preparam o ambiente e realizam a limpeza antes e depois de cada teste.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8164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38164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703924" y="1645920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 de Teste (Test Cases)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38164" y="2048256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56452" y="2121408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Classes que herdam de `unittest.TestCase`, agrupando testes relacionados a uma unidade de funcionalidade.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51560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Asserções (Assertions)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como `assertEqual` ou `assertTrue` verificam condições específicas, determinando se um teste passa ou falha.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816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6338164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6703924" y="4096512"/>
            <a:ext cx="49391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Executores de Teste (Test Runners)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8164" y="4498848"/>
            <a:ext cx="5304892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56452" y="4572000"/>
            <a:ext cx="526831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Componentes que descobrem, executam testes e geram relatórios detalhados sobre os resultados de maneira eficiente.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 / 83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6A34A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11002975" cy="16459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31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Refletir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automação de testes com `unittest` pode mudar o seu processo de desenvolvimento atual?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72384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seriam os principais desafios na implementação de testes automatizados em um projeto legado?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Shape 9"/>
          <p:cNvSpPr/>
          <p:nvPr/>
        </p:nvSpPr>
        <p:spPr>
          <a:xfrm>
            <a:off x="2428189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2018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9677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3506" y="6400800"/>
            <a:ext cx="1842973" cy="1097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5775" y="6693408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7215" y="66385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testes automatizados são fundamentais para a qualidade e manutenção do software.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módulo `unittest` do Python oferece uma estrutura completa e orientada a objetos para a criação de testes de unidade.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Conceitos como fixtures, test cases e assertions são pilares para a construção de testes eficazes com `unittest`.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utilização de diferentes asserções permite verificar variados estados do sistema sob teste, validando seu comportamento.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 / 83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Aprendizados-Chave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Testes automatizados reduzem custos e aumentam a confiança na refatoração de código.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`unittest` é uma ferramenta nativa e poderosa do Python para escrita de testes.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Entender fixtures, test cases e assertions é crucial para utilizar o `unittest` eficazmente.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asserção correta é vital para garantir que o comportamento esperado seja verificado com precisão.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16653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653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aplicação de boas práticas de teste contribui para a elevação da qualidade geral do projeto e a agilidade nas entregas.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Aalo Lens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023540" cy="11521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 Final: Construindo e Distribuindo um Utilitário Python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Projetar e codificar um utilitário Python funcional do zero.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50474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50017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Empacotar e gerenciar dependências de projetos Python profissionalmente.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5046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458968"/>
            <a:ext cx="5291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Publicar e distribuir utilitários Python no PyPI para uso da comunidade.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Entendendo os Utilitários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utilitário Python é um programa focado em automatizar ou simplificar tarefas específicas.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 ser um script de organização, um conversor de unidades ou uma ferramenta de linha de comando.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do utilitário para o projeto final permite aplicar conhecimentos em algo de interesse pessoal.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ciclo de desenvolvimento vai da concepção à distribuição, tornando o código acessível.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" y="5815584"/>
            <a:ext cx="91440" cy="9144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5495544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como `setuptools` e `PyPI` são padrão para a distribuição em Python.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 / 83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COMEÇAR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e Planejamento do Utilitário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22409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 a ser resolvido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679192"/>
            <a:ext cx="2240966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Determine a necessidade específica que o utilitário irá suprir de forma clara e mensurável, garantindo relevância e foco.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3575990" y="2221992"/>
            <a:ext cx="22409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Funcionalidades principais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5990" y="2679192"/>
            <a:ext cx="2240966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 as ações essenciais que o utilitário deve ser capaz de executar, definindo seu escopo.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511900" y="2221992"/>
            <a:ext cx="22409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Interfaces (Entrada/Saída)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1900" y="2679192"/>
            <a:ext cx="2240966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Defina como o usuário interage, configurando `argparse` para argumentos de linha de comando.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47809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Dependências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47809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bibliotecas externas como `requests` ou `pandas`, listando-as em `requirements.txt` ou `pyproject.toml`.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 / 83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 CÓDIGO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Práticas na Codificação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Modularização: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Divida o código em funções e módulos para clareza, reusabilidade e facilitar a manutenção.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Tratamento de Erros: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blocos `try-except` para gerenciar situações inesperadas, prevenindo falhas abruptas.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Documentação (Docstrings):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Inclua docstrings para explicar a finalidade de cada função, facilitando a compreensão do código.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047857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Testes (Opcional):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Escreva testes unitários com `unittest` ou `pytest` para verificar a correção funcional e garantir a confiabilidade.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 / 83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PREPARANDO PARA DISTRIBUIÇÃO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Empacotamento de Utilitários Python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Pacote Python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diretório com seu código-fonte e um arquivo vazio `__init__.py`.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`setup.py`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Script tradicional para descrever o projeto com `setuptools` e instruir o empacotamento.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`requirements.txt`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 explícita das dependências (com versões exatas) para reprodução do ambiente.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`pyproject.toml`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Padrão moderno que centraliza configurações de empacotamento e ferramentas, substituindo `setup.py`.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16653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653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`README.md`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 em Markdown com descrição, instruções de instalação e exemplos de uso.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 / 83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D94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DISTRIBUIÇÃO PROFISSIONAL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Publicação e Atualização do Utilitário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711403" y="1545336"/>
            <a:ext cx="21946" cy="486460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7942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7942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" y="1453896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" y="1417320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" y="1417320"/>
            <a:ext cx="45720" cy="961949"/>
          </a:xfrm>
          <a:prstGeom prst="rect">
            <a:avLst>
              <a:gd name="adj" fmla="val 120000"/>
            </a:avLst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1152144" y="1435608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PyPI (Python Package Index)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2144" y="1789810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Repositório oficial para hospedar pacotes Python, permitindo `pip install`.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2351837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" y="2814523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1452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4128" y="2488997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696" y="2452421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996696" y="2452421"/>
            <a:ext cx="45720" cy="961949"/>
          </a:xfrm>
          <a:prstGeom prst="rect">
            <a:avLst>
              <a:gd name="adj" fmla="val 120000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1152144" y="2470709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TestPyPI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144" y="2824911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Instância de teste para simular o upload e verificar a instalação antes da publicação oficial, validando o processo.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" y="338693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" y="384962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24128" y="35240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996696" y="34875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0" name="Shape 28"/>
          <p:cNvSpPr/>
          <p:nvPr/>
        </p:nvSpPr>
        <p:spPr>
          <a:xfrm>
            <a:off x="996696" y="3487522"/>
            <a:ext cx="45720" cy="961949"/>
          </a:xfrm>
          <a:prstGeom prst="rect">
            <a:avLst>
              <a:gd name="adj" fmla="val 120000"/>
            </a:avLst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1152144" y="3505810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`twine`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2144" y="3860012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 para upload seguro de pacotes gerados para PyPI ou TestPyPI, com autenticação robusta.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" y="442203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4360" y="4884725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47857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88472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24128" y="45591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96696" y="45226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96696" y="4522622"/>
            <a:ext cx="45720" cy="961949"/>
          </a:xfrm>
          <a:prstGeom prst="rect">
            <a:avLst>
              <a:gd name="adj" fmla="val 120000"/>
            </a:avLst>
          </a:prstGeom>
          <a:solidFill>
            <a:srgbClr val="047857"/>
          </a:solidFill>
          <a:ln/>
        </p:spPr>
      </p:sp>
      <p:sp>
        <p:nvSpPr>
          <p:cNvPr id="39" name="Text 37"/>
          <p:cNvSpPr/>
          <p:nvPr/>
        </p:nvSpPr>
        <p:spPr>
          <a:xfrm>
            <a:off x="1152144" y="4540910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Versão (Git)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52144" y="4895112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Indispensável para rastrear alterações, reverter versões e colaborar eficientemente em projetos.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13232" y="5457139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4360" y="591982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66534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591982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24128" y="5594299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996696" y="5557723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46" name="Shape 44"/>
          <p:cNvSpPr/>
          <p:nvPr/>
        </p:nvSpPr>
        <p:spPr>
          <a:xfrm>
            <a:off x="996696" y="5557723"/>
            <a:ext cx="45720" cy="961949"/>
          </a:xfrm>
          <a:prstGeom prst="rect">
            <a:avLst>
              <a:gd name="adj" fmla="val 120000"/>
            </a:avLst>
          </a:prstGeom>
          <a:solidFill>
            <a:srgbClr val="166534"/>
          </a:solidFill>
          <a:ln/>
        </p:spPr>
      </p:sp>
      <p:sp>
        <p:nvSpPr>
          <p:cNvPr id="47" name="Text 45"/>
          <p:cNvSpPr/>
          <p:nvPr/>
        </p:nvSpPr>
        <p:spPr>
          <a:xfrm>
            <a:off x="1152144" y="5576011"/>
            <a:ext cx="10582351" cy="3724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Versionamento Semântico (SemVer)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52144" y="5930213"/>
            <a:ext cx="10582351" cy="568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Convenção `MAJOR.MINOR.PATCH` para gerenciar e comunicar padronizadamente as mudanças de versão.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61 / 83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Utilitário de Organização de Arquivos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usuário tem uma pasta de downloads com centenas de arquivos de diferentes tipos misturados.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7857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047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478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Organizar esses arquivos automaticamente em subpastas baseadas em suas extensões, como 'Imagens', 'Documentos', 'Executáveis'.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803D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um utilitário Python que percorre o diretório, identifica o tipo de arquivo pela extensão e move cada um para a pasta correspondente, criando-as se necessário.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653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16653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pasta de downloads é mantida organizada, economizando tempo do usuário e evitando a desordem, com o utilitário disponível para outros via PyPI.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62 / 83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Comuns no Projeto Final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GERENCIAMENTO DE DEPENDÊNCIAS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58952" y="164592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que todas as dependências estejam corretamente listadas e suas versões compatíveis.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257860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4203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4203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57860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DOCUMENTAÇÃO INCOMPLETA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58952" y="274320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falta de um `README.md` claro e docstrings adequadas pode dificultar o uso e a manutenção.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67588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63931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63931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367588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ERROS NO EMPACOTAMENTO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8952" y="384048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Configurações incorretas em `setup.py` ou `pyproject.toml` podem impedir a construção do pacote.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" y="477316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73659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73659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" y="477316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PROBLEMAS NA PUBLICAÇÃO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58952" y="493776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Falhas durante o upload para PyPI, muitas vezes por falta de testes prévios no TestPyPI.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63 / 83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projeto final visa construir, empacotar e distribuir um utilitário Python funcional para o PyPI.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544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883664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etapas incluem definição do problema, planejamento de funcionalidades e escolha de interfaces e dependências.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Boas práticas de codificação como modularização, tratamento de erros e documentação são essenciais.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35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364992"/>
            <a:ext cx="52134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empacotamento envolve criação de pacote, `setup.py` ou `pyproject.toml`, `requirements.txt` e `README.md`.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 / 83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Aprendizados-Chave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5803D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claramente o problema e as funcionalidades antes de codificar garante um utilitário focado e relevante.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modularização e o tratamento de erros são cruciais para a criação de códigos robustos e de fácil manutenção.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documentação com docstrings e um `README.md` detalhado facilita o uso e a colaboração no seu projeto.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47857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empacotamento correto com `pyproject.toml` ou `setup.py` é fundamental para tornar seu utilitário distribuível.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16653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653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Publicar no PyPI via `twine` e testar no TestPyPI são os passos finais para compartilhar sua ferramenta com a comunidade.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80268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128455" y="6053328"/>
            <a:ext cx="2788920" cy="621792"/>
          </a:xfrm>
          <a:prstGeom prst="roundRect">
            <a:avLst>
              <a:gd name="adj" fmla="val 7353"/>
            </a:avLst>
          </a:prstGeom>
          <a:solidFill>
            <a:srgbClr val="000000">
              <a:alpha val="6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822960"/>
            <a:ext cx="45720" cy="3474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822960"/>
            <a:ext cx="13716" cy="3474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Shape 5"/>
          <p:cNvSpPr/>
          <p:nvPr/>
        </p:nvSpPr>
        <p:spPr>
          <a:xfrm>
            <a:off x="1097280" y="1188720"/>
            <a:ext cx="2743200" cy="1371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1645920"/>
            <a:ext cx="6705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6800" dirty="0"/>
          </a:p>
        </p:txBody>
      </p:sp>
      <p:sp>
        <p:nvSpPr>
          <p:cNvPr id="10" name="Shape 7"/>
          <p:cNvSpPr/>
          <p:nvPr/>
        </p:nvSpPr>
        <p:spPr>
          <a:xfrm>
            <a:off x="1097280" y="3703320"/>
            <a:ext cx="496824" cy="548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Shape 8"/>
          <p:cNvSpPr/>
          <p:nvPr/>
        </p:nvSpPr>
        <p:spPr>
          <a:xfrm>
            <a:off x="1584960" y="3703320"/>
            <a:ext cx="496824" cy="548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Shape 9"/>
          <p:cNvSpPr/>
          <p:nvPr/>
        </p:nvSpPr>
        <p:spPr>
          <a:xfrm>
            <a:off x="2072640" y="3703320"/>
            <a:ext cx="496824" cy="548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3703320"/>
            <a:ext cx="496824" cy="548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Shape 11"/>
          <p:cNvSpPr/>
          <p:nvPr/>
        </p:nvSpPr>
        <p:spPr>
          <a:xfrm>
            <a:off x="3048000" y="3703320"/>
            <a:ext cx="496824" cy="548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Shape 12"/>
          <p:cNvSpPr/>
          <p:nvPr/>
        </p:nvSpPr>
        <p:spPr>
          <a:xfrm>
            <a:off x="3535680" y="3703320"/>
            <a:ext cx="496824" cy="548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3931920"/>
            <a:ext cx="6095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de introdução à Programação em Python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97280" y="4663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700" kern="0" dirty="0">
                <a:solidFill>
                  <a:srgbClr val="15803D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631375" y="6355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C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março de 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Vitaly Gariev / Unsplash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introdução à Programação em Python</dc:title>
  <dc:subject>PptxGenJS Presentation</dc:subject>
  <dc:creator>EduGenAI v3</dc:creator>
  <cp:lastModifiedBy>EduGenAI v3</cp:lastModifiedBy>
  <cp:revision>1</cp:revision>
  <dcterms:created xsi:type="dcterms:W3CDTF">2026-03-13T03:13:19Z</dcterms:created>
  <dcterms:modified xsi:type="dcterms:W3CDTF">2026-03-13T03:13:19Z</dcterms:modified>
</cp:coreProperties>
</file>