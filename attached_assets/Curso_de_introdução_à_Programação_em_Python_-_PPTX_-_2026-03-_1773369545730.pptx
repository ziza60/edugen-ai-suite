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80268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28455" y="6053328"/>
            <a:ext cx="2788920" cy="621792"/>
          </a:xfrm>
          <a:prstGeom prst="roundRect">
            <a:avLst>
              <a:gd name="adj" fmla="val 7353"/>
            </a:avLst>
          </a:prstGeom>
          <a:solidFill>
            <a:srgbClr val="000000">
              <a:alpha val="6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1828800"/>
            <a:ext cx="633968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Curso de introdução à Programação em Python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1097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15544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20116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4688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29260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3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097280" y="5321808"/>
            <a:ext cx="109728" cy="10972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Text 15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Ravindra Dhiman / Unsplash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1/2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5501488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699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Primeiros Passos com Python e Fundamentos da Programação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Primeiros Passos com Python e Fundamentos da Programação 🎯 Objetivo do Módulo Compreender 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59736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03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Essenciais e Manipulação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Estruturas de Dados Essenciais e Manipulação 🎯 Objetivo do Módulo Compreender as característi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310128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5707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707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3467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Funções, Módulos e Organização de Código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46704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Funções, Módulos e Organização de Código 🎯 Objetivo do Módulo Compreender a importância de fu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4211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4211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41970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Formatos de Dados (CSV, JSON)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197096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Manipulação de Arquivos e Formatos de Dados (CSV, JSON) 🎯 Objetivo do Módulo Compreender a im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010912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7151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2715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50474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 Orientada a Objetos (POO) com Python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047488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Programação Orientada a Objetos (POO) com Python 🎯 Objetivo do Módulo Entender os conceitos 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5861304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61219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1219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5897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Tratamento de Exceções e Geração de Logs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589788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Exceções e Geração de Logs 🎯 Objetivo do Módulo Aplicar o tratamento de exceçõe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2/2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699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 Automatizados com `unittest` e Boas Práticas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Automatizados com unittest e Boas Práticas 🎯 Objetivo do Módulo Dominar o uso do módul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59736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03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Final: Construindo e Distribuindo um Utilitário 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 Final: Construindo e Distribuindo um Utilitário Python 🎯 Objetivo do Módulo Projetar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Samuel Weissgerber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Primeiros Passos com Python e Fundamentos da Programação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fundamentais da programação e o papel de Python.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um ambiente de desenvolvimento eficiente para programação em Python.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e executar seu primeiro programa Python com sucesso.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Programação e Linguagens de Alto Nível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Programação é a arte de instruir um computador para executar tarefas específicas.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programa de computador é uma sequência lógica de instruções processáveis pela máquina.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Linguagens de programação de alto nível, como Python, facilitam a escrita de código para humanos.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Interpretadores ou compiladores traduzem o código de alto nível para binário, compreendido pelo computador.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 DO PYTHON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Escolher Python para Programar?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Sintaxe Clara e Legível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estrutura elegante de Python simplifica a leitura e o aprendizado de iniciantes.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Versatilidade Ilimitada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se aplica em web, análise de dados, IA, automação e scripts de sistema.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 Ativa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vastos recursos, pacotes (PyPI), documentação e fóruns de suporte global.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Demanda no Mercado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com Python são requisitados em diversas indústrias de tecnologia e finanças.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 Aberto e Gratuito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é de uso livre sob licença PSF, promovendo desenvolvimento colaborativo.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85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COMEÇAR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Configurando o Ambiente de Desenvolvimento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interpretador Python é essencial para executar qualquer código escrito na linguagem.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IDE ou Editor de Código oferece uma interface amigável para escrever e gerenciar seus arquivos.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de um bom editor de código otimiza a produtividade e a experiência de programação.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instalação correta de Python e a configuração do ambiente são a base para o desenvolvimento.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85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PASSO A PASSO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Instalação do Python em Diferentes Sistemas Operacionais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Windows: Baixar o instalador em python.org, marcando 'Add Python to PATH' durante a instalação para acesso via terminal.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Windows: Verificar a instalação digitando `python --version` ou `py --version` no Prompt de Comando.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macOS: Usar o Homebrew (`brew install python`) no Terminal para instalar a versão mais recente com gerenciamento de PATH.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macOS: Confirmar a instalação executando `python3 --version` no Terminal para a versão correta.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(Ubuntu/Debian): Python 3 geralmente vem pré-instalado; atualizar com `sudo apt update` e `sudo apt install python3 python3-pip`.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(Ubuntu/Debian): Verificar a instalação com o comando `python3 --version` para exibir a versão instalada.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85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RECOMENDADA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Code: Seu Editor de Código Essencial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VS Code é leve, rápido e extensível, sendo uma ótima opção para iniciantes em programação.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Instale o VS Code baixando-o do site oficial e marcando a opção 'Adicionar ao PATH' na instalação.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extensão 'Python' da Microsoft oferece funcionalidades cruciais como linting e depuração.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Extensões como 'Pylance' e 'Jupyter' aprimoram a análise de código e o trabalho com notebooks Python.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Executando seu Primeiro Programa Python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estudante precisa validar a configuração de Python e VS Code após a instalação inicial.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Escrever e executar um programa Python simples que exiba uma saudação customizada no terminal.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estudante cria um arquivo `saudacao.py` no VS Code, adiciona uma instrução print() e o executa via terminal integrado.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mensagem '🎉 Olá, Pythonista Iniciante! Seu ambiente está funcionando! 🎉' é exibida no terminal, confirmando o sucesso da configuração.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Comuns na Configuração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ADICIONAR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ao PATH pode causar erros de 'comando não encontrado' no terminal.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57860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4203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57860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INSTALAR MÚLTIPLAS VERSÕES DO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74320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sem um gerenciador de ambientes virtuais pode gerar conflitos.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67588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63931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3931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67588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Esquecer de instalar as extensões do VS Code para Python limita funcionalidades como autocompletar e depuração.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" y="477316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73659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73659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" y="477316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Ignorar o passo de verificação da instalação pode resultar em tempo perdido depurando problemas de ambiente.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B82F6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você pode aplicar a lógica de programação em problemas do seu dia a dia, mesmo fora da computação?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outras ferramentas ou conceitos você imagina que seriam úteis para a programação, além do Python e VS Code?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programação envolve dar instruções a computadores para resolver problemas usando linguagens como Python.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se destaca pela sintaxe clara, versatilidade e forte comunidade, sendo ideal para diversas aplicações.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configuração do ambiente Python requer a instalação do interpretador e de um editor como o VS Code.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testar a instalação para garantir que tudo funcione corretamente antes de avançar.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programação é a ponte entre problemas do mundo real e soluções computacionais, com Python sendo uma linguagem poderosa para isso.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sintaxe de Python é projetada para ser legível e intuitiva, facilitando o aprendizado para iniciantes, o que impulsiona sua popularidade.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o ambiente com o interpretador Python e o VS Code é o primeiro passo crucial para iniciar sua jornada de programação.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verifique a instalação executando um programa simples para confirmar que o ambiente está totalmente funcional.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prática contínua e a experimentação são fundamentais para solidificar o conhecimento em programação e resolver desafios.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ThisisEngineering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Essenciais e Manipulação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características e funcionalidades das estruturas de dados básicas em Python.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manipular listas, tuplas, conjuntos e dicionários.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a estrutura de dados mais adequada para resolver problemas de armazenamento e organização de dados.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BÁSICOS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das Estruturas de 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Estruturas de dados são formas organizadas de armazenar e gerenciar informações.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estrutura de dados é crucial para a eficiência e funcionalidade dos programas.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estas estruturas permite ao programador resolver problemas complexos.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possível resolver problemas complexos de forma mais elegante e eficiente.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85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TIPOS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 de Estruturas de Dados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228027"/>
                <a:gridCol w="2228027"/>
                <a:gridCol w="2228027"/>
                <a:gridCol w="2228027"/>
                <a:gridCol w="2228027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Listas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Tuplas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Conjuntos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Dicionários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Mantém ordem de inserção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Mantém ordem de inserção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há ordem definida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Ordem de inserção mantida (Py 3.7+)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Mutabilidade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Mutável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Imutável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Mutável (elementos podem ser add/rem)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Mutável (pares chave-valor podem ser alt.)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Duplicatas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Permitem itens duplicados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Permitem itens duplicados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Exigem itens únicos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Chaves devem ser únicas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Sintaxe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[]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{} ou set()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{chave: valor}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85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Principal das Estruturas de 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Coleções flexíveis e dinâmicas, ideais para dados que mudam frequentemente.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Tuplas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Usadas para dados fixos ou constantes que não devem ser alterados após a criação.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Conjuntos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Perfeitos para controle de unicidade de itens e operações de conjunto (união, intersecção).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Dicionários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Essenciais para mapeamento de dados por chaves, oferecendo acesso rápido a valores.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Listas (Lists): Coleção Ordenada e Mutável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estruturas versáteis, sendo ordenadas e mutáveis.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permitem duplicatas e podem conter itens de diferentes tipos (heterogêneas).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definidas com colchetes `[]` e itens separados por vírgula.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acesso a elementos é feito por indexação (`lista[0]`) ou fatiamento (`lista[1:5]`).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COM LISTAS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Listas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43661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7086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708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Adicionar elementos usando `.append(item)` para o final ou `.insert(indice, item)` para posições específicas.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571293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34717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34717"/>
            <a:ext cx="45720" cy="943661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86938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86938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562149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Concatenar listas com `.extend(outra_lista)`.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569818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533242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533242"/>
            <a:ext cx="45720" cy="943661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3867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560674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Remover a primeira ocorrência de um valor com `.remove(valor)`.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568342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31766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31766"/>
            <a:ext cx="45720" cy="943661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486643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486643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559198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Remover e retornar um item por índice com `.pop(indice)`.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1792" y="5566867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530291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5530291"/>
            <a:ext cx="45720" cy="943661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" y="586496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58649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9848" y="5557723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Deletar itens por índice ou fatiamento usando `del`.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Limpar todos os elementos da lista com `.clear()`.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Modificar um elemento reatribuindo um valor a um índice específico.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Obter o número de elementos com `len(lista)`.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329020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301588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61" name="Shape 59"/>
          <p:cNvSpPr/>
          <p:nvPr/>
        </p:nvSpPr>
        <p:spPr>
          <a:xfrm>
            <a:off x="6301588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6429604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429604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777076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Ordenar a lista no local com `.sort()`, ou obter uma nova lista ordenada com `sorted(lista)`.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6" name="Shape 6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9" name="Shape 6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1" name="Shape 6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72" name="Text 7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85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Gerenciamento de Tarefas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aplicação precisa gerenciar uma lista de tarefas a fazer.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Adicionar, remover, marcar como concluída e exibir as tarefas de forma dinâmica.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uma lista, pois ela permite modificações fáceis. Adicionar tarefas com `append()`, remover com `remove()` e atualizar status por índice.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flexível que pode gerenciar as tarefas do usuário intuitivamente, adaptando-se às mudanças de estado.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CARACTERÍSTICAS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Tuplas (Tuples): Coleção Ordenada e Imutável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são coleções ordenadas de elementos que, uma vez criadas, não podem ser alteradas.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permitem duplicatas e podem conter itens de diferentes tipos, assim como as listas.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são definidas usando parênteses `()` e elementos separados por vírgulas.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tuplas de um único item, uma vírgula é essencial: `('item', )`.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QUE USAR TUPLAS?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e Usos das Tuplas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Garantem segurança de dados, pois a imutabilidade protege informações constantes.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Oferecem ligeira vantagem de performance para dados estáticos, otimizando o armazenamento.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Podem ser usadas como chaves em dicionários, ao contrário das listas, devido à sua imutabilidade.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Sinalizam que o conteúdo é fixo, atuando como um contrato para a estabilidade dos dados.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PROPRIEDADES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Conjuntos (Sets): Coleção de Itens Únicos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coleções não ordenadas de elementos únicos.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um item duplicado for adicionado, ele é automaticamente ignorado.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mutáveis, permitindo adicionar ou remover elementos após a criação.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itens internos de um conjunto devem ser imutáveis (números, strings, tuplas).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85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estruturas de dados são fundamentais para organizar e manipular informações em Python.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coleções ordenadas e mutáveis, ideais para dados dinâmicos e flexíveis.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são coleções ordenadas e imutáveis, perfeitas para dados constantes e garantia de integridade.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coleções não ordenadas de itens únicos, úteis para operações de unicidade e matemática de conjuntos.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a estrutura de dados correta para otimizar o desempenho e a clareza do seu código.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listas para coleções de itens que precisam ser modificados, adicionados ou removidos frequentemente.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Prefira tuplas para dados que não devem mudar, garantindo a integridade e estabilidade das informações.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conjuntos para gerenciar coleções onde a unicidade dos elementos é prioritária, evitando duplicatas automaticamente.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Familiarize-se com as operações básicas (adicionar, remover, acessar) de cada estrutura para manipulá-las eficientemente.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Moein Ghezelbash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Funções, Módulos e Organização de Código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importância de funções, módulos e boa organização do código.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criar e utilizar funções eficientes em Python.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princípios de modularização para construir programas mais organizados e reutilizáveis.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Programação Eficaz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programação eficaz baseia-se na organização e reutilização do código.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permite construir sistemas mais robustos e fáceis de manter a longo prazo.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são blocos de código que executam tarefas específicas, promovendo reutilização.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agrupam funções, variáveis e classes relacionadas em arquivos separados para organização.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Benefícios das Funções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Reutilização de Código (DRY)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 lógicas comuns para chamá-las em múltiplos pontos de um script ou aplicação, evitando repetição.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Organização e Clareza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o programa em partes menores e mais semânticas, facilitando a compreensão do fluxo lógico.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Manutenção Facilitada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que correções ou melhorias sejam feitas em apenas um ponto, propagando-se automaticamente para todas as chamadas.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Modularidade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o desenvolvimento e teste independente de diferentes componentes do sistema.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Benefícios dos Módulos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Organização Lógica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Agrupa funcionalidades semanticamente relacionadas em um único arquivo, facilitando sua localização e gestão.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Reusabilidade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que conjuntos de funcionalidades complexas sejam facilmente importados e utilizados em outros projetos, economizando tempo.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Resolução de Conflitos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colisões de nomes entre funções ou variáveis com o mesmo identificador, garantindo unicidade.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Colaboração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o trabalho em equipe ao permitir que desenvolvedores trabalhem em arquivos distintos, minimizando conflitos.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de Funções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são definidas usando a palavra-chave `def`, seguida do nome e parênteses para parâmetros opcionais.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corpo da função é sempre indentado, indicando o bloco de código que pertence a ela.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declaração `return` é opcional e serve para enviar um valor de volta ao ponto de chamada da função.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Docstrings, que são strings de documentação, são recomendadas após a definição para explicar o propósito da função.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BÁSICA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Componentes de uma Função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`def`: Palavra-chave obrigatória que indica o início da definição de uma nova função.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`nome_da_funcao`: Identificador único que deve descrever a ação da função, seguindo a convenção `snake_case`.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`parametro1`, `parametro2`: Variáveis que recebem os valores passados como argumentos, com escopo restrito ao corpo da função.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`:`: Delimita o cabeçalho da função e marca o início do bloco de código indentado.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`return`: Declara o valor que a função enviará de volta ao ponto de sua chamada, podendo ser qualquer tipo de dado Python.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Docstring: Uma string de múltiplas linhas que descreve a função, seus parâmetros e o que ela retorna.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85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Definição de Função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necessidade de calcular a área de um círculo em diversas partes de um programa.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Evitar a repetição do cálculo da área π * r² cada vez que for necessário.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uma função `calcular_area_circulo(raio)` que encapsule essa lógica de cálculo.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código se tornou mais limpo, organizado e o cálculo da área pode ser reutilizado com uma única chamada, como `utilitarios.calcular_area_circulo(5)`.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PARAMETRIZAÇÃO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Argumentos de Função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Tipo de Argumento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Característica Principal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Exemplo de Uso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Argumentos Padrão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Parâmetros com valores pré-definidos que podem ser omitidos na chamada.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Facilita funções com comportamentos comuns, mas flexíveis, como `enviar_notificacao(mensagem, tipo='email')`.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Argumentos de Palavra-Chave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Passagem de argumentos usando o nome do parâmetro explicitamente.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Aumenta a legibilidade e permite alterar a ordem dos argumentos na chamada, como `registrar_usuario(email='...', nome='.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85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PASSO A PASSO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Criação e Uso de Módulos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do Módulo: Crie um arquivo `.py` (ex: `utilitarios.py`) contendo funções, variáveis e classes relacionadas.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de Conteúdo: Dentro do módulo, defina o código que será agrupado, como `PI = 3.14159` e `def calcular_area_circulo(raio):`.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Importação em Outro Arquivo: Em outro arquivo Python (ex: `app.py`), use a instrução `import` para carregar o módulo, como `import utilitarios`.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Acesso às Funcionalidades: Acesse as funcionalidades do módulo usando a sintaxe `nome_do_modulo.item`, por exemplo, `utilitarios.calcular_area_circulo(5)`.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85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Cuidados na Modularização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criar módulos excessivamente grandes ou com responsabilidades misturadas para manter a coesão.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257860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4203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57860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Garanta que os nomes de funções e variáveis dentro de módulos sejam descritivos para facilitar a compreensão.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367588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63931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63931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367588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Considere o impacto de ciclos de importação (A importa B, B importa A) que podem causar erros em projetos maiores.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477316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73659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73659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773168"/>
            <a:ext cx="108658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Documente adequadamente seu código e módulos para que outros desenvolvedores possam utilizá-los facilmente.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85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B82F6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utilização de funções e módulos pode impactar a escalabilidade de um projeto de software que você já conhece?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seriam as desvantagens de não modularizar um projeto Python complexo, especialmente em um ambiente de equipe?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são blocos de código reutilizáveis que promovem organização, clareza e fácil manutenção do código.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são arquivos Python que agrupam funcionalidades relacionadas, facilitando a reutilização e colaboração em projetos.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definição de funções usa `def` com parâmetros opcionais e um corpo indentado que pode retornar um valor.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criação de módulos envolve agrupar código em arquivos `.py` e importá-los para uso em outros scripts.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funções para encapsular lógicas específicas e promover o princípio DRY (Don't Repeat Yourself).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módulos para agrupar funcionalidades relacionadas, organizando o código em arquivos lógicos.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Aprenda a passar diferentes tipos de argumentos para funções para criar comportamentos flexíveis e claros.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modularização resulta em códigos mais legíveis, fáceis de manter e escaláveis, essenciais para projetos complexos.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documente suas funções e módulos para garantir a compreensão e reusabilidade por você e sua equipe.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Arthur Tseng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Formatos de Dados (CSV, JSON)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importância da manipulação de arquivos para a persistência de dados em aplicações Python.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os módulos `csv` e `json` do Python para ler e gravar dados em arquivos, convertendo para e de estruturas de dados nativas.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conhecimento em cenários práticos que envolvem a troca de dados entre sistemas, configuração de aplicações e armazenamento de logs.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Manipulação de Arquivos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manipulação de arquivos permite a um programa ler informações e escrever dados, persistindo-os além da execução do programa.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para o desenvolvimento de software robusto, possibilitando a manutenção e troca de dados entre diferentes execuções e sistemas.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função `open()` em Python exige o nome do arquivo e o modo de abertura (`r`, `w`, `a`, `x`).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instrução `with open(...) as arquivo:` garante o fechamento automático do arquivo, prevenindo vazamentos de recursos e corrupção.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CONCEITUAIS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Importância da Manipulação de Arquivos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Persistência de Dados: Armazena dados de forma permanente no disco, retendo informações entre diferentes execuções do programa.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Troca de Dados: Facilita a comunicação e o compartilhamento de informações entre diferentes programas ou sistemas, garantindo interoperabilidade.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de Dados Massivos: Essencial para manipular grandes volumes de dados que excedem a capacidade da memória RAM do sistema.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Logs de Servidores: Permite registrar eventos do sistema, erros e atividades para posterior auditoria e depuração.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Bases de Dados Exportadas: Permite a leitura de dados exportados em formatos como CSV para processamento e análise.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Configuração de Sistemas: Arquivos, como JSON ou YAML, definem o comportamento de um programa sem alterar o código-fonte principal.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85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COMPARAÇÃO DE MODOS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Modos de Abertura de Arquivos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785034"/>
                <a:gridCol w="2785034"/>
                <a:gridCol w="2785034"/>
                <a:gridCol w="278503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Modo 'r' (Read)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Modo 'w' (Write)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Modo 'a' (Append)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Ação Principal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Lê conteúdo do início ao fim, sem modificações no arquivo.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Escreve conteúdo, iniciando do zero ou sobrescrevendo todo o existente.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Adiciona conteúdo ao final do arquivo existente, mantendo o conteúdo anterior.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Arquivo Existente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Levanta `FileNotFoundError` se o arquivo não for encontrado.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 conteúdo do arquivo existente é truncado, ou seja, apagado completamente.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Adiciona os novos dados no final do arquivo sem apagar o conteúdo prévio.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Arquivo Novo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cria o arquivo se ele não existir no caminho especificado.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um novo arquivo vazio caso ele não exista no local indicado.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um novo arquivo vazio se o arquivo não existir para adicionar dados.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Uso Comum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Leitura de arquivos de dados ou configuração já existentes.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Criação de novos arquivos de saída ou reescrita completa de logs.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Atualização de logs, registro de eventos ou adição de informações a um arquivo existente.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85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Escrita e Leitura em Arquivos de Texto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901598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80411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80411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instrução `with open(...) as arquivo: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 garante o fechamento automático do recurso, mesmo em caso de erros ou exceções.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55666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008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20086"/>
            <a:ext cx="54864" cy="901598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28154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81543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54751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`arquivo.write(string)` escreve uma string no arquivo, necessitando de `\n` para quebra de linha manual.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3567989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31413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31413"/>
            <a:ext cx="54864" cy="901598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38267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26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3558845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`arquivo.writelines(lista_de_strings)` escreve uma lista de strings, onde cada string deve conter sua quebra de linha.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4579315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42739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42739"/>
            <a:ext cx="54864" cy="901598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48380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838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4570171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`arquivo.read()` lê todo o conteúdo do arquivo como uma única string, ideal para arquivos pequenos.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559064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55406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554066"/>
            <a:ext cx="54864" cy="901598"/>
          </a:xfrm>
          <a:prstGeom prst="rect">
            <a:avLst>
              <a:gd name="adj" fmla="val 133333"/>
            </a:avLst>
          </a:pr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952" y="584941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584941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97864" y="558149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`for linha in arquivo: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 permite ler o arquivo linha por linha de forma eficiente, sem carregar tudo na memória.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85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Registro de Eventos Diários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precisa registrar os eventos diários de uma aplicação em um arquivo de log, sem perder os registros anteriores.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adicionar novas entradas ao arquivo de log de forma segura e eficiente, garantindo que o conteúdo existente seja preservado?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Utiliza-se o modo de abertura `'a'` (append) com a instrução `with open(...)` para garantir que novas informações sejam adicionadas ao final do arquivo, e que o arquivo seja fechado corretamente.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conseguiu manter um histórico completo dos eventos, adicionando novas entradas ao final do arquivo de log sem sobrescrever dados importantes.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B82F6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seria a implicação de não usar `with open(...)` ao manipular arquivos e quais riscos isso poderia trazer para a integridade dos dados?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que situações o uso de `arquivo.read()` seria mais apropriado do que iterar sobre o arquivo linha por linha, e vice-versa?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manipulação de arquivos é essencial para persistência, troca e processamento de dados em Python, usando `open()` e `with open()`.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modos de abertura (`r`, `w`, `a`, `x`) controlam a forma como o Python interage com os arquivos.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como `write()`, `writelines()`, `read()`, `readline()` e iteração direta permitem manipular o texto dos arquivos.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do método e modo correto depende da necessidade: escrever do zero, anexar, ler tudo ou ler linha a linha.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utilize `with open(...)` para garantir o fechamento automático e seguro de arquivos, prevenindo corrupção de dados.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o modo de abertura (`r`, `w`, `a`, `x`) apropriado para sua tarefa, compreendendo suas implicações na existência e conteúdo dos arquivos.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escrever, `write()` adiciona strings e `writelines()` aceita listas, mas lembre-se de incluir `\n` para quebras de linha desejadas.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ler, `read()` obtém todo o conteúdo, `readline()` uma linha e a iteração direta (`for linha in arquivo:`) é ideal para eficiência e economia de memória.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manipulação de arquivos é a base para interagir com dados externos, sendo crucial para a construção de aplicações robustas e escaláveis.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Zulfugar Karimov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 Orientada a Objetos (POO) com Python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os conceitos fundamentais da Programação Orientada a Objetos (POO).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criar classes e objetos em Python, definindo seus atributos e métodos.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os princípios da POO para desenvolver código mais organizado e reutilizável.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BÁSICOS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Programação Orientada a Objetos (POO)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Programação Orientada a Objetos (POO) é um paradigma que organiza o código em torno de objetos.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 abordagem permite modelar entidades do mundo real dentro do software de forma estruturada.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POO facilita a gestão de programas com maior complexidade, segmentando o sistema em módulos independentes.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Objetos combinam dados (atributos) e funções (métodos) que operam sobre esses dados de maneira coesa.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E INSTANCIAÇÃO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 e Objetos: Molde e Instância Concreta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Funcionam como um molde ou projeto arquitetônico para criar objetos, definindo suas características e comportamentos.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Objetos (Instâncias)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instâncias concretas de uma classe, representando um item específico com atributos e métodos personalizados.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Atributos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as características ou dados que um objeto possui, representando seu estado (ex: título, autor de um livro).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funções que pertencem a uma classe, descrevendo os comportamentos que os objetos dessa classe podem realizar.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Método __init__: Inicializando Objetos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da Classe: Utilize a palavra-chave `class` para definir a estrutura básica da sua classe em Python.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Inclusão do `__init__`: Defina o método `__init__` dentro da classe, que será automaticamente chamado ao criar um objeto.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Parâmetros para `__init__`: O primeiro parâmetro deve ser `self`, seguido por outros parâmetros opcionais para inicializar atributos.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Atribuição de Valores: Dentro de `__init__`, use `self.nome_atributo = valor_passado` para atribuir os valores iniciais aos atributos do objeto.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/ 85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Criando um Objeto 'Livro'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Precisamos representar livros em um sistema de biblioteca, com suas informações e estado de empréstimo.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uma estrutura de código que represente um livro e suas ações, como emprestá-lo ou devolvê-lo.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Definimos a classe `Livro` com atributos `titulo`, `autor`, `isbn` e `emprestado`, e um método `emprestar`.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Podemos criar instâncias de `Livro` com informações específicas e interagir com elas, controlando o estado de empréstimo de cada livro individualmente.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CHAVE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Pilares da Programação Orientada a Objetos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Encapsulamento: Agrupa dados e métodos relacionados em uma única unidade (a classe), protegendo a integridade interna do objeto.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Herança: Permite que classes (subclasses) reutilizem e estendam características e comportamentos de outras classes (superclasses).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Polimorfismo: Permite que objetos de diferentes classes respondam a uma mesma chamada de método de maneiras distintas e esperadas.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Abstração: Foca na funcionalidade essencial e nos comportamentos mais importantes de um objeto, ocultando detalhes complexos.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Reutilização de Código: A herança permite que uma classe herde propriedades, diminuindo a redundância e aumentando a eficiência.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Modularidade: Cada objeto é uma unidade independente, facilitando a organização, manutenção e testes de grandes projetos.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 / 85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DE 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Encapsulamento em Python: Controlando Acesso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encapsulamento agrupa atributos e métodos em uma classe, controlando o acesso externo a eles.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 os dados e garante que os objetos sejam usados de forma consistente e segura.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públicos podem ser acessados livremente (ex: `objeto.atributo_publico`).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protegidos (`_atributo`) sugerem, por convenção, acesso cauteloso ou apenas por subclasses.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" y="581558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5495544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privados (`__atributo`) são renomeados internamente pelo Python (`_NomeClasse__atributo`), dificultando acesso direto.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/ 85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POO é um paradigma essencial que organiza o código em torno de objetos, facilitando a modelagem do mundo real.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 são moldes para criar objetos, que são instâncias concretas e unicamente identificáveis.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definem as características dos objetos, enquanto métodos definem seus comportamentos.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pilares da POO (Encapsulamento, Herança, Polimorfismo e Abstração) promovem código mais organizado, reutilizável e de fácil manutenção.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POO é crucial para desenvolver software complexo e de fácil manutenção, pois estrutura o código de forma lógica.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 são projetos e objetos são as implementações desses projetos, cada um com seus atributos e métodos.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`__init__` é o construtor que inicializa o estado de um novo objeto, definindo seus atributos iniciais.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pilares da POO (Encapsulamento, Herança, Polimorfismo, Abstração) são guias para projetar sistemas robustos e flexíveis.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Encapsulamento ajuda a proteger a integridade dos dados de um objeto, controlando seu acesso externo.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Bagoes Ilhamy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6: Tratamento de Exceções e Geração de Logs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tratamento de exceções para criar softwares robustos e tolerantes a falhas.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a geração de logs para depurar, monitorar e manter aplicações Python.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antecipar e gerenciar cenários de erro em sistemas computacionais.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CHAVE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do Tratamento de Exceções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exceção em Python é um evento inesperado que interrompe o fluxo normal de execução do programa.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não tratada, uma exceção causa o encerramento abrupto do programa com uma mensagem de erro.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tratamento de exceções gerencia erros de forma controlada, evitando falhas e oferecendo alternativas.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ocorrem durante a execução do código, diferente de erros de sintaxe detectados antes da execução.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IMPORTÂNCIA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Geração de Logs e Confiabilidade do Software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geração de logs registra informações sobre o comportamento do software para depuração e monitoramento.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Logs ajudam a identificar problemas em produção e gargalos de desempenho em sistemas complexos.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exceções e logs são cruciais para a construção de softwares confiáveis e fáceis de manter.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Ambas as práticas contribuem para a resiliência e a observabilidade das aplicações modernas.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 / 85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TIPOS DE ERROS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Exemplos Comuns de Exceções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ZeroDivisionError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Ocorre ao tentar dividir um número por zero, violando regras matemáticas.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IndexError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Acontece ao acessar um índice fora dos limites válidos de uma lista ou sequência.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ValueError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Surge em operações que recebem um argumento com tipo correto, mas valor inadequado, como `int('abc')`.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FileNotFoundError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 quando o programa tenta acessar um arquivo que não existe no local especificado.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NameError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Sinaliza o uso de uma variável ou função que não foi definida ou declarada antes de ser utilizada.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 / 85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do Tratamento de Exceções: try-except-else-finally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try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Contém o código sob monitoramento que pode gerar uma exceção, sendo a primeira etapa da execução.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except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Executado se uma exceção ocorrer no `try`, contendo o código para lidar com o erro específico ou genérico.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else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executado somente se NENHUMA exceção ocorrer dentro do bloco `try`, garantindo o sucesso da operação.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finally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executado, independentemente de uma exceção ter ocorrido ou não, ideal para operações de limpeza.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 / 85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Tratamento Básico com try-except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script precisa calcular o resultado de uma divisão fornecida por um usuário, que pode inserir zero como denominador.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Prevenir que a divisão por zero cause a interrupção do programa e fornecer uma mensagem clara ao usuário.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um bloco `try` para a operação de divisão e um `except ZeroDivisionError` para capturar e lidar com a exceção.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programa consegue processar entradas válidas e informar gentilmente ao usuário sobre a divisão por zero, sem travar.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ESTRATÉGIAS AVANÇADAS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Capturando Múltiplas Exceções e o 'catch-all'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Múltiplas exceções podem ser capturadas agrupando-as em uma tupla no bloco `except`, facilitando o tratamento.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`except Exception as e:` atua como um "catch-all" para exceções não especificadas em blocos anteriores.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boa prática usar o "catch-all" para auditoria e controle em sistemas críticos, registrando erros inesperados.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Deve-se usar o "catch-all" com cautela durante o desenvolvimento para evitar mascarar erros e dificultar a depuração.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 / 85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de else e finally em Abertura de Arquivos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programa tenta abrir um arquivo de dados, ler seu conteúdo e garantir que o arquivo seja sempre fechado.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Lidar com o caso de arquivo não encontrado e assegurar a liberação dos recursos, mesmo com ou sem erro.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bloco `try` para abrir e ler o arquivo, `except FileNotFoundError` para erros, `else` para processamento pós-sucesso, e `finally` para fechar o arquivo.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lê arquivos existentes com segurança, informa sobre arquivos não encontrados e garante que todos os recursos de arquivo sejam sempre fechados corretamente.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FLUXO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Levantando Exceções com 'raise'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palavra-chave `raise` permite forçar uma exceção em seu próprio código, indicando uma condição de erro programática.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útil quando uma condição específica é detectada e o código chamador deve gerenciar essa situação de forma explícita.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personalizadas podem ser criadas herdando da classe base `Exception` para maior granularidade nos erros específicos da aplicação.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Levantar exceções auxilia na validação de dados de entrada e na aplicação de regras de negócio complexas.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 / 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Criação de Exceções Personalizadas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um sistema bancário, um saque não deve ser permitido se o saldo for insuficiente, exigindo um tipo específico de erro.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uma exceção que capture essa condição específica e forneça detalhes adicionais como saldo disponível e valor da tentativa.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uma classe `SaldoInsuficienteError` que herda de `Exception`, armazenando saldo_disponivel e valor_saque.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sistema agora levanta uma exceção semântica clara para o problema, permitindo um tratamento específico e informativo para o usuário.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são eventos que interrompem o fluxo normal do programa, exigindo tratamento para evitar falhas.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Blocos `try-except-else-finally` são fundamentais para controlar o fluxo de execução em caso de erros.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`raise` permite forçar exceções, e a criação de classes de exceção personalizadas aumenta a granularidade do tratamento.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geração de logs é essencial para depuração, monitoramento e manutenção de aplicações Python em produção.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utilize `try-except` para blocos de código que podem gerar erros e evitar que o programa trave.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Priorize exceções específicas antes de um "catch-all" genérico (`except Exception as e:`).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o bloco `finally` para garantir que recursos sejam sempre liberados, como fechar arquivos ou conexões.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 `raise` para impor regras de negócio ou validações, criando exceções personalizadas quando apropriado.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tratamento de exceções com geração de logs para construir sistemas robustos e fáceis de depurar e monitorar.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Herlambang Tinasih Gusti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 Automatizados com `unittest` e Boas Práticas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o uso do módulo `unittest` para criar testes automatizados eficazes.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aplicar boas práticas que aumentam a confiabilidade do código.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habilidade de escrever código mais robusto e manutenível.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Poder dos Testes no Desenvolvimento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softwares é crucial para garantir o funcionamento esperado do código.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Bugs não detectados podem levar a interrupções no serviço com alto custo.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automatizados contrastam com testes manuais, que são demorados e falhos.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são executados repetidamente por um programa sem intervenção manual.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 / 85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QUE USAR?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dos Testes Automatizados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Detecção precoce de bugs: Erros são encontrados nas etapas iniciais do desenvolvimento, reduzindo custos de correção.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Confiança na refatoração: Permitem reorganizar o código com a segurança de que nenhuma funcionalidade existente foi quebrada.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 viva: Testes bem escritos servem como exemplos de uso do código para novos desenvolvedores.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Melhora da qualidade do código: Promovem um design mais limpo, modular e de baixa acoplagem.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de custos: Corrigir bugs em produção é significativamente mais caro, gerando perdas e recursos de engenharia.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ao Módulo `unittest`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`unittest` é um módulo integrado do Python para escrever testes automatizados.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adere ao paradigma xUnit, inspirado no JUnit do Java.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uma abordagem orientada a objetos para criar e organizar suítes de teste.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para garantir a estabilidade e a correção de aplicações Python.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 / 85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ESSENCIAIS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 Chave do `unittest`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Fixtures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`setUp()` e `tearDown()` que preparam e limpam o ambiente de teste.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Teste (Test Cases)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 que herdam de `unittest.TestCase` e agrupam testes relacionados.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Asserções (Assertions)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que verificam condições específicas para determinar se um teste passa ou falha.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Executores de Teste (Test Runners)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Componentes que descobrem, executam testes e geram relatórios detalhados.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VERIFICAÇÕES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Asserções Comuns no `unittest`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Asserção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Descrição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Exemplo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`assertEqual`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 se dois valores são iguais em valor, útil para comparar resultados numéricos ou strings.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`self.assertEqual(somar(1, 2), 3, "A soma de 1 e 2 deveria ser 3")`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`assertNotEqual`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 se dois valores são diferentes em valor.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`self.assertNotEqual(subtrair(5, 2), 4, "A subtração de 5 e 2 não deveria ser 4")`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`assertTrue`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 se uma condição avalia para `True`.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`self.assertTrue(usuario_logado, "O usuário deveria estar logado após a autenticação")`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`assertFalse`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 se uma condição avalia para `False`.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`self.assertFalse(carrinho_vazio, "O carrinho deveria estar vazio após a compra")`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`assertIs`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 se dois objetos são o mesmo objeto na memória (mesma identidade).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`self.assertIs(usuario_autenticado, usuario_session, "Objetos devem ser o mesmo para evitar cópias desnecessárias")`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`assertIn`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 se um elemento está presente em uma coleção, como uma lista ou tupla.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`self.assertIn('admin', ['admin', 'user'], "O papel 'admin' deve estar presente na lista")`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 / 85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automatizados são essenciais para a qualidade do software, detectando bugs e reduzindo custos.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módulo `unittest` do Python oferece uma estrutura robusta para a criação de testes seguindo o paradigma xUnit.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como Fixtures, Casos de Teste, Asserções e Test Runners são fundamentais no `unittest`.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asserções permitem verificar condições específicas e determinar o sucesso ou falha dos testes.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 / 85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de testes é um investimento crucial, economizando tempo e recursos a longo prazo.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6724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8436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6452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356452" y="2075688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`unittest` em Python é uma ferramenta poderosa e integrada para escrever testes eficazes.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722376" y="3849624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as asserções do `unittest` permite validar o comportamento do código com precisão.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6724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8436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6452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6356452" y="3849624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Fixtures e a organização em Casos de Teste garantem o isolamento e a confiabilidade dos testes.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Aalo Lens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Final: Construindo e Distribuindo um Utilitário Python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Projetar e codificar um utilitário Python funcional do zero.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Empacotar e gerenciar dependências de projetos Python profissionalmente.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Publicar e distribuir utilitários Python no PyPI para uso da comunidade.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de um Utilitário Python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7133" y="512064"/>
            <a:ext cx="41148" cy="8595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1725" y="457200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utilitário Python é um programa pequeno e focado que automatiza tarefas específicas.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1725" y="149687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133" y="1591056"/>
            <a:ext cx="41148" cy="8595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1725" y="1536192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pode ser um script de organização de arquivos, um conversor de unidades ou uma ferramenta de linha de comando.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1725" y="257586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133" y="2670048"/>
            <a:ext cx="41148" cy="8595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1725" y="2615184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ciclo de desenvolvimento abrange desde a concepção da ideia até o empacotamento e distribuição do código.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1725" y="365485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87133" y="3749040"/>
            <a:ext cx="41148" cy="8595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1725" y="3694176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Distribuir significa torná-lo instalável e utilizável por outras pessoas com comandos simples.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 / 85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Ciclo de Construção de um Utilitário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e Planejamento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 a necessidade específica e as funcionalidades essenciais.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na Codificação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Modularize, trate erros e documente o código para manutenção.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Empacotamento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Crie o pacote Python e defina as informações de projeto.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Publicação e Atualização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Compartilhe o utilitário no PyPI e gerencie versões.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 / 85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Etapas de Planejamento do Utilitário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 a ser resolvido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 a necessidade específica que o utilitário vai suprir de forma clara e mensurável.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principais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as ações essenciais que o utilitário deve ser capaz de executar, definindo seu escopo.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Interfaces (Entrada/Saída)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como o usuário vai interagir com o utilitário, configurando argumentos de linha de comando.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Dependências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as bibliotecas Python externas necessárias, listando-as em `requirements.txt` ou `pyproject.toml`.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 / 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PADRÕES DE CÓDIGO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na Codificação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Modularização: Divida o código em funções e módulos para clareza e reusabilidade.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Erros: Use blocos `try-except` para prevenir falhas abruptas ao gerenciar situações inesperadas.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 (Docstrings): Inclua docstrings para explicar a finalidade das funções e facilitar a compreensão.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(Opcional): Escreva testes unitários usando `unittest` ou `pytest` para verificar a correção funcional.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 / 85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EMPACOTAMENTO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Essenciais para Empacotamento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Pacote Python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diretório com seu código-fonte e um arquivo `__init__.py`.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`setup.py`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Script tradicional usado com `setuptools` para descrever e empacotar o projeto.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`requirements.txt`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 de todas as dependências diretas e indiretas do projeto.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`pyproject.toml`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Padrão moderno que centraliza configurações de empacotamento e ferramentas.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`README.md`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em Markdown com descrição, instruções de instalação e exemplos de uso.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 / 85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Um Utilitário de Renomeação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fotógrafo precisa organizar milhares de fotos com nomes genéricos, dificultando a busca e gestão.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Renomear em lote 500 imagens de marketing com prefixo de campanha para padronizar os arquivos.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um utilitário Python que receba um diretório e um prefixo, renomeando os arquivos com `adicionar_prefixo(diretorio, prefixo)`.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imagens são renomeadas automaticamente, economizando horas de trabalho manual e melhorando a organização dos arquivos.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 / 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Publicação e Gerenciamento de Versões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PyPI (Python Package Index): Repositório oficial onde os pacotes Python são hospedados.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TestPyPI: Instância de teste para simular o upload e verificar a instalação antes da publicação.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`twine`: Ferramenta para upload seguro de pacotes para o PyPI ou TestPyPI.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Versão (Git): Essencial para rastrear alterações, reverter versões e colaborar no projeto.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63600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" y="4928616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Versionamento Semântico (SemVer): Convenção para comunicar mudanças (`MAJOR.MINOR.PATCH`) nas versões do utilitário.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 / 85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B82F6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escolha de um bom problema a ser resolvido pode impactar o sucesso e a utilidade do seu projeto final em Python?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vantagens o uso de versionamento semântico (`MAJOR.MINOR.PATCH`) e boa documentação traz para a manutenção e evolução de um utilitário Python?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1079266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focou na construção e distribuição de utilitários Python, desde a concepção até a publicação.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364992"/>
            <a:ext cx="1079266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as etapas de planejamento, codificação com boas práticas e empacotamento profissional.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171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17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846320"/>
            <a:ext cx="1079266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as ferramentas e plataformas essenciais como PyPI, `setuptools` e `twine`.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 / 85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utilitário Python é criado para automatizar tarefas específicas, exigindo planejamento detalhado.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boas práticas de codificação como modularização, tratamento de erros e documentação para código claro e mantenível.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empacotamento envolve ferramentas como `setuptools`, `requirements.txt` e `pyproject.toml` para criar um pacote instalável.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PyPI e `twine` são cruciais para a distribuição, permitindo que outros instalem seu utilitário via `pip`.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versão (Git) e versionamento semântico garantem a evolução organizada e colaborativa do projeto.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80268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28455" y="6053328"/>
            <a:ext cx="2788920" cy="621792"/>
          </a:xfrm>
          <a:prstGeom prst="roundRect">
            <a:avLst>
              <a:gd name="adj" fmla="val 7353"/>
            </a:avLst>
          </a:prstGeom>
          <a:solidFill>
            <a:srgbClr val="000000">
              <a:alpha val="6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800" dirty="0"/>
          </a:p>
        </p:txBody>
      </p:sp>
      <p:sp>
        <p:nvSpPr>
          <p:cNvPr id="10" name="Shape 7"/>
          <p:cNvSpPr/>
          <p:nvPr/>
        </p:nvSpPr>
        <p:spPr>
          <a:xfrm>
            <a:off x="10972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158496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207264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04800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5356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931920"/>
            <a:ext cx="6095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de introdução à Programação em Python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4663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6C63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631375" y="6355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C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Wonderlane / Unsplash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introdução à Programação em Python</dc:title>
  <dc:subject>PptxGenJS Presentation</dc:subject>
  <dc:creator>EduGenAI v3</dc:creator>
  <cp:lastModifiedBy>EduGenAI v3</cp:lastModifiedBy>
  <cp:revision>1</cp:revision>
  <dcterms:created xsi:type="dcterms:W3CDTF">2026-03-13T00:32:44Z</dcterms:created>
  <dcterms:modified xsi:type="dcterms:W3CDTF">2026-03-13T00:32:44Z</dcterms:modified>
</cp:coreProperties>
</file>