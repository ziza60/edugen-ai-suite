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48" y="0"/>
            <a:ext cx="6705432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6095848" y="1143000"/>
            <a:ext cx="6705432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" name="Shape 2"/>
          <p:cNvSpPr/>
          <p:nvPr/>
        </p:nvSpPr>
        <p:spPr>
          <a:xfrm>
            <a:off x="6095848" y="2286000"/>
            <a:ext cx="6705432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48" y="3429000"/>
            <a:ext cx="6705432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6095848" y="4572000"/>
            <a:ext cx="6705432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Shape 5"/>
          <p:cNvSpPr/>
          <p:nvPr/>
        </p:nvSpPr>
        <p:spPr>
          <a:xfrm>
            <a:off x="6095848" y="5715000"/>
            <a:ext cx="6705432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6705432" y="-2400300"/>
            <a:ext cx="8534187" cy="8534187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822960"/>
            <a:ext cx="32004" cy="521208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0" name="Shape 8"/>
          <p:cNvSpPr/>
          <p:nvPr/>
        </p:nvSpPr>
        <p:spPr>
          <a:xfrm>
            <a:off x="256032" y="1005840"/>
            <a:ext cx="292608" cy="164592"/>
          </a:xfrm>
          <a:prstGeom prst="roundRect">
            <a:avLst>
              <a:gd name="adj" fmla="val 22222"/>
            </a:avLst>
          </a:prstGeom>
          <a:solidFill>
            <a:srgbClr val="6C63FF"/>
          </a:solidFill>
          <a:ln/>
        </p:spPr>
      </p:sp>
      <p:sp>
        <p:nvSpPr>
          <p:cNvPr id="11" name="Shape 9"/>
          <p:cNvSpPr/>
          <p:nvPr/>
        </p:nvSpPr>
        <p:spPr>
          <a:xfrm>
            <a:off x="256032" y="1280160"/>
            <a:ext cx="292608" cy="164592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/>
        </p:spPr>
      </p:sp>
      <p:sp>
        <p:nvSpPr>
          <p:cNvPr id="12" name="Shape 10"/>
          <p:cNvSpPr/>
          <p:nvPr/>
        </p:nvSpPr>
        <p:spPr>
          <a:xfrm>
            <a:off x="256032" y="1554480"/>
            <a:ext cx="292608" cy="164592"/>
          </a:xfrm>
          <a:prstGeom prst="roundRect">
            <a:avLst>
              <a:gd name="adj" fmla="val 22222"/>
            </a:avLst>
          </a:prstGeom>
          <a:solidFill>
            <a:srgbClr val="10B981"/>
          </a:solidFill>
          <a:ln/>
        </p:spPr>
      </p:sp>
      <p:sp>
        <p:nvSpPr>
          <p:cNvPr id="13" name="Shape 11"/>
          <p:cNvSpPr/>
          <p:nvPr/>
        </p:nvSpPr>
        <p:spPr>
          <a:xfrm>
            <a:off x="256032" y="1828800"/>
            <a:ext cx="292608" cy="164592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256032" y="2103120"/>
            <a:ext cx="292608" cy="164592"/>
          </a:xfrm>
          <a:prstGeom prst="roundRect">
            <a:avLst>
              <a:gd name="adj" fmla="val 22222"/>
            </a:avLst>
          </a:prstGeom>
          <a:solidFill>
            <a:srgbClr val="06B6D4"/>
          </a:solidFill>
          <a:ln/>
        </p:spPr>
      </p:sp>
      <p:sp>
        <p:nvSpPr>
          <p:cNvPr id="15" name="Shape 13"/>
          <p:cNvSpPr/>
          <p:nvPr/>
        </p:nvSpPr>
        <p:spPr>
          <a:xfrm>
            <a:off x="1097280" y="1188720"/>
            <a:ext cx="3200400" cy="16459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14173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CURSO COMPLETO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97280" y="1828800"/>
            <a:ext cx="6339682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Introdução à Auditoria Operacional</a:t>
            </a:r>
            <a:endParaRPr lang="en-US" sz="5200" dirty="0"/>
          </a:p>
        </p:txBody>
      </p:sp>
      <p:sp>
        <p:nvSpPr>
          <p:cNvPr id="18" name="Shape 16"/>
          <p:cNvSpPr/>
          <p:nvPr/>
        </p:nvSpPr>
        <p:spPr>
          <a:xfrm>
            <a:off x="1097280" y="5029200"/>
            <a:ext cx="466344" cy="6400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9" name="Shape 17"/>
          <p:cNvSpPr/>
          <p:nvPr/>
        </p:nvSpPr>
        <p:spPr>
          <a:xfrm>
            <a:off x="1554480" y="5029200"/>
            <a:ext cx="466344" cy="6400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0" name="Shape 18"/>
          <p:cNvSpPr/>
          <p:nvPr/>
        </p:nvSpPr>
        <p:spPr>
          <a:xfrm>
            <a:off x="2011680" y="5029200"/>
            <a:ext cx="466344" cy="6400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1" name="Shape 19"/>
          <p:cNvSpPr/>
          <p:nvPr/>
        </p:nvSpPr>
        <p:spPr>
          <a:xfrm>
            <a:off x="2468880" y="5029200"/>
            <a:ext cx="466344" cy="6400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2" name="Shape 20"/>
          <p:cNvSpPr/>
          <p:nvPr/>
        </p:nvSpPr>
        <p:spPr>
          <a:xfrm>
            <a:off x="2926080" y="5029200"/>
            <a:ext cx="466344" cy="6400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3" name="Shape 21"/>
          <p:cNvSpPr/>
          <p:nvPr/>
        </p:nvSpPr>
        <p:spPr>
          <a:xfrm>
            <a:off x="3383280" y="5029200"/>
            <a:ext cx="466344" cy="6400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4" name="Shape 22"/>
          <p:cNvSpPr/>
          <p:nvPr/>
        </p:nvSpPr>
        <p:spPr>
          <a:xfrm>
            <a:off x="9814255" y="3657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C63FF"/>
          </a:solidFill>
          <a:ln/>
        </p:spPr>
      </p:sp>
      <p:sp>
        <p:nvSpPr>
          <p:cNvPr id="25" name="Shape 23"/>
          <p:cNvSpPr/>
          <p:nvPr/>
        </p:nvSpPr>
        <p:spPr>
          <a:xfrm>
            <a:off x="10317175" y="118872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3B82F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820095" y="2011680"/>
            <a:ext cx="1097280" cy="1097280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7280" y="5321808"/>
            <a:ext cx="109728" cy="109728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28" name="Shape 26"/>
          <p:cNvSpPr/>
          <p:nvPr/>
        </p:nvSpPr>
        <p:spPr>
          <a:xfrm>
            <a:off x="1097280" y="5760720"/>
            <a:ext cx="2743200" cy="10973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9" name="Text 27"/>
          <p:cNvSpPr/>
          <p:nvPr/>
        </p:nvSpPr>
        <p:spPr>
          <a:xfrm>
            <a:off x="9448495" y="6263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5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março de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"/>
            <a:ext cx="12191695" cy="4114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 PROGRAMÁTICO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Índice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298448"/>
            <a:ext cx="1828800" cy="2743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481328"/>
            <a:ext cx="11002975" cy="36576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481328"/>
            <a:ext cx="11002975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612648" y="1673352"/>
            <a:ext cx="3557930" cy="2286000"/>
          </a:xfrm>
          <a:prstGeom prst="roundRect">
            <a:avLst>
              <a:gd name="adj" fmla="val 4800"/>
            </a:avLst>
          </a:prstGeom>
          <a:solidFill>
            <a:srgbClr val="000000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1645920"/>
            <a:ext cx="3557930" cy="2286000"/>
          </a:xfrm>
          <a:prstGeom prst="roundRect">
            <a:avLst>
              <a:gd name="adj" fmla="val 4800"/>
            </a:avLst>
          </a:prstGeom>
          <a:solidFill>
            <a:srgbClr val="111D38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645920"/>
            <a:ext cx="45720" cy="2286000"/>
          </a:xfrm>
          <a:prstGeom prst="rect">
            <a:avLst>
              <a:gd name="adj" fmla="val 240000"/>
            </a:avLst>
          </a:prstGeom>
          <a:solidFill>
            <a:srgbClr val="6C63FF"/>
          </a:solidFill>
          <a:ln/>
        </p:spPr>
      </p:sp>
      <p:sp>
        <p:nvSpPr>
          <p:cNvPr id="11" name="Shape 9"/>
          <p:cNvSpPr/>
          <p:nvPr/>
        </p:nvSpPr>
        <p:spPr>
          <a:xfrm>
            <a:off x="722376" y="177393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6C63FF"/>
          </a:solidFill>
          <a:ln/>
        </p:spPr>
      </p:sp>
      <p:sp>
        <p:nvSpPr>
          <p:cNvPr id="12" name="Text 10"/>
          <p:cNvSpPr/>
          <p:nvPr/>
        </p:nvSpPr>
        <p:spPr>
          <a:xfrm>
            <a:off x="722376" y="17739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7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72" dirty="0"/>
          </a:p>
        </p:txBody>
      </p:sp>
      <p:sp>
        <p:nvSpPr>
          <p:cNvPr id="13" name="Text 11"/>
          <p:cNvSpPr/>
          <p:nvPr/>
        </p:nvSpPr>
        <p:spPr>
          <a:xfrm>
            <a:off x="722376" y="2249424"/>
            <a:ext cx="3301898" cy="5486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 e Princípios da Auditoria Operacional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22376" y="2834640"/>
            <a:ext cx="1601069" cy="9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" y="2889504"/>
            <a:ext cx="3301898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 e Princípios da Auditoria Operacional 🎯 Objetivo do Módulo Compreender os conc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914546" y="3730752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335170" y="1673352"/>
            <a:ext cx="3557930" cy="2286000"/>
          </a:xfrm>
          <a:prstGeom prst="roundRect">
            <a:avLst>
              <a:gd name="adj" fmla="val 4800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4316882" y="1645920"/>
            <a:ext cx="3557930" cy="2286000"/>
          </a:xfrm>
          <a:prstGeom prst="roundRect">
            <a:avLst>
              <a:gd name="adj" fmla="val 4800"/>
            </a:avLst>
          </a:prstGeom>
          <a:solidFill>
            <a:srgbClr val="111D38"/>
          </a:solidFill>
          <a:ln/>
        </p:spPr>
      </p:sp>
      <p:sp>
        <p:nvSpPr>
          <p:cNvPr id="19" name="Shape 17"/>
          <p:cNvSpPr/>
          <p:nvPr/>
        </p:nvSpPr>
        <p:spPr>
          <a:xfrm>
            <a:off x="4316882" y="1645920"/>
            <a:ext cx="45720" cy="2286000"/>
          </a:xfrm>
          <a:prstGeom prst="rect">
            <a:avLst>
              <a:gd name="adj" fmla="val 240000"/>
            </a:avLst>
          </a:prstGeom>
          <a:solidFill>
            <a:srgbClr val="3B82F6"/>
          </a:solidFill>
          <a:ln/>
        </p:spPr>
      </p:sp>
      <p:sp>
        <p:nvSpPr>
          <p:cNvPr id="20" name="Shape 18"/>
          <p:cNvSpPr/>
          <p:nvPr/>
        </p:nvSpPr>
        <p:spPr>
          <a:xfrm>
            <a:off x="4444898" y="177393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4444898" y="17739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7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72" dirty="0"/>
          </a:p>
        </p:txBody>
      </p:sp>
      <p:sp>
        <p:nvSpPr>
          <p:cNvPr id="22" name="Text 20"/>
          <p:cNvSpPr/>
          <p:nvPr/>
        </p:nvSpPr>
        <p:spPr>
          <a:xfrm>
            <a:off x="4444898" y="2249424"/>
            <a:ext cx="3301898" cy="5486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Planejamento Estratégico da Auditoria Operacional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444898" y="2834640"/>
            <a:ext cx="1601069" cy="9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4444898" y="2889504"/>
            <a:ext cx="3301898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Planejamento Estratégico da Auditoria Operacional 🎯 Objetivo do Módulo Compreender as etapas-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637069" y="3730752"/>
            <a:ext cx="73152" cy="7315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6" name="Shape 24"/>
          <p:cNvSpPr/>
          <p:nvPr/>
        </p:nvSpPr>
        <p:spPr>
          <a:xfrm>
            <a:off x="8057693" y="1673352"/>
            <a:ext cx="3557930" cy="2286000"/>
          </a:xfrm>
          <a:prstGeom prst="roundRect">
            <a:avLst>
              <a:gd name="adj" fmla="val 4800"/>
            </a:avLst>
          </a:prstGeom>
          <a:solidFill>
            <a:srgbClr val="000000"/>
          </a:solidFill>
          <a:ln/>
        </p:spPr>
      </p:sp>
      <p:sp>
        <p:nvSpPr>
          <p:cNvPr id="27" name="Shape 25"/>
          <p:cNvSpPr/>
          <p:nvPr/>
        </p:nvSpPr>
        <p:spPr>
          <a:xfrm>
            <a:off x="8039405" y="1645920"/>
            <a:ext cx="3557930" cy="2286000"/>
          </a:xfrm>
          <a:prstGeom prst="roundRect">
            <a:avLst>
              <a:gd name="adj" fmla="val 4800"/>
            </a:avLst>
          </a:prstGeom>
          <a:solidFill>
            <a:srgbClr val="111D38"/>
          </a:solidFill>
          <a:ln/>
        </p:spPr>
      </p:sp>
      <p:sp>
        <p:nvSpPr>
          <p:cNvPr id="28" name="Shape 26"/>
          <p:cNvSpPr/>
          <p:nvPr/>
        </p:nvSpPr>
        <p:spPr>
          <a:xfrm>
            <a:off x="8039405" y="1645920"/>
            <a:ext cx="45720" cy="2286000"/>
          </a:xfrm>
          <a:prstGeom prst="rect">
            <a:avLst>
              <a:gd name="adj" fmla="val 240000"/>
            </a:avLst>
          </a:prstGeom>
          <a:solidFill>
            <a:srgbClr val="10B981"/>
          </a:solidFill>
          <a:ln/>
        </p:spPr>
      </p:sp>
      <p:sp>
        <p:nvSpPr>
          <p:cNvPr id="29" name="Shape 27"/>
          <p:cNvSpPr/>
          <p:nvPr/>
        </p:nvSpPr>
        <p:spPr>
          <a:xfrm>
            <a:off x="8167421" y="177393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8167421" y="17739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7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72" dirty="0"/>
          </a:p>
        </p:txBody>
      </p:sp>
      <p:sp>
        <p:nvSpPr>
          <p:cNvPr id="31" name="Text 29"/>
          <p:cNvSpPr/>
          <p:nvPr/>
        </p:nvSpPr>
        <p:spPr>
          <a:xfrm>
            <a:off x="8167421" y="2249424"/>
            <a:ext cx="3301898" cy="5486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Execução da Auditoria e Coleta de Evidências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167421" y="2834640"/>
            <a:ext cx="1601069" cy="9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8167421" y="2889504"/>
            <a:ext cx="3301898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Execução da Auditoria e Coleta de Evidências 🎯 Objetivo do Módulo Aprender técnicas de col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1359591" y="3730752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5" name="Shape 33"/>
          <p:cNvSpPr/>
          <p:nvPr/>
        </p:nvSpPr>
        <p:spPr>
          <a:xfrm>
            <a:off x="612648" y="4123944"/>
            <a:ext cx="3557930" cy="2286000"/>
          </a:xfrm>
          <a:prstGeom prst="roundRect">
            <a:avLst>
              <a:gd name="adj" fmla="val 4800"/>
            </a:avLst>
          </a:prstGeom>
          <a:solidFill>
            <a:srgbClr val="000000"/>
          </a:solidFill>
          <a:ln/>
        </p:spPr>
      </p:sp>
      <p:sp>
        <p:nvSpPr>
          <p:cNvPr id="36" name="Shape 34"/>
          <p:cNvSpPr/>
          <p:nvPr/>
        </p:nvSpPr>
        <p:spPr>
          <a:xfrm>
            <a:off x="594360" y="4096512"/>
            <a:ext cx="3557930" cy="2286000"/>
          </a:xfrm>
          <a:prstGeom prst="roundRect">
            <a:avLst>
              <a:gd name="adj" fmla="val 4800"/>
            </a:avLst>
          </a:prstGeom>
          <a:solidFill>
            <a:srgbClr val="111D38"/>
          </a:solidFill>
          <a:ln/>
        </p:spPr>
      </p:sp>
      <p:sp>
        <p:nvSpPr>
          <p:cNvPr id="37" name="Shape 35"/>
          <p:cNvSpPr/>
          <p:nvPr/>
        </p:nvSpPr>
        <p:spPr>
          <a:xfrm>
            <a:off x="594360" y="4096512"/>
            <a:ext cx="45720" cy="2286000"/>
          </a:xfrm>
          <a:prstGeom prst="rect">
            <a:avLst>
              <a:gd name="adj" fmla="val 240000"/>
            </a:avLst>
          </a:prstGeom>
          <a:solidFill>
            <a:srgbClr val="F59E0B"/>
          </a:solidFill>
          <a:ln/>
        </p:spPr>
      </p:sp>
      <p:sp>
        <p:nvSpPr>
          <p:cNvPr id="38" name="Shape 36"/>
          <p:cNvSpPr/>
          <p:nvPr/>
        </p:nvSpPr>
        <p:spPr>
          <a:xfrm>
            <a:off x="722376" y="422452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722376" y="422452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7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72" dirty="0"/>
          </a:p>
        </p:txBody>
      </p:sp>
      <p:sp>
        <p:nvSpPr>
          <p:cNvPr id="40" name="Text 38"/>
          <p:cNvSpPr/>
          <p:nvPr/>
        </p:nvSpPr>
        <p:spPr>
          <a:xfrm>
            <a:off x="722376" y="4700016"/>
            <a:ext cx="3301898" cy="5486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Análise de Evidências e Formulação de Achados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22376" y="5285232"/>
            <a:ext cx="1601069" cy="91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2" name="Text 40"/>
          <p:cNvSpPr/>
          <p:nvPr/>
        </p:nvSpPr>
        <p:spPr>
          <a:xfrm>
            <a:off x="722376" y="5340096"/>
            <a:ext cx="3301898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Análise de Evidências e Formulação de Achados 🎯 Objetivo do Módulo Analisar criticamente evid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914546" y="6181344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4" name="Shape 42"/>
          <p:cNvSpPr/>
          <p:nvPr/>
        </p:nvSpPr>
        <p:spPr>
          <a:xfrm>
            <a:off x="4335170" y="4123944"/>
            <a:ext cx="3557930" cy="2286000"/>
          </a:xfrm>
          <a:prstGeom prst="roundRect">
            <a:avLst>
              <a:gd name="adj" fmla="val 4800"/>
            </a:avLst>
          </a:prstGeom>
          <a:solidFill>
            <a:srgbClr val="000000"/>
          </a:solidFill>
          <a:ln/>
        </p:spPr>
      </p:sp>
      <p:sp>
        <p:nvSpPr>
          <p:cNvPr id="45" name="Shape 43"/>
          <p:cNvSpPr/>
          <p:nvPr/>
        </p:nvSpPr>
        <p:spPr>
          <a:xfrm>
            <a:off x="4316882" y="4096512"/>
            <a:ext cx="3557930" cy="2286000"/>
          </a:xfrm>
          <a:prstGeom prst="roundRect">
            <a:avLst>
              <a:gd name="adj" fmla="val 4800"/>
            </a:avLst>
          </a:prstGeom>
          <a:solidFill>
            <a:srgbClr val="111D38"/>
          </a:solidFill>
          <a:ln/>
        </p:spPr>
      </p:sp>
      <p:sp>
        <p:nvSpPr>
          <p:cNvPr id="46" name="Shape 44"/>
          <p:cNvSpPr/>
          <p:nvPr/>
        </p:nvSpPr>
        <p:spPr>
          <a:xfrm>
            <a:off x="4316882" y="4096512"/>
            <a:ext cx="45720" cy="2286000"/>
          </a:xfrm>
          <a:prstGeom prst="rect">
            <a:avLst>
              <a:gd name="adj" fmla="val 240000"/>
            </a:avLst>
          </a:prstGeom>
          <a:solidFill>
            <a:srgbClr val="06B6D4"/>
          </a:solidFill>
          <a:ln/>
        </p:spPr>
      </p:sp>
      <p:sp>
        <p:nvSpPr>
          <p:cNvPr id="47" name="Shape 45"/>
          <p:cNvSpPr/>
          <p:nvPr/>
        </p:nvSpPr>
        <p:spPr>
          <a:xfrm>
            <a:off x="4444898" y="422452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6B6D4"/>
          </a:solidFill>
          <a:ln/>
        </p:spPr>
      </p:sp>
      <p:sp>
        <p:nvSpPr>
          <p:cNvPr id="48" name="Text 46"/>
          <p:cNvSpPr/>
          <p:nvPr/>
        </p:nvSpPr>
        <p:spPr>
          <a:xfrm>
            <a:off x="4444898" y="422452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7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672" dirty="0"/>
          </a:p>
        </p:txBody>
      </p:sp>
      <p:sp>
        <p:nvSpPr>
          <p:cNvPr id="49" name="Text 47"/>
          <p:cNvSpPr/>
          <p:nvPr/>
        </p:nvSpPr>
        <p:spPr>
          <a:xfrm>
            <a:off x="4444898" y="4700016"/>
            <a:ext cx="3301898" cy="5486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Comunicação dos Resultados e Monitoramento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4444898" y="5285232"/>
            <a:ext cx="1601069" cy="91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1" name="Text 49"/>
          <p:cNvSpPr/>
          <p:nvPr/>
        </p:nvSpPr>
        <p:spPr>
          <a:xfrm>
            <a:off x="4444898" y="5340096"/>
            <a:ext cx="3301898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Comunicação dos Resultados e Monitoramento 🎯 Objetivo do Módulo Aprender a elaborar relatórios de audit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637069" y="6181344"/>
            <a:ext cx="73152" cy="73152"/>
          </a:xfrm>
          <a:prstGeom prst="ellipse">
            <a:avLst/>
          </a:prstGeom>
          <a:solidFill>
            <a:srgbClr val="06B6D4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8851" y="0"/>
            <a:ext cx="463284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558851" y="0"/>
            <a:ext cx="36576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" name="Text 1"/>
          <p:cNvSpPr/>
          <p:nvPr/>
        </p:nvSpPr>
        <p:spPr>
          <a:xfrm>
            <a:off x="9631375" y="665683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C0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Foto: Vitaly Gariev / Unsplash</a:t>
            </a:r>
            <a:endParaRPr lang="en-US" sz="700" dirty="0"/>
          </a:p>
        </p:txBody>
      </p:sp>
      <p:sp>
        <p:nvSpPr>
          <p:cNvPr id="5" name="Shape 2"/>
          <p:cNvSpPr/>
          <p:nvPr/>
        </p:nvSpPr>
        <p:spPr>
          <a:xfrm>
            <a:off x="4535311" y="0"/>
            <a:ext cx="3401483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3"/>
          <p:cNvSpPr/>
          <p:nvPr/>
        </p:nvSpPr>
        <p:spPr>
          <a:xfrm>
            <a:off x="4535311" y="1143000"/>
            <a:ext cx="3401483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Shape 4"/>
          <p:cNvSpPr/>
          <p:nvPr/>
        </p:nvSpPr>
        <p:spPr>
          <a:xfrm>
            <a:off x="4535311" y="2286000"/>
            <a:ext cx="3401483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Shape 5"/>
          <p:cNvSpPr/>
          <p:nvPr/>
        </p:nvSpPr>
        <p:spPr>
          <a:xfrm>
            <a:off x="4535311" y="3429000"/>
            <a:ext cx="3401483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9" name="Shape 6"/>
          <p:cNvSpPr/>
          <p:nvPr/>
        </p:nvSpPr>
        <p:spPr>
          <a:xfrm>
            <a:off x="4535311" y="4572000"/>
            <a:ext cx="3401483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0" name="Shape 7"/>
          <p:cNvSpPr/>
          <p:nvPr/>
        </p:nvSpPr>
        <p:spPr>
          <a:xfrm>
            <a:off x="4535311" y="5715000"/>
            <a:ext cx="3401483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1" name="Shape 8"/>
          <p:cNvSpPr/>
          <p:nvPr/>
        </p:nvSpPr>
        <p:spPr>
          <a:xfrm>
            <a:off x="731520" y="1005840"/>
            <a:ext cx="45720" cy="21031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2" name="Shape 9"/>
          <p:cNvSpPr/>
          <p:nvPr/>
        </p:nvSpPr>
        <p:spPr>
          <a:xfrm>
            <a:off x="804672" y="1005840"/>
            <a:ext cx="13716" cy="21031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10972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1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005840" y="1417320"/>
            <a:ext cx="1280160" cy="20117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1572768"/>
            <a:ext cx="566913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 e Princípios da Auditoria Operacional</a:t>
            </a:r>
            <a:endParaRPr lang="en-US" sz="3600" dirty="0"/>
          </a:p>
        </p:txBody>
      </p:sp>
      <p:sp>
        <p:nvSpPr>
          <p:cNvPr id="16" name="Shape 13"/>
          <p:cNvSpPr/>
          <p:nvPr/>
        </p:nvSpPr>
        <p:spPr>
          <a:xfrm>
            <a:off x="1005840" y="4142232"/>
            <a:ext cx="2011680" cy="10973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7" name="Text 14"/>
          <p:cNvSpPr/>
          <p:nvPr/>
        </p:nvSpPr>
        <p:spPr>
          <a:xfrm>
            <a:off x="1005840" y="42519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QUE VOCÊ VAI APRENDER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005840" y="45902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6C63FF"/>
          </a:solidFill>
          <a:ln/>
        </p:spPr>
      </p:sp>
      <p:sp>
        <p:nvSpPr>
          <p:cNvPr id="19" name="Text 16"/>
          <p:cNvSpPr/>
          <p:nvPr/>
        </p:nvSpPr>
        <p:spPr>
          <a:xfrm>
            <a:off x="1234440" y="4544568"/>
            <a:ext cx="52911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Compreender os conceitos e a finalidade da Auditoria Operacional na gestão pública.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005840" y="4992624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6C63FF"/>
          </a:solidFill>
          <a:ln/>
        </p:spPr>
      </p:sp>
      <p:sp>
        <p:nvSpPr>
          <p:cNvPr id="21" name="Text 18"/>
          <p:cNvSpPr/>
          <p:nvPr/>
        </p:nvSpPr>
        <p:spPr>
          <a:xfrm>
            <a:off x="1234440" y="4946904"/>
            <a:ext cx="52911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Distinguir a Auditoria Operacional de outros tipos de auditoria.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005840" y="5394960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6C63FF"/>
          </a:solidFill>
          <a:ln/>
        </p:spPr>
      </p:sp>
      <p:sp>
        <p:nvSpPr>
          <p:cNvPr id="23" name="Text 20"/>
          <p:cNvSpPr/>
          <p:nvPr/>
        </p:nvSpPr>
        <p:spPr>
          <a:xfrm>
            <a:off x="1234440" y="5349240"/>
            <a:ext cx="52911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Aplicar os princípios da Auditoria Operacional para otimizar o gasto público.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31520" y="6446520"/>
            <a:ext cx="542544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5" name="Shape 22"/>
          <p:cNvSpPr/>
          <p:nvPr/>
        </p:nvSpPr>
        <p:spPr>
          <a:xfrm>
            <a:off x="1264920" y="6446520"/>
            <a:ext cx="542544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6" name="Shape 23"/>
          <p:cNvSpPr/>
          <p:nvPr/>
        </p:nvSpPr>
        <p:spPr>
          <a:xfrm>
            <a:off x="1798320" y="6446520"/>
            <a:ext cx="542544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7" name="Shape 24"/>
          <p:cNvSpPr/>
          <p:nvPr/>
        </p:nvSpPr>
        <p:spPr>
          <a:xfrm>
            <a:off x="2331720" y="6446520"/>
            <a:ext cx="542544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8" name="Shape 25"/>
          <p:cNvSpPr/>
          <p:nvPr/>
        </p:nvSpPr>
        <p:spPr>
          <a:xfrm>
            <a:off x="2865120" y="6446520"/>
            <a:ext cx="542544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9" name="Shape 26"/>
          <p:cNvSpPr/>
          <p:nvPr/>
        </p:nvSpPr>
        <p:spPr>
          <a:xfrm>
            <a:off x="3398520" y="6446520"/>
            <a:ext cx="542544" cy="7315"/>
          </a:xfrm>
          <a:prstGeom prst="rect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Auditoria Operacional na Gestão Pública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45336"/>
            <a:ext cx="11094415" cy="901598"/>
          </a:xfrm>
          <a:prstGeom prst="roundRect">
            <a:avLst>
              <a:gd name="adj" fmla="val 10142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08760"/>
            <a:ext cx="11094415" cy="901598"/>
          </a:xfrm>
          <a:prstGeom prst="roundRect">
            <a:avLst>
              <a:gd name="adj" fmla="val 8114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508760"/>
            <a:ext cx="54864" cy="901598"/>
          </a:xfrm>
          <a:prstGeom prst="rect">
            <a:avLst>
              <a:gd name="adj" fmla="val 133333"/>
            </a:avLst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" y="1804111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6C63FF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1804111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97864" y="1536192"/>
            <a:ext cx="10399471" cy="84673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Auditoria Operacional (AO) é uma avaliação sistemática e independente de desempenho governamental.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" y="2556662"/>
            <a:ext cx="11094415" cy="901598"/>
          </a:xfrm>
          <a:prstGeom prst="roundRect">
            <a:avLst>
              <a:gd name="adj" fmla="val 10142"/>
            </a:avLst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520086"/>
            <a:ext cx="11094415" cy="901598"/>
          </a:xfrm>
          <a:prstGeom prst="roundRect">
            <a:avLst>
              <a:gd name="adj" fmla="val 8114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520086"/>
            <a:ext cx="54864" cy="901598"/>
          </a:xfrm>
          <a:prstGeom prst="rect">
            <a:avLst>
              <a:gd name="adj" fmla="val 133333"/>
            </a:avLst>
          </a:prstGeom>
          <a:solidFill>
            <a:srgbClr val="3B82F6"/>
          </a:solidFill>
          <a:ln/>
        </p:spPr>
      </p:sp>
      <p:sp>
        <p:nvSpPr>
          <p:cNvPr id="18" name="Shape 16"/>
          <p:cNvSpPr/>
          <p:nvPr/>
        </p:nvSpPr>
        <p:spPr>
          <a:xfrm>
            <a:off x="758952" y="281543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" y="281543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97864" y="2547518"/>
            <a:ext cx="10399471" cy="84673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Seu objetivo é assegurar operações econômicas, eficientes e eficazes, otimizando o uso de recursos públicos.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1792" y="3567989"/>
            <a:ext cx="11094415" cy="901598"/>
          </a:xfrm>
          <a:prstGeom prst="roundRect">
            <a:avLst>
              <a:gd name="adj" fmla="val 10142"/>
            </a:avLst>
          </a:prstGeom>
          <a:solidFill>
            <a:srgbClr val="00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" y="3531413"/>
            <a:ext cx="11094415" cy="901598"/>
          </a:xfrm>
          <a:prstGeom prst="roundRect">
            <a:avLst>
              <a:gd name="adj" fmla="val 8114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3531413"/>
            <a:ext cx="54864" cy="901598"/>
          </a:xfrm>
          <a:prstGeom prst="rect">
            <a:avLst>
              <a:gd name="adj" fmla="val 133333"/>
            </a:avLst>
          </a:prstGeom>
          <a:solidFill>
            <a:srgbClr val="10B981"/>
          </a:solidFill>
          <a:ln/>
        </p:spPr>
      </p:sp>
      <p:sp>
        <p:nvSpPr>
          <p:cNvPr id="24" name="Shape 22"/>
          <p:cNvSpPr/>
          <p:nvPr/>
        </p:nvSpPr>
        <p:spPr>
          <a:xfrm>
            <a:off x="758952" y="382676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758952" y="38267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97864" y="3558845"/>
            <a:ext cx="10399471" cy="84673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AO busca verificar a execução correta das ações, alcançando o público-alvo sem desvios.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21792" y="4579315"/>
            <a:ext cx="11094415" cy="901598"/>
          </a:xfrm>
          <a:prstGeom prst="roundRect">
            <a:avLst>
              <a:gd name="adj" fmla="val 10142"/>
            </a:avLst>
          </a:prstGeom>
          <a:solidFill>
            <a:srgbClr val="000000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" y="4542739"/>
            <a:ext cx="11094415" cy="901598"/>
          </a:xfrm>
          <a:prstGeom prst="roundRect">
            <a:avLst>
              <a:gd name="adj" fmla="val 8114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4542739"/>
            <a:ext cx="54864" cy="901598"/>
          </a:xfrm>
          <a:prstGeom prst="rect">
            <a:avLst>
              <a:gd name="adj" fmla="val 133333"/>
            </a:avLst>
          </a:prstGeom>
          <a:solidFill>
            <a:srgbClr val="F59E0B"/>
          </a:solidFill>
          <a:ln/>
        </p:spPr>
      </p:sp>
      <p:sp>
        <p:nvSpPr>
          <p:cNvPr id="30" name="Shape 28"/>
          <p:cNvSpPr/>
          <p:nvPr/>
        </p:nvSpPr>
        <p:spPr>
          <a:xfrm>
            <a:off x="758952" y="483809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758952" y="483809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97864" y="4570171"/>
            <a:ext cx="10399471" cy="84673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Ela avalia se as ações ocorrem de forma ideal, no tempo adequado e com os recursos certos.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21792" y="5590642"/>
            <a:ext cx="11094415" cy="901598"/>
          </a:xfrm>
          <a:prstGeom prst="roundRect">
            <a:avLst>
              <a:gd name="adj" fmla="val 10142"/>
            </a:avLst>
          </a:prstGeom>
          <a:solidFill>
            <a:srgbClr val="000000"/>
          </a:solidFill>
          <a:ln/>
        </p:spPr>
      </p:sp>
      <p:sp>
        <p:nvSpPr>
          <p:cNvPr id="34" name="Shape 32"/>
          <p:cNvSpPr/>
          <p:nvPr/>
        </p:nvSpPr>
        <p:spPr>
          <a:xfrm>
            <a:off x="594360" y="5554066"/>
            <a:ext cx="11094415" cy="901598"/>
          </a:xfrm>
          <a:prstGeom prst="roundRect">
            <a:avLst>
              <a:gd name="adj" fmla="val 8114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" y="5554066"/>
            <a:ext cx="54864" cy="901598"/>
          </a:xfrm>
          <a:prstGeom prst="rect">
            <a:avLst>
              <a:gd name="adj" fmla="val 133333"/>
            </a:avLst>
          </a:prstGeom>
          <a:solidFill>
            <a:srgbClr val="06B6D4"/>
          </a:solidFill>
          <a:ln/>
        </p:spPr>
      </p:sp>
      <p:sp>
        <p:nvSpPr>
          <p:cNvPr id="36" name="Shape 34"/>
          <p:cNvSpPr/>
          <p:nvPr/>
        </p:nvSpPr>
        <p:spPr>
          <a:xfrm>
            <a:off x="758952" y="5849417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6B6D4"/>
          </a:solidFill>
          <a:ln/>
        </p:spPr>
      </p:sp>
      <p:sp>
        <p:nvSpPr>
          <p:cNvPr id="37" name="Text 35"/>
          <p:cNvSpPr/>
          <p:nvPr/>
        </p:nvSpPr>
        <p:spPr>
          <a:xfrm>
            <a:off x="758952" y="5849417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197864" y="5581498"/>
            <a:ext cx="10399471" cy="84673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auditoria operacional visa atingir resultados esperados e gerar valor público para a sociedade.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0" name="Shape 38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1" name="Shape 3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2" name="Shape 40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3" name="Shape 4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4" name="Shape 42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6" name="Text 4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 / 45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Três Dimensões da Auditoria Operacional: Os 3 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45336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08760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08760"/>
            <a:ext cx="54864" cy="1371600"/>
          </a:xfrm>
          <a:prstGeom prst="rect">
            <a:avLst>
              <a:gd name="adj" fmla="val 166667"/>
            </a:avLst>
          </a:prstGeom>
          <a:solidFill>
            <a:srgbClr val="6C63FF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1563624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C63FF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2376" y="1856232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Economia: Adquirir e utilizar recursos da forma mais barata, sem comprometer qualidade e quantidade.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51296" y="1545336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6223864" y="1508760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6" name="Shape 14"/>
          <p:cNvSpPr/>
          <p:nvPr/>
        </p:nvSpPr>
        <p:spPr>
          <a:xfrm>
            <a:off x="6223864" y="1508760"/>
            <a:ext cx="54864" cy="1371600"/>
          </a:xfrm>
          <a:prstGeom prst="rect">
            <a:avLst>
              <a:gd name="adj" fmla="val 166667"/>
            </a:avLst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333592" y="1563624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B82F6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1880" y="1856232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Eficiência: Relação entre recursos utilizados e produtos gerados, minimizando desperdícios e tempo.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1792" y="3081528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3044952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3044952"/>
            <a:ext cx="54864" cy="1371600"/>
          </a:xfrm>
          <a:prstGeom prst="rect">
            <a:avLst>
              <a:gd name="adj" fmla="val 166667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" y="3099816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B981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2376" y="3392424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Eficácia: Grau de cumprimento de objetivos e metas dos programas, verificando resultados e impactos sociais.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251296" y="3081528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223864" y="3044952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6" name="Shape 24"/>
          <p:cNvSpPr/>
          <p:nvPr/>
        </p:nvSpPr>
        <p:spPr>
          <a:xfrm>
            <a:off x="6223864" y="3044952"/>
            <a:ext cx="54864" cy="1371600"/>
          </a:xfrm>
          <a:prstGeom prst="rect">
            <a:avLst>
              <a:gd name="adj" fmla="val 166667"/>
            </a:avLst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333592" y="3099816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9E0B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351880" y="3392424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 de Economia: Aquisição de equipamentos de informática com o menor custo total de propriedade.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21792" y="4617720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30" name="Shape 28"/>
          <p:cNvSpPr/>
          <p:nvPr/>
        </p:nvSpPr>
        <p:spPr>
          <a:xfrm>
            <a:off x="594360" y="4581144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31" name="Shape 29"/>
          <p:cNvSpPr/>
          <p:nvPr/>
        </p:nvSpPr>
        <p:spPr>
          <a:xfrm>
            <a:off x="594360" y="4581144"/>
            <a:ext cx="54864" cy="1371600"/>
          </a:xfrm>
          <a:prstGeom prst="rect">
            <a:avLst>
              <a:gd name="adj" fmla="val 166667"/>
            </a:avLst>
          </a:prstGeom>
          <a:solidFill>
            <a:srgbClr val="06B6D4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" y="4636008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6B6D4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22376" y="4928616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 de Eficiência: Redução do tempo de espera para atendimento em unidades de saúde públicas.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6" name="Shape 34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7" name="Shape 35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8" name="Shape 36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9" name="Shape 37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 / 45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Eficácia na Auditoria Operacional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132424" y="1536192"/>
            <a:ext cx="18288" cy="49103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6095848" y="3945636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1572768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1536192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1536192"/>
            <a:ext cx="45720" cy="987552"/>
          </a:xfrm>
          <a:prstGeom prst="rect">
            <a:avLst>
              <a:gd name="adj" fmla="val 120000"/>
            </a:avLst>
          </a:prstGeom>
          <a:solidFill>
            <a:srgbClr val="6C63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18928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6C63FF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" y="1892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69848" y="1563624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eficácia verifica se os resultados esperados foram alcançados e qual o impacto gerado na sociedade.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1792" y="2633472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2596896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2596896"/>
            <a:ext cx="45720" cy="987552"/>
          </a:xfrm>
          <a:prstGeom prst="rect">
            <a:avLst>
              <a:gd name="adj" fmla="val 120000"/>
            </a:avLst>
          </a:prstGeom>
          <a:solidFill>
            <a:srgbClr val="3B82F6"/>
          </a:solidFill>
          <a:ln/>
        </p:spPr>
      </p:sp>
      <p:sp>
        <p:nvSpPr>
          <p:cNvPr id="20" name="Shape 18"/>
          <p:cNvSpPr/>
          <p:nvPr/>
        </p:nvSpPr>
        <p:spPr>
          <a:xfrm>
            <a:off x="722376" y="29535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" y="2953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69848" y="2624328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 crucial para programas e projetos governamentais que buscam um impacto positivo.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21792" y="3694176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3657600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657600"/>
            <a:ext cx="45720" cy="987552"/>
          </a:xfrm>
          <a:prstGeom prst="rect">
            <a:avLst>
              <a:gd name="adj" fmla="val 120000"/>
            </a:avLst>
          </a:prstGeom>
          <a:solidFill>
            <a:srgbClr val="10B981"/>
          </a:solidFill>
          <a:ln/>
        </p:spPr>
      </p:sp>
      <p:sp>
        <p:nvSpPr>
          <p:cNvPr id="26" name="Shape 24"/>
          <p:cNvSpPr/>
          <p:nvPr/>
        </p:nvSpPr>
        <p:spPr>
          <a:xfrm>
            <a:off x="722376" y="401421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722376" y="4014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69848" y="3685032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Avalia a relevância e o sucesso das políticas públicas implementadas.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329020" y="1572768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30" name="Shape 28"/>
          <p:cNvSpPr/>
          <p:nvPr/>
        </p:nvSpPr>
        <p:spPr>
          <a:xfrm>
            <a:off x="6301588" y="1536192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31" name="Shape 29"/>
          <p:cNvSpPr/>
          <p:nvPr/>
        </p:nvSpPr>
        <p:spPr>
          <a:xfrm>
            <a:off x="6301588" y="1536192"/>
            <a:ext cx="45720" cy="987552"/>
          </a:xfrm>
          <a:prstGeom prst="rect">
            <a:avLst>
              <a:gd name="adj" fmla="val 120000"/>
            </a:avLst>
          </a:prstGeom>
          <a:solidFill>
            <a:srgbClr val="F59E0B"/>
          </a:solidFill>
          <a:ln/>
        </p:spPr>
      </p:sp>
      <p:sp>
        <p:nvSpPr>
          <p:cNvPr id="32" name="Shape 30"/>
          <p:cNvSpPr/>
          <p:nvPr/>
        </p:nvSpPr>
        <p:spPr>
          <a:xfrm>
            <a:off x="6429604" y="18928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6429604" y="1892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77076" y="1563624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 exemplo de eficácia é uma campanha de vacinação que reduz a incidência de determinada doença.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329020" y="2633472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36" name="Shape 34"/>
          <p:cNvSpPr/>
          <p:nvPr/>
        </p:nvSpPr>
        <p:spPr>
          <a:xfrm>
            <a:off x="6301588" y="2596896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37" name="Shape 35"/>
          <p:cNvSpPr/>
          <p:nvPr/>
        </p:nvSpPr>
        <p:spPr>
          <a:xfrm>
            <a:off x="6301588" y="2596896"/>
            <a:ext cx="45720" cy="987552"/>
          </a:xfrm>
          <a:prstGeom prst="rect">
            <a:avLst>
              <a:gd name="adj" fmla="val 120000"/>
            </a:avLst>
          </a:prstGeom>
          <a:solidFill>
            <a:srgbClr val="06B6D4"/>
          </a:solidFill>
          <a:ln/>
        </p:spPr>
      </p:sp>
      <p:sp>
        <p:nvSpPr>
          <p:cNvPr id="38" name="Shape 36"/>
          <p:cNvSpPr/>
          <p:nvPr/>
        </p:nvSpPr>
        <p:spPr>
          <a:xfrm>
            <a:off x="6429604" y="29535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6B6D4"/>
          </a:solidFill>
          <a:ln/>
        </p:spPr>
      </p:sp>
      <p:sp>
        <p:nvSpPr>
          <p:cNvPr id="39" name="Text 37"/>
          <p:cNvSpPr/>
          <p:nvPr/>
        </p:nvSpPr>
        <p:spPr>
          <a:xfrm>
            <a:off x="6429604" y="2953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77076" y="2624328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Outro exemplo é um programa de alfabetização que aumenta significativamente os índices de leitura.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2" name="Shape 40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3" name="Shape 41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4" name="Shape 42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5" name="Shape 43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6" name="Shape 44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7" name="Shape 45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8" name="Text 46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 / 45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MODELOS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Diferenças entre Auditoria Operacional e Outros Tipos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36192"/>
          <a:ext cx="11140135" cy="914400"/>
        </p:xfrm>
        <a:graphic>
          <a:graphicData uri="http://schemas.openxmlformats.org/drawingml/2006/table">
            <a:tbl>
              <a:tblPr/>
              <a:tblGrid>
                <a:gridCol w="2785034"/>
                <a:gridCol w="2785034"/>
                <a:gridCol w="2785034"/>
                <a:gridCol w="2785034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Aspecto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Auditoria Financeira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Auditoria de Conformidade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Auditoria Operacional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Foco Principal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Fidedignidade das demonstrações financeiras.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Conformidade com leis e regulamentos.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Economia, eficiência e eficácia das operações.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Objetivo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Emitir opinião sobre demonstrações contábeis.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Determinar legalidade de atos e processos.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Avaliar desempenho, identificar melhorias.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Escopo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Registros contábeis e transações financeiras.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Normas aplicáveis (licitações, contratos, pessoal).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Processos, programas, sistemas, governança.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Questão Central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As finanças são confiáveis?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As regras estão sendo seguidas?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Os recursos geram resultados satisfatórios?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Critérios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Normas contábeis (IFRS, MCASP).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Legislação específica, regulamentos, políticas.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Critérios de desempenho, boas práticas, metas.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1" name="Shape 8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2" name="Shape 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3" name="Shape 10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4" name="Shape 1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5" name="Shape 12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6" name="Shape 1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 / 45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de Auditoria Operacional no Setor Público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6C63F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88" dirty="0"/>
          </a:p>
        </p:txBody>
      </p:sp>
      <p:sp>
        <p:nvSpPr>
          <p:cNvPr id="14" name="Text 12"/>
          <p:cNvSpPr/>
          <p:nvPr/>
        </p:nvSpPr>
        <p:spPr>
          <a:xfrm>
            <a:off x="1051560" y="1645920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Avaliar a efetividade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2048256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2121408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Analisar programas sociais federais, como o Bolsa Família, quanto ao alcance de seus objetivos e impacto social.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90034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4362602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9" name="Shape 17"/>
          <p:cNvSpPr/>
          <p:nvPr/>
        </p:nvSpPr>
        <p:spPr>
          <a:xfrm>
            <a:off x="4362602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3B82F6"/>
          </a:solidFill>
          <a:ln/>
        </p:spPr>
      </p:sp>
      <p:sp>
        <p:nvSpPr>
          <p:cNvPr id="20" name="Shape 18"/>
          <p:cNvSpPr/>
          <p:nvPr/>
        </p:nvSpPr>
        <p:spPr>
          <a:xfrm>
            <a:off x="4454042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4454042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88" dirty="0"/>
          </a:p>
        </p:txBody>
      </p:sp>
      <p:sp>
        <p:nvSpPr>
          <p:cNvPr id="22" name="Text 20"/>
          <p:cNvSpPr/>
          <p:nvPr/>
        </p:nvSpPr>
        <p:spPr>
          <a:xfrm>
            <a:off x="4819802" y="1645920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Auditar a eficiência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454042" y="2048256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4" name="Text 22"/>
          <p:cNvSpPr/>
          <p:nvPr/>
        </p:nvSpPr>
        <p:spPr>
          <a:xfrm>
            <a:off x="4472330" y="2121408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Analisar a gestão de resíduos sólidos municipais, buscando otimização de processos e redução de custos.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58277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8130845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27" name="Shape 25"/>
          <p:cNvSpPr/>
          <p:nvPr/>
        </p:nvSpPr>
        <p:spPr>
          <a:xfrm>
            <a:off x="8130845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10B981"/>
          </a:solidFill>
          <a:ln/>
        </p:spPr>
      </p:sp>
      <p:sp>
        <p:nvSpPr>
          <p:cNvPr id="28" name="Shape 26"/>
          <p:cNvSpPr/>
          <p:nvPr/>
        </p:nvSpPr>
        <p:spPr>
          <a:xfrm>
            <a:off x="8222285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8222285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88" dirty="0"/>
          </a:p>
        </p:txBody>
      </p:sp>
      <p:sp>
        <p:nvSpPr>
          <p:cNvPr id="30" name="Text 28"/>
          <p:cNvSpPr/>
          <p:nvPr/>
        </p:nvSpPr>
        <p:spPr>
          <a:xfrm>
            <a:off x="8588045" y="1645920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Analisar a economia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222285" y="2048256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2" name="Text 30"/>
          <p:cNvSpPr/>
          <p:nvPr/>
        </p:nvSpPr>
        <p:spPr>
          <a:xfrm>
            <a:off x="8240573" y="2121408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Verificar a aquisição de frotas veiculares estaduais, garantindo o melhor custo-benefício e o uso racional de recursos.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1792" y="4023360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34" name="Shape 32"/>
          <p:cNvSpPr/>
          <p:nvPr/>
        </p:nvSpPr>
        <p:spPr>
          <a:xfrm>
            <a:off x="594360" y="3986784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35" name="Shape 33"/>
          <p:cNvSpPr/>
          <p:nvPr/>
        </p:nvSpPr>
        <p:spPr>
          <a:xfrm>
            <a:off x="594360" y="3986784"/>
            <a:ext cx="3603650" cy="45720"/>
          </a:xfrm>
          <a:prstGeom prst="rect">
            <a:avLst>
              <a:gd name="adj" fmla="val 200000"/>
            </a:avLst>
          </a:prstGeom>
          <a:solidFill>
            <a:srgbClr val="F59E0B"/>
          </a:solidFill>
          <a:ln/>
        </p:spPr>
      </p:sp>
      <p:sp>
        <p:nvSpPr>
          <p:cNvPr id="36" name="Shape 34"/>
          <p:cNvSpPr/>
          <p:nvPr/>
        </p:nvSpPr>
        <p:spPr>
          <a:xfrm>
            <a:off x="685800" y="4114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685800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88" dirty="0"/>
          </a:p>
        </p:txBody>
      </p:sp>
      <p:sp>
        <p:nvSpPr>
          <p:cNvPr id="38" name="Text 36"/>
          <p:cNvSpPr/>
          <p:nvPr/>
        </p:nvSpPr>
        <p:spPr>
          <a:xfrm>
            <a:off x="1051560" y="4096512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Medir a eficácia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85800" y="4498848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0" name="Text 38"/>
          <p:cNvSpPr/>
          <p:nvPr/>
        </p:nvSpPr>
        <p:spPr>
          <a:xfrm>
            <a:off x="704088" y="4572000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Avaliar políticas públicas de segurança urbana, verificando o impacto na redução da criminalidade e percepção de segurança.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390034" y="4023360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42" name="Shape 40"/>
          <p:cNvSpPr/>
          <p:nvPr/>
        </p:nvSpPr>
        <p:spPr>
          <a:xfrm>
            <a:off x="4362602" y="3986784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43" name="Shape 41"/>
          <p:cNvSpPr/>
          <p:nvPr/>
        </p:nvSpPr>
        <p:spPr>
          <a:xfrm>
            <a:off x="4362602" y="3986784"/>
            <a:ext cx="3603650" cy="45720"/>
          </a:xfrm>
          <a:prstGeom prst="rect">
            <a:avLst>
              <a:gd name="adj" fmla="val 200000"/>
            </a:avLst>
          </a:prstGeom>
          <a:solidFill>
            <a:srgbClr val="06B6D4"/>
          </a:solidFill>
          <a:ln/>
        </p:spPr>
      </p:sp>
      <p:sp>
        <p:nvSpPr>
          <p:cNvPr id="44" name="Shape 42"/>
          <p:cNvSpPr/>
          <p:nvPr/>
        </p:nvSpPr>
        <p:spPr>
          <a:xfrm>
            <a:off x="4454042" y="4114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6B6D4"/>
          </a:solidFill>
          <a:ln/>
        </p:spPr>
      </p:sp>
      <p:sp>
        <p:nvSpPr>
          <p:cNvPr id="45" name="Text 43"/>
          <p:cNvSpPr/>
          <p:nvPr/>
        </p:nvSpPr>
        <p:spPr>
          <a:xfrm>
            <a:off x="4454042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88" dirty="0"/>
          </a:p>
        </p:txBody>
      </p:sp>
      <p:sp>
        <p:nvSpPr>
          <p:cNvPr id="46" name="Text 44"/>
          <p:cNvSpPr/>
          <p:nvPr/>
        </p:nvSpPr>
        <p:spPr>
          <a:xfrm>
            <a:off x="4819802" y="4096512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6B6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Verificar a eficiência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4454042" y="4498848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8" name="Text 46"/>
          <p:cNvSpPr/>
          <p:nvPr/>
        </p:nvSpPr>
        <p:spPr>
          <a:xfrm>
            <a:off x="4472330" y="4572000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Analisar sistemas de prontuários eletrônicos em hospitais regionais, identificando ganhos de produtividade e melhorias no atendimento.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8158277" y="4023360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50" name="Shape 48"/>
          <p:cNvSpPr/>
          <p:nvPr/>
        </p:nvSpPr>
        <p:spPr>
          <a:xfrm>
            <a:off x="8130845" y="3986784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51" name="Shape 49"/>
          <p:cNvSpPr/>
          <p:nvPr/>
        </p:nvSpPr>
        <p:spPr>
          <a:xfrm>
            <a:off x="8130845" y="3986784"/>
            <a:ext cx="3603650" cy="45720"/>
          </a:xfrm>
          <a:prstGeom prst="rect">
            <a:avLst>
              <a:gd name="adj" fmla="val 200000"/>
            </a:avLst>
          </a:prstGeom>
          <a:solidFill>
            <a:srgbClr val="6C63FF"/>
          </a:solidFill>
          <a:ln/>
        </p:spPr>
      </p:sp>
      <p:sp>
        <p:nvSpPr>
          <p:cNvPr id="52" name="Shape 50"/>
          <p:cNvSpPr/>
          <p:nvPr/>
        </p:nvSpPr>
        <p:spPr>
          <a:xfrm>
            <a:off x="8222285" y="4114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6C63FF"/>
          </a:solidFill>
          <a:ln/>
        </p:spPr>
      </p:sp>
      <p:sp>
        <p:nvSpPr>
          <p:cNvPr id="53" name="Text 51"/>
          <p:cNvSpPr/>
          <p:nvPr/>
        </p:nvSpPr>
        <p:spPr>
          <a:xfrm>
            <a:off x="8222285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088" dirty="0"/>
          </a:p>
        </p:txBody>
      </p:sp>
      <p:sp>
        <p:nvSpPr>
          <p:cNvPr id="54" name="Text 52"/>
          <p:cNvSpPr/>
          <p:nvPr/>
        </p:nvSpPr>
        <p:spPr>
          <a:xfrm>
            <a:off x="8588045" y="4096512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Estimar o impacto ambiental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8222285" y="4498848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56" name="Text 54"/>
          <p:cNvSpPr/>
          <p:nvPr/>
        </p:nvSpPr>
        <p:spPr>
          <a:xfrm>
            <a:off x="8240573" y="4572000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Avaliar a adequação e as consequências ambientais de um projeto de infraestrutura governamental.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8" name="Shape 56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9" name="Shape 57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0" name="Shape 58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1" name="Shape 59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2" name="Shape 60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3" name="Shape 61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64" name="Text 62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 / 45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1417320"/>
            <a:ext cx="128016" cy="12801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219456" y="1554480"/>
            <a:ext cx="18288" cy="146913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" y="3032760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219456" y="3169920"/>
            <a:ext cx="18288" cy="146913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164592" y="4648200"/>
            <a:ext cx="128016" cy="128016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219456" y="4785360"/>
            <a:ext cx="18288" cy="146913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" y="6263640"/>
            <a:ext cx="128016" cy="128016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384048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840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ESTUDO DE CASO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73152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 de Auditoria em Hospital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31520" y="1298448"/>
            <a:ext cx="3200400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58952" y="14996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14630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1499616"/>
            <a:ext cx="45720" cy="1092708"/>
          </a:xfrm>
          <a:prstGeom prst="rect">
            <a:avLst>
              <a:gd name="adj" fmla="val 60000"/>
            </a:avLst>
          </a:pr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896112" y="1908810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19088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43584" y="14996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243584" y="17007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 Tribunal de Contas Estadual (TCE) recebeu queixas sobre o alto custo de insumos hospitalares de um hospital público.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41832" y="26014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9E0B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58952" y="27569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27203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2756916"/>
            <a:ext cx="45720" cy="1092708"/>
          </a:xfrm>
          <a:prstGeom prst="rect">
            <a:avLst>
              <a:gd name="adj" fmla="val 60000"/>
            </a:avLst>
          </a:pr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896112" y="316611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31661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43584" y="27569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243584" y="29580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Verificar a economicidade na aquisição dos insumos e a adequação dos processos licitatórios às práticas de mercado.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41832" y="38587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63FF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58952" y="40142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731520" y="39776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32" name="Shape 30"/>
          <p:cNvSpPr/>
          <p:nvPr/>
        </p:nvSpPr>
        <p:spPr>
          <a:xfrm>
            <a:off x="731520" y="4014216"/>
            <a:ext cx="45720" cy="1092708"/>
          </a:xfrm>
          <a:prstGeom prst="rect">
            <a:avLst>
              <a:gd name="adj" fmla="val 60000"/>
            </a:avLst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896112" y="4423410"/>
            <a:ext cx="274320" cy="2743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4" name="Text 32"/>
          <p:cNvSpPr/>
          <p:nvPr/>
        </p:nvSpPr>
        <p:spPr>
          <a:xfrm>
            <a:off x="896112" y="44234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243584" y="40142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SOLUÇÃO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243584" y="42153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TCE realizou uma auditoria operacional nos processos de compras e contratos, analisando editais e preços de referência.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41832" y="51160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6B6D4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758952" y="52715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39" name="Shape 37"/>
          <p:cNvSpPr/>
          <p:nvPr/>
        </p:nvSpPr>
        <p:spPr>
          <a:xfrm>
            <a:off x="731520" y="52349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40" name="Shape 38"/>
          <p:cNvSpPr/>
          <p:nvPr/>
        </p:nvSpPr>
        <p:spPr>
          <a:xfrm>
            <a:off x="731520" y="5271516"/>
            <a:ext cx="45720" cy="1092708"/>
          </a:xfrm>
          <a:prstGeom prst="rect">
            <a:avLst>
              <a:gd name="adj" fmla="val 60000"/>
            </a:avLst>
          </a:prstGeom>
          <a:solidFill>
            <a:srgbClr val="06B6D4"/>
          </a:solidFill>
          <a:ln/>
        </p:spPr>
      </p:sp>
      <p:sp>
        <p:nvSpPr>
          <p:cNvPr id="41" name="Shape 39"/>
          <p:cNvSpPr/>
          <p:nvPr/>
        </p:nvSpPr>
        <p:spPr>
          <a:xfrm>
            <a:off x="896112" y="5680710"/>
            <a:ext cx="274320" cy="2743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42" name="Text 40"/>
          <p:cNvSpPr/>
          <p:nvPr/>
        </p:nvSpPr>
        <p:spPr>
          <a:xfrm>
            <a:off x="896112" y="56807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243584" y="52715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6B6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243584" y="54726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auditoria identificou que a falta de planejamento e adesão a atas de preços mais altas geraram custos 25% acima do mercado. Foi recomendada uma central de compras e pregões eletrônicos, com economia estimada de R$ 1,5 milhão no primeiro ano.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6" name="Shape 44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7" name="Shape 45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8" name="Shape 46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9" name="Shape 47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0" name="Shape 48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1" name="Shape 49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52" name="Text 50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 / 45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C039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PONTOS DE ATENÇÃO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 na Auditoria Operacional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10820095" y="32004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/>
        </p:spPr>
      </p:sp>
      <p:sp>
        <p:nvSpPr>
          <p:cNvPr id="10" name="Text 8"/>
          <p:cNvSpPr/>
          <p:nvPr/>
        </p:nvSpPr>
        <p:spPr>
          <a:xfrm>
            <a:off x="10820095" y="320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21792" y="1481328"/>
            <a:ext cx="11140135" cy="890626"/>
          </a:xfrm>
          <a:prstGeom prst="roundRect">
            <a:avLst>
              <a:gd name="adj" fmla="val 10267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1444752"/>
            <a:ext cx="11140135" cy="890626"/>
          </a:xfrm>
          <a:prstGeom prst="roundRect">
            <a:avLst>
              <a:gd name="adj" fmla="val 8214"/>
            </a:avLst>
          </a:prstGeom>
          <a:solidFill>
            <a:srgbClr val="1A2848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1444752"/>
            <a:ext cx="54864" cy="890626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" y="1481328"/>
            <a:ext cx="1090239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03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INDEPENDÊNCIA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58952" y="1645920"/>
            <a:ext cx="10865815" cy="6528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auditor deve ser independente do programa auditado para evitar conflitos de interesse.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" y="2499970"/>
            <a:ext cx="11140135" cy="890626"/>
          </a:xfrm>
          <a:prstGeom prst="roundRect">
            <a:avLst>
              <a:gd name="adj" fmla="val 10267"/>
            </a:avLst>
          </a:prstGeom>
          <a:solidFill>
            <a:srgbClr val="000000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" y="2463394"/>
            <a:ext cx="11140135" cy="890626"/>
          </a:xfrm>
          <a:prstGeom prst="roundRect">
            <a:avLst>
              <a:gd name="adj" fmla="val 8214"/>
            </a:avLst>
          </a:prstGeom>
          <a:solidFill>
            <a:srgbClr val="141E34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2463394"/>
            <a:ext cx="54864" cy="890626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" y="2499970"/>
            <a:ext cx="1090239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03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OBJETIVIDADE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58952" y="2664562"/>
            <a:ext cx="10865815" cy="6528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conclusões da auditoria devem ser baseadas em evidências sólidas e verificáveis, não em opiniões pessoais.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" y="3518611"/>
            <a:ext cx="11140135" cy="890626"/>
          </a:xfrm>
          <a:prstGeom prst="roundRect">
            <a:avLst>
              <a:gd name="adj" fmla="val 10267"/>
            </a:avLst>
          </a:prstGeom>
          <a:solidFill>
            <a:srgbClr val="00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" y="3482035"/>
            <a:ext cx="11140135" cy="890626"/>
          </a:xfrm>
          <a:prstGeom prst="roundRect">
            <a:avLst>
              <a:gd name="adj" fmla="val 8214"/>
            </a:avLst>
          </a:prstGeom>
          <a:solidFill>
            <a:srgbClr val="1A2848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360" y="3482035"/>
            <a:ext cx="54864" cy="890626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" y="3518611"/>
            <a:ext cx="1090239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03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MATERIALIDADE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58952" y="3683203"/>
            <a:ext cx="10865815" cy="6528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 fundamental focar nos aspectos que podem ter um impacto significativo nos objetivos do programa ou nos recursos públicos.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" y="4537253"/>
            <a:ext cx="11140135" cy="890626"/>
          </a:xfrm>
          <a:prstGeom prst="roundRect">
            <a:avLst>
              <a:gd name="adj" fmla="val 10267"/>
            </a:avLst>
          </a:prstGeom>
          <a:solidFill>
            <a:srgbClr val="000000"/>
          </a:solidFill>
          <a:ln/>
        </p:spPr>
      </p:sp>
      <p:sp>
        <p:nvSpPr>
          <p:cNvPr id="27" name="Shape 25"/>
          <p:cNvSpPr/>
          <p:nvPr/>
        </p:nvSpPr>
        <p:spPr>
          <a:xfrm>
            <a:off x="594360" y="4500677"/>
            <a:ext cx="11140135" cy="890626"/>
          </a:xfrm>
          <a:prstGeom prst="roundRect">
            <a:avLst>
              <a:gd name="adj" fmla="val 8214"/>
            </a:avLst>
          </a:prstGeom>
          <a:solidFill>
            <a:srgbClr val="141E34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" y="4500677"/>
            <a:ext cx="54864" cy="890626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29" name="Text 27"/>
          <p:cNvSpPr/>
          <p:nvPr/>
        </p:nvSpPr>
        <p:spPr>
          <a:xfrm>
            <a:off x="758952" y="4537253"/>
            <a:ext cx="1090239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03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RISCO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58952" y="4701845"/>
            <a:ext cx="10865815" cy="6528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seleção de temas auditáveis deve priorizar aqueles com maiores riscos de ineficiência, desperdício ou não alcance de resultados.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1792" y="5555894"/>
            <a:ext cx="11140135" cy="890626"/>
          </a:xfrm>
          <a:prstGeom prst="roundRect">
            <a:avLst>
              <a:gd name="adj" fmla="val 10267"/>
            </a:avLst>
          </a:prstGeom>
          <a:solidFill>
            <a:srgbClr val="000000"/>
          </a:solidFill>
          <a:ln/>
        </p:spPr>
      </p:sp>
      <p:sp>
        <p:nvSpPr>
          <p:cNvPr id="32" name="Shape 30"/>
          <p:cNvSpPr/>
          <p:nvPr/>
        </p:nvSpPr>
        <p:spPr>
          <a:xfrm>
            <a:off x="594360" y="5519318"/>
            <a:ext cx="11140135" cy="890626"/>
          </a:xfrm>
          <a:prstGeom prst="roundRect">
            <a:avLst>
              <a:gd name="adj" fmla="val 8214"/>
            </a:avLst>
          </a:prstGeom>
          <a:solidFill>
            <a:srgbClr val="1A2848"/>
          </a:solidFill>
          <a:ln/>
        </p:spPr>
      </p:sp>
      <p:sp>
        <p:nvSpPr>
          <p:cNvPr id="33" name="Shape 31"/>
          <p:cNvSpPr/>
          <p:nvPr/>
        </p:nvSpPr>
        <p:spPr>
          <a:xfrm>
            <a:off x="594360" y="5519318"/>
            <a:ext cx="54864" cy="890626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34" name="Text 32"/>
          <p:cNvSpPr/>
          <p:nvPr/>
        </p:nvSpPr>
        <p:spPr>
          <a:xfrm>
            <a:off x="758952" y="5555894"/>
            <a:ext cx="1090239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03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EVIDÊNCIA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758952" y="5720486"/>
            <a:ext cx="10865815" cy="6528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Todas as conclusões apresentadas em um relatório de auditoria exigem evidências adequadas, suficientes e confiáveis.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7" name="Shape 35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8" name="Shape 36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9" name="Shape 37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0" name="Shape 38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1" name="Shape 39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3" name="Text 41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 / 45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SÍNTESE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521208"/>
            <a:ext cx="822960" cy="1828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21792"/>
            <a:ext cx="11048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13232" y="1499616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463040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463040"/>
            <a:ext cx="45720" cy="1371600"/>
          </a:xfrm>
          <a:prstGeom prst="rect">
            <a:avLst>
              <a:gd name="adj" fmla="val 200000"/>
            </a:avLst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813816" y="15727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813816" y="1572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3816" y="1993392"/>
            <a:ext cx="52134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Auditoria Operacional avalia a economia, eficiência e eficácia das operações governamentais.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92444" y="1499616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6265012" y="1463040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4" name="Shape 12"/>
          <p:cNvSpPr/>
          <p:nvPr/>
        </p:nvSpPr>
        <p:spPr>
          <a:xfrm>
            <a:off x="6265012" y="1463040"/>
            <a:ext cx="45720" cy="1371600"/>
          </a:xfrm>
          <a:prstGeom prst="rect">
            <a:avLst>
              <a:gd name="adj" fmla="val 200000"/>
            </a:avLst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6393028" y="15727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393028" y="1572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93028" y="1993392"/>
            <a:ext cx="52134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Diferencia-se da auditoria financeira e de conformidade por seu foco em desempenho e resultados.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13232" y="2980944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2944368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2944368"/>
            <a:ext cx="45720" cy="1371600"/>
          </a:xfrm>
          <a:prstGeom prst="rect">
            <a:avLst>
              <a:gd name="adj" fmla="val 200000"/>
            </a:avLst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813816" y="305409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813816" y="30540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3816" y="3474720"/>
            <a:ext cx="52134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Os princípios de independência e objetividade são cruciais para a credibilidade da Auditoria Operacional.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292444" y="2980944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265012" y="2944368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6" name="Shape 24"/>
          <p:cNvSpPr/>
          <p:nvPr/>
        </p:nvSpPr>
        <p:spPr>
          <a:xfrm>
            <a:off x="6265012" y="2944368"/>
            <a:ext cx="45720" cy="1371600"/>
          </a:xfrm>
          <a:prstGeom prst="rect">
            <a:avLst>
              <a:gd name="adj" fmla="val 200000"/>
            </a:avLst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6393028" y="305409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6393028" y="30540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93028" y="3474720"/>
            <a:ext cx="52134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uso dos '3 Es' orienta a análise e identificação de melhorias na gestão pública.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 / 45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12191695" cy="411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PRINCIPAIS APRENDIZADOS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645920" cy="228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72237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722376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Auditoria Operacional é uma ferramenta estratégica para aprimorar a gestão e o gasto público.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68698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4350410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14" name="Shape 12"/>
          <p:cNvSpPr/>
          <p:nvPr/>
        </p:nvSpPr>
        <p:spPr>
          <a:xfrm>
            <a:off x="4350410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47842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4478426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20" dirty="0"/>
          </a:p>
        </p:txBody>
      </p:sp>
      <p:sp>
        <p:nvSpPr>
          <p:cNvPr id="17" name="Text 15"/>
          <p:cNvSpPr/>
          <p:nvPr/>
        </p:nvSpPr>
        <p:spPr>
          <a:xfrm>
            <a:off x="4478426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Os conceitos de Economia, Eficiência e Eficácia formam a base analítica de toda Auditoria Operacional.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24749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8106461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0" name="Shape 18"/>
          <p:cNvSpPr/>
          <p:nvPr/>
        </p:nvSpPr>
        <p:spPr>
          <a:xfrm>
            <a:off x="8106461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8234477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8234477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20" dirty="0"/>
          </a:p>
        </p:txBody>
      </p:sp>
      <p:sp>
        <p:nvSpPr>
          <p:cNvPr id="23" name="Text 21"/>
          <p:cNvSpPr/>
          <p:nvPr/>
        </p:nvSpPr>
        <p:spPr>
          <a:xfrm>
            <a:off x="8234477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 vital distinguir a AO de outros tipos de auditoria para aplicar a metodologia correta.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2648" y="3310128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282696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722376" y="341071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722376" y="3410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520" dirty="0"/>
          </a:p>
        </p:txBody>
      </p:sp>
      <p:sp>
        <p:nvSpPr>
          <p:cNvPr id="29" name="Text 27"/>
          <p:cNvSpPr/>
          <p:nvPr/>
        </p:nvSpPr>
        <p:spPr>
          <a:xfrm>
            <a:off x="722376" y="3849624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independência e a objetividade são pilares éticos e técnicos indispensáveis ao auditor operacional.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368698" y="3310128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4350410" y="3282696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32" name="Shape 30"/>
          <p:cNvSpPr/>
          <p:nvPr/>
        </p:nvSpPr>
        <p:spPr>
          <a:xfrm>
            <a:off x="4350410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06B6D4"/>
          </a:solidFill>
          <a:ln/>
        </p:spPr>
      </p:sp>
      <p:sp>
        <p:nvSpPr>
          <p:cNvPr id="33" name="Shape 31"/>
          <p:cNvSpPr/>
          <p:nvPr/>
        </p:nvSpPr>
        <p:spPr>
          <a:xfrm>
            <a:off x="4478426" y="341071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6B6D4"/>
          </a:solidFill>
          <a:ln/>
        </p:spPr>
      </p:sp>
      <p:sp>
        <p:nvSpPr>
          <p:cNvPr id="34" name="Text 32"/>
          <p:cNvSpPr/>
          <p:nvPr/>
        </p:nvSpPr>
        <p:spPr>
          <a:xfrm>
            <a:off x="4478426" y="3410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520" dirty="0"/>
          </a:p>
        </p:txBody>
      </p:sp>
      <p:sp>
        <p:nvSpPr>
          <p:cNvPr id="35" name="Text 33"/>
          <p:cNvSpPr/>
          <p:nvPr/>
        </p:nvSpPr>
        <p:spPr>
          <a:xfrm>
            <a:off x="4478426" y="3849624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evidências são o combustível da AO, sustentando todas as conclusões e recomendações apresentadas.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8851" y="0"/>
            <a:ext cx="463284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558851" y="0"/>
            <a:ext cx="36576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1"/>
          <p:cNvSpPr/>
          <p:nvPr/>
        </p:nvSpPr>
        <p:spPr>
          <a:xfrm>
            <a:off x="9631375" y="665683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C0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Foto: Van Tay Media / Unsplash</a:t>
            </a:r>
            <a:endParaRPr lang="en-US" sz="700" dirty="0"/>
          </a:p>
        </p:txBody>
      </p:sp>
      <p:sp>
        <p:nvSpPr>
          <p:cNvPr id="5" name="Shape 2"/>
          <p:cNvSpPr/>
          <p:nvPr/>
        </p:nvSpPr>
        <p:spPr>
          <a:xfrm>
            <a:off x="4535311" y="0"/>
            <a:ext cx="3401483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Shape 3"/>
          <p:cNvSpPr/>
          <p:nvPr/>
        </p:nvSpPr>
        <p:spPr>
          <a:xfrm>
            <a:off x="4535311" y="1143000"/>
            <a:ext cx="3401483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4"/>
          <p:cNvSpPr/>
          <p:nvPr/>
        </p:nvSpPr>
        <p:spPr>
          <a:xfrm>
            <a:off x="4535311" y="2286000"/>
            <a:ext cx="3401483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Shape 5"/>
          <p:cNvSpPr/>
          <p:nvPr/>
        </p:nvSpPr>
        <p:spPr>
          <a:xfrm>
            <a:off x="4535311" y="3429000"/>
            <a:ext cx="3401483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Shape 6"/>
          <p:cNvSpPr/>
          <p:nvPr/>
        </p:nvSpPr>
        <p:spPr>
          <a:xfrm>
            <a:off x="4535311" y="4572000"/>
            <a:ext cx="3401483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Shape 7"/>
          <p:cNvSpPr/>
          <p:nvPr/>
        </p:nvSpPr>
        <p:spPr>
          <a:xfrm>
            <a:off x="4535311" y="5715000"/>
            <a:ext cx="3401483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8"/>
          <p:cNvSpPr/>
          <p:nvPr/>
        </p:nvSpPr>
        <p:spPr>
          <a:xfrm>
            <a:off x="731520" y="1005840"/>
            <a:ext cx="45720" cy="2103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Shape 9"/>
          <p:cNvSpPr/>
          <p:nvPr/>
        </p:nvSpPr>
        <p:spPr>
          <a:xfrm>
            <a:off x="804672" y="1005840"/>
            <a:ext cx="13716" cy="2103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10972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005840" y="1417320"/>
            <a:ext cx="1280160" cy="2011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1572768"/>
            <a:ext cx="566913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Planejamento Estratégico da Auditoria Operacional</a:t>
            </a:r>
            <a:endParaRPr lang="en-US" sz="3600" dirty="0"/>
          </a:p>
        </p:txBody>
      </p:sp>
      <p:sp>
        <p:nvSpPr>
          <p:cNvPr id="16" name="Shape 13"/>
          <p:cNvSpPr/>
          <p:nvPr/>
        </p:nvSpPr>
        <p:spPr>
          <a:xfrm>
            <a:off x="1005840" y="4142232"/>
            <a:ext cx="2011680" cy="1097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1005840" y="42519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QUE VOCÊ VAI APRENDER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005840" y="45902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</p:sp>
      <p:sp>
        <p:nvSpPr>
          <p:cNvPr id="19" name="Text 16"/>
          <p:cNvSpPr/>
          <p:nvPr/>
        </p:nvSpPr>
        <p:spPr>
          <a:xfrm>
            <a:off x="1234440" y="4544568"/>
            <a:ext cx="52911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Compreender as etapas-chave do planejamento da auditoria operacional.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005840" y="4992624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1234440" y="4946904"/>
            <a:ext cx="52911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Elaborar planos de auditoria focados na relevância e impacto.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005840" y="5394960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</p:sp>
      <p:sp>
        <p:nvSpPr>
          <p:cNvPr id="23" name="Text 20"/>
          <p:cNvSpPr/>
          <p:nvPr/>
        </p:nvSpPr>
        <p:spPr>
          <a:xfrm>
            <a:off x="1234440" y="5349240"/>
            <a:ext cx="52911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Conduzir auditorias públicas mais eficazes e com maior aceitação.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31520" y="6446520"/>
            <a:ext cx="542544" cy="731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Shape 22"/>
          <p:cNvSpPr/>
          <p:nvPr/>
        </p:nvSpPr>
        <p:spPr>
          <a:xfrm>
            <a:off x="1264920" y="6446520"/>
            <a:ext cx="542544" cy="731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Shape 23"/>
          <p:cNvSpPr/>
          <p:nvPr/>
        </p:nvSpPr>
        <p:spPr>
          <a:xfrm>
            <a:off x="1798320" y="6446520"/>
            <a:ext cx="542544" cy="731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7" name="Shape 24"/>
          <p:cNvSpPr/>
          <p:nvPr/>
        </p:nvSpPr>
        <p:spPr>
          <a:xfrm>
            <a:off x="2331720" y="6446520"/>
            <a:ext cx="542544" cy="731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Shape 25"/>
          <p:cNvSpPr/>
          <p:nvPr/>
        </p:nvSpPr>
        <p:spPr>
          <a:xfrm>
            <a:off x="2865120" y="6446520"/>
            <a:ext cx="542544" cy="731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Shape 26"/>
          <p:cNvSpPr/>
          <p:nvPr/>
        </p:nvSpPr>
        <p:spPr>
          <a:xfrm>
            <a:off x="3398520" y="6446520"/>
            <a:ext cx="542544" cy="7315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IMPORTÂNCIA E FUNÇÃO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 do Planejamento da Auditoria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45336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08760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08760"/>
            <a:ext cx="54864" cy="1371600"/>
          </a:xfrm>
          <a:prstGeom prst="rect">
            <a:avLst>
              <a:gd name="adj" fmla="val 166667"/>
            </a:avLst>
          </a:prstGeom>
          <a:solidFill>
            <a:srgbClr val="6C63FF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1563624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C63FF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2376" y="1856232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planejamento é a fase inicial e crucial da auditoria operacional, definindo 'o quê', 'como', 'quem' e 'quando'.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51296" y="1545336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6223864" y="1508760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6" name="Shape 14"/>
          <p:cNvSpPr/>
          <p:nvPr/>
        </p:nvSpPr>
        <p:spPr>
          <a:xfrm>
            <a:off x="6223864" y="1508760"/>
            <a:ext cx="54864" cy="1371600"/>
          </a:xfrm>
          <a:prstGeom prst="rect">
            <a:avLst>
              <a:gd name="adj" fmla="val 166667"/>
            </a:avLst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333592" y="1563624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B82F6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1880" y="1856232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 auditorias operacionais, ele é essencial para avaliar economicidade, eficiência, eficácia e efetividade das ações governamentais.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1792" y="3081528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3044952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3044952"/>
            <a:ext cx="54864" cy="1371600"/>
          </a:xfrm>
          <a:prstGeom prst="rect">
            <a:avLst>
              <a:gd name="adj" fmla="val 166667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" y="3099816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B981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2376" y="3392424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 bom planejamento otimiza recursos, focando esforços em áreas de maior risco ou relevância.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251296" y="3081528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223864" y="3044952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6" name="Shape 24"/>
          <p:cNvSpPr/>
          <p:nvPr/>
        </p:nvSpPr>
        <p:spPr>
          <a:xfrm>
            <a:off x="6223864" y="3044952"/>
            <a:ext cx="54864" cy="1371600"/>
          </a:xfrm>
          <a:prstGeom prst="rect">
            <a:avLst>
              <a:gd name="adj" fmla="val 166667"/>
            </a:avLst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333592" y="3099816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9E0B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351880" y="3392424"/>
            <a:ext cx="5208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Planejar reduz surpresas, garante a qualidade do trabalho e estabelece um roteiro claro e critérios de avaliação.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0" name="Shape 28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 / 45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Etapas do Planejamento Estratégico da Auditoria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83971" y="1517904"/>
            <a:ext cx="21946" cy="4919472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732026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6C63FF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73202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69264" y="1453896"/>
            <a:ext cx="10884103" cy="812292"/>
          </a:xfrm>
          <a:prstGeom prst="roundRect">
            <a:avLst>
              <a:gd name="adj" fmla="val 1125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941832" y="1417320"/>
            <a:ext cx="10884103" cy="812292"/>
          </a:xfrm>
          <a:prstGeom prst="roundRect">
            <a:avLst>
              <a:gd name="adj" fmla="val 6754"/>
            </a:avLst>
          </a:prstGeom>
          <a:solidFill>
            <a:srgbClr val="141E34"/>
          </a:solidFill>
          <a:ln/>
        </p:spPr>
      </p:sp>
      <p:sp>
        <p:nvSpPr>
          <p:cNvPr id="14" name="Shape 12"/>
          <p:cNvSpPr/>
          <p:nvPr/>
        </p:nvSpPr>
        <p:spPr>
          <a:xfrm>
            <a:off x="941832" y="1417320"/>
            <a:ext cx="45720" cy="812292"/>
          </a:xfrm>
          <a:prstGeom prst="rect">
            <a:avLst>
              <a:gd name="adj" fmla="val 120000"/>
            </a:avLst>
          </a:prstGeom>
          <a:solidFill>
            <a:srgbClr val="6C63FF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1435608"/>
            <a:ext cx="10637215" cy="3156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Identificação 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1732940"/>
            <a:ext cx="10637215" cy="481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Seleção dos Objetos de Auditoria: Focar em políticas públicas, programas ou processos com alto impacto social e orçamentário, baseando a seleção em análise de risco e relevância.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3232" y="2188464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9E0B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94360" y="2590038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259003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69264" y="2311908"/>
            <a:ext cx="10884103" cy="812292"/>
          </a:xfrm>
          <a:prstGeom prst="roundRect">
            <a:avLst>
              <a:gd name="adj" fmla="val 11257"/>
            </a:avLst>
          </a:prstGeom>
          <a:solidFill>
            <a:srgbClr val="00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941832" y="2275332"/>
            <a:ext cx="10884103" cy="812292"/>
          </a:xfrm>
          <a:prstGeom prst="roundRect">
            <a:avLst>
              <a:gd name="adj" fmla="val 6754"/>
            </a:avLst>
          </a:prstGeom>
          <a:solidFill>
            <a:srgbClr val="141E34"/>
          </a:solidFill>
          <a:ln/>
        </p:spPr>
      </p:sp>
      <p:sp>
        <p:nvSpPr>
          <p:cNvPr id="22" name="Shape 20"/>
          <p:cNvSpPr/>
          <p:nvPr/>
        </p:nvSpPr>
        <p:spPr>
          <a:xfrm>
            <a:off x="941832" y="2275332"/>
            <a:ext cx="45720" cy="812292"/>
          </a:xfrm>
          <a:prstGeom prst="rect">
            <a:avLst>
              <a:gd name="adj" fmla="val 120000"/>
            </a:avLst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2293620"/>
            <a:ext cx="10637215" cy="3156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Entendimento do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97280" y="2590952"/>
            <a:ext cx="10637215" cy="481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Objeto e Contexto Operacional: Aprofundar o conhecimento através de levantamento normativo, análise orçamentária, estudos técnicos e entrevistas exploratórias.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3232" y="3046476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63FF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594360" y="344805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44805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69264" y="3169920"/>
            <a:ext cx="10884103" cy="812292"/>
          </a:xfrm>
          <a:prstGeom prst="roundRect">
            <a:avLst>
              <a:gd name="adj" fmla="val 11257"/>
            </a:avLst>
          </a:prstGeom>
          <a:solidFill>
            <a:srgbClr val="000000"/>
          </a:solidFill>
          <a:ln/>
        </p:spPr>
      </p:sp>
      <p:sp>
        <p:nvSpPr>
          <p:cNvPr id="29" name="Shape 27"/>
          <p:cNvSpPr/>
          <p:nvPr/>
        </p:nvSpPr>
        <p:spPr>
          <a:xfrm>
            <a:off x="941832" y="3133344"/>
            <a:ext cx="10884103" cy="812292"/>
          </a:xfrm>
          <a:prstGeom prst="roundRect">
            <a:avLst>
              <a:gd name="adj" fmla="val 6754"/>
            </a:avLst>
          </a:prstGeom>
          <a:solidFill>
            <a:srgbClr val="141E34"/>
          </a:solidFill>
          <a:ln/>
        </p:spPr>
      </p:sp>
      <p:sp>
        <p:nvSpPr>
          <p:cNvPr id="30" name="Shape 28"/>
          <p:cNvSpPr/>
          <p:nvPr/>
        </p:nvSpPr>
        <p:spPr>
          <a:xfrm>
            <a:off x="941832" y="3133344"/>
            <a:ext cx="45720" cy="812292"/>
          </a:xfrm>
          <a:prstGeom prst="rect">
            <a:avLst>
              <a:gd name="adj" fmla="val 120000"/>
            </a:avLst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1097280" y="3151632"/>
            <a:ext cx="10637215" cy="3156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Avaliação de Riscos e Materialidade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097280" y="3448964"/>
            <a:ext cx="10637215" cy="481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Identificar potenciais falhas que impeçam o alcance dos objetivos públicos, avaliando probabilidade, impacto e materialidade.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13232" y="390448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0B981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594360" y="4306062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430606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69264" y="4027932"/>
            <a:ext cx="10884103" cy="812292"/>
          </a:xfrm>
          <a:prstGeom prst="roundRect">
            <a:avLst>
              <a:gd name="adj" fmla="val 11257"/>
            </a:avLst>
          </a:prstGeom>
          <a:solidFill>
            <a:srgbClr val="000000"/>
          </a:solidFill>
          <a:ln/>
        </p:spPr>
      </p:sp>
      <p:sp>
        <p:nvSpPr>
          <p:cNvPr id="37" name="Shape 35"/>
          <p:cNvSpPr/>
          <p:nvPr/>
        </p:nvSpPr>
        <p:spPr>
          <a:xfrm>
            <a:off x="941832" y="3991356"/>
            <a:ext cx="10884103" cy="812292"/>
          </a:xfrm>
          <a:prstGeom prst="roundRect">
            <a:avLst>
              <a:gd name="adj" fmla="val 6754"/>
            </a:avLst>
          </a:prstGeom>
          <a:solidFill>
            <a:srgbClr val="141E34"/>
          </a:solidFill>
          <a:ln/>
        </p:spPr>
      </p:sp>
      <p:sp>
        <p:nvSpPr>
          <p:cNvPr id="38" name="Shape 36"/>
          <p:cNvSpPr/>
          <p:nvPr/>
        </p:nvSpPr>
        <p:spPr>
          <a:xfrm>
            <a:off x="941832" y="3991356"/>
            <a:ext cx="45720" cy="812292"/>
          </a:xfrm>
          <a:prstGeom prst="rect">
            <a:avLst>
              <a:gd name="adj" fmla="val 120000"/>
            </a:avLst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1097280" y="4009644"/>
            <a:ext cx="10637215" cy="3156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Definição dos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097280" y="4306976"/>
            <a:ext cx="10637215" cy="481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Objetivos e Escopo da Auditoria: Estabelecer objetivos SMART (Específicos, Mensuráveis, Alcançáveis, Relevantes e com Prazo Definido) e delimitar o escopo temporal e de unidades envolvid.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13232" y="4762500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6B6D4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594360" y="516407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06B6D4"/>
          </a:solidFill>
          <a:ln/>
        </p:spPr>
      </p:sp>
      <p:sp>
        <p:nvSpPr>
          <p:cNvPr id="43" name="Text 41"/>
          <p:cNvSpPr/>
          <p:nvPr/>
        </p:nvSpPr>
        <p:spPr>
          <a:xfrm>
            <a:off x="594360" y="516407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69264" y="4885944"/>
            <a:ext cx="10884103" cy="812292"/>
          </a:xfrm>
          <a:prstGeom prst="roundRect">
            <a:avLst>
              <a:gd name="adj" fmla="val 11257"/>
            </a:avLst>
          </a:prstGeom>
          <a:solidFill>
            <a:srgbClr val="000000"/>
          </a:solidFill>
          <a:ln/>
        </p:spPr>
      </p:sp>
      <p:sp>
        <p:nvSpPr>
          <p:cNvPr id="45" name="Shape 43"/>
          <p:cNvSpPr/>
          <p:nvPr/>
        </p:nvSpPr>
        <p:spPr>
          <a:xfrm>
            <a:off x="941832" y="4849368"/>
            <a:ext cx="10884103" cy="812292"/>
          </a:xfrm>
          <a:prstGeom prst="roundRect">
            <a:avLst>
              <a:gd name="adj" fmla="val 6754"/>
            </a:avLst>
          </a:prstGeom>
          <a:solidFill>
            <a:srgbClr val="141E34"/>
          </a:solidFill>
          <a:ln/>
        </p:spPr>
      </p:sp>
      <p:sp>
        <p:nvSpPr>
          <p:cNvPr id="46" name="Shape 44"/>
          <p:cNvSpPr/>
          <p:nvPr/>
        </p:nvSpPr>
        <p:spPr>
          <a:xfrm>
            <a:off x="941832" y="4849368"/>
            <a:ext cx="45720" cy="812292"/>
          </a:xfrm>
          <a:prstGeom prst="rect">
            <a:avLst>
              <a:gd name="adj" fmla="val 120000"/>
            </a:avLst>
          </a:prstGeom>
          <a:solidFill>
            <a:srgbClr val="06B6D4"/>
          </a:solidFill>
          <a:ln/>
        </p:spPr>
      </p:sp>
      <p:sp>
        <p:nvSpPr>
          <p:cNvPr id="47" name="Text 45"/>
          <p:cNvSpPr/>
          <p:nvPr/>
        </p:nvSpPr>
        <p:spPr>
          <a:xfrm>
            <a:off x="1097280" y="4867656"/>
            <a:ext cx="10637215" cy="3156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Definição de Critérios de Auditoria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1097280" y="5164988"/>
            <a:ext cx="10637215" cy="481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Estabelecer padrões de referência para avaliação, buscando-os em legislação específica, normas contábeis, melhores práticas e princípios de boa administração.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713232" y="5620512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B82F6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594360" y="6022086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6C63FF"/>
          </a:solidFill>
          <a:ln/>
        </p:spPr>
      </p:sp>
      <p:sp>
        <p:nvSpPr>
          <p:cNvPr id="51" name="Text 49"/>
          <p:cNvSpPr/>
          <p:nvPr/>
        </p:nvSpPr>
        <p:spPr>
          <a:xfrm>
            <a:off x="594360" y="602208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69264" y="5743956"/>
            <a:ext cx="10884103" cy="812292"/>
          </a:xfrm>
          <a:prstGeom prst="roundRect">
            <a:avLst>
              <a:gd name="adj" fmla="val 11257"/>
            </a:avLst>
          </a:prstGeom>
          <a:solidFill>
            <a:srgbClr val="000000"/>
          </a:solidFill>
          <a:ln/>
        </p:spPr>
      </p:sp>
      <p:sp>
        <p:nvSpPr>
          <p:cNvPr id="53" name="Shape 51"/>
          <p:cNvSpPr/>
          <p:nvPr/>
        </p:nvSpPr>
        <p:spPr>
          <a:xfrm>
            <a:off x="941832" y="5707380"/>
            <a:ext cx="10884103" cy="812292"/>
          </a:xfrm>
          <a:prstGeom prst="roundRect">
            <a:avLst>
              <a:gd name="adj" fmla="val 6754"/>
            </a:avLst>
          </a:prstGeom>
          <a:solidFill>
            <a:srgbClr val="141E34"/>
          </a:solidFill>
          <a:ln/>
        </p:spPr>
      </p:sp>
      <p:sp>
        <p:nvSpPr>
          <p:cNvPr id="54" name="Shape 52"/>
          <p:cNvSpPr/>
          <p:nvPr/>
        </p:nvSpPr>
        <p:spPr>
          <a:xfrm>
            <a:off x="941832" y="5707380"/>
            <a:ext cx="45720" cy="812292"/>
          </a:xfrm>
          <a:prstGeom prst="rect">
            <a:avLst>
              <a:gd name="adj" fmla="val 120000"/>
            </a:avLst>
          </a:prstGeom>
          <a:solidFill>
            <a:srgbClr val="6C63FF"/>
          </a:solidFill>
          <a:ln/>
        </p:spPr>
      </p:sp>
      <p:sp>
        <p:nvSpPr>
          <p:cNvPr id="55" name="Text 53"/>
          <p:cNvSpPr/>
          <p:nvPr/>
        </p:nvSpPr>
        <p:spPr>
          <a:xfrm>
            <a:off x="1097280" y="5725668"/>
            <a:ext cx="10637215" cy="3156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Formulação da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1097280" y="6023000"/>
            <a:ext cx="10637215" cy="481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Matriz de Planejamento da Auditoria: Consolidar um documento detalhado que vincule objetivos, critérios, fontes de evidência e procedimentos de auditoria, servindo como roteiro.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8" name="Shape 56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9" name="Shape 57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0" name="Shape 58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1" name="Shape 59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2" name="Shape 60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3" name="Shape 61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64" name="Text 62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 / 45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 ESSENCIAL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Matriz de Planejamento da Auditoria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36192"/>
          <a:ext cx="11140135" cy="914400"/>
        </p:xfrm>
        <a:graphic>
          <a:graphicData uri="http://schemas.openxmlformats.org/drawingml/2006/table">
            <a:tbl>
              <a:tblPr/>
              <a:tblGrid>
                <a:gridCol w="3713378"/>
                <a:gridCol w="3713378"/>
                <a:gridCol w="3713378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Aspecto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Descrição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Exemplo (Auditoria de Educação Infantil)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Problema de Auditoria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Questões centrais que a auditoria busca responder para identificar falhas ou oportunidades.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 oferta de vagas é insuficiente para atender a demanda de educação infantil no município, com cobertura de 65% para cri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Objetivo da Auditoria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 que a auditoria pretende alcançar de forma clara e mensurável.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Avaliar a adequação da oferta de vagas de educação infantil em relação à demanda municipal, verificando a eficácia da po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Critérios de Auditoria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Padrões ou referências usadas para avaliar as operações auditadas.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 município deve garantir a oferta de educação infantil conforme art. 11, V, da LDB, e a meta 1 do PNE (Lei nº 13.005/20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Procedimentos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Métodos e técnicas para coletar e analisar as evidências.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Análise histórica de dados de IBGE, Secretarias de Educação e Saúde, mapeamento georreferenciado de unidades e demanda, 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1" name="Shape 8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2" name="Shape 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3" name="Shape 10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4" name="Shape 1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5" name="Shape 12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6" name="Shape 1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 / 45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-2743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3B82F6">
                    <a:alpha val="12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594360" y="502920"/>
            <a:ext cx="11002975" cy="16459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73152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REFLEXÃO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024128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Refletir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11002975" cy="1188720"/>
          </a:xfrm>
          <a:prstGeom prst="roundRect">
            <a:avLst>
              <a:gd name="adj" fmla="val 6154"/>
            </a:avLst>
          </a:prstGeom>
          <a:solidFill>
            <a:srgbClr val="111D3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37360"/>
            <a:ext cx="103628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900" i="1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um planejamento bem estruturado pode impactar diretamente a credibilidade e a aceitação das recomendações de uma auditoria operacional por parte dos gestores públicos?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94360" y="3072384"/>
            <a:ext cx="11002975" cy="1188720"/>
          </a:xfrm>
          <a:prstGeom prst="roundRect">
            <a:avLst>
              <a:gd name="adj" fmla="val 6154"/>
            </a:avLst>
          </a:prstGeom>
          <a:solidFill>
            <a:srgbClr val="111D38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072384"/>
            <a:ext cx="103628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900" i="1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Quais desafios você identifica na aplicação do planejamento SMART para definir objetivos de auditoria em um contexto de políticas públicas dinâmicas e complexas?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4360" y="6400800"/>
            <a:ext cx="1842973" cy="1097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2428189" y="6400800"/>
            <a:ext cx="1842973" cy="1097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Shape 10"/>
          <p:cNvSpPr/>
          <p:nvPr/>
        </p:nvSpPr>
        <p:spPr>
          <a:xfrm>
            <a:off x="4262018" y="6400800"/>
            <a:ext cx="1842973" cy="1097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Shape 11"/>
          <p:cNvSpPr/>
          <p:nvPr/>
        </p:nvSpPr>
        <p:spPr>
          <a:xfrm>
            <a:off x="6095848" y="6400800"/>
            <a:ext cx="1842973" cy="1097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Shape 12"/>
          <p:cNvSpPr/>
          <p:nvPr/>
        </p:nvSpPr>
        <p:spPr>
          <a:xfrm>
            <a:off x="7929677" y="6400800"/>
            <a:ext cx="1842973" cy="1097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9763506" y="6400800"/>
            <a:ext cx="1842973" cy="1097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45775" y="6693408"/>
            <a:ext cx="73152" cy="7315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637215" y="6638544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1417320"/>
            <a:ext cx="128016" cy="12801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219456" y="1554480"/>
            <a:ext cx="18288" cy="146913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" y="3032760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219456" y="3169920"/>
            <a:ext cx="18288" cy="146913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164592" y="4648200"/>
            <a:ext cx="128016" cy="128016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219456" y="4785360"/>
            <a:ext cx="18288" cy="146913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" y="6263640"/>
            <a:ext cx="128016" cy="128016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384048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840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ESTUDO DE CASO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73152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31520" y="1298448"/>
            <a:ext cx="3200400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58952" y="14996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14630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1499616"/>
            <a:ext cx="45720" cy="1092708"/>
          </a:xfrm>
          <a:prstGeom prst="rect">
            <a:avLst>
              <a:gd name="adj" fmla="val 60000"/>
            </a:avLst>
          </a:pr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896112" y="1908810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19088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43584" y="14996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243584" y="17007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 tribunal de contas decide auditar a política pública de saneamento básico em uma capital brasileira para avaliar a universalização do acesso à água tratada e esgoto sanitário.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41832" y="26014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9E0B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58952" y="27569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27203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2756916"/>
            <a:ext cx="45720" cy="1092708"/>
          </a:xfrm>
          <a:prstGeom prst="rect">
            <a:avLst>
              <a:gd name="adj" fmla="val 60000"/>
            </a:avLst>
          </a:pr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896112" y="316611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31661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43584" y="27569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243584" y="29580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alta complexidade da gestão hídrica e a variação na cobertura de serviços entre bairros tornam difícil identificar as causas da ineficácia e definir os pontos de auditoria mais relevantes.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41832" y="38587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63FF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58952" y="40142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731520" y="39776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32" name="Shape 30"/>
          <p:cNvSpPr/>
          <p:nvPr/>
        </p:nvSpPr>
        <p:spPr>
          <a:xfrm>
            <a:off x="731520" y="4014216"/>
            <a:ext cx="45720" cy="1092708"/>
          </a:xfrm>
          <a:prstGeom prst="rect">
            <a:avLst>
              <a:gd name="adj" fmla="val 60000"/>
            </a:avLst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896112" y="4423410"/>
            <a:ext cx="274320" cy="2743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4" name="Text 32"/>
          <p:cNvSpPr/>
          <p:nvPr/>
        </p:nvSpPr>
        <p:spPr>
          <a:xfrm>
            <a:off x="896112" y="44234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243584" y="40142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SOLUÇÃO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243584" y="42153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Utilizou-se a Matriz de Planejamento para definir o Problema (baixo índice de tratamento de esgoto e perda de água), o Objetivo (avaliar a gestão e uso dos recursos), Critérios (legislação pertinente e metas do Plano Nacional de Saneamento Básico) e Procedimentos (análise de dados de ETA/ETE, entrevistas com concessionária e moradores, e v.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41832" y="51160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6B6D4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758952" y="52715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39" name="Shape 37"/>
          <p:cNvSpPr/>
          <p:nvPr/>
        </p:nvSpPr>
        <p:spPr>
          <a:xfrm>
            <a:off x="731520" y="52349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40" name="Shape 38"/>
          <p:cNvSpPr/>
          <p:nvPr/>
        </p:nvSpPr>
        <p:spPr>
          <a:xfrm>
            <a:off x="731520" y="5271516"/>
            <a:ext cx="45720" cy="1092708"/>
          </a:xfrm>
          <a:prstGeom prst="rect">
            <a:avLst>
              <a:gd name="adj" fmla="val 60000"/>
            </a:avLst>
          </a:prstGeom>
          <a:solidFill>
            <a:srgbClr val="06B6D4"/>
          </a:solidFill>
          <a:ln/>
        </p:spPr>
      </p:sp>
      <p:sp>
        <p:nvSpPr>
          <p:cNvPr id="41" name="Shape 39"/>
          <p:cNvSpPr/>
          <p:nvPr/>
        </p:nvSpPr>
        <p:spPr>
          <a:xfrm>
            <a:off x="896112" y="5680710"/>
            <a:ext cx="274320" cy="2743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42" name="Text 40"/>
          <p:cNvSpPr/>
          <p:nvPr/>
        </p:nvSpPr>
        <p:spPr>
          <a:xfrm>
            <a:off x="896112" y="56807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243584" y="52715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6B6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243584" y="54726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planejamento detalhado direcionou a auditoria para identificar falhas na manutenção da rede e na fiscalização das ligações clandestinas, resultando em recomendações focadas na melhoria da eficiência operacional e ampliação da infraestrutura, aceitas pelos gestores.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6" name="Shape 44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7" name="Shape 45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8" name="Shape 46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9" name="Shape 47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0" name="Shape 48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1" name="Shape 49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52" name="Text 50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 / 45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SÍNTESE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521208"/>
            <a:ext cx="822960" cy="1828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21792"/>
            <a:ext cx="11048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13232" y="1499616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463040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463040"/>
            <a:ext cx="45720" cy="1371600"/>
          </a:xfrm>
          <a:prstGeom prst="rect">
            <a:avLst>
              <a:gd name="adj" fmla="val 200000"/>
            </a:avLst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813816" y="15727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813816" y="1572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3816" y="1993392"/>
            <a:ext cx="52134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planejamento é a base para o sucesso da auditoria operacional, garantindo foco e otimização de recursos.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92444" y="1499616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6265012" y="1463040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4" name="Shape 12"/>
          <p:cNvSpPr/>
          <p:nvPr/>
        </p:nvSpPr>
        <p:spPr>
          <a:xfrm>
            <a:off x="6265012" y="1463040"/>
            <a:ext cx="45720" cy="1371600"/>
          </a:xfrm>
          <a:prstGeom prst="rect">
            <a:avLst>
              <a:gd name="adj" fmla="val 200000"/>
            </a:avLst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6393028" y="15727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393028" y="1572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93028" y="1993392"/>
            <a:ext cx="52134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etapas do planejamento incluem identificação do objeto, entendimento do contexto, avaliação de riscos, definição de objetivos e critérios.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13232" y="2980944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2944368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2944368"/>
            <a:ext cx="45720" cy="1371600"/>
          </a:xfrm>
          <a:prstGeom prst="rect">
            <a:avLst>
              <a:gd name="adj" fmla="val 200000"/>
            </a:avLst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813816" y="305409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813816" y="30540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3816" y="3474720"/>
            <a:ext cx="52134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Matriz de Planejamento da Auditoria é uma ferramenta essencial que organiza e integra todos os elementos, desde o problema até os procedimentos.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292444" y="2980944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265012" y="2944368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6" name="Shape 24"/>
          <p:cNvSpPr/>
          <p:nvPr/>
        </p:nvSpPr>
        <p:spPr>
          <a:xfrm>
            <a:off x="6265012" y="2944368"/>
            <a:ext cx="45720" cy="1371600"/>
          </a:xfrm>
          <a:prstGeom prst="rect">
            <a:avLst>
              <a:gd name="adj" fmla="val 200000"/>
            </a:avLst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6393028" y="305409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6393028" y="30540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93028" y="3474720"/>
            <a:ext cx="52134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 planejamento estratégico eficaz resulta em auditorias com maior relevância, impacto e aceitação das recomendações.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 / 45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12191695" cy="411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PRINCIPAIS APRENDIZADOS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645920" cy="228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72237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722376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 planejamento estratégico e iterativo é fundamental para a eficácia das auditorias operacionais.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68698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4350410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14" name="Shape 12"/>
          <p:cNvSpPr/>
          <p:nvPr/>
        </p:nvSpPr>
        <p:spPr>
          <a:xfrm>
            <a:off x="4350410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47842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4478426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20" dirty="0"/>
          </a:p>
        </p:txBody>
      </p:sp>
      <p:sp>
        <p:nvSpPr>
          <p:cNvPr id="17" name="Text 15"/>
          <p:cNvSpPr/>
          <p:nvPr/>
        </p:nvSpPr>
        <p:spPr>
          <a:xfrm>
            <a:off x="4478426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seleção dos objetos de auditoria deve ser baseada em risco e relevância para a tomada de decisão.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24749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8106461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0" name="Shape 18"/>
          <p:cNvSpPr/>
          <p:nvPr/>
        </p:nvSpPr>
        <p:spPr>
          <a:xfrm>
            <a:off x="8106461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8234477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8234477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20" dirty="0"/>
          </a:p>
        </p:txBody>
      </p:sp>
      <p:sp>
        <p:nvSpPr>
          <p:cNvPr id="23" name="Text 21"/>
          <p:cNvSpPr/>
          <p:nvPr/>
        </p:nvSpPr>
        <p:spPr>
          <a:xfrm>
            <a:off x="8234477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Critérios de auditoria claros e baseados em normas elevam a qualidade e a credibilidade dos achados.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2648" y="3310128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282696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722376" y="341071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722376" y="3410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520" dirty="0"/>
          </a:p>
        </p:txBody>
      </p:sp>
      <p:sp>
        <p:nvSpPr>
          <p:cNvPr id="29" name="Text 27"/>
          <p:cNvSpPr/>
          <p:nvPr/>
        </p:nvSpPr>
        <p:spPr>
          <a:xfrm>
            <a:off x="722376" y="3849624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Matriz de Planejamento integra objetivos, critérios e procedimentos, servindo como guia essencial para a equipe.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368698" y="3310128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4350410" y="3282696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32" name="Shape 30"/>
          <p:cNvSpPr/>
          <p:nvPr/>
        </p:nvSpPr>
        <p:spPr>
          <a:xfrm>
            <a:off x="4350410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06B6D4"/>
          </a:solidFill>
          <a:ln/>
        </p:spPr>
      </p:sp>
      <p:sp>
        <p:nvSpPr>
          <p:cNvPr id="33" name="Shape 31"/>
          <p:cNvSpPr/>
          <p:nvPr/>
        </p:nvSpPr>
        <p:spPr>
          <a:xfrm>
            <a:off x="4478426" y="341071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6B6D4"/>
          </a:solidFill>
          <a:ln/>
        </p:spPr>
      </p:sp>
      <p:sp>
        <p:nvSpPr>
          <p:cNvPr id="34" name="Text 32"/>
          <p:cNvSpPr/>
          <p:nvPr/>
        </p:nvSpPr>
        <p:spPr>
          <a:xfrm>
            <a:off x="4478426" y="3410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520" dirty="0"/>
          </a:p>
        </p:txBody>
      </p:sp>
      <p:sp>
        <p:nvSpPr>
          <p:cNvPr id="35" name="Text 33"/>
          <p:cNvSpPr/>
          <p:nvPr/>
        </p:nvSpPr>
        <p:spPr>
          <a:xfrm>
            <a:off x="4478426" y="3849624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Auditorias bem planejadas resultam em recomendações mais aceitas e melhoram a gestão pública.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017" y="0"/>
            <a:ext cx="4876678" cy="1152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017" y="1143000"/>
            <a:ext cx="4876678" cy="1152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7315017" y="2286000"/>
            <a:ext cx="4876678" cy="1152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7315017" y="3429000"/>
            <a:ext cx="4876678" cy="1152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7315017" y="4572000"/>
            <a:ext cx="4876678" cy="1152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Shape 5"/>
          <p:cNvSpPr/>
          <p:nvPr/>
        </p:nvSpPr>
        <p:spPr>
          <a:xfrm>
            <a:off x="7315017" y="5715000"/>
            <a:ext cx="4876678" cy="1152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7436815" y="2011680"/>
            <a:ext cx="4389120" cy="3657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8000" b="1" dirty="0">
                <a:solidFill>
                  <a:srgbClr val="10B981">
                    <a:alpha val="1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8000" dirty="0"/>
          </a:p>
        </p:txBody>
      </p:sp>
      <p:sp>
        <p:nvSpPr>
          <p:cNvPr id="9" name="Shape 7"/>
          <p:cNvSpPr/>
          <p:nvPr/>
        </p:nvSpPr>
        <p:spPr>
          <a:xfrm>
            <a:off x="9722815" y="-548640"/>
            <a:ext cx="2743200" cy="2743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Shape 8"/>
          <p:cNvSpPr/>
          <p:nvPr/>
        </p:nvSpPr>
        <p:spPr>
          <a:xfrm>
            <a:off x="10545775" y="594360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1005840"/>
            <a:ext cx="45720" cy="2103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Shape 10"/>
          <p:cNvSpPr/>
          <p:nvPr/>
        </p:nvSpPr>
        <p:spPr>
          <a:xfrm>
            <a:off x="804672" y="1005840"/>
            <a:ext cx="13716" cy="2103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10972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5840" y="1417320"/>
            <a:ext cx="1280160" cy="20117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1572768"/>
            <a:ext cx="646159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Execução da Auditoria e Coleta de Evidências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1005840" y="4142232"/>
            <a:ext cx="2011680" cy="10973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2519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QUE VOCÊ VAI APRENDER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005840" y="45902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1234440" y="4544568"/>
            <a:ext cx="585201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Aprender técnicas de coleta de evidências em auditoria operacional governamental.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05840" y="4992624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1234440" y="4946904"/>
            <a:ext cx="585201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Desenvolver a seleção e aplicação de técnicas de obtenção de dados no setor público.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05840" y="5394960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1234440" y="5349240"/>
            <a:ext cx="585201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Garantir a solidez e credibilidade dos achados de auditoria na gestão pública.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6446520"/>
            <a:ext cx="542544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Shape 23"/>
          <p:cNvSpPr/>
          <p:nvPr/>
        </p:nvSpPr>
        <p:spPr>
          <a:xfrm>
            <a:off x="1264920" y="6446520"/>
            <a:ext cx="542544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Shape 24"/>
          <p:cNvSpPr/>
          <p:nvPr/>
        </p:nvSpPr>
        <p:spPr>
          <a:xfrm>
            <a:off x="1798320" y="6446520"/>
            <a:ext cx="542544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Shape 25"/>
          <p:cNvSpPr/>
          <p:nvPr/>
        </p:nvSpPr>
        <p:spPr>
          <a:xfrm>
            <a:off x="2331720" y="6446520"/>
            <a:ext cx="542544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Shape 26"/>
          <p:cNvSpPr/>
          <p:nvPr/>
        </p:nvSpPr>
        <p:spPr>
          <a:xfrm>
            <a:off x="2865120" y="6446520"/>
            <a:ext cx="542544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Shape 27"/>
          <p:cNvSpPr/>
          <p:nvPr/>
        </p:nvSpPr>
        <p:spPr>
          <a:xfrm>
            <a:off x="3398520" y="6446520"/>
            <a:ext cx="542544" cy="7315"/>
          </a:xfrm>
          <a:prstGeom prst="rect">
            <a:avLst/>
          </a:prstGeom>
          <a:solidFill>
            <a:srgbClr val="10B981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 da Execução e Evidências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45336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08760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508760"/>
            <a:ext cx="54864" cy="1152144"/>
          </a:xfrm>
          <a:prstGeom prst="rect">
            <a:avLst>
              <a:gd name="adj" fmla="val 133333"/>
            </a:avLst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" y="19293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6C63FF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1929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97864" y="1536192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execução da auditoria transforma o planejamento em ação, coletando evidências para as conclusões e recomendações.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" y="2807208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770632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770632"/>
            <a:ext cx="54864" cy="1152144"/>
          </a:xfrm>
          <a:prstGeom prst="rect">
            <a:avLst>
              <a:gd name="adj" fmla="val 133333"/>
            </a:avLst>
          </a:prstGeom>
          <a:solidFill>
            <a:srgbClr val="3B82F6"/>
          </a:solidFill>
          <a:ln/>
        </p:spPr>
      </p:sp>
      <p:sp>
        <p:nvSpPr>
          <p:cNvPr id="18" name="Shape 16"/>
          <p:cNvSpPr/>
          <p:nvPr/>
        </p:nvSpPr>
        <p:spPr>
          <a:xfrm>
            <a:off x="758952" y="319125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" y="31912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97864" y="2798064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qualidade das evidências é crucial para a credibilidade e aceitação da auditoria por diversas partes interessadas.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1792" y="4069080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" y="4032504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4032504"/>
            <a:ext cx="54864" cy="1152144"/>
          </a:xfrm>
          <a:prstGeom prst="rect">
            <a:avLst>
              <a:gd name="adj" fmla="val 133333"/>
            </a:avLst>
          </a:prstGeom>
          <a:solidFill>
            <a:srgbClr val="10B981"/>
          </a:solidFill>
          <a:ln/>
        </p:spPr>
      </p:sp>
      <p:sp>
        <p:nvSpPr>
          <p:cNvPr id="24" name="Shape 22"/>
          <p:cNvSpPr/>
          <p:nvPr/>
        </p:nvSpPr>
        <p:spPr>
          <a:xfrm>
            <a:off x="758952" y="44531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758952" y="44531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97864" y="4059936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Evidência de Auditoria é qualquer informação para determinar a eficácia e conformidade do objeto auditado.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21792" y="5330952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" y="5294376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5294376"/>
            <a:ext cx="54864" cy="1152144"/>
          </a:xfrm>
          <a:prstGeom prst="rect">
            <a:avLst>
              <a:gd name="adj" fmla="val 133333"/>
            </a:avLst>
          </a:prstGeom>
          <a:solidFill>
            <a:srgbClr val="F59E0B"/>
          </a:solidFill>
          <a:ln/>
        </p:spPr>
      </p:sp>
      <p:sp>
        <p:nvSpPr>
          <p:cNvPr id="30" name="Shape 28"/>
          <p:cNvSpPr/>
          <p:nvPr/>
        </p:nvSpPr>
        <p:spPr>
          <a:xfrm>
            <a:off x="758952" y="57150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758952" y="57150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97864" y="5321808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qualidade das evidências é avaliada por sua suficiência (quantidade e peso) e adequação (relevância e confiabilidade).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6" name="Shape 34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7" name="Shape 35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8" name="Shape 36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14 / 45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Processo de Coleta de Evidências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83971" y="1517904"/>
            <a:ext cx="21946" cy="4919472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732026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6C63FF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73202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69264" y="1453896"/>
            <a:ext cx="10884103" cy="812292"/>
          </a:xfrm>
          <a:prstGeom prst="roundRect">
            <a:avLst>
              <a:gd name="adj" fmla="val 1125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941832" y="1417320"/>
            <a:ext cx="10884103" cy="812292"/>
          </a:xfrm>
          <a:prstGeom prst="roundRect">
            <a:avLst>
              <a:gd name="adj" fmla="val 6754"/>
            </a:avLst>
          </a:prstGeom>
          <a:solidFill>
            <a:srgbClr val="141E34"/>
          </a:solidFill>
          <a:ln/>
        </p:spPr>
      </p:sp>
      <p:sp>
        <p:nvSpPr>
          <p:cNvPr id="14" name="Shape 12"/>
          <p:cNvSpPr/>
          <p:nvPr/>
        </p:nvSpPr>
        <p:spPr>
          <a:xfrm>
            <a:off x="941832" y="1417320"/>
            <a:ext cx="45720" cy="812292"/>
          </a:xfrm>
          <a:prstGeom prst="rect">
            <a:avLst>
              <a:gd name="adj" fmla="val 120000"/>
            </a:avLst>
          </a:prstGeom>
          <a:solidFill>
            <a:srgbClr val="6C63FF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1435608"/>
            <a:ext cx="10637215" cy="3156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Entrevistas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1732940"/>
            <a:ext cx="10637215" cy="481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Obtenção de informações verbais com pessoas envolvidas, como secretários ou responsáveis.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3232" y="2188464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9E0B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94360" y="2590038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259003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69264" y="2311908"/>
            <a:ext cx="10884103" cy="812292"/>
          </a:xfrm>
          <a:prstGeom prst="roundRect">
            <a:avLst>
              <a:gd name="adj" fmla="val 11257"/>
            </a:avLst>
          </a:prstGeom>
          <a:solidFill>
            <a:srgbClr val="00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941832" y="2275332"/>
            <a:ext cx="10884103" cy="812292"/>
          </a:xfrm>
          <a:prstGeom prst="roundRect">
            <a:avLst>
              <a:gd name="adj" fmla="val 6754"/>
            </a:avLst>
          </a:prstGeom>
          <a:solidFill>
            <a:srgbClr val="141E34"/>
          </a:solidFill>
          <a:ln/>
        </p:spPr>
      </p:sp>
      <p:sp>
        <p:nvSpPr>
          <p:cNvPr id="22" name="Shape 20"/>
          <p:cNvSpPr/>
          <p:nvPr/>
        </p:nvSpPr>
        <p:spPr>
          <a:xfrm>
            <a:off x="941832" y="2275332"/>
            <a:ext cx="45720" cy="812292"/>
          </a:xfrm>
          <a:prstGeom prst="rect">
            <a:avLst>
              <a:gd name="adj" fmla="val 120000"/>
            </a:avLst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2293620"/>
            <a:ext cx="10637215" cy="3156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Observação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97280" y="2590952"/>
            <a:ext cx="10637215" cy="481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Verificação direta de atividades e processos, como acompanhamento da dispensa de medicamentos.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3232" y="3046476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63FF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594360" y="344805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44805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69264" y="3169920"/>
            <a:ext cx="10884103" cy="812292"/>
          </a:xfrm>
          <a:prstGeom prst="roundRect">
            <a:avLst>
              <a:gd name="adj" fmla="val 11257"/>
            </a:avLst>
          </a:prstGeom>
          <a:solidFill>
            <a:srgbClr val="000000"/>
          </a:solidFill>
          <a:ln/>
        </p:spPr>
      </p:sp>
      <p:sp>
        <p:nvSpPr>
          <p:cNvPr id="29" name="Shape 27"/>
          <p:cNvSpPr/>
          <p:nvPr/>
        </p:nvSpPr>
        <p:spPr>
          <a:xfrm>
            <a:off x="941832" y="3133344"/>
            <a:ext cx="10884103" cy="812292"/>
          </a:xfrm>
          <a:prstGeom prst="roundRect">
            <a:avLst>
              <a:gd name="adj" fmla="val 6754"/>
            </a:avLst>
          </a:prstGeom>
          <a:solidFill>
            <a:srgbClr val="141E34"/>
          </a:solidFill>
          <a:ln/>
        </p:spPr>
      </p:sp>
      <p:sp>
        <p:nvSpPr>
          <p:cNvPr id="30" name="Shape 28"/>
          <p:cNvSpPr/>
          <p:nvPr/>
        </p:nvSpPr>
        <p:spPr>
          <a:xfrm>
            <a:off x="941832" y="3133344"/>
            <a:ext cx="45720" cy="812292"/>
          </a:xfrm>
          <a:prstGeom prst="rect">
            <a:avLst>
              <a:gd name="adj" fmla="val 120000"/>
            </a:avLst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1097280" y="3151632"/>
            <a:ext cx="10637215" cy="3156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Análise Documental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097280" y="3448964"/>
            <a:ext cx="10637215" cy="481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Revisão e avaliação de documentos, registros e arquivos eletrônicos.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13232" y="390448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0B981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594360" y="4306062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430606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69264" y="4027932"/>
            <a:ext cx="10884103" cy="812292"/>
          </a:xfrm>
          <a:prstGeom prst="roundRect">
            <a:avLst>
              <a:gd name="adj" fmla="val 11257"/>
            </a:avLst>
          </a:prstGeom>
          <a:solidFill>
            <a:srgbClr val="000000"/>
          </a:solidFill>
          <a:ln/>
        </p:spPr>
      </p:sp>
      <p:sp>
        <p:nvSpPr>
          <p:cNvPr id="37" name="Shape 35"/>
          <p:cNvSpPr/>
          <p:nvPr/>
        </p:nvSpPr>
        <p:spPr>
          <a:xfrm>
            <a:off x="941832" y="3991356"/>
            <a:ext cx="10884103" cy="812292"/>
          </a:xfrm>
          <a:prstGeom prst="roundRect">
            <a:avLst>
              <a:gd name="adj" fmla="val 6754"/>
            </a:avLst>
          </a:prstGeom>
          <a:solidFill>
            <a:srgbClr val="141E34"/>
          </a:solidFill>
          <a:ln/>
        </p:spPr>
      </p:sp>
      <p:sp>
        <p:nvSpPr>
          <p:cNvPr id="38" name="Shape 36"/>
          <p:cNvSpPr/>
          <p:nvPr/>
        </p:nvSpPr>
        <p:spPr>
          <a:xfrm>
            <a:off x="941832" y="3991356"/>
            <a:ext cx="45720" cy="812292"/>
          </a:xfrm>
          <a:prstGeom prst="rect">
            <a:avLst>
              <a:gd name="adj" fmla="val 120000"/>
            </a:avLst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1097280" y="4009644"/>
            <a:ext cx="10637215" cy="3156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Testes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097280" y="4306976"/>
            <a:ext cx="10637215" cy="481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Reexecução, indagação e recálculo para verificar acurácia em processos e demonstrações.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13232" y="4762500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6B6D4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594360" y="516407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06B6D4"/>
          </a:solidFill>
          <a:ln/>
        </p:spPr>
      </p:sp>
      <p:sp>
        <p:nvSpPr>
          <p:cNvPr id="43" name="Text 41"/>
          <p:cNvSpPr/>
          <p:nvPr/>
        </p:nvSpPr>
        <p:spPr>
          <a:xfrm>
            <a:off x="594360" y="516407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69264" y="4885944"/>
            <a:ext cx="10884103" cy="812292"/>
          </a:xfrm>
          <a:prstGeom prst="roundRect">
            <a:avLst>
              <a:gd name="adj" fmla="val 11257"/>
            </a:avLst>
          </a:prstGeom>
          <a:solidFill>
            <a:srgbClr val="000000"/>
          </a:solidFill>
          <a:ln/>
        </p:spPr>
      </p:sp>
      <p:sp>
        <p:nvSpPr>
          <p:cNvPr id="45" name="Shape 43"/>
          <p:cNvSpPr/>
          <p:nvPr/>
        </p:nvSpPr>
        <p:spPr>
          <a:xfrm>
            <a:off x="941832" y="4849368"/>
            <a:ext cx="10884103" cy="812292"/>
          </a:xfrm>
          <a:prstGeom prst="roundRect">
            <a:avLst>
              <a:gd name="adj" fmla="val 6754"/>
            </a:avLst>
          </a:prstGeom>
          <a:solidFill>
            <a:srgbClr val="141E34"/>
          </a:solidFill>
          <a:ln/>
        </p:spPr>
      </p:sp>
      <p:sp>
        <p:nvSpPr>
          <p:cNvPr id="46" name="Shape 44"/>
          <p:cNvSpPr/>
          <p:nvPr/>
        </p:nvSpPr>
        <p:spPr>
          <a:xfrm>
            <a:off x="941832" y="4849368"/>
            <a:ext cx="45720" cy="812292"/>
          </a:xfrm>
          <a:prstGeom prst="rect">
            <a:avLst>
              <a:gd name="adj" fmla="val 120000"/>
            </a:avLst>
          </a:prstGeom>
          <a:solidFill>
            <a:srgbClr val="06B6D4"/>
          </a:solidFill>
          <a:ln/>
        </p:spPr>
      </p:sp>
      <p:sp>
        <p:nvSpPr>
          <p:cNvPr id="47" name="Text 45"/>
          <p:cNvSpPr/>
          <p:nvPr/>
        </p:nvSpPr>
        <p:spPr>
          <a:xfrm>
            <a:off x="1097280" y="4867656"/>
            <a:ext cx="10637215" cy="3156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Confirmação Externa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1097280" y="5164988"/>
            <a:ext cx="10637215" cy="481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Verificação de informações diretamente com terceiros independentes, como fornecedores.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713232" y="5620512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B82F6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594360" y="6022086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6C63FF"/>
          </a:solidFill>
          <a:ln/>
        </p:spPr>
      </p:sp>
      <p:sp>
        <p:nvSpPr>
          <p:cNvPr id="51" name="Text 49"/>
          <p:cNvSpPr/>
          <p:nvPr/>
        </p:nvSpPr>
        <p:spPr>
          <a:xfrm>
            <a:off x="594360" y="602208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69264" y="5743956"/>
            <a:ext cx="10884103" cy="812292"/>
          </a:xfrm>
          <a:prstGeom prst="roundRect">
            <a:avLst>
              <a:gd name="adj" fmla="val 11257"/>
            </a:avLst>
          </a:prstGeom>
          <a:solidFill>
            <a:srgbClr val="000000"/>
          </a:solidFill>
          <a:ln/>
        </p:spPr>
      </p:sp>
      <p:sp>
        <p:nvSpPr>
          <p:cNvPr id="53" name="Shape 51"/>
          <p:cNvSpPr/>
          <p:nvPr/>
        </p:nvSpPr>
        <p:spPr>
          <a:xfrm>
            <a:off x="941832" y="5707380"/>
            <a:ext cx="10884103" cy="812292"/>
          </a:xfrm>
          <a:prstGeom prst="roundRect">
            <a:avLst>
              <a:gd name="adj" fmla="val 6754"/>
            </a:avLst>
          </a:prstGeom>
          <a:solidFill>
            <a:srgbClr val="141E34"/>
          </a:solidFill>
          <a:ln/>
        </p:spPr>
      </p:sp>
      <p:sp>
        <p:nvSpPr>
          <p:cNvPr id="54" name="Shape 52"/>
          <p:cNvSpPr/>
          <p:nvPr/>
        </p:nvSpPr>
        <p:spPr>
          <a:xfrm>
            <a:off x="941832" y="5707380"/>
            <a:ext cx="45720" cy="812292"/>
          </a:xfrm>
          <a:prstGeom prst="rect">
            <a:avLst>
              <a:gd name="adj" fmla="val 120000"/>
            </a:avLst>
          </a:prstGeom>
          <a:solidFill>
            <a:srgbClr val="6C63FF"/>
          </a:solidFill>
          <a:ln/>
        </p:spPr>
      </p:sp>
      <p:sp>
        <p:nvSpPr>
          <p:cNvPr id="55" name="Text 53"/>
          <p:cNvSpPr/>
          <p:nvPr/>
        </p:nvSpPr>
        <p:spPr>
          <a:xfrm>
            <a:off x="1097280" y="5725668"/>
            <a:ext cx="10637215" cy="3156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Documentação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1097280" y="6023000"/>
            <a:ext cx="10637215" cy="481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Todas as evidências devem ser registradas nos papéis de trabalho para suporte do relatório.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8" name="Shape 56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9" name="Shape 57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0" name="Shape 58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1" name="Shape 59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2" name="Shape 60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3" name="Shape 61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64" name="Text 62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 / 45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TIPOS DE EVIDÊNCIAS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Técnicas de Coleta de Evidências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36192"/>
          <a:ext cx="11140135" cy="914400"/>
        </p:xfrm>
        <a:graphic>
          <a:graphicData uri="http://schemas.openxmlformats.org/drawingml/2006/table">
            <a:tbl>
              <a:tblPr/>
              <a:tblGrid>
                <a:gridCol w="2785034"/>
                <a:gridCol w="2785034"/>
                <a:gridCol w="2785034"/>
                <a:gridCol w="2785034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Aspecto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Entrevistas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Observação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Análise Documental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🎯 Objetivo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Obter informações e perspectivas de stakeholders sobre processos.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Verificar execução prática de processos e conformidade em ambiente real.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Avaliar informações registradas oficialmente em sistemas e arquivos.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⚡ Vantagens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Informações qualitativas, acesso ao conhecimento tácito de servidores.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Evidência direta de como as atividades são realizadas, identifica desvios.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Fonte formal e confiável, ideal para informações históricas detalhadas.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🐢 Desvantagens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Demorada, informações imprecisas (viés do entrevistado), exige perícia do auditor.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Efeito Hawthorne, 'instantâneo' no tempo, resultados pontuais.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Documentos desatualizados, incompletos, complexidade na interpretação.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🗣️ Exemplo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Entrevista sobre gestão de estoque de medicamentos para entender faltas.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Observar fluxo de atendimento em guichê público para identificar gargalos.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Análise de contratos de obras versus medições para verificar pagamentos.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1" name="Shape 8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2" name="Shape 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3" name="Shape 10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4" name="Shape 1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5" name="Shape 12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6" name="Shape 1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16 / 45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Práticas da Coleta de Evidências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6C63F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88" dirty="0"/>
          </a:p>
        </p:txBody>
      </p:sp>
      <p:sp>
        <p:nvSpPr>
          <p:cNvPr id="14" name="Text 12"/>
          <p:cNvSpPr/>
          <p:nvPr/>
        </p:nvSpPr>
        <p:spPr>
          <a:xfrm>
            <a:off x="1051560" y="1645920"/>
            <a:ext cx="305501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Validação de Controles Internos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85800" y="2267712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2340864"/>
            <a:ext cx="338419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Verificar se controles de autarquias funcionam para emissão de CNHs, minimizando fraudes.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90034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4362602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9" name="Shape 17"/>
          <p:cNvSpPr/>
          <p:nvPr/>
        </p:nvSpPr>
        <p:spPr>
          <a:xfrm>
            <a:off x="4362602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3B82F6"/>
          </a:solidFill>
          <a:ln/>
        </p:spPr>
      </p:sp>
      <p:sp>
        <p:nvSpPr>
          <p:cNvPr id="20" name="Shape 18"/>
          <p:cNvSpPr/>
          <p:nvPr/>
        </p:nvSpPr>
        <p:spPr>
          <a:xfrm>
            <a:off x="4454042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4454042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88" dirty="0"/>
          </a:p>
        </p:txBody>
      </p:sp>
      <p:sp>
        <p:nvSpPr>
          <p:cNvPr id="22" name="Text 20"/>
          <p:cNvSpPr/>
          <p:nvPr/>
        </p:nvSpPr>
        <p:spPr>
          <a:xfrm>
            <a:off x="4819802" y="1645920"/>
            <a:ext cx="305501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Avaliação de Programas Sociais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454042" y="2267712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4" name="Text 22"/>
          <p:cNvSpPr/>
          <p:nvPr/>
        </p:nvSpPr>
        <p:spPr>
          <a:xfrm>
            <a:off x="4472330" y="2340864"/>
            <a:ext cx="338419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Determinar a eficácia de um programa para gestantes, avaliando indicadores de saúde.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158277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8130845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27" name="Shape 25"/>
          <p:cNvSpPr/>
          <p:nvPr/>
        </p:nvSpPr>
        <p:spPr>
          <a:xfrm>
            <a:off x="8130845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10B981"/>
          </a:solidFill>
          <a:ln/>
        </p:spPr>
      </p:sp>
      <p:sp>
        <p:nvSpPr>
          <p:cNvPr id="28" name="Shape 26"/>
          <p:cNvSpPr/>
          <p:nvPr/>
        </p:nvSpPr>
        <p:spPr>
          <a:xfrm>
            <a:off x="8222285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8222285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88" dirty="0"/>
          </a:p>
        </p:txBody>
      </p:sp>
      <p:sp>
        <p:nvSpPr>
          <p:cNvPr id="30" name="Text 28"/>
          <p:cNvSpPr/>
          <p:nvPr/>
        </p:nvSpPr>
        <p:spPr>
          <a:xfrm>
            <a:off x="8588045" y="1645920"/>
            <a:ext cx="305501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Verificação de Conformidade Legal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222285" y="2267712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2" name="Text 30"/>
          <p:cNvSpPr/>
          <p:nvPr/>
        </p:nvSpPr>
        <p:spPr>
          <a:xfrm>
            <a:off x="8240573" y="2340864"/>
            <a:ext cx="338419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Analisar despesas de aquisição de bens e serviços, como manutenção da frota oficial.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1792" y="4023360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34" name="Shape 32"/>
          <p:cNvSpPr/>
          <p:nvPr/>
        </p:nvSpPr>
        <p:spPr>
          <a:xfrm>
            <a:off x="594360" y="3986784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35" name="Shape 33"/>
          <p:cNvSpPr/>
          <p:nvPr/>
        </p:nvSpPr>
        <p:spPr>
          <a:xfrm>
            <a:off x="594360" y="3986784"/>
            <a:ext cx="3603650" cy="45720"/>
          </a:xfrm>
          <a:prstGeom prst="rect">
            <a:avLst>
              <a:gd name="adj" fmla="val 200000"/>
            </a:avLst>
          </a:prstGeom>
          <a:solidFill>
            <a:srgbClr val="F59E0B"/>
          </a:solidFill>
          <a:ln/>
        </p:spPr>
      </p:sp>
      <p:sp>
        <p:nvSpPr>
          <p:cNvPr id="36" name="Shape 34"/>
          <p:cNvSpPr/>
          <p:nvPr/>
        </p:nvSpPr>
        <p:spPr>
          <a:xfrm>
            <a:off x="685800" y="4114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685800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88" dirty="0"/>
          </a:p>
        </p:txBody>
      </p:sp>
      <p:sp>
        <p:nvSpPr>
          <p:cNvPr id="38" name="Text 36"/>
          <p:cNvSpPr/>
          <p:nvPr/>
        </p:nvSpPr>
        <p:spPr>
          <a:xfrm>
            <a:off x="1051560" y="4096512"/>
            <a:ext cx="305501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Identificação de Ineficiências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85800" y="4718304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0" name="Text 38"/>
          <p:cNvSpPr/>
          <p:nvPr/>
        </p:nvSpPr>
        <p:spPr>
          <a:xfrm>
            <a:off x="704088" y="4791456"/>
            <a:ext cx="338419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Identificar gargalos em processos de atendimento ao cidadão, como tempo de espera em consultas.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390034" y="4023360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42" name="Shape 40"/>
          <p:cNvSpPr/>
          <p:nvPr/>
        </p:nvSpPr>
        <p:spPr>
          <a:xfrm>
            <a:off x="4362602" y="3986784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43" name="Shape 41"/>
          <p:cNvSpPr/>
          <p:nvPr/>
        </p:nvSpPr>
        <p:spPr>
          <a:xfrm>
            <a:off x="4362602" y="3986784"/>
            <a:ext cx="3603650" cy="45720"/>
          </a:xfrm>
          <a:prstGeom prst="rect">
            <a:avLst>
              <a:gd name="adj" fmla="val 200000"/>
            </a:avLst>
          </a:prstGeom>
          <a:solidFill>
            <a:srgbClr val="06B6D4"/>
          </a:solidFill>
          <a:ln/>
        </p:spPr>
      </p:sp>
      <p:sp>
        <p:nvSpPr>
          <p:cNvPr id="44" name="Shape 42"/>
          <p:cNvSpPr/>
          <p:nvPr/>
        </p:nvSpPr>
        <p:spPr>
          <a:xfrm>
            <a:off x="4454042" y="4114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6B6D4"/>
          </a:solidFill>
          <a:ln/>
        </p:spPr>
      </p:sp>
      <p:sp>
        <p:nvSpPr>
          <p:cNvPr id="45" name="Text 43"/>
          <p:cNvSpPr/>
          <p:nvPr/>
        </p:nvSpPr>
        <p:spPr>
          <a:xfrm>
            <a:off x="4454042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88" dirty="0"/>
          </a:p>
        </p:txBody>
      </p:sp>
      <p:sp>
        <p:nvSpPr>
          <p:cNvPr id="46" name="Text 44"/>
          <p:cNvSpPr/>
          <p:nvPr/>
        </p:nvSpPr>
        <p:spPr>
          <a:xfrm>
            <a:off x="4819802" y="4096512"/>
            <a:ext cx="305501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6B6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Análise de Economicidade em Obras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4454042" y="4718304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8" name="Text 46"/>
          <p:cNvSpPr/>
          <p:nvPr/>
        </p:nvSpPr>
        <p:spPr>
          <a:xfrm>
            <a:off x="4472330" y="4791456"/>
            <a:ext cx="338419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Avaliar a economicidade de recursos públicos em infraestrutura, comparando cronogramas.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0" name="Shape 48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1" name="Shape 4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2" name="Shape 50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3" name="Shape 5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4" name="Shape 52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5" name="Shape 5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56" name="Text 5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17 / 45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1417320"/>
            <a:ext cx="128016" cy="12801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219456" y="1554480"/>
            <a:ext cx="18288" cy="146913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" y="3032760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219456" y="3169920"/>
            <a:ext cx="18288" cy="146913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164592" y="4648200"/>
            <a:ext cx="128016" cy="128016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219456" y="4785360"/>
            <a:ext cx="18288" cy="146913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" y="6263640"/>
            <a:ext cx="128016" cy="128016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384048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840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ESTUDO DE CASO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73152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Estudo de Caso de Execução da Auditoria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31520" y="1298448"/>
            <a:ext cx="3200400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58952" y="14996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14630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1499616"/>
            <a:ext cx="45720" cy="1092708"/>
          </a:xfrm>
          <a:prstGeom prst="rect">
            <a:avLst>
              <a:gd name="adj" fmla="val 60000"/>
            </a:avLst>
          </a:pr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896112" y="1908810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19088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43584" y="14996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243584" y="17007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Auditoria operacional em uma prefeitura para avaliar a gestão de contratos de obras públicas, com foco na economicidade.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41832" y="26014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9E0B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58952" y="27569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27203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2756916"/>
            <a:ext cx="45720" cy="1092708"/>
          </a:xfrm>
          <a:prstGeom prst="rect">
            <a:avLst>
              <a:gd name="adj" fmla="val 60000"/>
            </a:avLst>
          </a:pr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896112" y="316611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31661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43584" y="27569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243584" y="29580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Havia suspeita de pagamentos por serviços não executados e sobrepreço em alguns contratos, devido a inconsistências em relatórios.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41832" y="38587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63FF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58952" y="40142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731520" y="39776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32" name="Shape 30"/>
          <p:cNvSpPr/>
          <p:nvPr/>
        </p:nvSpPr>
        <p:spPr>
          <a:xfrm>
            <a:off x="731520" y="4014216"/>
            <a:ext cx="45720" cy="1092708"/>
          </a:xfrm>
          <a:prstGeom prst="rect">
            <a:avLst>
              <a:gd name="adj" fmla="val 60000"/>
            </a:avLst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896112" y="4423410"/>
            <a:ext cx="274320" cy="2743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4" name="Text 32"/>
          <p:cNvSpPr/>
          <p:nvPr/>
        </p:nvSpPr>
        <p:spPr>
          <a:xfrm>
            <a:off x="896112" y="44234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243584" y="40142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SOLUÇÃO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243584" y="42153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equipe de auditoria combinou análise documental de contratos e diários de obras, observação de campo para verificar o andamento físico e entrevistas com engenheiros e fiscais de contratos. Além disso, foram refeitos cálculos para verificar faturas.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41832" y="51160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6B6D4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758952" y="52715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39" name="Shape 37"/>
          <p:cNvSpPr/>
          <p:nvPr/>
        </p:nvSpPr>
        <p:spPr>
          <a:xfrm>
            <a:off x="731520" y="52349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40" name="Shape 38"/>
          <p:cNvSpPr/>
          <p:nvPr/>
        </p:nvSpPr>
        <p:spPr>
          <a:xfrm>
            <a:off x="731520" y="5271516"/>
            <a:ext cx="45720" cy="1092708"/>
          </a:xfrm>
          <a:prstGeom prst="rect">
            <a:avLst>
              <a:gd name="adj" fmla="val 60000"/>
            </a:avLst>
          </a:prstGeom>
          <a:solidFill>
            <a:srgbClr val="06B6D4"/>
          </a:solidFill>
          <a:ln/>
        </p:spPr>
      </p:sp>
      <p:sp>
        <p:nvSpPr>
          <p:cNvPr id="41" name="Shape 39"/>
          <p:cNvSpPr/>
          <p:nvPr/>
        </p:nvSpPr>
        <p:spPr>
          <a:xfrm>
            <a:off x="896112" y="5680710"/>
            <a:ext cx="274320" cy="2743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42" name="Text 40"/>
          <p:cNvSpPr/>
          <p:nvPr/>
        </p:nvSpPr>
        <p:spPr>
          <a:xfrm>
            <a:off x="896112" y="56807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243584" y="52715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6B6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243584" y="54726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auditoria identificou economias potenciais de 15% em dois contratos específicos, e a prefeitura implementou novas diretrizes para fiscalização e controle de medição, evitando futuras perdas de recursos públicos.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6" name="Shape 44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7" name="Shape 45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8" name="Shape 46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9" name="Shape 47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0" name="Shape 48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1" name="Shape 49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52" name="Text 50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18 / 45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SÍNTESE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521208"/>
            <a:ext cx="822960" cy="1828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21792"/>
            <a:ext cx="11048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13232" y="1499616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463040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463040"/>
            <a:ext cx="45720" cy="1371600"/>
          </a:xfrm>
          <a:prstGeom prst="rect">
            <a:avLst>
              <a:gd name="adj" fmla="val 200000"/>
            </a:avLst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813816" y="15727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813816" y="1572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3816" y="1993392"/>
            <a:ext cx="52134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execução da auditoria é a fase ativa da coleta de evidências para sustentar conclusões.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92444" y="1499616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6265012" y="1463040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4" name="Shape 12"/>
          <p:cNvSpPr/>
          <p:nvPr/>
        </p:nvSpPr>
        <p:spPr>
          <a:xfrm>
            <a:off x="6265012" y="1463040"/>
            <a:ext cx="45720" cy="1371600"/>
          </a:xfrm>
          <a:prstGeom prst="rect">
            <a:avLst>
              <a:gd name="adj" fmla="val 200000"/>
            </a:avLst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6393028" y="15727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393028" y="1572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93028" y="1993392"/>
            <a:ext cx="52134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qualidade das evidências, pela suficiência e adequação, é fundamental para a credibilidade do processo.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13232" y="2980944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2944368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2944368"/>
            <a:ext cx="45720" cy="1371600"/>
          </a:xfrm>
          <a:prstGeom prst="rect">
            <a:avLst>
              <a:gd name="adj" fmla="val 200000"/>
            </a:avLst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813816" y="305409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813816" y="30540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3816" y="3474720"/>
            <a:ext cx="52134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Técnicas como entrevistas, observação, análise documental e testes são essenciais para obter dados.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292444" y="2980944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265012" y="2944368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6" name="Shape 24"/>
          <p:cNvSpPr/>
          <p:nvPr/>
        </p:nvSpPr>
        <p:spPr>
          <a:xfrm>
            <a:off x="6265012" y="2944368"/>
            <a:ext cx="45720" cy="1371600"/>
          </a:xfrm>
          <a:prstGeom prst="rect">
            <a:avLst>
              <a:gd name="adj" fmla="val 200000"/>
            </a:avLst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6393028" y="305409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6393028" y="30540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93028" y="3474720"/>
            <a:ext cx="52134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Todas as evidências devem ser rigorosamente documentadas nos papéis de trabalho, garantindo o suporte do relatório final.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19 / 45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12191695" cy="411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PRINCIPAIS APRENDIZADOS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645920" cy="228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72237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722376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Priorize a coleta de evidências de alta qualidade, garantindo suficiência e adequação dos dados.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68698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4350410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14" name="Shape 12"/>
          <p:cNvSpPr/>
          <p:nvPr/>
        </p:nvSpPr>
        <p:spPr>
          <a:xfrm>
            <a:off x="4350410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47842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4478426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20" dirty="0"/>
          </a:p>
        </p:txBody>
      </p:sp>
      <p:sp>
        <p:nvSpPr>
          <p:cNvPr id="17" name="Text 15"/>
          <p:cNvSpPr/>
          <p:nvPr/>
        </p:nvSpPr>
        <p:spPr>
          <a:xfrm>
            <a:off x="4478426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Utilize uma variedade de técnicas de coleta para obter uma visão abrangente e robusta, adaptada ao contexto.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24749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8106461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0" name="Shape 18"/>
          <p:cNvSpPr/>
          <p:nvPr/>
        </p:nvSpPr>
        <p:spPr>
          <a:xfrm>
            <a:off x="8106461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8234477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8234477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20" dirty="0"/>
          </a:p>
        </p:txBody>
      </p:sp>
      <p:sp>
        <p:nvSpPr>
          <p:cNvPr id="23" name="Text 21"/>
          <p:cNvSpPr/>
          <p:nvPr/>
        </p:nvSpPr>
        <p:spPr>
          <a:xfrm>
            <a:off x="8234477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Documente meticulosamente todas as evidências nos papéis de trabalho, criando um registro completo e verificável.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2648" y="3310128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282696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722376" y="341071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722376" y="3410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520" dirty="0"/>
          </a:p>
        </p:txBody>
      </p:sp>
      <p:sp>
        <p:nvSpPr>
          <p:cNvPr id="29" name="Text 27"/>
          <p:cNvSpPr/>
          <p:nvPr/>
        </p:nvSpPr>
        <p:spPr>
          <a:xfrm>
            <a:off x="722376" y="3849624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Combine diferentes tipos de evidências para corroborar informações e fortalecer os achados de auditoria.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368698" y="3310128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4350410" y="3282696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32" name="Shape 30"/>
          <p:cNvSpPr/>
          <p:nvPr/>
        </p:nvSpPr>
        <p:spPr>
          <a:xfrm>
            <a:off x="4350410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06B6D4"/>
          </a:solidFill>
          <a:ln/>
        </p:spPr>
      </p:sp>
      <p:sp>
        <p:nvSpPr>
          <p:cNvPr id="33" name="Shape 31"/>
          <p:cNvSpPr/>
          <p:nvPr/>
        </p:nvSpPr>
        <p:spPr>
          <a:xfrm>
            <a:off x="4478426" y="341071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6B6D4"/>
          </a:solidFill>
          <a:ln/>
        </p:spPr>
      </p:sp>
      <p:sp>
        <p:nvSpPr>
          <p:cNvPr id="34" name="Text 32"/>
          <p:cNvSpPr/>
          <p:nvPr/>
        </p:nvSpPr>
        <p:spPr>
          <a:xfrm>
            <a:off x="4478426" y="3410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520" dirty="0"/>
          </a:p>
        </p:txBody>
      </p:sp>
      <p:sp>
        <p:nvSpPr>
          <p:cNvPr id="35" name="Text 33"/>
          <p:cNvSpPr/>
          <p:nvPr/>
        </p:nvSpPr>
        <p:spPr>
          <a:xfrm>
            <a:off x="4478426" y="3849624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Lembre-se que a coleta de evidências é um processo iterativo e contínuo, podendo ser ajustado conforme novas informações surgem.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8851" y="0"/>
            <a:ext cx="463284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558851" y="0"/>
            <a:ext cx="36576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1"/>
          <p:cNvSpPr/>
          <p:nvPr/>
        </p:nvSpPr>
        <p:spPr>
          <a:xfrm>
            <a:off x="9631375" y="665683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C0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Foto: Vitaly Gariev / Unsplash</a:t>
            </a:r>
            <a:endParaRPr lang="en-US" sz="700" dirty="0"/>
          </a:p>
        </p:txBody>
      </p:sp>
      <p:sp>
        <p:nvSpPr>
          <p:cNvPr id="5" name="Shape 2"/>
          <p:cNvSpPr/>
          <p:nvPr/>
        </p:nvSpPr>
        <p:spPr>
          <a:xfrm>
            <a:off x="4535311" y="0"/>
            <a:ext cx="3401483" cy="11521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3"/>
          <p:cNvSpPr/>
          <p:nvPr/>
        </p:nvSpPr>
        <p:spPr>
          <a:xfrm>
            <a:off x="4535311" y="1143000"/>
            <a:ext cx="3401483" cy="11521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4"/>
          <p:cNvSpPr/>
          <p:nvPr/>
        </p:nvSpPr>
        <p:spPr>
          <a:xfrm>
            <a:off x="4535311" y="2286000"/>
            <a:ext cx="3401483" cy="11521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5"/>
          <p:cNvSpPr/>
          <p:nvPr/>
        </p:nvSpPr>
        <p:spPr>
          <a:xfrm>
            <a:off x="4535311" y="3429000"/>
            <a:ext cx="3401483" cy="11521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Shape 6"/>
          <p:cNvSpPr/>
          <p:nvPr/>
        </p:nvSpPr>
        <p:spPr>
          <a:xfrm>
            <a:off x="4535311" y="4572000"/>
            <a:ext cx="3401483" cy="11521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Shape 7"/>
          <p:cNvSpPr/>
          <p:nvPr/>
        </p:nvSpPr>
        <p:spPr>
          <a:xfrm>
            <a:off x="4535311" y="5715000"/>
            <a:ext cx="3401483" cy="11521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Shape 8"/>
          <p:cNvSpPr/>
          <p:nvPr/>
        </p:nvSpPr>
        <p:spPr>
          <a:xfrm>
            <a:off x="731520" y="1005840"/>
            <a:ext cx="45720" cy="2103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9"/>
          <p:cNvSpPr/>
          <p:nvPr/>
        </p:nvSpPr>
        <p:spPr>
          <a:xfrm>
            <a:off x="804672" y="1005840"/>
            <a:ext cx="13716" cy="2103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10972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4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005840" y="1417320"/>
            <a:ext cx="1280160" cy="20117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1572768"/>
            <a:ext cx="566913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Análise de Evidências e Formulação de Achados</a:t>
            </a:r>
            <a:endParaRPr lang="en-US" sz="3600" dirty="0"/>
          </a:p>
        </p:txBody>
      </p:sp>
      <p:sp>
        <p:nvSpPr>
          <p:cNvPr id="16" name="Shape 13"/>
          <p:cNvSpPr/>
          <p:nvPr/>
        </p:nvSpPr>
        <p:spPr>
          <a:xfrm>
            <a:off x="1005840" y="4142232"/>
            <a:ext cx="2011680" cy="10973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1005840" y="42519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QUE VOCÊ VAI APRENDER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005840" y="45902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1234440" y="4544568"/>
            <a:ext cx="52911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Analisar criticamente evidências coletadas em auditorias operacionais.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005840" y="4992624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21" name="Text 18"/>
          <p:cNvSpPr/>
          <p:nvPr/>
        </p:nvSpPr>
        <p:spPr>
          <a:xfrm>
            <a:off x="1234440" y="4946904"/>
            <a:ext cx="52911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Estruturar achados consistentes, identificando causas e consequências.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005840" y="5394960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23" name="Text 20"/>
          <p:cNvSpPr/>
          <p:nvPr/>
        </p:nvSpPr>
        <p:spPr>
          <a:xfrm>
            <a:off x="1234440" y="5349240"/>
            <a:ext cx="52911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Desenvolver conclusões de auditoria bem fundamentadas.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31520" y="6446520"/>
            <a:ext cx="542544" cy="731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Shape 22"/>
          <p:cNvSpPr/>
          <p:nvPr/>
        </p:nvSpPr>
        <p:spPr>
          <a:xfrm>
            <a:off x="1264920" y="6446520"/>
            <a:ext cx="542544" cy="731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Shape 23"/>
          <p:cNvSpPr/>
          <p:nvPr/>
        </p:nvSpPr>
        <p:spPr>
          <a:xfrm>
            <a:off x="1798320" y="6446520"/>
            <a:ext cx="542544" cy="731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Shape 24"/>
          <p:cNvSpPr/>
          <p:nvPr/>
        </p:nvSpPr>
        <p:spPr>
          <a:xfrm>
            <a:off x="2331720" y="6446520"/>
            <a:ext cx="542544" cy="731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Shape 25"/>
          <p:cNvSpPr/>
          <p:nvPr/>
        </p:nvSpPr>
        <p:spPr>
          <a:xfrm>
            <a:off x="2865120" y="6446520"/>
            <a:ext cx="542544" cy="731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Shape 26"/>
          <p:cNvSpPr/>
          <p:nvPr/>
        </p:nvSpPr>
        <p:spPr>
          <a:xfrm>
            <a:off x="3398520" y="6446520"/>
            <a:ext cx="542544" cy="7315"/>
          </a:xfrm>
          <a:prstGeom prst="rect">
            <a:avLst/>
          </a:prstGeom>
          <a:solidFill>
            <a:srgbClr val="F59E0B"/>
          </a:solidFill>
          <a:ln/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67093" cy="6858000"/>
          </a:xfrm>
          <a:prstGeom prst="rect">
            <a:avLst/>
          </a:prstGeom>
          <a:solidFill>
            <a:srgbClr val="050A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267093" cy="11521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43000"/>
            <a:ext cx="4267093" cy="11521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286000"/>
            <a:ext cx="4267093" cy="11521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3429000"/>
            <a:ext cx="4267093" cy="11521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4572000"/>
            <a:ext cx="4267093" cy="11521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5715000"/>
            <a:ext cx="4267093" cy="11521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9" name="Shape 7"/>
          <p:cNvSpPr/>
          <p:nvPr/>
        </p:nvSpPr>
        <p:spPr>
          <a:xfrm>
            <a:off x="4267093" y="0"/>
            <a:ext cx="45720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Shape 8"/>
          <p:cNvSpPr/>
          <p:nvPr/>
        </p:nvSpPr>
        <p:spPr>
          <a:xfrm>
            <a:off x="4312813" y="0"/>
            <a:ext cx="13716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502920"/>
            <a:ext cx="344413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749808"/>
            <a:ext cx="1097280" cy="10973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914400"/>
            <a:ext cx="3444133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 da Análise de Evidências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11480" y="4389120"/>
            <a:ext cx="91440" cy="9144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11480" y="475488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Shape 14"/>
          <p:cNvSpPr/>
          <p:nvPr/>
        </p:nvSpPr>
        <p:spPr>
          <a:xfrm>
            <a:off x="411480" y="5120640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Shape 15"/>
          <p:cNvSpPr/>
          <p:nvPr/>
        </p:nvSpPr>
        <p:spPr>
          <a:xfrm>
            <a:off x="411480" y="548640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Shape 16"/>
          <p:cNvSpPr/>
          <p:nvPr/>
        </p:nvSpPr>
        <p:spPr>
          <a:xfrm>
            <a:off x="411480" y="5852160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9" name="Shape 17"/>
          <p:cNvSpPr/>
          <p:nvPr/>
        </p:nvSpPr>
        <p:spPr>
          <a:xfrm>
            <a:off x="4587133" y="512064"/>
            <a:ext cx="41148" cy="85953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0" name="Text 18"/>
          <p:cNvSpPr/>
          <p:nvPr/>
        </p:nvSpPr>
        <p:spPr>
          <a:xfrm>
            <a:off x="4751725" y="457200"/>
            <a:ext cx="7028490" cy="10058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análise é crucial para transformar dados brutos em insights acionáveis.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751725" y="1496873"/>
            <a:ext cx="7028490" cy="4572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2" name="Shape 20"/>
          <p:cNvSpPr/>
          <p:nvPr/>
        </p:nvSpPr>
        <p:spPr>
          <a:xfrm>
            <a:off x="4587133" y="1591056"/>
            <a:ext cx="41148" cy="85953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4751725" y="1536192"/>
            <a:ext cx="7028490" cy="10058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Não basta coletar informações, é preciso interpretá-las e avaliá-las.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751725" y="2575865"/>
            <a:ext cx="7028490" cy="4572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5" name="Shape 23"/>
          <p:cNvSpPr/>
          <p:nvPr/>
        </p:nvSpPr>
        <p:spPr>
          <a:xfrm>
            <a:off x="4587133" y="2670048"/>
            <a:ext cx="41148" cy="85953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4751725" y="2615184"/>
            <a:ext cx="7028490" cy="10058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Os insights fundamentam os achados de auditoria.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751725" y="3654857"/>
            <a:ext cx="7028490" cy="4572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8" name="Shape 26"/>
          <p:cNvSpPr/>
          <p:nvPr/>
        </p:nvSpPr>
        <p:spPr>
          <a:xfrm>
            <a:off x="4587133" y="3749040"/>
            <a:ext cx="41148" cy="85953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4751725" y="3694176"/>
            <a:ext cx="7028490" cy="10058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 achado é uma constatação baseada em evidências, descrevendo uma condição.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751725" y="4733849"/>
            <a:ext cx="7028490" cy="4572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1" name="Shape 29"/>
          <p:cNvSpPr/>
          <p:nvPr/>
        </p:nvSpPr>
        <p:spPr>
          <a:xfrm>
            <a:off x="4587133" y="4828032"/>
            <a:ext cx="41148" cy="85953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2" name="Text 30"/>
          <p:cNvSpPr/>
          <p:nvPr/>
        </p:nvSpPr>
        <p:spPr>
          <a:xfrm>
            <a:off x="4751725" y="4773168"/>
            <a:ext cx="7028490" cy="10058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Achados bem estruturados são a base para recomendações eficazes.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6" name="Shape 34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7" name="Shape 35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8" name="Shape 36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 / 45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Técnicas de Análise em Auditorias Operacionais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132424" y="1536192"/>
            <a:ext cx="18288" cy="491032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0" name="Shape 8"/>
          <p:cNvSpPr/>
          <p:nvPr/>
        </p:nvSpPr>
        <p:spPr>
          <a:xfrm>
            <a:off x="6095848" y="3945636"/>
            <a:ext cx="91440" cy="9144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1572768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1536192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1536192"/>
            <a:ext cx="45720" cy="987552"/>
          </a:xfrm>
          <a:prstGeom prst="rect">
            <a:avLst>
              <a:gd name="adj" fmla="val 120000"/>
            </a:avLst>
          </a:prstGeom>
          <a:solidFill>
            <a:srgbClr val="6C63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18928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6C63FF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" y="1892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69848" y="1563624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Análise Comparativa: Compara dados com padrões, metas ou benchmarks estabelecidos.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1792" y="2633472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2596896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2596896"/>
            <a:ext cx="45720" cy="987552"/>
          </a:xfrm>
          <a:prstGeom prst="rect">
            <a:avLst>
              <a:gd name="adj" fmla="val 120000"/>
            </a:avLst>
          </a:prstGeom>
          <a:solidFill>
            <a:srgbClr val="3B82F6"/>
          </a:solidFill>
          <a:ln/>
        </p:spPr>
      </p:sp>
      <p:sp>
        <p:nvSpPr>
          <p:cNvPr id="20" name="Shape 18"/>
          <p:cNvSpPr/>
          <p:nvPr/>
        </p:nvSpPr>
        <p:spPr>
          <a:xfrm>
            <a:off x="722376" y="29535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" y="2953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69848" y="2624328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Análise de Tendências: Observa a evolução de indicadores relevantes ao longo do tempo.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21792" y="3694176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3657600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657600"/>
            <a:ext cx="45720" cy="987552"/>
          </a:xfrm>
          <a:prstGeom prst="rect">
            <a:avLst>
              <a:gd name="adj" fmla="val 120000"/>
            </a:avLst>
          </a:prstGeom>
          <a:solidFill>
            <a:srgbClr val="10B981"/>
          </a:solidFill>
          <a:ln/>
        </p:spPr>
      </p:sp>
      <p:sp>
        <p:nvSpPr>
          <p:cNvPr id="26" name="Shape 24"/>
          <p:cNvSpPr/>
          <p:nvPr/>
        </p:nvSpPr>
        <p:spPr>
          <a:xfrm>
            <a:off x="722376" y="401421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722376" y="4014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69848" y="3685032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Análise Causa-Efeito: Utiliza ferramentas como o Diagrama de Ishikawa para identificar causas-raiz.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21792" y="4754880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30" name="Shape 28"/>
          <p:cNvSpPr/>
          <p:nvPr/>
        </p:nvSpPr>
        <p:spPr>
          <a:xfrm>
            <a:off x="594360" y="4718304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31" name="Shape 29"/>
          <p:cNvSpPr/>
          <p:nvPr/>
        </p:nvSpPr>
        <p:spPr>
          <a:xfrm>
            <a:off x="594360" y="4718304"/>
            <a:ext cx="45720" cy="987552"/>
          </a:xfrm>
          <a:prstGeom prst="rect">
            <a:avLst>
              <a:gd name="adj" fmla="val 120000"/>
            </a:avLst>
          </a:prstGeom>
          <a:solidFill>
            <a:srgbClr val="F59E0B"/>
          </a:solidFill>
          <a:ln/>
        </p:spPr>
      </p:sp>
      <p:sp>
        <p:nvSpPr>
          <p:cNvPr id="32" name="Shape 30"/>
          <p:cNvSpPr/>
          <p:nvPr/>
        </p:nvSpPr>
        <p:spPr>
          <a:xfrm>
            <a:off x="722376" y="507492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722376" y="5074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69848" y="4745736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Análise de Variação: Examina as diferenças significativas entre o planejado e o realizado.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329020" y="1572768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36" name="Shape 34"/>
          <p:cNvSpPr/>
          <p:nvPr/>
        </p:nvSpPr>
        <p:spPr>
          <a:xfrm>
            <a:off x="6301588" y="1536192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37" name="Shape 35"/>
          <p:cNvSpPr/>
          <p:nvPr/>
        </p:nvSpPr>
        <p:spPr>
          <a:xfrm>
            <a:off x="6301588" y="1536192"/>
            <a:ext cx="45720" cy="987552"/>
          </a:xfrm>
          <a:prstGeom prst="rect">
            <a:avLst>
              <a:gd name="adj" fmla="val 120000"/>
            </a:avLst>
          </a:prstGeom>
          <a:solidFill>
            <a:srgbClr val="06B6D4"/>
          </a:solidFill>
          <a:ln/>
        </p:spPr>
      </p:sp>
      <p:sp>
        <p:nvSpPr>
          <p:cNvPr id="38" name="Shape 36"/>
          <p:cNvSpPr/>
          <p:nvPr/>
        </p:nvSpPr>
        <p:spPr>
          <a:xfrm>
            <a:off x="6429604" y="18928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6B6D4"/>
          </a:solidFill>
          <a:ln/>
        </p:spPr>
      </p:sp>
      <p:sp>
        <p:nvSpPr>
          <p:cNvPr id="39" name="Text 37"/>
          <p:cNvSpPr/>
          <p:nvPr/>
        </p:nvSpPr>
        <p:spPr>
          <a:xfrm>
            <a:off x="6429604" y="1892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77076" y="1563624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Análise Estatística: Aplica métodos para identificar padrões ou correlações nos dados.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6329020" y="2633472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42" name="Shape 40"/>
          <p:cNvSpPr/>
          <p:nvPr/>
        </p:nvSpPr>
        <p:spPr>
          <a:xfrm>
            <a:off x="6301588" y="2596896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43" name="Shape 41"/>
          <p:cNvSpPr/>
          <p:nvPr/>
        </p:nvSpPr>
        <p:spPr>
          <a:xfrm>
            <a:off x="6301588" y="2596896"/>
            <a:ext cx="45720" cy="987552"/>
          </a:xfrm>
          <a:prstGeom prst="rect">
            <a:avLst>
              <a:gd name="adj" fmla="val 120000"/>
            </a:avLst>
          </a:prstGeom>
          <a:solidFill>
            <a:srgbClr val="6C63FF"/>
          </a:solidFill>
          <a:ln/>
        </p:spPr>
      </p:sp>
      <p:sp>
        <p:nvSpPr>
          <p:cNvPr id="44" name="Shape 42"/>
          <p:cNvSpPr/>
          <p:nvPr/>
        </p:nvSpPr>
        <p:spPr>
          <a:xfrm>
            <a:off x="6429604" y="29535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6C63FF"/>
          </a:solidFill>
          <a:ln/>
        </p:spPr>
      </p:sp>
      <p:sp>
        <p:nvSpPr>
          <p:cNvPr id="45" name="Text 43"/>
          <p:cNvSpPr/>
          <p:nvPr/>
        </p:nvSpPr>
        <p:spPr>
          <a:xfrm>
            <a:off x="6429604" y="2953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777076" y="2624328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Análise de Conteúdo: Identifica temas recorrentes em informações qualitativas e textuais.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6329020" y="3694176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48" name="Shape 46"/>
          <p:cNvSpPr/>
          <p:nvPr/>
        </p:nvSpPr>
        <p:spPr>
          <a:xfrm>
            <a:off x="6301588" y="3657600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49" name="Shape 47"/>
          <p:cNvSpPr/>
          <p:nvPr/>
        </p:nvSpPr>
        <p:spPr>
          <a:xfrm>
            <a:off x="6301588" y="3657600"/>
            <a:ext cx="45720" cy="987552"/>
          </a:xfrm>
          <a:prstGeom prst="rect">
            <a:avLst>
              <a:gd name="adj" fmla="val 120000"/>
            </a:avLst>
          </a:prstGeom>
          <a:solidFill>
            <a:srgbClr val="3B82F6"/>
          </a:solidFill>
          <a:ln/>
        </p:spPr>
      </p:sp>
      <p:sp>
        <p:nvSpPr>
          <p:cNvPr id="50" name="Shape 48"/>
          <p:cNvSpPr/>
          <p:nvPr/>
        </p:nvSpPr>
        <p:spPr>
          <a:xfrm>
            <a:off x="6429604" y="401421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51" name="Text 49"/>
          <p:cNvSpPr/>
          <p:nvPr/>
        </p:nvSpPr>
        <p:spPr>
          <a:xfrm>
            <a:off x="6429604" y="4014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777076" y="3685032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Validação Cruzada (Triangulação): Confirma informações por meio de fontes independentes e diversas.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4" name="Shape 52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5" name="Shape 53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6" name="Shape 54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7" name="Shape 55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8" name="Shape 56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9" name="Shape 57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60" name="Text 58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21 / 45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MODELO DOS 5 CS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Elementos Essenciais de um Achado de Auditoria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6C63F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88" dirty="0"/>
          </a:p>
        </p:txBody>
      </p:sp>
      <p:sp>
        <p:nvSpPr>
          <p:cNvPr id="14" name="Text 12"/>
          <p:cNvSpPr/>
          <p:nvPr/>
        </p:nvSpPr>
        <p:spPr>
          <a:xfrm>
            <a:off x="1051560" y="1645920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Condição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85800" y="2048256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2121408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realidade encontrada pelo auditor que se desvia de um padrão previamente estabelecido.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90034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4362602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9" name="Shape 17"/>
          <p:cNvSpPr/>
          <p:nvPr/>
        </p:nvSpPr>
        <p:spPr>
          <a:xfrm>
            <a:off x="4362602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3B82F6"/>
          </a:solidFill>
          <a:ln/>
        </p:spPr>
      </p:sp>
      <p:sp>
        <p:nvSpPr>
          <p:cNvPr id="20" name="Shape 18"/>
          <p:cNvSpPr/>
          <p:nvPr/>
        </p:nvSpPr>
        <p:spPr>
          <a:xfrm>
            <a:off x="4454042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4454042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88" dirty="0"/>
          </a:p>
        </p:txBody>
      </p:sp>
      <p:sp>
        <p:nvSpPr>
          <p:cNvPr id="22" name="Text 20"/>
          <p:cNvSpPr/>
          <p:nvPr/>
        </p:nvSpPr>
        <p:spPr>
          <a:xfrm>
            <a:off x="4819802" y="1645920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Critério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454042" y="2048256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4" name="Text 22"/>
          <p:cNvSpPr/>
          <p:nvPr/>
        </p:nvSpPr>
        <p:spPr>
          <a:xfrm>
            <a:off x="4472330" y="2121408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padrão de referência usado para avaliar a condição, como uma lei, meta ou boa prática do setor.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158277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8130845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27" name="Shape 25"/>
          <p:cNvSpPr/>
          <p:nvPr/>
        </p:nvSpPr>
        <p:spPr>
          <a:xfrm>
            <a:off x="8130845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10B981"/>
          </a:solidFill>
          <a:ln/>
        </p:spPr>
      </p:sp>
      <p:sp>
        <p:nvSpPr>
          <p:cNvPr id="28" name="Shape 26"/>
          <p:cNvSpPr/>
          <p:nvPr/>
        </p:nvSpPr>
        <p:spPr>
          <a:xfrm>
            <a:off x="8222285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8222285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88" dirty="0"/>
          </a:p>
        </p:txBody>
      </p:sp>
      <p:sp>
        <p:nvSpPr>
          <p:cNvPr id="30" name="Text 28"/>
          <p:cNvSpPr/>
          <p:nvPr/>
        </p:nvSpPr>
        <p:spPr>
          <a:xfrm>
            <a:off x="8588045" y="1645920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Causa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222285" y="2048256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2" name="Text 30"/>
          <p:cNvSpPr/>
          <p:nvPr/>
        </p:nvSpPr>
        <p:spPr>
          <a:xfrm>
            <a:off x="8240573" y="2121408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razão subjacente para a condição, aquilo que é o gerador do problema identificado.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1792" y="4023360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34" name="Shape 32"/>
          <p:cNvSpPr/>
          <p:nvPr/>
        </p:nvSpPr>
        <p:spPr>
          <a:xfrm>
            <a:off x="594360" y="3986784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35" name="Shape 33"/>
          <p:cNvSpPr/>
          <p:nvPr/>
        </p:nvSpPr>
        <p:spPr>
          <a:xfrm>
            <a:off x="594360" y="3986784"/>
            <a:ext cx="3603650" cy="45720"/>
          </a:xfrm>
          <a:prstGeom prst="rect">
            <a:avLst>
              <a:gd name="adj" fmla="val 200000"/>
            </a:avLst>
          </a:prstGeom>
          <a:solidFill>
            <a:srgbClr val="F59E0B"/>
          </a:solidFill>
          <a:ln/>
        </p:spPr>
      </p:sp>
      <p:sp>
        <p:nvSpPr>
          <p:cNvPr id="36" name="Shape 34"/>
          <p:cNvSpPr/>
          <p:nvPr/>
        </p:nvSpPr>
        <p:spPr>
          <a:xfrm>
            <a:off x="685800" y="4114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685800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88" dirty="0"/>
          </a:p>
        </p:txBody>
      </p:sp>
      <p:sp>
        <p:nvSpPr>
          <p:cNvPr id="38" name="Text 36"/>
          <p:cNvSpPr/>
          <p:nvPr/>
        </p:nvSpPr>
        <p:spPr>
          <a:xfrm>
            <a:off x="1051560" y="4096512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Consequência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85800" y="4498848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0" name="Text 38"/>
          <p:cNvSpPr/>
          <p:nvPr/>
        </p:nvSpPr>
        <p:spPr>
          <a:xfrm>
            <a:off x="704088" y="4572000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efeito ou o resultado mensurável do problema, caso ele não seja corrigido a tempo.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390034" y="4023360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42" name="Shape 40"/>
          <p:cNvSpPr/>
          <p:nvPr/>
        </p:nvSpPr>
        <p:spPr>
          <a:xfrm>
            <a:off x="4362602" y="3986784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43" name="Shape 41"/>
          <p:cNvSpPr/>
          <p:nvPr/>
        </p:nvSpPr>
        <p:spPr>
          <a:xfrm>
            <a:off x="4362602" y="3986784"/>
            <a:ext cx="3603650" cy="45720"/>
          </a:xfrm>
          <a:prstGeom prst="rect">
            <a:avLst>
              <a:gd name="adj" fmla="val 200000"/>
            </a:avLst>
          </a:prstGeom>
          <a:solidFill>
            <a:srgbClr val="06B6D4"/>
          </a:solidFill>
          <a:ln/>
        </p:spPr>
      </p:sp>
      <p:sp>
        <p:nvSpPr>
          <p:cNvPr id="44" name="Shape 42"/>
          <p:cNvSpPr/>
          <p:nvPr/>
        </p:nvSpPr>
        <p:spPr>
          <a:xfrm>
            <a:off x="4454042" y="4114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6B6D4"/>
          </a:solidFill>
          <a:ln/>
        </p:spPr>
      </p:sp>
      <p:sp>
        <p:nvSpPr>
          <p:cNvPr id="45" name="Text 43"/>
          <p:cNvSpPr/>
          <p:nvPr/>
        </p:nvSpPr>
        <p:spPr>
          <a:xfrm>
            <a:off x="4454042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88" dirty="0"/>
          </a:p>
        </p:txBody>
      </p:sp>
      <p:sp>
        <p:nvSpPr>
          <p:cNvPr id="46" name="Text 44"/>
          <p:cNvSpPr/>
          <p:nvPr/>
        </p:nvSpPr>
        <p:spPr>
          <a:xfrm>
            <a:off x="4819802" y="4096512"/>
            <a:ext cx="3055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6B6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Recomendação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4454042" y="4498848"/>
            <a:ext cx="3420770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8" name="Text 46"/>
          <p:cNvSpPr/>
          <p:nvPr/>
        </p:nvSpPr>
        <p:spPr>
          <a:xfrm>
            <a:off x="4472330" y="4572000"/>
            <a:ext cx="338419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ação proposta para corrigir a condição e eliminar a causa, que será detalhada no próximo módulo.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0" name="Shape 48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1" name="Shape 4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2" name="Shape 50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3" name="Shape 5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4" name="Shape 52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5" name="Shape 5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56" name="Text 5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22 / 45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ATENÇÃO ESSENCIAL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Diferença entre Critério e Causa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1508760"/>
            <a:ext cx="11094415" cy="1463040"/>
          </a:xfrm>
          <a:prstGeom prst="roundRect">
            <a:avLst>
              <a:gd name="adj" fmla="val 6250"/>
            </a:avLst>
          </a:prstGeom>
          <a:solidFill>
            <a:srgbClr val="050A18"/>
          </a:solidFill>
          <a:ln/>
        </p:spPr>
      </p:sp>
      <p:sp>
        <p:nvSpPr>
          <p:cNvPr id="10" name="Shape 8"/>
          <p:cNvSpPr/>
          <p:nvPr/>
        </p:nvSpPr>
        <p:spPr>
          <a:xfrm>
            <a:off x="722376" y="1636776"/>
            <a:ext cx="45720" cy="1207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886968" y="1581912"/>
            <a:ext cx="10655503" cy="131673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distinção entre critério e causa é fundamental para a análise.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30936" y="3456432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" y="3136392"/>
            <a:ext cx="1089324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critério representa o 'deveria ser', o estado ideal ou esperado.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0936" y="4242816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795528" y="3922776"/>
            <a:ext cx="1089324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causa explica 'por que' a condição se desviou desse padrão de referência.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0936" y="502920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795528" y="4709160"/>
            <a:ext cx="1089324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Compreender essa diferença garante achados mais precisos e soluções efetivas.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9" name="Shape 17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2" name="Shape 20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23 / 45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COMPARATIVO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Técnicas para Identificação de Causas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36192"/>
          <a:ext cx="11140135" cy="914400"/>
        </p:xfrm>
        <a:graphic>
          <a:graphicData uri="http://schemas.openxmlformats.org/drawingml/2006/table">
            <a:tbl>
              <a:tblPr/>
              <a:tblGrid>
                <a:gridCol w="3713378"/>
                <a:gridCol w="3713378"/>
                <a:gridCol w="3713378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Critério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5 Porquês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Diagrama de Ishikawa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Objetivo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Identificar a causa raiz de um problema, questionando sucessivamente os níveis.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Categorizar as causas potenciais em áreas específicas, visualizando suas inter-relações.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Aplicação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Rápida, para problemas mais isolados e foco na profundidade de uma única cadeia causal.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Abrangente, para problemas complexos com múltiplas categorias de causas que contribuem.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Vantagem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Ferramenta simples e direta para desvendar causas fundamentais do problema.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Visual e intuitiva, organiza ideias de forma estruturada e facilita o brainstorm.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Limitação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Pode ser superficial se o auditor não for persistente ou se o problema tiver várias causas.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Requer conhecimento das categorias para evitar omissões e pode se tornar complexo.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1" name="Shape 8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2" name="Shape 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3" name="Shape 10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4" name="Shape 1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5" name="Shape 12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6" name="Shape 1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24 / 45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Práticas da Análise de Evidências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132424" y="1536192"/>
            <a:ext cx="18288" cy="49103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Shape 8"/>
          <p:cNvSpPr/>
          <p:nvPr/>
        </p:nvSpPr>
        <p:spPr>
          <a:xfrm>
            <a:off x="6095848" y="3945636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1572768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1536192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1536192"/>
            <a:ext cx="45720" cy="987552"/>
          </a:xfrm>
          <a:prstGeom prst="rect">
            <a:avLst>
              <a:gd name="adj" fmla="val 120000"/>
            </a:avLst>
          </a:prstGeom>
          <a:solidFill>
            <a:srgbClr val="6C63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18928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6C63FF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" y="1892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69848" y="1563624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Identificar ineficiências em processos de licitação pública de obras em rodovias estaduais.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1792" y="2633472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2596896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2596896"/>
            <a:ext cx="45720" cy="987552"/>
          </a:xfrm>
          <a:prstGeom prst="rect">
            <a:avLst>
              <a:gd name="adj" fmla="val 120000"/>
            </a:avLst>
          </a:prstGeom>
          <a:solidFill>
            <a:srgbClr val="3B82F6"/>
          </a:solidFill>
          <a:ln/>
        </p:spPr>
      </p:sp>
      <p:sp>
        <p:nvSpPr>
          <p:cNvPr id="20" name="Shape 18"/>
          <p:cNvSpPr/>
          <p:nvPr/>
        </p:nvSpPr>
        <p:spPr>
          <a:xfrm>
            <a:off x="722376" y="29535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" y="2953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69848" y="2624328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Detectar falhas na gestão de estoque de vacinas de um hospital público, evitando desperdícios.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21792" y="3694176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3657600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657600"/>
            <a:ext cx="45720" cy="987552"/>
          </a:xfrm>
          <a:prstGeom prst="rect">
            <a:avLst>
              <a:gd name="adj" fmla="val 120000"/>
            </a:avLst>
          </a:prstGeom>
          <a:solidFill>
            <a:srgbClr val="10B981"/>
          </a:solidFill>
          <a:ln/>
        </p:spPr>
      </p:sp>
      <p:sp>
        <p:nvSpPr>
          <p:cNvPr id="26" name="Shape 24"/>
          <p:cNvSpPr/>
          <p:nvPr/>
        </p:nvSpPr>
        <p:spPr>
          <a:xfrm>
            <a:off x="722376" y="401421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722376" y="4014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69848" y="3685032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Avaliar a efetividade de programas sociais, revelando recursos que não atingem o público-alvo.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329020" y="1572768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30" name="Shape 28"/>
          <p:cNvSpPr/>
          <p:nvPr/>
        </p:nvSpPr>
        <p:spPr>
          <a:xfrm>
            <a:off x="6301588" y="1536192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31" name="Shape 29"/>
          <p:cNvSpPr/>
          <p:nvPr/>
        </p:nvSpPr>
        <p:spPr>
          <a:xfrm>
            <a:off x="6301588" y="1536192"/>
            <a:ext cx="45720" cy="987552"/>
          </a:xfrm>
          <a:prstGeom prst="rect">
            <a:avLst>
              <a:gd name="adj" fmla="val 120000"/>
            </a:avLst>
          </a:prstGeom>
          <a:solidFill>
            <a:srgbClr val="F59E0B"/>
          </a:solidFill>
          <a:ln/>
        </p:spPr>
      </p:sp>
      <p:sp>
        <p:nvSpPr>
          <p:cNvPr id="32" name="Shape 30"/>
          <p:cNvSpPr/>
          <p:nvPr/>
        </p:nvSpPr>
        <p:spPr>
          <a:xfrm>
            <a:off x="6429604" y="18928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6429604" y="1892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77076" y="1563624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Analisar desvios orçamentários em obras de escolas municipais, identificando sobrepreços.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329020" y="2633472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36" name="Shape 34"/>
          <p:cNvSpPr/>
          <p:nvPr/>
        </p:nvSpPr>
        <p:spPr>
          <a:xfrm>
            <a:off x="6301588" y="2596896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37" name="Shape 35"/>
          <p:cNvSpPr/>
          <p:nvPr/>
        </p:nvSpPr>
        <p:spPr>
          <a:xfrm>
            <a:off x="6301588" y="2596896"/>
            <a:ext cx="45720" cy="987552"/>
          </a:xfrm>
          <a:prstGeom prst="rect">
            <a:avLst>
              <a:gd name="adj" fmla="val 120000"/>
            </a:avLst>
          </a:prstGeom>
          <a:solidFill>
            <a:srgbClr val="06B6D4"/>
          </a:solidFill>
          <a:ln/>
        </p:spPr>
      </p:sp>
      <p:sp>
        <p:nvSpPr>
          <p:cNvPr id="38" name="Shape 36"/>
          <p:cNvSpPr/>
          <p:nvPr/>
        </p:nvSpPr>
        <p:spPr>
          <a:xfrm>
            <a:off x="6429604" y="29535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6B6D4"/>
          </a:solidFill>
          <a:ln/>
        </p:spPr>
      </p:sp>
      <p:sp>
        <p:nvSpPr>
          <p:cNvPr id="39" name="Text 37"/>
          <p:cNvSpPr/>
          <p:nvPr/>
        </p:nvSpPr>
        <p:spPr>
          <a:xfrm>
            <a:off x="6429604" y="2953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77076" y="2624328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Auditar a qualidade do atendimento em centros de acolhimento social para idosos, visando melhorias.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6329020" y="3694176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42" name="Shape 40"/>
          <p:cNvSpPr/>
          <p:nvPr/>
        </p:nvSpPr>
        <p:spPr>
          <a:xfrm>
            <a:off x="6301588" y="3657600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43" name="Shape 41"/>
          <p:cNvSpPr/>
          <p:nvPr/>
        </p:nvSpPr>
        <p:spPr>
          <a:xfrm>
            <a:off x="6301588" y="3657600"/>
            <a:ext cx="45720" cy="987552"/>
          </a:xfrm>
          <a:prstGeom prst="rect">
            <a:avLst>
              <a:gd name="adj" fmla="val 120000"/>
            </a:avLst>
          </a:prstGeom>
          <a:solidFill>
            <a:srgbClr val="6C63FF"/>
          </a:solidFill>
          <a:ln/>
        </p:spPr>
      </p:sp>
      <p:sp>
        <p:nvSpPr>
          <p:cNvPr id="44" name="Shape 42"/>
          <p:cNvSpPr/>
          <p:nvPr/>
        </p:nvSpPr>
        <p:spPr>
          <a:xfrm>
            <a:off x="6429604" y="401421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6C63FF"/>
          </a:solidFill>
          <a:ln/>
        </p:spPr>
      </p:sp>
      <p:sp>
        <p:nvSpPr>
          <p:cNvPr id="45" name="Text 43"/>
          <p:cNvSpPr/>
          <p:nvPr/>
        </p:nvSpPr>
        <p:spPr>
          <a:xfrm>
            <a:off x="6429604" y="4014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777076" y="3685032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Identificar fragilidades nos controles internos da folha de pagamento de servidores públicos.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8" name="Shape 46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9" name="Shape 47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0" name="Shape 48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1" name="Shape 49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2" name="Shape 50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3" name="Shape 51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54" name="Text 52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25 / 45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1417320"/>
            <a:ext cx="128016" cy="12801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219456" y="1554480"/>
            <a:ext cx="18288" cy="146913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" y="3032760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219456" y="3169920"/>
            <a:ext cx="18288" cy="146913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164592" y="4648200"/>
            <a:ext cx="128016" cy="128016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219456" y="4785360"/>
            <a:ext cx="18288" cy="146913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" y="6263640"/>
            <a:ext cx="128016" cy="128016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384048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840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ESTUDO DE CASO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73152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Prático: Gestão de Resíduos Sólidos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31520" y="1298448"/>
            <a:ext cx="3200400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58952" y="14996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14630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1499616"/>
            <a:ext cx="45720" cy="1092708"/>
          </a:xfrm>
          <a:prstGeom prst="rect">
            <a:avLst>
              <a:gd name="adj" fmla="val 60000"/>
            </a:avLst>
          </a:pr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896112" y="1908810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19088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43584" y="14996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243584" y="17007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Auditoria na gestão de resíduos sólidos urbanos de um município na região metropolitana de Salvador, focada na eficiência da coleta seletiva porta a porta.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41832" y="26014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9E0B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58952" y="27569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27203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2756916"/>
            <a:ext cx="45720" cy="1092708"/>
          </a:xfrm>
          <a:prstGeom prst="rect">
            <a:avLst>
              <a:gd name="adj" fmla="val 60000"/>
            </a:avLst>
          </a:pr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896112" y="316611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31661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43584" y="27569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243584" y="29580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município apresentava uma taxa de coleta seletiva de 8% nos últimos dois anos, significativamente abaixo da meta do Plano Nacional de Resíduos Sólidos (25%) e da média de municípios similares de porte médio (18%), com um declínio de 2% no último ano.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41832" y="38587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63FF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58952" y="40142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731520" y="39776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32" name="Shape 30"/>
          <p:cNvSpPr/>
          <p:nvPr/>
        </p:nvSpPr>
        <p:spPr>
          <a:xfrm>
            <a:off x="731520" y="4014216"/>
            <a:ext cx="45720" cy="1092708"/>
          </a:xfrm>
          <a:prstGeom prst="rect">
            <a:avLst>
              <a:gd name="adj" fmla="val 60000"/>
            </a:avLst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896112" y="4423410"/>
            <a:ext cx="274320" cy="2743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4" name="Text 32"/>
          <p:cNvSpPr/>
          <p:nvPr/>
        </p:nvSpPr>
        <p:spPr>
          <a:xfrm>
            <a:off x="896112" y="44234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243584" y="40142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SOLUÇÃO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243584" y="42153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Foi realizada uma análise comparativa com municípios vizinhos e uma análise de tendências dos relatórios para identificar as práticas mais eficazes e os pontos críticos de falha no sistema de coleta do município auditado.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41832" y="51160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6B6D4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758952" y="52715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39" name="Shape 37"/>
          <p:cNvSpPr/>
          <p:nvPr/>
        </p:nvSpPr>
        <p:spPr>
          <a:xfrm>
            <a:off x="731520" y="52349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40" name="Shape 38"/>
          <p:cNvSpPr/>
          <p:nvPr/>
        </p:nvSpPr>
        <p:spPr>
          <a:xfrm>
            <a:off x="731520" y="5271516"/>
            <a:ext cx="45720" cy="1092708"/>
          </a:xfrm>
          <a:prstGeom prst="rect">
            <a:avLst>
              <a:gd name="adj" fmla="val 60000"/>
            </a:avLst>
          </a:prstGeom>
          <a:solidFill>
            <a:srgbClr val="06B6D4"/>
          </a:solidFill>
          <a:ln/>
        </p:spPr>
      </p:sp>
      <p:sp>
        <p:nvSpPr>
          <p:cNvPr id="41" name="Shape 39"/>
          <p:cNvSpPr/>
          <p:nvPr/>
        </p:nvSpPr>
        <p:spPr>
          <a:xfrm>
            <a:off x="896112" y="5680710"/>
            <a:ext cx="274320" cy="2743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42" name="Text 40"/>
          <p:cNvSpPr/>
          <p:nvPr/>
        </p:nvSpPr>
        <p:spPr>
          <a:xfrm>
            <a:off x="896112" y="56807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243584" y="52715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6B6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243584" y="54726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auditoria identificou a falta de campanhas de conscientização contínuas e a obsolescência da frota de veículos de coleta como as principais causas, levando à proposta de um plano de investimentos e revitalização da comunicação.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6" name="Shape 44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7" name="Shape 45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8" name="Shape 46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9" name="Shape 47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0" name="Shape 48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1" name="Shape 49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52" name="Text 50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26 / 45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SÍNTESE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521208"/>
            <a:ext cx="822960" cy="1828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21792"/>
            <a:ext cx="11048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 do Módulo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13232" y="1499616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463040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463040"/>
            <a:ext cx="45720" cy="1371600"/>
          </a:xfrm>
          <a:prstGeom prst="rect">
            <a:avLst>
              <a:gd name="adj" fmla="val 200000"/>
            </a:avLst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813816" y="15727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813816" y="1572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3816" y="1993392"/>
            <a:ext cx="52134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análise de evidências converte dados em insights e é fundamental para a auditoria.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92444" y="1499616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6265012" y="1463040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4" name="Shape 12"/>
          <p:cNvSpPr/>
          <p:nvPr/>
        </p:nvSpPr>
        <p:spPr>
          <a:xfrm>
            <a:off x="6265012" y="1463040"/>
            <a:ext cx="45720" cy="1371600"/>
          </a:xfrm>
          <a:prstGeom prst="rect">
            <a:avLst>
              <a:gd name="adj" fmla="val 200000"/>
            </a:avLst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6393028" y="15727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393028" y="1572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93028" y="1993392"/>
            <a:ext cx="52134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Técnicas como análise comparativa e causa-efeito são essenciais para a interpretação de informações.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13232" y="2980944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2944368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2944368"/>
            <a:ext cx="45720" cy="1371600"/>
          </a:xfrm>
          <a:prstGeom prst="rect">
            <a:avLst>
              <a:gd name="adj" fmla="val 200000"/>
            </a:avLst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813816" y="305409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813816" y="30540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3816" y="3474720"/>
            <a:ext cx="52134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achado de auditoria é estruturado com base nos 5 Cs, sendo eles Condição, Critério, Causa, Consequência e Recomendação.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292444" y="2980944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265012" y="2944368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6" name="Shape 24"/>
          <p:cNvSpPr/>
          <p:nvPr/>
        </p:nvSpPr>
        <p:spPr>
          <a:xfrm>
            <a:off x="6265012" y="2944368"/>
            <a:ext cx="45720" cy="1371600"/>
          </a:xfrm>
          <a:prstGeom prst="rect">
            <a:avLst>
              <a:gd name="adj" fmla="val 200000"/>
            </a:avLst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6393028" y="305409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6393028" y="30540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93028" y="3474720"/>
            <a:ext cx="52134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distinção clara entre critério e causa é vital para achados consistentes e soluções eficazes.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27 / 45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12191695" cy="411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PRINCIPAIS APRENDIZADOS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645920" cy="228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72237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722376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Invista tempo na análise crítica das evidências; elas são a base de seus achados.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68698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4350410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14" name="Shape 12"/>
          <p:cNvSpPr/>
          <p:nvPr/>
        </p:nvSpPr>
        <p:spPr>
          <a:xfrm>
            <a:off x="4350410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47842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4478426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20" dirty="0"/>
          </a:p>
        </p:txBody>
      </p:sp>
      <p:sp>
        <p:nvSpPr>
          <p:cNvPr id="17" name="Text 15"/>
          <p:cNvSpPr/>
          <p:nvPr/>
        </p:nvSpPr>
        <p:spPr>
          <a:xfrm>
            <a:off x="4478426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Aplique diversas técnicas de análise para obter uma visão completa e aprofundada dos dados.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24749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8106461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0" name="Shape 18"/>
          <p:cNvSpPr/>
          <p:nvPr/>
        </p:nvSpPr>
        <p:spPr>
          <a:xfrm>
            <a:off x="8106461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8234477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8234477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20" dirty="0"/>
          </a:p>
        </p:txBody>
      </p:sp>
      <p:sp>
        <p:nvSpPr>
          <p:cNvPr id="23" name="Text 21"/>
          <p:cNvSpPr/>
          <p:nvPr/>
        </p:nvSpPr>
        <p:spPr>
          <a:xfrm>
            <a:off x="8234477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Utilize o modelo dos 5 Cs para estruturar achados de auditoria de forma clara e objetiva, garantindo sua consistência.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2648" y="3310128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282696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722376" y="341071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722376" y="3410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520" dirty="0"/>
          </a:p>
        </p:txBody>
      </p:sp>
      <p:sp>
        <p:nvSpPr>
          <p:cNvPr id="29" name="Text 27"/>
          <p:cNvSpPr/>
          <p:nvPr/>
        </p:nvSpPr>
        <p:spPr>
          <a:xfrm>
            <a:off x="722376" y="3849624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Diferencie claramente 'Critério' do 'Deveria Ser' e 'Causa' do 'Porquê' para formulações precisas.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368698" y="3310128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4350410" y="3282696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32" name="Shape 30"/>
          <p:cNvSpPr/>
          <p:nvPr/>
        </p:nvSpPr>
        <p:spPr>
          <a:xfrm>
            <a:off x="4350410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06B6D4"/>
          </a:solidFill>
          <a:ln/>
        </p:spPr>
      </p:sp>
      <p:sp>
        <p:nvSpPr>
          <p:cNvPr id="33" name="Shape 31"/>
          <p:cNvSpPr/>
          <p:nvPr/>
        </p:nvSpPr>
        <p:spPr>
          <a:xfrm>
            <a:off x="4478426" y="341071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6B6D4"/>
          </a:solidFill>
          <a:ln/>
        </p:spPr>
      </p:sp>
      <p:sp>
        <p:nvSpPr>
          <p:cNvPr id="34" name="Text 32"/>
          <p:cNvSpPr/>
          <p:nvPr/>
        </p:nvSpPr>
        <p:spPr>
          <a:xfrm>
            <a:off x="4478426" y="3410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520" dirty="0"/>
          </a:p>
        </p:txBody>
      </p:sp>
      <p:sp>
        <p:nvSpPr>
          <p:cNvPr id="35" name="Text 33"/>
          <p:cNvSpPr/>
          <p:nvPr/>
        </p:nvSpPr>
        <p:spPr>
          <a:xfrm>
            <a:off x="4478426" y="3849624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Entenda que achados bem fundamentados são a força motriz para recomendações impactantes e melhorias significativas.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8851" y="0"/>
            <a:ext cx="463284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558851" y="0"/>
            <a:ext cx="36576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1"/>
          <p:cNvSpPr/>
          <p:nvPr/>
        </p:nvSpPr>
        <p:spPr>
          <a:xfrm>
            <a:off x="9631375" y="665683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C0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Foto: Walls.io / Unsplash</a:t>
            </a:r>
            <a:endParaRPr lang="en-US" sz="700" dirty="0"/>
          </a:p>
        </p:txBody>
      </p:sp>
      <p:sp>
        <p:nvSpPr>
          <p:cNvPr id="5" name="Shape 2"/>
          <p:cNvSpPr/>
          <p:nvPr/>
        </p:nvSpPr>
        <p:spPr>
          <a:xfrm>
            <a:off x="4535311" y="0"/>
            <a:ext cx="3401483" cy="11521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Shape 3"/>
          <p:cNvSpPr/>
          <p:nvPr/>
        </p:nvSpPr>
        <p:spPr>
          <a:xfrm>
            <a:off x="4535311" y="1143000"/>
            <a:ext cx="3401483" cy="11521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Shape 4"/>
          <p:cNvSpPr/>
          <p:nvPr/>
        </p:nvSpPr>
        <p:spPr>
          <a:xfrm>
            <a:off x="4535311" y="2286000"/>
            <a:ext cx="3401483" cy="11521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Shape 5"/>
          <p:cNvSpPr/>
          <p:nvPr/>
        </p:nvSpPr>
        <p:spPr>
          <a:xfrm>
            <a:off x="4535311" y="3429000"/>
            <a:ext cx="3401483" cy="11521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9" name="Shape 6"/>
          <p:cNvSpPr/>
          <p:nvPr/>
        </p:nvSpPr>
        <p:spPr>
          <a:xfrm>
            <a:off x="4535311" y="4572000"/>
            <a:ext cx="3401483" cy="11521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Shape 7"/>
          <p:cNvSpPr/>
          <p:nvPr/>
        </p:nvSpPr>
        <p:spPr>
          <a:xfrm>
            <a:off x="4535311" y="5715000"/>
            <a:ext cx="3401483" cy="11521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Shape 8"/>
          <p:cNvSpPr/>
          <p:nvPr/>
        </p:nvSpPr>
        <p:spPr>
          <a:xfrm>
            <a:off x="731520" y="1005840"/>
            <a:ext cx="45720" cy="21031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Shape 9"/>
          <p:cNvSpPr/>
          <p:nvPr/>
        </p:nvSpPr>
        <p:spPr>
          <a:xfrm>
            <a:off x="804672" y="1005840"/>
            <a:ext cx="13716" cy="21031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10972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5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005840" y="1417320"/>
            <a:ext cx="1280160" cy="20117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1572768"/>
            <a:ext cx="566913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Comunicação dos Resultados e Monitoramento</a:t>
            </a:r>
            <a:endParaRPr lang="en-US" sz="3600" dirty="0"/>
          </a:p>
        </p:txBody>
      </p:sp>
      <p:sp>
        <p:nvSpPr>
          <p:cNvPr id="16" name="Shape 13"/>
          <p:cNvSpPr/>
          <p:nvPr/>
        </p:nvSpPr>
        <p:spPr>
          <a:xfrm>
            <a:off x="1005840" y="4142232"/>
            <a:ext cx="2011680" cy="10973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7" name="Text 14"/>
          <p:cNvSpPr/>
          <p:nvPr/>
        </p:nvSpPr>
        <p:spPr>
          <a:xfrm>
            <a:off x="1005840" y="42519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QUE VOCÊ VAI APRENDER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005840" y="45902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/>
        </p:spPr>
      </p:sp>
      <p:sp>
        <p:nvSpPr>
          <p:cNvPr id="19" name="Text 16"/>
          <p:cNvSpPr/>
          <p:nvPr/>
        </p:nvSpPr>
        <p:spPr>
          <a:xfrm>
            <a:off x="1234440" y="4544568"/>
            <a:ext cx="52911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Aprender a elaborar relatórios de auditoria focados em clareza e impacto.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005840" y="4992624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/>
        </p:spPr>
      </p:sp>
      <p:sp>
        <p:nvSpPr>
          <p:cNvPr id="21" name="Text 18"/>
          <p:cNvSpPr/>
          <p:nvPr/>
        </p:nvSpPr>
        <p:spPr>
          <a:xfrm>
            <a:off x="1234440" y="4946904"/>
            <a:ext cx="52911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Desenvolver habilidades para comunicar resultados a diversos stakeholders.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005840" y="5394960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/>
        </p:spPr>
      </p:sp>
      <p:sp>
        <p:nvSpPr>
          <p:cNvPr id="23" name="Text 20"/>
          <p:cNvSpPr/>
          <p:nvPr/>
        </p:nvSpPr>
        <p:spPr>
          <a:xfrm>
            <a:off x="1234440" y="5349240"/>
            <a:ext cx="52911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Estabelecer estratégias eficazes para monitorar a implementação de recomendações.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31520" y="6446520"/>
            <a:ext cx="542544" cy="731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5" name="Shape 22"/>
          <p:cNvSpPr/>
          <p:nvPr/>
        </p:nvSpPr>
        <p:spPr>
          <a:xfrm>
            <a:off x="1264920" y="6446520"/>
            <a:ext cx="542544" cy="731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6" name="Shape 23"/>
          <p:cNvSpPr/>
          <p:nvPr/>
        </p:nvSpPr>
        <p:spPr>
          <a:xfrm>
            <a:off x="1798320" y="6446520"/>
            <a:ext cx="542544" cy="731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7" name="Shape 24"/>
          <p:cNvSpPr/>
          <p:nvPr/>
        </p:nvSpPr>
        <p:spPr>
          <a:xfrm>
            <a:off x="2331720" y="6446520"/>
            <a:ext cx="542544" cy="731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8" name="Shape 25"/>
          <p:cNvSpPr/>
          <p:nvPr/>
        </p:nvSpPr>
        <p:spPr>
          <a:xfrm>
            <a:off x="2865120" y="6446520"/>
            <a:ext cx="542544" cy="731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9" name="Shape 26"/>
          <p:cNvSpPr/>
          <p:nvPr/>
        </p:nvSpPr>
        <p:spPr>
          <a:xfrm>
            <a:off x="3398520" y="6446520"/>
            <a:ext cx="542544" cy="7315"/>
          </a:xfrm>
          <a:prstGeom prst="rect">
            <a:avLst/>
          </a:prstGeom>
          <a:solidFill>
            <a:srgbClr val="06B6D4"/>
          </a:solidFill>
          <a:ln/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 ESSENCIAIS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Comunicação e o Monitoramento na Auditoria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45336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08760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508760"/>
            <a:ext cx="54864" cy="1152144"/>
          </a:xfrm>
          <a:prstGeom prst="rect">
            <a:avLst>
              <a:gd name="adj" fmla="val 133333"/>
            </a:avLst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" y="19293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6C63FF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1929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97864" y="1536192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comunicação dos resultados e o monitoramento das ações são fases cruciais da auditoria operacional.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" y="2807208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770632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770632"/>
            <a:ext cx="54864" cy="1152144"/>
          </a:xfrm>
          <a:prstGeom prst="rect">
            <a:avLst>
              <a:gd name="adj" fmla="val 133333"/>
            </a:avLst>
          </a:prstGeom>
          <a:solidFill>
            <a:srgbClr val="3B82F6"/>
          </a:solidFill>
          <a:ln/>
        </p:spPr>
      </p:sp>
      <p:sp>
        <p:nvSpPr>
          <p:cNvPr id="18" name="Shape 16"/>
          <p:cNvSpPr/>
          <p:nvPr/>
        </p:nvSpPr>
        <p:spPr>
          <a:xfrm>
            <a:off x="758952" y="319125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" y="31912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97864" y="2798064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Estas etapas transformam achados em melhorias reais na gestão pública, garantindo impacto direto.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1792" y="4069080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" y="4032504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4032504"/>
            <a:ext cx="54864" cy="1152144"/>
          </a:xfrm>
          <a:prstGeom prst="rect">
            <a:avLst>
              <a:gd name="adj" fmla="val 133333"/>
            </a:avLst>
          </a:prstGeom>
          <a:solidFill>
            <a:srgbClr val="10B981"/>
          </a:solidFill>
          <a:ln/>
        </p:spPr>
      </p:sp>
      <p:sp>
        <p:nvSpPr>
          <p:cNvPr id="24" name="Shape 22"/>
          <p:cNvSpPr/>
          <p:nvPr/>
        </p:nvSpPr>
        <p:spPr>
          <a:xfrm>
            <a:off x="758952" y="44531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758952" y="44531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97864" y="4059936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 relatório de auditoria bem estruturado é a ponte essencial entre o trabalho técnico e a tomada de decisão gerencial.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21792" y="5330952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" y="5294376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5294376"/>
            <a:ext cx="54864" cy="1152144"/>
          </a:xfrm>
          <a:prstGeom prst="rect">
            <a:avLst>
              <a:gd name="adj" fmla="val 133333"/>
            </a:avLst>
          </a:prstGeom>
          <a:solidFill>
            <a:srgbClr val="F59E0B"/>
          </a:solidFill>
          <a:ln/>
        </p:spPr>
      </p:sp>
      <p:sp>
        <p:nvSpPr>
          <p:cNvPr id="30" name="Shape 28"/>
          <p:cNvSpPr/>
          <p:nvPr/>
        </p:nvSpPr>
        <p:spPr>
          <a:xfrm>
            <a:off x="758952" y="57150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758952" y="57150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97864" y="5321808"/>
            <a:ext cx="10399471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monitoramento assegura que as recomendações sejam efetivamente implementadas, promovendo a melhoria contínua.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6" name="Shape 34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7" name="Shape 35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8" name="Shape 36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28 / 45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02920" y="521208"/>
            <a:ext cx="914400" cy="182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21792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Processo de Comunicação e Monitoramento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3373679"/>
            <a:ext cx="11323015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521208" y="1746504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719072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111D3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719072"/>
            <a:ext cx="2515286" cy="45720"/>
          </a:xfrm>
          <a:prstGeom prst="rect">
            <a:avLst>
              <a:gd name="adj" fmla="val 240000"/>
            </a:avLst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1577683" y="1847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1577683" y="1847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045638" y="3355391"/>
            <a:ext cx="310896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 rot="2700000">
            <a:off x="3246806" y="3318815"/>
            <a:ext cx="109728" cy="10972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221992"/>
            <a:ext cx="224096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Elaboração do Relatório Prévio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2679192"/>
            <a:ext cx="2240966" cy="367588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Produto formal da auditoria com achados, conclusões e recomendações, conciso e fundamentado normativamente.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457118" y="1746504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3438830" y="1719072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111D38"/>
          </a:solidFill>
          <a:ln/>
        </p:spPr>
      </p:sp>
      <p:sp>
        <p:nvSpPr>
          <p:cNvPr id="17" name="Shape 15"/>
          <p:cNvSpPr/>
          <p:nvPr/>
        </p:nvSpPr>
        <p:spPr>
          <a:xfrm>
            <a:off x="3438830" y="1719072"/>
            <a:ext cx="2515286" cy="45720"/>
          </a:xfrm>
          <a:prstGeom prst="rect">
            <a:avLst>
              <a:gd name="adj" fmla="val 240000"/>
            </a:avLst>
          </a:prstGeom>
          <a:solidFill>
            <a:srgbClr val="3B82F6"/>
          </a:solidFill>
          <a:ln/>
        </p:spPr>
      </p:sp>
      <p:sp>
        <p:nvSpPr>
          <p:cNvPr id="18" name="Shape 16"/>
          <p:cNvSpPr/>
          <p:nvPr/>
        </p:nvSpPr>
        <p:spPr>
          <a:xfrm>
            <a:off x="4513593" y="1847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4513593" y="1847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81548" y="3355391"/>
            <a:ext cx="310896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Shape 19"/>
          <p:cNvSpPr/>
          <p:nvPr/>
        </p:nvSpPr>
        <p:spPr>
          <a:xfrm rot="2700000">
            <a:off x="6182716" y="3318815"/>
            <a:ext cx="109728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3575990" y="2221992"/>
            <a:ext cx="224096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Apresentação aos Gestores Auditados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575990" y="2679192"/>
            <a:ext cx="2240966" cy="367588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Reuniões para apresentar achados e recomendações, buscando a compreensão e manifestação preliminar dos gestores.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93028" y="1746504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374740" y="1719072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111D38"/>
          </a:solidFill>
          <a:ln/>
        </p:spPr>
      </p:sp>
      <p:sp>
        <p:nvSpPr>
          <p:cNvPr id="26" name="Shape 24"/>
          <p:cNvSpPr/>
          <p:nvPr/>
        </p:nvSpPr>
        <p:spPr>
          <a:xfrm>
            <a:off x="6374740" y="1719072"/>
            <a:ext cx="2515286" cy="45720"/>
          </a:xfrm>
          <a:prstGeom prst="rect">
            <a:avLst>
              <a:gd name="adj" fmla="val 240000"/>
            </a:avLst>
          </a:prstGeom>
          <a:solidFill>
            <a:srgbClr val="10B981"/>
          </a:solidFill>
          <a:ln/>
        </p:spPr>
      </p:sp>
      <p:sp>
        <p:nvSpPr>
          <p:cNvPr id="27" name="Shape 25"/>
          <p:cNvSpPr/>
          <p:nvPr/>
        </p:nvSpPr>
        <p:spPr>
          <a:xfrm>
            <a:off x="7449503" y="1847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7449503" y="1847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917457" y="3355391"/>
            <a:ext cx="310896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Shape 28"/>
          <p:cNvSpPr/>
          <p:nvPr/>
        </p:nvSpPr>
        <p:spPr>
          <a:xfrm rot="2700000">
            <a:off x="9118625" y="3318815"/>
            <a:ext cx="109728" cy="1097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6511900" y="2221992"/>
            <a:ext cx="224096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Contraditório Formal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11900" y="2532888"/>
            <a:ext cx="2240966" cy="382219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Prazo regimental para manifestação dos gestores sobre o relatório prévio, podendo levar à revisão ou ratificação dos achados.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328937" y="1746504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000000"/>
          </a:solidFill>
          <a:ln/>
        </p:spPr>
      </p:sp>
      <p:sp>
        <p:nvSpPr>
          <p:cNvPr id="34" name="Shape 32"/>
          <p:cNvSpPr/>
          <p:nvPr/>
        </p:nvSpPr>
        <p:spPr>
          <a:xfrm>
            <a:off x="9310649" y="1719072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111D38"/>
          </a:solidFill>
          <a:ln/>
        </p:spPr>
      </p:sp>
      <p:sp>
        <p:nvSpPr>
          <p:cNvPr id="35" name="Shape 33"/>
          <p:cNvSpPr/>
          <p:nvPr/>
        </p:nvSpPr>
        <p:spPr>
          <a:xfrm>
            <a:off x="9310649" y="1719072"/>
            <a:ext cx="2515286" cy="45720"/>
          </a:xfrm>
          <a:prstGeom prst="rect">
            <a:avLst>
              <a:gd name="adj" fmla="val 240000"/>
            </a:avLst>
          </a:prstGeom>
          <a:solidFill>
            <a:srgbClr val="F59E0B"/>
          </a:solidFill>
          <a:ln/>
        </p:spPr>
      </p:sp>
      <p:sp>
        <p:nvSpPr>
          <p:cNvPr id="36" name="Shape 34"/>
          <p:cNvSpPr/>
          <p:nvPr/>
        </p:nvSpPr>
        <p:spPr>
          <a:xfrm>
            <a:off x="10385412" y="1847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10385412" y="1847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447809" y="2221992"/>
            <a:ext cx="224096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Monitoramento Ativo das Recomendações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447809" y="2679192"/>
            <a:ext cx="2240966" cy="367588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Acompanhamento regular das ações corretivas, documentando o progresso e o impacto efetivo na gestão.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1" name="Shape 39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2" name="Shape 40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3" name="Shape 41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4" name="Shape 42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5" name="Shape 43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6" name="Shape 44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7" name="Text 45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29 / 45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MODELOS DE RELATÓRIOS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Diferenças entre Relatório de Auditoria e Monitoramento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36192"/>
          <a:ext cx="11140135" cy="914400"/>
        </p:xfrm>
        <a:graphic>
          <a:graphicData uri="http://schemas.openxmlformats.org/drawingml/2006/table">
            <a:tbl>
              <a:tblPr/>
              <a:tblGrid>
                <a:gridCol w="3713378"/>
                <a:gridCol w="3713378"/>
                <a:gridCol w="3713378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Aspecto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Relatório de Auditoria Operacional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Relatório de Monitoramento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Objetivo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Comunicar achados e recomendações.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Acompanhar cumprimento das recomendações.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Conteúdo Foco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Achados (Condição, Critério, Causa, Efeito), Conclusões, Recomendações.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Status das ações, evidências de implementação, prazos.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Periodicidade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Ao final da execução de cada auditoria.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Periódico (ex: mensal, trimestral, semestral).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Público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Gestores auditados, órgãos de controle, sociedade (opcional).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Equipe de gestão, órgãos de controle.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1" name="Shape 8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2" name="Shape 9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3" name="Shape 10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4" name="Shape 11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5" name="Shape 12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6" name="Shape 13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30 / 45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1417320"/>
            <a:ext cx="128016" cy="12801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219456" y="1554480"/>
            <a:ext cx="18288" cy="146913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" y="3032760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219456" y="3169920"/>
            <a:ext cx="18288" cy="146913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164592" y="4648200"/>
            <a:ext cx="128016" cy="128016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219456" y="4785360"/>
            <a:ext cx="18288" cy="146913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" y="6263640"/>
            <a:ext cx="128016" cy="128016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384048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840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ESTUDO DE CASO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73152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Prático: Gestão da Merenda Escolar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31520" y="1298448"/>
            <a:ext cx="3200400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58952" y="14996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14630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1499616"/>
            <a:ext cx="45720" cy="1092708"/>
          </a:xfrm>
          <a:prstGeom prst="rect">
            <a:avLst>
              <a:gd name="adj" fmla="val 60000"/>
            </a:avLst>
          </a:pr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896112" y="1908810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19088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43584" y="14996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243584" y="17007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Secretaria Municipal de Educação enfrentava desafios na gestão da merenda escolar em cidade de médio porte.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41832" y="26014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9E0B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58952" y="27569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27203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2756916"/>
            <a:ext cx="45720" cy="1092708"/>
          </a:xfrm>
          <a:prstGeom prst="rect">
            <a:avLst>
              <a:gd name="adj" fmla="val 60000"/>
            </a:avLst>
          </a:pr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896112" y="316611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31661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43584" y="27569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243584" y="29580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Controle de estoque por volume total impedia a identificação de perdas por validade e um planejamento de compras eficiente.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41832" y="38587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63FF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58952" y="40142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731520" y="39776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32" name="Shape 30"/>
          <p:cNvSpPr/>
          <p:nvPr/>
        </p:nvSpPr>
        <p:spPr>
          <a:xfrm>
            <a:off x="731520" y="4014216"/>
            <a:ext cx="45720" cy="1092708"/>
          </a:xfrm>
          <a:prstGeom prst="rect">
            <a:avLst>
              <a:gd name="adj" fmla="val 60000"/>
            </a:avLst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896112" y="4423410"/>
            <a:ext cx="274320" cy="2743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4" name="Text 32"/>
          <p:cNvSpPr/>
          <p:nvPr/>
        </p:nvSpPr>
        <p:spPr>
          <a:xfrm>
            <a:off x="896112" y="44234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243584" y="40142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SOLUÇÃO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243584" y="42153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Implementação de um sistema de controle de estoque individualizado e capacitação de servidores, com prazo de 180 dias.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41832" y="51160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6B6D4">
                    <a:alpha val="60000"/>
                  </a:srgbClr>
                </a:solidFill>
              </a:rPr>
              <a:t>▼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758952" y="5271516"/>
            <a:ext cx="10820095" cy="1165860"/>
          </a:xfrm>
          <a:prstGeom prst="roundRect">
            <a:avLst>
              <a:gd name="adj" fmla="val 7843"/>
            </a:avLst>
          </a:prstGeom>
          <a:solidFill>
            <a:srgbClr val="000000"/>
          </a:solidFill>
          <a:ln/>
        </p:spPr>
      </p:sp>
      <p:sp>
        <p:nvSpPr>
          <p:cNvPr id="39" name="Shape 37"/>
          <p:cNvSpPr/>
          <p:nvPr/>
        </p:nvSpPr>
        <p:spPr>
          <a:xfrm>
            <a:off x="731520" y="5234940"/>
            <a:ext cx="10820095" cy="1165860"/>
          </a:xfrm>
          <a:prstGeom prst="roundRect">
            <a:avLst>
              <a:gd name="adj" fmla="val 6275"/>
            </a:avLst>
          </a:prstGeom>
          <a:solidFill>
            <a:srgbClr val="111D38"/>
          </a:solidFill>
          <a:ln/>
        </p:spPr>
      </p:sp>
      <p:sp>
        <p:nvSpPr>
          <p:cNvPr id="40" name="Shape 38"/>
          <p:cNvSpPr/>
          <p:nvPr/>
        </p:nvSpPr>
        <p:spPr>
          <a:xfrm>
            <a:off x="731520" y="5271516"/>
            <a:ext cx="45720" cy="1092708"/>
          </a:xfrm>
          <a:prstGeom prst="rect">
            <a:avLst>
              <a:gd name="adj" fmla="val 60000"/>
            </a:avLst>
          </a:prstGeom>
          <a:solidFill>
            <a:srgbClr val="06B6D4"/>
          </a:solidFill>
          <a:ln/>
        </p:spPr>
      </p:sp>
      <p:sp>
        <p:nvSpPr>
          <p:cNvPr id="41" name="Shape 39"/>
          <p:cNvSpPr/>
          <p:nvPr/>
        </p:nvSpPr>
        <p:spPr>
          <a:xfrm>
            <a:off x="896112" y="5680710"/>
            <a:ext cx="274320" cy="2743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42" name="Text 40"/>
          <p:cNvSpPr/>
          <p:nvPr/>
        </p:nvSpPr>
        <p:spPr>
          <a:xfrm>
            <a:off x="896112" y="568071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243584" y="52715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6B6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243584" y="5472684"/>
            <a:ext cx="100885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Instalação de software e treinamento resultaram na redução de desperdício em 15% e otimização de compras, considerando a recomendação cumprida.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6" name="Shape 44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7" name="Shape 45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8" name="Shape 46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9" name="Shape 47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0" name="Shape 48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1" name="Shape 49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52" name="Text 50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31 / 45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Diversas Aplicações da Auditoria Operacional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132424" y="1536192"/>
            <a:ext cx="18288" cy="49103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Shape 8"/>
          <p:cNvSpPr/>
          <p:nvPr/>
        </p:nvSpPr>
        <p:spPr>
          <a:xfrm>
            <a:off x="6095848" y="3945636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1572768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1536192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1536192"/>
            <a:ext cx="45720" cy="987552"/>
          </a:xfrm>
          <a:prstGeom prst="rect">
            <a:avLst>
              <a:gd name="adj" fmla="val 120000"/>
            </a:avLst>
          </a:prstGeom>
          <a:solidFill>
            <a:srgbClr val="6C63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18928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6C63FF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" y="1892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69848" y="1563624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Avaliar a eficiência dos procedimentos licitatórios de uma prefeitura para aquisição de material de escritório.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1792" y="2633472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2596896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2596896"/>
            <a:ext cx="45720" cy="987552"/>
          </a:xfrm>
          <a:prstGeom prst="rect">
            <a:avLst>
              <a:gd name="adj" fmla="val 120000"/>
            </a:avLst>
          </a:prstGeom>
          <a:solidFill>
            <a:srgbClr val="3B82F6"/>
          </a:solidFill>
          <a:ln/>
        </p:spPr>
      </p:sp>
      <p:sp>
        <p:nvSpPr>
          <p:cNvPr id="20" name="Shape 18"/>
          <p:cNvSpPr/>
          <p:nvPr/>
        </p:nvSpPr>
        <p:spPr>
          <a:xfrm>
            <a:off x="722376" y="29535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" y="2953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69848" y="2624328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Verificar a economicidade na contratação de serviços de limpeza e conservação em órgãos estaduais, comparando custos e produtividade.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21792" y="3694176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3657600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657600"/>
            <a:ext cx="45720" cy="987552"/>
          </a:xfrm>
          <a:prstGeom prst="rect">
            <a:avLst>
              <a:gd name="adj" fmla="val 120000"/>
            </a:avLst>
          </a:prstGeom>
          <a:solidFill>
            <a:srgbClr val="10B981"/>
          </a:solidFill>
          <a:ln/>
        </p:spPr>
      </p:sp>
      <p:sp>
        <p:nvSpPr>
          <p:cNvPr id="26" name="Shape 24"/>
          <p:cNvSpPr/>
          <p:nvPr/>
        </p:nvSpPr>
        <p:spPr>
          <a:xfrm>
            <a:off x="722376" y="401421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722376" y="4014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69848" y="3685032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Acompanhar a efetividade da política pública de saneamento básico em capitais, medindo taxas de tratamento de esgoto e acesso a água.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21792" y="4754880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30" name="Shape 28"/>
          <p:cNvSpPr/>
          <p:nvPr/>
        </p:nvSpPr>
        <p:spPr>
          <a:xfrm>
            <a:off x="594360" y="4718304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31" name="Shape 29"/>
          <p:cNvSpPr/>
          <p:nvPr/>
        </p:nvSpPr>
        <p:spPr>
          <a:xfrm>
            <a:off x="594360" y="4718304"/>
            <a:ext cx="45720" cy="987552"/>
          </a:xfrm>
          <a:prstGeom prst="rect">
            <a:avLst>
              <a:gd name="adj" fmla="val 120000"/>
            </a:avLst>
          </a:prstGeom>
          <a:solidFill>
            <a:srgbClr val="F59E0B"/>
          </a:solidFill>
          <a:ln/>
        </p:spPr>
      </p:sp>
      <p:sp>
        <p:nvSpPr>
          <p:cNvPr id="32" name="Shape 30"/>
          <p:cNvSpPr/>
          <p:nvPr/>
        </p:nvSpPr>
        <p:spPr>
          <a:xfrm>
            <a:off x="722376" y="507492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722376" y="5074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69848" y="4745736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Fiscalizar a conformidade dos gastos de fundos de saúde municipais com as diretrizes do SUS.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329020" y="1572768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36" name="Shape 34"/>
          <p:cNvSpPr/>
          <p:nvPr/>
        </p:nvSpPr>
        <p:spPr>
          <a:xfrm>
            <a:off x="6301588" y="1536192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37" name="Shape 35"/>
          <p:cNvSpPr/>
          <p:nvPr/>
        </p:nvSpPr>
        <p:spPr>
          <a:xfrm>
            <a:off x="6301588" y="1536192"/>
            <a:ext cx="45720" cy="987552"/>
          </a:xfrm>
          <a:prstGeom prst="rect">
            <a:avLst>
              <a:gd name="adj" fmla="val 120000"/>
            </a:avLst>
          </a:prstGeom>
          <a:solidFill>
            <a:srgbClr val="06B6D4"/>
          </a:solidFill>
          <a:ln/>
        </p:spPr>
      </p:sp>
      <p:sp>
        <p:nvSpPr>
          <p:cNvPr id="38" name="Shape 36"/>
          <p:cNvSpPr/>
          <p:nvPr/>
        </p:nvSpPr>
        <p:spPr>
          <a:xfrm>
            <a:off x="6429604" y="18928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6B6D4"/>
          </a:solidFill>
          <a:ln/>
        </p:spPr>
      </p:sp>
      <p:sp>
        <p:nvSpPr>
          <p:cNvPr id="39" name="Text 37"/>
          <p:cNvSpPr/>
          <p:nvPr/>
        </p:nvSpPr>
        <p:spPr>
          <a:xfrm>
            <a:off x="6429604" y="1892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77076" y="1563624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Otimizar fluxos de trabalho na emissão de alvarás de construção, mapeando gargalos e propondo automatização de etapas.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6329020" y="2633472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42" name="Shape 40"/>
          <p:cNvSpPr/>
          <p:nvPr/>
        </p:nvSpPr>
        <p:spPr>
          <a:xfrm>
            <a:off x="6301588" y="2596896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43" name="Shape 41"/>
          <p:cNvSpPr/>
          <p:nvPr/>
        </p:nvSpPr>
        <p:spPr>
          <a:xfrm>
            <a:off x="6301588" y="2596896"/>
            <a:ext cx="45720" cy="987552"/>
          </a:xfrm>
          <a:prstGeom prst="rect">
            <a:avLst>
              <a:gd name="adj" fmla="val 120000"/>
            </a:avLst>
          </a:prstGeom>
          <a:solidFill>
            <a:srgbClr val="6C63FF"/>
          </a:solidFill>
          <a:ln/>
        </p:spPr>
      </p:sp>
      <p:sp>
        <p:nvSpPr>
          <p:cNvPr id="44" name="Shape 42"/>
          <p:cNvSpPr/>
          <p:nvPr/>
        </p:nvSpPr>
        <p:spPr>
          <a:xfrm>
            <a:off x="6429604" y="29535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6C63FF"/>
          </a:solidFill>
          <a:ln/>
        </p:spPr>
      </p:sp>
      <p:sp>
        <p:nvSpPr>
          <p:cNvPr id="45" name="Text 43"/>
          <p:cNvSpPr/>
          <p:nvPr/>
        </p:nvSpPr>
        <p:spPr>
          <a:xfrm>
            <a:off x="6429604" y="2953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777076" y="2624328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Constatar a fidedignidade dos dados de vacinação em secretarias de saúde, auditando a entrada de dados para riscos de sub ou supernotificação.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6329020" y="3694176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48" name="Shape 46"/>
          <p:cNvSpPr/>
          <p:nvPr/>
        </p:nvSpPr>
        <p:spPr>
          <a:xfrm>
            <a:off x="6301588" y="3657600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49" name="Shape 47"/>
          <p:cNvSpPr/>
          <p:nvPr/>
        </p:nvSpPr>
        <p:spPr>
          <a:xfrm>
            <a:off x="6301588" y="3657600"/>
            <a:ext cx="45720" cy="987552"/>
          </a:xfrm>
          <a:prstGeom prst="rect">
            <a:avLst>
              <a:gd name="adj" fmla="val 120000"/>
            </a:avLst>
          </a:prstGeom>
          <a:solidFill>
            <a:srgbClr val="3B82F6"/>
          </a:solidFill>
          <a:ln/>
        </p:spPr>
      </p:sp>
      <p:sp>
        <p:nvSpPr>
          <p:cNvPr id="50" name="Shape 48"/>
          <p:cNvSpPr/>
          <p:nvPr/>
        </p:nvSpPr>
        <p:spPr>
          <a:xfrm>
            <a:off x="6429604" y="401421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51" name="Text 49"/>
          <p:cNvSpPr/>
          <p:nvPr/>
        </p:nvSpPr>
        <p:spPr>
          <a:xfrm>
            <a:off x="6429604" y="4014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777076" y="3685032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a qualidade do seu relatório de auditoria pode impactar diretamente a credibilidade e a disposição da gestão em implementar as mudanças sugeridas?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4" name="Shape 52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5" name="Shape 53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6" name="Shape 54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7" name="Shape 55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8" name="Shape 56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9" name="Shape 57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60" name="Text 58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32 / 45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" y="0"/>
            <a:ext cx="27432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C039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PONTOS DE ATENÇÃO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 na Comunicação e Monitoramento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10820095" y="32004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/>
        </p:spPr>
      </p:sp>
      <p:sp>
        <p:nvSpPr>
          <p:cNvPr id="10" name="Text 8"/>
          <p:cNvSpPr/>
          <p:nvPr/>
        </p:nvSpPr>
        <p:spPr>
          <a:xfrm>
            <a:off x="10820095" y="320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21792" y="1481328"/>
            <a:ext cx="11140135" cy="969264"/>
          </a:xfrm>
          <a:prstGeom prst="roundRect">
            <a:avLst>
              <a:gd name="adj" fmla="val 9434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1444752"/>
            <a:ext cx="11140135" cy="969264"/>
          </a:xfrm>
          <a:prstGeom prst="roundRect">
            <a:avLst>
              <a:gd name="adj" fmla="val 7547"/>
            </a:avLst>
          </a:prstGeom>
          <a:solidFill>
            <a:srgbClr val="1A2848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1444752"/>
            <a:ext cx="54864" cy="969264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" y="1481328"/>
            <a:ext cx="1090239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03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RESISTÊNCIA À MUDANÇA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58952" y="1645920"/>
            <a:ext cx="108658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Gestores podem resistir a recomendações que exijam realocação de pessoal, necessitando análise de custo-benefício e alinhamento estratégico.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" y="2578608"/>
            <a:ext cx="11140135" cy="969264"/>
          </a:xfrm>
          <a:prstGeom prst="roundRect">
            <a:avLst>
              <a:gd name="adj" fmla="val 9434"/>
            </a:avLst>
          </a:prstGeom>
          <a:solidFill>
            <a:srgbClr val="000000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" y="2542032"/>
            <a:ext cx="11140135" cy="969264"/>
          </a:xfrm>
          <a:prstGeom prst="roundRect">
            <a:avLst>
              <a:gd name="adj" fmla="val 7547"/>
            </a:avLst>
          </a:prstGeom>
          <a:solidFill>
            <a:srgbClr val="141E34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2542032"/>
            <a:ext cx="54864" cy="969264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" y="2578608"/>
            <a:ext cx="1090239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03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AMBIGUIDADE NAS RECOMENDAÇÕES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58952" y="2743200"/>
            <a:ext cx="108658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Recomendações vagas, como 'melhorar a comunicação', dificultam o monitoramento e a atribuição de responsabilidades, exigindo métricas claras e prazos definidos.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" y="3675888"/>
            <a:ext cx="11140135" cy="969264"/>
          </a:xfrm>
          <a:prstGeom prst="roundRect">
            <a:avLst>
              <a:gd name="adj" fmla="val 9434"/>
            </a:avLst>
          </a:prstGeom>
          <a:solidFill>
            <a:srgbClr val="00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" y="3639312"/>
            <a:ext cx="11140135" cy="969264"/>
          </a:xfrm>
          <a:prstGeom prst="roundRect">
            <a:avLst>
              <a:gd name="adj" fmla="val 7547"/>
            </a:avLst>
          </a:prstGeom>
          <a:solidFill>
            <a:srgbClr val="1A2848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360" y="3639312"/>
            <a:ext cx="54864" cy="969264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" y="3675888"/>
            <a:ext cx="1090239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03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FALTA DE RECURSOS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58952" y="3840480"/>
            <a:ext cx="108658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Ausência de orçamento, pessoal qualificado ou sistemas pode inviabilizar a implementação, demandando que a auditoria identifique e quantifique essas lacunas.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" y="4773168"/>
            <a:ext cx="11140135" cy="969264"/>
          </a:xfrm>
          <a:prstGeom prst="roundRect">
            <a:avLst>
              <a:gd name="adj" fmla="val 9434"/>
            </a:avLst>
          </a:prstGeom>
          <a:solidFill>
            <a:srgbClr val="000000"/>
          </a:solidFill>
          <a:ln/>
        </p:spPr>
      </p:sp>
      <p:sp>
        <p:nvSpPr>
          <p:cNvPr id="27" name="Shape 25"/>
          <p:cNvSpPr/>
          <p:nvPr/>
        </p:nvSpPr>
        <p:spPr>
          <a:xfrm>
            <a:off x="594360" y="4736592"/>
            <a:ext cx="11140135" cy="969264"/>
          </a:xfrm>
          <a:prstGeom prst="roundRect">
            <a:avLst>
              <a:gd name="adj" fmla="val 7547"/>
            </a:avLst>
          </a:prstGeom>
          <a:solidFill>
            <a:srgbClr val="141E34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" y="4736592"/>
            <a:ext cx="54864" cy="969264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29" name="Text 27"/>
          <p:cNvSpPr/>
          <p:nvPr/>
        </p:nvSpPr>
        <p:spPr>
          <a:xfrm>
            <a:off x="758952" y="4773168"/>
            <a:ext cx="1090239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03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CONFLITO DE INTERESSES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58952" y="4937760"/>
            <a:ext cx="108658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equipe de auditoria deve manter total independência e imparcialidade, evitando qualquer vínculo pessoal ou profissional que comprometa a objetividade.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6" name="Shape 34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33 / 45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SÍNTESE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521208"/>
            <a:ext cx="822960" cy="1828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21792"/>
            <a:ext cx="11048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13232" y="1499616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463040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463040"/>
            <a:ext cx="45720" cy="1371600"/>
          </a:xfrm>
          <a:prstGeom prst="rect">
            <a:avLst>
              <a:gd name="adj" fmla="val 200000"/>
            </a:avLst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813816" y="15727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813816" y="1572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3816" y="1993392"/>
            <a:ext cx="52134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comunicação e o monitoramento são etapas finais e cruciais da auditoria operacional para gerar melhorias efetivas na gestão.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92444" y="1499616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6265012" y="1463040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4" name="Shape 12"/>
          <p:cNvSpPr/>
          <p:nvPr/>
        </p:nvSpPr>
        <p:spPr>
          <a:xfrm>
            <a:off x="6265012" y="1463040"/>
            <a:ext cx="45720" cy="1371600"/>
          </a:xfrm>
          <a:prstGeom prst="rect">
            <a:avLst>
              <a:gd name="adj" fmla="val 200000"/>
            </a:avLst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6393028" y="15727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393028" y="1572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93028" y="1993392"/>
            <a:ext cx="52134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processo envolve relatório prévio, apresentação aos gestores, contraditório formal e monitoramento ativo das recomendações.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13232" y="2980944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2944368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2944368"/>
            <a:ext cx="45720" cy="1371600"/>
          </a:xfrm>
          <a:prstGeom prst="rect">
            <a:avLst>
              <a:gd name="adj" fmla="val 200000"/>
            </a:avLst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813816" y="305409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813816" y="30540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3816" y="3474720"/>
            <a:ext cx="52134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Existem diferenças fundamentais entre relatórios de auditoria e de monitoramento em seus objetivos, foco e periodicidade.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292444" y="2980944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265012" y="2944368"/>
            <a:ext cx="5469484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6" name="Shape 24"/>
          <p:cNvSpPr/>
          <p:nvPr/>
        </p:nvSpPr>
        <p:spPr>
          <a:xfrm>
            <a:off x="6265012" y="2944368"/>
            <a:ext cx="45720" cy="1371600"/>
          </a:xfrm>
          <a:prstGeom prst="rect">
            <a:avLst>
              <a:gd name="adj" fmla="val 200000"/>
            </a:avLst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6393028" y="305409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6393028" y="30540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93028" y="3474720"/>
            <a:ext cx="52134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 essencial estar atento a desafios como a resistência à mudança, ambiguidades nas recomendações e a falta de recursos, garantindo a eficácia do trabalho.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0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2031949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406389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6095848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8127797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10159746" y="6547104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6551676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6583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34 / 45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545775" y="6583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0436047" y="6638544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12191695" cy="411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PRINCIPAIS APRENDIZADOS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645920" cy="228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72237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722376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 relatório claro e objetivo é vital para a tomada de decisão e a credibilidade da auditoria.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68698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4350410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14" name="Shape 12"/>
          <p:cNvSpPr/>
          <p:nvPr/>
        </p:nvSpPr>
        <p:spPr>
          <a:xfrm>
            <a:off x="4350410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478426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4478426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20" dirty="0"/>
          </a:p>
        </p:txBody>
      </p:sp>
      <p:sp>
        <p:nvSpPr>
          <p:cNvPr id="17" name="Text 15"/>
          <p:cNvSpPr/>
          <p:nvPr/>
        </p:nvSpPr>
        <p:spPr>
          <a:xfrm>
            <a:off x="4478426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Apresentar resultados diretamente aos gestores fomenta o engajamento e a compreensão das recomendações.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24749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8106461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0" name="Shape 18"/>
          <p:cNvSpPr/>
          <p:nvPr/>
        </p:nvSpPr>
        <p:spPr>
          <a:xfrm>
            <a:off x="8106461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8234477" y="16367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8234477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20" dirty="0"/>
          </a:p>
        </p:txBody>
      </p:sp>
      <p:sp>
        <p:nvSpPr>
          <p:cNvPr id="23" name="Text 21"/>
          <p:cNvSpPr/>
          <p:nvPr/>
        </p:nvSpPr>
        <p:spPr>
          <a:xfrm>
            <a:off x="8234477" y="2075688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monitoramento contínuo assegura que as ações corretivas sejam implementadas e tragam os resultados esperados.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2648" y="3310128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282696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722376" y="341071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722376" y="3410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520" dirty="0"/>
          </a:p>
        </p:txBody>
      </p:sp>
      <p:sp>
        <p:nvSpPr>
          <p:cNvPr id="29" name="Text 27"/>
          <p:cNvSpPr/>
          <p:nvPr/>
        </p:nvSpPr>
        <p:spPr>
          <a:xfrm>
            <a:off x="722376" y="3849624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Recomendações devem ser específicas, mensuráveis, atingíveis, relevantes e com prazo definido para facilitar o monitoramento.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368698" y="3310128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4350410" y="3282696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32" name="Shape 30"/>
          <p:cNvSpPr/>
          <p:nvPr/>
        </p:nvSpPr>
        <p:spPr>
          <a:xfrm>
            <a:off x="4350410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06B6D4"/>
          </a:solidFill>
          <a:ln/>
        </p:spPr>
      </p:sp>
      <p:sp>
        <p:nvSpPr>
          <p:cNvPr id="33" name="Shape 31"/>
          <p:cNvSpPr/>
          <p:nvPr/>
        </p:nvSpPr>
        <p:spPr>
          <a:xfrm>
            <a:off x="4478426" y="341071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6B6D4"/>
          </a:solidFill>
          <a:ln/>
        </p:spPr>
      </p:sp>
      <p:sp>
        <p:nvSpPr>
          <p:cNvPr id="34" name="Text 32"/>
          <p:cNvSpPr/>
          <p:nvPr/>
        </p:nvSpPr>
        <p:spPr>
          <a:xfrm>
            <a:off x="4478426" y="3410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520" dirty="0"/>
          </a:p>
        </p:txBody>
      </p:sp>
      <p:sp>
        <p:nvSpPr>
          <p:cNvPr id="35" name="Text 33"/>
          <p:cNvSpPr/>
          <p:nvPr/>
        </p:nvSpPr>
        <p:spPr>
          <a:xfrm>
            <a:off x="4478426" y="3849624"/>
            <a:ext cx="3372002" cy="9875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independência e a imparcialidade do auditor são a base para superar desafios e garantir a efetividade da auditoria.</a:t>
            </a:r>
            <a:endParaRPr lang="en-US" sz="1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263" y="0"/>
            <a:ext cx="7315017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263" y="1143000"/>
            <a:ext cx="7315017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263" y="2286000"/>
            <a:ext cx="7315017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263" y="3429000"/>
            <a:ext cx="7315017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263" y="4572000"/>
            <a:ext cx="7315017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Shape 5"/>
          <p:cNvSpPr/>
          <p:nvPr/>
        </p:nvSpPr>
        <p:spPr>
          <a:xfrm>
            <a:off x="5486263" y="5715000"/>
            <a:ext cx="7315017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8534095" y="-1097280"/>
            <a:ext cx="4572000" cy="45720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822960"/>
            <a:ext cx="45720" cy="3474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" y="822960"/>
            <a:ext cx="13716" cy="3474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1" name="Shape 9"/>
          <p:cNvSpPr/>
          <p:nvPr/>
        </p:nvSpPr>
        <p:spPr>
          <a:xfrm>
            <a:off x="1097280" y="1188720"/>
            <a:ext cx="2743200" cy="1371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256032" y="1005840"/>
            <a:ext cx="274320" cy="146304"/>
          </a:xfrm>
          <a:prstGeom prst="roundRect">
            <a:avLst>
              <a:gd name="adj" fmla="val 25000"/>
            </a:avLst>
          </a:prstGeom>
          <a:solidFill>
            <a:srgbClr val="6C63FF"/>
          </a:solidFill>
          <a:ln/>
        </p:spPr>
      </p:sp>
      <p:sp>
        <p:nvSpPr>
          <p:cNvPr id="13" name="Shape 11"/>
          <p:cNvSpPr/>
          <p:nvPr/>
        </p:nvSpPr>
        <p:spPr>
          <a:xfrm>
            <a:off x="256032" y="1261872"/>
            <a:ext cx="274320" cy="146304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/>
        </p:spPr>
      </p:sp>
      <p:sp>
        <p:nvSpPr>
          <p:cNvPr id="14" name="Shape 12"/>
          <p:cNvSpPr/>
          <p:nvPr/>
        </p:nvSpPr>
        <p:spPr>
          <a:xfrm>
            <a:off x="256032" y="1517904"/>
            <a:ext cx="274320" cy="146304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/>
        </p:spPr>
      </p:sp>
      <p:sp>
        <p:nvSpPr>
          <p:cNvPr id="15" name="Shape 13"/>
          <p:cNvSpPr/>
          <p:nvPr/>
        </p:nvSpPr>
        <p:spPr>
          <a:xfrm>
            <a:off x="256032" y="1773936"/>
            <a:ext cx="274320" cy="146304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/>
        </p:spPr>
      </p:sp>
      <p:sp>
        <p:nvSpPr>
          <p:cNvPr id="16" name="Shape 14"/>
          <p:cNvSpPr/>
          <p:nvPr/>
        </p:nvSpPr>
        <p:spPr>
          <a:xfrm>
            <a:off x="256032" y="2029968"/>
            <a:ext cx="274320" cy="146304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1645920"/>
            <a:ext cx="670543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Obrigado!</a:t>
            </a:r>
            <a:endParaRPr lang="en-US" sz="6800" dirty="0"/>
          </a:p>
        </p:txBody>
      </p:sp>
      <p:sp>
        <p:nvSpPr>
          <p:cNvPr id="18" name="Shape 16"/>
          <p:cNvSpPr/>
          <p:nvPr/>
        </p:nvSpPr>
        <p:spPr>
          <a:xfrm>
            <a:off x="1097280" y="3703320"/>
            <a:ext cx="496824" cy="5486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9" name="Shape 17"/>
          <p:cNvSpPr/>
          <p:nvPr/>
        </p:nvSpPr>
        <p:spPr>
          <a:xfrm>
            <a:off x="1584960" y="3703320"/>
            <a:ext cx="496824" cy="5486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0" name="Shape 18"/>
          <p:cNvSpPr/>
          <p:nvPr/>
        </p:nvSpPr>
        <p:spPr>
          <a:xfrm>
            <a:off x="2072640" y="3703320"/>
            <a:ext cx="496824" cy="5486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1" name="Shape 19"/>
          <p:cNvSpPr/>
          <p:nvPr/>
        </p:nvSpPr>
        <p:spPr>
          <a:xfrm>
            <a:off x="2560320" y="3703320"/>
            <a:ext cx="496824" cy="5486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2" name="Shape 20"/>
          <p:cNvSpPr/>
          <p:nvPr/>
        </p:nvSpPr>
        <p:spPr>
          <a:xfrm>
            <a:off x="3048000" y="3703320"/>
            <a:ext cx="496824" cy="5486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3" name="Shape 21"/>
          <p:cNvSpPr/>
          <p:nvPr/>
        </p:nvSpPr>
        <p:spPr>
          <a:xfrm>
            <a:off x="3535680" y="3703320"/>
            <a:ext cx="496824" cy="5486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4" name="Text 22"/>
          <p:cNvSpPr/>
          <p:nvPr/>
        </p:nvSpPr>
        <p:spPr>
          <a:xfrm>
            <a:off x="1097280" y="3931920"/>
            <a:ext cx="60958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Introdução à Auditoria Operacional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97280" y="466344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700" kern="0" dirty="0">
                <a:solidFill>
                  <a:srgbClr val="6C63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CONCLUSÃO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180015" y="5029200"/>
            <a:ext cx="457200" cy="457200"/>
          </a:xfrm>
          <a:prstGeom prst="rect">
            <a:avLst>
              <a:gd name="adj" fmla="val 8000"/>
            </a:avLst>
          </a:prstGeom>
          <a:solidFill>
            <a:srgbClr val="6C63FF"/>
          </a:solidFill>
          <a:ln/>
        </p:spPr>
      </p:sp>
      <p:sp>
        <p:nvSpPr>
          <p:cNvPr id="27" name="Shape 25"/>
          <p:cNvSpPr/>
          <p:nvPr/>
        </p:nvSpPr>
        <p:spPr>
          <a:xfrm>
            <a:off x="10591495" y="5394960"/>
            <a:ext cx="685800" cy="685800"/>
          </a:xfrm>
          <a:prstGeom prst="rect">
            <a:avLst>
              <a:gd name="adj" fmla="val 5333"/>
            </a:avLst>
          </a:prstGeom>
          <a:solidFill>
            <a:srgbClr val="3B82F6"/>
          </a:solidFill>
          <a:ln/>
        </p:spPr>
      </p:sp>
      <p:sp>
        <p:nvSpPr>
          <p:cNvPr id="28" name="Shape 26"/>
          <p:cNvSpPr/>
          <p:nvPr/>
        </p:nvSpPr>
        <p:spPr>
          <a:xfrm>
            <a:off x="11002975" y="5760720"/>
            <a:ext cx="914400" cy="914400"/>
          </a:xfrm>
          <a:prstGeom prst="rect">
            <a:avLst>
              <a:gd name="adj" fmla="val 4000"/>
            </a:avLst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9631375" y="63550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94A3C0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março de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à Auditoria Operacional</dc:title>
  <dc:subject>PptxGenJS Presentation</dc:subject>
  <dc:creator>EduGenAI v3</dc:creator>
  <cp:lastModifiedBy>EduGenAI v3</cp:lastModifiedBy>
  <cp:revision>1</cp:revision>
  <dcterms:created xsi:type="dcterms:W3CDTF">2026-03-12T18:09:50Z</dcterms:created>
  <dcterms:modified xsi:type="dcterms:W3CDTF">2026-03-12T18:09:50Z</dcterms:modified>
</cp:coreProperties>
</file>