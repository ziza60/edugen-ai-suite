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</p:sldIdLst>
  <p:notesMasterIdLst>
    <p:notesMasterId r:id="rId5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notesMaster" Target="notesMasters/notesMaster1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" name="Shape 1"/>
          <p:cNvSpPr/>
          <p:nvPr/>
        </p:nvSpPr>
        <p:spPr>
          <a:xfrm>
            <a:off x="731520" y="822960"/>
            <a:ext cx="32004" cy="521208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" name="Shape 2"/>
          <p:cNvSpPr/>
          <p:nvPr/>
        </p:nvSpPr>
        <p:spPr>
          <a:xfrm>
            <a:off x="1097280" y="1188720"/>
            <a:ext cx="3200400" cy="16459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6" name="Text 3"/>
          <p:cNvSpPr/>
          <p:nvPr/>
        </p:nvSpPr>
        <p:spPr>
          <a:xfrm>
            <a:off x="1097280" y="141732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800" kern="0" dirty="0">
                <a:solidFill>
                  <a:srgbClr val="6C63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CURSO COMPLETO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097280" y="1828800"/>
            <a:ext cx="6339682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Introdução à Auditoria Operacional</a:t>
            </a:r>
            <a:endParaRPr lang="en-US" sz="5200" dirty="0"/>
          </a:p>
        </p:txBody>
      </p:sp>
      <p:sp>
        <p:nvSpPr>
          <p:cNvPr id="8" name="Shape 5"/>
          <p:cNvSpPr/>
          <p:nvPr/>
        </p:nvSpPr>
        <p:spPr>
          <a:xfrm>
            <a:off x="1097280" y="5029200"/>
            <a:ext cx="466344" cy="64008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9" name="Shape 6"/>
          <p:cNvSpPr/>
          <p:nvPr/>
        </p:nvSpPr>
        <p:spPr>
          <a:xfrm>
            <a:off x="1554480" y="5029200"/>
            <a:ext cx="466344" cy="64008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0" name="Shape 7"/>
          <p:cNvSpPr/>
          <p:nvPr/>
        </p:nvSpPr>
        <p:spPr>
          <a:xfrm>
            <a:off x="2011680" y="5029200"/>
            <a:ext cx="466344" cy="64008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1" name="Shape 8"/>
          <p:cNvSpPr/>
          <p:nvPr/>
        </p:nvSpPr>
        <p:spPr>
          <a:xfrm>
            <a:off x="2468880" y="5029200"/>
            <a:ext cx="466344" cy="64008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2" name="Shape 9"/>
          <p:cNvSpPr/>
          <p:nvPr/>
        </p:nvSpPr>
        <p:spPr>
          <a:xfrm>
            <a:off x="2926080" y="5029200"/>
            <a:ext cx="466344" cy="64008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3" name="Shape 10"/>
          <p:cNvSpPr/>
          <p:nvPr/>
        </p:nvSpPr>
        <p:spPr>
          <a:xfrm>
            <a:off x="3383280" y="5029200"/>
            <a:ext cx="466344" cy="64008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4" name="Shape 11"/>
          <p:cNvSpPr/>
          <p:nvPr/>
        </p:nvSpPr>
        <p:spPr>
          <a:xfrm>
            <a:off x="1097280" y="5321808"/>
            <a:ext cx="109728" cy="109728"/>
          </a:xfrm>
          <a:prstGeom prst="ellipse">
            <a:avLst/>
          </a:prstGeom>
          <a:solidFill>
            <a:srgbClr val="6C63FF"/>
          </a:solidFill>
          <a:ln/>
        </p:spPr>
      </p:sp>
      <p:sp>
        <p:nvSpPr>
          <p:cNvPr id="15" name="Shape 12"/>
          <p:cNvSpPr/>
          <p:nvPr/>
        </p:nvSpPr>
        <p:spPr>
          <a:xfrm>
            <a:off x="1097280" y="5760720"/>
            <a:ext cx="2743200" cy="10973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6" name="Text 13"/>
          <p:cNvSpPr/>
          <p:nvPr/>
        </p:nvSpPr>
        <p:spPr>
          <a:xfrm>
            <a:off x="9448495" y="62636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25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março de 2026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9631375" y="6656832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C0">
                    <a:alpha val="6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Foto: Vitaly Gariev / Unsplash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"/>
            <a:ext cx="12191695" cy="41148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292608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6C63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CONTEÚDO PROGRAMÁTICO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566928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Índice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94360" y="1298448"/>
            <a:ext cx="1828800" cy="2743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6" name="Shape 4"/>
          <p:cNvSpPr/>
          <p:nvPr/>
        </p:nvSpPr>
        <p:spPr>
          <a:xfrm>
            <a:off x="594360" y="1481328"/>
            <a:ext cx="11002975" cy="36576"/>
          </a:xfrm>
          <a:prstGeom prst="rect">
            <a:avLst/>
          </a:prstGeom>
          <a:solidFill>
            <a:srgbClr val="111D38"/>
          </a:solidFill>
          <a:ln/>
        </p:spPr>
      </p:sp>
      <p:sp>
        <p:nvSpPr>
          <p:cNvPr id="7" name="Shape 5"/>
          <p:cNvSpPr/>
          <p:nvPr/>
        </p:nvSpPr>
        <p:spPr>
          <a:xfrm>
            <a:off x="594360" y="1481328"/>
            <a:ext cx="11002975" cy="36576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8" name="Shape 6"/>
          <p:cNvSpPr/>
          <p:nvPr/>
        </p:nvSpPr>
        <p:spPr>
          <a:xfrm>
            <a:off x="612648" y="1673352"/>
            <a:ext cx="3557930" cy="2286000"/>
          </a:xfrm>
          <a:prstGeom prst="roundRect">
            <a:avLst>
              <a:gd name="adj" fmla="val 4800"/>
            </a:avLst>
          </a:prstGeom>
          <a:solidFill>
            <a:srgbClr val="000000"/>
          </a:solidFill>
          <a:ln/>
        </p:spPr>
      </p:sp>
      <p:sp>
        <p:nvSpPr>
          <p:cNvPr id="9" name="Shape 7"/>
          <p:cNvSpPr/>
          <p:nvPr/>
        </p:nvSpPr>
        <p:spPr>
          <a:xfrm>
            <a:off x="594360" y="1645920"/>
            <a:ext cx="3557930" cy="2286000"/>
          </a:xfrm>
          <a:prstGeom prst="roundRect">
            <a:avLst>
              <a:gd name="adj" fmla="val 4800"/>
            </a:avLst>
          </a:prstGeom>
          <a:solidFill>
            <a:srgbClr val="111D38"/>
          </a:solidFill>
          <a:ln/>
        </p:spPr>
      </p:sp>
      <p:sp>
        <p:nvSpPr>
          <p:cNvPr id="10" name="Shape 8"/>
          <p:cNvSpPr/>
          <p:nvPr/>
        </p:nvSpPr>
        <p:spPr>
          <a:xfrm>
            <a:off x="594360" y="1645920"/>
            <a:ext cx="45720" cy="2286000"/>
          </a:xfrm>
          <a:prstGeom prst="rect">
            <a:avLst>
              <a:gd name="adj" fmla="val 240000"/>
            </a:avLst>
          </a:prstGeom>
          <a:solidFill>
            <a:srgbClr val="6C63FF"/>
          </a:solidFill>
          <a:ln/>
        </p:spPr>
      </p:sp>
      <p:sp>
        <p:nvSpPr>
          <p:cNvPr id="11" name="Shape 9"/>
          <p:cNvSpPr/>
          <p:nvPr/>
        </p:nvSpPr>
        <p:spPr>
          <a:xfrm>
            <a:off x="722376" y="1773936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6C63FF"/>
          </a:solidFill>
          <a:ln/>
        </p:spPr>
      </p:sp>
      <p:sp>
        <p:nvSpPr>
          <p:cNvPr id="12" name="Text 10"/>
          <p:cNvSpPr/>
          <p:nvPr/>
        </p:nvSpPr>
        <p:spPr>
          <a:xfrm>
            <a:off x="722376" y="177393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7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672" dirty="0"/>
          </a:p>
        </p:txBody>
      </p:sp>
      <p:sp>
        <p:nvSpPr>
          <p:cNvPr id="13" name="Text 11"/>
          <p:cNvSpPr/>
          <p:nvPr/>
        </p:nvSpPr>
        <p:spPr>
          <a:xfrm>
            <a:off x="722376" y="2249424"/>
            <a:ext cx="3301898" cy="54864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Fundamentos e Princípios da Auditoria Operacional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22376" y="2834640"/>
            <a:ext cx="1601069" cy="9144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5" name="Text 13"/>
          <p:cNvSpPr/>
          <p:nvPr/>
        </p:nvSpPr>
        <p:spPr>
          <a:xfrm>
            <a:off x="722376" y="2889504"/>
            <a:ext cx="3301898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Fundamentos e Princípios da Auditoria Operacional 🎯 Objetivo do Módulo Definir auditoria oper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914546" y="3730752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  <p:sp>
        <p:nvSpPr>
          <p:cNvPr id="17" name="Shape 15"/>
          <p:cNvSpPr/>
          <p:nvPr/>
        </p:nvSpPr>
        <p:spPr>
          <a:xfrm>
            <a:off x="4335170" y="1673352"/>
            <a:ext cx="3557930" cy="2286000"/>
          </a:xfrm>
          <a:prstGeom prst="roundRect">
            <a:avLst>
              <a:gd name="adj" fmla="val 4800"/>
            </a:avLst>
          </a:prstGeom>
          <a:solidFill>
            <a:srgbClr val="000000"/>
          </a:solidFill>
          <a:ln/>
        </p:spPr>
      </p:sp>
      <p:sp>
        <p:nvSpPr>
          <p:cNvPr id="18" name="Shape 16"/>
          <p:cNvSpPr/>
          <p:nvPr/>
        </p:nvSpPr>
        <p:spPr>
          <a:xfrm>
            <a:off x="4316882" y="1645920"/>
            <a:ext cx="3557930" cy="2286000"/>
          </a:xfrm>
          <a:prstGeom prst="roundRect">
            <a:avLst>
              <a:gd name="adj" fmla="val 4800"/>
            </a:avLst>
          </a:prstGeom>
          <a:solidFill>
            <a:srgbClr val="111D38"/>
          </a:solidFill>
          <a:ln/>
        </p:spPr>
      </p:sp>
      <p:sp>
        <p:nvSpPr>
          <p:cNvPr id="19" name="Shape 17"/>
          <p:cNvSpPr/>
          <p:nvPr/>
        </p:nvSpPr>
        <p:spPr>
          <a:xfrm>
            <a:off x="4316882" y="1645920"/>
            <a:ext cx="45720" cy="2286000"/>
          </a:xfrm>
          <a:prstGeom prst="rect">
            <a:avLst>
              <a:gd name="adj" fmla="val 240000"/>
            </a:avLst>
          </a:prstGeom>
          <a:solidFill>
            <a:srgbClr val="3B82F6"/>
          </a:solidFill>
          <a:ln/>
        </p:spPr>
      </p:sp>
      <p:sp>
        <p:nvSpPr>
          <p:cNvPr id="20" name="Shape 18"/>
          <p:cNvSpPr/>
          <p:nvPr/>
        </p:nvSpPr>
        <p:spPr>
          <a:xfrm>
            <a:off x="4444898" y="1773936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3B82F6"/>
          </a:solidFill>
          <a:ln/>
        </p:spPr>
      </p:sp>
      <p:sp>
        <p:nvSpPr>
          <p:cNvPr id="21" name="Text 19"/>
          <p:cNvSpPr/>
          <p:nvPr/>
        </p:nvSpPr>
        <p:spPr>
          <a:xfrm>
            <a:off x="4444898" y="177393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7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672" dirty="0"/>
          </a:p>
        </p:txBody>
      </p:sp>
      <p:sp>
        <p:nvSpPr>
          <p:cNvPr id="22" name="Text 20"/>
          <p:cNvSpPr/>
          <p:nvPr/>
        </p:nvSpPr>
        <p:spPr>
          <a:xfrm>
            <a:off x="4444898" y="2249424"/>
            <a:ext cx="3301898" cy="54864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Planejamento Estratégico da Auditoria Operacional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444898" y="2834640"/>
            <a:ext cx="1601069" cy="914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4" name="Text 22"/>
          <p:cNvSpPr/>
          <p:nvPr/>
        </p:nvSpPr>
        <p:spPr>
          <a:xfrm>
            <a:off x="4444898" y="2889504"/>
            <a:ext cx="3301898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Planejamento Estratégico da Auditoria Operacional 🎯 Objetivo do Módulo Compreender as etap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637069" y="3730752"/>
            <a:ext cx="73152" cy="7315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6" name="Shape 24"/>
          <p:cNvSpPr/>
          <p:nvPr/>
        </p:nvSpPr>
        <p:spPr>
          <a:xfrm>
            <a:off x="8057693" y="1673352"/>
            <a:ext cx="3557930" cy="2286000"/>
          </a:xfrm>
          <a:prstGeom prst="roundRect">
            <a:avLst>
              <a:gd name="adj" fmla="val 4800"/>
            </a:avLst>
          </a:prstGeom>
          <a:solidFill>
            <a:srgbClr val="000000"/>
          </a:solidFill>
          <a:ln/>
        </p:spPr>
      </p:sp>
      <p:sp>
        <p:nvSpPr>
          <p:cNvPr id="27" name="Shape 25"/>
          <p:cNvSpPr/>
          <p:nvPr/>
        </p:nvSpPr>
        <p:spPr>
          <a:xfrm>
            <a:off x="8039405" y="1645920"/>
            <a:ext cx="3557930" cy="2286000"/>
          </a:xfrm>
          <a:prstGeom prst="roundRect">
            <a:avLst>
              <a:gd name="adj" fmla="val 4800"/>
            </a:avLst>
          </a:prstGeom>
          <a:solidFill>
            <a:srgbClr val="111D38"/>
          </a:solidFill>
          <a:ln/>
        </p:spPr>
      </p:sp>
      <p:sp>
        <p:nvSpPr>
          <p:cNvPr id="28" name="Shape 26"/>
          <p:cNvSpPr/>
          <p:nvPr/>
        </p:nvSpPr>
        <p:spPr>
          <a:xfrm>
            <a:off x="8039405" y="1645920"/>
            <a:ext cx="45720" cy="2286000"/>
          </a:xfrm>
          <a:prstGeom prst="rect">
            <a:avLst>
              <a:gd name="adj" fmla="val 240000"/>
            </a:avLst>
          </a:prstGeom>
          <a:solidFill>
            <a:srgbClr val="10B981"/>
          </a:solidFill>
          <a:ln/>
        </p:spPr>
      </p:sp>
      <p:sp>
        <p:nvSpPr>
          <p:cNvPr id="29" name="Shape 27"/>
          <p:cNvSpPr/>
          <p:nvPr/>
        </p:nvSpPr>
        <p:spPr>
          <a:xfrm>
            <a:off x="8167421" y="1773936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10B981"/>
          </a:solidFill>
          <a:ln/>
        </p:spPr>
      </p:sp>
      <p:sp>
        <p:nvSpPr>
          <p:cNvPr id="30" name="Text 28"/>
          <p:cNvSpPr/>
          <p:nvPr/>
        </p:nvSpPr>
        <p:spPr>
          <a:xfrm>
            <a:off x="8167421" y="177393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7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672" dirty="0"/>
          </a:p>
        </p:txBody>
      </p:sp>
      <p:sp>
        <p:nvSpPr>
          <p:cNvPr id="31" name="Text 29"/>
          <p:cNvSpPr/>
          <p:nvPr/>
        </p:nvSpPr>
        <p:spPr>
          <a:xfrm>
            <a:off x="8167421" y="2249424"/>
            <a:ext cx="3301898" cy="54864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Execução da Auditoria e Coleta de Evidências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8167421" y="2834640"/>
            <a:ext cx="1601069" cy="914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3" name="Text 31"/>
          <p:cNvSpPr/>
          <p:nvPr/>
        </p:nvSpPr>
        <p:spPr>
          <a:xfrm>
            <a:off x="8167421" y="2889504"/>
            <a:ext cx="3301898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Execução da Auditoria e Coleta de Evidências 🎯 Objetivo do Módulo Dominar técnicas e ferramen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1359591" y="3730752"/>
            <a:ext cx="73152" cy="7315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5" name="Shape 33"/>
          <p:cNvSpPr/>
          <p:nvPr/>
        </p:nvSpPr>
        <p:spPr>
          <a:xfrm>
            <a:off x="612648" y="4123944"/>
            <a:ext cx="3557930" cy="2286000"/>
          </a:xfrm>
          <a:prstGeom prst="roundRect">
            <a:avLst>
              <a:gd name="adj" fmla="val 4800"/>
            </a:avLst>
          </a:prstGeom>
          <a:solidFill>
            <a:srgbClr val="000000"/>
          </a:solidFill>
          <a:ln/>
        </p:spPr>
      </p:sp>
      <p:sp>
        <p:nvSpPr>
          <p:cNvPr id="36" name="Shape 34"/>
          <p:cNvSpPr/>
          <p:nvPr/>
        </p:nvSpPr>
        <p:spPr>
          <a:xfrm>
            <a:off x="594360" y="4096512"/>
            <a:ext cx="3557930" cy="2286000"/>
          </a:xfrm>
          <a:prstGeom prst="roundRect">
            <a:avLst>
              <a:gd name="adj" fmla="val 4800"/>
            </a:avLst>
          </a:prstGeom>
          <a:solidFill>
            <a:srgbClr val="111D38"/>
          </a:solidFill>
          <a:ln/>
        </p:spPr>
      </p:sp>
      <p:sp>
        <p:nvSpPr>
          <p:cNvPr id="37" name="Shape 35"/>
          <p:cNvSpPr/>
          <p:nvPr/>
        </p:nvSpPr>
        <p:spPr>
          <a:xfrm>
            <a:off x="594360" y="4096512"/>
            <a:ext cx="45720" cy="2286000"/>
          </a:xfrm>
          <a:prstGeom prst="rect">
            <a:avLst>
              <a:gd name="adj" fmla="val 240000"/>
            </a:avLst>
          </a:prstGeom>
          <a:solidFill>
            <a:srgbClr val="F59E0B"/>
          </a:solidFill>
          <a:ln/>
        </p:spPr>
      </p:sp>
      <p:sp>
        <p:nvSpPr>
          <p:cNvPr id="38" name="Shape 36"/>
          <p:cNvSpPr/>
          <p:nvPr/>
        </p:nvSpPr>
        <p:spPr>
          <a:xfrm>
            <a:off x="722376" y="4224528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F59E0B"/>
          </a:solidFill>
          <a:ln/>
        </p:spPr>
      </p:sp>
      <p:sp>
        <p:nvSpPr>
          <p:cNvPr id="39" name="Text 37"/>
          <p:cNvSpPr/>
          <p:nvPr/>
        </p:nvSpPr>
        <p:spPr>
          <a:xfrm>
            <a:off x="722376" y="422452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7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672" dirty="0"/>
          </a:p>
        </p:txBody>
      </p:sp>
      <p:sp>
        <p:nvSpPr>
          <p:cNvPr id="40" name="Text 38"/>
          <p:cNvSpPr/>
          <p:nvPr/>
        </p:nvSpPr>
        <p:spPr>
          <a:xfrm>
            <a:off x="722376" y="4700016"/>
            <a:ext cx="3301898" cy="54864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Análise das Evidências e Formulação de Achados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722376" y="5285232"/>
            <a:ext cx="1601069" cy="914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2" name="Text 40"/>
          <p:cNvSpPr/>
          <p:nvPr/>
        </p:nvSpPr>
        <p:spPr>
          <a:xfrm>
            <a:off x="722376" y="5340096"/>
            <a:ext cx="3301898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Análise das Evidências e Formulação de Achados 🎯 Objetivo do Módulo Analisar metodologias par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3914546" y="6181344"/>
            <a:ext cx="73152" cy="7315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4" name="Shape 42"/>
          <p:cNvSpPr/>
          <p:nvPr/>
        </p:nvSpPr>
        <p:spPr>
          <a:xfrm>
            <a:off x="4335170" y="4123944"/>
            <a:ext cx="3557930" cy="2286000"/>
          </a:xfrm>
          <a:prstGeom prst="roundRect">
            <a:avLst>
              <a:gd name="adj" fmla="val 4800"/>
            </a:avLst>
          </a:prstGeom>
          <a:solidFill>
            <a:srgbClr val="000000"/>
          </a:solidFill>
          <a:ln/>
        </p:spPr>
      </p:sp>
      <p:sp>
        <p:nvSpPr>
          <p:cNvPr id="45" name="Shape 43"/>
          <p:cNvSpPr/>
          <p:nvPr/>
        </p:nvSpPr>
        <p:spPr>
          <a:xfrm>
            <a:off x="4316882" y="4096512"/>
            <a:ext cx="3557930" cy="2286000"/>
          </a:xfrm>
          <a:prstGeom prst="roundRect">
            <a:avLst>
              <a:gd name="adj" fmla="val 4800"/>
            </a:avLst>
          </a:prstGeom>
          <a:solidFill>
            <a:srgbClr val="111D38"/>
          </a:solidFill>
          <a:ln/>
        </p:spPr>
      </p:sp>
      <p:sp>
        <p:nvSpPr>
          <p:cNvPr id="46" name="Shape 44"/>
          <p:cNvSpPr/>
          <p:nvPr/>
        </p:nvSpPr>
        <p:spPr>
          <a:xfrm>
            <a:off x="4316882" y="4096512"/>
            <a:ext cx="45720" cy="2286000"/>
          </a:xfrm>
          <a:prstGeom prst="rect">
            <a:avLst>
              <a:gd name="adj" fmla="val 240000"/>
            </a:avLst>
          </a:prstGeom>
          <a:solidFill>
            <a:srgbClr val="06B6D4"/>
          </a:solidFill>
          <a:ln/>
        </p:spPr>
      </p:sp>
      <p:sp>
        <p:nvSpPr>
          <p:cNvPr id="47" name="Shape 45"/>
          <p:cNvSpPr/>
          <p:nvPr/>
        </p:nvSpPr>
        <p:spPr>
          <a:xfrm>
            <a:off x="4444898" y="4224528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6B6D4"/>
          </a:solidFill>
          <a:ln/>
        </p:spPr>
      </p:sp>
      <p:sp>
        <p:nvSpPr>
          <p:cNvPr id="48" name="Text 46"/>
          <p:cNvSpPr/>
          <p:nvPr/>
        </p:nvSpPr>
        <p:spPr>
          <a:xfrm>
            <a:off x="4444898" y="422452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7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672" dirty="0"/>
          </a:p>
        </p:txBody>
      </p:sp>
      <p:sp>
        <p:nvSpPr>
          <p:cNvPr id="49" name="Text 47"/>
          <p:cNvSpPr/>
          <p:nvPr/>
        </p:nvSpPr>
        <p:spPr>
          <a:xfrm>
            <a:off x="4444898" y="4700016"/>
            <a:ext cx="3301898" cy="54864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Comunicação dos Resultados e Monitoramento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4444898" y="5285232"/>
            <a:ext cx="1601069" cy="914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1" name="Text 49"/>
          <p:cNvSpPr/>
          <p:nvPr/>
        </p:nvSpPr>
        <p:spPr>
          <a:xfrm>
            <a:off x="4444898" y="5340096"/>
            <a:ext cx="3301898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Comunicação dos Resultados e Monitoramento 🎯 Objetivo do Módulo Entender a importância da com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7637069" y="6181344"/>
            <a:ext cx="73152" cy="73152"/>
          </a:xfrm>
          <a:prstGeom prst="ellipse">
            <a:avLst/>
          </a:prstGeom>
          <a:solidFill>
            <a:srgbClr val="06B6D4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8851" y="0"/>
            <a:ext cx="4632844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558851" y="0"/>
            <a:ext cx="36576" cy="685800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" name="Text 1"/>
          <p:cNvSpPr/>
          <p:nvPr/>
        </p:nvSpPr>
        <p:spPr>
          <a:xfrm>
            <a:off x="9631375" y="6656832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C0">
                    <a:alpha val="6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Foto: Vitaly Gariev / Unsplash</a:t>
            </a:r>
            <a:endParaRPr lang="en-US" sz="700" dirty="0"/>
          </a:p>
        </p:txBody>
      </p:sp>
      <p:sp>
        <p:nvSpPr>
          <p:cNvPr id="5" name="Shape 2"/>
          <p:cNvSpPr/>
          <p:nvPr/>
        </p:nvSpPr>
        <p:spPr>
          <a:xfrm>
            <a:off x="4535311" y="0"/>
            <a:ext cx="3023540" cy="1152144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6" name="Shape 3"/>
          <p:cNvSpPr/>
          <p:nvPr/>
        </p:nvSpPr>
        <p:spPr>
          <a:xfrm>
            <a:off x="4535311" y="1143000"/>
            <a:ext cx="3023540" cy="1152144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7" name="Shape 4"/>
          <p:cNvSpPr/>
          <p:nvPr/>
        </p:nvSpPr>
        <p:spPr>
          <a:xfrm>
            <a:off x="4535311" y="2286000"/>
            <a:ext cx="3023540" cy="1152144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8" name="Shape 5"/>
          <p:cNvSpPr/>
          <p:nvPr/>
        </p:nvSpPr>
        <p:spPr>
          <a:xfrm>
            <a:off x="4535311" y="3429000"/>
            <a:ext cx="3023540" cy="1152144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9" name="Shape 6"/>
          <p:cNvSpPr/>
          <p:nvPr/>
        </p:nvSpPr>
        <p:spPr>
          <a:xfrm>
            <a:off x="4535311" y="4572000"/>
            <a:ext cx="3023540" cy="1152144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0" name="Shape 7"/>
          <p:cNvSpPr/>
          <p:nvPr/>
        </p:nvSpPr>
        <p:spPr>
          <a:xfrm>
            <a:off x="4535311" y="5715000"/>
            <a:ext cx="3023540" cy="1152144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1" name="Shape 8"/>
          <p:cNvSpPr/>
          <p:nvPr/>
        </p:nvSpPr>
        <p:spPr>
          <a:xfrm>
            <a:off x="731520" y="1005840"/>
            <a:ext cx="45720" cy="210312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2" name="Shape 9"/>
          <p:cNvSpPr/>
          <p:nvPr/>
        </p:nvSpPr>
        <p:spPr>
          <a:xfrm>
            <a:off x="804672" y="1005840"/>
            <a:ext cx="13716" cy="210312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3" name="Text 10"/>
          <p:cNvSpPr/>
          <p:nvPr/>
        </p:nvSpPr>
        <p:spPr>
          <a:xfrm>
            <a:off x="1005840" y="109728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6C63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MÓDULO 1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1005840" y="1417320"/>
            <a:ext cx="1280160" cy="20117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5" name="Text 12"/>
          <p:cNvSpPr/>
          <p:nvPr/>
        </p:nvSpPr>
        <p:spPr>
          <a:xfrm>
            <a:off x="1005840" y="1572768"/>
            <a:ext cx="5669138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Fundamentos e Princípios da Auditoria Operacional</a:t>
            </a:r>
            <a:endParaRPr lang="en-US" sz="3600" dirty="0"/>
          </a:p>
        </p:txBody>
      </p:sp>
      <p:sp>
        <p:nvSpPr>
          <p:cNvPr id="16" name="Shape 13"/>
          <p:cNvSpPr/>
          <p:nvPr/>
        </p:nvSpPr>
        <p:spPr>
          <a:xfrm>
            <a:off x="1005840" y="4142232"/>
            <a:ext cx="2011680" cy="10973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7" name="Text 14"/>
          <p:cNvSpPr/>
          <p:nvPr/>
        </p:nvSpPr>
        <p:spPr>
          <a:xfrm>
            <a:off x="1005840" y="425196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500" kern="0" dirty="0">
                <a:solidFill>
                  <a:srgbClr val="6C63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QUE VOCÊ VAI APRENDER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1005840" y="4590288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6C63FF"/>
          </a:solidFill>
          <a:ln/>
        </p:spPr>
      </p:sp>
      <p:sp>
        <p:nvSpPr>
          <p:cNvPr id="19" name="Text 16"/>
          <p:cNvSpPr/>
          <p:nvPr/>
        </p:nvSpPr>
        <p:spPr>
          <a:xfrm>
            <a:off x="1234440" y="4544568"/>
            <a:ext cx="52911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Definir auditoria operacional e diferenciá-la de outros tipos de auditoria.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1005840" y="5047488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6C63FF"/>
          </a:solidFill>
          <a:ln/>
        </p:spPr>
      </p:sp>
      <p:sp>
        <p:nvSpPr>
          <p:cNvPr id="21" name="Text 18"/>
          <p:cNvSpPr/>
          <p:nvPr/>
        </p:nvSpPr>
        <p:spPr>
          <a:xfrm>
            <a:off x="1234440" y="5001768"/>
            <a:ext cx="52911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Compreender o propósito e o escopo da auditoria operacional na administração pública.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1005840" y="5504688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6C63FF"/>
          </a:solidFill>
          <a:ln/>
        </p:spPr>
      </p:sp>
      <p:sp>
        <p:nvSpPr>
          <p:cNvPr id="23" name="Text 20"/>
          <p:cNvSpPr/>
          <p:nvPr/>
        </p:nvSpPr>
        <p:spPr>
          <a:xfrm>
            <a:off x="1234440" y="5458968"/>
            <a:ext cx="52911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Identificar os princípios éticos e as normas que norteiam a conduta do auditor operacional.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731520" y="6446520"/>
            <a:ext cx="542544" cy="7315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5" name="Shape 22"/>
          <p:cNvSpPr/>
          <p:nvPr/>
        </p:nvSpPr>
        <p:spPr>
          <a:xfrm>
            <a:off x="1264920" y="6446520"/>
            <a:ext cx="542544" cy="7315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6" name="Shape 23"/>
          <p:cNvSpPr/>
          <p:nvPr/>
        </p:nvSpPr>
        <p:spPr>
          <a:xfrm>
            <a:off x="1798320" y="6446520"/>
            <a:ext cx="542544" cy="7315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7" name="Shape 24"/>
          <p:cNvSpPr/>
          <p:nvPr/>
        </p:nvSpPr>
        <p:spPr>
          <a:xfrm>
            <a:off x="2331720" y="6446520"/>
            <a:ext cx="542544" cy="7315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8" name="Shape 25"/>
          <p:cNvSpPr/>
          <p:nvPr/>
        </p:nvSpPr>
        <p:spPr>
          <a:xfrm>
            <a:off x="2865120" y="6446520"/>
            <a:ext cx="542544" cy="7315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9" name="Shape 26"/>
          <p:cNvSpPr/>
          <p:nvPr/>
        </p:nvSpPr>
        <p:spPr>
          <a:xfrm>
            <a:off x="3398520" y="6446520"/>
            <a:ext cx="542544" cy="7315"/>
          </a:xfrm>
          <a:prstGeom prst="rect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3B82F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FUNDAMENTOS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493776"/>
            <a:ext cx="640080" cy="2194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Essência da Auditoria Operacional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389888"/>
            <a:ext cx="11185855" cy="7315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408176"/>
            <a:ext cx="11185855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9" name="Shape 7"/>
          <p:cNvSpPr/>
          <p:nvPr/>
        </p:nvSpPr>
        <p:spPr>
          <a:xfrm>
            <a:off x="621792" y="1545336"/>
            <a:ext cx="11094415" cy="1152144"/>
          </a:xfrm>
          <a:prstGeom prst="roundRect">
            <a:avLst>
              <a:gd name="adj" fmla="val 7937"/>
            </a:avLst>
          </a:prstGeom>
          <a:solidFill>
            <a:srgbClr val="000000"/>
          </a:solidFill>
          <a:ln/>
        </p:spPr>
      </p:sp>
      <p:sp>
        <p:nvSpPr>
          <p:cNvPr id="10" name="Shape 8"/>
          <p:cNvSpPr/>
          <p:nvPr/>
        </p:nvSpPr>
        <p:spPr>
          <a:xfrm>
            <a:off x="594360" y="1508760"/>
            <a:ext cx="11094415" cy="1152144"/>
          </a:xfrm>
          <a:prstGeom prst="roundRect">
            <a:avLst>
              <a:gd name="adj" fmla="val 6349"/>
            </a:avLst>
          </a:prstGeom>
          <a:solidFill>
            <a:srgbClr val="141E34"/>
          </a:solidFill>
          <a:ln w="3810">
            <a:solidFill>
              <a:srgbClr val="222E4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1508760"/>
            <a:ext cx="54864" cy="1152144"/>
          </a:xfrm>
          <a:prstGeom prst="rect">
            <a:avLst>
              <a:gd name="adj" fmla="val 133333"/>
            </a:avLst>
          </a:prstGeom>
          <a:solidFill>
            <a:srgbClr val="6C63FF"/>
          </a:solidFill>
          <a:ln/>
        </p:spPr>
      </p:sp>
      <p:sp>
        <p:nvSpPr>
          <p:cNvPr id="12" name="Shape 10"/>
          <p:cNvSpPr/>
          <p:nvPr/>
        </p:nvSpPr>
        <p:spPr>
          <a:xfrm>
            <a:off x="758952" y="192938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6C63FF"/>
          </a:solidFill>
          <a:ln/>
        </p:spPr>
      </p:sp>
      <p:sp>
        <p:nvSpPr>
          <p:cNvPr id="13" name="Text 11"/>
          <p:cNvSpPr/>
          <p:nvPr/>
        </p:nvSpPr>
        <p:spPr>
          <a:xfrm>
            <a:off x="758952" y="192938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97864" y="1536192"/>
            <a:ext cx="10399471" cy="10972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Auditoria Operacional (AO) é uma avaliação sistemática e independente de programas governamentais.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21792" y="2807208"/>
            <a:ext cx="11094415" cy="1152144"/>
          </a:xfrm>
          <a:prstGeom prst="roundRect">
            <a:avLst>
              <a:gd name="adj" fmla="val 7937"/>
            </a:avLst>
          </a:prstGeom>
          <a:solidFill>
            <a:srgbClr val="000000"/>
          </a:solidFill>
          <a:ln/>
        </p:spPr>
      </p:sp>
      <p:sp>
        <p:nvSpPr>
          <p:cNvPr id="16" name="Shape 14"/>
          <p:cNvSpPr/>
          <p:nvPr/>
        </p:nvSpPr>
        <p:spPr>
          <a:xfrm>
            <a:off x="594360" y="2770632"/>
            <a:ext cx="11094415" cy="1152144"/>
          </a:xfrm>
          <a:prstGeom prst="roundRect">
            <a:avLst>
              <a:gd name="adj" fmla="val 6349"/>
            </a:avLst>
          </a:prstGeom>
          <a:solidFill>
            <a:srgbClr val="141E34"/>
          </a:solidFill>
          <a:ln w="3810">
            <a:solidFill>
              <a:srgbClr val="222E4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" y="2770632"/>
            <a:ext cx="54864" cy="1152144"/>
          </a:xfrm>
          <a:prstGeom prst="rect">
            <a:avLst>
              <a:gd name="adj" fmla="val 133333"/>
            </a:avLst>
          </a:prstGeom>
          <a:solidFill>
            <a:srgbClr val="3B82F6"/>
          </a:solidFill>
          <a:ln/>
        </p:spPr>
      </p:sp>
      <p:sp>
        <p:nvSpPr>
          <p:cNvPr id="18" name="Shape 16"/>
          <p:cNvSpPr/>
          <p:nvPr/>
        </p:nvSpPr>
        <p:spPr>
          <a:xfrm>
            <a:off x="758952" y="319125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758952" y="319125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97864" y="2798064"/>
            <a:ext cx="10399471" cy="10972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Foca na economia, eficiência, eficácia e equidade para melhorar a gestão pública e a entrega de valor.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21792" y="4069080"/>
            <a:ext cx="11094415" cy="1152144"/>
          </a:xfrm>
          <a:prstGeom prst="roundRect">
            <a:avLst>
              <a:gd name="adj" fmla="val 7937"/>
            </a:avLst>
          </a:prstGeom>
          <a:solidFill>
            <a:srgbClr val="000000"/>
          </a:solidFill>
          <a:ln/>
        </p:spPr>
      </p:sp>
      <p:sp>
        <p:nvSpPr>
          <p:cNvPr id="22" name="Shape 20"/>
          <p:cNvSpPr/>
          <p:nvPr/>
        </p:nvSpPr>
        <p:spPr>
          <a:xfrm>
            <a:off x="594360" y="4032504"/>
            <a:ext cx="11094415" cy="1152144"/>
          </a:xfrm>
          <a:prstGeom prst="roundRect">
            <a:avLst>
              <a:gd name="adj" fmla="val 6349"/>
            </a:avLst>
          </a:prstGeom>
          <a:solidFill>
            <a:srgbClr val="141E34"/>
          </a:solidFill>
          <a:ln w="3810">
            <a:solidFill>
              <a:srgbClr val="222E4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" y="4032504"/>
            <a:ext cx="54864" cy="1152144"/>
          </a:xfrm>
          <a:prstGeom prst="rect">
            <a:avLst>
              <a:gd name="adj" fmla="val 133333"/>
            </a:avLst>
          </a:prstGeom>
          <a:solidFill>
            <a:srgbClr val="10B981"/>
          </a:solidFill>
          <a:ln/>
        </p:spPr>
      </p:sp>
      <p:sp>
        <p:nvSpPr>
          <p:cNvPr id="24" name="Shape 22"/>
          <p:cNvSpPr/>
          <p:nvPr/>
        </p:nvSpPr>
        <p:spPr>
          <a:xfrm>
            <a:off x="758952" y="445312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0B981"/>
          </a:solidFill>
          <a:ln/>
        </p:spPr>
      </p:sp>
      <p:sp>
        <p:nvSpPr>
          <p:cNvPr id="25" name="Text 23"/>
          <p:cNvSpPr/>
          <p:nvPr/>
        </p:nvSpPr>
        <p:spPr>
          <a:xfrm>
            <a:off x="758952" y="445312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197864" y="4059936"/>
            <a:ext cx="10399471" cy="10972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Analisa resultados e processos, indo além da conformidade legal para focar no desempenho.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21792" y="5330952"/>
            <a:ext cx="11094415" cy="1152144"/>
          </a:xfrm>
          <a:prstGeom prst="roundRect">
            <a:avLst>
              <a:gd name="adj" fmla="val 7937"/>
            </a:avLst>
          </a:prstGeom>
          <a:solidFill>
            <a:srgbClr val="000000"/>
          </a:solidFill>
          <a:ln/>
        </p:spPr>
      </p:sp>
      <p:sp>
        <p:nvSpPr>
          <p:cNvPr id="28" name="Shape 26"/>
          <p:cNvSpPr/>
          <p:nvPr/>
        </p:nvSpPr>
        <p:spPr>
          <a:xfrm>
            <a:off x="594360" y="5294376"/>
            <a:ext cx="11094415" cy="1152144"/>
          </a:xfrm>
          <a:prstGeom prst="roundRect">
            <a:avLst>
              <a:gd name="adj" fmla="val 6349"/>
            </a:avLst>
          </a:prstGeom>
          <a:solidFill>
            <a:srgbClr val="141E34"/>
          </a:solidFill>
          <a:ln w="3810">
            <a:solidFill>
              <a:srgbClr val="222E4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" y="5294376"/>
            <a:ext cx="54864" cy="1152144"/>
          </a:xfrm>
          <a:prstGeom prst="rect">
            <a:avLst>
              <a:gd name="adj" fmla="val 133333"/>
            </a:avLst>
          </a:prstGeom>
          <a:solidFill>
            <a:srgbClr val="F59E0B"/>
          </a:solidFill>
          <a:ln/>
        </p:spPr>
      </p:sp>
      <p:sp>
        <p:nvSpPr>
          <p:cNvPr id="30" name="Shape 28"/>
          <p:cNvSpPr/>
          <p:nvPr/>
        </p:nvSpPr>
        <p:spPr>
          <a:xfrm>
            <a:off x="758952" y="571500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758952" y="571500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197864" y="5321808"/>
            <a:ext cx="10399471" cy="10972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credibilidade da AO depende da adesão a princípios éticos e normas profissionais rigorosas.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4" name="Shape 32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5" name="Shape 33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6" name="Shape 34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7" name="Shape 35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8" name="Shape 36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9" name="Shape 37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40" name="Text 38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 / 48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10B98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COMO FUNCIONA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493776"/>
            <a:ext cx="640080" cy="2194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Os Pilares da Auditoria Operacional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389888"/>
            <a:ext cx="11185855" cy="7315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408176"/>
            <a:ext cx="11185855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9" name="Shape 7"/>
          <p:cNvSpPr/>
          <p:nvPr/>
        </p:nvSpPr>
        <p:spPr>
          <a:xfrm>
            <a:off x="6132424" y="1536192"/>
            <a:ext cx="18288" cy="491032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Shape 8"/>
          <p:cNvSpPr/>
          <p:nvPr/>
        </p:nvSpPr>
        <p:spPr>
          <a:xfrm>
            <a:off x="6095848" y="3945636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1" name="Shape 9"/>
          <p:cNvSpPr/>
          <p:nvPr/>
        </p:nvSpPr>
        <p:spPr>
          <a:xfrm>
            <a:off x="621792" y="1572768"/>
            <a:ext cx="5387188" cy="943661"/>
          </a:xfrm>
          <a:prstGeom prst="roundRect">
            <a:avLst>
              <a:gd name="adj" fmla="val 9690"/>
            </a:avLst>
          </a:prstGeom>
          <a:solidFill>
            <a:srgbClr val="000000"/>
          </a:solidFill>
          <a:ln/>
        </p:spPr>
      </p:sp>
      <p:sp>
        <p:nvSpPr>
          <p:cNvPr id="12" name="Shape 10"/>
          <p:cNvSpPr/>
          <p:nvPr/>
        </p:nvSpPr>
        <p:spPr>
          <a:xfrm>
            <a:off x="594360" y="1536192"/>
            <a:ext cx="5387188" cy="943661"/>
          </a:xfrm>
          <a:prstGeom prst="roundRect">
            <a:avLst>
              <a:gd name="adj" fmla="val 5814"/>
            </a:avLst>
          </a:prstGeom>
          <a:solidFill>
            <a:srgbClr val="141E34"/>
          </a:solidFill>
          <a:ln/>
        </p:spPr>
      </p:sp>
      <p:sp>
        <p:nvSpPr>
          <p:cNvPr id="13" name="Shape 11"/>
          <p:cNvSpPr/>
          <p:nvPr/>
        </p:nvSpPr>
        <p:spPr>
          <a:xfrm>
            <a:off x="594360" y="1536192"/>
            <a:ext cx="45720" cy="943661"/>
          </a:xfrm>
          <a:prstGeom prst="rect">
            <a:avLst>
              <a:gd name="adj" fmla="val 120000"/>
            </a:avLst>
          </a:prstGeom>
          <a:solidFill>
            <a:srgbClr val="6C63FF"/>
          </a:solidFill>
          <a:ln/>
        </p:spPr>
      </p:sp>
      <p:sp>
        <p:nvSpPr>
          <p:cNvPr id="14" name="Shape 12"/>
          <p:cNvSpPr/>
          <p:nvPr/>
        </p:nvSpPr>
        <p:spPr>
          <a:xfrm>
            <a:off x="722376" y="187086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6C63FF"/>
          </a:solidFill>
          <a:ln/>
        </p:spPr>
      </p:sp>
      <p:sp>
        <p:nvSpPr>
          <p:cNvPr id="15" name="Text 13"/>
          <p:cNvSpPr/>
          <p:nvPr/>
        </p:nvSpPr>
        <p:spPr>
          <a:xfrm>
            <a:off x="722376" y="187086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69848" y="1563624"/>
            <a:ext cx="4838548" cy="8887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Economia: Avalia a obtenção de insumos apropriados ao menor custo possível.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21792" y="2571293"/>
            <a:ext cx="5387188" cy="943661"/>
          </a:xfrm>
          <a:prstGeom prst="roundRect">
            <a:avLst>
              <a:gd name="adj" fmla="val 9690"/>
            </a:avLst>
          </a:prstGeom>
          <a:solidFill>
            <a:srgbClr val="000000"/>
          </a:solidFill>
          <a:ln/>
        </p:spPr>
      </p:sp>
      <p:sp>
        <p:nvSpPr>
          <p:cNvPr id="18" name="Shape 16"/>
          <p:cNvSpPr/>
          <p:nvPr/>
        </p:nvSpPr>
        <p:spPr>
          <a:xfrm>
            <a:off x="594360" y="2534717"/>
            <a:ext cx="5387188" cy="943661"/>
          </a:xfrm>
          <a:prstGeom prst="roundRect">
            <a:avLst>
              <a:gd name="adj" fmla="val 5814"/>
            </a:avLst>
          </a:prstGeom>
          <a:solidFill>
            <a:srgbClr val="141E34"/>
          </a:solidFill>
          <a:ln/>
        </p:spPr>
      </p:sp>
      <p:sp>
        <p:nvSpPr>
          <p:cNvPr id="19" name="Shape 17"/>
          <p:cNvSpPr/>
          <p:nvPr/>
        </p:nvSpPr>
        <p:spPr>
          <a:xfrm>
            <a:off x="594360" y="2534717"/>
            <a:ext cx="45720" cy="943661"/>
          </a:xfrm>
          <a:prstGeom prst="rect">
            <a:avLst>
              <a:gd name="adj" fmla="val 120000"/>
            </a:avLst>
          </a:prstGeom>
          <a:solidFill>
            <a:srgbClr val="3B82F6"/>
          </a:solidFill>
          <a:ln/>
        </p:spPr>
      </p:sp>
      <p:sp>
        <p:nvSpPr>
          <p:cNvPr id="20" name="Shape 18"/>
          <p:cNvSpPr/>
          <p:nvPr/>
        </p:nvSpPr>
        <p:spPr>
          <a:xfrm>
            <a:off x="722376" y="2869387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3B82F6"/>
          </a:solidFill>
          <a:ln/>
        </p:spPr>
      </p:sp>
      <p:sp>
        <p:nvSpPr>
          <p:cNvPr id="21" name="Text 19"/>
          <p:cNvSpPr/>
          <p:nvPr/>
        </p:nvSpPr>
        <p:spPr>
          <a:xfrm>
            <a:off x="722376" y="2869387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69848" y="2562149"/>
            <a:ext cx="4838548" cy="8887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Eficiência: Refere-se à relação entre insumos e produtos/serviços, minimizando desperdício.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21792" y="3569818"/>
            <a:ext cx="5387188" cy="943661"/>
          </a:xfrm>
          <a:prstGeom prst="roundRect">
            <a:avLst>
              <a:gd name="adj" fmla="val 9690"/>
            </a:avLst>
          </a:prstGeom>
          <a:solidFill>
            <a:srgbClr val="000000"/>
          </a:solidFill>
          <a:ln/>
        </p:spPr>
      </p:sp>
      <p:sp>
        <p:nvSpPr>
          <p:cNvPr id="24" name="Shape 22"/>
          <p:cNvSpPr/>
          <p:nvPr/>
        </p:nvSpPr>
        <p:spPr>
          <a:xfrm>
            <a:off x="594360" y="3533242"/>
            <a:ext cx="5387188" cy="943661"/>
          </a:xfrm>
          <a:prstGeom prst="roundRect">
            <a:avLst>
              <a:gd name="adj" fmla="val 5814"/>
            </a:avLst>
          </a:prstGeom>
          <a:solidFill>
            <a:srgbClr val="141E34"/>
          </a:solidFill>
          <a:ln/>
        </p:spPr>
      </p:sp>
      <p:sp>
        <p:nvSpPr>
          <p:cNvPr id="25" name="Shape 23"/>
          <p:cNvSpPr/>
          <p:nvPr/>
        </p:nvSpPr>
        <p:spPr>
          <a:xfrm>
            <a:off x="594360" y="3533242"/>
            <a:ext cx="45720" cy="943661"/>
          </a:xfrm>
          <a:prstGeom prst="rect">
            <a:avLst>
              <a:gd name="adj" fmla="val 120000"/>
            </a:avLst>
          </a:prstGeom>
          <a:solidFill>
            <a:srgbClr val="10B981"/>
          </a:solidFill>
          <a:ln/>
        </p:spPr>
      </p:sp>
      <p:sp>
        <p:nvSpPr>
          <p:cNvPr id="26" name="Shape 24"/>
          <p:cNvSpPr/>
          <p:nvPr/>
        </p:nvSpPr>
        <p:spPr>
          <a:xfrm>
            <a:off x="722376" y="386791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/>
        </p:spPr>
      </p:sp>
      <p:sp>
        <p:nvSpPr>
          <p:cNvPr id="27" name="Text 25"/>
          <p:cNvSpPr/>
          <p:nvPr/>
        </p:nvSpPr>
        <p:spPr>
          <a:xfrm>
            <a:off x="722376" y="386791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69848" y="3560674"/>
            <a:ext cx="4838548" cy="8887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Eficácia: Mede se os objetivos e resultados pretendidos estão sendo alcançados e o impacto gerado.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621792" y="4568342"/>
            <a:ext cx="5387188" cy="943661"/>
          </a:xfrm>
          <a:prstGeom prst="roundRect">
            <a:avLst>
              <a:gd name="adj" fmla="val 9690"/>
            </a:avLst>
          </a:prstGeom>
          <a:solidFill>
            <a:srgbClr val="000000"/>
          </a:solidFill>
          <a:ln/>
        </p:spPr>
      </p:sp>
      <p:sp>
        <p:nvSpPr>
          <p:cNvPr id="30" name="Shape 28"/>
          <p:cNvSpPr/>
          <p:nvPr/>
        </p:nvSpPr>
        <p:spPr>
          <a:xfrm>
            <a:off x="594360" y="4531766"/>
            <a:ext cx="5387188" cy="943661"/>
          </a:xfrm>
          <a:prstGeom prst="roundRect">
            <a:avLst>
              <a:gd name="adj" fmla="val 5814"/>
            </a:avLst>
          </a:prstGeom>
          <a:solidFill>
            <a:srgbClr val="141E34"/>
          </a:solidFill>
          <a:ln/>
        </p:spPr>
      </p:sp>
      <p:sp>
        <p:nvSpPr>
          <p:cNvPr id="31" name="Shape 29"/>
          <p:cNvSpPr/>
          <p:nvPr/>
        </p:nvSpPr>
        <p:spPr>
          <a:xfrm>
            <a:off x="594360" y="4531766"/>
            <a:ext cx="45720" cy="943661"/>
          </a:xfrm>
          <a:prstGeom prst="rect">
            <a:avLst>
              <a:gd name="adj" fmla="val 120000"/>
            </a:avLst>
          </a:prstGeom>
          <a:solidFill>
            <a:srgbClr val="F59E0B"/>
          </a:solidFill>
          <a:ln/>
        </p:spPr>
      </p:sp>
      <p:sp>
        <p:nvSpPr>
          <p:cNvPr id="32" name="Shape 30"/>
          <p:cNvSpPr/>
          <p:nvPr/>
        </p:nvSpPr>
        <p:spPr>
          <a:xfrm>
            <a:off x="722376" y="4866437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F59E0B"/>
          </a:solidFill>
          <a:ln/>
        </p:spPr>
      </p:sp>
      <p:sp>
        <p:nvSpPr>
          <p:cNvPr id="33" name="Text 31"/>
          <p:cNvSpPr/>
          <p:nvPr/>
        </p:nvSpPr>
        <p:spPr>
          <a:xfrm>
            <a:off x="722376" y="4866437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069848" y="4559198"/>
            <a:ext cx="4838548" cy="8887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Equidade: Avalia a justa distribuição de benefícios e serviços públicos, mitigando desigualdades.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621792" y="5566867"/>
            <a:ext cx="5387188" cy="943661"/>
          </a:xfrm>
          <a:prstGeom prst="roundRect">
            <a:avLst>
              <a:gd name="adj" fmla="val 9690"/>
            </a:avLst>
          </a:prstGeom>
          <a:solidFill>
            <a:srgbClr val="000000"/>
          </a:solidFill>
          <a:ln/>
        </p:spPr>
      </p:sp>
      <p:sp>
        <p:nvSpPr>
          <p:cNvPr id="36" name="Shape 34"/>
          <p:cNvSpPr/>
          <p:nvPr/>
        </p:nvSpPr>
        <p:spPr>
          <a:xfrm>
            <a:off x="594360" y="5530291"/>
            <a:ext cx="5387188" cy="943661"/>
          </a:xfrm>
          <a:prstGeom prst="roundRect">
            <a:avLst>
              <a:gd name="adj" fmla="val 5814"/>
            </a:avLst>
          </a:prstGeom>
          <a:solidFill>
            <a:srgbClr val="141E34"/>
          </a:solidFill>
          <a:ln/>
        </p:spPr>
      </p:sp>
      <p:sp>
        <p:nvSpPr>
          <p:cNvPr id="37" name="Shape 35"/>
          <p:cNvSpPr/>
          <p:nvPr/>
        </p:nvSpPr>
        <p:spPr>
          <a:xfrm>
            <a:off x="594360" y="5530291"/>
            <a:ext cx="45720" cy="943661"/>
          </a:xfrm>
          <a:prstGeom prst="rect">
            <a:avLst>
              <a:gd name="adj" fmla="val 120000"/>
            </a:avLst>
          </a:prstGeom>
          <a:solidFill>
            <a:srgbClr val="06B6D4"/>
          </a:solidFill>
          <a:ln/>
        </p:spPr>
      </p:sp>
      <p:sp>
        <p:nvSpPr>
          <p:cNvPr id="38" name="Shape 36"/>
          <p:cNvSpPr/>
          <p:nvPr/>
        </p:nvSpPr>
        <p:spPr>
          <a:xfrm>
            <a:off x="722376" y="586496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6B6D4"/>
          </a:solidFill>
          <a:ln/>
        </p:spPr>
      </p:sp>
      <p:sp>
        <p:nvSpPr>
          <p:cNvPr id="39" name="Text 37"/>
          <p:cNvSpPr/>
          <p:nvPr/>
        </p:nvSpPr>
        <p:spPr>
          <a:xfrm>
            <a:off x="722376" y="586496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069848" y="5557723"/>
            <a:ext cx="4838548" cy="8887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Identificação de melhorias: Encontra oportunidades de otimização na alocação de recursos públicos.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6329020" y="1572768"/>
            <a:ext cx="5387188" cy="987552"/>
          </a:xfrm>
          <a:prstGeom prst="roundRect">
            <a:avLst>
              <a:gd name="adj" fmla="val 9259"/>
            </a:avLst>
          </a:prstGeom>
          <a:solidFill>
            <a:srgbClr val="000000"/>
          </a:solidFill>
          <a:ln/>
        </p:spPr>
      </p:sp>
      <p:sp>
        <p:nvSpPr>
          <p:cNvPr id="42" name="Shape 40"/>
          <p:cNvSpPr/>
          <p:nvPr/>
        </p:nvSpPr>
        <p:spPr>
          <a:xfrm>
            <a:off x="6301588" y="1536192"/>
            <a:ext cx="5387188" cy="987552"/>
          </a:xfrm>
          <a:prstGeom prst="roundRect">
            <a:avLst>
              <a:gd name="adj" fmla="val 5556"/>
            </a:avLst>
          </a:prstGeom>
          <a:solidFill>
            <a:srgbClr val="141E34"/>
          </a:solidFill>
          <a:ln/>
        </p:spPr>
      </p:sp>
      <p:sp>
        <p:nvSpPr>
          <p:cNvPr id="43" name="Shape 41"/>
          <p:cNvSpPr/>
          <p:nvPr/>
        </p:nvSpPr>
        <p:spPr>
          <a:xfrm>
            <a:off x="6301588" y="1536192"/>
            <a:ext cx="45720" cy="987552"/>
          </a:xfrm>
          <a:prstGeom prst="rect">
            <a:avLst>
              <a:gd name="adj" fmla="val 120000"/>
            </a:avLst>
          </a:prstGeom>
          <a:solidFill>
            <a:srgbClr val="6C63FF"/>
          </a:solidFill>
          <a:ln/>
        </p:spPr>
      </p:sp>
      <p:sp>
        <p:nvSpPr>
          <p:cNvPr id="44" name="Shape 42"/>
          <p:cNvSpPr/>
          <p:nvPr/>
        </p:nvSpPr>
        <p:spPr>
          <a:xfrm>
            <a:off x="6429604" y="189280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6C63FF"/>
          </a:solidFill>
          <a:ln/>
        </p:spPr>
      </p:sp>
      <p:sp>
        <p:nvSpPr>
          <p:cNvPr id="45" name="Text 43"/>
          <p:cNvSpPr/>
          <p:nvPr/>
        </p:nvSpPr>
        <p:spPr>
          <a:xfrm>
            <a:off x="6429604" y="18928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777076" y="1563624"/>
            <a:ext cx="483854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Análise crítica: Avalia processos para identificar falhas sistêmicas e desperdícios de recursos.</a:t>
            </a:r>
            <a:endParaRPr lang="en-US" sz="1500" dirty="0"/>
          </a:p>
        </p:txBody>
      </p:sp>
      <p:sp>
        <p:nvSpPr>
          <p:cNvPr id="47" name="Shape 45"/>
          <p:cNvSpPr/>
          <p:nvPr/>
        </p:nvSpPr>
        <p:spPr>
          <a:xfrm>
            <a:off x="6329020" y="2633472"/>
            <a:ext cx="5387188" cy="987552"/>
          </a:xfrm>
          <a:prstGeom prst="roundRect">
            <a:avLst>
              <a:gd name="adj" fmla="val 9259"/>
            </a:avLst>
          </a:prstGeom>
          <a:solidFill>
            <a:srgbClr val="000000"/>
          </a:solidFill>
          <a:ln/>
        </p:spPr>
      </p:sp>
      <p:sp>
        <p:nvSpPr>
          <p:cNvPr id="48" name="Shape 46"/>
          <p:cNvSpPr/>
          <p:nvPr/>
        </p:nvSpPr>
        <p:spPr>
          <a:xfrm>
            <a:off x="6301588" y="2596896"/>
            <a:ext cx="5387188" cy="987552"/>
          </a:xfrm>
          <a:prstGeom prst="roundRect">
            <a:avLst>
              <a:gd name="adj" fmla="val 5556"/>
            </a:avLst>
          </a:prstGeom>
          <a:solidFill>
            <a:srgbClr val="141E34"/>
          </a:solidFill>
          <a:ln/>
        </p:spPr>
      </p:sp>
      <p:sp>
        <p:nvSpPr>
          <p:cNvPr id="49" name="Shape 47"/>
          <p:cNvSpPr/>
          <p:nvPr/>
        </p:nvSpPr>
        <p:spPr>
          <a:xfrm>
            <a:off x="6301588" y="2596896"/>
            <a:ext cx="45720" cy="987552"/>
          </a:xfrm>
          <a:prstGeom prst="rect">
            <a:avLst>
              <a:gd name="adj" fmla="val 120000"/>
            </a:avLst>
          </a:prstGeom>
          <a:solidFill>
            <a:srgbClr val="3B82F6"/>
          </a:solidFill>
          <a:ln/>
        </p:spPr>
      </p:sp>
      <p:sp>
        <p:nvSpPr>
          <p:cNvPr id="50" name="Shape 48"/>
          <p:cNvSpPr/>
          <p:nvPr/>
        </p:nvSpPr>
        <p:spPr>
          <a:xfrm>
            <a:off x="6429604" y="295351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3B82F6"/>
          </a:solidFill>
          <a:ln/>
        </p:spPr>
      </p:sp>
      <p:sp>
        <p:nvSpPr>
          <p:cNvPr id="51" name="Text 49"/>
          <p:cNvSpPr/>
          <p:nvPr/>
        </p:nvSpPr>
        <p:spPr>
          <a:xfrm>
            <a:off x="6429604" y="295351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6777076" y="2624328"/>
            <a:ext cx="483854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Avaliação de capacidade: Verifica a aptidão da administração pública em alcançar seus objetivos.</a:t>
            </a:r>
            <a:endParaRPr lang="en-US" sz="1500" dirty="0"/>
          </a:p>
        </p:txBody>
      </p:sp>
      <p:sp>
        <p:nvSpPr>
          <p:cNvPr id="53" name="Shape 51"/>
          <p:cNvSpPr/>
          <p:nvPr/>
        </p:nvSpPr>
        <p:spPr>
          <a:xfrm>
            <a:off x="6329020" y="3694176"/>
            <a:ext cx="5387188" cy="987552"/>
          </a:xfrm>
          <a:prstGeom prst="roundRect">
            <a:avLst>
              <a:gd name="adj" fmla="val 9259"/>
            </a:avLst>
          </a:prstGeom>
          <a:solidFill>
            <a:srgbClr val="000000"/>
          </a:solidFill>
          <a:ln/>
        </p:spPr>
      </p:sp>
      <p:sp>
        <p:nvSpPr>
          <p:cNvPr id="54" name="Shape 52"/>
          <p:cNvSpPr/>
          <p:nvPr/>
        </p:nvSpPr>
        <p:spPr>
          <a:xfrm>
            <a:off x="6301588" y="3657600"/>
            <a:ext cx="5387188" cy="987552"/>
          </a:xfrm>
          <a:prstGeom prst="roundRect">
            <a:avLst>
              <a:gd name="adj" fmla="val 5556"/>
            </a:avLst>
          </a:prstGeom>
          <a:solidFill>
            <a:srgbClr val="141E34"/>
          </a:solidFill>
          <a:ln/>
        </p:spPr>
      </p:sp>
      <p:sp>
        <p:nvSpPr>
          <p:cNvPr id="55" name="Shape 53"/>
          <p:cNvSpPr/>
          <p:nvPr/>
        </p:nvSpPr>
        <p:spPr>
          <a:xfrm>
            <a:off x="6301588" y="3657600"/>
            <a:ext cx="45720" cy="987552"/>
          </a:xfrm>
          <a:prstGeom prst="rect">
            <a:avLst>
              <a:gd name="adj" fmla="val 120000"/>
            </a:avLst>
          </a:prstGeom>
          <a:solidFill>
            <a:srgbClr val="10B981"/>
          </a:solidFill>
          <a:ln/>
        </p:spPr>
      </p:sp>
      <p:sp>
        <p:nvSpPr>
          <p:cNvPr id="56" name="Shape 54"/>
          <p:cNvSpPr/>
          <p:nvPr/>
        </p:nvSpPr>
        <p:spPr>
          <a:xfrm>
            <a:off x="6429604" y="401421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/>
        </p:spPr>
      </p:sp>
      <p:sp>
        <p:nvSpPr>
          <p:cNvPr id="57" name="Text 55"/>
          <p:cNvSpPr/>
          <p:nvPr/>
        </p:nvSpPr>
        <p:spPr>
          <a:xfrm>
            <a:off x="6429604" y="40142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6777076" y="3685032"/>
            <a:ext cx="483854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Recomendações: Propõe soluções concretas para otimizar o desempenho, gerando impacto positivo.</a:t>
            </a:r>
            <a:endParaRPr lang="en-US" sz="1500" dirty="0"/>
          </a:p>
        </p:txBody>
      </p:sp>
      <p:sp>
        <p:nvSpPr>
          <p:cNvPr id="59" name="Shape 57"/>
          <p:cNvSpPr/>
          <p:nvPr/>
        </p:nvSpPr>
        <p:spPr>
          <a:xfrm>
            <a:off x="6329020" y="4754880"/>
            <a:ext cx="5387188" cy="987552"/>
          </a:xfrm>
          <a:prstGeom prst="roundRect">
            <a:avLst>
              <a:gd name="adj" fmla="val 9259"/>
            </a:avLst>
          </a:prstGeom>
          <a:solidFill>
            <a:srgbClr val="000000"/>
          </a:solidFill>
          <a:ln/>
        </p:spPr>
      </p:sp>
      <p:sp>
        <p:nvSpPr>
          <p:cNvPr id="60" name="Shape 58"/>
          <p:cNvSpPr/>
          <p:nvPr/>
        </p:nvSpPr>
        <p:spPr>
          <a:xfrm>
            <a:off x="6301588" y="4718304"/>
            <a:ext cx="5387188" cy="987552"/>
          </a:xfrm>
          <a:prstGeom prst="roundRect">
            <a:avLst>
              <a:gd name="adj" fmla="val 5556"/>
            </a:avLst>
          </a:prstGeom>
          <a:solidFill>
            <a:srgbClr val="141E34"/>
          </a:solidFill>
          <a:ln/>
        </p:spPr>
      </p:sp>
      <p:sp>
        <p:nvSpPr>
          <p:cNvPr id="61" name="Shape 59"/>
          <p:cNvSpPr/>
          <p:nvPr/>
        </p:nvSpPr>
        <p:spPr>
          <a:xfrm>
            <a:off x="6301588" y="4718304"/>
            <a:ext cx="45720" cy="987552"/>
          </a:xfrm>
          <a:prstGeom prst="rect">
            <a:avLst>
              <a:gd name="adj" fmla="val 120000"/>
            </a:avLst>
          </a:prstGeom>
          <a:solidFill>
            <a:srgbClr val="F59E0B"/>
          </a:solidFill>
          <a:ln/>
        </p:spPr>
      </p:sp>
      <p:sp>
        <p:nvSpPr>
          <p:cNvPr id="62" name="Shape 60"/>
          <p:cNvSpPr/>
          <p:nvPr/>
        </p:nvSpPr>
        <p:spPr>
          <a:xfrm>
            <a:off x="6429604" y="507492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F59E0B"/>
          </a:solidFill>
          <a:ln/>
        </p:spPr>
      </p:sp>
      <p:sp>
        <p:nvSpPr>
          <p:cNvPr id="63" name="Text 61"/>
          <p:cNvSpPr/>
          <p:nvPr/>
        </p:nvSpPr>
        <p:spPr>
          <a:xfrm>
            <a:off x="6429604" y="50749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6777076" y="4745736"/>
            <a:ext cx="483854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Transparência: Fomenta a transparência e a accountability dos gestores públicos sobre o gasto.</a:t>
            </a:r>
            <a:endParaRPr lang="en-US" sz="1500" dirty="0"/>
          </a:p>
        </p:txBody>
      </p:sp>
      <p:sp>
        <p:nvSpPr>
          <p:cNvPr id="65" name="Shape 63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66" name="Shape 64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67" name="Shape 65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68" name="Shape 66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69" name="Shape 67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70" name="Shape 68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71" name="Shape 69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72" name="Text 70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 / 48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6C63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MODELOS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493776"/>
            <a:ext cx="640080" cy="21946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Diferentes Tipos de Auditoria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389888"/>
            <a:ext cx="11185855" cy="7315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408176"/>
            <a:ext cx="11185855" cy="3658"/>
          </a:xfrm>
          <a:prstGeom prst="rect">
            <a:avLst/>
          </a:prstGeom>
          <a:solidFill>
            <a:srgbClr val="222E48"/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536192"/>
          <a:ext cx="11140135" cy="914400"/>
        </p:xfrm>
        <a:graphic>
          <a:graphicData uri="http://schemas.openxmlformats.org/drawingml/2006/table">
            <a:tbl>
              <a:tblPr/>
              <a:tblGrid>
                <a:gridCol w="2785034"/>
                <a:gridCol w="2785034"/>
                <a:gridCol w="2785034"/>
                <a:gridCol w="2785034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Aspecto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63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Auditoria Financeira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63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Auditoria de Conformidade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63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Auditoria Operacional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63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Objeto Principal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Fidedignidade das demonstrações financeiras.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Obediência às leis, normas e regulamentos.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Economia, Eficiência, Eficácia, Equidade na gestão de programas.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Questão Central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8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Os registros contábeis refletem a posição financeira real?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8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 gestão pública agiu de acordo com as regras e procedimentos?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8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Os recursos públicos foram utilizados de forma otimizada para alcançar os objetivos?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84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Orientação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Passado (análise de transações e saldos já registrados).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Passado (verificação da legalidade de atos já praticados).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Futuro (foco em recomendações para aprimorar o desempenho).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Relatório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8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Opinião formal sobre a adequação das demonstrações financeiras.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8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Declaração de conformidade ou não-conformidade com a legislação.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8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Recomendações práticas e estratégicas para a melhoria da gestão.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848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1" name="Shape 8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2" name="Shape 9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3" name="Shape 10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4" name="Shape 11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5" name="Shape 12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6" name="Shape 13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17" name="Text 14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 / 48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F59E0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APLICAÇÕES REAIS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493776"/>
            <a:ext cx="640080" cy="2194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Aplicações Práticas da Auditoria Operacional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389888"/>
            <a:ext cx="11185855" cy="7315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408176"/>
            <a:ext cx="11185855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9" name="Shape 7"/>
          <p:cNvSpPr/>
          <p:nvPr/>
        </p:nvSpPr>
        <p:spPr>
          <a:xfrm>
            <a:off x="621792" y="1572768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000000"/>
          </a:solidFill>
          <a:ln/>
        </p:spPr>
      </p:sp>
      <p:sp>
        <p:nvSpPr>
          <p:cNvPr id="10" name="Shape 8"/>
          <p:cNvSpPr/>
          <p:nvPr/>
        </p:nvSpPr>
        <p:spPr>
          <a:xfrm>
            <a:off x="594360" y="1536192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141E34"/>
          </a:solidFill>
          <a:ln/>
        </p:spPr>
      </p:sp>
      <p:sp>
        <p:nvSpPr>
          <p:cNvPr id="11" name="Shape 9"/>
          <p:cNvSpPr/>
          <p:nvPr/>
        </p:nvSpPr>
        <p:spPr>
          <a:xfrm>
            <a:off x="594360" y="1536192"/>
            <a:ext cx="3603650" cy="45720"/>
          </a:xfrm>
          <a:prstGeom prst="rect">
            <a:avLst>
              <a:gd name="adj" fmla="val 200000"/>
            </a:avLst>
          </a:prstGeom>
          <a:solidFill>
            <a:srgbClr val="6C63FF"/>
          </a:solidFill>
          <a:ln/>
        </p:spPr>
      </p:sp>
      <p:sp>
        <p:nvSpPr>
          <p:cNvPr id="12" name="Shape 10"/>
          <p:cNvSpPr/>
          <p:nvPr/>
        </p:nvSpPr>
        <p:spPr>
          <a:xfrm>
            <a:off x="685800" y="166420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6C63FF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16642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088" dirty="0"/>
          </a:p>
        </p:txBody>
      </p:sp>
      <p:sp>
        <p:nvSpPr>
          <p:cNvPr id="14" name="Text 12"/>
          <p:cNvSpPr/>
          <p:nvPr/>
        </p:nvSpPr>
        <p:spPr>
          <a:xfrm>
            <a:off x="1051560" y="1645920"/>
            <a:ext cx="305501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6C63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Otimização de Recursos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85800" y="2048256"/>
            <a:ext cx="3420770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16" name="Text 14"/>
          <p:cNvSpPr/>
          <p:nvPr/>
        </p:nvSpPr>
        <p:spPr>
          <a:xfrm>
            <a:off x="704088" y="2121408"/>
            <a:ext cx="3384194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Aprimoramento da manutenção da malha viária pública para maior durabilidade.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390034" y="1572768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000000"/>
          </a:solidFill>
          <a:ln/>
        </p:spPr>
      </p:sp>
      <p:sp>
        <p:nvSpPr>
          <p:cNvPr id="18" name="Shape 16"/>
          <p:cNvSpPr/>
          <p:nvPr/>
        </p:nvSpPr>
        <p:spPr>
          <a:xfrm>
            <a:off x="4362602" y="1536192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141E34"/>
          </a:solidFill>
          <a:ln/>
        </p:spPr>
      </p:sp>
      <p:sp>
        <p:nvSpPr>
          <p:cNvPr id="19" name="Shape 17"/>
          <p:cNvSpPr/>
          <p:nvPr/>
        </p:nvSpPr>
        <p:spPr>
          <a:xfrm>
            <a:off x="4362602" y="1536192"/>
            <a:ext cx="3603650" cy="45720"/>
          </a:xfrm>
          <a:prstGeom prst="rect">
            <a:avLst>
              <a:gd name="adj" fmla="val 200000"/>
            </a:avLst>
          </a:prstGeom>
          <a:solidFill>
            <a:srgbClr val="3B82F6"/>
          </a:solidFill>
          <a:ln/>
        </p:spPr>
      </p:sp>
      <p:sp>
        <p:nvSpPr>
          <p:cNvPr id="20" name="Shape 18"/>
          <p:cNvSpPr/>
          <p:nvPr/>
        </p:nvSpPr>
        <p:spPr>
          <a:xfrm>
            <a:off x="4454042" y="166420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3B82F6"/>
          </a:solidFill>
          <a:ln/>
        </p:spPr>
      </p:sp>
      <p:sp>
        <p:nvSpPr>
          <p:cNvPr id="21" name="Text 19"/>
          <p:cNvSpPr/>
          <p:nvPr/>
        </p:nvSpPr>
        <p:spPr>
          <a:xfrm>
            <a:off x="4454042" y="16642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088" dirty="0"/>
          </a:p>
        </p:txBody>
      </p:sp>
      <p:sp>
        <p:nvSpPr>
          <p:cNvPr id="22" name="Text 20"/>
          <p:cNvSpPr/>
          <p:nvPr/>
        </p:nvSpPr>
        <p:spPr>
          <a:xfrm>
            <a:off x="4819802" y="1645920"/>
            <a:ext cx="305501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3B82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Avaliação de Programas Sociais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454042" y="2267712"/>
            <a:ext cx="3420770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24" name="Text 22"/>
          <p:cNvSpPr/>
          <p:nvPr/>
        </p:nvSpPr>
        <p:spPr>
          <a:xfrm>
            <a:off x="4472330" y="2340864"/>
            <a:ext cx="3384194" cy="1408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Medição da eficácia de programas sociais municipais no atendimento aos cidadãos.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158277" y="1572768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000000"/>
          </a:solidFill>
          <a:ln/>
        </p:spPr>
      </p:sp>
      <p:sp>
        <p:nvSpPr>
          <p:cNvPr id="26" name="Shape 24"/>
          <p:cNvSpPr/>
          <p:nvPr/>
        </p:nvSpPr>
        <p:spPr>
          <a:xfrm>
            <a:off x="8130845" y="1536192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141E34"/>
          </a:solidFill>
          <a:ln/>
        </p:spPr>
      </p:sp>
      <p:sp>
        <p:nvSpPr>
          <p:cNvPr id="27" name="Shape 25"/>
          <p:cNvSpPr/>
          <p:nvPr/>
        </p:nvSpPr>
        <p:spPr>
          <a:xfrm>
            <a:off x="8130845" y="1536192"/>
            <a:ext cx="3603650" cy="45720"/>
          </a:xfrm>
          <a:prstGeom prst="rect">
            <a:avLst>
              <a:gd name="adj" fmla="val 200000"/>
            </a:avLst>
          </a:prstGeom>
          <a:solidFill>
            <a:srgbClr val="10B981"/>
          </a:solidFill>
          <a:ln/>
        </p:spPr>
      </p:sp>
      <p:sp>
        <p:nvSpPr>
          <p:cNvPr id="28" name="Shape 26"/>
          <p:cNvSpPr/>
          <p:nvPr/>
        </p:nvSpPr>
        <p:spPr>
          <a:xfrm>
            <a:off x="8222285" y="166420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0B981"/>
          </a:solidFill>
          <a:ln/>
        </p:spPr>
      </p:sp>
      <p:sp>
        <p:nvSpPr>
          <p:cNvPr id="29" name="Text 27"/>
          <p:cNvSpPr/>
          <p:nvPr/>
        </p:nvSpPr>
        <p:spPr>
          <a:xfrm>
            <a:off x="8222285" y="16642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088" dirty="0"/>
          </a:p>
        </p:txBody>
      </p:sp>
      <p:sp>
        <p:nvSpPr>
          <p:cNvPr id="30" name="Text 28"/>
          <p:cNvSpPr/>
          <p:nvPr/>
        </p:nvSpPr>
        <p:spPr>
          <a:xfrm>
            <a:off x="8588045" y="1645920"/>
            <a:ext cx="305501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0B98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Melhoria de Atendimento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8222285" y="2048256"/>
            <a:ext cx="3420770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32" name="Text 30"/>
          <p:cNvSpPr/>
          <p:nvPr/>
        </p:nvSpPr>
        <p:spPr>
          <a:xfrm>
            <a:off x="8240573" y="2121408"/>
            <a:ext cx="3384194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Otimização de processos de atendimento ao cidadão em diversos serviços públicos essenciais.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21792" y="4023360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000000"/>
          </a:solidFill>
          <a:ln/>
        </p:spPr>
      </p:sp>
      <p:sp>
        <p:nvSpPr>
          <p:cNvPr id="34" name="Shape 32"/>
          <p:cNvSpPr/>
          <p:nvPr/>
        </p:nvSpPr>
        <p:spPr>
          <a:xfrm>
            <a:off x="594360" y="3986784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141E34"/>
          </a:solidFill>
          <a:ln/>
        </p:spPr>
      </p:sp>
      <p:sp>
        <p:nvSpPr>
          <p:cNvPr id="35" name="Shape 33"/>
          <p:cNvSpPr/>
          <p:nvPr/>
        </p:nvSpPr>
        <p:spPr>
          <a:xfrm>
            <a:off x="594360" y="3986784"/>
            <a:ext cx="3603650" cy="45720"/>
          </a:xfrm>
          <a:prstGeom prst="rect">
            <a:avLst>
              <a:gd name="adj" fmla="val 200000"/>
            </a:avLst>
          </a:prstGeom>
          <a:solidFill>
            <a:srgbClr val="F59E0B"/>
          </a:solidFill>
          <a:ln/>
        </p:spPr>
      </p:sp>
      <p:sp>
        <p:nvSpPr>
          <p:cNvPr id="36" name="Shape 34"/>
          <p:cNvSpPr/>
          <p:nvPr/>
        </p:nvSpPr>
        <p:spPr>
          <a:xfrm>
            <a:off x="685800" y="411480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F59E0B"/>
          </a:solidFill>
          <a:ln/>
        </p:spPr>
      </p:sp>
      <p:sp>
        <p:nvSpPr>
          <p:cNvPr id="37" name="Text 35"/>
          <p:cNvSpPr/>
          <p:nvPr/>
        </p:nvSpPr>
        <p:spPr>
          <a:xfrm>
            <a:off x="685800" y="41148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088" dirty="0"/>
          </a:p>
        </p:txBody>
      </p:sp>
      <p:sp>
        <p:nvSpPr>
          <p:cNvPr id="38" name="Text 36"/>
          <p:cNvSpPr/>
          <p:nvPr/>
        </p:nvSpPr>
        <p:spPr>
          <a:xfrm>
            <a:off x="1051560" y="4096512"/>
            <a:ext cx="305501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59E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Fortalecimento da Governança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685800" y="4498848"/>
            <a:ext cx="3420770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40" name="Text 38"/>
          <p:cNvSpPr/>
          <p:nvPr/>
        </p:nvSpPr>
        <p:spPr>
          <a:xfrm>
            <a:off x="704088" y="4572000"/>
            <a:ext cx="3384194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Apoio na gestão e transparência em empresas públicas do setor de energia.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4390034" y="4023360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000000"/>
          </a:solidFill>
          <a:ln/>
        </p:spPr>
      </p:sp>
      <p:sp>
        <p:nvSpPr>
          <p:cNvPr id="42" name="Shape 40"/>
          <p:cNvSpPr/>
          <p:nvPr/>
        </p:nvSpPr>
        <p:spPr>
          <a:xfrm>
            <a:off x="4362602" y="3986784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141E34"/>
          </a:solidFill>
          <a:ln/>
        </p:spPr>
      </p:sp>
      <p:sp>
        <p:nvSpPr>
          <p:cNvPr id="43" name="Shape 41"/>
          <p:cNvSpPr/>
          <p:nvPr/>
        </p:nvSpPr>
        <p:spPr>
          <a:xfrm>
            <a:off x="4362602" y="3986784"/>
            <a:ext cx="3603650" cy="45720"/>
          </a:xfrm>
          <a:prstGeom prst="rect">
            <a:avLst>
              <a:gd name="adj" fmla="val 200000"/>
            </a:avLst>
          </a:prstGeom>
          <a:solidFill>
            <a:srgbClr val="06B6D4"/>
          </a:solidFill>
          <a:ln/>
        </p:spPr>
      </p:sp>
      <p:sp>
        <p:nvSpPr>
          <p:cNvPr id="44" name="Shape 42"/>
          <p:cNvSpPr/>
          <p:nvPr/>
        </p:nvSpPr>
        <p:spPr>
          <a:xfrm>
            <a:off x="4454042" y="411480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06B6D4"/>
          </a:solidFill>
          <a:ln/>
        </p:spPr>
      </p:sp>
      <p:sp>
        <p:nvSpPr>
          <p:cNvPr id="45" name="Text 43"/>
          <p:cNvSpPr/>
          <p:nvPr/>
        </p:nvSpPr>
        <p:spPr>
          <a:xfrm>
            <a:off x="4454042" y="41148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088" dirty="0"/>
          </a:p>
        </p:txBody>
      </p:sp>
      <p:sp>
        <p:nvSpPr>
          <p:cNvPr id="46" name="Text 44"/>
          <p:cNvSpPr/>
          <p:nvPr/>
        </p:nvSpPr>
        <p:spPr>
          <a:xfrm>
            <a:off x="4819802" y="4096512"/>
            <a:ext cx="305501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06B6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Apoio à Decisão Política</a:t>
            </a:r>
            <a:endParaRPr lang="en-US" sz="1500" dirty="0"/>
          </a:p>
        </p:txBody>
      </p:sp>
      <p:sp>
        <p:nvSpPr>
          <p:cNvPr id="47" name="Shape 45"/>
          <p:cNvSpPr/>
          <p:nvPr/>
        </p:nvSpPr>
        <p:spPr>
          <a:xfrm>
            <a:off x="4454042" y="4498848"/>
            <a:ext cx="3420770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48" name="Text 46"/>
          <p:cNvSpPr/>
          <p:nvPr/>
        </p:nvSpPr>
        <p:spPr>
          <a:xfrm>
            <a:off x="4472330" y="4572000"/>
            <a:ext cx="3384194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Subsídio para a formulação de políticas públicas eficazes de segurança alimentar.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0" name="Shape 48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1" name="Shape 49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2" name="Shape 50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3" name="Shape 51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4" name="Shape 52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5" name="Shape 53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56" name="Text 54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 / 48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5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11D38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1417320"/>
            <a:ext cx="128016" cy="128016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219456" y="1554480"/>
            <a:ext cx="18288" cy="146913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Shape 3"/>
          <p:cNvSpPr/>
          <p:nvPr/>
        </p:nvSpPr>
        <p:spPr>
          <a:xfrm>
            <a:off x="164592" y="3032760"/>
            <a:ext cx="128016" cy="12801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6" name="Shape 4"/>
          <p:cNvSpPr/>
          <p:nvPr/>
        </p:nvSpPr>
        <p:spPr>
          <a:xfrm>
            <a:off x="219456" y="3169920"/>
            <a:ext cx="18288" cy="146913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Shape 5"/>
          <p:cNvSpPr/>
          <p:nvPr/>
        </p:nvSpPr>
        <p:spPr>
          <a:xfrm>
            <a:off x="164592" y="4648200"/>
            <a:ext cx="128016" cy="128016"/>
          </a:xfrm>
          <a:prstGeom prst="ellipse">
            <a:avLst/>
          </a:prstGeom>
          <a:solidFill>
            <a:srgbClr val="6C63FF"/>
          </a:solidFill>
          <a:ln/>
        </p:spPr>
      </p:sp>
      <p:sp>
        <p:nvSpPr>
          <p:cNvPr id="8" name="Shape 6"/>
          <p:cNvSpPr/>
          <p:nvPr/>
        </p:nvSpPr>
        <p:spPr>
          <a:xfrm>
            <a:off x="219456" y="4785360"/>
            <a:ext cx="18288" cy="1469136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9" name="Shape 7"/>
          <p:cNvSpPr/>
          <p:nvPr/>
        </p:nvSpPr>
        <p:spPr>
          <a:xfrm>
            <a:off x="164592" y="6263640"/>
            <a:ext cx="128016" cy="128016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384048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8404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400" kern="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ESTUDO DE CASO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31520" y="731520"/>
            <a:ext cx="10820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Exemplo Prático: Auditoria em Programa de Merenda Escolar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731520" y="1298448"/>
            <a:ext cx="3200400" cy="1828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Shape 12"/>
          <p:cNvSpPr/>
          <p:nvPr/>
        </p:nvSpPr>
        <p:spPr>
          <a:xfrm>
            <a:off x="758952" y="1499616"/>
            <a:ext cx="10820095" cy="1165860"/>
          </a:xfrm>
          <a:prstGeom prst="roundRect">
            <a:avLst>
              <a:gd name="adj" fmla="val 7843"/>
            </a:avLst>
          </a:prstGeom>
          <a:solidFill>
            <a:srgbClr val="000000"/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" y="1463040"/>
            <a:ext cx="10820095" cy="1165860"/>
          </a:xfrm>
          <a:prstGeom prst="roundRect">
            <a:avLst>
              <a:gd name="adj" fmla="val 6275"/>
            </a:avLst>
          </a:prstGeom>
          <a:solidFill>
            <a:srgbClr val="111D38"/>
          </a:solidFill>
          <a:ln/>
        </p:spPr>
      </p:sp>
      <p:sp>
        <p:nvSpPr>
          <p:cNvPr id="16" name="Shape 14"/>
          <p:cNvSpPr/>
          <p:nvPr/>
        </p:nvSpPr>
        <p:spPr>
          <a:xfrm>
            <a:off x="731520" y="1499616"/>
            <a:ext cx="45720" cy="1092708"/>
          </a:xfrm>
          <a:prstGeom prst="rect">
            <a:avLst>
              <a:gd name="adj" fmla="val 60000"/>
            </a:avLst>
          </a:prstGeom>
          <a:solidFill>
            <a:srgbClr val="3B82F6"/>
          </a:solidFill>
          <a:ln/>
        </p:spPr>
      </p:sp>
      <p:sp>
        <p:nvSpPr>
          <p:cNvPr id="17" name="Shape 15"/>
          <p:cNvSpPr/>
          <p:nvPr/>
        </p:nvSpPr>
        <p:spPr>
          <a:xfrm>
            <a:off x="896112" y="1908810"/>
            <a:ext cx="274320" cy="2743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896112" y="190881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243584" y="149961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3B82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CONTEXTO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243584" y="1700784"/>
            <a:ext cx="10088575" cy="8732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Programa de merenda escolar da Secretaria Estadual de Educação de Minas Gerais, visando atender 1.8 milhões de alunos.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41832" y="2601468"/>
            <a:ext cx="182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59E0B">
                    <a:alpha val="60000"/>
                  </a:srgbClr>
                </a:solidFill>
              </a:rPr>
              <a:t>▼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758952" y="2756916"/>
            <a:ext cx="10820095" cy="1165860"/>
          </a:xfrm>
          <a:prstGeom prst="roundRect">
            <a:avLst>
              <a:gd name="adj" fmla="val 7843"/>
            </a:avLst>
          </a:prstGeom>
          <a:solidFill>
            <a:srgbClr val="000000"/>
          </a:solidFill>
          <a:ln/>
        </p:spPr>
      </p:sp>
      <p:sp>
        <p:nvSpPr>
          <p:cNvPr id="23" name="Shape 21"/>
          <p:cNvSpPr/>
          <p:nvPr/>
        </p:nvSpPr>
        <p:spPr>
          <a:xfrm>
            <a:off x="731520" y="2720340"/>
            <a:ext cx="10820095" cy="1165860"/>
          </a:xfrm>
          <a:prstGeom prst="roundRect">
            <a:avLst>
              <a:gd name="adj" fmla="val 6275"/>
            </a:avLst>
          </a:prstGeom>
          <a:solidFill>
            <a:srgbClr val="111D38"/>
          </a:solidFill>
          <a:ln/>
        </p:spPr>
      </p:sp>
      <p:sp>
        <p:nvSpPr>
          <p:cNvPr id="24" name="Shape 22"/>
          <p:cNvSpPr/>
          <p:nvPr/>
        </p:nvSpPr>
        <p:spPr>
          <a:xfrm>
            <a:off x="731520" y="2756916"/>
            <a:ext cx="45720" cy="1092708"/>
          </a:xfrm>
          <a:prstGeom prst="rect">
            <a:avLst>
              <a:gd name="adj" fmla="val 60000"/>
            </a:avLst>
          </a:prstGeom>
          <a:solidFill>
            <a:srgbClr val="F59E0B"/>
          </a:solidFill>
          <a:ln/>
        </p:spPr>
      </p:sp>
      <p:sp>
        <p:nvSpPr>
          <p:cNvPr id="25" name="Shape 23"/>
          <p:cNvSpPr/>
          <p:nvPr/>
        </p:nvSpPr>
        <p:spPr>
          <a:xfrm>
            <a:off x="896112" y="3166110"/>
            <a:ext cx="274320" cy="2743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896112" y="316611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243584" y="275691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F59E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DESAFIO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243584" y="2958084"/>
            <a:ext cx="10088575" cy="8732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Denúncias de atrasos na entrega da merenda em 15% das escolas e desperdício significativo em 2023.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41832" y="3858768"/>
            <a:ext cx="182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C63FF">
                    <a:alpha val="60000"/>
                  </a:srgbClr>
                </a:solidFill>
              </a:rPr>
              <a:t>▼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758952" y="4014216"/>
            <a:ext cx="10820095" cy="1165860"/>
          </a:xfrm>
          <a:prstGeom prst="roundRect">
            <a:avLst>
              <a:gd name="adj" fmla="val 7843"/>
            </a:avLst>
          </a:prstGeom>
          <a:solidFill>
            <a:srgbClr val="000000"/>
          </a:solidFill>
          <a:ln/>
        </p:spPr>
      </p:sp>
      <p:sp>
        <p:nvSpPr>
          <p:cNvPr id="31" name="Shape 29"/>
          <p:cNvSpPr/>
          <p:nvPr/>
        </p:nvSpPr>
        <p:spPr>
          <a:xfrm>
            <a:off x="731520" y="3977640"/>
            <a:ext cx="10820095" cy="1165860"/>
          </a:xfrm>
          <a:prstGeom prst="roundRect">
            <a:avLst>
              <a:gd name="adj" fmla="val 6275"/>
            </a:avLst>
          </a:prstGeom>
          <a:solidFill>
            <a:srgbClr val="111D38"/>
          </a:solidFill>
          <a:ln/>
        </p:spPr>
      </p:sp>
      <p:sp>
        <p:nvSpPr>
          <p:cNvPr id="32" name="Shape 30"/>
          <p:cNvSpPr/>
          <p:nvPr/>
        </p:nvSpPr>
        <p:spPr>
          <a:xfrm>
            <a:off x="731520" y="4014216"/>
            <a:ext cx="45720" cy="1092708"/>
          </a:xfrm>
          <a:prstGeom prst="rect">
            <a:avLst>
              <a:gd name="adj" fmla="val 60000"/>
            </a:avLst>
          </a:prstGeom>
          <a:solidFill>
            <a:srgbClr val="6C63FF"/>
          </a:solidFill>
          <a:ln/>
        </p:spPr>
      </p:sp>
      <p:sp>
        <p:nvSpPr>
          <p:cNvPr id="33" name="Shape 31"/>
          <p:cNvSpPr/>
          <p:nvPr/>
        </p:nvSpPr>
        <p:spPr>
          <a:xfrm>
            <a:off x="896112" y="4423410"/>
            <a:ext cx="274320" cy="274320"/>
          </a:xfrm>
          <a:prstGeom prst="ellipse">
            <a:avLst/>
          </a:prstGeom>
          <a:solidFill>
            <a:srgbClr val="6C63FF"/>
          </a:solidFill>
          <a:ln/>
        </p:spPr>
      </p:sp>
      <p:sp>
        <p:nvSpPr>
          <p:cNvPr id="34" name="Text 32"/>
          <p:cNvSpPr/>
          <p:nvPr/>
        </p:nvSpPr>
        <p:spPr>
          <a:xfrm>
            <a:off x="896112" y="442341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243584" y="401421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C63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SOLUÇÃO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243584" y="4215384"/>
            <a:ext cx="10088575" cy="8732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Equipe do TCE-MG avaliou a cadeia logística: licitação, fornecimento, preparo e distribuição, realizando coleta de dados.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941832" y="5116068"/>
            <a:ext cx="182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6B6D4">
                    <a:alpha val="60000"/>
                  </a:srgbClr>
                </a:solidFill>
              </a:rPr>
              <a:t>▼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758952" y="5271516"/>
            <a:ext cx="10820095" cy="1165860"/>
          </a:xfrm>
          <a:prstGeom prst="roundRect">
            <a:avLst>
              <a:gd name="adj" fmla="val 7843"/>
            </a:avLst>
          </a:prstGeom>
          <a:solidFill>
            <a:srgbClr val="000000"/>
          </a:solidFill>
          <a:ln/>
        </p:spPr>
      </p:sp>
      <p:sp>
        <p:nvSpPr>
          <p:cNvPr id="39" name="Shape 37"/>
          <p:cNvSpPr/>
          <p:nvPr/>
        </p:nvSpPr>
        <p:spPr>
          <a:xfrm>
            <a:off x="731520" y="5234940"/>
            <a:ext cx="10820095" cy="1165860"/>
          </a:xfrm>
          <a:prstGeom prst="roundRect">
            <a:avLst>
              <a:gd name="adj" fmla="val 6275"/>
            </a:avLst>
          </a:prstGeom>
          <a:solidFill>
            <a:srgbClr val="111D38"/>
          </a:solidFill>
          <a:ln/>
        </p:spPr>
      </p:sp>
      <p:sp>
        <p:nvSpPr>
          <p:cNvPr id="40" name="Shape 38"/>
          <p:cNvSpPr/>
          <p:nvPr/>
        </p:nvSpPr>
        <p:spPr>
          <a:xfrm>
            <a:off x="731520" y="5271516"/>
            <a:ext cx="45720" cy="1092708"/>
          </a:xfrm>
          <a:prstGeom prst="rect">
            <a:avLst>
              <a:gd name="adj" fmla="val 60000"/>
            </a:avLst>
          </a:prstGeom>
          <a:solidFill>
            <a:srgbClr val="06B6D4"/>
          </a:solidFill>
          <a:ln/>
        </p:spPr>
      </p:sp>
      <p:sp>
        <p:nvSpPr>
          <p:cNvPr id="41" name="Shape 39"/>
          <p:cNvSpPr/>
          <p:nvPr/>
        </p:nvSpPr>
        <p:spPr>
          <a:xfrm>
            <a:off x="896112" y="5680710"/>
            <a:ext cx="274320" cy="27432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42" name="Text 40"/>
          <p:cNvSpPr/>
          <p:nvPr/>
        </p:nvSpPr>
        <p:spPr>
          <a:xfrm>
            <a:off x="896112" y="568071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1243584" y="527151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6B6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RESULTADO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1243584" y="5472684"/>
            <a:ext cx="10088575" cy="8732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Identificada inadequação nos prazos contratuais e falta de sistema de gestão de estoque, levando a reestruturação e redução de atrasos e desperdício.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6" name="Shape 44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7" name="Shape 45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8" name="Shape 46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9" name="Shape 47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0" name="Shape 48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1" name="Shape 49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52" name="Text 50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 / 48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C0392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PONTOS DE ATENÇÃO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493776"/>
            <a:ext cx="640080" cy="2194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Desafios e Cuidados na Auditoria Operacional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389888"/>
            <a:ext cx="11185855" cy="7315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408176"/>
            <a:ext cx="11185855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9" name="Shape 7"/>
          <p:cNvSpPr/>
          <p:nvPr/>
        </p:nvSpPr>
        <p:spPr>
          <a:xfrm>
            <a:off x="10820095" y="320040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FEF2F2"/>
          </a:solidFill>
          <a:ln/>
        </p:spPr>
      </p:sp>
      <p:sp>
        <p:nvSpPr>
          <p:cNvPr id="10" name="Text 8"/>
          <p:cNvSpPr/>
          <p:nvPr/>
        </p:nvSpPr>
        <p:spPr>
          <a:xfrm>
            <a:off x="10820095" y="3200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⚠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621792" y="1481328"/>
            <a:ext cx="11140135" cy="969264"/>
          </a:xfrm>
          <a:prstGeom prst="roundRect">
            <a:avLst>
              <a:gd name="adj" fmla="val 9434"/>
            </a:avLst>
          </a:prstGeom>
          <a:solidFill>
            <a:srgbClr val="000000"/>
          </a:solidFill>
          <a:ln/>
        </p:spPr>
      </p:sp>
      <p:sp>
        <p:nvSpPr>
          <p:cNvPr id="12" name="Shape 10"/>
          <p:cNvSpPr/>
          <p:nvPr/>
        </p:nvSpPr>
        <p:spPr>
          <a:xfrm>
            <a:off x="594360" y="1444752"/>
            <a:ext cx="11140135" cy="969264"/>
          </a:xfrm>
          <a:prstGeom prst="roundRect">
            <a:avLst>
              <a:gd name="adj" fmla="val 7547"/>
            </a:avLst>
          </a:prstGeom>
          <a:solidFill>
            <a:srgbClr val="1A2848"/>
          </a:solidFill>
          <a:ln/>
        </p:spPr>
      </p:sp>
      <p:sp>
        <p:nvSpPr>
          <p:cNvPr id="13" name="Shape 11"/>
          <p:cNvSpPr/>
          <p:nvPr/>
        </p:nvSpPr>
        <p:spPr>
          <a:xfrm>
            <a:off x="594360" y="1444752"/>
            <a:ext cx="54864" cy="969264"/>
          </a:xfrm>
          <a:prstGeom prst="rect">
            <a:avLst>
              <a:gd name="adj" fmla="val 133333"/>
            </a:avLst>
          </a:prstGeom>
          <a:solidFill>
            <a:srgbClr val="E74C3C"/>
          </a:solidFill>
          <a:ln/>
        </p:spPr>
      </p:sp>
      <p:sp>
        <p:nvSpPr>
          <p:cNvPr id="14" name="Text 12"/>
          <p:cNvSpPr/>
          <p:nvPr/>
        </p:nvSpPr>
        <p:spPr>
          <a:xfrm>
            <a:off x="758952" y="1481328"/>
            <a:ext cx="10902391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C039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RESTRIÇÃO DE INFORMAÇÕES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58952" y="1645920"/>
            <a:ext cx="10865815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Dificuldade em obter dados completos e confiáveis para embasar as análises.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" y="2578608"/>
            <a:ext cx="11140135" cy="969264"/>
          </a:xfrm>
          <a:prstGeom prst="roundRect">
            <a:avLst>
              <a:gd name="adj" fmla="val 9434"/>
            </a:avLst>
          </a:prstGeom>
          <a:solidFill>
            <a:srgbClr val="000000"/>
          </a:solidFill>
          <a:ln/>
        </p:spPr>
      </p:sp>
      <p:sp>
        <p:nvSpPr>
          <p:cNvPr id="17" name="Shape 15"/>
          <p:cNvSpPr/>
          <p:nvPr/>
        </p:nvSpPr>
        <p:spPr>
          <a:xfrm>
            <a:off x="594360" y="2542032"/>
            <a:ext cx="11140135" cy="969264"/>
          </a:xfrm>
          <a:prstGeom prst="roundRect">
            <a:avLst>
              <a:gd name="adj" fmla="val 7547"/>
            </a:avLst>
          </a:prstGeom>
          <a:solidFill>
            <a:srgbClr val="141E34"/>
          </a:solidFill>
          <a:ln/>
        </p:spPr>
      </p:sp>
      <p:sp>
        <p:nvSpPr>
          <p:cNvPr id="18" name="Shape 16"/>
          <p:cNvSpPr/>
          <p:nvPr/>
        </p:nvSpPr>
        <p:spPr>
          <a:xfrm>
            <a:off x="594360" y="2542032"/>
            <a:ext cx="54864" cy="969264"/>
          </a:xfrm>
          <a:prstGeom prst="rect">
            <a:avLst>
              <a:gd name="adj" fmla="val 133333"/>
            </a:avLst>
          </a:prstGeom>
          <a:solidFill>
            <a:srgbClr val="E74C3C"/>
          </a:solidFill>
          <a:ln/>
        </p:spPr>
      </p:sp>
      <p:sp>
        <p:nvSpPr>
          <p:cNvPr id="19" name="Text 17"/>
          <p:cNvSpPr/>
          <p:nvPr/>
        </p:nvSpPr>
        <p:spPr>
          <a:xfrm>
            <a:off x="758952" y="2578608"/>
            <a:ext cx="10902391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C039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RESISTÊNCIA À MUDANÇA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58952" y="2743200"/>
            <a:ext cx="10865815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Órgãos auditados podem resistir às recomendações ou à implementação de melhorias.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1792" y="3675888"/>
            <a:ext cx="11140135" cy="969264"/>
          </a:xfrm>
          <a:prstGeom prst="roundRect">
            <a:avLst>
              <a:gd name="adj" fmla="val 9434"/>
            </a:avLst>
          </a:prstGeom>
          <a:solidFill>
            <a:srgbClr val="000000"/>
          </a:solidFill>
          <a:ln/>
        </p:spPr>
      </p:sp>
      <p:sp>
        <p:nvSpPr>
          <p:cNvPr id="22" name="Shape 20"/>
          <p:cNvSpPr/>
          <p:nvPr/>
        </p:nvSpPr>
        <p:spPr>
          <a:xfrm>
            <a:off x="594360" y="3639312"/>
            <a:ext cx="11140135" cy="969264"/>
          </a:xfrm>
          <a:prstGeom prst="roundRect">
            <a:avLst>
              <a:gd name="adj" fmla="val 7547"/>
            </a:avLst>
          </a:prstGeom>
          <a:solidFill>
            <a:srgbClr val="1A2848"/>
          </a:solidFill>
          <a:ln/>
        </p:spPr>
      </p:sp>
      <p:sp>
        <p:nvSpPr>
          <p:cNvPr id="23" name="Shape 21"/>
          <p:cNvSpPr/>
          <p:nvPr/>
        </p:nvSpPr>
        <p:spPr>
          <a:xfrm>
            <a:off x="594360" y="3639312"/>
            <a:ext cx="54864" cy="969264"/>
          </a:xfrm>
          <a:prstGeom prst="rect">
            <a:avLst>
              <a:gd name="adj" fmla="val 133333"/>
            </a:avLst>
          </a:prstGeom>
          <a:solidFill>
            <a:srgbClr val="E74C3C"/>
          </a:solidFill>
          <a:ln/>
        </p:spPr>
      </p:sp>
      <p:sp>
        <p:nvSpPr>
          <p:cNvPr id="24" name="Text 22"/>
          <p:cNvSpPr/>
          <p:nvPr/>
        </p:nvSpPr>
        <p:spPr>
          <a:xfrm>
            <a:off x="758952" y="3675888"/>
            <a:ext cx="10902391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C039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COMPLEXIDADE DOS PROGRAMAS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58952" y="3840480"/>
            <a:ext cx="10865815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natureza multifacetada dos programas governamentais pode dificultar a avaliação.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21792" y="4773168"/>
            <a:ext cx="11140135" cy="969264"/>
          </a:xfrm>
          <a:prstGeom prst="roundRect">
            <a:avLst>
              <a:gd name="adj" fmla="val 9434"/>
            </a:avLst>
          </a:prstGeom>
          <a:solidFill>
            <a:srgbClr val="000000"/>
          </a:solidFill>
          <a:ln/>
        </p:spPr>
      </p:sp>
      <p:sp>
        <p:nvSpPr>
          <p:cNvPr id="27" name="Shape 25"/>
          <p:cNvSpPr/>
          <p:nvPr/>
        </p:nvSpPr>
        <p:spPr>
          <a:xfrm>
            <a:off x="594360" y="4736592"/>
            <a:ext cx="11140135" cy="969264"/>
          </a:xfrm>
          <a:prstGeom prst="roundRect">
            <a:avLst>
              <a:gd name="adj" fmla="val 7547"/>
            </a:avLst>
          </a:prstGeom>
          <a:solidFill>
            <a:srgbClr val="141E34"/>
          </a:solidFill>
          <a:ln/>
        </p:spPr>
      </p:sp>
      <p:sp>
        <p:nvSpPr>
          <p:cNvPr id="28" name="Shape 26"/>
          <p:cNvSpPr/>
          <p:nvPr/>
        </p:nvSpPr>
        <p:spPr>
          <a:xfrm>
            <a:off x="594360" y="4736592"/>
            <a:ext cx="54864" cy="969264"/>
          </a:xfrm>
          <a:prstGeom prst="rect">
            <a:avLst>
              <a:gd name="adj" fmla="val 133333"/>
            </a:avLst>
          </a:prstGeom>
          <a:solidFill>
            <a:srgbClr val="E74C3C"/>
          </a:solidFill>
          <a:ln/>
        </p:spPr>
      </p:sp>
      <p:sp>
        <p:nvSpPr>
          <p:cNvPr id="29" name="Text 27"/>
          <p:cNvSpPr/>
          <p:nvPr/>
        </p:nvSpPr>
        <p:spPr>
          <a:xfrm>
            <a:off x="758952" y="4773168"/>
            <a:ext cx="10902391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C039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SUBJETIVIDADE DAS MÉTRICAS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758952" y="4937760"/>
            <a:ext cx="10865815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Desafio em estabelecer métricas claras e mensuráveis para economia, eficiência e eficácia.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2" name="Shape 30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3" name="Shape 31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4" name="Shape 32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5" name="Shape 33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6" name="Shape 34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7" name="Shape 35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38" name="Text 36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 / 48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274320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6C63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SÍNTESE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85800" y="521208"/>
            <a:ext cx="822960" cy="18288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621792"/>
            <a:ext cx="1104869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Resumo do Módulo 1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13232" y="1499616"/>
            <a:ext cx="5469484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1463040"/>
            <a:ext cx="5469484" cy="1371600"/>
          </a:xfrm>
          <a:prstGeom prst="roundRect">
            <a:avLst>
              <a:gd name="adj" fmla="val 6667"/>
            </a:avLst>
          </a:prstGeom>
          <a:solidFill>
            <a:srgbClr val="141E34"/>
          </a:solidFill>
          <a:ln/>
        </p:spPr>
      </p:sp>
      <p:sp>
        <p:nvSpPr>
          <p:cNvPr id="8" name="Shape 6"/>
          <p:cNvSpPr/>
          <p:nvPr/>
        </p:nvSpPr>
        <p:spPr>
          <a:xfrm>
            <a:off x="685800" y="1463040"/>
            <a:ext cx="45720" cy="1371600"/>
          </a:xfrm>
          <a:prstGeom prst="rect">
            <a:avLst>
              <a:gd name="adj" fmla="val 200000"/>
            </a:avLst>
          </a:prstGeom>
          <a:solidFill>
            <a:srgbClr val="6C63FF"/>
          </a:solidFill>
          <a:ln/>
        </p:spPr>
      </p:sp>
      <p:sp>
        <p:nvSpPr>
          <p:cNvPr id="9" name="Shape 7"/>
          <p:cNvSpPr/>
          <p:nvPr/>
        </p:nvSpPr>
        <p:spPr>
          <a:xfrm>
            <a:off x="813816" y="1554480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6C63FF"/>
          </a:solidFill>
          <a:ln/>
        </p:spPr>
      </p:sp>
      <p:sp>
        <p:nvSpPr>
          <p:cNvPr id="10" name="Text 8"/>
          <p:cNvSpPr/>
          <p:nvPr/>
        </p:nvSpPr>
        <p:spPr>
          <a:xfrm>
            <a:off x="813816" y="15544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13816" y="1883664"/>
            <a:ext cx="5213452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Auditoria Operacional é crucial para otimizar o gasto público e melhorar a gestão, focando nos 4 E's.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292444" y="1499616"/>
            <a:ext cx="5469484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13" name="Shape 11"/>
          <p:cNvSpPr/>
          <p:nvPr/>
        </p:nvSpPr>
        <p:spPr>
          <a:xfrm>
            <a:off x="6265012" y="1463040"/>
            <a:ext cx="5469484" cy="1371600"/>
          </a:xfrm>
          <a:prstGeom prst="roundRect">
            <a:avLst>
              <a:gd name="adj" fmla="val 6667"/>
            </a:avLst>
          </a:prstGeom>
          <a:solidFill>
            <a:srgbClr val="141E34"/>
          </a:solidFill>
          <a:ln/>
        </p:spPr>
      </p:sp>
      <p:sp>
        <p:nvSpPr>
          <p:cNvPr id="14" name="Shape 12"/>
          <p:cNvSpPr/>
          <p:nvPr/>
        </p:nvSpPr>
        <p:spPr>
          <a:xfrm>
            <a:off x="6265012" y="1463040"/>
            <a:ext cx="45720" cy="1371600"/>
          </a:xfrm>
          <a:prstGeom prst="rect">
            <a:avLst>
              <a:gd name="adj" fmla="val 200000"/>
            </a:avLst>
          </a:prstGeom>
          <a:solidFill>
            <a:srgbClr val="3B82F6"/>
          </a:solidFill>
          <a:ln/>
        </p:spPr>
      </p:sp>
      <p:sp>
        <p:nvSpPr>
          <p:cNvPr id="15" name="Shape 13"/>
          <p:cNvSpPr/>
          <p:nvPr/>
        </p:nvSpPr>
        <p:spPr>
          <a:xfrm>
            <a:off x="6393028" y="1554480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6393028" y="15544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393028" y="1883664"/>
            <a:ext cx="5213452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Diferencia-se de outras auditorias por sua orientação para o futuro e foco na performance.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713232" y="2980944"/>
            <a:ext cx="5469484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19" name="Shape 17"/>
          <p:cNvSpPr/>
          <p:nvPr/>
        </p:nvSpPr>
        <p:spPr>
          <a:xfrm>
            <a:off x="685800" y="2944368"/>
            <a:ext cx="5469484" cy="1371600"/>
          </a:xfrm>
          <a:prstGeom prst="roundRect">
            <a:avLst>
              <a:gd name="adj" fmla="val 6667"/>
            </a:avLst>
          </a:prstGeom>
          <a:solidFill>
            <a:srgbClr val="141E34"/>
          </a:solidFill>
          <a:ln/>
        </p:spPr>
      </p:sp>
      <p:sp>
        <p:nvSpPr>
          <p:cNvPr id="20" name="Shape 18"/>
          <p:cNvSpPr/>
          <p:nvPr/>
        </p:nvSpPr>
        <p:spPr>
          <a:xfrm>
            <a:off x="685800" y="2944368"/>
            <a:ext cx="45720" cy="1371600"/>
          </a:xfrm>
          <a:prstGeom prst="rect">
            <a:avLst>
              <a:gd name="adj" fmla="val 200000"/>
            </a:avLst>
          </a:prstGeom>
          <a:solidFill>
            <a:srgbClr val="10B981"/>
          </a:solidFill>
          <a:ln/>
        </p:spPr>
      </p:sp>
      <p:sp>
        <p:nvSpPr>
          <p:cNvPr id="21" name="Shape 19"/>
          <p:cNvSpPr/>
          <p:nvPr/>
        </p:nvSpPr>
        <p:spPr>
          <a:xfrm>
            <a:off x="813816" y="3035808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813816" y="30358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13816" y="3364992"/>
            <a:ext cx="5213452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Seu escopo abrangente permite avaliar desde programas a processos específicos de alto impacto.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6292444" y="2980944"/>
            <a:ext cx="5469484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25" name="Shape 23"/>
          <p:cNvSpPr/>
          <p:nvPr/>
        </p:nvSpPr>
        <p:spPr>
          <a:xfrm>
            <a:off x="6265012" y="2944368"/>
            <a:ext cx="5469484" cy="1371600"/>
          </a:xfrm>
          <a:prstGeom prst="roundRect">
            <a:avLst>
              <a:gd name="adj" fmla="val 6667"/>
            </a:avLst>
          </a:prstGeom>
          <a:solidFill>
            <a:srgbClr val="141E34"/>
          </a:solidFill>
          <a:ln/>
        </p:spPr>
      </p:sp>
      <p:sp>
        <p:nvSpPr>
          <p:cNvPr id="26" name="Shape 24"/>
          <p:cNvSpPr/>
          <p:nvPr/>
        </p:nvSpPr>
        <p:spPr>
          <a:xfrm>
            <a:off x="6265012" y="2944368"/>
            <a:ext cx="45720" cy="1371600"/>
          </a:xfrm>
          <a:prstGeom prst="rect">
            <a:avLst>
              <a:gd name="adj" fmla="val 200000"/>
            </a:avLst>
          </a:prstGeom>
          <a:solidFill>
            <a:srgbClr val="F59E0B"/>
          </a:solidFill>
          <a:ln/>
        </p:spPr>
      </p:sp>
      <p:sp>
        <p:nvSpPr>
          <p:cNvPr id="27" name="Shape 25"/>
          <p:cNvSpPr/>
          <p:nvPr/>
        </p:nvSpPr>
        <p:spPr>
          <a:xfrm>
            <a:off x="6393028" y="3035808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6393028" y="30358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393028" y="3364992"/>
            <a:ext cx="5213452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 aplicações são vastas, promovendo transparência e apoio à tomada de decisão na administração pública.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1" name="Shape 29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2" name="Shape 30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3" name="Shape 31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4" name="Shape 32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5" name="Shape 33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6" name="Shape 34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37" name="Text 35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7 / 48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5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576"/>
            <a:ext cx="12191695" cy="4114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06B6D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PRINCIPAIS APRENDIZADOS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530352"/>
            <a:ext cx="110029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1234440"/>
            <a:ext cx="1645920" cy="2286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6" name="Shape 4"/>
          <p:cNvSpPr/>
          <p:nvPr/>
        </p:nvSpPr>
        <p:spPr>
          <a:xfrm>
            <a:off x="612648" y="1536192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7" name="Shape 5"/>
          <p:cNvSpPr/>
          <p:nvPr/>
        </p:nvSpPr>
        <p:spPr>
          <a:xfrm>
            <a:off x="594360" y="1508760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111D38"/>
          </a:solidFill>
          <a:ln/>
        </p:spPr>
      </p:sp>
      <p:sp>
        <p:nvSpPr>
          <p:cNvPr id="8" name="Shape 6"/>
          <p:cNvSpPr/>
          <p:nvPr/>
        </p:nvSpPr>
        <p:spPr>
          <a:xfrm>
            <a:off x="594360" y="1508760"/>
            <a:ext cx="45720" cy="1645920"/>
          </a:xfrm>
          <a:prstGeom prst="rect">
            <a:avLst>
              <a:gd name="adj" fmla="val 240000"/>
            </a:avLst>
          </a:prstGeom>
          <a:solidFill>
            <a:srgbClr val="6C63FF"/>
          </a:solidFill>
          <a:ln/>
        </p:spPr>
      </p:sp>
      <p:sp>
        <p:nvSpPr>
          <p:cNvPr id="9" name="Shape 7"/>
          <p:cNvSpPr/>
          <p:nvPr/>
        </p:nvSpPr>
        <p:spPr>
          <a:xfrm>
            <a:off x="722376" y="1636776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6C63FF"/>
          </a:solidFill>
          <a:ln/>
        </p:spPr>
      </p:sp>
      <p:sp>
        <p:nvSpPr>
          <p:cNvPr id="10" name="Text 8"/>
          <p:cNvSpPr/>
          <p:nvPr/>
        </p:nvSpPr>
        <p:spPr>
          <a:xfrm>
            <a:off x="722376" y="163677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520" dirty="0"/>
          </a:p>
        </p:txBody>
      </p:sp>
      <p:sp>
        <p:nvSpPr>
          <p:cNvPr id="11" name="Text 9"/>
          <p:cNvSpPr/>
          <p:nvPr/>
        </p:nvSpPr>
        <p:spPr>
          <a:xfrm>
            <a:off x="722376" y="2075688"/>
            <a:ext cx="3372002" cy="987552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Auditoria Operacional (AO) avalia economia, eficiência, eficácia e equidade para otimizar a gestão pública.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368698" y="1536192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13" name="Shape 11"/>
          <p:cNvSpPr/>
          <p:nvPr/>
        </p:nvSpPr>
        <p:spPr>
          <a:xfrm>
            <a:off x="4350410" y="1508760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111D38"/>
          </a:solidFill>
          <a:ln/>
        </p:spPr>
      </p:sp>
      <p:sp>
        <p:nvSpPr>
          <p:cNvPr id="14" name="Shape 12"/>
          <p:cNvSpPr/>
          <p:nvPr/>
        </p:nvSpPr>
        <p:spPr>
          <a:xfrm>
            <a:off x="4350410" y="1508760"/>
            <a:ext cx="45720" cy="1645920"/>
          </a:xfrm>
          <a:prstGeom prst="rect">
            <a:avLst>
              <a:gd name="adj" fmla="val 240000"/>
            </a:avLst>
          </a:prstGeom>
          <a:solidFill>
            <a:srgbClr val="3B82F6"/>
          </a:solidFill>
          <a:ln/>
        </p:spPr>
      </p:sp>
      <p:sp>
        <p:nvSpPr>
          <p:cNvPr id="15" name="Shape 13"/>
          <p:cNvSpPr/>
          <p:nvPr/>
        </p:nvSpPr>
        <p:spPr>
          <a:xfrm>
            <a:off x="4478426" y="1636776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4478426" y="163677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520" dirty="0"/>
          </a:p>
        </p:txBody>
      </p:sp>
      <p:sp>
        <p:nvSpPr>
          <p:cNvPr id="17" name="Text 15"/>
          <p:cNvSpPr/>
          <p:nvPr/>
        </p:nvSpPr>
        <p:spPr>
          <a:xfrm>
            <a:off x="4478426" y="2075688"/>
            <a:ext cx="3372002" cy="987552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Diferente de auditorias financeiras e de conformidade, a AO foca em melhorar o desempenho futuro e gerar valor.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124749" y="1536192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19" name="Shape 17"/>
          <p:cNvSpPr/>
          <p:nvPr/>
        </p:nvSpPr>
        <p:spPr>
          <a:xfrm>
            <a:off x="8106461" y="1508760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111D38"/>
          </a:solidFill>
          <a:ln/>
        </p:spPr>
      </p:sp>
      <p:sp>
        <p:nvSpPr>
          <p:cNvPr id="20" name="Shape 18"/>
          <p:cNvSpPr/>
          <p:nvPr/>
        </p:nvSpPr>
        <p:spPr>
          <a:xfrm>
            <a:off x="8106461" y="1508760"/>
            <a:ext cx="45720" cy="1645920"/>
          </a:xfrm>
          <a:prstGeom prst="rect">
            <a:avLst>
              <a:gd name="adj" fmla="val 240000"/>
            </a:avLst>
          </a:prstGeom>
          <a:solidFill>
            <a:srgbClr val="10B981"/>
          </a:solidFill>
          <a:ln/>
        </p:spPr>
      </p:sp>
      <p:sp>
        <p:nvSpPr>
          <p:cNvPr id="21" name="Shape 19"/>
          <p:cNvSpPr/>
          <p:nvPr/>
        </p:nvSpPr>
        <p:spPr>
          <a:xfrm>
            <a:off x="8234477" y="1636776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8234477" y="163677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520" dirty="0"/>
          </a:p>
        </p:txBody>
      </p:sp>
      <p:sp>
        <p:nvSpPr>
          <p:cNvPr id="23" name="Text 21"/>
          <p:cNvSpPr/>
          <p:nvPr/>
        </p:nvSpPr>
        <p:spPr>
          <a:xfrm>
            <a:off x="8234477" y="2075688"/>
            <a:ext cx="3372002" cy="987552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Os pilares (Economia, Eficiência, Eficácia, Equidade) guiam a análise e identificação de melhorias nos programas.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12648" y="3310128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25" name="Shape 23"/>
          <p:cNvSpPr/>
          <p:nvPr/>
        </p:nvSpPr>
        <p:spPr>
          <a:xfrm>
            <a:off x="594360" y="3282696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111D38"/>
          </a:solidFill>
          <a:ln/>
        </p:spPr>
      </p:sp>
      <p:sp>
        <p:nvSpPr>
          <p:cNvPr id="26" name="Shape 24"/>
          <p:cNvSpPr/>
          <p:nvPr/>
        </p:nvSpPr>
        <p:spPr>
          <a:xfrm>
            <a:off x="594360" y="3282696"/>
            <a:ext cx="45720" cy="1645920"/>
          </a:xfrm>
          <a:prstGeom prst="rect">
            <a:avLst>
              <a:gd name="adj" fmla="val 240000"/>
            </a:avLst>
          </a:prstGeom>
          <a:solidFill>
            <a:srgbClr val="F59E0B"/>
          </a:solidFill>
          <a:ln/>
        </p:spPr>
      </p:sp>
      <p:sp>
        <p:nvSpPr>
          <p:cNvPr id="27" name="Shape 25"/>
          <p:cNvSpPr/>
          <p:nvPr/>
        </p:nvSpPr>
        <p:spPr>
          <a:xfrm>
            <a:off x="722376" y="3410712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722376" y="341071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520" dirty="0"/>
          </a:p>
        </p:txBody>
      </p:sp>
      <p:sp>
        <p:nvSpPr>
          <p:cNvPr id="29" name="Text 27"/>
          <p:cNvSpPr/>
          <p:nvPr/>
        </p:nvSpPr>
        <p:spPr>
          <a:xfrm>
            <a:off x="722376" y="3849624"/>
            <a:ext cx="3372002" cy="987552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AO oferece subsídios para otimizar o uso de recursos, fortalecer a governança e aumentar a transparência.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368698" y="3310128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31" name="Shape 29"/>
          <p:cNvSpPr/>
          <p:nvPr/>
        </p:nvSpPr>
        <p:spPr>
          <a:xfrm>
            <a:off x="4350410" y="3282696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111D38"/>
          </a:solidFill>
          <a:ln/>
        </p:spPr>
      </p:sp>
      <p:sp>
        <p:nvSpPr>
          <p:cNvPr id="32" name="Shape 30"/>
          <p:cNvSpPr/>
          <p:nvPr/>
        </p:nvSpPr>
        <p:spPr>
          <a:xfrm>
            <a:off x="4350410" y="3282696"/>
            <a:ext cx="45720" cy="1645920"/>
          </a:xfrm>
          <a:prstGeom prst="rect">
            <a:avLst>
              <a:gd name="adj" fmla="val 240000"/>
            </a:avLst>
          </a:prstGeom>
          <a:solidFill>
            <a:srgbClr val="06B6D4"/>
          </a:solidFill>
          <a:ln/>
        </p:spPr>
      </p:sp>
      <p:sp>
        <p:nvSpPr>
          <p:cNvPr id="33" name="Shape 31"/>
          <p:cNvSpPr/>
          <p:nvPr/>
        </p:nvSpPr>
        <p:spPr>
          <a:xfrm>
            <a:off x="4478426" y="3410712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06B6D4"/>
          </a:solidFill>
          <a:ln/>
        </p:spPr>
      </p:sp>
      <p:sp>
        <p:nvSpPr>
          <p:cNvPr id="34" name="Text 32"/>
          <p:cNvSpPr/>
          <p:nvPr/>
        </p:nvSpPr>
        <p:spPr>
          <a:xfrm>
            <a:off x="4478426" y="341071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520" dirty="0"/>
          </a:p>
        </p:txBody>
      </p:sp>
      <p:sp>
        <p:nvSpPr>
          <p:cNvPr id="35" name="Text 33"/>
          <p:cNvSpPr/>
          <p:nvPr/>
        </p:nvSpPr>
        <p:spPr>
          <a:xfrm>
            <a:off x="4478426" y="3849624"/>
            <a:ext cx="3372002" cy="987552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Superar desafios como a obtenção de dados e a resistência à mudança é fundamental para o sucesso das auditorias operacionais.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5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8851" y="0"/>
            <a:ext cx="4632844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558851" y="0"/>
            <a:ext cx="36576" cy="6858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1"/>
          <p:cNvSpPr/>
          <p:nvPr/>
        </p:nvSpPr>
        <p:spPr>
          <a:xfrm>
            <a:off x="9631375" y="6656832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C0">
                    <a:alpha val="6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Foto: Brett Jordan / Unsplash</a:t>
            </a:r>
            <a:endParaRPr lang="en-US" sz="700" dirty="0"/>
          </a:p>
        </p:txBody>
      </p:sp>
      <p:sp>
        <p:nvSpPr>
          <p:cNvPr id="5" name="Shape 2"/>
          <p:cNvSpPr/>
          <p:nvPr/>
        </p:nvSpPr>
        <p:spPr>
          <a:xfrm>
            <a:off x="4535311" y="0"/>
            <a:ext cx="3023540" cy="115214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Shape 3"/>
          <p:cNvSpPr/>
          <p:nvPr/>
        </p:nvSpPr>
        <p:spPr>
          <a:xfrm>
            <a:off x="4535311" y="1143000"/>
            <a:ext cx="3023540" cy="115214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Shape 4"/>
          <p:cNvSpPr/>
          <p:nvPr/>
        </p:nvSpPr>
        <p:spPr>
          <a:xfrm>
            <a:off x="4535311" y="2286000"/>
            <a:ext cx="3023540" cy="115214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Shape 5"/>
          <p:cNvSpPr/>
          <p:nvPr/>
        </p:nvSpPr>
        <p:spPr>
          <a:xfrm>
            <a:off x="4535311" y="3429000"/>
            <a:ext cx="3023540" cy="115214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Shape 6"/>
          <p:cNvSpPr/>
          <p:nvPr/>
        </p:nvSpPr>
        <p:spPr>
          <a:xfrm>
            <a:off x="4535311" y="4572000"/>
            <a:ext cx="3023540" cy="115214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Shape 7"/>
          <p:cNvSpPr/>
          <p:nvPr/>
        </p:nvSpPr>
        <p:spPr>
          <a:xfrm>
            <a:off x="4535311" y="5715000"/>
            <a:ext cx="3023540" cy="115214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Shape 8"/>
          <p:cNvSpPr/>
          <p:nvPr/>
        </p:nvSpPr>
        <p:spPr>
          <a:xfrm>
            <a:off x="731520" y="1005840"/>
            <a:ext cx="45720" cy="21031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2" name="Shape 9"/>
          <p:cNvSpPr/>
          <p:nvPr/>
        </p:nvSpPr>
        <p:spPr>
          <a:xfrm>
            <a:off x="804672" y="1005840"/>
            <a:ext cx="13716" cy="21031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Text 10"/>
          <p:cNvSpPr/>
          <p:nvPr/>
        </p:nvSpPr>
        <p:spPr>
          <a:xfrm>
            <a:off x="1005840" y="109728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3B82F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MÓDULO 2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1005840" y="1417320"/>
            <a:ext cx="1280160" cy="20117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5" name="Text 12"/>
          <p:cNvSpPr/>
          <p:nvPr/>
        </p:nvSpPr>
        <p:spPr>
          <a:xfrm>
            <a:off x="1005840" y="1572768"/>
            <a:ext cx="5669138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Planejamento Estratégico da Auditoria Operacional</a:t>
            </a:r>
            <a:endParaRPr lang="en-US" sz="3600" dirty="0"/>
          </a:p>
        </p:txBody>
      </p:sp>
      <p:sp>
        <p:nvSpPr>
          <p:cNvPr id="16" name="Shape 13"/>
          <p:cNvSpPr/>
          <p:nvPr/>
        </p:nvSpPr>
        <p:spPr>
          <a:xfrm>
            <a:off x="1005840" y="4142232"/>
            <a:ext cx="2011680" cy="10973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7" name="Text 14"/>
          <p:cNvSpPr/>
          <p:nvPr/>
        </p:nvSpPr>
        <p:spPr>
          <a:xfrm>
            <a:off x="1005840" y="425196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500" kern="0" dirty="0">
                <a:solidFill>
                  <a:srgbClr val="3B82F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QUE VOCÊ VAI APRENDER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1005840" y="4590288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3B82F6"/>
          </a:solidFill>
          <a:ln/>
        </p:spPr>
      </p:sp>
      <p:sp>
        <p:nvSpPr>
          <p:cNvPr id="19" name="Text 16"/>
          <p:cNvSpPr/>
          <p:nvPr/>
        </p:nvSpPr>
        <p:spPr>
          <a:xfrm>
            <a:off x="1234440" y="4544568"/>
            <a:ext cx="52911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Compreender as etapas essenciais do planejamento da auditoria operacional.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1005840" y="5047488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3B82F6"/>
          </a:solidFill>
          <a:ln/>
        </p:spPr>
      </p:sp>
      <p:sp>
        <p:nvSpPr>
          <p:cNvPr id="21" name="Text 18"/>
          <p:cNvSpPr/>
          <p:nvPr/>
        </p:nvSpPr>
        <p:spPr>
          <a:xfrm>
            <a:off x="1234440" y="5001768"/>
            <a:ext cx="52911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Desenvolver a capacidade de elaborar planos de auditoria focados e eficazes.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1005840" y="5504688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3B82F6"/>
          </a:solidFill>
          <a:ln/>
        </p:spPr>
      </p:sp>
      <p:sp>
        <p:nvSpPr>
          <p:cNvPr id="23" name="Text 20"/>
          <p:cNvSpPr/>
          <p:nvPr/>
        </p:nvSpPr>
        <p:spPr>
          <a:xfrm>
            <a:off x="1234440" y="5458968"/>
            <a:ext cx="52911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Aplicar o conhecimento para otimizar a gestão pública e a alocação de recursos.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731520" y="6446520"/>
            <a:ext cx="542544" cy="7315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5" name="Shape 22"/>
          <p:cNvSpPr/>
          <p:nvPr/>
        </p:nvSpPr>
        <p:spPr>
          <a:xfrm>
            <a:off x="1264920" y="6446520"/>
            <a:ext cx="542544" cy="7315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6" name="Shape 23"/>
          <p:cNvSpPr/>
          <p:nvPr/>
        </p:nvSpPr>
        <p:spPr>
          <a:xfrm>
            <a:off x="1798320" y="6446520"/>
            <a:ext cx="542544" cy="7315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7" name="Shape 24"/>
          <p:cNvSpPr/>
          <p:nvPr/>
        </p:nvSpPr>
        <p:spPr>
          <a:xfrm>
            <a:off x="2331720" y="6446520"/>
            <a:ext cx="542544" cy="7315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8" name="Shape 25"/>
          <p:cNvSpPr/>
          <p:nvPr/>
        </p:nvSpPr>
        <p:spPr>
          <a:xfrm>
            <a:off x="2865120" y="6446520"/>
            <a:ext cx="542544" cy="7315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9" name="Shape 26"/>
          <p:cNvSpPr/>
          <p:nvPr/>
        </p:nvSpPr>
        <p:spPr>
          <a:xfrm>
            <a:off x="3398520" y="6446520"/>
            <a:ext cx="542544" cy="7315"/>
          </a:xfrm>
          <a:prstGeom prst="rect">
            <a:avLst/>
          </a:prstGeom>
          <a:solidFill>
            <a:srgbClr val="3B82F6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06B6D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FUNDAMENTOS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493776"/>
            <a:ext cx="640080" cy="2194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Fundamentos do Planejamento da Auditoria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389888"/>
            <a:ext cx="11185855" cy="7315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408176"/>
            <a:ext cx="11185855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9" name="Shape 7"/>
          <p:cNvSpPr/>
          <p:nvPr/>
        </p:nvSpPr>
        <p:spPr>
          <a:xfrm>
            <a:off x="621792" y="1545336"/>
            <a:ext cx="11094415" cy="901598"/>
          </a:xfrm>
          <a:prstGeom prst="roundRect">
            <a:avLst>
              <a:gd name="adj" fmla="val 10142"/>
            </a:avLst>
          </a:prstGeom>
          <a:solidFill>
            <a:srgbClr val="000000"/>
          </a:solidFill>
          <a:ln/>
        </p:spPr>
      </p:sp>
      <p:sp>
        <p:nvSpPr>
          <p:cNvPr id="10" name="Shape 8"/>
          <p:cNvSpPr/>
          <p:nvPr/>
        </p:nvSpPr>
        <p:spPr>
          <a:xfrm>
            <a:off x="594360" y="1508760"/>
            <a:ext cx="11094415" cy="901598"/>
          </a:xfrm>
          <a:prstGeom prst="roundRect">
            <a:avLst>
              <a:gd name="adj" fmla="val 8114"/>
            </a:avLst>
          </a:prstGeom>
          <a:solidFill>
            <a:srgbClr val="141E34"/>
          </a:solidFill>
          <a:ln w="3810">
            <a:solidFill>
              <a:srgbClr val="222E4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1508760"/>
            <a:ext cx="54864" cy="901598"/>
          </a:xfrm>
          <a:prstGeom prst="rect">
            <a:avLst>
              <a:gd name="adj" fmla="val 133333"/>
            </a:avLst>
          </a:prstGeom>
          <a:solidFill>
            <a:srgbClr val="6C63FF"/>
          </a:solidFill>
          <a:ln/>
        </p:spPr>
      </p:sp>
      <p:sp>
        <p:nvSpPr>
          <p:cNvPr id="12" name="Shape 10"/>
          <p:cNvSpPr/>
          <p:nvPr/>
        </p:nvSpPr>
        <p:spPr>
          <a:xfrm>
            <a:off x="758952" y="1804111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6C63FF"/>
          </a:solidFill>
          <a:ln/>
        </p:spPr>
      </p:sp>
      <p:sp>
        <p:nvSpPr>
          <p:cNvPr id="13" name="Text 11"/>
          <p:cNvSpPr/>
          <p:nvPr/>
        </p:nvSpPr>
        <p:spPr>
          <a:xfrm>
            <a:off x="758952" y="1804111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97864" y="1536192"/>
            <a:ext cx="10399471" cy="84673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planejamento é a fase crucial para o desenho da auditoria e otimização de recursos.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21792" y="2556662"/>
            <a:ext cx="11094415" cy="901598"/>
          </a:xfrm>
          <a:prstGeom prst="roundRect">
            <a:avLst>
              <a:gd name="adj" fmla="val 10142"/>
            </a:avLst>
          </a:prstGeom>
          <a:solidFill>
            <a:srgbClr val="000000"/>
          </a:solidFill>
          <a:ln/>
        </p:spPr>
      </p:sp>
      <p:sp>
        <p:nvSpPr>
          <p:cNvPr id="16" name="Shape 14"/>
          <p:cNvSpPr/>
          <p:nvPr/>
        </p:nvSpPr>
        <p:spPr>
          <a:xfrm>
            <a:off x="594360" y="2520086"/>
            <a:ext cx="11094415" cy="901598"/>
          </a:xfrm>
          <a:prstGeom prst="roundRect">
            <a:avLst>
              <a:gd name="adj" fmla="val 8114"/>
            </a:avLst>
          </a:prstGeom>
          <a:solidFill>
            <a:srgbClr val="141E34"/>
          </a:solidFill>
          <a:ln w="3810">
            <a:solidFill>
              <a:srgbClr val="222E4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" y="2520086"/>
            <a:ext cx="54864" cy="901598"/>
          </a:xfrm>
          <a:prstGeom prst="rect">
            <a:avLst>
              <a:gd name="adj" fmla="val 133333"/>
            </a:avLst>
          </a:prstGeom>
          <a:solidFill>
            <a:srgbClr val="3B82F6"/>
          </a:solidFill>
          <a:ln/>
        </p:spPr>
      </p:sp>
      <p:sp>
        <p:nvSpPr>
          <p:cNvPr id="18" name="Shape 16"/>
          <p:cNvSpPr/>
          <p:nvPr/>
        </p:nvSpPr>
        <p:spPr>
          <a:xfrm>
            <a:off x="758952" y="281543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758952" y="281543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97864" y="2547518"/>
            <a:ext cx="10399471" cy="84673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auditoria operacional exige flexibilidade e foco em eficiência e eficácia.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21792" y="3567989"/>
            <a:ext cx="11094415" cy="901598"/>
          </a:xfrm>
          <a:prstGeom prst="roundRect">
            <a:avLst>
              <a:gd name="adj" fmla="val 10142"/>
            </a:avLst>
          </a:prstGeom>
          <a:solidFill>
            <a:srgbClr val="000000"/>
          </a:solidFill>
          <a:ln/>
        </p:spPr>
      </p:sp>
      <p:sp>
        <p:nvSpPr>
          <p:cNvPr id="22" name="Shape 20"/>
          <p:cNvSpPr/>
          <p:nvPr/>
        </p:nvSpPr>
        <p:spPr>
          <a:xfrm>
            <a:off x="594360" y="3531413"/>
            <a:ext cx="11094415" cy="901598"/>
          </a:xfrm>
          <a:prstGeom prst="roundRect">
            <a:avLst>
              <a:gd name="adj" fmla="val 8114"/>
            </a:avLst>
          </a:prstGeom>
          <a:solidFill>
            <a:srgbClr val="141E34"/>
          </a:solidFill>
          <a:ln w="3810">
            <a:solidFill>
              <a:srgbClr val="222E4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" y="3531413"/>
            <a:ext cx="54864" cy="901598"/>
          </a:xfrm>
          <a:prstGeom prst="rect">
            <a:avLst>
              <a:gd name="adj" fmla="val 133333"/>
            </a:avLst>
          </a:prstGeom>
          <a:solidFill>
            <a:srgbClr val="10B981"/>
          </a:solidFill>
          <a:ln/>
        </p:spPr>
      </p:sp>
      <p:sp>
        <p:nvSpPr>
          <p:cNvPr id="24" name="Shape 22"/>
          <p:cNvSpPr/>
          <p:nvPr/>
        </p:nvSpPr>
        <p:spPr>
          <a:xfrm>
            <a:off x="758952" y="382676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0B981"/>
          </a:solidFill>
          <a:ln/>
        </p:spPr>
      </p:sp>
      <p:sp>
        <p:nvSpPr>
          <p:cNvPr id="25" name="Text 23"/>
          <p:cNvSpPr/>
          <p:nvPr/>
        </p:nvSpPr>
        <p:spPr>
          <a:xfrm>
            <a:off x="758952" y="382676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197864" y="3558845"/>
            <a:ext cx="10399471" cy="84673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Um planejamento robusto garante o bom uso de recursos e o alcance dos objetivos definidos.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21792" y="4579315"/>
            <a:ext cx="11094415" cy="901598"/>
          </a:xfrm>
          <a:prstGeom prst="roundRect">
            <a:avLst>
              <a:gd name="adj" fmla="val 10142"/>
            </a:avLst>
          </a:prstGeom>
          <a:solidFill>
            <a:srgbClr val="000000"/>
          </a:solidFill>
          <a:ln/>
        </p:spPr>
      </p:sp>
      <p:sp>
        <p:nvSpPr>
          <p:cNvPr id="28" name="Shape 26"/>
          <p:cNvSpPr/>
          <p:nvPr/>
        </p:nvSpPr>
        <p:spPr>
          <a:xfrm>
            <a:off x="594360" y="4542739"/>
            <a:ext cx="11094415" cy="901598"/>
          </a:xfrm>
          <a:prstGeom prst="roundRect">
            <a:avLst>
              <a:gd name="adj" fmla="val 8114"/>
            </a:avLst>
          </a:prstGeom>
          <a:solidFill>
            <a:srgbClr val="141E34"/>
          </a:solidFill>
          <a:ln w="3810">
            <a:solidFill>
              <a:srgbClr val="222E4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" y="4542739"/>
            <a:ext cx="54864" cy="901598"/>
          </a:xfrm>
          <a:prstGeom prst="rect">
            <a:avLst>
              <a:gd name="adj" fmla="val 133333"/>
            </a:avLst>
          </a:prstGeom>
          <a:solidFill>
            <a:srgbClr val="F59E0B"/>
          </a:solidFill>
          <a:ln/>
        </p:spPr>
      </p:sp>
      <p:sp>
        <p:nvSpPr>
          <p:cNvPr id="30" name="Shape 28"/>
          <p:cNvSpPr/>
          <p:nvPr/>
        </p:nvSpPr>
        <p:spPr>
          <a:xfrm>
            <a:off x="758952" y="483809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758952" y="483809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197864" y="4570171"/>
            <a:ext cx="10399471" cy="84673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Ele auxilia na identificação de riscos potenciais de gestão e operação.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621792" y="5590642"/>
            <a:ext cx="11094415" cy="901598"/>
          </a:xfrm>
          <a:prstGeom prst="roundRect">
            <a:avLst>
              <a:gd name="adj" fmla="val 10142"/>
            </a:avLst>
          </a:prstGeom>
          <a:solidFill>
            <a:srgbClr val="000000"/>
          </a:solidFill>
          <a:ln/>
        </p:spPr>
      </p:sp>
      <p:sp>
        <p:nvSpPr>
          <p:cNvPr id="34" name="Shape 32"/>
          <p:cNvSpPr/>
          <p:nvPr/>
        </p:nvSpPr>
        <p:spPr>
          <a:xfrm>
            <a:off x="594360" y="5554066"/>
            <a:ext cx="11094415" cy="901598"/>
          </a:xfrm>
          <a:prstGeom prst="roundRect">
            <a:avLst>
              <a:gd name="adj" fmla="val 8114"/>
            </a:avLst>
          </a:prstGeom>
          <a:solidFill>
            <a:srgbClr val="141E34"/>
          </a:solidFill>
          <a:ln w="3810">
            <a:solidFill>
              <a:srgbClr val="222E4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94360" y="5554066"/>
            <a:ext cx="54864" cy="901598"/>
          </a:xfrm>
          <a:prstGeom prst="rect">
            <a:avLst>
              <a:gd name="adj" fmla="val 133333"/>
            </a:avLst>
          </a:prstGeom>
          <a:solidFill>
            <a:srgbClr val="06B6D4"/>
          </a:solidFill>
          <a:ln/>
        </p:spPr>
      </p:sp>
      <p:sp>
        <p:nvSpPr>
          <p:cNvPr id="36" name="Shape 34"/>
          <p:cNvSpPr/>
          <p:nvPr/>
        </p:nvSpPr>
        <p:spPr>
          <a:xfrm>
            <a:off x="758952" y="5849417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06B6D4"/>
          </a:solidFill>
          <a:ln/>
        </p:spPr>
      </p:sp>
      <p:sp>
        <p:nvSpPr>
          <p:cNvPr id="37" name="Text 35"/>
          <p:cNvSpPr/>
          <p:nvPr/>
        </p:nvSpPr>
        <p:spPr>
          <a:xfrm>
            <a:off x="758952" y="5849417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1197864" y="5581498"/>
            <a:ext cx="10399471" cy="84673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planejamento aumenta a credibilidade dos achados e garante conformidade com as NBASPs.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0" name="Shape 38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1" name="Shape 39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2" name="Shape 40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3" name="Shape 41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4" name="Shape 42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5" name="Shape 43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46" name="Text 44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8 / 48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10B98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COMO FUNCIONA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493776"/>
            <a:ext cx="640080" cy="2194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Etapas do Planejamento de Auditoria Operacional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389888"/>
            <a:ext cx="11185855" cy="7315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408176"/>
            <a:ext cx="11185855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9" name="Shape 7"/>
          <p:cNvSpPr/>
          <p:nvPr/>
        </p:nvSpPr>
        <p:spPr>
          <a:xfrm>
            <a:off x="711403" y="1545336"/>
            <a:ext cx="21946" cy="486460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10" name="Shape 8"/>
          <p:cNvSpPr/>
          <p:nvPr/>
        </p:nvSpPr>
        <p:spPr>
          <a:xfrm>
            <a:off x="594360" y="1779422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6C63FF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177942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024128" y="1453896"/>
            <a:ext cx="10829239" cy="961949"/>
          </a:xfrm>
          <a:prstGeom prst="roundRect">
            <a:avLst>
              <a:gd name="adj" fmla="val 9506"/>
            </a:avLst>
          </a:prstGeom>
          <a:solidFill>
            <a:srgbClr val="000000"/>
          </a:solidFill>
          <a:ln/>
        </p:spPr>
      </p:sp>
      <p:sp>
        <p:nvSpPr>
          <p:cNvPr id="13" name="Shape 11"/>
          <p:cNvSpPr/>
          <p:nvPr/>
        </p:nvSpPr>
        <p:spPr>
          <a:xfrm>
            <a:off x="996696" y="1417320"/>
            <a:ext cx="10829239" cy="961949"/>
          </a:xfrm>
          <a:prstGeom prst="roundRect">
            <a:avLst>
              <a:gd name="adj" fmla="val 5703"/>
            </a:avLst>
          </a:prstGeom>
          <a:solidFill>
            <a:srgbClr val="141E34"/>
          </a:solidFill>
          <a:ln/>
        </p:spPr>
      </p:sp>
      <p:sp>
        <p:nvSpPr>
          <p:cNvPr id="14" name="Shape 12"/>
          <p:cNvSpPr/>
          <p:nvPr/>
        </p:nvSpPr>
        <p:spPr>
          <a:xfrm>
            <a:off x="996696" y="1417320"/>
            <a:ext cx="45720" cy="961949"/>
          </a:xfrm>
          <a:prstGeom prst="rect">
            <a:avLst>
              <a:gd name="adj" fmla="val 120000"/>
            </a:avLst>
          </a:prstGeom>
          <a:solidFill>
            <a:srgbClr val="6C63FF"/>
          </a:solidFill>
          <a:ln/>
        </p:spPr>
      </p:sp>
      <p:sp>
        <p:nvSpPr>
          <p:cNvPr id="15" name="Text 13"/>
          <p:cNvSpPr/>
          <p:nvPr/>
        </p:nvSpPr>
        <p:spPr>
          <a:xfrm>
            <a:off x="1152144" y="1435608"/>
            <a:ext cx="10582351" cy="37249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6C63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**Seleção do Objeto da Auditoria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52144" y="1789810"/>
            <a:ext cx="10582351" cy="56853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** Escolha estratégica baseada em materialidade, relevância, risco e oportunidade, usando análise de dados e reuniões.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13232" y="2351837"/>
            <a:ext cx="182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59E0B">
                    <a:alpha val="60000"/>
                  </a:srgbClr>
                </a:solidFill>
              </a:rPr>
              <a:t>▼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594360" y="2814523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2814523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024128" y="2488997"/>
            <a:ext cx="10829239" cy="961949"/>
          </a:xfrm>
          <a:prstGeom prst="roundRect">
            <a:avLst>
              <a:gd name="adj" fmla="val 9506"/>
            </a:avLst>
          </a:prstGeom>
          <a:solidFill>
            <a:srgbClr val="000000"/>
          </a:solidFill>
          <a:ln/>
        </p:spPr>
      </p:sp>
      <p:sp>
        <p:nvSpPr>
          <p:cNvPr id="21" name="Shape 19"/>
          <p:cNvSpPr/>
          <p:nvPr/>
        </p:nvSpPr>
        <p:spPr>
          <a:xfrm>
            <a:off x="996696" y="2452421"/>
            <a:ext cx="10829239" cy="961949"/>
          </a:xfrm>
          <a:prstGeom prst="roundRect">
            <a:avLst>
              <a:gd name="adj" fmla="val 5703"/>
            </a:avLst>
          </a:prstGeom>
          <a:solidFill>
            <a:srgbClr val="141E34"/>
          </a:solidFill>
          <a:ln/>
        </p:spPr>
      </p:sp>
      <p:sp>
        <p:nvSpPr>
          <p:cNvPr id="22" name="Shape 20"/>
          <p:cNvSpPr/>
          <p:nvPr/>
        </p:nvSpPr>
        <p:spPr>
          <a:xfrm>
            <a:off x="996696" y="2452421"/>
            <a:ext cx="45720" cy="961949"/>
          </a:xfrm>
          <a:prstGeom prst="rect">
            <a:avLst>
              <a:gd name="adj" fmla="val 120000"/>
            </a:avLst>
          </a:prstGeom>
          <a:solidFill>
            <a:srgbClr val="3B82F6"/>
          </a:solidFill>
          <a:ln/>
        </p:spPr>
      </p:sp>
      <p:sp>
        <p:nvSpPr>
          <p:cNvPr id="23" name="Text 21"/>
          <p:cNvSpPr/>
          <p:nvPr/>
        </p:nvSpPr>
        <p:spPr>
          <a:xfrm>
            <a:off x="1152144" y="2470709"/>
            <a:ext cx="10582351" cy="37249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**Definição dos Objetivos da Auditoria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52144" y="2824911"/>
            <a:ext cx="10582351" cy="56853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** Objetivos claros, concisos, realistas e mensuráveis (SMART) para guiar a equipe e avaliar o sucesso.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13232" y="3386938"/>
            <a:ext cx="182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C63FF">
                    <a:alpha val="60000"/>
                  </a:srgbClr>
                </a:solidFill>
              </a:rPr>
              <a:t>▼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594360" y="3849624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10B981"/>
          </a:solidFill>
          <a:ln/>
        </p:spPr>
      </p:sp>
      <p:sp>
        <p:nvSpPr>
          <p:cNvPr id="27" name="Text 25"/>
          <p:cNvSpPr/>
          <p:nvPr/>
        </p:nvSpPr>
        <p:spPr>
          <a:xfrm>
            <a:off x="594360" y="384962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024128" y="3524098"/>
            <a:ext cx="10829239" cy="961949"/>
          </a:xfrm>
          <a:prstGeom prst="roundRect">
            <a:avLst>
              <a:gd name="adj" fmla="val 9506"/>
            </a:avLst>
          </a:prstGeom>
          <a:solidFill>
            <a:srgbClr val="000000"/>
          </a:solidFill>
          <a:ln/>
        </p:spPr>
      </p:sp>
      <p:sp>
        <p:nvSpPr>
          <p:cNvPr id="29" name="Shape 27"/>
          <p:cNvSpPr/>
          <p:nvPr/>
        </p:nvSpPr>
        <p:spPr>
          <a:xfrm>
            <a:off x="996696" y="3487522"/>
            <a:ext cx="10829239" cy="961949"/>
          </a:xfrm>
          <a:prstGeom prst="roundRect">
            <a:avLst>
              <a:gd name="adj" fmla="val 5703"/>
            </a:avLst>
          </a:prstGeom>
          <a:solidFill>
            <a:srgbClr val="141E34"/>
          </a:solidFill>
          <a:ln/>
        </p:spPr>
      </p:sp>
      <p:sp>
        <p:nvSpPr>
          <p:cNvPr id="30" name="Shape 28"/>
          <p:cNvSpPr/>
          <p:nvPr/>
        </p:nvSpPr>
        <p:spPr>
          <a:xfrm>
            <a:off x="996696" y="3487522"/>
            <a:ext cx="45720" cy="961949"/>
          </a:xfrm>
          <a:prstGeom prst="rect">
            <a:avLst>
              <a:gd name="adj" fmla="val 120000"/>
            </a:avLst>
          </a:prstGeom>
          <a:solidFill>
            <a:srgbClr val="10B981"/>
          </a:solidFill>
          <a:ln/>
        </p:spPr>
      </p:sp>
      <p:sp>
        <p:nvSpPr>
          <p:cNvPr id="31" name="Text 29"/>
          <p:cNvSpPr/>
          <p:nvPr/>
        </p:nvSpPr>
        <p:spPr>
          <a:xfrm>
            <a:off x="1152144" y="3505810"/>
            <a:ext cx="10582351" cy="37249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**Mapeamento de Processos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152144" y="3860012"/>
            <a:ext cx="10582351" cy="56853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** Compreensão prática do objeto, documentando etapas, entradas, saídas, responsáveis e controles para visão sistêmica.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713232" y="4422038"/>
            <a:ext cx="182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0B981">
                    <a:alpha val="60000"/>
                  </a:srgbClr>
                </a:solidFill>
              </a:rPr>
              <a:t>▼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594360" y="4884725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F59E0B"/>
          </a:solidFill>
          <a:ln/>
        </p:spPr>
      </p:sp>
      <p:sp>
        <p:nvSpPr>
          <p:cNvPr id="35" name="Text 33"/>
          <p:cNvSpPr/>
          <p:nvPr/>
        </p:nvSpPr>
        <p:spPr>
          <a:xfrm>
            <a:off x="594360" y="4884725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1024128" y="4559198"/>
            <a:ext cx="10829239" cy="961949"/>
          </a:xfrm>
          <a:prstGeom prst="roundRect">
            <a:avLst>
              <a:gd name="adj" fmla="val 9506"/>
            </a:avLst>
          </a:prstGeom>
          <a:solidFill>
            <a:srgbClr val="000000"/>
          </a:solidFill>
          <a:ln/>
        </p:spPr>
      </p:sp>
      <p:sp>
        <p:nvSpPr>
          <p:cNvPr id="37" name="Shape 35"/>
          <p:cNvSpPr/>
          <p:nvPr/>
        </p:nvSpPr>
        <p:spPr>
          <a:xfrm>
            <a:off x="996696" y="4522622"/>
            <a:ext cx="10829239" cy="961949"/>
          </a:xfrm>
          <a:prstGeom prst="roundRect">
            <a:avLst>
              <a:gd name="adj" fmla="val 5703"/>
            </a:avLst>
          </a:prstGeom>
          <a:solidFill>
            <a:srgbClr val="141E34"/>
          </a:solidFill>
          <a:ln/>
        </p:spPr>
      </p:sp>
      <p:sp>
        <p:nvSpPr>
          <p:cNvPr id="38" name="Shape 36"/>
          <p:cNvSpPr/>
          <p:nvPr/>
        </p:nvSpPr>
        <p:spPr>
          <a:xfrm>
            <a:off x="996696" y="4522622"/>
            <a:ext cx="45720" cy="961949"/>
          </a:xfrm>
          <a:prstGeom prst="rect">
            <a:avLst>
              <a:gd name="adj" fmla="val 120000"/>
            </a:avLst>
          </a:prstGeom>
          <a:solidFill>
            <a:srgbClr val="F59E0B"/>
          </a:solidFill>
          <a:ln/>
        </p:spPr>
      </p:sp>
      <p:sp>
        <p:nvSpPr>
          <p:cNvPr id="39" name="Text 37"/>
          <p:cNvSpPr/>
          <p:nvPr/>
        </p:nvSpPr>
        <p:spPr>
          <a:xfrm>
            <a:off x="1152144" y="4540910"/>
            <a:ext cx="10582351" cy="37249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**Identificação e Avaliação de Riscos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152144" y="4895112"/>
            <a:ext cx="10582351" cy="56853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** Análise de riscos de gestão, operacionais, desempenho, fraude e desperdício, e riscos da própria auditoria.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713232" y="5457139"/>
            <a:ext cx="182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6B6D4">
                    <a:alpha val="60000"/>
                  </a:srgbClr>
                </a:solidFill>
              </a:rPr>
              <a:t>▼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594360" y="5919826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06B6D4"/>
          </a:solidFill>
          <a:ln/>
        </p:spPr>
      </p:sp>
      <p:sp>
        <p:nvSpPr>
          <p:cNvPr id="43" name="Text 41"/>
          <p:cNvSpPr/>
          <p:nvPr/>
        </p:nvSpPr>
        <p:spPr>
          <a:xfrm>
            <a:off x="594360" y="591982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1024128" y="5594299"/>
            <a:ext cx="10829239" cy="961949"/>
          </a:xfrm>
          <a:prstGeom prst="roundRect">
            <a:avLst>
              <a:gd name="adj" fmla="val 9506"/>
            </a:avLst>
          </a:prstGeom>
          <a:solidFill>
            <a:srgbClr val="000000"/>
          </a:solidFill>
          <a:ln/>
        </p:spPr>
      </p:sp>
      <p:sp>
        <p:nvSpPr>
          <p:cNvPr id="45" name="Shape 43"/>
          <p:cNvSpPr/>
          <p:nvPr/>
        </p:nvSpPr>
        <p:spPr>
          <a:xfrm>
            <a:off x="996696" y="5557723"/>
            <a:ext cx="10829239" cy="961949"/>
          </a:xfrm>
          <a:prstGeom prst="roundRect">
            <a:avLst>
              <a:gd name="adj" fmla="val 5703"/>
            </a:avLst>
          </a:prstGeom>
          <a:solidFill>
            <a:srgbClr val="141E34"/>
          </a:solidFill>
          <a:ln/>
        </p:spPr>
      </p:sp>
      <p:sp>
        <p:nvSpPr>
          <p:cNvPr id="46" name="Shape 44"/>
          <p:cNvSpPr/>
          <p:nvPr/>
        </p:nvSpPr>
        <p:spPr>
          <a:xfrm>
            <a:off x="996696" y="5557723"/>
            <a:ext cx="45720" cy="961949"/>
          </a:xfrm>
          <a:prstGeom prst="rect">
            <a:avLst>
              <a:gd name="adj" fmla="val 120000"/>
            </a:avLst>
          </a:prstGeom>
          <a:solidFill>
            <a:srgbClr val="06B6D4"/>
          </a:solidFill>
          <a:ln/>
        </p:spPr>
      </p:sp>
      <p:sp>
        <p:nvSpPr>
          <p:cNvPr id="47" name="Text 45"/>
          <p:cNvSpPr/>
          <p:nvPr/>
        </p:nvSpPr>
        <p:spPr>
          <a:xfrm>
            <a:off x="1152144" y="5576011"/>
            <a:ext cx="10582351" cy="37249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**Elaboração do Plano de Trabalho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1152144" y="5930213"/>
            <a:ext cx="10582351" cy="56853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** Documento formal consolidando informações, incluindo título, objetivos, metodologia, escopo e cronograma.</a:t>
            </a:r>
            <a:endParaRPr lang="en-US" sz="1500" dirty="0"/>
          </a:p>
        </p:txBody>
      </p:sp>
      <p:sp>
        <p:nvSpPr>
          <p:cNvPr id="49" name="Shape 47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0" name="Shape 48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1" name="Shape 49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2" name="Shape 50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3" name="Shape 51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4" name="Shape 52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5" name="Shape 53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56" name="Text 54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9 / 48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F59E0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APLICAÇÕES REAIS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493776"/>
            <a:ext cx="640080" cy="2194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Aplicações Práticas da Auditoria Operacional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389888"/>
            <a:ext cx="11185855" cy="7315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408176"/>
            <a:ext cx="11185855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9" name="Shape 7"/>
          <p:cNvSpPr/>
          <p:nvPr/>
        </p:nvSpPr>
        <p:spPr>
          <a:xfrm>
            <a:off x="621792" y="1572768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000000"/>
          </a:solidFill>
          <a:ln/>
        </p:spPr>
      </p:sp>
      <p:sp>
        <p:nvSpPr>
          <p:cNvPr id="10" name="Shape 8"/>
          <p:cNvSpPr/>
          <p:nvPr/>
        </p:nvSpPr>
        <p:spPr>
          <a:xfrm>
            <a:off x="594360" y="1536192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141E34"/>
          </a:solidFill>
          <a:ln/>
        </p:spPr>
      </p:sp>
      <p:sp>
        <p:nvSpPr>
          <p:cNvPr id="11" name="Shape 9"/>
          <p:cNvSpPr/>
          <p:nvPr/>
        </p:nvSpPr>
        <p:spPr>
          <a:xfrm>
            <a:off x="594360" y="1536192"/>
            <a:ext cx="3603650" cy="45720"/>
          </a:xfrm>
          <a:prstGeom prst="rect">
            <a:avLst>
              <a:gd name="adj" fmla="val 200000"/>
            </a:avLst>
          </a:prstGeom>
          <a:solidFill>
            <a:srgbClr val="6C63FF"/>
          </a:solidFill>
          <a:ln/>
        </p:spPr>
      </p:sp>
      <p:sp>
        <p:nvSpPr>
          <p:cNvPr id="12" name="Shape 10"/>
          <p:cNvSpPr/>
          <p:nvPr/>
        </p:nvSpPr>
        <p:spPr>
          <a:xfrm>
            <a:off x="685800" y="166420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6C63FF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16642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088" dirty="0"/>
          </a:p>
        </p:txBody>
      </p:sp>
      <p:sp>
        <p:nvSpPr>
          <p:cNvPr id="14" name="Text 12"/>
          <p:cNvSpPr/>
          <p:nvPr/>
        </p:nvSpPr>
        <p:spPr>
          <a:xfrm>
            <a:off x="1051560" y="1645920"/>
            <a:ext cx="305501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6C63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Avaliação de Programas Sociais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85800" y="2267712"/>
            <a:ext cx="3420770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16" name="Text 14"/>
          <p:cNvSpPr/>
          <p:nvPr/>
        </p:nvSpPr>
        <p:spPr>
          <a:xfrm>
            <a:off x="704088" y="2340864"/>
            <a:ext cx="3384194" cy="1408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Analisar a eficiência de programas federais de transferência de renda.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390034" y="1572768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000000"/>
          </a:solidFill>
          <a:ln/>
        </p:spPr>
      </p:sp>
      <p:sp>
        <p:nvSpPr>
          <p:cNvPr id="18" name="Shape 16"/>
          <p:cNvSpPr/>
          <p:nvPr/>
        </p:nvSpPr>
        <p:spPr>
          <a:xfrm>
            <a:off x="4362602" y="1536192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141E34"/>
          </a:solidFill>
          <a:ln/>
        </p:spPr>
      </p:sp>
      <p:sp>
        <p:nvSpPr>
          <p:cNvPr id="19" name="Shape 17"/>
          <p:cNvSpPr/>
          <p:nvPr/>
        </p:nvSpPr>
        <p:spPr>
          <a:xfrm>
            <a:off x="4362602" y="1536192"/>
            <a:ext cx="3603650" cy="45720"/>
          </a:xfrm>
          <a:prstGeom prst="rect">
            <a:avLst>
              <a:gd name="adj" fmla="val 200000"/>
            </a:avLst>
          </a:prstGeom>
          <a:solidFill>
            <a:srgbClr val="3B82F6"/>
          </a:solidFill>
          <a:ln/>
        </p:spPr>
      </p:sp>
      <p:sp>
        <p:nvSpPr>
          <p:cNvPr id="20" name="Shape 18"/>
          <p:cNvSpPr/>
          <p:nvPr/>
        </p:nvSpPr>
        <p:spPr>
          <a:xfrm>
            <a:off x="4454042" y="166420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3B82F6"/>
          </a:solidFill>
          <a:ln/>
        </p:spPr>
      </p:sp>
      <p:sp>
        <p:nvSpPr>
          <p:cNvPr id="21" name="Text 19"/>
          <p:cNvSpPr/>
          <p:nvPr/>
        </p:nvSpPr>
        <p:spPr>
          <a:xfrm>
            <a:off x="4454042" y="16642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088" dirty="0"/>
          </a:p>
        </p:txBody>
      </p:sp>
      <p:sp>
        <p:nvSpPr>
          <p:cNvPr id="22" name="Text 20"/>
          <p:cNvSpPr/>
          <p:nvPr/>
        </p:nvSpPr>
        <p:spPr>
          <a:xfrm>
            <a:off x="4819802" y="1645920"/>
            <a:ext cx="305501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3B82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Auditoria de Licitações Públicas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454042" y="2267712"/>
            <a:ext cx="3420770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24" name="Text 22"/>
          <p:cNvSpPr/>
          <p:nvPr/>
        </p:nvSpPr>
        <p:spPr>
          <a:xfrm>
            <a:off x="4472330" y="2340864"/>
            <a:ext cx="3384194" cy="1408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Auditor o processo de licitação e execução de grandes obras públicas.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158277" y="1572768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000000"/>
          </a:solidFill>
          <a:ln/>
        </p:spPr>
      </p:sp>
      <p:sp>
        <p:nvSpPr>
          <p:cNvPr id="26" name="Shape 24"/>
          <p:cNvSpPr/>
          <p:nvPr/>
        </p:nvSpPr>
        <p:spPr>
          <a:xfrm>
            <a:off x="8130845" y="1536192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141E34"/>
          </a:solidFill>
          <a:ln/>
        </p:spPr>
      </p:sp>
      <p:sp>
        <p:nvSpPr>
          <p:cNvPr id="27" name="Shape 25"/>
          <p:cNvSpPr/>
          <p:nvPr/>
        </p:nvSpPr>
        <p:spPr>
          <a:xfrm>
            <a:off x="8130845" y="1536192"/>
            <a:ext cx="3603650" cy="45720"/>
          </a:xfrm>
          <a:prstGeom prst="rect">
            <a:avLst>
              <a:gd name="adj" fmla="val 200000"/>
            </a:avLst>
          </a:prstGeom>
          <a:solidFill>
            <a:srgbClr val="10B981"/>
          </a:solidFill>
          <a:ln/>
        </p:spPr>
      </p:sp>
      <p:sp>
        <p:nvSpPr>
          <p:cNvPr id="28" name="Shape 26"/>
          <p:cNvSpPr/>
          <p:nvPr/>
        </p:nvSpPr>
        <p:spPr>
          <a:xfrm>
            <a:off x="8222285" y="166420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0B981"/>
          </a:solidFill>
          <a:ln/>
        </p:spPr>
      </p:sp>
      <p:sp>
        <p:nvSpPr>
          <p:cNvPr id="29" name="Text 27"/>
          <p:cNvSpPr/>
          <p:nvPr/>
        </p:nvSpPr>
        <p:spPr>
          <a:xfrm>
            <a:off x="8222285" y="16642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088" dirty="0"/>
          </a:p>
        </p:txBody>
      </p:sp>
      <p:sp>
        <p:nvSpPr>
          <p:cNvPr id="30" name="Text 28"/>
          <p:cNvSpPr/>
          <p:nvPr/>
        </p:nvSpPr>
        <p:spPr>
          <a:xfrm>
            <a:off x="8588045" y="1645920"/>
            <a:ext cx="305501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0B98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Gestão Ambiental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8222285" y="2048256"/>
            <a:ext cx="3420770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32" name="Text 30"/>
          <p:cNvSpPr/>
          <p:nvPr/>
        </p:nvSpPr>
        <p:spPr>
          <a:xfrm>
            <a:off x="8240573" y="2121408"/>
            <a:ext cx="3384194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Examinar a gestão de resíduos sólidos urbanos em municípios.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21792" y="4023360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000000"/>
          </a:solidFill>
          <a:ln/>
        </p:spPr>
      </p:sp>
      <p:sp>
        <p:nvSpPr>
          <p:cNvPr id="34" name="Shape 32"/>
          <p:cNvSpPr/>
          <p:nvPr/>
        </p:nvSpPr>
        <p:spPr>
          <a:xfrm>
            <a:off x="594360" y="3986784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141E34"/>
          </a:solidFill>
          <a:ln/>
        </p:spPr>
      </p:sp>
      <p:sp>
        <p:nvSpPr>
          <p:cNvPr id="35" name="Shape 33"/>
          <p:cNvSpPr/>
          <p:nvPr/>
        </p:nvSpPr>
        <p:spPr>
          <a:xfrm>
            <a:off x="594360" y="3986784"/>
            <a:ext cx="3603650" cy="45720"/>
          </a:xfrm>
          <a:prstGeom prst="rect">
            <a:avLst>
              <a:gd name="adj" fmla="val 200000"/>
            </a:avLst>
          </a:prstGeom>
          <a:solidFill>
            <a:srgbClr val="F59E0B"/>
          </a:solidFill>
          <a:ln/>
        </p:spPr>
      </p:sp>
      <p:sp>
        <p:nvSpPr>
          <p:cNvPr id="36" name="Shape 34"/>
          <p:cNvSpPr/>
          <p:nvPr/>
        </p:nvSpPr>
        <p:spPr>
          <a:xfrm>
            <a:off x="685800" y="411480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F59E0B"/>
          </a:solidFill>
          <a:ln/>
        </p:spPr>
      </p:sp>
      <p:sp>
        <p:nvSpPr>
          <p:cNvPr id="37" name="Text 35"/>
          <p:cNvSpPr/>
          <p:nvPr/>
        </p:nvSpPr>
        <p:spPr>
          <a:xfrm>
            <a:off x="685800" y="41148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088" dirty="0"/>
          </a:p>
        </p:txBody>
      </p:sp>
      <p:sp>
        <p:nvSpPr>
          <p:cNvPr id="38" name="Text 36"/>
          <p:cNvSpPr/>
          <p:nvPr/>
        </p:nvSpPr>
        <p:spPr>
          <a:xfrm>
            <a:off x="1051560" y="4096512"/>
            <a:ext cx="305501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59E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Controles Previdenciários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685800" y="4498848"/>
            <a:ext cx="3420770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40" name="Text 38"/>
          <p:cNvSpPr/>
          <p:nvPr/>
        </p:nvSpPr>
        <p:spPr>
          <a:xfrm>
            <a:off x="704088" y="4572000"/>
            <a:ext cx="3384194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Verificar a conformidade e eficácia dos controles internos de benefícios.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390034" y="4023360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000000"/>
          </a:solidFill>
          <a:ln/>
        </p:spPr>
      </p:sp>
      <p:sp>
        <p:nvSpPr>
          <p:cNvPr id="42" name="Shape 40"/>
          <p:cNvSpPr/>
          <p:nvPr/>
        </p:nvSpPr>
        <p:spPr>
          <a:xfrm>
            <a:off x="4362602" y="3986784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141E34"/>
          </a:solidFill>
          <a:ln/>
        </p:spPr>
      </p:sp>
      <p:sp>
        <p:nvSpPr>
          <p:cNvPr id="43" name="Shape 41"/>
          <p:cNvSpPr/>
          <p:nvPr/>
        </p:nvSpPr>
        <p:spPr>
          <a:xfrm>
            <a:off x="4362602" y="3986784"/>
            <a:ext cx="3603650" cy="45720"/>
          </a:xfrm>
          <a:prstGeom prst="rect">
            <a:avLst>
              <a:gd name="adj" fmla="val 200000"/>
            </a:avLst>
          </a:prstGeom>
          <a:solidFill>
            <a:srgbClr val="06B6D4"/>
          </a:solidFill>
          <a:ln/>
        </p:spPr>
      </p:sp>
      <p:sp>
        <p:nvSpPr>
          <p:cNvPr id="44" name="Shape 42"/>
          <p:cNvSpPr/>
          <p:nvPr/>
        </p:nvSpPr>
        <p:spPr>
          <a:xfrm>
            <a:off x="4454042" y="411480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06B6D4"/>
          </a:solidFill>
          <a:ln/>
        </p:spPr>
      </p:sp>
      <p:sp>
        <p:nvSpPr>
          <p:cNvPr id="45" name="Text 43"/>
          <p:cNvSpPr/>
          <p:nvPr/>
        </p:nvSpPr>
        <p:spPr>
          <a:xfrm>
            <a:off x="4454042" y="41148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088" dirty="0"/>
          </a:p>
        </p:txBody>
      </p:sp>
      <p:sp>
        <p:nvSpPr>
          <p:cNvPr id="46" name="Text 44"/>
          <p:cNvSpPr/>
          <p:nvPr/>
        </p:nvSpPr>
        <p:spPr>
          <a:xfrm>
            <a:off x="4819802" y="4096512"/>
            <a:ext cx="305501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06B6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Concessões de Serviços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4454042" y="4498848"/>
            <a:ext cx="3420770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48" name="Text 46"/>
          <p:cNvSpPr/>
          <p:nvPr/>
        </p:nvSpPr>
        <p:spPr>
          <a:xfrm>
            <a:off x="4472330" y="4572000"/>
            <a:ext cx="3384194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Analisar o desempenho de contratos de concessão de serviços públicos.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8158277" y="4023360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000000"/>
          </a:solidFill>
          <a:ln/>
        </p:spPr>
      </p:sp>
      <p:sp>
        <p:nvSpPr>
          <p:cNvPr id="50" name="Shape 48"/>
          <p:cNvSpPr/>
          <p:nvPr/>
        </p:nvSpPr>
        <p:spPr>
          <a:xfrm>
            <a:off x="8130845" y="3986784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141E34"/>
          </a:solidFill>
          <a:ln/>
        </p:spPr>
      </p:sp>
      <p:sp>
        <p:nvSpPr>
          <p:cNvPr id="51" name="Shape 49"/>
          <p:cNvSpPr/>
          <p:nvPr/>
        </p:nvSpPr>
        <p:spPr>
          <a:xfrm>
            <a:off x="8130845" y="3986784"/>
            <a:ext cx="3603650" cy="45720"/>
          </a:xfrm>
          <a:prstGeom prst="rect">
            <a:avLst>
              <a:gd name="adj" fmla="val 200000"/>
            </a:avLst>
          </a:prstGeom>
          <a:solidFill>
            <a:srgbClr val="6C63FF"/>
          </a:solidFill>
          <a:ln/>
        </p:spPr>
      </p:sp>
      <p:sp>
        <p:nvSpPr>
          <p:cNvPr id="52" name="Shape 50"/>
          <p:cNvSpPr/>
          <p:nvPr/>
        </p:nvSpPr>
        <p:spPr>
          <a:xfrm>
            <a:off x="8222285" y="411480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6C63FF"/>
          </a:solidFill>
          <a:ln/>
        </p:spPr>
      </p:sp>
      <p:sp>
        <p:nvSpPr>
          <p:cNvPr id="53" name="Text 51"/>
          <p:cNvSpPr/>
          <p:nvPr/>
        </p:nvSpPr>
        <p:spPr>
          <a:xfrm>
            <a:off x="8222285" y="41148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1088" dirty="0"/>
          </a:p>
        </p:txBody>
      </p:sp>
      <p:sp>
        <p:nvSpPr>
          <p:cNvPr id="54" name="Text 52"/>
          <p:cNvSpPr/>
          <p:nvPr/>
        </p:nvSpPr>
        <p:spPr>
          <a:xfrm>
            <a:off x="8588045" y="4096512"/>
            <a:ext cx="305501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6C63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Produtividade de Equipes</a:t>
            </a:r>
            <a:endParaRPr lang="en-US" sz="1400" dirty="0"/>
          </a:p>
        </p:txBody>
      </p:sp>
      <p:sp>
        <p:nvSpPr>
          <p:cNvPr id="55" name="Shape 53"/>
          <p:cNvSpPr/>
          <p:nvPr/>
        </p:nvSpPr>
        <p:spPr>
          <a:xfrm>
            <a:off x="8222285" y="4498848"/>
            <a:ext cx="3420770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56" name="Text 54"/>
          <p:cNvSpPr/>
          <p:nvPr/>
        </p:nvSpPr>
        <p:spPr>
          <a:xfrm>
            <a:off x="8240573" y="4572000"/>
            <a:ext cx="3384194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Comparar a produtividade de equipes de fiscalização ambiental ou sanitária.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8" name="Shape 56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9" name="Shape 57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60" name="Shape 58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61" name="Shape 59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62" name="Shape 60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63" name="Shape 61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64" name="Text 62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10 / 48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5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11D38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1417320"/>
            <a:ext cx="128016" cy="128016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219456" y="1554480"/>
            <a:ext cx="18288" cy="146913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Shape 3"/>
          <p:cNvSpPr/>
          <p:nvPr/>
        </p:nvSpPr>
        <p:spPr>
          <a:xfrm>
            <a:off x="164592" y="3032760"/>
            <a:ext cx="128016" cy="12801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6" name="Shape 4"/>
          <p:cNvSpPr/>
          <p:nvPr/>
        </p:nvSpPr>
        <p:spPr>
          <a:xfrm>
            <a:off x="219456" y="3169920"/>
            <a:ext cx="18288" cy="146913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Shape 5"/>
          <p:cNvSpPr/>
          <p:nvPr/>
        </p:nvSpPr>
        <p:spPr>
          <a:xfrm>
            <a:off x="164592" y="4648200"/>
            <a:ext cx="128016" cy="128016"/>
          </a:xfrm>
          <a:prstGeom prst="ellipse">
            <a:avLst/>
          </a:prstGeom>
          <a:solidFill>
            <a:srgbClr val="6C63FF"/>
          </a:solidFill>
          <a:ln/>
        </p:spPr>
      </p:sp>
      <p:sp>
        <p:nvSpPr>
          <p:cNvPr id="8" name="Shape 6"/>
          <p:cNvSpPr/>
          <p:nvPr/>
        </p:nvSpPr>
        <p:spPr>
          <a:xfrm>
            <a:off x="219456" y="4785360"/>
            <a:ext cx="18288" cy="1469136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9" name="Shape 7"/>
          <p:cNvSpPr/>
          <p:nvPr/>
        </p:nvSpPr>
        <p:spPr>
          <a:xfrm>
            <a:off x="164592" y="6263640"/>
            <a:ext cx="128016" cy="128016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384048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8404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400" kern="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ESTUDO DE CASO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31520" y="731520"/>
            <a:ext cx="10820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Exemplo Prático de Auditoria Operacional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731520" y="1298448"/>
            <a:ext cx="3200400" cy="1828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Shape 12"/>
          <p:cNvSpPr/>
          <p:nvPr/>
        </p:nvSpPr>
        <p:spPr>
          <a:xfrm>
            <a:off x="758952" y="1499616"/>
            <a:ext cx="10820095" cy="1165860"/>
          </a:xfrm>
          <a:prstGeom prst="roundRect">
            <a:avLst>
              <a:gd name="adj" fmla="val 7843"/>
            </a:avLst>
          </a:prstGeom>
          <a:solidFill>
            <a:srgbClr val="000000"/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" y="1463040"/>
            <a:ext cx="10820095" cy="1165860"/>
          </a:xfrm>
          <a:prstGeom prst="roundRect">
            <a:avLst>
              <a:gd name="adj" fmla="val 6275"/>
            </a:avLst>
          </a:prstGeom>
          <a:solidFill>
            <a:srgbClr val="111D38"/>
          </a:solidFill>
          <a:ln/>
        </p:spPr>
      </p:sp>
      <p:sp>
        <p:nvSpPr>
          <p:cNvPr id="16" name="Shape 14"/>
          <p:cNvSpPr/>
          <p:nvPr/>
        </p:nvSpPr>
        <p:spPr>
          <a:xfrm>
            <a:off x="731520" y="1499616"/>
            <a:ext cx="45720" cy="1092708"/>
          </a:xfrm>
          <a:prstGeom prst="rect">
            <a:avLst>
              <a:gd name="adj" fmla="val 60000"/>
            </a:avLst>
          </a:prstGeom>
          <a:solidFill>
            <a:srgbClr val="3B82F6"/>
          </a:solidFill>
          <a:ln/>
        </p:spPr>
      </p:sp>
      <p:sp>
        <p:nvSpPr>
          <p:cNvPr id="17" name="Shape 15"/>
          <p:cNvSpPr/>
          <p:nvPr/>
        </p:nvSpPr>
        <p:spPr>
          <a:xfrm>
            <a:off x="896112" y="1908810"/>
            <a:ext cx="274320" cy="2743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896112" y="190881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243584" y="149961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3B82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CONTEXTO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243584" y="1700784"/>
            <a:ext cx="10088575" cy="8732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Secretaria de Saúde municipal teve aumento de 30% no orçamento, mas 15% nas reclamações sobre falta de medicamentos.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41832" y="2601468"/>
            <a:ext cx="182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59E0B">
                    <a:alpha val="60000"/>
                  </a:srgbClr>
                </a:solidFill>
              </a:rPr>
              <a:t>▼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758952" y="2756916"/>
            <a:ext cx="10820095" cy="1165860"/>
          </a:xfrm>
          <a:prstGeom prst="roundRect">
            <a:avLst>
              <a:gd name="adj" fmla="val 7843"/>
            </a:avLst>
          </a:prstGeom>
          <a:solidFill>
            <a:srgbClr val="000000"/>
          </a:solidFill>
          <a:ln/>
        </p:spPr>
      </p:sp>
      <p:sp>
        <p:nvSpPr>
          <p:cNvPr id="23" name="Shape 21"/>
          <p:cNvSpPr/>
          <p:nvPr/>
        </p:nvSpPr>
        <p:spPr>
          <a:xfrm>
            <a:off x="731520" y="2720340"/>
            <a:ext cx="10820095" cy="1165860"/>
          </a:xfrm>
          <a:prstGeom prst="roundRect">
            <a:avLst>
              <a:gd name="adj" fmla="val 6275"/>
            </a:avLst>
          </a:prstGeom>
          <a:solidFill>
            <a:srgbClr val="111D38"/>
          </a:solidFill>
          <a:ln/>
        </p:spPr>
      </p:sp>
      <p:sp>
        <p:nvSpPr>
          <p:cNvPr id="24" name="Shape 22"/>
          <p:cNvSpPr/>
          <p:nvPr/>
        </p:nvSpPr>
        <p:spPr>
          <a:xfrm>
            <a:off x="731520" y="2756916"/>
            <a:ext cx="45720" cy="1092708"/>
          </a:xfrm>
          <a:prstGeom prst="rect">
            <a:avLst>
              <a:gd name="adj" fmla="val 60000"/>
            </a:avLst>
          </a:prstGeom>
          <a:solidFill>
            <a:srgbClr val="F59E0B"/>
          </a:solidFill>
          <a:ln/>
        </p:spPr>
      </p:sp>
      <p:sp>
        <p:nvSpPr>
          <p:cNvPr id="25" name="Shape 23"/>
          <p:cNvSpPr/>
          <p:nvPr/>
        </p:nvSpPr>
        <p:spPr>
          <a:xfrm>
            <a:off x="896112" y="3166110"/>
            <a:ext cx="274320" cy="2743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896112" y="316611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243584" y="275691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F59E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DESAFIO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243584" y="2958084"/>
            <a:ext cx="10088575" cy="8732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Identificar se preços de aquisição estão de acordo com valores de referência e se a gestão de estoque otimiza a disponibilidade de medicamentos.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41832" y="3858768"/>
            <a:ext cx="182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C63FF">
                    <a:alpha val="60000"/>
                  </a:srgbClr>
                </a:solidFill>
              </a:rPr>
              <a:t>▼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758952" y="4014216"/>
            <a:ext cx="10820095" cy="1165860"/>
          </a:xfrm>
          <a:prstGeom prst="roundRect">
            <a:avLst>
              <a:gd name="adj" fmla="val 7843"/>
            </a:avLst>
          </a:prstGeom>
          <a:solidFill>
            <a:srgbClr val="000000"/>
          </a:solidFill>
          <a:ln/>
        </p:spPr>
      </p:sp>
      <p:sp>
        <p:nvSpPr>
          <p:cNvPr id="31" name="Shape 29"/>
          <p:cNvSpPr/>
          <p:nvPr/>
        </p:nvSpPr>
        <p:spPr>
          <a:xfrm>
            <a:off x="731520" y="3977640"/>
            <a:ext cx="10820095" cy="1165860"/>
          </a:xfrm>
          <a:prstGeom prst="roundRect">
            <a:avLst>
              <a:gd name="adj" fmla="val 6275"/>
            </a:avLst>
          </a:prstGeom>
          <a:solidFill>
            <a:srgbClr val="111D38"/>
          </a:solidFill>
          <a:ln/>
        </p:spPr>
      </p:sp>
      <p:sp>
        <p:nvSpPr>
          <p:cNvPr id="32" name="Shape 30"/>
          <p:cNvSpPr/>
          <p:nvPr/>
        </p:nvSpPr>
        <p:spPr>
          <a:xfrm>
            <a:off x="731520" y="4014216"/>
            <a:ext cx="45720" cy="1092708"/>
          </a:xfrm>
          <a:prstGeom prst="rect">
            <a:avLst>
              <a:gd name="adj" fmla="val 60000"/>
            </a:avLst>
          </a:prstGeom>
          <a:solidFill>
            <a:srgbClr val="6C63FF"/>
          </a:solidFill>
          <a:ln/>
        </p:spPr>
      </p:sp>
      <p:sp>
        <p:nvSpPr>
          <p:cNvPr id="33" name="Shape 31"/>
          <p:cNvSpPr/>
          <p:nvPr/>
        </p:nvSpPr>
        <p:spPr>
          <a:xfrm>
            <a:off x="896112" y="4423410"/>
            <a:ext cx="274320" cy="274320"/>
          </a:xfrm>
          <a:prstGeom prst="ellipse">
            <a:avLst/>
          </a:prstGeom>
          <a:solidFill>
            <a:srgbClr val="6C63FF"/>
          </a:solidFill>
          <a:ln/>
        </p:spPr>
      </p:sp>
      <p:sp>
        <p:nvSpPr>
          <p:cNvPr id="34" name="Text 32"/>
          <p:cNvSpPr/>
          <p:nvPr/>
        </p:nvSpPr>
        <p:spPr>
          <a:xfrm>
            <a:off x="896112" y="442341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243584" y="401421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C63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SOLUÇÃO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243584" y="4215384"/>
            <a:ext cx="10088575" cy="8732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Auditoria operacional para avaliar eficiência e economicidade na aquisição e gestão de estoque de medicamentos de alto custo.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941832" y="5116068"/>
            <a:ext cx="182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6B6D4">
                    <a:alpha val="60000"/>
                  </a:srgbClr>
                </a:solidFill>
              </a:rPr>
              <a:t>▼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758952" y="5271516"/>
            <a:ext cx="10820095" cy="1165860"/>
          </a:xfrm>
          <a:prstGeom prst="roundRect">
            <a:avLst>
              <a:gd name="adj" fmla="val 7843"/>
            </a:avLst>
          </a:prstGeom>
          <a:solidFill>
            <a:srgbClr val="000000"/>
          </a:solidFill>
          <a:ln/>
        </p:spPr>
      </p:sp>
      <p:sp>
        <p:nvSpPr>
          <p:cNvPr id="39" name="Shape 37"/>
          <p:cNvSpPr/>
          <p:nvPr/>
        </p:nvSpPr>
        <p:spPr>
          <a:xfrm>
            <a:off x="731520" y="5234940"/>
            <a:ext cx="10820095" cy="1165860"/>
          </a:xfrm>
          <a:prstGeom prst="roundRect">
            <a:avLst>
              <a:gd name="adj" fmla="val 6275"/>
            </a:avLst>
          </a:prstGeom>
          <a:solidFill>
            <a:srgbClr val="111D38"/>
          </a:solidFill>
          <a:ln/>
        </p:spPr>
      </p:sp>
      <p:sp>
        <p:nvSpPr>
          <p:cNvPr id="40" name="Shape 38"/>
          <p:cNvSpPr/>
          <p:nvPr/>
        </p:nvSpPr>
        <p:spPr>
          <a:xfrm>
            <a:off x="731520" y="5271516"/>
            <a:ext cx="45720" cy="1092708"/>
          </a:xfrm>
          <a:prstGeom prst="rect">
            <a:avLst>
              <a:gd name="adj" fmla="val 60000"/>
            </a:avLst>
          </a:prstGeom>
          <a:solidFill>
            <a:srgbClr val="06B6D4"/>
          </a:solidFill>
          <a:ln/>
        </p:spPr>
      </p:sp>
      <p:sp>
        <p:nvSpPr>
          <p:cNvPr id="41" name="Shape 39"/>
          <p:cNvSpPr/>
          <p:nvPr/>
        </p:nvSpPr>
        <p:spPr>
          <a:xfrm>
            <a:off x="896112" y="5680710"/>
            <a:ext cx="274320" cy="27432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42" name="Text 40"/>
          <p:cNvSpPr/>
          <p:nvPr/>
        </p:nvSpPr>
        <p:spPr>
          <a:xfrm>
            <a:off x="896112" y="568071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1243584" y="527151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6B6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RESULTADO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1243584" y="5472684"/>
            <a:ext cx="10088575" cy="8732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20% das aquisições com preços 18% acima da mediana (potencial de economia de R$ 2,5 milhões) e perdas de R$ 800 mil por medicamentos vencidos.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6" name="Shape 44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7" name="Shape 45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8" name="Shape 46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9" name="Shape 47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0" name="Shape 48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1" name="Shape 49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52" name="Text 50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11 / 48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C0392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PONTOS DE ATENÇÃO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493776"/>
            <a:ext cx="640080" cy="2194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Desafios Comuns no Planejamento da Auditoria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389888"/>
            <a:ext cx="11185855" cy="7315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408176"/>
            <a:ext cx="11185855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9" name="Shape 7"/>
          <p:cNvSpPr/>
          <p:nvPr/>
        </p:nvSpPr>
        <p:spPr>
          <a:xfrm>
            <a:off x="10820095" y="320040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FEF2F2"/>
          </a:solidFill>
          <a:ln/>
        </p:spPr>
      </p:sp>
      <p:sp>
        <p:nvSpPr>
          <p:cNvPr id="10" name="Text 8"/>
          <p:cNvSpPr/>
          <p:nvPr/>
        </p:nvSpPr>
        <p:spPr>
          <a:xfrm>
            <a:off x="10820095" y="3200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⚠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621792" y="1481328"/>
            <a:ext cx="11140135" cy="890626"/>
          </a:xfrm>
          <a:prstGeom prst="roundRect">
            <a:avLst>
              <a:gd name="adj" fmla="val 10267"/>
            </a:avLst>
          </a:prstGeom>
          <a:solidFill>
            <a:srgbClr val="000000"/>
          </a:solidFill>
          <a:ln/>
        </p:spPr>
      </p:sp>
      <p:sp>
        <p:nvSpPr>
          <p:cNvPr id="12" name="Shape 10"/>
          <p:cNvSpPr/>
          <p:nvPr/>
        </p:nvSpPr>
        <p:spPr>
          <a:xfrm>
            <a:off x="594360" y="1444752"/>
            <a:ext cx="11140135" cy="890626"/>
          </a:xfrm>
          <a:prstGeom prst="roundRect">
            <a:avLst>
              <a:gd name="adj" fmla="val 8214"/>
            </a:avLst>
          </a:prstGeom>
          <a:solidFill>
            <a:srgbClr val="1A2848"/>
          </a:solidFill>
          <a:ln/>
        </p:spPr>
      </p:sp>
      <p:sp>
        <p:nvSpPr>
          <p:cNvPr id="13" name="Shape 11"/>
          <p:cNvSpPr/>
          <p:nvPr/>
        </p:nvSpPr>
        <p:spPr>
          <a:xfrm>
            <a:off x="594360" y="1444752"/>
            <a:ext cx="54864" cy="890626"/>
          </a:xfrm>
          <a:prstGeom prst="rect">
            <a:avLst>
              <a:gd name="adj" fmla="val 133333"/>
            </a:avLst>
          </a:prstGeom>
          <a:solidFill>
            <a:srgbClr val="E74C3C"/>
          </a:solidFill>
          <a:ln/>
        </p:spPr>
      </p:sp>
      <p:sp>
        <p:nvSpPr>
          <p:cNvPr id="14" name="Text 12"/>
          <p:cNvSpPr/>
          <p:nvPr/>
        </p:nvSpPr>
        <p:spPr>
          <a:xfrm>
            <a:off x="758952" y="1481328"/>
            <a:ext cx="10865815" cy="8174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Dificuldade na obtenção de dados completos e fidedignos, impactando a análise.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1792" y="2499970"/>
            <a:ext cx="11140135" cy="890626"/>
          </a:xfrm>
          <a:prstGeom prst="roundRect">
            <a:avLst>
              <a:gd name="adj" fmla="val 10267"/>
            </a:avLst>
          </a:prstGeom>
          <a:solidFill>
            <a:srgbClr val="000000"/>
          </a:solidFill>
          <a:ln/>
        </p:spPr>
      </p:sp>
      <p:sp>
        <p:nvSpPr>
          <p:cNvPr id="16" name="Shape 14"/>
          <p:cNvSpPr/>
          <p:nvPr/>
        </p:nvSpPr>
        <p:spPr>
          <a:xfrm>
            <a:off x="594360" y="2463394"/>
            <a:ext cx="11140135" cy="890626"/>
          </a:xfrm>
          <a:prstGeom prst="roundRect">
            <a:avLst>
              <a:gd name="adj" fmla="val 8214"/>
            </a:avLst>
          </a:prstGeom>
          <a:solidFill>
            <a:srgbClr val="141E34"/>
          </a:solidFill>
          <a:ln/>
        </p:spPr>
      </p:sp>
      <p:sp>
        <p:nvSpPr>
          <p:cNvPr id="17" name="Shape 15"/>
          <p:cNvSpPr/>
          <p:nvPr/>
        </p:nvSpPr>
        <p:spPr>
          <a:xfrm>
            <a:off x="594360" y="2463394"/>
            <a:ext cx="54864" cy="890626"/>
          </a:xfrm>
          <a:prstGeom prst="rect">
            <a:avLst>
              <a:gd name="adj" fmla="val 133333"/>
            </a:avLst>
          </a:prstGeom>
          <a:solidFill>
            <a:srgbClr val="E74C3C"/>
          </a:solidFill>
          <a:ln/>
        </p:spPr>
      </p:sp>
      <p:sp>
        <p:nvSpPr>
          <p:cNvPr id="18" name="Text 16"/>
          <p:cNvSpPr/>
          <p:nvPr/>
        </p:nvSpPr>
        <p:spPr>
          <a:xfrm>
            <a:off x="758952" y="2499970"/>
            <a:ext cx="10865815" cy="8174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necessidade de equilibrar um escopo ambicioso com as restrições de recursos financeiros e humanos.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1792" y="3518611"/>
            <a:ext cx="11140135" cy="890626"/>
          </a:xfrm>
          <a:prstGeom prst="roundRect">
            <a:avLst>
              <a:gd name="adj" fmla="val 10267"/>
            </a:avLst>
          </a:prstGeom>
          <a:solidFill>
            <a:srgbClr val="000000"/>
          </a:solidFill>
          <a:ln/>
        </p:spPr>
      </p:sp>
      <p:sp>
        <p:nvSpPr>
          <p:cNvPr id="20" name="Shape 18"/>
          <p:cNvSpPr/>
          <p:nvPr/>
        </p:nvSpPr>
        <p:spPr>
          <a:xfrm>
            <a:off x="594360" y="3482035"/>
            <a:ext cx="11140135" cy="890626"/>
          </a:xfrm>
          <a:prstGeom prst="roundRect">
            <a:avLst>
              <a:gd name="adj" fmla="val 8214"/>
            </a:avLst>
          </a:prstGeom>
          <a:solidFill>
            <a:srgbClr val="1A2848"/>
          </a:solidFill>
          <a:ln/>
        </p:spPr>
      </p:sp>
      <p:sp>
        <p:nvSpPr>
          <p:cNvPr id="21" name="Shape 19"/>
          <p:cNvSpPr/>
          <p:nvPr/>
        </p:nvSpPr>
        <p:spPr>
          <a:xfrm>
            <a:off x="594360" y="3482035"/>
            <a:ext cx="54864" cy="890626"/>
          </a:xfrm>
          <a:prstGeom prst="rect">
            <a:avLst>
              <a:gd name="adj" fmla="val 133333"/>
            </a:avLst>
          </a:prstGeom>
          <a:solidFill>
            <a:srgbClr val="E74C3C"/>
          </a:solidFill>
          <a:ln/>
        </p:spPr>
      </p:sp>
      <p:sp>
        <p:nvSpPr>
          <p:cNvPr id="22" name="Text 20"/>
          <p:cNvSpPr/>
          <p:nvPr/>
        </p:nvSpPr>
        <p:spPr>
          <a:xfrm>
            <a:off x="758952" y="3518611"/>
            <a:ext cx="10865815" cy="8174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Potencial resistência da entidade auditada em fornecer documentos ou acesso a pessoal, dificultando o processo.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1792" y="4537253"/>
            <a:ext cx="11140135" cy="890626"/>
          </a:xfrm>
          <a:prstGeom prst="roundRect">
            <a:avLst>
              <a:gd name="adj" fmla="val 10267"/>
            </a:avLst>
          </a:prstGeom>
          <a:solidFill>
            <a:srgbClr val="000000"/>
          </a:solidFill>
          <a:ln/>
        </p:spPr>
      </p:sp>
      <p:sp>
        <p:nvSpPr>
          <p:cNvPr id="24" name="Shape 22"/>
          <p:cNvSpPr/>
          <p:nvPr/>
        </p:nvSpPr>
        <p:spPr>
          <a:xfrm>
            <a:off x="594360" y="4500677"/>
            <a:ext cx="11140135" cy="890626"/>
          </a:xfrm>
          <a:prstGeom prst="roundRect">
            <a:avLst>
              <a:gd name="adj" fmla="val 8214"/>
            </a:avLst>
          </a:prstGeom>
          <a:solidFill>
            <a:srgbClr val="141E34"/>
          </a:solidFill>
          <a:ln/>
        </p:spPr>
      </p:sp>
      <p:sp>
        <p:nvSpPr>
          <p:cNvPr id="25" name="Shape 23"/>
          <p:cNvSpPr/>
          <p:nvPr/>
        </p:nvSpPr>
        <p:spPr>
          <a:xfrm>
            <a:off x="594360" y="4500677"/>
            <a:ext cx="54864" cy="890626"/>
          </a:xfrm>
          <a:prstGeom prst="rect">
            <a:avLst>
              <a:gd name="adj" fmla="val 133333"/>
            </a:avLst>
          </a:prstGeom>
          <a:solidFill>
            <a:srgbClr val="E74C3C"/>
          </a:solidFill>
          <a:ln/>
        </p:spPr>
      </p:sp>
      <p:sp>
        <p:nvSpPr>
          <p:cNvPr id="26" name="Text 24"/>
          <p:cNvSpPr/>
          <p:nvPr/>
        </p:nvSpPr>
        <p:spPr>
          <a:xfrm>
            <a:off x="758952" y="4537253"/>
            <a:ext cx="10865815" cy="8174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complexidade de processos intersetoriais torna o mapeamento e a identificação de riscos desafiadores.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21792" y="5555894"/>
            <a:ext cx="11140135" cy="890626"/>
          </a:xfrm>
          <a:prstGeom prst="roundRect">
            <a:avLst>
              <a:gd name="adj" fmla="val 10267"/>
            </a:avLst>
          </a:prstGeom>
          <a:solidFill>
            <a:srgbClr val="000000"/>
          </a:solidFill>
          <a:ln/>
        </p:spPr>
      </p:sp>
      <p:sp>
        <p:nvSpPr>
          <p:cNvPr id="28" name="Shape 26"/>
          <p:cNvSpPr/>
          <p:nvPr/>
        </p:nvSpPr>
        <p:spPr>
          <a:xfrm>
            <a:off x="594360" y="5519318"/>
            <a:ext cx="11140135" cy="890626"/>
          </a:xfrm>
          <a:prstGeom prst="roundRect">
            <a:avLst>
              <a:gd name="adj" fmla="val 8214"/>
            </a:avLst>
          </a:prstGeom>
          <a:solidFill>
            <a:srgbClr val="1A2848"/>
          </a:solidFill>
          <a:ln/>
        </p:spPr>
      </p:sp>
      <p:sp>
        <p:nvSpPr>
          <p:cNvPr id="29" name="Shape 27"/>
          <p:cNvSpPr/>
          <p:nvPr/>
        </p:nvSpPr>
        <p:spPr>
          <a:xfrm>
            <a:off x="594360" y="5519318"/>
            <a:ext cx="54864" cy="890626"/>
          </a:xfrm>
          <a:prstGeom prst="rect">
            <a:avLst>
              <a:gd name="adj" fmla="val 133333"/>
            </a:avLst>
          </a:prstGeom>
          <a:solidFill>
            <a:srgbClr val="E74C3C"/>
          </a:solidFill>
          <a:ln/>
        </p:spPr>
      </p:sp>
      <p:sp>
        <p:nvSpPr>
          <p:cNvPr id="30" name="Text 28"/>
          <p:cNvSpPr/>
          <p:nvPr/>
        </p:nvSpPr>
        <p:spPr>
          <a:xfrm>
            <a:off x="758952" y="5555894"/>
            <a:ext cx="10865815" cy="8174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Subjetividade na definição de critérios de desempenho pode dificultar a avaliação clara dos resultados da auditoria.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2" name="Shape 30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3" name="Shape 31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4" name="Shape 32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5" name="Shape 33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6" name="Shape 34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7" name="Shape 35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38" name="Text 36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12 / 48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274320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6C63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SÍNTESE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85800" y="521208"/>
            <a:ext cx="822960" cy="18288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621792"/>
            <a:ext cx="1104869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Resumo do Módulo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13232" y="1499616"/>
            <a:ext cx="5469484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1463040"/>
            <a:ext cx="5469484" cy="1371600"/>
          </a:xfrm>
          <a:prstGeom prst="roundRect">
            <a:avLst>
              <a:gd name="adj" fmla="val 6667"/>
            </a:avLst>
          </a:prstGeom>
          <a:solidFill>
            <a:srgbClr val="141E34"/>
          </a:solidFill>
          <a:ln/>
        </p:spPr>
      </p:sp>
      <p:sp>
        <p:nvSpPr>
          <p:cNvPr id="8" name="Shape 6"/>
          <p:cNvSpPr/>
          <p:nvPr/>
        </p:nvSpPr>
        <p:spPr>
          <a:xfrm>
            <a:off x="685800" y="1463040"/>
            <a:ext cx="45720" cy="1371600"/>
          </a:xfrm>
          <a:prstGeom prst="rect">
            <a:avLst>
              <a:gd name="adj" fmla="val 200000"/>
            </a:avLst>
          </a:prstGeom>
          <a:solidFill>
            <a:srgbClr val="6C63FF"/>
          </a:solidFill>
          <a:ln/>
        </p:spPr>
      </p:sp>
      <p:sp>
        <p:nvSpPr>
          <p:cNvPr id="9" name="Shape 7"/>
          <p:cNvSpPr/>
          <p:nvPr/>
        </p:nvSpPr>
        <p:spPr>
          <a:xfrm>
            <a:off x="813816" y="1554480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6C63FF"/>
          </a:solidFill>
          <a:ln/>
        </p:spPr>
      </p:sp>
      <p:sp>
        <p:nvSpPr>
          <p:cNvPr id="10" name="Text 8"/>
          <p:cNvSpPr/>
          <p:nvPr/>
        </p:nvSpPr>
        <p:spPr>
          <a:xfrm>
            <a:off x="813816" y="15544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13816" y="1883664"/>
            <a:ext cx="5213452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Este módulo detalhou o planejamento estratégico da auditoria operacional, cobrindo etapas essenciais.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292444" y="1499616"/>
            <a:ext cx="5469484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13" name="Shape 11"/>
          <p:cNvSpPr/>
          <p:nvPr/>
        </p:nvSpPr>
        <p:spPr>
          <a:xfrm>
            <a:off x="6265012" y="1463040"/>
            <a:ext cx="5469484" cy="1371600"/>
          </a:xfrm>
          <a:prstGeom prst="roundRect">
            <a:avLst>
              <a:gd name="adj" fmla="val 6667"/>
            </a:avLst>
          </a:prstGeom>
          <a:solidFill>
            <a:srgbClr val="141E34"/>
          </a:solidFill>
          <a:ln/>
        </p:spPr>
      </p:sp>
      <p:sp>
        <p:nvSpPr>
          <p:cNvPr id="14" name="Shape 12"/>
          <p:cNvSpPr/>
          <p:nvPr/>
        </p:nvSpPr>
        <p:spPr>
          <a:xfrm>
            <a:off x="6265012" y="1463040"/>
            <a:ext cx="45720" cy="1371600"/>
          </a:xfrm>
          <a:prstGeom prst="rect">
            <a:avLst>
              <a:gd name="adj" fmla="val 200000"/>
            </a:avLst>
          </a:prstGeom>
          <a:solidFill>
            <a:srgbClr val="3B82F6"/>
          </a:solidFill>
          <a:ln/>
        </p:spPr>
      </p:sp>
      <p:sp>
        <p:nvSpPr>
          <p:cNvPr id="15" name="Shape 13"/>
          <p:cNvSpPr/>
          <p:nvPr/>
        </p:nvSpPr>
        <p:spPr>
          <a:xfrm>
            <a:off x="6393028" y="1554480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6393028" y="15544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393028" y="1883664"/>
            <a:ext cx="5213452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Abordou a seleção do objeto, a formulação de objetivos SMART, o mapeamento de processos e a avaliação de riscos.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713232" y="2980944"/>
            <a:ext cx="5469484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19" name="Shape 17"/>
          <p:cNvSpPr/>
          <p:nvPr/>
        </p:nvSpPr>
        <p:spPr>
          <a:xfrm>
            <a:off x="685800" y="2944368"/>
            <a:ext cx="5469484" cy="1371600"/>
          </a:xfrm>
          <a:prstGeom prst="roundRect">
            <a:avLst>
              <a:gd name="adj" fmla="val 6667"/>
            </a:avLst>
          </a:prstGeom>
          <a:solidFill>
            <a:srgbClr val="141E34"/>
          </a:solidFill>
          <a:ln/>
        </p:spPr>
      </p:sp>
      <p:sp>
        <p:nvSpPr>
          <p:cNvPr id="20" name="Shape 18"/>
          <p:cNvSpPr/>
          <p:nvPr/>
        </p:nvSpPr>
        <p:spPr>
          <a:xfrm>
            <a:off x="685800" y="2944368"/>
            <a:ext cx="45720" cy="1371600"/>
          </a:xfrm>
          <a:prstGeom prst="rect">
            <a:avLst>
              <a:gd name="adj" fmla="val 200000"/>
            </a:avLst>
          </a:prstGeom>
          <a:solidFill>
            <a:srgbClr val="10B981"/>
          </a:solidFill>
          <a:ln/>
        </p:spPr>
      </p:sp>
      <p:sp>
        <p:nvSpPr>
          <p:cNvPr id="21" name="Shape 19"/>
          <p:cNvSpPr/>
          <p:nvPr/>
        </p:nvSpPr>
        <p:spPr>
          <a:xfrm>
            <a:off x="813816" y="3035808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813816" y="30358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13816" y="3364992"/>
            <a:ext cx="5213452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Um planejamento cuidadoso é fundamental para auditorias focadas, eficientes e de grande impacto na gestão pública.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6292444" y="2980944"/>
            <a:ext cx="5469484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25" name="Shape 23"/>
          <p:cNvSpPr/>
          <p:nvPr/>
        </p:nvSpPr>
        <p:spPr>
          <a:xfrm>
            <a:off x="6265012" y="2944368"/>
            <a:ext cx="5469484" cy="1371600"/>
          </a:xfrm>
          <a:prstGeom prst="roundRect">
            <a:avLst>
              <a:gd name="adj" fmla="val 6667"/>
            </a:avLst>
          </a:prstGeom>
          <a:solidFill>
            <a:srgbClr val="141E34"/>
          </a:solidFill>
          <a:ln/>
        </p:spPr>
      </p:sp>
      <p:sp>
        <p:nvSpPr>
          <p:cNvPr id="26" name="Shape 24"/>
          <p:cNvSpPr/>
          <p:nvPr/>
        </p:nvSpPr>
        <p:spPr>
          <a:xfrm>
            <a:off x="6265012" y="2944368"/>
            <a:ext cx="45720" cy="1371600"/>
          </a:xfrm>
          <a:prstGeom prst="rect">
            <a:avLst>
              <a:gd name="adj" fmla="val 200000"/>
            </a:avLst>
          </a:prstGeom>
          <a:solidFill>
            <a:srgbClr val="F59E0B"/>
          </a:solidFill>
          <a:ln/>
        </p:spPr>
      </p:sp>
      <p:sp>
        <p:nvSpPr>
          <p:cNvPr id="27" name="Shape 25"/>
          <p:cNvSpPr/>
          <p:nvPr/>
        </p:nvSpPr>
        <p:spPr>
          <a:xfrm>
            <a:off x="6393028" y="3035808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6393028" y="30358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393028" y="3364992"/>
            <a:ext cx="5213452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Um bom planejamento contribui significativamente para a transparência e o aprimoramento contínuo dos serviços públicos.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1" name="Shape 29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2" name="Shape 30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3" name="Shape 31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4" name="Shape 32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5" name="Shape 33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6" name="Shape 34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37" name="Text 35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13 / 48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5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576"/>
            <a:ext cx="12191695" cy="4114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06B6D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PRINCIPAIS APRENDIZADOS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530352"/>
            <a:ext cx="110029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1234440"/>
            <a:ext cx="1645920" cy="2286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6" name="Shape 4"/>
          <p:cNvSpPr/>
          <p:nvPr/>
        </p:nvSpPr>
        <p:spPr>
          <a:xfrm>
            <a:off x="612648" y="1536192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7" name="Shape 5"/>
          <p:cNvSpPr/>
          <p:nvPr/>
        </p:nvSpPr>
        <p:spPr>
          <a:xfrm>
            <a:off x="594360" y="1508760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111D38"/>
          </a:solidFill>
          <a:ln/>
        </p:spPr>
      </p:sp>
      <p:sp>
        <p:nvSpPr>
          <p:cNvPr id="8" name="Shape 6"/>
          <p:cNvSpPr/>
          <p:nvPr/>
        </p:nvSpPr>
        <p:spPr>
          <a:xfrm>
            <a:off x="594360" y="1508760"/>
            <a:ext cx="45720" cy="1645920"/>
          </a:xfrm>
          <a:prstGeom prst="rect">
            <a:avLst>
              <a:gd name="adj" fmla="val 240000"/>
            </a:avLst>
          </a:prstGeom>
          <a:solidFill>
            <a:srgbClr val="6C63FF"/>
          </a:solidFill>
          <a:ln/>
        </p:spPr>
      </p:sp>
      <p:sp>
        <p:nvSpPr>
          <p:cNvPr id="9" name="Shape 7"/>
          <p:cNvSpPr/>
          <p:nvPr/>
        </p:nvSpPr>
        <p:spPr>
          <a:xfrm>
            <a:off x="722376" y="1636776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6C63FF"/>
          </a:solidFill>
          <a:ln/>
        </p:spPr>
      </p:sp>
      <p:sp>
        <p:nvSpPr>
          <p:cNvPr id="10" name="Text 8"/>
          <p:cNvSpPr/>
          <p:nvPr/>
        </p:nvSpPr>
        <p:spPr>
          <a:xfrm>
            <a:off x="722376" y="163677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520" dirty="0"/>
          </a:p>
        </p:txBody>
      </p:sp>
      <p:sp>
        <p:nvSpPr>
          <p:cNvPr id="11" name="Text 9"/>
          <p:cNvSpPr/>
          <p:nvPr/>
        </p:nvSpPr>
        <p:spPr>
          <a:xfrm>
            <a:off x="722376" y="2075688"/>
            <a:ext cx="3372002" cy="987552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Selecione o objeto da auditoria com base em critérios de materialidade, relevância e risco.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368698" y="1536192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13" name="Shape 11"/>
          <p:cNvSpPr/>
          <p:nvPr/>
        </p:nvSpPr>
        <p:spPr>
          <a:xfrm>
            <a:off x="4350410" y="1508760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111D38"/>
          </a:solidFill>
          <a:ln/>
        </p:spPr>
      </p:sp>
      <p:sp>
        <p:nvSpPr>
          <p:cNvPr id="14" name="Shape 12"/>
          <p:cNvSpPr/>
          <p:nvPr/>
        </p:nvSpPr>
        <p:spPr>
          <a:xfrm>
            <a:off x="4350410" y="1508760"/>
            <a:ext cx="45720" cy="1645920"/>
          </a:xfrm>
          <a:prstGeom prst="rect">
            <a:avLst>
              <a:gd name="adj" fmla="val 240000"/>
            </a:avLst>
          </a:prstGeom>
          <a:solidFill>
            <a:srgbClr val="3B82F6"/>
          </a:solidFill>
          <a:ln/>
        </p:spPr>
      </p:sp>
      <p:sp>
        <p:nvSpPr>
          <p:cNvPr id="15" name="Shape 13"/>
          <p:cNvSpPr/>
          <p:nvPr/>
        </p:nvSpPr>
        <p:spPr>
          <a:xfrm>
            <a:off x="4478426" y="1636776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4478426" y="163677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520" dirty="0"/>
          </a:p>
        </p:txBody>
      </p:sp>
      <p:sp>
        <p:nvSpPr>
          <p:cNvPr id="17" name="Text 15"/>
          <p:cNvSpPr/>
          <p:nvPr/>
        </p:nvSpPr>
        <p:spPr>
          <a:xfrm>
            <a:off x="4478426" y="2075688"/>
            <a:ext cx="3372002" cy="987552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Defina objetivos claros e mensuráveis para a auditoria, utilizando a metodologia SMART.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124749" y="1536192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19" name="Shape 17"/>
          <p:cNvSpPr/>
          <p:nvPr/>
        </p:nvSpPr>
        <p:spPr>
          <a:xfrm>
            <a:off x="8106461" y="1508760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111D38"/>
          </a:solidFill>
          <a:ln/>
        </p:spPr>
      </p:sp>
      <p:sp>
        <p:nvSpPr>
          <p:cNvPr id="20" name="Shape 18"/>
          <p:cNvSpPr/>
          <p:nvPr/>
        </p:nvSpPr>
        <p:spPr>
          <a:xfrm>
            <a:off x="8106461" y="1508760"/>
            <a:ext cx="45720" cy="1645920"/>
          </a:xfrm>
          <a:prstGeom prst="rect">
            <a:avLst>
              <a:gd name="adj" fmla="val 240000"/>
            </a:avLst>
          </a:prstGeom>
          <a:solidFill>
            <a:srgbClr val="10B981"/>
          </a:solidFill>
          <a:ln/>
        </p:spPr>
      </p:sp>
      <p:sp>
        <p:nvSpPr>
          <p:cNvPr id="21" name="Shape 19"/>
          <p:cNvSpPr/>
          <p:nvPr/>
        </p:nvSpPr>
        <p:spPr>
          <a:xfrm>
            <a:off x="8234477" y="1636776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8234477" y="163677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520" dirty="0"/>
          </a:p>
        </p:txBody>
      </p:sp>
      <p:sp>
        <p:nvSpPr>
          <p:cNvPr id="23" name="Text 21"/>
          <p:cNvSpPr/>
          <p:nvPr/>
        </p:nvSpPr>
        <p:spPr>
          <a:xfrm>
            <a:off x="8234477" y="2075688"/>
            <a:ext cx="3372002" cy="987552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Mapeie os processos-chave do órgão ou programa auditado para uma compreensão profunda e eficaz.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12648" y="3310128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25" name="Shape 23"/>
          <p:cNvSpPr/>
          <p:nvPr/>
        </p:nvSpPr>
        <p:spPr>
          <a:xfrm>
            <a:off x="594360" y="3282696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111D38"/>
          </a:solidFill>
          <a:ln/>
        </p:spPr>
      </p:sp>
      <p:sp>
        <p:nvSpPr>
          <p:cNvPr id="26" name="Shape 24"/>
          <p:cNvSpPr/>
          <p:nvPr/>
        </p:nvSpPr>
        <p:spPr>
          <a:xfrm>
            <a:off x="594360" y="3282696"/>
            <a:ext cx="45720" cy="1645920"/>
          </a:xfrm>
          <a:prstGeom prst="rect">
            <a:avLst>
              <a:gd name="adj" fmla="val 240000"/>
            </a:avLst>
          </a:prstGeom>
          <a:solidFill>
            <a:srgbClr val="F59E0B"/>
          </a:solidFill>
          <a:ln/>
        </p:spPr>
      </p:sp>
      <p:sp>
        <p:nvSpPr>
          <p:cNvPr id="27" name="Shape 25"/>
          <p:cNvSpPr/>
          <p:nvPr/>
        </p:nvSpPr>
        <p:spPr>
          <a:xfrm>
            <a:off x="722376" y="3410712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722376" y="341071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520" dirty="0"/>
          </a:p>
        </p:txBody>
      </p:sp>
      <p:sp>
        <p:nvSpPr>
          <p:cNvPr id="29" name="Text 27"/>
          <p:cNvSpPr/>
          <p:nvPr/>
        </p:nvSpPr>
        <p:spPr>
          <a:xfrm>
            <a:off x="722376" y="3849624"/>
            <a:ext cx="3372002" cy="987552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Identifique e avalie riscos inerentes e de controle, priorizando os que comprometem a gestão pública.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368698" y="3310128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31" name="Shape 29"/>
          <p:cNvSpPr/>
          <p:nvPr/>
        </p:nvSpPr>
        <p:spPr>
          <a:xfrm>
            <a:off x="4350410" y="3282696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111D38"/>
          </a:solidFill>
          <a:ln/>
        </p:spPr>
      </p:sp>
      <p:sp>
        <p:nvSpPr>
          <p:cNvPr id="32" name="Shape 30"/>
          <p:cNvSpPr/>
          <p:nvPr/>
        </p:nvSpPr>
        <p:spPr>
          <a:xfrm>
            <a:off x="4350410" y="3282696"/>
            <a:ext cx="45720" cy="1645920"/>
          </a:xfrm>
          <a:prstGeom prst="rect">
            <a:avLst>
              <a:gd name="adj" fmla="val 240000"/>
            </a:avLst>
          </a:prstGeom>
          <a:solidFill>
            <a:srgbClr val="06B6D4"/>
          </a:solidFill>
          <a:ln/>
        </p:spPr>
      </p:sp>
      <p:sp>
        <p:nvSpPr>
          <p:cNvPr id="33" name="Shape 31"/>
          <p:cNvSpPr/>
          <p:nvPr/>
        </p:nvSpPr>
        <p:spPr>
          <a:xfrm>
            <a:off x="4478426" y="3410712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06B6D4"/>
          </a:solidFill>
          <a:ln/>
        </p:spPr>
      </p:sp>
      <p:sp>
        <p:nvSpPr>
          <p:cNvPr id="34" name="Text 32"/>
          <p:cNvSpPr/>
          <p:nvPr/>
        </p:nvSpPr>
        <p:spPr>
          <a:xfrm>
            <a:off x="4478426" y="341071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520" dirty="0"/>
          </a:p>
        </p:txBody>
      </p:sp>
      <p:sp>
        <p:nvSpPr>
          <p:cNvPr id="35" name="Text 33"/>
          <p:cNvSpPr/>
          <p:nvPr/>
        </p:nvSpPr>
        <p:spPr>
          <a:xfrm>
            <a:off x="4478426" y="3849624"/>
            <a:ext cx="3372002" cy="987552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Elabore um plano de trabalho detalhado que sirva como um roteiro abrangente e guia para a equipe de auditoria.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5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017" y="0"/>
            <a:ext cx="4876678" cy="115214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Shape 1"/>
          <p:cNvSpPr/>
          <p:nvPr/>
        </p:nvSpPr>
        <p:spPr>
          <a:xfrm>
            <a:off x="7315017" y="1143000"/>
            <a:ext cx="4876678" cy="115214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Shape 2"/>
          <p:cNvSpPr/>
          <p:nvPr/>
        </p:nvSpPr>
        <p:spPr>
          <a:xfrm>
            <a:off x="7315017" y="2286000"/>
            <a:ext cx="4876678" cy="115214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Shape 3"/>
          <p:cNvSpPr/>
          <p:nvPr/>
        </p:nvSpPr>
        <p:spPr>
          <a:xfrm>
            <a:off x="7315017" y="3429000"/>
            <a:ext cx="4876678" cy="115214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Shape 4"/>
          <p:cNvSpPr/>
          <p:nvPr/>
        </p:nvSpPr>
        <p:spPr>
          <a:xfrm>
            <a:off x="7315017" y="4572000"/>
            <a:ext cx="4876678" cy="115214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Shape 5"/>
          <p:cNvSpPr/>
          <p:nvPr/>
        </p:nvSpPr>
        <p:spPr>
          <a:xfrm>
            <a:off x="7315017" y="5715000"/>
            <a:ext cx="4876678" cy="115214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7436815" y="2011680"/>
            <a:ext cx="4389120" cy="3657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18000" b="1" dirty="0">
                <a:solidFill>
                  <a:srgbClr val="10B981">
                    <a:alpha val="1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8000" dirty="0"/>
          </a:p>
        </p:txBody>
      </p:sp>
      <p:sp>
        <p:nvSpPr>
          <p:cNvPr id="9" name="Shape 7"/>
          <p:cNvSpPr/>
          <p:nvPr/>
        </p:nvSpPr>
        <p:spPr>
          <a:xfrm>
            <a:off x="9722815" y="-548640"/>
            <a:ext cx="2743200" cy="27432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0" name="Shape 8"/>
          <p:cNvSpPr/>
          <p:nvPr/>
        </p:nvSpPr>
        <p:spPr>
          <a:xfrm>
            <a:off x="10545775" y="594360"/>
            <a:ext cx="146304" cy="14630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0" y="1005840"/>
            <a:ext cx="45720" cy="21031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2" name="Shape 10"/>
          <p:cNvSpPr/>
          <p:nvPr/>
        </p:nvSpPr>
        <p:spPr>
          <a:xfrm>
            <a:off x="804672" y="1005840"/>
            <a:ext cx="13716" cy="21031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109728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10B98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MÓDULO 3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005840" y="1417320"/>
            <a:ext cx="1280160" cy="20117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1572768"/>
            <a:ext cx="6461598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Execução da Auditoria e Coleta de Evidências</a:t>
            </a:r>
            <a:endParaRPr lang="en-US" sz="3600" dirty="0"/>
          </a:p>
        </p:txBody>
      </p:sp>
      <p:sp>
        <p:nvSpPr>
          <p:cNvPr id="16" name="Shape 14"/>
          <p:cNvSpPr/>
          <p:nvPr/>
        </p:nvSpPr>
        <p:spPr>
          <a:xfrm>
            <a:off x="1005840" y="4142232"/>
            <a:ext cx="2011680" cy="10973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425196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500" kern="0" dirty="0">
                <a:solidFill>
                  <a:srgbClr val="10B98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QUE VOCÊ VAI APRENDER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005840" y="4590288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1234440" y="4544568"/>
            <a:ext cx="585201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Dominar técnicas e ferramentas para execução da auditoria operacional.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005840" y="5047488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1234440" y="5001768"/>
            <a:ext cx="585201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Coletar, avaliar e documentar evidências de forma robusta e confiável.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005840" y="5504688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10B981"/>
          </a:solidFill>
          <a:ln/>
        </p:spPr>
      </p:sp>
      <p:sp>
        <p:nvSpPr>
          <p:cNvPr id="23" name="Text 21"/>
          <p:cNvSpPr/>
          <p:nvPr/>
        </p:nvSpPr>
        <p:spPr>
          <a:xfrm>
            <a:off x="1234440" y="5458968"/>
            <a:ext cx="585201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Aplicar práticas eficazes que fundamentam achados e conclusões de auditoria.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31520" y="6446520"/>
            <a:ext cx="542544" cy="7315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5" name="Shape 23"/>
          <p:cNvSpPr/>
          <p:nvPr/>
        </p:nvSpPr>
        <p:spPr>
          <a:xfrm>
            <a:off x="1264920" y="6446520"/>
            <a:ext cx="542544" cy="7315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6" name="Shape 24"/>
          <p:cNvSpPr/>
          <p:nvPr/>
        </p:nvSpPr>
        <p:spPr>
          <a:xfrm>
            <a:off x="1798320" y="6446520"/>
            <a:ext cx="542544" cy="7315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7" name="Shape 25"/>
          <p:cNvSpPr/>
          <p:nvPr/>
        </p:nvSpPr>
        <p:spPr>
          <a:xfrm>
            <a:off x="2331720" y="6446520"/>
            <a:ext cx="542544" cy="7315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8" name="Shape 26"/>
          <p:cNvSpPr/>
          <p:nvPr/>
        </p:nvSpPr>
        <p:spPr>
          <a:xfrm>
            <a:off x="2865120" y="6446520"/>
            <a:ext cx="542544" cy="7315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9" name="Shape 27"/>
          <p:cNvSpPr/>
          <p:nvPr/>
        </p:nvSpPr>
        <p:spPr>
          <a:xfrm>
            <a:off x="3398520" y="6446520"/>
            <a:ext cx="542544" cy="7315"/>
          </a:xfrm>
          <a:prstGeom prst="rect">
            <a:avLst/>
          </a:prstGeom>
          <a:solidFill>
            <a:srgbClr val="10B981"/>
          </a:solidFill>
          <a:ln/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67093" cy="6858000"/>
          </a:xfrm>
          <a:prstGeom prst="rect">
            <a:avLst/>
          </a:prstGeom>
          <a:solidFill>
            <a:srgbClr val="050A1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267093" cy="115214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143000"/>
            <a:ext cx="4267093" cy="115214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2286000"/>
            <a:ext cx="4267093" cy="115214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3429000"/>
            <a:ext cx="4267093" cy="115214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4572000"/>
            <a:ext cx="4267093" cy="115214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5715000"/>
            <a:ext cx="4267093" cy="115214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Shape 7"/>
          <p:cNvSpPr/>
          <p:nvPr/>
        </p:nvSpPr>
        <p:spPr>
          <a:xfrm>
            <a:off x="4267093" y="0"/>
            <a:ext cx="45720" cy="6858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Shape 8"/>
          <p:cNvSpPr/>
          <p:nvPr/>
        </p:nvSpPr>
        <p:spPr>
          <a:xfrm>
            <a:off x="4312813" y="0"/>
            <a:ext cx="13716" cy="6858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502920"/>
            <a:ext cx="3444133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3B82F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FUNDAMENTOS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11480" y="749808"/>
            <a:ext cx="1097280" cy="10973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" y="914400"/>
            <a:ext cx="3444133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Fundamentos da Evidência de Auditoria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411480" y="4389120"/>
            <a:ext cx="91440" cy="91440"/>
          </a:xfrm>
          <a:prstGeom prst="ellipse">
            <a:avLst/>
          </a:prstGeom>
          <a:solidFill>
            <a:srgbClr val="6C63FF"/>
          </a:solidFill>
          <a:ln/>
        </p:spPr>
      </p:sp>
      <p:sp>
        <p:nvSpPr>
          <p:cNvPr id="15" name="Shape 13"/>
          <p:cNvSpPr/>
          <p:nvPr/>
        </p:nvSpPr>
        <p:spPr>
          <a:xfrm>
            <a:off x="411480" y="4754880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6" name="Shape 14"/>
          <p:cNvSpPr/>
          <p:nvPr/>
        </p:nvSpPr>
        <p:spPr>
          <a:xfrm>
            <a:off x="411480" y="5120640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7" name="Shape 15"/>
          <p:cNvSpPr/>
          <p:nvPr/>
        </p:nvSpPr>
        <p:spPr>
          <a:xfrm>
            <a:off x="411480" y="5486400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8" name="Shape 16"/>
          <p:cNvSpPr/>
          <p:nvPr/>
        </p:nvSpPr>
        <p:spPr>
          <a:xfrm>
            <a:off x="4587133" y="512064"/>
            <a:ext cx="41148" cy="859536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9" name="Text 17"/>
          <p:cNvSpPr/>
          <p:nvPr/>
        </p:nvSpPr>
        <p:spPr>
          <a:xfrm>
            <a:off x="4751725" y="457200"/>
            <a:ext cx="7028490" cy="10058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Evidências de auditoria são informações coletadas para fundamentar conclusões e opiniões do auditor.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751725" y="1496873"/>
            <a:ext cx="7028490" cy="4572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21" name="Shape 19"/>
          <p:cNvSpPr/>
          <p:nvPr/>
        </p:nvSpPr>
        <p:spPr>
          <a:xfrm>
            <a:off x="4587133" y="1591056"/>
            <a:ext cx="41148" cy="85953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2" name="Text 20"/>
          <p:cNvSpPr/>
          <p:nvPr/>
        </p:nvSpPr>
        <p:spPr>
          <a:xfrm>
            <a:off x="4751725" y="1536192"/>
            <a:ext cx="7028490" cy="10058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Conferem credibilidade às constatações, validam conclusões e apoiam recomendações para melhorias.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751725" y="2575865"/>
            <a:ext cx="7028490" cy="4572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24" name="Shape 22"/>
          <p:cNvSpPr/>
          <p:nvPr/>
        </p:nvSpPr>
        <p:spPr>
          <a:xfrm>
            <a:off x="4587133" y="2670048"/>
            <a:ext cx="41148" cy="85953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5" name="Text 23"/>
          <p:cNvSpPr/>
          <p:nvPr/>
        </p:nvSpPr>
        <p:spPr>
          <a:xfrm>
            <a:off x="4751725" y="2615184"/>
            <a:ext cx="7028490" cy="10058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Devem ser suficientes (quantidade adequada) e adequadas (relevantes e confiáveis) para serem úteis.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4751725" y="3654857"/>
            <a:ext cx="7028490" cy="4572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27" name="Shape 25"/>
          <p:cNvSpPr/>
          <p:nvPr/>
        </p:nvSpPr>
        <p:spPr>
          <a:xfrm>
            <a:off x="4587133" y="3749040"/>
            <a:ext cx="41148" cy="85953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4751725" y="3694176"/>
            <a:ext cx="7028490" cy="10058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Suficiência é julgamento profissional baseado em materialidade e riscos envolvidos.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0" name="Shape 28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1" name="Shape 29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2" name="Shape 30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3" name="Shape 31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4" name="Shape 32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5" name="Shape 33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36" name="Text 34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14 / 48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10B98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HIERARQUIA DA CONFIANÇA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493776"/>
            <a:ext cx="640080" cy="2194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Confiabilidade das Evidências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389888"/>
            <a:ext cx="11185855" cy="7315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408176"/>
            <a:ext cx="11185855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9" name="Shape 7"/>
          <p:cNvSpPr/>
          <p:nvPr/>
        </p:nvSpPr>
        <p:spPr>
          <a:xfrm>
            <a:off x="621792" y="1545336"/>
            <a:ext cx="11094415" cy="1152144"/>
          </a:xfrm>
          <a:prstGeom prst="roundRect">
            <a:avLst>
              <a:gd name="adj" fmla="val 7937"/>
            </a:avLst>
          </a:prstGeom>
          <a:solidFill>
            <a:srgbClr val="000000"/>
          </a:solidFill>
          <a:ln/>
        </p:spPr>
      </p:sp>
      <p:sp>
        <p:nvSpPr>
          <p:cNvPr id="10" name="Shape 8"/>
          <p:cNvSpPr/>
          <p:nvPr/>
        </p:nvSpPr>
        <p:spPr>
          <a:xfrm>
            <a:off x="594360" y="1508760"/>
            <a:ext cx="11094415" cy="1152144"/>
          </a:xfrm>
          <a:prstGeom prst="roundRect">
            <a:avLst>
              <a:gd name="adj" fmla="val 6349"/>
            </a:avLst>
          </a:prstGeom>
          <a:solidFill>
            <a:srgbClr val="141E34"/>
          </a:solidFill>
          <a:ln w="3810">
            <a:solidFill>
              <a:srgbClr val="222E4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1508760"/>
            <a:ext cx="54864" cy="1152144"/>
          </a:xfrm>
          <a:prstGeom prst="rect">
            <a:avLst>
              <a:gd name="adj" fmla="val 133333"/>
            </a:avLst>
          </a:prstGeom>
          <a:solidFill>
            <a:srgbClr val="6C63FF"/>
          </a:solidFill>
          <a:ln/>
        </p:spPr>
      </p:sp>
      <p:sp>
        <p:nvSpPr>
          <p:cNvPr id="12" name="Shape 10"/>
          <p:cNvSpPr/>
          <p:nvPr/>
        </p:nvSpPr>
        <p:spPr>
          <a:xfrm>
            <a:off x="758952" y="192938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6C63FF"/>
          </a:solidFill>
          <a:ln/>
        </p:spPr>
      </p:sp>
      <p:sp>
        <p:nvSpPr>
          <p:cNvPr id="13" name="Text 11"/>
          <p:cNvSpPr/>
          <p:nvPr/>
        </p:nvSpPr>
        <p:spPr>
          <a:xfrm>
            <a:off x="758952" y="192938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97864" y="1536192"/>
            <a:ext cx="10399471" cy="10972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Adequação das evidências compreende relevância (pertinência ao objetivo) e confiabilidade (origem credível).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21792" y="2807208"/>
            <a:ext cx="11094415" cy="1152144"/>
          </a:xfrm>
          <a:prstGeom prst="roundRect">
            <a:avLst>
              <a:gd name="adj" fmla="val 7937"/>
            </a:avLst>
          </a:prstGeom>
          <a:solidFill>
            <a:srgbClr val="000000"/>
          </a:solidFill>
          <a:ln/>
        </p:spPr>
      </p:sp>
      <p:sp>
        <p:nvSpPr>
          <p:cNvPr id="16" name="Shape 14"/>
          <p:cNvSpPr/>
          <p:nvPr/>
        </p:nvSpPr>
        <p:spPr>
          <a:xfrm>
            <a:off x="594360" y="2770632"/>
            <a:ext cx="11094415" cy="1152144"/>
          </a:xfrm>
          <a:prstGeom prst="roundRect">
            <a:avLst>
              <a:gd name="adj" fmla="val 6349"/>
            </a:avLst>
          </a:prstGeom>
          <a:solidFill>
            <a:srgbClr val="141E34"/>
          </a:solidFill>
          <a:ln w="3810">
            <a:solidFill>
              <a:srgbClr val="222E4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" y="2770632"/>
            <a:ext cx="54864" cy="1152144"/>
          </a:xfrm>
          <a:prstGeom prst="rect">
            <a:avLst>
              <a:gd name="adj" fmla="val 133333"/>
            </a:avLst>
          </a:prstGeom>
          <a:solidFill>
            <a:srgbClr val="3B82F6"/>
          </a:solidFill>
          <a:ln/>
        </p:spPr>
      </p:sp>
      <p:sp>
        <p:nvSpPr>
          <p:cNvPr id="18" name="Shape 16"/>
          <p:cNvSpPr/>
          <p:nvPr/>
        </p:nvSpPr>
        <p:spPr>
          <a:xfrm>
            <a:off x="758952" y="319125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758952" y="319125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97864" y="2798064"/>
            <a:ext cx="10399471" cy="10972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Evidências diretas e independentes (obtidas pelo auditor) possuem a maior confiabilidade.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21792" y="4069080"/>
            <a:ext cx="11094415" cy="1152144"/>
          </a:xfrm>
          <a:prstGeom prst="roundRect">
            <a:avLst>
              <a:gd name="adj" fmla="val 7937"/>
            </a:avLst>
          </a:prstGeom>
          <a:solidFill>
            <a:srgbClr val="000000"/>
          </a:solidFill>
          <a:ln/>
        </p:spPr>
      </p:sp>
      <p:sp>
        <p:nvSpPr>
          <p:cNvPr id="22" name="Shape 20"/>
          <p:cNvSpPr/>
          <p:nvPr/>
        </p:nvSpPr>
        <p:spPr>
          <a:xfrm>
            <a:off x="594360" y="4032504"/>
            <a:ext cx="11094415" cy="1152144"/>
          </a:xfrm>
          <a:prstGeom prst="roundRect">
            <a:avLst>
              <a:gd name="adj" fmla="val 6349"/>
            </a:avLst>
          </a:prstGeom>
          <a:solidFill>
            <a:srgbClr val="141E34"/>
          </a:solidFill>
          <a:ln w="3810">
            <a:solidFill>
              <a:srgbClr val="222E4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" y="4032504"/>
            <a:ext cx="54864" cy="1152144"/>
          </a:xfrm>
          <a:prstGeom prst="rect">
            <a:avLst>
              <a:gd name="adj" fmla="val 133333"/>
            </a:avLst>
          </a:prstGeom>
          <a:solidFill>
            <a:srgbClr val="10B981"/>
          </a:solidFill>
          <a:ln/>
        </p:spPr>
      </p:sp>
      <p:sp>
        <p:nvSpPr>
          <p:cNvPr id="24" name="Shape 22"/>
          <p:cNvSpPr/>
          <p:nvPr/>
        </p:nvSpPr>
        <p:spPr>
          <a:xfrm>
            <a:off x="758952" y="445312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0B981"/>
          </a:solidFill>
          <a:ln/>
        </p:spPr>
      </p:sp>
      <p:sp>
        <p:nvSpPr>
          <p:cNvPr id="25" name="Text 23"/>
          <p:cNvSpPr/>
          <p:nvPr/>
        </p:nvSpPr>
        <p:spPr>
          <a:xfrm>
            <a:off x="758952" y="445312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197864" y="4059936"/>
            <a:ext cx="10399471" cy="10972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Documentos internos com controles fortes oferecem alta confiabilidade, diferente dos com controles fracos.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21792" y="5330952"/>
            <a:ext cx="11094415" cy="1152144"/>
          </a:xfrm>
          <a:prstGeom prst="roundRect">
            <a:avLst>
              <a:gd name="adj" fmla="val 7937"/>
            </a:avLst>
          </a:prstGeom>
          <a:solidFill>
            <a:srgbClr val="000000"/>
          </a:solidFill>
          <a:ln/>
        </p:spPr>
      </p:sp>
      <p:sp>
        <p:nvSpPr>
          <p:cNvPr id="28" name="Shape 26"/>
          <p:cNvSpPr/>
          <p:nvPr/>
        </p:nvSpPr>
        <p:spPr>
          <a:xfrm>
            <a:off x="594360" y="5294376"/>
            <a:ext cx="11094415" cy="1152144"/>
          </a:xfrm>
          <a:prstGeom prst="roundRect">
            <a:avLst>
              <a:gd name="adj" fmla="val 6349"/>
            </a:avLst>
          </a:prstGeom>
          <a:solidFill>
            <a:srgbClr val="141E34"/>
          </a:solidFill>
          <a:ln w="3810">
            <a:solidFill>
              <a:srgbClr val="222E4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" y="5294376"/>
            <a:ext cx="54864" cy="1152144"/>
          </a:xfrm>
          <a:prstGeom prst="rect">
            <a:avLst>
              <a:gd name="adj" fmla="val 133333"/>
            </a:avLst>
          </a:prstGeom>
          <a:solidFill>
            <a:srgbClr val="F59E0B"/>
          </a:solidFill>
          <a:ln/>
        </p:spPr>
      </p:sp>
      <p:sp>
        <p:nvSpPr>
          <p:cNvPr id="30" name="Shape 28"/>
          <p:cNvSpPr/>
          <p:nvPr/>
        </p:nvSpPr>
        <p:spPr>
          <a:xfrm>
            <a:off x="758952" y="571500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758952" y="571500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197864" y="5321808"/>
            <a:ext cx="10399471" cy="10972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Evidências orais (testemunhos), de baixa confiabilidade, necessitam de corroboração documental.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4" name="Shape 32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5" name="Shape 33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6" name="Shape 34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7" name="Shape 35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8" name="Shape 36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9" name="Shape 37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40" name="Text 38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15 / 48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F59E0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COMO FUNCIONA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493776"/>
            <a:ext cx="640080" cy="2194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Técnicas de Coleta de Evidências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389888"/>
            <a:ext cx="11185855" cy="7315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408176"/>
            <a:ext cx="11185855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9" name="Shape 7"/>
          <p:cNvSpPr/>
          <p:nvPr/>
        </p:nvSpPr>
        <p:spPr>
          <a:xfrm>
            <a:off x="6132424" y="1536192"/>
            <a:ext cx="18288" cy="49103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Shape 8"/>
          <p:cNvSpPr/>
          <p:nvPr/>
        </p:nvSpPr>
        <p:spPr>
          <a:xfrm>
            <a:off x="6095848" y="3945636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1" name="Shape 9"/>
          <p:cNvSpPr/>
          <p:nvPr/>
        </p:nvSpPr>
        <p:spPr>
          <a:xfrm>
            <a:off x="621792" y="1572768"/>
            <a:ext cx="5387188" cy="987552"/>
          </a:xfrm>
          <a:prstGeom prst="roundRect">
            <a:avLst>
              <a:gd name="adj" fmla="val 9259"/>
            </a:avLst>
          </a:prstGeom>
          <a:solidFill>
            <a:srgbClr val="000000"/>
          </a:solidFill>
          <a:ln/>
        </p:spPr>
      </p:sp>
      <p:sp>
        <p:nvSpPr>
          <p:cNvPr id="12" name="Shape 10"/>
          <p:cNvSpPr/>
          <p:nvPr/>
        </p:nvSpPr>
        <p:spPr>
          <a:xfrm>
            <a:off x="594360" y="1536192"/>
            <a:ext cx="5387188" cy="987552"/>
          </a:xfrm>
          <a:prstGeom prst="roundRect">
            <a:avLst>
              <a:gd name="adj" fmla="val 5556"/>
            </a:avLst>
          </a:prstGeom>
          <a:solidFill>
            <a:srgbClr val="141E34"/>
          </a:solidFill>
          <a:ln/>
        </p:spPr>
      </p:sp>
      <p:sp>
        <p:nvSpPr>
          <p:cNvPr id="13" name="Shape 11"/>
          <p:cNvSpPr/>
          <p:nvPr/>
        </p:nvSpPr>
        <p:spPr>
          <a:xfrm>
            <a:off x="594360" y="1536192"/>
            <a:ext cx="45720" cy="987552"/>
          </a:xfrm>
          <a:prstGeom prst="rect">
            <a:avLst>
              <a:gd name="adj" fmla="val 120000"/>
            </a:avLst>
          </a:prstGeom>
          <a:solidFill>
            <a:srgbClr val="6C63FF"/>
          </a:solidFill>
          <a:ln/>
        </p:spPr>
      </p:sp>
      <p:sp>
        <p:nvSpPr>
          <p:cNvPr id="14" name="Shape 12"/>
          <p:cNvSpPr/>
          <p:nvPr/>
        </p:nvSpPr>
        <p:spPr>
          <a:xfrm>
            <a:off x="722376" y="189280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6C63FF"/>
          </a:solidFill>
          <a:ln/>
        </p:spPr>
      </p:sp>
      <p:sp>
        <p:nvSpPr>
          <p:cNvPr id="15" name="Text 13"/>
          <p:cNvSpPr/>
          <p:nvPr/>
        </p:nvSpPr>
        <p:spPr>
          <a:xfrm>
            <a:off x="722376" y="18928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69848" y="1563624"/>
            <a:ext cx="483854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**Análise Documental:** Revisão de legislação, normas internas, contratos e relatórios de gestão, incluindo amostragem e conferência de cálculos.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21792" y="2633472"/>
            <a:ext cx="5387188" cy="987552"/>
          </a:xfrm>
          <a:prstGeom prst="roundRect">
            <a:avLst>
              <a:gd name="adj" fmla="val 9259"/>
            </a:avLst>
          </a:prstGeom>
          <a:solidFill>
            <a:srgbClr val="000000"/>
          </a:solidFill>
          <a:ln/>
        </p:spPr>
      </p:sp>
      <p:sp>
        <p:nvSpPr>
          <p:cNvPr id="18" name="Shape 16"/>
          <p:cNvSpPr/>
          <p:nvPr/>
        </p:nvSpPr>
        <p:spPr>
          <a:xfrm>
            <a:off x="594360" y="2596896"/>
            <a:ext cx="5387188" cy="987552"/>
          </a:xfrm>
          <a:prstGeom prst="roundRect">
            <a:avLst>
              <a:gd name="adj" fmla="val 5556"/>
            </a:avLst>
          </a:prstGeom>
          <a:solidFill>
            <a:srgbClr val="141E34"/>
          </a:solidFill>
          <a:ln/>
        </p:spPr>
      </p:sp>
      <p:sp>
        <p:nvSpPr>
          <p:cNvPr id="19" name="Shape 17"/>
          <p:cNvSpPr/>
          <p:nvPr/>
        </p:nvSpPr>
        <p:spPr>
          <a:xfrm>
            <a:off x="594360" y="2596896"/>
            <a:ext cx="45720" cy="987552"/>
          </a:xfrm>
          <a:prstGeom prst="rect">
            <a:avLst>
              <a:gd name="adj" fmla="val 120000"/>
            </a:avLst>
          </a:prstGeom>
          <a:solidFill>
            <a:srgbClr val="3B82F6"/>
          </a:solidFill>
          <a:ln/>
        </p:spPr>
      </p:sp>
      <p:sp>
        <p:nvSpPr>
          <p:cNvPr id="20" name="Shape 18"/>
          <p:cNvSpPr/>
          <p:nvPr/>
        </p:nvSpPr>
        <p:spPr>
          <a:xfrm>
            <a:off x="722376" y="295351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3B82F6"/>
          </a:solidFill>
          <a:ln/>
        </p:spPr>
      </p:sp>
      <p:sp>
        <p:nvSpPr>
          <p:cNvPr id="21" name="Text 19"/>
          <p:cNvSpPr/>
          <p:nvPr/>
        </p:nvSpPr>
        <p:spPr>
          <a:xfrm>
            <a:off x="722376" y="295351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69848" y="2624328"/>
            <a:ext cx="483854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**Cuidado Essencial:** Verificar sempre a autenticidade e a integridade de todos os documentos analisados.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21792" y="3694176"/>
            <a:ext cx="5387188" cy="987552"/>
          </a:xfrm>
          <a:prstGeom prst="roundRect">
            <a:avLst>
              <a:gd name="adj" fmla="val 9259"/>
            </a:avLst>
          </a:prstGeom>
          <a:solidFill>
            <a:srgbClr val="000000"/>
          </a:solidFill>
          <a:ln/>
        </p:spPr>
      </p:sp>
      <p:sp>
        <p:nvSpPr>
          <p:cNvPr id="24" name="Shape 22"/>
          <p:cNvSpPr/>
          <p:nvPr/>
        </p:nvSpPr>
        <p:spPr>
          <a:xfrm>
            <a:off x="594360" y="3657600"/>
            <a:ext cx="5387188" cy="987552"/>
          </a:xfrm>
          <a:prstGeom prst="roundRect">
            <a:avLst>
              <a:gd name="adj" fmla="val 5556"/>
            </a:avLst>
          </a:prstGeom>
          <a:solidFill>
            <a:srgbClr val="141E34"/>
          </a:solidFill>
          <a:ln/>
        </p:spPr>
      </p:sp>
      <p:sp>
        <p:nvSpPr>
          <p:cNvPr id="25" name="Shape 23"/>
          <p:cNvSpPr/>
          <p:nvPr/>
        </p:nvSpPr>
        <p:spPr>
          <a:xfrm>
            <a:off x="594360" y="3657600"/>
            <a:ext cx="45720" cy="987552"/>
          </a:xfrm>
          <a:prstGeom prst="rect">
            <a:avLst>
              <a:gd name="adj" fmla="val 120000"/>
            </a:avLst>
          </a:prstGeom>
          <a:solidFill>
            <a:srgbClr val="10B981"/>
          </a:solidFill>
          <a:ln/>
        </p:spPr>
      </p:sp>
      <p:sp>
        <p:nvSpPr>
          <p:cNvPr id="26" name="Shape 24"/>
          <p:cNvSpPr/>
          <p:nvPr/>
        </p:nvSpPr>
        <p:spPr>
          <a:xfrm>
            <a:off x="722376" y="401421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/>
        </p:spPr>
      </p:sp>
      <p:sp>
        <p:nvSpPr>
          <p:cNvPr id="27" name="Text 25"/>
          <p:cNvSpPr/>
          <p:nvPr/>
        </p:nvSpPr>
        <p:spPr>
          <a:xfrm>
            <a:off x="722376" y="40142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69848" y="3685032"/>
            <a:ext cx="483854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**Entrevistas:** Conversas estruturadas com pessoas-chave, com planejamento, preparação e condução (perguntas abertas e escuta).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621792" y="4754880"/>
            <a:ext cx="5387188" cy="987552"/>
          </a:xfrm>
          <a:prstGeom prst="roundRect">
            <a:avLst>
              <a:gd name="adj" fmla="val 9259"/>
            </a:avLst>
          </a:prstGeom>
          <a:solidFill>
            <a:srgbClr val="000000"/>
          </a:solidFill>
          <a:ln/>
        </p:spPr>
      </p:sp>
      <p:sp>
        <p:nvSpPr>
          <p:cNvPr id="30" name="Shape 28"/>
          <p:cNvSpPr/>
          <p:nvPr/>
        </p:nvSpPr>
        <p:spPr>
          <a:xfrm>
            <a:off x="594360" y="4718304"/>
            <a:ext cx="5387188" cy="987552"/>
          </a:xfrm>
          <a:prstGeom prst="roundRect">
            <a:avLst>
              <a:gd name="adj" fmla="val 5556"/>
            </a:avLst>
          </a:prstGeom>
          <a:solidFill>
            <a:srgbClr val="141E34"/>
          </a:solidFill>
          <a:ln/>
        </p:spPr>
      </p:sp>
      <p:sp>
        <p:nvSpPr>
          <p:cNvPr id="31" name="Shape 29"/>
          <p:cNvSpPr/>
          <p:nvPr/>
        </p:nvSpPr>
        <p:spPr>
          <a:xfrm>
            <a:off x="594360" y="4718304"/>
            <a:ext cx="45720" cy="987552"/>
          </a:xfrm>
          <a:prstGeom prst="rect">
            <a:avLst>
              <a:gd name="adj" fmla="val 120000"/>
            </a:avLst>
          </a:prstGeom>
          <a:solidFill>
            <a:srgbClr val="F59E0B"/>
          </a:solidFill>
          <a:ln/>
        </p:spPr>
      </p:sp>
      <p:sp>
        <p:nvSpPr>
          <p:cNvPr id="32" name="Shape 30"/>
          <p:cNvSpPr/>
          <p:nvPr/>
        </p:nvSpPr>
        <p:spPr>
          <a:xfrm>
            <a:off x="722376" y="507492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F59E0B"/>
          </a:solidFill>
          <a:ln/>
        </p:spPr>
      </p:sp>
      <p:sp>
        <p:nvSpPr>
          <p:cNvPr id="33" name="Text 31"/>
          <p:cNvSpPr/>
          <p:nvPr/>
        </p:nvSpPr>
        <p:spPr>
          <a:xfrm>
            <a:off x="722376" y="50749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069848" y="4745736"/>
            <a:ext cx="483854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**Atenção:** Evidências testemunhais ganham confiabilidade quando corroboradas por documentos ou outras fontes.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6329020" y="1572768"/>
            <a:ext cx="5387188" cy="987552"/>
          </a:xfrm>
          <a:prstGeom prst="roundRect">
            <a:avLst>
              <a:gd name="adj" fmla="val 9259"/>
            </a:avLst>
          </a:prstGeom>
          <a:solidFill>
            <a:srgbClr val="000000"/>
          </a:solidFill>
          <a:ln/>
        </p:spPr>
      </p:sp>
      <p:sp>
        <p:nvSpPr>
          <p:cNvPr id="36" name="Shape 34"/>
          <p:cNvSpPr/>
          <p:nvPr/>
        </p:nvSpPr>
        <p:spPr>
          <a:xfrm>
            <a:off x="6301588" y="1536192"/>
            <a:ext cx="5387188" cy="987552"/>
          </a:xfrm>
          <a:prstGeom prst="roundRect">
            <a:avLst>
              <a:gd name="adj" fmla="val 5556"/>
            </a:avLst>
          </a:prstGeom>
          <a:solidFill>
            <a:srgbClr val="141E34"/>
          </a:solidFill>
          <a:ln/>
        </p:spPr>
      </p:sp>
      <p:sp>
        <p:nvSpPr>
          <p:cNvPr id="37" name="Shape 35"/>
          <p:cNvSpPr/>
          <p:nvPr/>
        </p:nvSpPr>
        <p:spPr>
          <a:xfrm>
            <a:off x="6301588" y="1536192"/>
            <a:ext cx="45720" cy="987552"/>
          </a:xfrm>
          <a:prstGeom prst="rect">
            <a:avLst>
              <a:gd name="adj" fmla="val 120000"/>
            </a:avLst>
          </a:prstGeom>
          <a:solidFill>
            <a:srgbClr val="06B6D4"/>
          </a:solidFill>
          <a:ln/>
        </p:spPr>
      </p:sp>
      <p:sp>
        <p:nvSpPr>
          <p:cNvPr id="38" name="Shape 36"/>
          <p:cNvSpPr/>
          <p:nvPr/>
        </p:nvSpPr>
        <p:spPr>
          <a:xfrm>
            <a:off x="6429604" y="189280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6B6D4"/>
          </a:solidFill>
          <a:ln/>
        </p:spPr>
      </p:sp>
      <p:sp>
        <p:nvSpPr>
          <p:cNvPr id="39" name="Text 37"/>
          <p:cNvSpPr/>
          <p:nvPr/>
        </p:nvSpPr>
        <p:spPr>
          <a:xfrm>
            <a:off x="6429604" y="18928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777076" y="1563624"/>
            <a:ext cx="483854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**Observação:** Acompanhamento direto e in loco de atividades e processos, registrando detalhes e usando fotos/vídeos.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6329020" y="2633472"/>
            <a:ext cx="5387188" cy="987552"/>
          </a:xfrm>
          <a:prstGeom prst="roundRect">
            <a:avLst>
              <a:gd name="adj" fmla="val 9259"/>
            </a:avLst>
          </a:prstGeom>
          <a:solidFill>
            <a:srgbClr val="000000"/>
          </a:solidFill>
          <a:ln/>
        </p:spPr>
      </p:sp>
      <p:sp>
        <p:nvSpPr>
          <p:cNvPr id="42" name="Shape 40"/>
          <p:cNvSpPr/>
          <p:nvPr/>
        </p:nvSpPr>
        <p:spPr>
          <a:xfrm>
            <a:off x="6301588" y="2596896"/>
            <a:ext cx="5387188" cy="987552"/>
          </a:xfrm>
          <a:prstGeom prst="roundRect">
            <a:avLst>
              <a:gd name="adj" fmla="val 5556"/>
            </a:avLst>
          </a:prstGeom>
          <a:solidFill>
            <a:srgbClr val="141E34"/>
          </a:solidFill>
          <a:ln/>
        </p:spPr>
      </p:sp>
      <p:sp>
        <p:nvSpPr>
          <p:cNvPr id="43" name="Shape 41"/>
          <p:cNvSpPr/>
          <p:nvPr/>
        </p:nvSpPr>
        <p:spPr>
          <a:xfrm>
            <a:off x="6301588" y="2596896"/>
            <a:ext cx="45720" cy="987552"/>
          </a:xfrm>
          <a:prstGeom prst="rect">
            <a:avLst>
              <a:gd name="adj" fmla="val 120000"/>
            </a:avLst>
          </a:prstGeom>
          <a:solidFill>
            <a:srgbClr val="6C63FF"/>
          </a:solidFill>
          <a:ln/>
        </p:spPr>
      </p:sp>
      <p:sp>
        <p:nvSpPr>
          <p:cNvPr id="44" name="Shape 42"/>
          <p:cNvSpPr/>
          <p:nvPr/>
        </p:nvSpPr>
        <p:spPr>
          <a:xfrm>
            <a:off x="6429604" y="295351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6C63FF"/>
          </a:solidFill>
          <a:ln/>
        </p:spPr>
      </p:sp>
      <p:sp>
        <p:nvSpPr>
          <p:cNvPr id="45" name="Text 43"/>
          <p:cNvSpPr/>
          <p:nvPr/>
        </p:nvSpPr>
        <p:spPr>
          <a:xfrm>
            <a:off x="6429604" y="295351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777076" y="2624328"/>
            <a:ext cx="483854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**Testes:** Procedimentos para avaliar a eficácia dos controles internos e conformidade das transações.</a:t>
            </a:r>
            <a:endParaRPr lang="en-US" sz="1500" dirty="0"/>
          </a:p>
        </p:txBody>
      </p:sp>
      <p:sp>
        <p:nvSpPr>
          <p:cNvPr id="47" name="Shape 45"/>
          <p:cNvSpPr/>
          <p:nvPr/>
        </p:nvSpPr>
        <p:spPr>
          <a:xfrm>
            <a:off x="6329020" y="3694176"/>
            <a:ext cx="5387188" cy="987552"/>
          </a:xfrm>
          <a:prstGeom prst="roundRect">
            <a:avLst>
              <a:gd name="adj" fmla="val 9259"/>
            </a:avLst>
          </a:prstGeom>
          <a:solidFill>
            <a:srgbClr val="000000"/>
          </a:solidFill>
          <a:ln/>
        </p:spPr>
      </p:sp>
      <p:sp>
        <p:nvSpPr>
          <p:cNvPr id="48" name="Shape 46"/>
          <p:cNvSpPr/>
          <p:nvPr/>
        </p:nvSpPr>
        <p:spPr>
          <a:xfrm>
            <a:off x="6301588" y="3657600"/>
            <a:ext cx="5387188" cy="987552"/>
          </a:xfrm>
          <a:prstGeom prst="roundRect">
            <a:avLst>
              <a:gd name="adj" fmla="val 5556"/>
            </a:avLst>
          </a:prstGeom>
          <a:solidFill>
            <a:srgbClr val="141E34"/>
          </a:solidFill>
          <a:ln/>
        </p:spPr>
      </p:sp>
      <p:sp>
        <p:nvSpPr>
          <p:cNvPr id="49" name="Shape 47"/>
          <p:cNvSpPr/>
          <p:nvPr/>
        </p:nvSpPr>
        <p:spPr>
          <a:xfrm>
            <a:off x="6301588" y="3657600"/>
            <a:ext cx="45720" cy="987552"/>
          </a:xfrm>
          <a:prstGeom prst="rect">
            <a:avLst>
              <a:gd name="adj" fmla="val 120000"/>
            </a:avLst>
          </a:prstGeom>
          <a:solidFill>
            <a:srgbClr val="3B82F6"/>
          </a:solidFill>
          <a:ln/>
        </p:spPr>
      </p:sp>
      <p:sp>
        <p:nvSpPr>
          <p:cNvPr id="50" name="Shape 48"/>
          <p:cNvSpPr/>
          <p:nvPr/>
        </p:nvSpPr>
        <p:spPr>
          <a:xfrm>
            <a:off x="6429604" y="401421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3B82F6"/>
          </a:solidFill>
          <a:ln/>
        </p:spPr>
      </p:sp>
      <p:sp>
        <p:nvSpPr>
          <p:cNvPr id="51" name="Text 49"/>
          <p:cNvSpPr/>
          <p:nvPr/>
        </p:nvSpPr>
        <p:spPr>
          <a:xfrm>
            <a:off x="6429604" y="40142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6777076" y="3685032"/>
            <a:ext cx="483854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**Testes de Adimplência:** Verificam se os controles operam como esperado, focando na conformidade das operações.</a:t>
            </a:r>
            <a:endParaRPr lang="en-US" sz="1500" dirty="0"/>
          </a:p>
        </p:txBody>
      </p:sp>
      <p:sp>
        <p:nvSpPr>
          <p:cNvPr id="53" name="Shape 51"/>
          <p:cNvSpPr/>
          <p:nvPr/>
        </p:nvSpPr>
        <p:spPr>
          <a:xfrm>
            <a:off x="6329020" y="4754880"/>
            <a:ext cx="5387188" cy="987552"/>
          </a:xfrm>
          <a:prstGeom prst="roundRect">
            <a:avLst>
              <a:gd name="adj" fmla="val 9259"/>
            </a:avLst>
          </a:prstGeom>
          <a:solidFill>
            <a:srgbClr val="000000"/>
          </a:solidFill>
          <a:ln/>
        </p:spPr>
      </p:sp>
      <p:sp>
        <p:nvSpPr>
          <p:cNvPr id="54" name="Shape 52"/>
          <p:cNvSpPr/>
          <p:nvPr/>
        </p:nvSpPr>
        <p:spPr>
          <a:xfrm>
            <a:off x="6301588" y="4718304"/>
            <a:ext cx="5387188" cy="987552"/>
          </a:xfrm>
          <a:prstGeom prst="roundRect">
            <a:avLst>
              <a:gd name="adj" fmla="val 5556"/>
            </a:avLst>
          </a:prstGeom>
          <a:solidFill>
            <a:srgbClr val="141E34"/>
          </a:solidFill>
          <a:ln/>
        </p:spPr>
      </p:sp>
      <p:sp>
        <p:nvSpPr>
          <p:cNvPr id="55" name="Shape 53"/>
          <p:cNvSpPr/>
          <p:nvPr/>
        </p:nvSpPr>
        <p:spPr>
          <a:xfrm>
            <a:off x="6301588" y="4718304"/>
            <a:ext cx="45720" cy="987552"/>
          </a:xfrm>
          <a:prstGeom prst="rect">
            <a:avLst>
              <a:gd name="adj" fmla="val 120000"/>
            </a:avLst>
          </a:prstGeom>
          <a:solidFill>
            <a:srgbClr val="10B981"/>
          </a:solidFill>
          <a:ln/>
        </p:spPr>
      </p:sp>
      <p:sp>
        <p:nvSpPr>
          <p:cNvPr id="56" name="Shape 54"/>
          <p:cNvSpPr/>
          <p:nvPr/>
        </p:nvSpPr>
        <p:spPr>
          <a:xfrm>
            <a:off x="6429604" y="507492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/>
        </p:spPr>
      </p:sp>
      <p:sp>
        <p:nvSpPr>
          <p:cNvPr id="57" name="Text 55"/>
          <p:cNvSpPr/>
          <p:nvPr/>
        </p:nvSpPr>
        <p:spPr>
          <a:xfrm>
            <a:off x="6429604" y="50749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6777076" y="4745736"/>
            <a:ext cx="483854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**Testes Substantivos:** Avaliam a validade, exatidão e integridade das informações financeiras ou operacionais.</a:t>
            </a:r>
            <a:endParaRPr lang="en-US" sz="1500" dirty="0"/>
          </a:p>
        </p:txBody>
      </p:sp>
      <p:sp>
        <p:nvSpPr>
          <p:cNvPr id="59" name="Shape 57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60" name="Shape 58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61" name="Shape 59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62" name="Shape 60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63" name="Shape 61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64" name="Shape 62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65" name="Shape 63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66" name="Text 64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16 / 48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F59E0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RECURSOS E TÉCNICAS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493776"/>
            <a:ext cx="640080" cy="2194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Análise de Dados e Ferramentas Auxiliares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389888"/>
            <a:ext cx="11185855" cy="7315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408176"/>
            <a:ext cx="11185855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9" name="Shape 7"/>
          <p:cNvSpPr/>
          <p:nvPr/>
        </p:nvSpPr>
        <p:spPr>
          <a:xfrm>
            <a:off x="621792" y="1572768"/>
            <a:ext cx="5487772" cy="2286000"/>
          </a:xfrm>
          <a:prstGeom prst="roundRect">
            <a:avLst>
              <a:gd name="adj" fmla="val 4000"/>
            </a:avLst>
          </a:prstGeom>
          <a:solidFill>
            <a:srgbClr val="000000"/>
          </a:solidFill>
          <a:ln/>
        </p:spPr>
      </p:sp>
      <p:sp>
        <p:nvSpPr>
          <p:cNvPr id="10" name="Shape 8"/>
          <p:cNvSpPr/>
          <p:nvPr/>
        </p:nvSpPr>
        <p:spPr>
          <a:xfrm>
            <a:off x="594360" y="1536192"/>
            <a:ext cx="5487772" cy="2286000"/>
          </a:xfrm>
          <a:prstGeom prst="roundRect">
            <a:avLst>
              <a:gd name="adj" fmla="val 4000"/>
            </a:avLst>
          </a:prstGeom>
          <a:solidFill>
            <a:srgbClr val="141E34"/>
          </a:solidFill>
          <a:ln/>
        </p:spPr>
      </p:sp>
      <p:sp>
        <p:nvSpPr>
          <p:cNvPr id="11" name="Shape 9"/>
          <p:cNvSpPr/>
          <p:nvPr/>
        </p:nvSpPr>
        <p:spPr>
          <a:xfrm>
            <a:off x="594360" y="1536192"/>
            <a:ext cx="5487772" cy="45720"/>
          </a:xfrm>
          <a:prstGeom prst="rect">
            <a:avLst>
              <a:gd name="adj" fmla="val 200000"/>
            </a:avLst>
          </a:prstGeom>
          <a:solidFill>
            <a:srgbClr val="6C63FF"/>
          </a:solidFill>
          <a:ln/>
        </p:spPr>
      </p:sp>
      <p:sp>
        <p:nvSpPr>
          <p:cNvPr id="12" name="Shape 10"/>
          <p:cNvSpPr/>
          <p:nvPr/>
        </p:nvSpPr>
        <p:spPr>
          <a:xfrm>
            <a:off x="685800" y="166420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6C63FF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16642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088" dirty="0"/>
          </a:p>
        </p:txBody>
      </p:sp>
      <p:sp>
        <p:nvSpPr>
          <p:cNvPr id="14" name="Text 12"/>
          <p:cNvSpPr/>
          <p:nvPr/>
        </p:nvSpPr>
        <p:spPr>
          <a:xfrm>
            <a:off x="1051560" y="1645920"/>
            <a:ext cx="49391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6C63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**Softwares de Análise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85800" y="2048256"/>
            <a:ext cx="5304892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16" name="Text 14"/>
          <p:cNvSpPr/>
          <p:nvPr/>
        </p:nvSpPr>
        <p:spPr>
          <a:xfrm>
            <a:off x="704088" y="2121408"/>
            <a:ext cx="5268316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** Uso de ACL, IDEA, Excel para extrair, limpar e analisar grandes volumes de dados de forma eficiente.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74156" y="1572768"/>
            <a:ext cx="5487772" cy="2286000"/>
          </a:xfrm>
          <a:prstGeom prst="roundRect">
            <a:avLst>
              <a:gd name="adj" fmla="val 4000"/>
            </a:avLst>
          </a:prstGeom>
          <a:solidFill>
            <a:srgbClr val="000000"/>
          </a:solidFill>
          <a:ln/>
        </p:spPr>
      </p:sp>
      <p:sp>
        <p:nvSpPr>
          <p:cNvPr id="18" name="Shape 16"/>
          <p:cNvSpPr/>
          <p:nvPr/>
        </p:nvSpPr>
        <p:spPr>
          <a:xfrm>
            <a:off x="6246724" y="1536192"/>
            <a:ext cx="5487772" cy="2286000"/>
          </a:xfrm>
          <a:prstGeom prst="roundRect">
            <a:avLst>
              <a:gd name="adj" fmla="val 4000"/>
            </a:avLst>
          </a:prstGeom>
          <a:solidFill>
            <a:srgbClr val="141E34"/>
          </a:solidFill>
          <a:ln/>
        </p:spPr>
      </p:sp>
      <p:sp>
        <p:nvSpPr>
          <p:cNvPr id="19" name="Shape 17"/>
          <p:cNvSpPr/>
          <p:nvPr/>
        </p:nvSpPr>
        <p:spPr>
          <a:xfrm>
            <a:off x="6246724" y="1536192"/>
            <a:ext cx="5487772" cy="45720"/>
          </a:xfrm>
          <a:prstGeom prst="rect">
            <a:avLst>
              <a:gd name="adj" fmla="val 200000"/>
            </a:avLst>
          </a:prstGeom>
          <a:solidFill>
            <a:srgbClr val="3B82F6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8164" y="166420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3B82F6"/>
          </a:solidFill>
          <a:ln/>
        </p:spPr>
      </p:sp>
      <p:sp>
        <p:nvSpPr>
          <p:cNvPr id="21" name="Text 19"/>
          <p:cNvSpPr/>
          <p:nvPr/>
        </p:nvSpPr>
        <p:spPr>
          <a:xfrm>
            <a:off x="6338164" y="16642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088" dirty="0"/>
          </a:p>
        </p:txBody>
      </p:sp>
      <p:sp>
        <p:nvSpPr>
          <p:cNvPr id="22" name="Text 20"/>
          <p:cNvSpPr/>
          <p:nvPr/>
        </p:nvSpPr>
        <p:spPr>
          <a:xfrm>
            <a:off x="6703924" y="1645920"/>
            <a:ext cx="49391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3B82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**Visualização de Dados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338164" y="2048256"/>
            <a:ext cx="5304892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24" name="Text 22"/>
          <p:cNvSpPr/>
          <p:nvPr/>
        </p:nvSpPr>
        <p:spPr>
          <a:xfrm>
            <a:off x="6356452" y="2121408"/>
            <a:ext cx="5268316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** Ferramentas como Tableau e Power BI para identificar tendências, padrões e anomalias nos dados.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21792" y="4023360"/>
            <a:ext cx="5487772" cy="2286000"/>
          </a:xfrm>
          <a:prstGeom prst="roundRect">
            <a:avLst>
              <a:gd name="adj" fmla="val 4000"/>
            </a:avLst>
          </a:prstGeom>
          <a:solidFill>
            <a:srgbClr val="000000"/>
          </a:solidFill>
          <a:ln/>
        </p:spPr>
      </p:sp>
      <p:sp>
        <p:nvSpPr>
          <p:cNvPr id="26" name="Shape 24"/>
          <p:cNvSpPr/>
          <p:nvPr/>
        </p:nvSpPr>
        <p:spPr>
          <a:xfrm>
            <a:off x="594360" y="3986784"/>
            <a:ext cx="5487772" cy="2286000"/>
          </a:xfrm>
          <a:prstGeom prst="roundRect">
            <a:avLst>
              <a:gd name="adj" fmla="val 4000"/>
            </a:avLst>
          </a:prstGeom>
          <a:solidFill>
            <a:srgbClr val="141E34"/>
          </a:solidFill>
          <a:ln/>
        </p:spPr>
      </p:sp>
      <p:sp>
        <p:nvSpPr>
          <p:cNvPr id="27" name="Shape 25"/>
          <p:cNvSpPr/>
          <p:nvPr/>
        </p:nvSpPr>
        <p:spPr>
          <a:xfrm>
            <a:off x="594360" y="3986784"/>
            <a:ext cx="5487772" cy="45720"/>
          </a:xfrm>
          <a:prstGeom prst="rect">
            <a:avLst>
              <a:gd name="adj" fmla="val 200000"/>
            </a:avLst>
          </a:prstGeom>
          <a:solidFill>
            <a:srgbClr val="10B981"/>
          </a:solidFill>
          <a:ln/>
        </p:spPr>
      </p:sp>
      <p:sp>
        <p:nvSpPr>
          <p:cNvPr id="28" name="Shape 26"/>
          <p:cNvSpPr/>
          <p:nvPr/>
        </p:nvSpPr>
        <p:spPr>
          <a:xfrm>
            <a:off x="685800" y="411480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0B981"/>
          </a:solidFill>
          <a:ln/>
        </p:spPr>
      </p:sp>
      <p:sp>
        <p:nvSpPr>
          <p:cNvPr id="29" name="Text 27"/>
          <p:cNvSpPr/>
          <p:nvPr/>
        </p:nvSpPr>
        <p:spPr>
          <a:xfrm>
            <a:off x="685800" y="41148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088" dirty="0"/>
          </a:p>
        </p:txBody>
      </p:sp>
      <p:sp>
        <p:nvSpPr>
          <p:cNvPr id="30" name="Text 28"/>
          <p:cNvSpPr/>
          <p:nvPr/>
        </p:nvSpPr>
        <p:spPr>
          <a:xfrm>
            <a:off x="1051560" y="4096512"/>
            <a:ext cx="49391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0B98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**Benchmarking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685800" y="4498848"/>
            <a:ext cx="5304892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32" name="Text 30"/>
          <p:cNvSpPr/>
          <p:nvPr/>
        </p:nvSpPr>
        <p:spPr>
          <a:xfrm>
            <a:off x="704088" y="4572000"/>
            <a:ext cx="5268316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** Comparação do desempenho da entidade auditada com parâmetros e referências de mercado ou melhores práticas.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274156" y="4023360"/>
            <a:ext cx="5487772" cy="2286000"/>
          </a:xfrm>
          <a:prstGeom prst="roundRect">
            <a:avLst>
              <a:gd name="adj" fmla="val 4000"/>
            </a:avLst>
          </a:prstGeom>
          <a:solidFill>
            <a:srgbClr val="000000"/>
          </a:solidFill>
          <a:ln/>
        </p:spPr>
      </p:sp>
      <p:sp>
        <p:nvSpPr>
          <p:cNvPr id="34" name="Shape 32"/>
          <p:cNvSpPr/>
          <p:nvPr/>
        </p:nvSpPr>
        <p:spPr>
          <a:xfrm>
            <a:off x="6246724" y="3986784"/>
            <a:ext cx="5487772" cy="2286000"/>
          </a:xfrm>
          <a:prstGeom prst="roundRect">
            <a:avLst>
              <a:gd name="adj" fmla="val 4000"/>
            </a:avLst>
          </a:prstGeom>
          <a:solidFill>
            <a:srgbClr val="141E34"/>
          </a:solidFill>
          <a:ln/>
        </p:spPr>
      </p:sp>
      <p:sp>
        <p:nvSpPr>
          <p:cNvPr id="35" name="Shape 33"/>
          <p:cNvSpPr/>
          <p:nvPr/>
        </p:nvSpPr>
        <p:spPr>
          <a:xfrm>
            <a:off x="6246724" y="3986784"/>
            <a:ext cx="5487772" cy="45720"/>
          </a:xfrm>
          <a:prstGeom prst="rect">
            <a:avLst>
              <a:gd name="adj" fmla="val 200000"/>
            </a:avLst>
          </a:prstGeom>
          <a:solidFill>
            <a:srgbClr val="F59E0B"/>
          </a:solidFill>
          <a:ln/>
        </p:spPr>
      </p:sp>
      <p:sp>
        <p:nvSpPr>
          <p:cNvPr id="36" name="Shape 34"/>
          <p:cNvSpPr/>
          <p:nvPr/>
        </p:nvSpPr>
        <p:spPr>
          <a:xfrm>
            <a:off x="6338164" y="411480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F59E0B"/>
          </a:solidFill>
          <a:ln/>
        </p:spPr>
      </p:sp>
      <p:sp>
        <p:nvSpPr>
          <p:cNvPr id="37" name="Text 35"/>
          <p:cNvSpPr/>
          <p:nvPr/>
        </p:nvSpPr>
        <p:spPr>
          <a:xfrm>
            <a:off x="6338164" y="41148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088" dirty="0"/>
          </a:p>
        </p:txBody>
      </p:sp>
      <p:sp>
        <p:nvSpPr>
          <p:cNvPr id="38" name="Text 36"/>
          <p:cNvSpPr/>
          <p:nvPr/>
        </p:nvSpPr>
        <p:spPr>
          <a:xfrm>
            <a:off x="6703924" y="4096512"/>
            <a:ext cx="49391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59E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**Questionários/Pesquisas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6338164" y="4498848"/>
            <a:ext cx="5304892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40" name="Text 38"/>
          <p:cNvSpPr/>
          <p:nvPr/>
        </p:nvSpPr>
        <p:spPr>
          <a:xfrm>
            <a:off x="6356452" y="4572000"/>
            <a:ext cx="5268316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** Coleta padronizada de informações de um grupo de pessoas, útil para levantar perpectivas.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2" name="Shape 40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3" name="Shape 41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4" name="Shape 42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5" name="Shape 43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6" name="Shape 44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7" name="Shape 45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48" name="Text 46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17 / 48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6C63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MODELOS DE EVIDÊNCIA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493776"/>
            <a:ext cx="640080" cy="21946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Classificação da Confiabilidade das Evidências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389888"/>
            <a:ext cx="11185855" cy="7315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408176"/>
            <a:ext cx="11185855" cy="3658"/>
          </a:xfrm>
          <a:prstGeom prst="rect">
            <a:avLst/>
          </a:prstGeom>
          <a:solidFill>
            <a:srgbClr val="222E48"/>
          </a:solidFill>
          <a:ln/>
        </p:spPr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536192"/>
          <a:ext cx="11140135" cy="914400"/>
        </p:xfrm>
        <a:graphic>
          <a:graphicData uri="http://schemas.openxmlformats.org/drawingml/2006/table">
            <a:tbl>
              <a:tblPr/>
              <a:tblGrid>
                <a:gridCol w="2785034"/>
                <a:gridCol w="2785034"/>
                <a:gridCol w="2785034"/>
                <a:gridCol w="2785034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Aspecto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63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Evidência Direta / Independente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63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Evidência Interna (Confiabilidade Alta)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63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Evidência Oral (Confiabilidade Baixa)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63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Origem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Coletada pelo auditor ou fonte externa imparcial.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Documentos/registros internos com controles robustos.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Declarações de indivíduos em entrevistas ou depoimentos.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Integridade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8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Muito alta, verificável e pouco sujeita à manipulação.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8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Alta, controlada por processos internos sólidos.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8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Baixa, requer corroboração e pode ser enviesada.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84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Exemplo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Observação direta de obra, confirmação bancária.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Relatório financeiro de ERP, contrato formal.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Relatos de gestores sem comprovantes.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Uso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8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Base sólida para conclusões, alto convencimento.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8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Forte suporte para achados e validação de controles.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8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Útil para identificar novos caminhos e levantar hipóteses.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848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1" name="Shape 8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2" name="Shape 9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3" name="Shape 10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4" name="Shape 11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5" name="Shape 12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6" name="Shape 13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17" name="Text 14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18 / 48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F59E0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APLICAÇÕES REAIS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493776"/>
            <a:ext cx="640080" cy="2194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Aplicações de Auditoria Operacional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389888"/>
            <a:ext cx="11185855" cy="7315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408176"/>
            <a:ext cx="11185855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9" name="Shape 7"/>
          <p:cNvSpPr/>
          <p:nvPr/>
        </p:nvSpPr>
        <p:spPr>
          <a:xfrm>
            <a:off x="621792" y="1572768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000000"/>
          </a:solidFill>
          <a:ln/>
        </p:spPr>
      </p:sp>
      <p:sp>
        <p:nvSpPr>
          <p:cNvPr id="10" name="Shape 8"/>
          <p:cNvSpPr/>
          <p:nvPr/>
        </p:nvSpPr>
        <p:spPr>
          <a:xfrm>
            <a:off x="594360" y="1536192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141E34"/>
          </a:solidFill>
          <a:ln/>
        </p:spPr>
      </p:sp>
      <p:sp>
        <p:nvSpPr>
          <p:cNvPr id="11" name="Shape 9"/>
          <p:cNvSpPr/>
          <p:nvPr/>
        </p:nvSpPr>
        <p:spPr>
          <a:xfrm>
            <a:off x="594360" y="1536192"/>
            <a:ext cx="3603650" cy="45720"/>
          </a:xfrm>
          <a:prstGeom prst="rect">
            <a:avLst>
              <a:gd name="adj" fmla="val 200000"/>
            </a:avLst>
          </a:prstGeom>
          <a:solidFill>
            <a:srgbClr val="6C63FF"/>
          </a:solidFill>
          <a:ln/>
        </p:spPr>
      </p:sp>
      <p:sp>
        <p:nvSpPr>
          <p:cNvPr id="12" name="Shape 10"/>
          <p:cNvSpPr/>
          <p:nvPr/>
        </p:nvSpPr>
        <p:spPr>
          <a:xfrm>
            <a:off x="685800" y="166420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6C63FF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16642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088" dirty="0"/>
          </a:p>
        </p:txBody>
      </p:sp>
      <p:sp>
        <p:nvSpPr>
          <p:cNvPr id="14" name="Text 12"/>
          <p:cNvSpPr/>
          <p:nvPr/>
        </p:nvSpPr>
        <p:spPr>
          <a:xfrm>
            <a:off x="1051560" y="1645920"/>
            <a:ext cx="305501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6C63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**Programas Sociais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85800" y="2048256"/>
            <a:ext cx="3420770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16" name="Text 14"/>
          <p:cNvSpPr/>
          <p:nvPr/>
        </p:nvSpPr>
        <p:spPr>
          <a:xfrm>
            <a:off x="704088" y="2121408"/>
            <a:ext cx="3384194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** Verificar a eficácia por meio de listas de beneficiários e entrevistas com os participantes.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390034" y="1572768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000000"/>
          </a:solidFill>
          <a:ln/>
        </p:spPr>
      </p:sp>
      <p:sp>
        <p:nvSpPr>
          <p:cNvPr id="18" name="Shape 16"/>
          <p:cNvSpPr/>
          <p:nvPr/>
        </p:nvSpPr>
        <p:spPr>
          <a:xfrm>
            <a:off x="4362602" y="1536192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141E34"/>
          </a:solidFill>
          <a:ln/>
        </p:spPr>
      </p:sp>
      <p:sp>
        <p:nvSpPr>
          <p:cNvPr id="19" name="Shape 17"/>
          <p:cNvSpPr/>
          <p:nvPr/>
        </p:nvSpPr>
        <p:spPr>
          <a:xfrm>
            <a:off x="4362602" y="1536192"/>
            <a:ext cx="3603650" cy="45720"/>
          </a:xfrm>
          <a:prstGeom prst="rect">
            <a:avLst>
              <a:gd name="adj" fmla="val 200000"/>
            </a:avLst>
          </a:prstGeom>
          <a:solidFill>
            <a:srgbClr val="3B82F6"/>
          </a:solidFill>
          <a:ln/>
        </p:spPr>
      </p:sp>
      <p:sp>
        <p:nvSpPr>
          <p:cNvPr id="20" name="Shape 18"/>
          <p:cNvSpPr/>
          <p:nvPr/>
        </p:nvSpPr>
        <p:spPr>
          <a:xfrm>
            <a:off x="4454042" y="166420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3B82F6"/>
          </a:solidFill>
          <a:ln/>
        </p:spPr>
      </p:sp>
      <p:sp>
        <p:nvSpPr>
          <p:cNvPr id="21" name="Text 19"/>
          <p:cNvSpPr/>
          <p:nvPr/>
        </p:nvSpPr>
        <p:spPr>
          <a:xfrm>
            <a:off x="4454042" y="16642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088" dirty="0"/>
          </a:p>
        </p:txBody>
      </p:sp>
      <p:sp>
        <p:nvSpPr>
          <p:cNvPr id="22" name="Text 20"/>
          <p:cNvSpPr/>
          <p:nvPr/>
        </p:nvSpPr>
        <p:spPr>
          <a:xfrm>
            <a:off x="4819802" y="1645920"/>
            <a:ext cx="305501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3B82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**Obras Públicas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454042" y="2048256"/>
            <a:ext cx="3420770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24" name="Text 22"/>
          <p:cNvSpPr/>
          <p:nvPr/>
        </p:nvSpPr>
        <p:spPr>
          <a:xfrm>
            <a:off x="4472330" y="2121408"/>
            <a:ext cx="3384194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** Auditar a execução, observando o canteiro e confrontando informações com cronogramas e contratos.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158277" y="1572768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000000"/>
          </a:solidFill>
          <a:ln/>
        </p:spPr>
      </p:sp>
      <p:sp>
        <p:nvSpPr>
          <p:cNvPr id="26" name="Shape 24"/>
          <p:cNvSpPr/>
          <p:nvPr/>
        </p:nvSpPr>
        <p:spPr>
          <a:xfrm>
            <a:off x="8130845" y="1536192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141E34"/>
          </a:solidFill>
          <a:ln/>
        </p:spPr>
      </p:sp>
      <p:sp>
        <p:nvSpPr>
          <p:cNvPr id="27" name="Shape 25"/>
          <p:cNvSpPr/>
          <p:nvPr/>
        </p:nvSpPr>
        <p:spPr>
          <a:xfrm>
            <a:off x="8130845" y="1536192"/>
            <a:ext cx="3603650" cy="45720"/>
          </a:xfrm>
          <a:prstGeom prst="rect">
            <a:avLst>
              <a:gd name="adj" fmla="val 200000"/>
            </a:avLst>
          </a:prstGeom>
          <a:solidFill>
            <a:srgbClr val="10B981"/>
          </a:solidFill>
          <a:ln/>
        </p:spPr>
      </p:sp>
      <p:sp>
        <p:nvSpPr>
          <p:cNvPr id="28" name="Shape 26"/>
          <p:cNvSpPr/>
          <p:nvPr/>
        </p:nvSpPr>
        <p:spPr>
          <a:xfrm>
            <a:off x="8222285" y="166420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0B981"/>
          </a:solidFill>
          <a:ln/>
        </p:spPr>
      </p:sp>
      <p:sp>
        <p:nvSpPr>
          <p:cNvPr id="29" name="Text 27"/>
          <p:cNvSpPr/>
          <p:nvPr/>
        </p:nvSpPr>
        <p:spPr>
          <a:xfrm>
            <a:off x="8222285" y="16642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088" dirty="0"/>
          </a:p>
        </p:txBody>
      </p:sp>
      <p:sp>
        <p:nvSpPr>
          <p:cNvPr id="30" name="Text 28"/>
          <p:cNvSpPr/>
          <p:nvPr/>
        </p:nvSpPr>
        <p:spPr>
          <a:xfrm>
            <a:off x="8588045" y="1645920"/>
            <a:ext cx="305501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0B98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**Gestão de Estoques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8222285" y="2048256"/>
            <a:ext cx="3420770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32" name="Text 30"/>
          <p:cNvSpPr/>
          <p:nvPr/>
        </p:nvSpPr>
        <p:spPr>
          <a:xfrm>
            <a:off x="8240573" y="2121408"/>
            <a:ext cx="3384194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** Avaliar hospitais, testando registros e observando diretamente as condições de armazenamento.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21792" y="4023360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000000"/>
          </a:solidFill>
          <a:ln/>
        </p:spPr>
      </p:sp>
      <p:sp>
        <p:nvSpPr>
          <p:cNvPr id="34" name="Shape 32"/>
          <p:cNvSpPr/>
          <p:nvPr/>
        </p:nvSpPr>
        <p:spPr>
          <a:xfrm>
            <a:off x="594360" y="3986784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141E34"/>
          </a:solidFill>
          <a:ln/>
        </p:spPr>
      </p:sp>
      <p:sp>
        <p:nvSpPr>
          <p:cNvPr id="35" name="Shape 33"/>
          <p:cNvSpPr/>
          <p:nvPr/>
        </p:nvSpPr>
        <p:spPr>
          <a:xfrm>
            <a:off x="594360" y="3986784"/>
            <a:ext cx="3603650" cy="45720"/>
          </a:xfrm>
          <a:prstGeom prst="rect">
            <a:avLst>
              <a:gd name="adj" fmla="val 200000"/>
            </a:avLst>
          </a:prstGeom>
          <a:solidFill>
            <a:srgbClr val="F59E0B"/>
          </a:solidFill>
          <a:ln/>
        </p:spPr>
      </p:sp>
      <p:sp>
        <p:nvSpPr>
          <p:cNvPr id="36" name="Shape 34"/>
          <p:cNvSpPr/>
          <p:nvPr/>
        </p:nvSpPr>
        <p:spPr>
          <a:xfrm>
            <a:off x="685800" y="411480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F59E0B"/>
          </a:solidFill>
          <a:ln/>
        </p:spPr>
      </p:sp>
      <p:sp>
        <p:nvSpPr>
          <p:cNvPr id="37" name="Text 35"/>
          <p:cNvSpPr/>
          <p:nvPr/>
        </p:nvSpPr>
        <p:spPr>
          <a:xfrm>
            <a:off x="685800" y="41148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088" dirty="0"/>
          </a:p>
        </p:txBody>
      </p:sp>
      <p:sp>
        <p:nvSpPr>
          <p:cNvPr id="38" name="Text 36"/>
          <p:cNvSpPr/>
          <p:nvPr/>
        </p:nvSpPr>
        <p:spPr>
          <a:xfrm>
            <a:off x="1051560" y="4096512"/>
            <a:ext cx="305501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59E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**Conformidade Fiscal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685800" y="4498848"/>
            <a:ext cx="3420770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40" name="Text 38"/>
          <p:cNvSpPr/>
          <p:nvPr/>
        </p:nvSpPr>
        <p:spPr>
          <a:xfrm>
            <a:off x="704088" y="4572000"/>
            <a:ext cx="3384194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** Auditoria de empresas contratadas, analisando livros contábeis e declarações fiscais.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390034" y="4023360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000000"/>
          </a:solidFill>
          <a:ln/>
        </p:spPr>
      </p:sp>
      <p:sp>
        <p:nvSpPr>
          <p:cNvPr id="42" name="Shape 40"/>
          <p:cNvSpPr/>
          <p:nvPr/>
        </p:nvSpPr>
        <p:spPr>
          <a:xfrm>
            <a:off x="4362602" y="3986784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141E34"/>
          </a:solidFill>
          <a:ln/>
        </p:spPr>
      </p:sp>
      <p:sp>
        <p:nvSpPr>
          <p:cNvPr id="43" name="Shape 41"/>
          <p:cNvSpPr/>
          <p:nvPr/>
        </p:nvSpPr>
        <p:spPr>
          <a:xfrm>
            <a:off x="4362602" y="3986784"/>
            <a:ext cx="3603650" cy="45720"/>
          </a:xfrm>
          <a:prstGeom prst="rect">
            <a:avLst>
              <a:gd name="adj" fmla="val 200000"/>
            </a:avLst>
          </a:prstGeom>
          <a:solidFill>
            <a:srgbClr val="06B6D4"/>
          </a:solidFill>
          <a:ln/>
        </p:spPr>
      </p:sp>
      <p:sp>
        <p:nvSpPr>
          <p:cNvPr id="44" name="Shape 42"/>
          <p:cNvSpPr/>
          <p:nvPr/>
        </p:nvSpPr>
        <p:spPr>
          <a:xfrm>
            <a:off x="4454042" y="411480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06B6D4"/>
          </a:solidFill>
          <a:ln/>
        </p:spPr>
      </p:sp>
      <p:sp>
        <p:nvSpPr>
          <p:cNvPr id="45" name="Text 43"/>
          <p:cNvSpPr/>
          <p:nvPr/>
        </p:nvSpPr>
        <p:spPr>
          <a:xfrm>
            <a:off x="4454042" y="41148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088" dirty="0"/>
          </a:p>
        </p:txBody>
      </p:sp>
      <p:sp>
        <p:nvSpPr>
          <p:cNvPr id="46" name="Text 44"/>
          <p:cNvSpPr/>
          <p:nvPr/>
        </p:nvSpPr>
        <p:spPr>
          <a:xfrm>
            <a:off x="4819802" y="4096512"/>
            <a:ext cx="305501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06B6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**Denúncias de Corrupção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4454042" y="4498848"/>
            <a:ext cx="3420770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48" name="Text 46"/>
          <p:cNvSpPr/>
          <p:nvPr/>
        </p:nvSpPr>
        <p:spPr>
          <a:xfrm>
            <a:off x="4472330" y="4572000"/>
            <a:ext cx="3384194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** Investigar licitações, cruzando entrevistas com registros bancários e notas fiscais.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8158277" y="4023360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000000"/>
          </a:solidFill>
          <a:ln/>
        </p:spPr>
      </p:sp>
      <p:sp>
        <p:nvSpPr>
          <p:cNvPr id="50" name="Shape 48"/>
          <p:cNvSpPr/>
          <p:nvPr/>
        </p:nvSpPr>
        <p:spPr>
          <a:xfrm>
            <a:off x="8130845" y="3986784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141E34"/>
          </a:solidFill>
          <a:ln/>
        </p:spPr>
      </p:sp>
      <p:sp>
        <p:nvSpPr>
          <p:cNvPr id="51" name="Shape 49"/>
          <p:cNvSpPr/>
          <p:nvPr/>
        </p:nvSpPr>
        <p:spPr>
          <a:xfrm>
            <a:off x="8130845" y="3986784"/>
            <a:ext cx="3603650" cy="45720"/>
          </a:xfrm>
          <a:prstGeom prst="rect">
            <a:avLst>
              <a:gd name="adj" fmla="val 200000"/>
            </a:avLst>
          </a:prstGeom>
          <a:solidFill>
            <a:srgbClr val="6C63FF"/>
          </a:solidFill>
          <a:ln/>
        </p:spPr>
      </p:sp>
      <p:sp>
        <p:nvSpPr>
          <p:cNvPr id="52" name="Shape 50"/>
          <p:cNvSpPr/>
          <p:nvPr/>
        </p:nvSpPr>
        <p:spPr>
          <a:xfrm>
            <a:off x="8222285" y="411480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6C63FF"/>
          </a:solidFill>
          <a:ln/>
        </p:spPr>
      </p:sp>
      <p:sp>
        <p:nvSpPr>
          <p:cNvPr id="53" name="Text 51"/>
          <p:cNvSpPr/>
          <p:nvPr/>
        </p:nvSpPr>
        <p:spPr>
          <a:xfrm>
            <a:off x="8222285" y="41148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1088" dirty="0"/>
          </a:p>
        </p:txBody>
      </p:sp>
      <p:sp>
        <p:nvSpPr>
          <p:cNvPr id="54" name="Text 52"/>
          <p:cNvSpPr/>
          <p:nvPr/>
        </p:nvSpPr>
        <p:spPr>
          <a:xfrm>
            <a:off x="8588045" y="4096512"/>
            <a:ext cx="305501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6C63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**Processos Licitatórios</a:t>
            </a:r>
            <a:endParaRPr lang="en-US" sz="1400" dirty="0"/>
          </a:p>
        </p:txBody>
      </p:sp>
      <p:sp>
        <p:nvSpPr>
          <p:cNvPr id="55" name="Shape 53"/>
          <p:cNvSpPr/>
          <p:nvPr/>
        </p:nvSpPr>
        <p:spPr>
          <a:xfrm>
            <a:off x="8222285" y="4498848"/>
            <a:ext cx="3420770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56" name="Text 54"/>
          <p:cNvSpPr/>
          <p:nvPr/>
        </p:nvSpPr>
        <p:spPr>
          <a:xfrm>
            <a:off x="8240573" y="4572000"/>
            <a:ext cx="3384194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** Analisar a eficiência em municípios, revisando editais e propostas para identificar sobrepreço.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8" name="Shape 56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9" name="Shape 57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60" name="Shape 58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61" name="Shape 59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62" name="Shape 60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63" name="Shape 61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64" name="Text 62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19 / 48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5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11D38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1417320"/>
            <a:ext cx="128016" cy="128016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219456" y="1554480"/>
            <a:ext cx="18288" cy="146913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Shape 3"/>
          <p:cNvSpPr/>
          <p:nvPr/>
        </p:nvSpPr>
        <p:spPr>
          <a:xfrm>
            <a:off x="164592" y="3032760"/>
            <a:ext cx="128016" cy="12801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6" name="Shape 4"/>
          <p:cNvSpPr/>
          <p:nvPr/>
        </p:nvSpPr>
        <p:spPr>
          <a:xfrm>
            <a:off x="219456" y="3169920"/>
            <a:ext cx="18288" cy="146913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Shape 5"/>
          <p:cNvSpPr/>
          <p:nvPr/>
        </p:nvSpPr>
        <p:spPr>
          <a:xfrm>
            <a:off x="164592" y="4648200"/>
            <a:ext cx="128016" cy="128016"/>
          </a:xfrm>
          <a:prstGeom prst="ellipse">
            <a:avLst/>
          </a:prstGeom>
          <a:solidFill>
            <a:srgbClr val="6C63FF"/>
          </a:solidFill>
          <a:ln/>
        </p:spPr>
      </p:sp>
      <p:sp>
        <p:nvSpPr>
          <p:cNvPr id="8" name="Shape 6"/>
          <p:cNvSpPr/>
          <p:nvPr/>
        </p:nvSpPr>
        <p:spPr>
          <a:xfrm>
            <a:off x="219456" y="4785360"/>
            <a:ext cx="18288" cy="1469136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9" name="Shape 7"/>
          <p:cNvSpPr/>
          <p:nvPr/>
        </p:nvSpPr>
        <p:spPr>
          <a:xfrm>
            <a:off x="164592" y="6263640"/>
            <a:ext cx="128016" cy="128016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384048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8404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400" kern="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ESTUDO DE CASO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31520" y="731520"/>
            <a:ext cx="10820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Exemplo Prático de Auditoria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731520" y="1298448"/>
            <a:ext cx="3200400" cy="1828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Shape 12"/>
          <p:cNvSpPr/>
          <p:nvPr/>
        </p:nvSpPr>
        <p:spPr>
          <a:xfrm>
            <a:off x="758952" y="1499616"/>
            <a:ext cx="10820095" cy="1165860"/>
          </a:xfrm>
          <a:prstGeom prst="roundRect">
            <a:avLst>
              <a:gd name="adj" fmla="val 7843"/>
            </a:avLst>
          </a:prstGeom>
          <a:solidFill>
            <a:srgbClr val="000000"/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" y="1463040"/>
            <a:ext cx="10820095" cy="1165860"/>
          </a:xfrm>
          <a:prstGeom prst="roundRect">
            <a:avLst>
              <a:gd name="adj" fmla="val 6275"/>
            </a:avLst>
          </a:prstGeom>
          <a:solidFill>
            <a:srgbClr val="111D38"/>
          </a:solidFill>
          <a:ln/>
        </p:spPr>
      </p:sp>
      <p:sp>
        <p:nvSpPr>
          <p:cNvPr id="16" name="Shape 14"/>
          <p:cNvSpPr/>
          <p:nvPr/>
        </p:nvSpPr>
        <p:spPr>
          <a:xfrm>
            <a:off x="731520" y="1499616"/>
            <a:ext cx="45720" cy="1092708"/>
          </a:xfrm>
          <a:prstGeom prst="rect">
            <a:avLst>
              <a:gd name="adj" fmla="val 60000"/>
            </a:avLst>
          </a:prstGeom>
          <a:solidFill>
            <a:srgbClr val="3B82F6"/>
          </a:solidFill>
          <a:ln/>
        </p:spPr>
      </p:sp>
      <p:sp>
        <p:nvSpPr>
          <p:cNvPr id="17" name="Shape 15"/>
          <p:cNvSpPr/>
          <p:nvPr/>
        </p:nvSpPr>
        <p:spPr>
          <a:xfrm>
            <a:off x="896112" y="1908810"/>
            <a:ext cx="274320" cy="2743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896112" y="190881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243584" y="149961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3B82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CONTEXTO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243584" y="1700784"/>
            <a:ext cx="10088575" cy="8732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Tribunal de Contas identificou aumento de 35% nos gastos de manutenção de frota oficial em município nos últimos 12 meses.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41832" y="2601468"/>
            <a:ext cx="182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59E0B">
                    <a:alpha val="60000"/>
                  </a:srgbClr>
                </a:solidFill>
              </a:rPr>
              <a:t>▼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758952" y="2756916"/>
            <a:ext cx="10820095" cy="1165860"/>
          </a:xfrm>
          <a:prstGeom prst="roundRect">
            <a:avLst>
              <a:gd name="adj" fmla="val 7843"/>
            </a:avLst>
          </a:prstGeom>
          <a:solidFill>
            <a:srgbClr val="000000"/>
          </a:solidFill>
          <a:ln/>
        </p:spPr>
      </p:sp>
      <p:sp>
        <p:nvSpPr>
          <p:cNvPr id="23" name="Shape 21"/>
          <p:cNvSpPr/>
          <p:nvPr/>
        </p:nvSpPr>
        <p:spPr>
          <a:xfrm>
            <a:off x="731520" y="2720340"/>
            <a:ext cx="10820095" cy="1165860"/>
          </a:xfrm>
          <a:prstGeom prst="roundRect">
            <a:avLst>
              <a:gd name="adj" fmla="val 6275"/>
            </a:avLst>
          </a:prstGeom>
          <a:solidFill>
            <a:srgbClr val="111D38"/>
          </a:solidFill>
          <a:ln/>
        </p:spPr>
      </p:sp>
      <p:sp>
        <p:nvSpPr>
          <p:cNvPr id="24" name="Shape 22"/>
          <p:cNvSpPr/>
          <p:nvPr/>
        </p:nvSpPr>
        <p:spPr>
          <a:xfrm>
            <a:off x="731520" y="2756916"/>
            <a:ext cx="45720" cy="1092708"/>
          </a:xfrm>
          <a:prstGeom prst="rect">
            <a:avLst>
              <a:gd name="adj" fmla="val 60000"/>
            </a:avLst>
          </a:prstGeom>
          <a:solidFill>
            <a:srgbClr val="F59E0B"/>
          </a:solidFill>
          <a:ln/>
        </p:spPr>
      </p:sp>
      <p:sp>
        <p:nvSpPr>
          <p:cNvPr id="25" name="Shape 23"/>
          <p:cNvSpPr/>
          <p:nvPr/>
        </p:nvSpPr>
        <p:spPr>
          <a:xfrm>
            <a:off x="896112" y="3166110"/>
            <a:ext cx="274320" cy="2743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896112" y="316611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243584" y="275691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F59E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DESAFIO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243584" y="2958084"/>
            <a:ext cx="10088575" cy="8732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Determinar se o aumento era justificado e se os processos de contratação e execução seguiam as normas da Lei nº 8.666/93.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41832" y="3858768"/>
            <a:ext cx="182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C63FF">
                    <a:alpha val="60000"/>
                  </a:srgbClr>
                </a:solidFill>
              </a:rPr>
              <a:t>▼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758952" y="4014216"/>
            <a:ext cx="10820095" cy="1165860"/>
          </a:xfrm>
          <a:prstGeom prst="roundRect">
            <a:avLst>
              <a:gd name="adj" fmla="val 7843"/>
            </a:avLst>
          </a:prstGeom>
          <a:solidFill>
            <a:srgbClr val="000000"/>
          </a:solidFill>
          <a:ln/>
        </p:spPr>
      </p:sp>
      <p:sp>
        <p:nvSpPr>
          <p:cNvPr id="31" name="Shape 29"/>
          <p:cNvSpPr/>
          <p:nvPr/>
        </p:nvSpPr>
        <p:spPr>
          <a:xfrm>
            <a:off x="731520" y="3977640"/>
            <a:ext cx="10820095" cy="1165860"/>
          </a:xfrm>
          <a:prstGeom prst="roundRect">
            <a:avLst>
              <a:gd name="adj" fmla="val 6275"/>
            </a:avLst>
          </a:prstGeom>
          <a:solidFill>
            <a:srgbClr val="111D38"/>
          </a:solidFill>
          <a:ln/>
        </p:spPr>
      </p:sp>
      <p:sp>
        <p:nvSpPr>
          <p:cNvPr id="32" name="Shape 30"/>
          <p:cNvSpPr/>
          <p:nvPr/>
        </p:nvSpPr>
        <p:spPr>
          <a:xfrm>
            <a:off x="731520" y="4014216"/>
            <a:ext cx="45720" cy="1092708"/>
          </a:xfrm>
          <a:prstGeom prst="rect">
            <a:avLst>
              <a:gd name="adj" fmla="val 60000"/>
            </a:avLst>
          </a:prstGeom>
          <a:solidFill>
            <a:srgbClr val="6C63FF"/>
          </a:solidFill>
          <a:ln/>
        </p:spPr>
      </p:sp>
      <p:sp>
        <p:nvSpPr>
          <p:cNvPr id="33" name="Shape 31"/>
          <p:cNvSpPr/>
          <p:nvPr/>
        </p:nvSpPr>
        <p:spPr>
          <a:xfrm>
            <a:off x="896112" y="4423410"/>
            <a:ext cx="274320" cy="274320"/>
          </a:xfrm>
          <a:prstGeom prst="ellipse">
            <a:avLst/>
          </a:prstGeom>
          <a:solidFill>
            <a:srgbClr val="6C63FF"/>
          </a:solidFill>
          <a:ln/>
        </p:spPr>
      </p:sp>
      <p:sp>
        <p:nvSpPr>
          <p:cNvPr id="34" name="Text 32"/>
          <p:cNvSpPr/>
          <p:nvPr/>
        </p:nvSpPr>
        <p:spPr>
          <a:xfrm>
            <a:off x="896112" y="442341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243584" y="401421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C63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SOLUÇÃO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243584" y="4215384"/>
            <a:ext cx="10088575" cy="8732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Equipe do TCE/M realizou análise documental de contratos e notas fiscais, entrevistas com gestores e observação da frota.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941832" y="5116068"/>
            <a:ext cx="182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6B6D4">
                    <a:alpha val="60000"/>
                  </a:srgbClr>
                </a:solidFill>
              </a:rPr>
              <a:t>▼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758952" y="5271516"/>
            <a:ext cx="10820095" cy="1165860"/>
          </a:xfrm>
          <a:prstGeom prst="roundRect">
            <a:avLst>
              <a:gd name="adj" fmla="val 7843"/>
            </a:avLst>
          </a:prstGeom>
          <a:solidFill>
            <a:srgbClr val="000000"/>
          </a:solidFill>
          <a:ln/>
        </p:spPr>
      </p:sp>
      <p:sp>
        <p:nvSpPr>
          <p:cNvPr id="39" name="Shape 37"/>
          <p:cNvSpPr/>
          <p:nvPr/>
        </p:nvSpPr>
        <p:spPr>
          <a:xfrm>
            <a:off x="731520" y="5234940"/>
            <a:ext cx="10820095" cy="1165860"/>
          </a:xfrm>
          <a:prstGeom prst="roundRect">
            <a:avLst>
              <a:gd name="adj" fmla="val 6275"/>
            </a:avLst>
          </a:prstGeom>
          <a:solidFill>
            <a:srgbClr val="111D38"/>
          </a:solidFill>
          <a:ln/>
        </p:spPr>
      </p:sp>
      <p:sp>
        <p:nvSpPr>
          <p:cNvPr id="40" name="Shape 38"/>
          <p:cNvSpPr/>
          <p:nvPr/>
        </p:nvSpPr>
        <p:spPr>
          <a:xfrm>
            <a:off x="731520" y="5271516"/>
            <a:ext cx="45720" cy="1092708"/>
          </a:xfrm>
          <a:prstGeom prst="rect">
            <a:avLst>
              <a:gd name="adj" fmla="val 60000"/>
            </a:avLst>
          </a:prstGeom>
          <a:solidFill>
            <a:srgbClr val="06B6D4"/>
          </a:solidFill>
          <a:ln/>
        </p:spPr>
      </p:sp>
      <p:sp>
        <p:nvSpPr>
          <p:cNvPr id="41" name="Shape 39"/>
          <p:cNvSpPr/>
          <p:nvPr/>
        </p:nvSpPr>
        <p:spPr>
          <a:xfrm>
            <a:off x="896112" y="5680710"/>
            <a:ext cx="274320" cy="27432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42" name="Text 40"/>
          <p:cNvSpPr/>
          <p:nvPr/>
        </p:nvSpPr>
        <p:spPr>
          <a:xfrm>
            <a:off x="896112" y="568071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1243584" y="527151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6B6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RESULTADO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1243584" y="5472684"/>
            <a:ext cx="10088575" cy="8732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Identificação de falhas na fiscalização, sobrepreço em alguns serviços e divergências entre serviços registrados e executados.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6" name="Shape 44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7" name="Shape 45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8" name="Shape 46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9" name="Shape 47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0" name="Shape 48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1" name="Shape 49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52" name="Text 50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20 / 48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5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-27432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0" b="1" dirty="0">
                <a:solidFill>
                  <a:srgbClr val="3B82F6">
                    <a:alpha val="12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“</a:t>
            </a:r>
            <a:endParaRPr lang="en-US" sz="18000" dirty="0"/>
          </a:p>
        </p:txBody>
      </p:sp>
      <p:sp>
        <p:nvSpPr>
          <p:cNvPr id="3" name="Shape 1"/>
          <p:cNvSpPr/>
          <p:nvPr/>
        </p:nvSpPr>
        <p:spPr>
          <a:xfrm>
            <a:off x="594360" y="502920"/>
            <a:ext cx="11002975" cy="16459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731520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3B82F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REFLEXÃO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1024128"/>
            <a:ext cx="1100297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Para Refletir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94360" y="1737360"/>
            <a:ext cx="11002975" cy="1188720"/>
          </a:xfrm>
          <a:prstGeom prst="roundRect">
            <a:avLst>
              <a:gd name="adj" fmla="val 6154"/>
            </a:avLst>
          </a:prstGeom>
          <a:solidFill>
            <a:srgbClr val="111D38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737360"/>
            <a:ext cx="1036289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2000"/>
              </a:lnSpc>
              <a:buNone/>
            </a:pPr>
            <a:r>
              <a:rPr lang="en-US" sz="1900" i="1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Como a falta de controles internos robustos pode impactar a confiabilidade das evidências coletadas em uma auditoria?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594360" y="3072384"/>
            <a:ext cx="11002975" cy="1188720"/>
          </a:xfrm>
          <a:prstGeom prst="roundRect">
            <a:avLst>
              <a:gd name="adj" fmla="val 6154"/>
            </a:avLst>
          </a:prstGeom>
          <a:solidFill>
            <a:srgbClr val="111D38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072384"/>
            <a:ext cx="1036289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2000"/>
              </a:lnSpc>
              <a:buNone/>
            </a:pPr>
            <a:r>
              <a:rPr lang="en-US" sz="1900" i="1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Quais desafios surgem ao tentar corroborar evidências orais e como superá-los na prática da auditoria?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94360" y="6400800"/>
            <a:ext cx="1842973" cy="10973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Shape 9"/>
          <p:cNvSpPr/>
          <p:nvPr/>
        </p:nvSpPr>
        <p:spPr>
          <a:xfrm>
            <a:off x="2428189" y="6400800"/>
            <a:ext cx="1842973" cy="10973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2" name="Shape 10"/>
          <p:cNvSpPr/>
          <p:nvPr/>
        </p:nvSpPr>
        <p:spPr>
          <a:xfrm>
            <a:off x="4262018" y="6400800"/>
            <a:ext cx="1842973" cy="10973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Shape 11"/>
          <p:cNvSpPr/>
          <p:nvPr/>
        </p:nvSpPr>
        <p:spPr>
          <a:xfrm>
            <a:off x="6095848" y="6400800"/>
            <a:ext cx="1842973" cy="10973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Shape 12"/>
          <p:cNvSpPr/>
          <p:nvPr/>
        </p:nvSpPr>
        <p:spPr>
          <a:xfrm>
            <a:off x="7929677" y="6400800"/>
            <a:ext cx="1842973" cy="10973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5" name="Shape 13"/>
          <p:cNvSpPr/>
          <p:nvPr/>
        </p:nvSpPr>
        <p:spPr>
          <a:xfrm>
            <a:off x="9763506" y="6400800"/>
            <a:ext cx="1842973" cy="10973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6" name="Shape 14"/>
          <p:cNvSpPr/>
          <p:nvPr/>
        </p:nvSpPr>
        <p:spPr>
          <a:xfrm>
            <a:off x="10545775" y="6693408"/>
            <a:ext cx="73152" cy="7315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10637215" y="6638544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C0392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PONTOS DE ATENÇÃO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493776"/>
            <a:ext cx="640080" cy="2194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Desafios e Cuidados na Coleta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389888"/>
            <a:ext cx="11185855" cy="7315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408176"/>
            <a:ext cx="11185855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9" name="Shape 7"/>
          <p:cNvSpPr/>
          <p:nvPr/>
        </p:nvSpPr>
        <p:spPr>
          <a:xfrm>
            <a:off x="10820095" y="320040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FEF2F2"/>
          </a:solidFill>
          <a:ln/>
        </p:spPr>
      </p:sp>
      <p:sp>
        <p:nvSpPr>
          <p:cNvPr id="10" name="Text 8"/>
          <p:cNvSpPr/>
          <p:nvPr/>
        </p:nvSpPr>
        <p:spPr>
          <a:xfrm>
            <a:off x="10820095" y="3200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⚠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621792" y="1481328"/>
            <a:ext cx="11140135" cy="969264"/>
          </a:xfrm>
          <a:prstGeom prst="roundRect">
            <a:avLst>
              <a:gd name="adj" fmla="val 9434"/>
            </a:avLst>
          </a:prstGeom>
          <a:solidFill>
            <a:srgbClr val="000000"/>
          </a:solidFill>
          <a:ln/>
        </p:spPr>
      </p:sp>
      <p:sp>
        <p:nvSpPr>
          <p:cNvPr id="12" name="Shape 10"/>
          <p:cNvSpPr/>
          <p:nvPr/>
        </p:nvSpPr>
        <p:spPr>
          <a:xfrm>
            <a:off x="594360" y="1444752"/>
            <a:ext cx="11140135" cy="969264"/>
          </a:xfrm>
          <a:prstGeom prst="roundRect">
            <a:avLst>
              <a:gd name="adj" fmla="val 7547"/>
            </a:avLst>
          </a:prstGeom>
          <a:solidFill>
            <a:srgbClr val="1A2848"/>
          </a:solidFill>
          <a:ln/>
        </p:spPr>
      </p:sp>
      <p:sp>
        <p:nvSpPr>
          <p:cNvPr id="13" name="Shape 11"/>
          <p:cNvSpPr/>
          <p:nvPr/>
        </p:nvSpPr>
        <p:spPr>
          <a:xfrm>
            <a:off x="594360" y="1444752"/>
            <a:ext cx="54864" cy="969264"/>
          </a:xfrm>
          <a:prstGeom prst="rect">
            <a:avLst>
              <a:gd name="adj" fmla="val 133333"/>
            </a:avLst>
          </a:prstGeom>
          <a:solidFill>
            <a:srgbClr val="E74C3C"/>
          </a:solidFill>
          <a:ln/>
        </p:spPr>
      </p:sp>
      <p:sp>
        <p:nvSpPr>
          <p:cNvPr id="14" name="Text 12"/>
          <p:cNvSpPr/>
          <p:nvPr/>
        </p:nvSpPr>
        <p:spPr>
          <a:xfrm>
            <a:off x="758952" y="1481328"/>
            <a:ext cx="10865815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Evitar evidências tendenciosas ou incompletas que possam comprometer a imparcialidade do trabalho.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1792" y="2578608"/>
            <a:ext cx="11140135" cy="969264"/>
          </a:xfrm>
          <a:prstGeom prst="roundRect">
            <a:avLst>
              <a:gd name="adj" fmla="val 9434"/>
            </a:avLst>
          </a:prstGeom>
          <a:solidFill>
            <a:srgbClr val="000000"/>
          </a:solidFill>
          <a:ln/>
        </p:spPr>
      </p:sp>
      <p:sp>
        <p:nvSpPr>
          <p:cNvPr id="16" name="Shape 14"/>
          <p:cNvSpPr/>
          <p:nvPr/>
        </p:nvSpPr>
        <p:spPr>
          <a:xfrm>
            <a:off x="594360" y="2542032"/>
            <a:ext cx="11140135" cy="969264"/>
          </a:xfrm>
          <a:prstGeom prst="roundRect">
            <a:avLst>
              <a:gd name="adj" fmla="val 7547"/>
            </a:avLst>
          </a:prstGeom>
          <a:solidFill>
            <a:srgbClr val="141E34"/>
          </a:solidFill>
          <a:ln/>
        </p:spPr>
      </p:sp>
      <p:sp>
        <p:nvSpPr>
          <p:cNvPr id="17" name="Shape 15"/>
          <p:cNvSpPr/>
          <p:nvPr/>
        </p:nvSpPr>
        <p:spPr>
          <a:xfrm>
            <a:off x="594360" y="2542032"/>
            <a:ext cx="54864" cy="969264"/>
          </a:xfrm>
          <a:prstGeom prst="rect">
            <a:avLst>
              <a:gd name="adj" fmla="val 133333"/>
            </a:avLst>
          </a:prstGeom>
          <a:solidFill>
            <a:srgbClr val="E74C3C"/>
          </a:solidFill>
          <a:ln/>
        </p:spPr>
      </p:sp>
      <p:sp>
        <p:nvSpPr>
          <p:cNvPr id="18" name="Text 16"/>
          <p:cNvSpPr/>
          <p:nvPr/>
        </p:nvSpPr>
        <p:spPr>
          <a:xfrm>
            <a:off x="758952" y="2578608"/>
            <a:ext cx="10865815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Garantir a salvaguarda da documentação coletada para manter sua integridade e cadeia de custódia.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1792" y="3675888"/>
            <a:ext cx="11140135" cy="969264"/>
          </a:xfrm>
          <a:prstGeom prst="roundRect">
            <a:avLst>
              <a:gd name="adj" fmla="val 9434"/>
            </a:avLst>
          </a:prstGeom>
          <a:solidFill>
            <a:srgbClr val="000000"/>
          </a:solidFill>
          <a:ln/>
        </p:spPr>
      </p:sp>
      <p:sp>
        <p:nvSpPr>
          <p:cNvPr id="20" name="Shape 18"/>
          <p:cNvSpPr/>
          <p:nvPr/>
        </p:nvSpPr>
        <p:spPr>
          <a:xfrm>
            <a:off x="594360" y="3639312"/>
            <a:ext cx="11140135" cy="969264"/>
          </a:xfrm>
          <a:prstGeom prst="roundRect">
            <a:avLst>
              <a:gd name="adj" fmla="val 7547"/>
            </a:avLst>
          </a:prstGeom>
          <a:solidFill>
            <a:srgbClr val="1A2848"/>
          </a:solidFill>
          <a:ln/>
        </p:spPr>
      </p:sp>
      <p:sp>
        <p:nvSpPr>
          <p:cNvPr id="21" name="Shape 19"/>
          <p:cNvSpPr/>
          <p:nvPr/>
        </p:nvSpPr>
        <p:spPr>
          <a:xfrm>
            <a:off x="594360" y="3639312"/>
            <a:ext cx="54864" cy="969264"/>
          </a:xfrm>
          <a:prstGeom prst="rect">
            <a:avLst>
              <a:gd name="adj" fmla="val 133333"/>
            </a:avLst>
          </a:prstGeom>
          <a:solidFill>
            <a:srgbClr val="E74C3C"/>
          </a:solidFill>
          <a:ln/>
        </p:spPr>
      </p:sp>
      <p:sp>
        <p:nvSpPr>
          <p:cNvPr id="22" name="Text 20"/>
          <p:cNvSpPr/>
          <p:nvPr/>
        </p:nvSpPr>
        <p:spPr>
          <a:xfrm>
            <a:off x="758952" y="3675888"/>
            <a:ext cx="10865815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Estar atento à possibilidade de fraudes ou manipulação de informações, exigindo verificação cruzada.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1792" y="4773168"/>
            <a:ext cx="11140135" cy="969264"/>
          </a:xfrm>
          <a:prstGeom prst="roundRect">
            <a:avLst>
              <a:gd name="adj" fmla="val 9434"/>
            </a:avLst>
          </a:prstGeom>
          <a:solidFill>
            <a:srgbClr val="000000"/>
          </a:solidFill>
          <a:ln/>
        </p:spPr>
      </p:sp>
      <p:sp>
        <p:nvSpPr>
          <p:cNvPr id="24" name="Shape 22"/>
          <p:cNvSpPr/>
          <p:nvPr/>
        </p:nvSpPr>
        <p:spPr>
          <a:xfrm>
            <a:off x="594360" y="4736592"/>
            <a:ext cx="11140135" cy="969264"/>
          </a:xfrm>
          <a:prstGeom prst="roundRect">
            <a:avLst>
              <a:gd name="adj" fmla="val 7547"/>
            </a:avLst>
          </a:prstGeom>
          <a:solidFill>
            <a:srgbClr val="141E34"/>
          </a:solidFill>
          <a:ln/>
        </p:spPr>
      </p:sp>
      <p:sp>
        <p:nvSpPr>
          <p:cNvPr id="25" name="Shape 23"/>
          <p:cNvSpPr/>
          <p:nvPr/>
        </p:nvSpPr>
        <p:spPr>
          <a:xfrm>
            <a:off x="594360" y="4736592"/>
            <a:ext cx="54864" cy="969264"/>
          </a:xfrm>
          <a:prstGeom prst="rect">
            <a:avLst>
              <a:gd name="adj" fmla="val 133333"/>
            </a:avLst>
          </a:prstGeom>
          <a:solidFill>
            <a:srgbClr val="E74C3C"/>
          </a:solidFill>
          <a:ln/>
        </p:spPr>
      </p:sp>
      <p:sp>
        <p:nvSpPr>
          <p:cNvPr id="26" name="Text 24"/>
          <p:cNvSpPr/>
          <p:nvPr/>
        </p:nvSpPr>
        <p:spPr>
          <a:xfrm>
            <a:off x="758952" y="4773168"/>
            <a:ext cx="10865815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Não aceitar evidências em desacordo com as normas da Lei nº 8.666/93 ou outras legislações aplicáveis.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8" name="Shape 26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9" name="Shape 27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0" name="Shape 28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1" name="Shape 29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2" name="Shape 30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3" name="Shape 31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34" name="Text 32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21 / 48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274320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6C63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SÍNTESE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85800" y="521208"/>
            <a:ext cx="822960" cy="18288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621792"/>
            <a:ext cx="1104869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Resumo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13232" y="1499616"/>
            <a:ext cx="5469484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1463040"/>
            <a:ext cx="5469484" cy="1371600"/>
          </a:xfrm>
          <a:prstGeom prst="roundRect">
            <a:avLst>
              <a:gd name="adj" fmla="val 6667"/>
            </a:avLst>
          </a:prstGeom>
          <a:solidFill>
            <a:srgbClr val="141E34"/>
          </a:solidFill>
          <a:ln/>
        </p:spPr>
      </p:sp>
      <p:sp>
        <p:nvSpPr>
          <p:cNvPr id="8" name="Shape 6"/>
          <p:cNvSpPr/>
          <p:nvPr/>
        </p:nvSpPr>
        <p:spPr>
          <a:xfrm>
            <a:off x="685800" y="1463040"/>
            <a:ext cx="45720" cy="1371600"/>
          </a:xfrm>
          <a:prstGeom prst="rect">
            <a:avLst>
              <a:gd name="adj" fmla="val 200000"/>
            </a:avLst>
          </a:prstGeom>
          <a:solidFill>
            <a:srgbClr val="6C63FF"/>
          </a:solidFill>
          <a:ln/>
        </p:spPr>
      </p:sp>
      <p:sp>
        <p:nvSpPr>
          <p:cNvPr id="9" name="Shape 7"/>
          <p:cNvSpPr/>
          <p:nvPr/>
        </p:nvSpPr>
        <p:spPr>
          <a:xfrm>
            <a:off x="813816" y="1554480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6C63FF"/>
          </a:solidFill>
          <a:ln/>
        </p:spPr>
      </p:sp>
      <p:sp>
        <p:nvSpPr>
          <p:cNvPr id="10" name="Text 8"/>
          <p:cNvSpPr/>
          <p:nvPr/>
        </p:nvSpPr>
        <p:spPr>
          <a:xfrm>
            <a:off x="813816" y="15544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13816" y="1883664"/>
            <a:ext cx="5213452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evidência de auditoria é fundamental, devendo ser suficiente, adequada, relevante e confiável.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292444" y="1499616"/>
            <a:ext cx="5469484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13" name="Shape 11"/>
          <p:cNvSpPr/>
          <p:nvPr/>
        </p:nvSpPr>
        <p:spPr>
          <a:xfrm>
            <a:off x="6265012" y="1463040"/>
            <a:ext cx="5469484" cy="1371600"/>
          </a:xfrm>
          <a:prstGeom prst="roundRect">
            <a:avLst>
              <a:gd name="adj" fmla="val 6667"/>
            </a:avLst>
          </a:prstGeom>
          <a:solidFill>
            <a:srgbClr val="141E34"/>
          </a:solidFill>
          <a:ln/>
        </p:spPr>
      </p:sp>
      <p:sp>
        <p:nvSpPr>
          <p:cNvPr id="14" name="Shape 12"/>
          <p:cNvSpPr/>
          <p:nvPr/>
        </p:nvSpPr>
        <p:spPr>
          <a:xfrm>
            <a:off x="6265012" y="1463040"/>
            <a:ext cx="45720" cy="1371600"/>
          </a:xfrm>
          <a:prstGeom prst="rect">
            <a:avLst>
              <a:gd name="adj" fmla="val 200000"/>
            </a:avLst>
          </a:prstGeom>
          <a:solidFill>
            <a:srgbClr val="3B82F6"/>
          </a:solidFill>
          <a:ln/>
        </p:spPr>
      </p:sp>
      <p:sp>
        <p:nvSpPr>
          <p:cNvPr id="15" name="Shape 13"/>
          <p:cNvSpPr/>
          <p:nvPr/>
        </p:nvSpPr>
        <p:spPr>
          <a:xfrm>
            <a:off x="6393028" y="1554480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6393028" y="15544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393028" y="1883664"/>
            <a:ext cx="5213452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Técnicas como análise documental, entrevistas, observação e testes são essenciais para a coleta.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713232" y="2980944"/>
            <a:ext cx="5469484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19" name="Shape 17"/>
          <p:cNvSpPr/>
          <p:nvPr/>
        </p:nvSpPr>
        <p:spPr>
          <a:xfrm>
            <a:off x="685800" y="2944368"/>
            <a:ext cx="5469484" cy="1371600"/>
          </a:xfrm>
          <a:prstGeom prst="roundRect">
            <a:avLst>
              <a:gd name="adj" fmla="val 6667"/>
            </a:avLst>
          </a:prstGeom>
          <a:solidFill>
            <a:srgbClr val="141E34"/>
          </a:solidFill>
          <a:ln/>
        </p:spPr>
      </p:sp>
      <p:sp>
        <p:nvSpPr>
          <p:cNvPr id="20" name="Shape 18"/>
          <p:cNvSpPr/>
          <p:nvPr/>
        </p:nvSpPr>
        <p:spPr>
          <a:xfrm>
            <a:off x="685800" y="2944368"/>
            <a:ext cx="45720" cy="1371600"/>
          </a:xfrm>
          <a:prstGeom prst="rect">
            <a:avLst>
              <a:gd name="adj" fmla="val 200000"/>
            </a:avLst>
          </a:prstGeom>
          <a:solidFill>
            <a:srgbClr val="10B981"/>
          </a:solidFill>
          <a:ln/>
        </p:spPr>
      </p:sp>
      <p:sp>
        <p:nvSpPr>
          <p:cNvPr id="21" name="Shape 19"/>
          <p:cNvSpPr/>
          <p:nvPr/>
        </p:nvSpPr>
        <p:spPr>
          <a:xfrm>
            <a:off x="813816" y="3035808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813816" y="30358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13816" y="3364992"/>
            <a:ext cx="5213452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confiabilidade das evidências varia conforme a origem, com a oral sendo a de menor grau.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6292444" y="2980944"/>
            <a:ext cx="5469484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25" name="Shape 23"/>
          <p:cNvSpPr/>
          <p:nvPr/>
        </p:nvSpPr>
        <p:spPr>
          <a:xfrm>
            <a:off x="6265012" y="2944368"/>
            <a:ext cx="5469484" cy="1371600"/>
          </a:xfrm>
          <a:prstGeom prst="roundRect">
            <a:avLst>
              <a:gd name="adj" fmla="val 6667"/>
            </a:avLst>
          </a:prstGeom>
          <a:solidFill>
            <a:srgbClr val="141E34"/>
          </a:solidFill>
          <a:ln/>
        </p:spPr>
      </p:sp>
      <p:sp>
        <p:nvSpPr>
          <p:cNvPr id="26" name="Shape 24"/>
          <p:cNvSpPr/>
          <p:nvPr/>
        </p:nvSpPr>
        <p:spPr>
          <a:xfrm>
            <a:off x="6265012" y="2944368"/>
            <a:ext cx="45720" cy="1371600"/>
          </a:xfrm>
          <a:prstGeom prst="rect">
            <a:avLst>
              <a:gd name="adj" fmla="val 200000"/>
            </a:avLst>
          </a:prstGeom>
          <a:solidFill>
            <a:srgbClr val="F59E0B"/>
          </a:solidFill>
          <a:ln/>
        </p:spPr>
      </p:sp>
      <p:sp>
        <p:nvSpPr>
          <p:cNvPr id="27" name="Shape 25"/>
          <p:cNvSpPr/>
          <p:nvPr/>
        </p:nvSpPr>
        <p:spPr>
          <a:xfrm>
            <a:off x="6393028" y="3035808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6393028" y="30358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393028" y="3364992"/>
            <a:ext cx="5213452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Ferramentas de análise de dados e visualização apoiam a identificação de anomalias e tendências.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1" name="Shape 29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2" name="Shape 30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3" name="Shape 31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4" name="Shape 32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5" name="Shape 33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6" name="Shape 34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37" name="Text 35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22 / 48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5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576"/>
            <a:ext cx="12191695" cy="4114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06B6D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PRINCIPAIS APRENDIZADOS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530352"/>
            <a:ext cx="110029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1234440"/>
            <a:ext cx="1645920" cy="2286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6" name="Shape 4"/>
          <p:cNvSpPr/>
          <p:nvPr/>
        </p:nvSpPr>
        <p:spPr>
          <a:xfrm>
            <a:off x="612648" y="1536192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7" name="Shape 5"/>
          <p:cNvSpPr/>
          <p:nvPr/>
        </p:nvSpPr>
        <p:spPr>
          <a:xfrm>
            <a:off x="594360" y="1508760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111D38"/>
          </a:solidFill>
          <a:ln/>
        </p:spPr>
      </p:sp>
      <p:sp>
        <p:nvSpPr>
          <p:cNvPr id="8" name="Shape 6"/>
          <p:cNvSpPr/>
          <p:nvPr/>
        </p:nvSpPr>
        <p:spPr>
          <a:xfrm>
            <a:off x="594360" y="1508760"/>
            <a:ext cx="45720" cy="1645920"/>
          </a:xfrm>
          <a:prstGeom prst="rect">
            <a:avLst>
              <a:gd name="adj" fmla="val 240000"/>
            </a:avLst>
          </a:prstGeom>
          <a:solidFill>
            <a:srgbClr val="6C63FF"/>
          </a:solidFill>
          <a:ln/>
        </p:spPr>
      </p:sp>
      <p:sp>
        <p:nvSpPr>
          <p:cNvPr id="9" name="Shape 7"/>
          <p:cNvSpPr/>
          <p:nvPr/>
        </p:nvSpPr>
        <p:spPr>
          <a:xfrm>
            <a:off x="722376" y="1636776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6C63FF"/>
          </a:solidFill>
          <a:ln/>
        </p:spPr>
      </p:sp>
      <p:sp>
        <p:nvSpPr>
          <p:cNvPr id="10" name="Text 8"/>
          <p:cNvSpPr/>
          <p:nvPr/>
        </p:nvSpPr>
        <p:spPr>
          <a:xfrm>
            <a:off x="722376" y="163677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520" dirty="0"/>
          </a:p>
        </p:txBody>
      </p:sp>
      <p:sp>
        <p:nvSpPr>
          <p:cNvPr id="11" name="Text 9"/>
          <p:cNvSpPr/>
          <p:nvPr/>
        </p:nvSpPr>
        <p:spPr>
          <a:xfrm>
            <a:off x="722376" y="2075688"/>
            <a:ext cx="3372002" cy="987552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Toda conclusão de auditoria exige evidências robustas e bem documentadas para sua validação.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368698" y="1536192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13" name="Shape 11"/>
          <p:cNvSpPr/>
          <p:nvPr/>
        </p:nvSpPr>
        <p:spPr>
          <a:xfrm>
            <a:off x="4350410" y="1508760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111D38"/>
          </a:solidFill>
          <a:ln/>
        </p:spPr>
      </p:sp>
      <p:sp>
        <p:nvSpPr>
          <p:cNvPr id="14" name="Shape 12"/>
          <p:cNvSpPr/>
          <p:nvPr/>
        </p:nvSpPr>
        <p:spPr>
          <a:xfrm>
            <a:off x="4350410" y="1508760"/>
            <a:ext cx="45720" cy="1645920"/>
          </a:xfrm>
          <a:prstGeom prst="rect">
            <a:avLst>
              <a:gd name="adj" fmla="val 240000"/>
            </a:avLst>
          </a:prstGeom>
          <a:solidFill>
            <a:srgbClr val="3B82F6"/>
          </a:solidFill>
          <a:ln/>
        </p:spPr>
      </p:sp>
      <p:sp>
        <p:nvSpPr>
          <p:cNvPr id="15" name="Shape 13"/>
          <p:cNvSpPr/>
          <p:nvPr/>
        </p:nvSpPr>
        <p:spPr>
          <a:xfrm>
            <a:off x="4478426" y="1636776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4478426" y="163677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520" dirty="0"/>
          </a:p>
        </p:txBody>
      </p:sp>
      <p:sp>
        <p:nvSpPr>
          <p:cNvPr id="17" name="Text 15"/>
          <p:cNvSpPr/>
          <p:nvPr/>
        </p:nvSpPr>
        <p:spPr>
          <a:xfrm>
            <a:off x="4478426" y="2075688"/>
            <a:ext cx="3372002" cy="987552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Suficiência e adequação da evidência são cruciais, exigindo julgamento profissional rigoroso.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124749" y="1536192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19" name="Shape 17"/>
          <p:cNvSpPr/>
          <p:nvPr/>
        </p:nvSpPr>
        <p:spPr>
          <a:xfrm>
            <a:off x="8106461" y="1508760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111D38"/>
          </a:solidFill>
          <a:ln/>
        </p:spPr>
      </p:sp>
      <p:sp>
        <p:nvSpPr>
          <p:cNvPr id="20" name="Shape 18"/>
          <p:cNvSpPr/>
          <p:nvPr/>
        </p:nvSpPr>
        <p:spPr>
          <a:xfrm>
            <a:off x="8106461" y="1508760"/>
            <a:ext cx="45720" cy="1645920"/>
          </a:xfrm>
          <a:prstGeom prst="rect">
            <a:avLst>
              <a:gd name="adj" fmla="val 240000"/>
            </a:avLst>
          </a:prstGeom>
          <a:solidFill>
            <a:srgbClr val="10B981"/>
          </a:solidFill>
          <a:ln/>
        </p:spPr>
      </p:sp>
      <p:sp>
        <p:nvSpPr>
          <p:cNvPr id="21" name="Shape 19"/>
          <p:cNvSpPr/>
          <p:nvPr/>
        </p:nvSpPr>
        <p:spPr>
          <a:xfrm>
            <a:off x="8234477" y="1636776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8234477" y="163677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520" dirty="0"/>
          </a:p>
        </p:txBody>
      </p:sp>
      <p:sp>
        <p:nvSpPr>
          <p:cNvPr id="23" name="Text 21"/>
          <p:cNvSpPr/>
          <p:nvPr/>
        </p:nvSpPr>
        <p:spPr>
          <a:xfrm>
            <a:off x="8234477" y="2075688"/>
            <a:ext cx="3372002" cy="987552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variedade de técnicas de coleta permite uma abordagem abrangente e adaptada a cada contexto.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12648" y="3310128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25" name="Shape 23"/>
          <p:cNvSpPr/>
          <p:nvPr/>
        </p:nvSpPr>
        <p:spPr>
          <a:xfrm>
            <a:off x="594360" y="3282696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111D38"/>
          </a:solidFill>
          <a:ln/>
        </p:spPr>
      </p:sp>
      <p:sp>
        <p:nvSpPr>
          <p:cNvPr id="26" name="Shape 24"/>
          <p:cNvSpPr/>
          <p:nvPr/>
        </p:nvSpPr>
        <p:spPr>
          <a:xfrm>
            <a:off x="594360" y="3282696"/>
            <a:ext cx="45720" cy="1645920"/>
          </a:xfrm>
          <a:prstGeom prst="rect">
            <a:avLst>
              <a:gd name="adj" fmla="val 240000"/>
            </a:avLst>
          </a:prstGeom>
          <a:solidFill>
            <a:srgbClr val="F59E0B"/>
          </a:solidFill>
          <a:ln/>
        </p:spPr>
      </p:sp>
      <p:sp>
        <p:nvSpPr>
          <p:cNvPr id="27" name="Shape 25"/>
          <p:cNvSpPr/>
          <p:nvPr/>
        </p:nvSpPr>
        <p:spPr>
          <a:xfrm>
            <a:off x="722376" y="3410712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722376" y="341071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520" dirty="0"/>
          </a:p>
        </p:txBody>
      </p:sp>
      <p:sp>
        <p:nvSpPr>
          <p:cNvPr id="29" name="Text 27"/>
          <p:cNvSpPr/>
          <p:nvPr/>
        </p:nvSpPr>
        <p:spPr>
          <a:xfrm>
            <a:off x="722376" y="3849624"/>
            <a:ext cx="3372002" cy="987552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Priorize evidências diretas e independentes para maximizar a confiabilidade dos achados.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368698" y="3310128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31" name="Shape 29"/>
          <p:cNvSpPr/>
          <p:nvPr/>
        </p:nvSpPr>
        <p:spPr>
          <a:xfrm>
            <a:off x="4350410" y="3282696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111D38"/>
          </a:solidFill>
          <a:ln/>
        </p:spPr>
      </p:sp>
      <p:sp>
        <p:nvSpPr>
          <p:cNvPr id="32" name="Shape 30"/>
          <p:cNvSpPr/>
          <p:nvPr/>
        </p:nvSpPr>
        <p:spPr>
          <a:xfrm>
            <a:off x="4350410" y="3282696"/>
            <a:ext cx="45720" cy="1645920"/>
          </a:xfrm>
          <a:prstGeom prst="rect">
            <a:avLst>
              <a:gd name="adj" fmla="val 240000"/>
            </a:avLst>
          </a:prstGeom>
          <a:solidFill>
            <a:srgbClr val="06B6D4"/>
          </a:solidFill>
          <a:ln/>
        </p:spPr>
      </p:sp>
      <p:sp>
        <p:nvSpPr>
          <p:cNvPr id="33" name="Shape 31"/>
          <p:cNvSpPr/>
          <p:nvPr/>
        </p:nvSpPr>
        <p:spPr>
          <a:xfrm>
            <a:off x="4478426" y="3410712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06B6D4"/>
          </a:solidFill>
          <a:ln/>
        </p:spPr>
      </p:sp>
      <p:sp>
        <p:nvSpPr>
          <p:cNvPr id="34" name="Text 32"/>
          <p:cNvSpPr/>
          <p:nvPr/>
        </p:nvSpPr>
        <p:spPr>
          <a:xfrm>
            <a:off x="4478426" y="341071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520" dirty="0"/>
          </a:p>
        </p:txBody>
      </p:sp>
      <p:sp>
        <p:nvSpPr>
          <p:cNvPr id="35" name="Text 33"/>
          <p:cNvSpPr/>
          <p:nvPr/>
        </p:nvSpPr>
        <p:spPr>
          <a:xfrm>
            <a:off x="4478426" y="3849624"/>
            <a:ext cx="3372002" cy="987552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tecnologia e análise de dados são aliadas poderosas na coleta e interpretação de grandes volumes de informações.</a:t>
            </a:r>
            <a:endParaRPr lang="en-US" sz="14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5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8851" y="0"/>
            <a:ext cx="4632844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558851" y="0"/>
            <a:ext cx="36576" cy="6858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1"/>
          <p:cNvSpPr/>
          <p:nvPr/>
        </p:nvSpPr>
        <p:spPr>
          <a:xfrm>
            <a:off x="9631375" y="6656832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C0">
                    <a:alpha val="6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Foto: Vitaly Gariev / Unsplash</a:t>
            </a:r>
            <a:endParaRPr lang="en-US" sz="700" dirty="0"/>
          </a:p>
        </p:txBody>
      </p:sp>
      <p:sp>
        <p:nvSpPr>
          <p:cNvPr id="5" name="Shape 2"/>
          <p:cNvSpPr/>
          <p:nvPr/>
        </p:nvSpPr>
        <p:spPr>
          <a:xfrm>
            <a:off x="4535311" y="0"/>
            <a:ext cx="3023540" cy="115214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Shape 3"/>
          <p:cNvSpPr/>
          <p:nvPr/>
        </p:nvSpPr>
        <p:spPr>
          <a:xfrm>
            <a:off x="4535311" y="1143000"/>
            <a:ext cx="3023540" cy="115214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Shape 4"/>
          <p:cNvSpPr/>
          <p:nvPr/>
        </p:nvSpPr>
        <p:spPr>
          <a:xfrm>
            <a:off x="4535311" y="2286000"/>
            <a:ext cx="3023540" cy="115214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Shape 5"/>
          <p:cNvSpPr/>
          <p:nvPr/>
        </p:nvSpPr>
        <p:spPr>
          <a:xfrm>
            <a:off x="4535311" y="3429000"/>
            <a:ext cx="3023540" cy="115214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" name="Shape 6"/>
          <p:cNvSpPr/>
          <p:nvPr/>
        </p:nvSpPr>
        <p:spPr>
          <a:xfrm>
            <a:off x="4535311" y="4572000"/>
            <a:ext cx="3023540" cy="115214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Shape 7"/>
          <p:cNvSpPr/>
          <p:nvPr/>
        </p:nvSpPr>
        <p:spPr>
          <a:xfrm>
            <a:off x="4535311" y="5715000"/>
            <a:ext cx="3023540" cy="115214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Shape 8"/>
          <p:cNvSpPr/>
          <p:nvPr/>
        </p:nvSpPr>
        <p:spPr>
          <a:xfrm>
            <a:off x="731520" y="1005840"/>
            <a:ext cx="45720" cy="21031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Shape 9"/>
          <p:cNvSpPr/>
          <p:nvPr/>
        </p:nvSpPr>
        <p:spPr>
          <a:xfrm>
            <a:off x="804672" y="1005840"/>
            <a:ext cx="13716" cy="21031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Text 10"/>
          <p:cNvSpPr/>
          <p:nvPr/>
        </p:nvSpPr>
        <p:spPr>
          <a:xfrm>
            <a:off x="1005840" y="109728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F59E0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MÓDULO 4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1005840" y="1417320"/>
            <a:ext cx="1280160" cy="20117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2"/>
          <p:cNvSpPr/>
          <p:nvPr/>
        </p:nvSpPr>
        <p:spPr>
          <a:xfrm>
            <a:off x="1005840" y="1572768"/>
            <a:ext cx="5669138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Análise das Evidências e Formulação de Achados</a:t>
            </a:r>
            <a:endParaRPr lang="en-US" sz="3600" dirty="0"/>
          </a:p>
        </p:txBody>
      </p:sp>
      <p:sp>
        <p:nvSpPr>
          <p:cNvPr id="16" name="Shape 13"/>
          <p:cNvSpPr/>
          <p:nvPr/>
        </p:nvSpPr>
        <p:spPr>
          <a:xfrm>
            <a:off x="1005840" y="4142232"/>
            <a:ext cx="2011680" cy="10973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4"/>
          <p:cNvSpPr/>
          <p:nvPr/>
        </p:nvSpPr>
        <p:spPr>
          <a:xfrm>
            <a:off x="1005840" y="425196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500" kern="0" dirty="0">
                <a:solidFill>
                  <a:srgbClr val="F59E0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QUE VOCÊ VAI APRENDER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1005840" y="4590288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/>
        </p:spPr>
      </p:sp>
      <p:sp>
        <p:nvSpPr>
          <p:cNvPr id="19" name="Text 16"/>
          <p:cNvSpPr/>
          <p:nvPr/>
        </p:nvSpPr>
        <p:spPr>
          <a:xfrm>
            <a:off x="1234440" y="4544568"/>
            <a:ext cx="52911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Analisar metodologias para avaliação crítica de evidências em auditorias.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1005840" y="5047488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/>
        </p:spPr>
      </p:sp>
      <p:sp>
        <p:nvSpPr>
          <p:cNvPr id="21" name="Text 18"/>
          <p:cNvSpPr/>
          <p:nvPr/>
        </p:nvSpPr>
        <p:spPr>
          <a:xfrm>
            <a:off x="1234440" y="5001768"/>
            <a:ext cx="52911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Formular achados de auditoria e recomendações eficazes para a gestão pública.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1005840" y="5504688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/>
        </p:spPr>
      </p:sp>
      <p:sp>
        <p:nvSpPr>
          <p:cNvPr id="23" name="Text 20"/>
          <p:cNvSpPr/>
          <p:nvPr/>
        </p:nvSpPr>
        <p:spPr>
          <a:xfrm>
            <a:off x="1234440" y="5458968"/>
            <a:ext cx="52911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Apresentar o impacto da auditoria operacional na eficiência administrativa.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731520" y="6446520"/>
            <a:ext cx="542544" cy="7315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5" name="Shape 22"/>
          <p:cNvSpPr/>
          <p:nvPr/>
        </p:nvSpPr>
        <p:spPr>
          <a:xfrm>
            <a:off x="1264920" y="6446520"/>
            <a:ext cx="542544" cy="7315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6" name="Shape 23"/>
          <p:cNvSpPr/>
          <p:nvPr/>
        </p:nvSpPr>
        <p:spPr>
          <a:xfrm>
            <a:off x="1798320" y="6446520"/>
            <a:ext cx="542544" cy="7315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Shape 24"/>
          <p:cNvSpPr/>
          <p:nvPr/>
        </p:nvSpPr>
        <p:spPr>
          <a:xfrm>
            <a:off x="2331720" y="6446520"/>
            <a:ext cx="542544" cy="7315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8" name="Shape 25"/>
          <p:cNvSpPr/>
          <p:nvPr/>
        </p:nvSpPr>
        <p:spPr>
          <a:xfrm>
            <a:off x="2865120" y="6446520"/>
            <a:ext cx="542544" cy="7315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9" name="Shape 26"/>
          <p:cNvSpPr/>
          <p:nvPr/>
        </p:nvSpPr>
        <p:spPr>
          <a:xfrm>
            <a:off x="3398520" y="6446520"/>
            <a:ext cx="542544" cy="7315"/>
          </a:xfrm>
          <a:prstGeom prst="rect">
            <a:avLst/>
          </a:prstGeom>
          <a:solidFill>
            <a:srgbClr val="F59E0B"/>
          </a:solidFill>
          <a:ln/>
        </p:spPr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10B98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FUNDAMENTOS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493776"/>
            <a:ext cx="640080" cy="2194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Fundamentos da Análise de Evidências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389888"/>
            <a:ext cx="11185855" cy="7315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408176"/>
            <a:ext cx="11185855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9" name="Shape 7"/>
          <p:cNvSpPr/>
          <p:nvPr/>
        </p:nvSpPr>
        <p:spPr>
          <a:xfrm>
            <a:off x="594360" y="1508760"/>
            <a:ext cx="11094415" cy="1463040"/>
          </a:xfrm>
          <a:prstGeom prst="roundRect">
            <a:avLst>
              <a:gd name="adj" fmla="val 6250"/>
            </a:avLst>
          </a:prstGeom>
          <a:solidFill>
            <a:srgbClr val="050A18"/>
          </a:solidFill>
          <a:ln/>
        </p:spPr>
      </p:sp>
      <p:sp>
        <p:nvSpPr>
          <p:cNvPr id="10" name="Shape 8"/>
          <p:cNvSpPr/>
          <p:nvPr/>
        </p:nvSpPr>
        <p:spPr>
          <a:xfrm>
            <a:off x="722376" y="1636776"/>
            <a:ext cx="45720" cy="12070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886968" y="1581912"/>
            <a:ext cx="10655503" cy="1316736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900" i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análise de evidências e a formulação de achados são cruciais na auditoria operacional.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630936" y="3456432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795528" y="3136392"/>
            <a:ext cx="10893247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Este processo transforma informações brutas em conhecimento acionável para melhorias significativas.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30936" y="4242816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795528" y="3922776"/>
            <a:ext cx="10893247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É preciso compreender os dados e extrair pontos críticos para impulsionar mudanças necessárias.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30936" y="5029200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795528" y="4709160"/>
            <a:ext cx="10893247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comunicação clara e objetiva desses achados é essencial para o sucesso da auditoria.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9" name="Shape 17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0" name="Shape 18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1" name="Shape 19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2" name="Shape 20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3" name="Shape 21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4" name="Shape 22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23 / 48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10B98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COMO FUNCIONA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493776"/>
            <a:ext cx="640080" cy="2194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Processo de Análise e Elementos do Achado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389888"/>
            <a:ext cx="11185855" cy="7315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408176"/>
            <a:ext cx="11185855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9" name="Shape 7"/>
          <p:cNvSpPr/>
          <p:nvPr/>
        </p:nvSpPr>
        <p:spPr>
          <a:xfrm>
            <a:off x="683971" y="1517904"/>
            <a:ext cx="21946" cy="4919472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10" name="Shape 8"/>
          <p:cNvSpPr/>
          <p:nvPr/>
        </p:nvSpPr>
        <p:spPr>
          <a:xfrm>
            <a:off x="594360" y="1732026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6C63FF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173202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69264" y="1453896"/>
            <a:ext cx="10884103" cy="812292"/>
          </a:xfrm>
          <a:prstGeom prst="roundRect">
            <a:avLst>
              <a:gd name="adj" fmla="val 11257"/>
            </a:avLst>
          </a:prstGeom>
          <a:solidFill>
            <a:srgbClr val="000000"/>
          </a:solidFill>
          <a:ln/>
        </p:spPr>
      </p:sp>
      <p:sp>
        <p:nvSpPr>
          <p:cNvPr id="13" name="Shape 11"/>
          <p:cNvSpPr/>
          <p:nvPr/>
        </p:nvSpPr>
        <p:spPr>
          <a:xfrm>
            <a:off x="941832" y="1417320"/>
            <a:ext cx="10884103" cy="812292"/>
          </a:xfrm>
          <a:prstGeom prst="roundRect">
            <a:avLst>
              <a:gd name="adj" fmla="val 6754"/>
            </a:avLst>
          </a:prstGeom>
          <a:solidFill>
            <a:srgbClr val="141E34"/>
          </a:solidFill>
          <a:ln/>
        </p:spPr>
      </p:sp>
      <p:sp>
        <p:nvSpPr>
          <p:cNvPr id="14" name="Shape 12"/>
          <p:cNvSpPr/>
          <p:nvPr/>
        </p:nvSpPr>
        <p:spPr>
          <a:xfrm>
            <a:off x="941832" y="1417320"/>
            <a:ext cx="45720" cy="812292"/>
          </a:xfrm>
          <a:prstGeom prst="rect">
            <a:avLst>
              <a:gd name="adj" fmla="val 120000"/>
            </a:avLst>
          </a:prstGeom>
          <a:solidFill>
            <a:srgbClr val="6C63FF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1435608"/>
            <a:ext cx="10637215" cy="3156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6C63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Análise Documental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97280" y="1732940"/>
            <a:ext cx="10637215" cy="481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Exame crítico de aquisições, contratos e folha de pagamentos para conformidade.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13232" y="2188464"/>
            <a:ext cx="182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59E0B">
                    <a:alpha val="60000"/>
                  </a:srgbClr>
                </a:solidFill>
              </a:rPr>
              <a:t>▼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594360" y="2590038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259003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69264" y="2311908"/>
            <a:ext cx="10884103" cy="812292"/>
          </a:xfrm>
          <a:prstGeom prst="roundRect">
            <a:avLst>
              <a:gd name="adj" fmla="val 11257"/>
            </a:avLst>
          </a:prstGeom>
          <a:solidFill>
            <a:srgbClr val="000000"/>
          </a:solidFill>
          <a:ln/>
        </p:spPr>
      </p:sp>
      <p:sp>
        <p:nvSpPr>
          <p:cNvPr id="21" name="Shape 19"/>
          <p:cNvSpPr/>
          <p:nvPr/>
        </p:nvSpPr>
        <p:spPr>
          <a:xfrm>
            <a:off x="941832" y="2275332"/>
            <a:ext cx="10884103" cy="812292"/>
          </a:xfrm>
          <a:prstGeom prst="roundRect">
            <a:avLst>
              <a:gd name="adj" fmla="val 6754"/>
            </a:avLst>
          </a:prstGeom>
          <a:solidFill>
            <a:srgbClr val="141E34"/>
          </a:solidFill>
          <a:ln/>
        </p:spPr>
      </p:sp>
      <p:sp>
        <p:nvSpPr>
          <p:cNvPr id="22" name="Shape 20"/>
          <p:cNvSpPr/>
          <p:nvPr/>
        </p:nvSpPr>
        <p:spPr>
          <a:xfrm>
            <a:off x="941832" y="2275332"/>
            <a:ext cx="45720" cy="812292"/>
          </a:xfrm>
          <a:prstGeom prst="rect">
            <a:avLst>
              <a:gd name="adj" fmla="val 120000"/>
            </a:avLst>
          </a:prstGeom>
          <a:solidFill>
            <a:srgbClr val="3B82F6"/>
          </a:solidFill>
          <a:ln/>
        </p:spPr>
      </p:sp>
      <p:sp>
        <p:nvSpPr>
          <p:cNvPr id="23" name="Text 21"/>
          <p:cNvSpPr/>
          <p:nvPr/>
        </p:nvSpPr>
        <p:spPr>
          <a:xfrm>
            <a:off x="1097280" y="2293620"/>
            <a:ext cx="10637215" cy="3156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3B82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Análise de Dados Quantitativos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097280" y="2590952"/>
            <a:ext cx="10637215" cy="481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Aplicação de técnicas estatísticas para volume de dados e tendências.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13232" y="3046476"/>
            <a:ext cx="182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C63FF">
                    <a:alpha val="60000"/>
                  </a:srgbClr>
                </a:solidFill>
              </a:rPr>
              <a:t>▼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594360" y="3448050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10B981"/>
          </a:solidFill>
          <a:ln/>
        </p:spPr>
      </p:sp>
      <p:sp>
        <p:nvSpPr>
          <p:cNvPr id="27" name="Text 25"/>
          <p:cNvSpPr/>
          <p:nvPr/>
        </p:nvSpPr>
        <p:spPr>
          <a:xfrm>
            <a:off x="594360" y="344805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969264" y="3169920"/>
            <a:ext cx="10884103" cy="812292"/>
          </a:xfrm>
          <a:prstGeom prst="roundRect">
            <a:avLst>
              <a:gd name="adj" fmla="val 11257"/>
            </a:avLst>
          </a:prstGeom>
          <a:solidFill>
            <a:srgbClr val="000000"/>
          </a:solidFill>
          <a:ln/>
        </p:spPr>
      </p:sp>
      <p:sp>
        <p:nvSpPr>
          <p:cNvPr id="29" name="Shape 27"/>
          <p:cNvSpPr/>
          <p:nvPr/>
        </p:nvSpPr>
        <p:spPr>
          <a:xfrm>
            <a:off x="941832" y="3133344"/>
            <a:ext cx="10884103" cy="812292"/>
          </a:xfrm>
          <a:prstGeom prst="roundRect">
            <a:avLst>
              <a:gd name="adj" fmla="val 6754"/>
            </a:avLst>
          </a:prstGeom>
          <a:solidFill>
            <a:srgbClr val="141E34"/>
          </a:solidFill>
          <a:ln/>
        </p:spPr>
      </p:sp>
      <p:sp>
        <p:nvSpPr>
          <p:cNvPr id="30" name="Shape 28"/>
          <p:cNvSpPr/>
          <p:nvPr/>
        </p:nvSpPr>
        <p:spPr>
          <a:xfrm>
            <a:off x="941832" y="3133344"/>
            <a:ext cx="45720" cy="812292"/>
          </a:xfrm>
          <a:prstGeom prst="rect">
            <a:avLst>
              <a:gd name="adj" fmla="val 120000"/>
            </a:avLst>
          </a:prstGeom>
          <a:solidFill>
            <a:srgbClr val="10B981"/>
          </a:solidFill>
          <a:ln/>
        </p:spPr>
      </p:sp>
      <p:sp>
        <p:nvSpPr>
          <p:cNvPr id="31" name="Text 29"/>
          <p:cNvSpPr/>
          <p:nvPr/>
        </p:nvSpPr>
        <p:spPr>
          <a:xfrm>
            <a:off x="1097280" y="3151632"/>
            <a:ext cx="10637215" cy="3156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Análise de Dados Qualitativos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097280" y="3448964"/>
            <a:ext cx="10637215" cy="481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Interpretação de informações não numéricas como entrevistas e observações.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13232" y="3904488"/>
            <a:ext cx="182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0B981">
                    <a:alpha val="60000"/>
                  </a:srgbClr>
                </a:solidFill>
              </a:rPr>
              <a:t>▼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594360" y="4306062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F59E0B"/>
          </a:solidFill>
          <a:ln/>
        </p:spPr>
      </p:sp>
      <p:sp>
        <p:nvSpPr>
          <p:cNvPr id="35" name="Text 33"/>
          <p:cNvSpPr/>
          <p:nvPr/>
        </p:nvSpPr>
        <p:spPr>
          <a:xfrm>
            <a:off x="594360" y="430606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969264" y="4027932"/>
            <a:ext cx="10884103" cy="812292"/>
          </a:xfrm>
          <a:prstGeom prst="roundRect">
            <a:avLst>
              <a:gd name="adj" fmla="val 11257"/>
            </a:avLst>
          </a:prstGeom>
          <a:solidFill>
            <a:srgbClr val="000000"/>
          </a:solidFill>
          <a:ln/>
        </p:spPr>
      </p:sp>
      <p:sp>
        <p:nvSpPr>
          <p:cNvPr id="37" name="Shape 35"/>
          <p:cNvSpPr/>
          <p:nvPr/>
        </p:nvSpPr>
        <p:spPr>
          <a:xfrm>
            <a:off x="941832" y="3991356"/>
            <a:ext cx="10884103" cy="812292"/>
          </a:xfrm>
          <a:prstGeom prst="roundRect">
            <a:avLst>
              <a:gd name="adj" fmla="val 6754"/>
            </a:avLst>
          </a:prstGeom>
          <a:solidFill>
            <a:srgbClr val="141E34"/>
          </a:solidFill>
          <a:ln/>
        </p:spPr>
      </p:sp>
      <p:sp>
        <p:nvSpPr>
          <p:cNvPr id="38" name="Shape 36"/>
          <p:cNvSpPr/>
          <p:nvPr/>
        </p:nvSpPr>
        <p:spPr>
          <a:xfrm>
            <a:off x="941832" y="3991356"/>
            <a:ext cx="45720" cy="812292"/>
          </a:xfrm>
          <a:prstGeom prst="rect">
            <a:avLst>
              <a:gd name="adj" fmla="val 120000"/>
            </a:avLst>
          </a:prstGeom>
          <a:solidFill>
            <a:srgbClr val="F59E0B"/>
          </a:solidFill>
          <a:ln/>
        </p:spPr>
      </p:sp>
      <p:sp>
        <p:nvSpPr>
          <p:cNvPr id="39" name="Text 37"/>
          <p:cNvSpPr/>
          <p:nvPr/>
        </p:nvSpPr>
        <p:spPr>
          <a:xfrm>
            <a:off x="1097280" y="4009644"/>
            <a:ext cx="10637215" cy="3156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Triangulação de Evidências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1097280" y="4306976"/>
            <a:ext cx="10637215" cy="481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Combinação de diferentes fontes para aumentar confiabilidade e credibilidade.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713232" y="4762500"/>
            <a:ext cx="182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6B6D4">
                    <a:alpha val="60000"/>
                  </a:srgbClr>
                </a:solidFill>
              </a:rPr>
              <a:t>▼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594360" y="5164074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06B6D4"/>
          </a:solidFill>
          <a:ln/>
        </p:spPr>
      </p:sp>
      <p:sp>
        <p:nvSpPr>
          <p:cNvPr id="43" name="Text 41"/>
          <p:cNvSpPr/>
          <p:nvPr/>
        </p:nvSpPr>
        <p:spPr>
          <a:xfrm>
            <a:off x="594360" y="5164074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969264" y="4885944"/>
            <a:ext cx="10884103" cy="812292"/>
          </a:xfrm>
          <a:prstGeom prst="roundRect">
            <a:avLst>
              <a:gd name="adj" fmla="val 11257"/>
            </a:avLst>
          </a:prstGeom>
          <a:solidFill>
            <a:srgbClr val="000000"/>
          </a:solidFill>
          <a:ln/>
        </p:spPr>
      </p:sp>
      <p:sp>
        <p:nvSpPr>
          <p:cNvPr id="45" name="Shape 43"/>
          <p:cNvSpPr/>
          <p:nvPr/>
        </p:nvSpPr>
        <p:spPr>
          <a:xfrm>
            <a:off x="941832" y="4849368"/>
            <a:ext cx="10884103" cy="812292"/>
          </a:xfrm>
          <a:prstGeom prst="roundRect">
            <a:avLst>
              <a:gd name="adj" fmla="val 6754"/>
            </a:avLst>
          </a:prstGeom>
          <a:solidFill>
            <a:srgbClr val="141E34"/>
          </a:solidFill>
          <a:ln/>
        </p:spPr>
      </p:sp>
      <p:sp>
        <p:nvSpPr>
          <p:cNvPr id="46" name="Shape 44"/>
          <p:cNvSpPr/>
          <p:nvPr/>
        </p:nvSpPr>
        <p:spPr>
          <a:xfrm>
            <a:off x="941832" y="4849368"/>
            <a:ext cx="45720" cy="812292"/>
          </a:xfrm>
          <a:prstGeom prst="rect">
            <a:avLst>
              <a:gd name="adj" fmla="val 120000"/>
            </a:avLst>
          </a:prstGeom>
          <a:solidFill>
            <a:srgbClr val="06B6D4"/>
          </a:solidFill>
          <a:ln/>
        </p:spPr>
      </p:sp>
      <p:sp>
        <p:nvSpPr>
          <p:cNvPr id="47" name="Text 45"/>
          <p:cNvSpPr/>
          <p:nvPr/>
        </p:nvSpPr>
        <p:spPr>
          <a:xfrm>
            <a:off x="1097280" y="4867656"/>
            <a:ext cx="10637215" cy="3156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06B6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Critérios de Avaliação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1097280" y="5164988"/>
            <a:ext cx="10637215" cy="481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Evidências devem ser suficientes, relevantes, confiáveis e úteis para a auditoria.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713232" y="5620512"/>
            <a:ext cx="182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B82F6">
                    <a:alpha val="60000"/>
                  </a:srgbClr>
                </a:solidFill>
              </a:rPr>
              <a:t>▼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594360" y="6022086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6C63FF"/>
          </a:solidFill>
          <a:ln/>
        </p:spPr>
      </p:sp>
      <p:sp>
        <p:nvSpPr>
          <p:cNvPr id="51" name="Text 49"/>
          <p:cNvSpPr/>
          <p:nvPr/>
        </p:nvSpPr>
        <p:spPr>
          <a:xfrm>
            <a:off x="594360" y="602208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969264" y="5743956"/>
            <a:ext cx="10884103" cy="812292"/>
          </a:xfrm>
          <a:prstGeom prst="roundRect">
            <a:avLst>
              <a:gd name="adj" fmla="val 11257"/>
            </a:avLst>
          </a:prstGeom>
          <a:solidFill>
            <a:srgbClr val="000000"/>
          </a:solidFill>
          <a:ln/>
        </p:spPr>
      </p:sp>
      <p:sp>
        <p:nvSpPr>
          <p:cNvPr id="53" name="Shape 51"/>
          <p:cNvSpPr/>
          <p:nvPr/>
        </p:nvSpPr>
        <p:spPr>
          <a:xfrm>
            <a:off x="941832" y="5707380"/>
            <a:ext cx="10884103" cy="812292"/>
          </a:xfrm>
          <a:prstGeom prst="roundRect">
            <a:avLst>
              <a:gd name="adj" fmla="val 6754"/>
            </a:avLst>
          </a:prstGeom>
          <a:solidFill>
            <a:srgbClr val="141E34"/>
          </a:solidFill>
          <a:ln/>
        </p:spPr>
      </p:sp>
      <p:sp>
        <p:nvSpPr>
          <p:cNvPr id="54" name="Shape 52"/>
          <p:cNvSpPr/>
          <p:nvPr/>
        </p:nvSpPr>
        <p:spPr>
          <a:xfrm>
            <a:off x="941832" y="5707380"/>
            <a:ext cx="45720" cy="812292"/>
          </a:xfrm>
          <a:prstGeom prst="rect">
            <a:avLst>
              <a:gd name="adj" fmla="val 120000"/>
            </a:avLst>
          </a:prstGeom>
          <a:solidFill>
            <a:srgbClr val="6C63FF"/>
          </a:solidFill>
          <a:ln/>
        </p:spPr>
      </p:sp>
      <p:sp>
        <p:nvSpPr>
          <p:cNvPr id="55" name="Text 53"/>
          <p:cNvSpPr/>
          <p:nvPr/>
        </p:nvSpPr>
        <p:spPr>
          <a:xfrm>
            <a:off x="1097280" y="5725668"/>
            <a:ext cx="10637215" cy="3156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6C63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Elementos do Achado (4 C's)</a:t>
            </a:r>
            <a:endParaRPr lang="en-US" sz="1500" dirty="0"/>
          </a:p>
        </p:txBody>
      </p:sp>
      <p:sp>
        <p:nvSpPr>
          <p:cNvPr id="56" name="Text 54"/>
          <p:cNvSpPr/>
          <p:nvPr/>
        </p:nvSpPr>
        <p:spPr>
          <a:xfrm>
            <a:off x="1097280" y="6023000"/>
            <a:ext cx="10637215" cy="481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Critério, Condição, Causa e Efeito devem ser claramente definidos.</a:t>
            </a:r>
            <a:endParaRPr lang="en-US" sz="1400" dirty="0"/>
          </a:p>
        </p:txBody>
      </p:sp>
      <p:sp>
        <p:nvSpPr>
          <p:cNvPr id="57" name="Shape 55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8" name="Shape 56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9" name="Shape 57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60" name="Shape 58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61" name="Shape 59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62" name="Shape 60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63" name="Shape 61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64" name="Text 62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24 / 48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06B6D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 C'S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493776"/>
            <a:ext cx="640080" cy="2194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Os 4 Elementos Essenciais do Achado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389888"/>
            <a:ext cx="11185855" cy="7315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408176"/>
            <a:ext cx="11185855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9" name="Shape 7"/>
          <p:cNvSpPr/>
          <p:nvPr/>
        </p:nvSpPr>
        <p:spPr>
          <a:xfrm>
            <a:off x="621792" y="1545336"/>
            <a:ext cx="11094415" cy="1152144"/>
          </a:xfrm>
          <a:prstGeom prst="roundRect">
            <a:avLst>
              <a:gd name="adj" fmla="val 7937"/>
            </a:avLst>
          </a:prstGeom>
          <a:solidFill>
            <a:srgbClr val="000000"/>
          </a:solidFill>
          <a:ln/>
        </p:spPr>
      </p:sp>
      <p:sp>
        <p:nvSpPr>
          <p:cNvPr id="10" name="Shape 8"/>
          <p:cNvSpPr/>
          <p:nvPr/>
        </p:nvSpPr>
        <p:spPr>
          <a:xfrm>
            <a:off x="594360" y="1508760"/>
            <a:ext cx="11094415" cy="1152144"/>
          </a:xfrm>
          <a:prstGeom prst="roundRect">
            <a:avLst>
              <a:gd name="adj" fmla="val 6349"/>
            </a:avLst>
          </a:prstGeom>
          <a:solidFill>
            <a:srgbClr val="141E34"/>
          </a:solidFill>
          <a:ln w="3810">
            <a:solidFill>
              <a:srgbClr val="222E4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1508760"/>
            <a:ext cx="54864" cy="1152144"/>
          </a:xfrm>
          <a:prstGeom prst="rect">
            <a:avLst>
              <a:gd name="adj" fmla="val 133333"/>
            </a:avLst>
          </a:prstGeom>
          <a:solidFill>
            <a:srgbClr val="6C63FF"/>
          </a:solidFill>
          <a:ln/>
        </p:spPr>
      </p:sp>
      <p:sp>
        <p:nvSpPr>
          <p:cNvPr id="12" name="Shape 10"/>
          <p:cNvSpPr/>
          <p:nvPr/>
        </p:nvSpPr>
        <p:spPr>
          <a:xfrm>
            <a:off x="758952" y="192938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6C63FF"/>
          </a:solidFill>
          <a:ln/>
        </p:spPr>
      </p:sp>
      <p:sp>
        <p:nvSpPr>
          <p:cNvPr id="13" name="Text 11"/>
          <p:cNvSpPr/>
          <p:nvPr/>
        </p:nvSpPr>
        <p:spPr>
          <a:xfrm>
            <a:off x="758952" y="192938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97864" y="1536192"/>
            <a:ext cx="10399471" cy="10972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6C63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Critério: </a:t>
            </a:r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Representa o padrão, a norma ou a expectativa desejada para aquela situação.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21792" y="2807208"/>
            <a:ext cx="11094415" cy="1152144"/>
          </a:xfrm>
          <a:prstGeom prst="roundRect">
            <a:avLst>
              <a:gd name="adj" fmla="val 7937"/>
            </a:avLst>
          </a:prstGeom>
          <a:solidFill>
            <a:srgbClr val="000000"/>
          </a:solidFill>
          <a:ln/>
        </p:spPr>
      </p:sp>
      <p:sp>
        <p:nvSpPr>
          <p:cNvPr id="16" name="Shape 14"/>
          <p:cNvSpPr/>
          <p:nvPr/>
        </p:nvSpPr>
        <p:spPr>
          <a:xfrm>
            <a:off x="594360" y="2770632"/>
            <a:ext cx="11094415" cy="1152144"/>
          </a:xfrm>
          <a:prstGeom prst="roundRect">
            <a:avLst>
              <a:gd name="adj" fmla="val 6349"/>
            </a:avLst>
          </a:prstGeom>
          <a:solidFill>
            <a:srgbClr val="141E34"/>
          </a:solidFill>
          <a:ln w="3810">
            <a:solidFill>
              <a:srgbClr val="222E4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" y="2770632"/>
            <a:ext cx="54864" cy="1152144"/>
          </a:xfrm>
          <a:prstGeom prst="rect">
            <a:avLst>
              <a:gd name="adj" fmla="val 133333"/>
            </a:avLst>
          </a:prstGeom>
          <a:solidFill>
            <a:srgbClr val="3B82F6"/>
          </a:solidFill>
          <a:ln/>
        </p:spPr>
      </p:sp>
      <p:sp>
        <p:nvSpPr>
          <p:cNvPr id="18" name="Shape 16"/>
          <p:cNvSpPr/>
          <p:nvPr/>
        </p:nvSpPr>
        <p:spPr>
          <a:xfrm>
            <a:off x="758952" y="319125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758952" y="319125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97864" y="2798064"/>
            <a:ext cx="10399471" cy="10972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3B82F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Condição: </a:t>
            </a:r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Descreve a situação real encontrada, o que está acontecendo no momento da auditoria.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21792" y="4069080"/>
            <a:ext cx="11094415" cy="1152144"/>
          </a:xfrm>
          <a:prstGeom prst="roundRect">
            <a:avLst>
              <a:gd name="adj" fmla="val 7937"/>
            </a:avLst>
          </a:prstGeom>
          <a:solidFill>
            <a:srgbClr val="000000"/>
          </a:solidFill>
          <a:ln/>
        </p:spPr>
      </p:sp>
      <p:sp>
        <p:nvSpPr>
          <p:cNvPr id="22" name="Shape 20"/>
          <p:cNvSpPr/>
          <p:nvPr/>
        </p:nvSpPr>
        <p:spPr>
          <a:xfrm>
            <a:off x="594360" y="4032504"/>
            <a:ext cx="11094415" cy="1152144"/>
          </a:xfrm>
          <a:prstGeom prst="roundRect">
            <a:avLst>
              <a:gd name="adj" fmla="val 6349"/>
            </a:avLst>
          </a:prstGeom>
          <a:solidFill>
            <a:srgbClr val="141E34"/>
          </a:solidFill>
          <a:ln w="3810">
            <a:solidFill>
              <a:srgbClr val="222E4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" y="4032504"/>
            <a:ext cx="54864" cy="1152144"/>
          </a:xfrm>
          <a:prstGeom prst="rect">
            <a:avLst>
              <a:gd name="adj" fmla="val 133333"/>
            </a:avLst>
          </a:prstGeom>
          <a:solidFill>
            <a:srgbClr val="10B981"/>
          </a:solidFill>
          <a:ln/>
        </p:spPr>
      </p:sp>
      <p:sp>
        <p:nvSpPr>
          <p:cNvPr id="24" name="Shape 22"/>
          <p:cNvSpPr/>
          <p:nvPr/>
        </p:nvSpPr>
        <p:spPr>
          <a:xfrm>
            <a:off x="758952" y="445312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0B981"/>
          </a:solidFill>
          <a:ln/>
        </p:spPr>
      </p:sp>
      <p:sp>
        <p:nvSpPr>
          <p:cNvPr id="25" name="Text 23"/>
          <p:cNvSpPr/>
          <p:nvPr/>
        </p:nvSpPr>
        <p:spPr>
          <a:xfrm>
            <a:off x="758952" y="445312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197864" y="4059936"/>
            <a:ext cx="10399471" cy="10972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10B98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Causa: </a:t>
            </a:r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Indica a razão fundamental ou o motivo pelo qual a condição difere do critério esperado.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21792" y="5330952"/>
            <a:ext cx="11094415" cy="1152144"/>
          </a:xfrm>
          <a:prstGeom prst="roundRect">
            <a:avLst>
              <a:gd name="adj" fmla="val 7937"/>
            </a:avLst>
          </a:prstGeom>
          <a:solidFill>
            <a:srgbClr val="000000"/>
          </a:solidFill>
          <a:ln/>
        </p:spPr>
      </p:sp>
      <p:sp>
        <p:nvSpPr>
          <p:cNvPr id="28" name="Shape 26"/>
          <p:cNvSpPr/>
          <p:nvPr/>
        </p:nvSpPr>
        <p:spPr>
          <a:xfrm>
            <a:off x="594360" y="5294376"/>
            <a:ext cx="11094415" cy="1152144"/>
          </a:xfrm>
          <a:prstGeom prst="roundRect">
            <a:avLst>
              <a:gd name="adj" fmla="val 6349"/>
            </a:avLst>
          </a:prstGeom>
          <a:solidFill>
            <a:srgbClr val="141E34"/>
          </a:solidFill>
          <a:ln w="3810">
            <a:solidFill>
              <a:srgbClr val="222E4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" y="5294376"/>
            <a:ext cx="54864" cy="1152144"/>
          </a:xfrm>
          <a:prstGeom prst="rect">
            <a:avLst>
              <a:gd name="adj" fmla="val 133333"/>
            </a:avLst>
          </a:prstGeom>
          <a:solidFill>
            <a:srgbClr val="F59E0B"/>
          </a:solidFill>
          <a:ln/>
        </p:spPr>
      </p:sp>
      <p:sp>
        <p:nvSpPr>
          <p:cNvPr id="30" name="Shape 28"/>
          <p:cNvSpPr/>
          <p:nvPr/>
        </p:nvSpPr>
        <p:spPr>
          <a:xfrm>
            <a:off x="758952" y="571500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758952" y="571500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197864" y="5321808"/>
            <a:ext cx="10399471" cy="10972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F59E0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Efeito: </a:t>
            </a:r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Apresenta o impacto, a consequência ou o risco gerado pela diferença entre condição e critério.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4" name="Shape 32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5" name="Shape 33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6" name="Shape 34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7" name="Shape 35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8" name="Shape 36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9" name="Shape 37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40" name="Text 38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25 / 48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F59E0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APLICAÇÕES REAIS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493776"/>
            <a:ext cx="640080" cy="2194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Aplicando a Análise na Gestão Pública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389888"/>
            <a:ext cx="11185855" cy="7315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408176"/>
            <a:ext cx="11185855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9" name="Shape 7"/>
          <p:cNvSpPr/>
          <p:nvPr/>
        </p:nvSpPr>
        <p:spPr>
          <a:xfrm>
            <a:off x="621792" y="1572768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000000"/>
          </a:solidFill>
          <a:ln/>
        </p:spPr>
      </p:sp>
      <p:sp>
        <p:nvSpPr>
          <p:cNvPr id="10" name="Shape 8"/>
          <p:cNvSpPr/>
          <p:nvPr/>
        </p:nvSpPr>
        <p:spPr>
          <a:xfrm>
            <a:off x="594360" y="1536192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141E34"/>
          </a:solidFill>
          <a:ln/>
        </p:spPr>
      </p:sp>
      <p:sp>
        <p:nvSpPr>
          <p:cNvPr id="11" name="Shape 9"/>
          <p:cNvSpPr/>
          <p:nvPr/>
        </p:nvSpPr>
        <p:spPr>
          <a:xfrm>
            <a:off x="594360" y="1536192"/>
            <a:ext cx="3603650" cy="45720"/>
          </a:xfrm>
          <a:prstGeom prst="rect">
            <a:avLst>
              <a:gd name="adj" fmla="val 200000"/>
            </a:avLst>
          </a:prstGeom>
          <a:solidFill>
            <a:srgbClr val="6C63FF"/>
          </a:solidFill>
          <a:ln/>
        </p:spPr>
      </p:sp>
      <p:sp>
        <p:nvSpPr>
          <p:cNvPr id="12" name="Shape 10"/>
          <p:cNvSpPr/>
          <p:nvPr/>
        </p:nvSpPr>
        <p:spPr>
          <a:xfrm>
            <a:off x="685800" y="166420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6C63FF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16642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088" dirty="0"/>
          </a:p>
        </p:txBody>
      </p:sp>
      <p:sp>
        <p:nvSpPr>
          <p:cNvPr id="14" name="Text 12"/>
          <p:cNvSpPr/>
          <p:nvPr/>
        </p:nvSpPr>
        <p:spPr>
          <a:xfrm>
            <a:off x="1051560" y="1645920"/>
            <a:ext cx="305501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6C63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Capacitação Continuada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85800" y="2048256"/>
            <a:ext cx="3420770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16" name="Text 14"/>
          <p:cNvSpPr/>
          <p:nvPr/>
        </p:nvSpPr>
        <p:spPr>
          <a:xfrm>
            <a:off x="704088" y="2121408"/>
            <a:ext cx="3384194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Implementar programas para servidores sobre leis de licitações e gestão de contratos.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390034" y="1572768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000000"/>
          </a:solidFill>
          <a:ln/>
        </p:spPr>
      </p:sp>
      <p:sp>
        <p:nvSpPr>
          <p:cNvPr id="18" name="Shape 16"/>
          <p:cNvSpPr/>
          <p:nvPr/>
        </p:nvSpPr>
        <p:spPr>
          <a:xfrm>
            <a:off x="4362602" y="1536192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141E34"/>
          </a:solidFill>
          <a:ln/>
        </p:spPr>
      </p:sp>
      <p:sp>
        <p:nvSpPr>
          <p:cNvPr id="19" name="Shape 17"/>
          <p:cNvSpPr/>
          <p:nvPr/>
        </p:nvSpPr>
        <p:spPr>
          <a:xfrm>
            <a:off x="4362602" y="1536192"/>
            <a:ext cx="3603650" cy="45720"/>
          </a:xfrm>
          <a:prstGeom prst="rect">
            <a:avLst>
              <a:gd name="adj" fmla="val 200000"/>
            </a:avLst>
          </a:prstGeom>
          <a:solidFill>
            <a:srgbClr val="3B82F6"/>
          </a:solidFill>
          <a:ln/>
        </p:spPr>
      </p:sp>
      <p:sp>
        <p:nvSpPr>
          <p:cNvPr id="20" name="Shape 18"/>
          <p:cNvSpPr/>
          <p:nvPr/>
        </p:nvSpPr>
        <p:spPr>
          <a:xfrm>
            <a:off x="4454042" y="166420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3B82F6"/>
          </a:solidFill>
          <a:ln/>
        </p:spPr>
      </p:sp>
      <p:sp>
        <p:nvSpPr>
          <p:cNvPr id="21" name="Text 19"/>
          <p:cNvSpPr/>
          <p:nvPr/>
        </p:nvSpPr>
        <p:spPr>
          <a:xfrm>
            <a:off x="4454042" y="16642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088" dirty="0"/>
          </a:p>
        </p:txBody>
      </p:sp>
      <p:sp>
        <p:nvSpPr>
          <p:cNvPr id="22" name="Text 20"/>
          <p:cNvSpPr/>
          <p:nvPr/>
        </p:nvSpPr>
        <p:spPr>
          <a:xfrm>
            <a:off x="4819802" y="1645920"/>
            <a:ext cx="305501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3B82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Sistemas de Gestão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454042" y="2048256"/>
            <a:ext cx="3420770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24" name="Text 22"/>
          <p:cNvSpPr/>
          <p:nvPr/>
        </p:nvSpPr>
        <p:spPr>
          <a:xfrm>
            <a:off x="4472330" y="2121408"/>
            <a:ext cx="3384194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Desenvolver softwares de compras que exijam conformidade documental completa.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158277" y="1572768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000000"/>
          </a:solidFill>
          <a:ln/>
        </p:spPr>
      </p:sp>
      <p:sp>
        <p:nvSpPr>
          <p:cNvPr id="26" name="Shape 24"/>
          <p:cNvSpPr/>
          <p:nvPr/>
        </p:nvSpPr>
        <p:spPr>
          <a:xfrm>
            <a:off x="8130845" y="1536192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141E34"/>
          </a:solidFill>
          <a:ln/>
        </p:spPr>
      </p:sp>
      <p:sp>
        <p:nvSpPr>
          <p:cNvPr id="27" name="Shape 25"/>
          <p:cNvSpPr/>
          <p:nvPr/>
        </p:nvSpPr>
        <p:spPr>
          <a:xfrm>
            <a:off x="8130845" y="1536192"/>
            <a:ext cx="3603650" cy="45720"/>
          </a:xfrm>
          <a:prstGeom prst="rect">
            <a:avLst>
              <a:gd name="adj" fmla="val 200000"/>
            </a:avLst>
          </a:prstGeom>
          <a:solidFill>
            <a:srgbClr val="10B981"/>
          </a:solidFill>
          <a:ln/>
        </p:spPr>
      </p:sp>
      <p:sp>
        <p:nvSpPr>
          <p:cNvPr id="28" name="Shape 26"/>
          <p:cNvSpPr/>
          <p:nvPr/>
        </p:nvSpPr>
        <p:spPr>
          <a:xfrm>
            <a:off x="8222285" y="166420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0B981"/>
          </a:solidFill>
          <a:ln/>
        </p:spPr>
      </p:sp>
      <p:sp>
        <p:nvSpPr>
          <p:cNvPr id="29" name="Text 27"/>
          <p:cNvSpPr/>
          <p:nvPr/>
        </p:nvSpPr>
        <p:spPr>
          <a:xfrm>
            <a:off x="8222285" y="16642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088" dirty="0"/>
          </a:p>
        </p:txBody>
      </p:sp>
      <p:sp>
        <p:nvSpPr>
          <p:cNvPr id="30" name="Text 28"/>
          <p:cNvSpPr/>
          <p:nvPr/>
        </p:nvSpPr>
        <p:spPr>
          <a:xfrm>
            <a:off x="8588045" y="1645920"/>
            <a:ext cx="305501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0B98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Revisão Interna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8222285" y="2048256"/>
            <a:ext cx="3420770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32" name="Text 30"/>
          <p:cNvSpPr/>
          <p:nvPr/>
        </p:nvSpPr>
        <p:spPr>
          <a:xfrm>
            <a:off x="8240573" y="2121408"/>
            <a:ext cx="3384194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Estabelecer rotinas de fiscalização com matriz de riscos para avaliação periódica.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21792" y="4023360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000000"/>
          </a:solidFill>
          <a:ln/>
        </p:spPr>
      </p:sp>
      <p:sp>
        <p:nvSpPr>
          <p:cNvPr id="34" name="Shape 32"/>
          <p:cNvSpPr/>
          <p:nvPr/>
        </p:nvSpPr>
        <p:spPr>
          <a:xfrm>
            <a:off x="594360" y="3986784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141E34"/>
          </a:solidFill>
          <a:ln/>
        </p:spPr>
      </p:sp>
      <p:sp>
        <p:nvSpPr>
          <p:cNvPr id="35" name="Shape 33"/>
          <p:cNvSpPr/>
          <p:nvPr/>
        </p:nvSpPr>
        <p:spPr>
          <a:xfrm>
            <a:off x="594360" y="3986784"/>
            <a:ext cx="3603650" cy="45720"/>
          </a:xfrm>
          <a:prstGeom prst="rect">
            <a:avLst>
              <a:gd name="adj" fmla="val 200000"/>
            </a:avLst>
          </a:prstGeom>
          <a:solidFill>
            <a:srgbClr val="F59E0B"/>
          </a:solidFill>
          <a:ln/>
        </p:spPr>
      </p:sp>
      <p:sp>
        <p:nvSpPr>
          <p:cNvPr id="36" name="Shape 34"/>
          <p:cNvSpPr/>
          <p:nvPr/>
        </p:nvSpPr>
        <p:spPr>
          <a:xfrm>
            <a:off x="685800" y="411480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F59E0B"/>
          </a:solidFill>
          <a:ln/>
        </p:spPr>
      </p:sp>
      <p:sp>
        <p:nvSpPr>
          <p:cNvPr id="37" name="Text 35"/>
          <p:cNvSpPr/>
          <p:nvPr/>
        </p:nvSpPr>
        <p:spPr>
          <a:xfrm>
            <a:off x="685800" y="41148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088" dirty="0"/>
          </a:p>
        </p:txBody>
      </p:sp>
      <p:sp>
        <p:nvSpPr>
          <p:cNvPr id="38" name="Text 36"/>
          <p:cNvSpPr/>
          <p:nvPr/>
        </p:nvSpPr>
        <p:spPr>
          <a:xfrm>
            <a:off x="1051560" y="4096512"/>
            <a:ext cx="305501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59E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Diálogo Construtivo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685800" y="4498848"/>
            <a:ext cx="3420770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40" name="Text 38"/>
          <p:cNvSpPr/>
          <p:nvPr/>
        </p:nvSpPr>
        <p:spPr>
          <a:xfrm>
            <a:off x="704088" y="4572000"/>
            <a:ext cx="3384194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Promover a comunicação com a entidade auditada para garantir a exequibilidade das recomendações.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4390034" y="4023360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000000"/>
          </a:solidFill>
          <a:ln/>
        </p:spPr>
      </p:sp>
      <p:sp>
        <p:nvSpPr>
          <p:cNvPr id="42" name="Shape 40"/>
          <p:cNvSpPr/>
          <p:nvPr/>
        </p:nvSpPr>
        <p:spPr>
          <a:xfrm>
            <a:off x="4362602" y="3986784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141E34"/>
          </a:solidFill>
          <a:ln/>
        </p:spPr>
      </p:sp>
      <p:sp>
        <p:nvSpPr>
          <p:cNvPr id="43" name="Shape 41"/>
          <p:cNvSpPr/>
          <p:nvPr/>
        </p:nvSpPr>
        <p:spPr>
          <a:xfrm>
            <a:off x="4362602" y="3986784"/>
            <a:ext cx="3603650" cy="45720"/>
          </a:xfrm>
          <a:prstGeom prst="rect">
            <a:avLst>
              <a:gd name="adj" fmla="val 200000"/>
            </a:avLst>
          </a:prstGeom>
          <a:solidFill>
            <a:srgbClr val="06B6D4"/>
          </a:solidFill>
          <a:ln/>
        </p:spPr>
      </p:sp>
      <p:sp>
        <p:nvSpPr>
          <p:cNvPr id="44" name="Shape 42"/>
          <p:cNvSpPr/>
          <p:nvPr/>
        </p:nvSpPr>
        <p:spPr>
          <a:xfrm>
            <a:off x="4454042" y="411480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06B6D4"/>
          </a:solidFill>
          <a:ln/>
        </p:spPr>
      </p:sp>
      <p:sp>
        <p:nvSpPr>
          <p:cNvPr id="45" name="Text 43"/>
          <p:cNvSpPr/>
          <p:nvPr/>
        </p:nvSpPr>
        <p:spPr>
          <a:xfrm>
            <a:off x="4454042" y="41148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088" dirty="0"/>
          </a:p>
        </p:txBody>
      </p:sp>
      <p:sp>
        <p:nvSpPr>
          <p:cNvPr id="46" name="Text 44"/>
          <p:cNvSpPr/>
          <p:nvPr/>
        </p:nvSpPr>
        <p:spPr>
          <a:xfrm>
            <a:off x="4819802" y="4096512"/>
            <a:ext cx="305501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06B6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Análise Custo-Benefício</a:t>
            </a:r>
            <a:endParaRPr lang="en-US" sz="1500" dirty="0"/>
          </a:p>
        </p:txBody>
      </p:sp>
      <p:sp>
        <p:nvSpPr>
          <p:cNvPr id="47" name="Shape 45"/>
          <p:cNvSpPr/>
          <p:nvPr/>
        </p:nvSpPr>
        <p:spPr>
          <a:xfrm>
            <a:off x="4454042" y="4498848"/>
            <a:ext cx="3420770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48" name="Text 46"/>
          <p:cNvSpPr/>
          <p:nvPr/>
        </p:nvSpPr>
        <p:spPr>
          <a:xfrm>
            <a:off x="4472330" y="4572000"/>
            <a:ext cx="3384194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Utilizar esta ferramenta para avaliar projetos de investimento público de forma eficaz.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0" name="Shape 48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1" name="Shape 49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2" name="Shape 50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3" name="Shape 51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4" name="Shape 52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5" name="Shape 53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56" name="Text 54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26 / 48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5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11D38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1417320"/>
            <a:ext cx="128016" cy="128016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219456" y="1554480"/>
            <a:ext cx="18288" cy="146913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Shape 3"/>
          <p:cNvSpPr/>
          <p:nvPr/>
        </p:nvSpPr>
        <p:spPr>
          <a:xfrm>
            <a:off x="164592" y="3032760"/>
            <a:ext cx="128016" cy="12801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6" name="Shape 4"/>
          <p:cNvSpPr/>
          <p:nvPr/>
        </p:nvSpPr>
        <p:spPr>
          <a:xfrm>
            <a:off x="219456" y="3169920"/>
            <a:ext cx="18288" cy="146913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Shape 5"/>
          <p:cNvSpPr/>
          <p:nvPr/>
        </p:nvSpPr>
        <p:spPr>
          <a:xfrm>
            <a:off x="164592" y="4648200"/>
            <a:ext cx="128016" cy="128016"/>
          </a:xfrm>
          <a:prstGeom prst="ellipse">
            <a:avLst/>
          </a:prstGeom>
          <a:solidFill>
            <a:srgbClr val="6C63FF"/>
          </a:solidFill>
          <a:ln/>
        </p:spPr>
      </p:sp>
      <p:sp>
        <p:nvSpPr>
          <p:cNvPr id="8" name="Shape 6"/>
          <p:cNvSpPr/>
          <p:nvPr/>
        </p:nvSpPr>
        <p:spPr>
          <a:xfrm>
            <a:off x="219456" y="4785360"/>
            <a:ext cx="18288" cy="1469136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9" name="Shape 7"/>
          <p:cNvSpPr/>
          <p:nvPr/>
        </p:nvSpPr>
        <p:spPr>
          <a:xfrm>
            <a:off x="164592" y="6263640"/>
            <a:ext cx="128016" cy="128016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384048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8404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400" kern="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ESTUDO DE CASO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31520" y="731520"/>
            <a:ext cx="10820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Exemplo Prático: Auditoria de Merenda Escolar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731520" y="1298448"/>
            <a:ext cx="3200400" cy="1828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Shape 12"/>
          <p:cNvSpPr/>
          <p:nvPr/>
        </p:nvSpPr>
        <p:spPr>
          <a:xfrm>
            <a:off x="758952" y="1499616"/>
            <a:ext cx="10820095" cy="1165860"/>
          </a:xfrm>
          <a:prstGeom prst="roundRect">
            <a:avLst>
              <a:gd name="adj" fmla="val 7843"/>
            </a:avLst>
          </a:prstGeom>
          <a:solidFill>
            <a:srgbClr val="000000"/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" y="1463040"/>
            <a:ext cx="10820095" cy="1165860"/>
          </a:xfrm>
          <a:prstGeom prst="roundRect">
            <a:avLst>
              <a:gd name="adj" fmla="val 6275"/>
            </a:avLst>
          </a:prstGeom>
          <a:solidFill>
            <a:srgbClr val="111D38"/>
          </a:solidFill>
          <a:ln/>
        </p:spPr>
      </p:sp>
      <p:sp>
        <p:nvSpPr>
          <p:cNvPr id="16" name="Shape 14"/>
          <p:cNvSpPr/>
          <p:nvPr/>
        </p:nvSpPr>
        <p:spPr>
          <a:xfrm>
            <a:off x="731520" y="1499616"/>
            <a:ext cx="45720" cy="1092708"/>
          </a:xfrm>
          <a:prstGeom prst="rect">
            <a:avLst>
              <a:gd name="adj" fmla="val 60000"/>
            </a:avLst>
          </a:prstGeom>
          <a:solidFill>
            <a:srgbClr val="3B82F6"/>
          </a:solidFill>
          <a:ln/>
        </p:spPr>
      </p:sp>
      <p:sp>
        <p:nvSpPr>
          <p:cNvPr id="17" name="Shape 15"/>
          <p:cNvSpPr/>
          <p:nvPr/>
        </p:nvSpPr>
        <p:spPr>
          <a:xfrm>
            <a:off x="896112" y="1908810"/>
            <a:ext cx="274320" cy="2743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896112" y="190881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243584" y="149961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3B82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CONTEXTO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243584" y="1700784"/>
            <a:ext cx="10088575" cy="8732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Secretaria Municipal de Educação gerencia compras de bens para o programa de merenda escolar.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41832" y="2601468"/>
            <a:ext cx="182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59E0B">
                    <a:alpha val="60000"/>
                  </a:srgbClr>
                </a:solidFill>
              </a:rPr>
              <a:t>▼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758952" y="2756916"/>
            <a:ext cx="10820095" cy="1165860"/>
          </a:xfrm>
          <a:prstGeom prst="roundRect">
            <a:avLst>
              <a:gd name="adj" fmla="val 7843"/>
            </a:avLst>
          </a:prstGeom>
          <a:solidFill>
            <a:srgbClr val="000000"/>
          </a:solidFill>
          <a:ln/>
        </p:spPr>
      </p:sp>
      <p:sp>
        <p:nvSpPr>
          <p:cNvPr id="23" name="Shape 21"/>
          <p:cNvSpPr/>
          <p:nvPr/>
        </p:nvSpPr>
        <p:spPr>
          <a:xfrm>
            <a:off x="731520" y="2720340"/>
            <a:ext cx="10820095" cy="1165860"/>
          </a:xfrm>
          <a:prstGeom prst="roundRect">
            <a:avLst>
              <a:gd name="adj" fmla="val 6275"/>
            </a:avLst>
          </a:prstGeom>
          <a:solidFill>
            <a:srgbClr val="111D38"/>
          </a:solidFill>
          <a:ln/>
        </p:spPr>
      </p:sp>
      <p:sp>
        <p:nvSpPr>
          <p:cNvPr id="24" name="Shape 22"/>
          <p:cNvSpPr/>
          <p:nvPr/>
        </p:nvSpPr>
        <p:spPr>
          <a:xfrm>
            <a:off x="731520" y="2756916"/>
            <a:ext cx="45720" cy="1092708"/>
          </a:xfrm>
          <a:prstGeom prst="rect">
            <a:avLst>
              <a:gd name="adj" fmla="val 60000"/>
            </a:avLst>
          </a:prstGeom>
          <a:solidFill>
            <a:srgbClr val="F59E0B"/>
          </a:solidFill>
          <a:ln/>
        </p:spPr>
      </p:sp>
      <p:sp>
        <p:nvSpPr>
          <p:cNvPr id="25" name="Shape 23"/>
          <p:cNvSpPr/>
          <p:nvPr/>
        </p:nvSpPr>
        <p:spPr>
          <a:xfrm>
            <a:off x="896112" y="3166110"/>
            <a:ext cx="274320" cy="2743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896112" y="316611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243584" y="275691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F59E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DESAFIO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243584" y="2958084"/>
            <a:ext cx="10088575" cy="8732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Garantir que todas as aquisições de gêneros alimentícios sigam a Portaria municipal nº X/2023, que exige um mínimo de três cotações de preços válidas e registradas em sistema para cada item.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41832" y="3858768"/>
            <a:ext cx="182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C63FF">
                    <a:alpha val="60000"/>
                  </a:srgbClr>
                </a:solidFill>
              </a:rPr>
              <a:t>▼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758952" y="4014216"/>
            <a:ext cx="10820095" cy="1165860"/>
          </a:xfrm>
          <a:prstGeom prst="roundRect">
            <a:avLst>
              <a:gd name="adj" fmla="val 7843"/>
            </a:avLst>
          </a:prstGeom>
          <a:solidFill>
            <a:srgbClr val="000000"/>
          </a:solidFill>
          <a:ln/>
        </p:spPr>
      </p:sp>
      <p:sp>
        <p:nvSpPr>
          <p:cNvPr id="31" name="Shape 29"/>
          <p:cNvSpPr/>
          <p:nvPr/>
        </p:nvSpPr>
        <p:spPr>
          <a:xfrm>
            <a:off x="731520" y="3977640"/>
            <a:ext cx="10820095" cy="1165860"/>
          </a:xfrm>
          <a:prstGeom prst="roundRect">
            <a:avLst>
              <a:gd name="adj" fmla="val 6275"/>
            </a:avLst>
          </a:prstGeom>
          <a:solidFill>
            <a:srgbClr val="111D38"/>
          </a:solidFill>
          <a:ln/>
        </p:spPr>
      </p:sp>
      <p:sp>
        <p:nvSpPr>
          <p:cNvPr id="32" name="Shape 30"/>
          <p:cNvSpPr/>
          <p:nvPr/>
        </p:nvSpPr>
        <p:spPr>
          <a:xfrm>
            <a:off x="731520" y="4014216"/>
            <a:ext cx="45720" cy="1092708"/>
          </a:xfrm>
          <a:prstGeom prst="rect">
            <a:avLst>
              <a:gd name="adj" fmla="val 60000"/>
            </a:avLst>
          </a:prstGeom>
          <a:solidFill>
            <a:srgbClr val="6C63FF"/>
          </a:solidFill>
          <a:ln/>
        </p:spPr>
      </p:sp>
      <p:sp>
        <p:nvSpPr>
          <p:cNvPr id="33" name="Shape 31"/>
          <p:cNvSpPr/>
          <p:nvPr/>
        </p:nvSpPr>
        <p:spPr>
          <a:xfrm>
            <a:off x="896112" y="4423410"/>
            <a:ext cx="274320" cy="274320"/>
          </a:xfrm>
          <a:prstGeom prst="ellipse">
            <a:avLst/>
          </a:prstGeom>
          <a:solidFill>
            <a:srgbClr val="6C63FF"/>
          </a:solidFill>
          <a:ln/>
        </p:spPr>
      </p:sp>
      <p:sp>
        <p:nvSpPr>
          <p:cNvPr id="34" name="Text 32"/>
          <p:cNvSpPr/>
          <p:nvPr/>
        </p:nvSpPr>
        <p:spPr>
          <a:xfrm>
            <a:off x="896112" y="442341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243584" y="401421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C63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SOLUÇÃO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243584" y="4215384"/>
            <a:ext cx="10088575" cy="8732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Uma equipe do Tribunal de Contas Municipal revisou 20 processos de aquisição de alimentos perecíveis concluídos no último semestre para verificar a conformidade.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941832" y="5116068"/>
            <a:ext cx="182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6B6D4">
                    <a:alpha val="60000"/>
                  </a:srgbClr>
                </a:solidFill>
              </a:rPr>
              <a:t>▼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758952" y="5271516"/>
            <a:ext cx="10820095" cy="1165860"/>
          </a:xfrm>
          <a:prstGeom prst="roundRect">
            <a:avLst>
              <a:gd name="adj" fmla="val 7843"/>
            </a:avLst>
          </a:prstGeom>
          <a:solidFill>
            <a:srgbClr val="000000"/>
          </a:solidFill>
          <a:ln/>
        </p:spPr>
      </p:sp>
      <p:sp>
        <p:nvSpPr>
          <p:cNvPr id="39" name="Shape 37"/>
          <p:cNvSpPr/>
          <p:nvPr/>
        </p:nvSpPr>
        <p:spPr>
          <a:xfrm>
            <a:off x="731520" y="5234940"/>
            <a:ext cx="10820095" cy="1165860"/>
          </a:xfrm>
          <a:prstGeom prst="roundRect">
            <a:avLst>
              <a:gd name="adj" fmla="val 6275"/>
            </a:avLst>
          </a:prstGeom>
          <a:solidFill>
            <a:srgbClr val="111D38"/>
          </a:solidFill>
          <a:ln/>
        </p:spPr>
      </p:sp>
      <p:sp>
        <p:nvSpPr>
          <p:cNvPr id="40" name="Shape 38"/>
          <p:cNvSpPr/>
          <p:nvPr/>
        </p:nvSpPr>
        <p:spPr>
          <a:xfrm>
            <a:off x="731520" y="5271516"/>
            <a:ext cx="45720" cy="1092708"/>
          </a:xfrm>
          <a:prstGeom prst="rect">
            <a:avLst>
              <a:gd name="adj" fmla="val 60000"/>
            </a:avLst>
          </a:prstGeom>
          <a:solidFill>
            <a:srgbClr val="06B6D4"/>
          </a:solidFill>
          <a:ln/>
        </p:spPr>
      </p:sp>
      <p:sp>
        <p:nvSpPr>
          <p:cNvPr id="41" name="Shape 39"/>
          <p:cNvSpPr/>
          <p:nvPr/>
        </p:nvSpPr>
        <p:spPr>
          <a:xfrm>
            <a:off x="896112" y="5680710"/>
            <a:ext cx="274320" cy="27432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42" name="Text 40"/>
          <p:cNvSpPr/>
          <p:nvPr/>
        </p:nvSpPr>
        <p:spPr>
          <a:xfrm>
            <a:off x="896112" y="568071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1243584" y="527151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6B6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RESULTADO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1243584" y="5472684"/>
            <a:ext cx="10088575" cy="8732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Em 40% dos processos, apenas uma cotação foi registrada, e em 10%, a cotação era de fornecedor inexistente, resultando em prejuízo potencial de R$ 50.000,00 anuais e risco de superfaturamento.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6" name="Shape 44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7" name="Shape 45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8" name="Shape 46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9" name="Shape 47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0" name="Shape 48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1" name="Shape 49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52" name="Text 50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27 / 48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C0392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PONTOS DE ATENÇÃO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493776"/>
            <a:ext cx="640080" cy="2194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Desafios e Cuidados na Formulação de Achados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389888"/>
            <a:ext cx="11185855" cy="7315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408176"/>
            <a:ext cx="11185855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9" name="Shape 7"/>
          <p:cNvSpPr/>
          <p:nvPr/>
        </p:nvSpPr>
        <p:spPr>
          <a:xfrm>
            <a:off x="10820095" y="320040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FEF2F2"/>
          </a:solidFill>
          <a:ln/>
        </p:spPr>
      </p:sp>
      <p:sp>
        <p:nvSpPr>
          <p:cNvPr id="10" name="Text 8"/>
          <p:cNvSpPr/>
          <p:nvPr/>
        </p:nvSpPr>
        <p:spPr>
          <a:xfrm>
            <a:off x="10820095" y="3200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⚠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621792" y="1481328"/>
            <a:ext cx="11140135" cy="890626"/>
          </a:xfrm>
          <a:prstGeom prst="roundRect">
            <a:avLst>
              <a:gd name="adj" fmla="val 10267"/>
            </a:avLst>
          </a:prstGeom>
          <a:solidFill>
            <a:srgbClr val="000000"/>
          </a:solidFill>
          <a:ln/>
        </p:spPr>
      </p:sp>
      <p:sp>
        <p:nvSpPr>
          <p:cNvPr id="12" name="Shape 10"/>
          <p:cNvSpPr/>
          <p:nvPr/>
        </p:nvSpPr>
        <p:spPr>
          <a:xfrm>
            <a:off x="594360" y="1444752"/>
            <a:ext cx="11140135" cy="890626"/>
          </a:xfrm>
          <a:prstGeom prst="roundRect">
            <a:avLst>
              <a:gd name="adj" fmla="val 8214"/>
            </a:avLst>
          </a:prstGeom>
          <a:solidFill>
            <a:srgbClr val="1A2848"/>
          </a:solidFill>
          <a:ln/>
        </p:spPr>
      </p:sp>
      <p:sp>
        <p:nvSpPr>
          <p:cNvPr id="13" name="Shape 11"/>
          <p:cNvSpPr/>
          <p:nvPr/>
        </p:nvSpPr>
        <p:spPr>
          <a:xfrm>
            <a:off x="594360" y="1444752"/>
            <a:ext cx="54864" cy="890626"/>
          </a:xfrm>
          <a:prstGeom prst="rect">
            <a:avLst>
              <a:gd name="adj" fmla="val 133333"/>
            </a:avLst>
          </a:prstGeom>
          <a:solidFill>
            <a:srgbClr val="E74C3C"/>
          </a:solidFill>
          <a:ln/>
        </p:spPr>
      </p:sp>
      <p:sp>
        <p:nvSpPr>
          <p:cNvPr id="14" name="Text 12"/>
          <p:cNvSpPr/>
          <p:nvPr/>
        </p:nvSpPr>
        <p:spPr>
          <a:xfrm>
            <a:off x="758952" y="1481328"/>
            <a:ext cx="10902391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C039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OBJETIVIDADE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58952" y="1645920"/>
            <a:ext cx="10865815" cy="65288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 linguagem clara e direta, evitando jargões técnicos para facilitar a compreensão.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" y="2499970"/>
            <a:ext cx="11140135" cy="890626"/>
          </a:xfrm>
          <a:prstGeom prst="roundRect">
            <a:avLst>
              <a:gd name="adj" fmla="val 10267"/>
            </a:avLst>
          </a:prstGeom>
          <a:solidFill>
            <a:srgbClr val="000000"/>
          </a:solidFill>
          <a:ln/>
        </p:spPr>
      </p:sp>
      <p:sp>
        <p:nvSpPr>
          <p:cNvPr id="17" name="Shape 15"/>
          <p:cNvSpPr/>
          <p:nvPr/>
        </p:nvSpPr>
        <p:spPr>
          <a:xfrm>
            <a:off x="594360" y="2463394"/>
            <a:ext cx="11140135" cy="890626"/>
          </a:xfrm>
          <a:prstGeom prst="roundRect">
            <a:avLst>
              <a:gd name="adj" fmla="val 8214"/>
            </a:avLst>
          </a:prstGeom>
          <a:solidFill>
            <a:srgbClr val="141E34"/>
          </a:solidFill>
          <a:ln/>
        </p:spPr>
      </p:sp>
      <p:sp>
        <p:nvSpPr>
          <p:cNvPr id="18" name="Shape 16"/>
          <p:cNvSpPr/>
          <p:nvPr/>
        </p:nvSpPr>
        <p:spPr>
          <a:xfrm>
            <a:off x="594360" y="2463394"/>
            <a:ext cx="54864" cy="890626"/>
          </a:xfrm>
          <a:prstGeom prst="rect">
            <a:avLst>
              <a:gd name="adj" fmla="val 133333"/>
            </a:avLst>
          </a:prstGeom>
          <a:solidFill>
            <a:srgbClr val="E74C3C"/>
          </a:solidFill>
          <a:ln/>
        </p:spPr>
      </p:sp>
      <p:sp>
        <p:nvSpPr>
          <p:cNvPr id="19" name="Text 17"/>
          <p:cNvSpPr/>
          <p:nvPr/>
        </p:nvSpPr>
        <p:spPr>
          <a:xfrm>
            <a:off x="758952" y="2499970"/>
            <a:ext cx="10902391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C039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BASE EM EVIDÊNCIAS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58952" y="2664562"/>
            <a:ext cx="10865815" cy="65288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Cada elemento do achado deve ser solidamente suportado por provas e documentos.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1792" y="3518611"/>
            <a:ext cx="11140135" cy="890626"/>
          </a:xfrm>
          <a:prstGeom prst="roundRect">
            <a:avLst>
              <a:gd name="adj" fmla="val 10267"/>
            </a:avLst>
          </a:prstGeom>
          <a:solidFill>
            <a:srgbClr val="000000"/>
          </a:solidFill>
          <a:ln/>
        </p:spPr>
      </p:sp>
      <p:sp>
        <p:nvSpPr>
          <p:cNvPr id="22" name="Shape 20"/>
          <p:cNvSpPr/>
          <p:nvPr/>
        </p:nvSpPr>
        <p:spPr>
          <a:xfrm>
            <a:off x="594360" y="3482035"/>
            <a:ext cx="11140135" cy="890626"/>
          </a:xfrm>
          <a:prstGeom prst="roundRect">
            <a:avLst>
              <a:gd name="adj" fmla="val 8214"/>
            </a:avLst>
          </a:prstGeom>
          <a:solidFill>
            <a:srgbClr val="1A2848"/>
          </a:solidFill>
          <a:ln/>
        </p:spPr>
      </p:sp>
      <p:sp>
        <p:nvSpPr>
          <p:cNvPr id="23" name="Shape 21"/>
          <p:cNvSpPr/>
          <p:nvPr/>
        </p:nvSpPr>
        <p:spPr>
          <a:xfrm>
            <a:off x="594360" y="3482035"/>
            <a:ext cx="54864" cy="890626"/>
          </a:xfrm>
          <a:prstGeom prst="rect">
            <a:avLst>
              <a:gd name="adj" fmla="val 133333"/>
            </a:avLst>
          </a:prstGeom>
          <a:solidFill>
            <a:srgbClr val="E74C3C"/>
          </a:solidFill>
          <a:ln/>
        </p:spPr>
      </p:sp>
      <p:sp>
        <p:nvSpPr>
          <p:cNvPr id="24" name="Text 22"/>
          <p:cNvSpPr/>
          <p:nvPr/>
        </p:nvSpPr>
        <p:spPr>
          <a:xfrm>
            <a:off x="758952" y="3518611"/>
            <a:ext cx="10902391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C039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SIGNIFICÂNCIA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58952" y="3683203"/>
            <a:ext cx="10865815" cy="65288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Foque em achados com impacto material ou relevância social significativa para a gestão.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21792" y="4537253"/>
            <a:ext cx="11140135" cy="890626"/>
          </a:xfrm>
          <a:prstGeom prst="roundRect">
            <a:avLst>
              <a:gd name="adj" fmla="val 10267"/>
            </a:avLst>
          </a:prstGeom>
          <a:solidFill>
            <a:srgbClr val="000000"/>
          </a:solidFill>
          <a:ln/>
        </p:spPr>
      </p:sp>
      <p:sp>
        <p:nvSpPr>
          <p:cNvPr id="27" name="Shape 25"/>
          <p:cNvSpPr/>
          <p:nvPr/>
        </p:nvSpPr>
        <p:spPr>
          <a:xfrm>
            <a:off x="594360" y="4500677"/>
            <a:ext cx="11140135" cy="890626"/>
          </a:xfrm>
          <a:prstGeom prst="roundRect">
            <a:avLst>
              <a:gd name="adj" fmla="val 8214"/>
            </a:avLst>
          </a:prstGeom>
          <a:solidFill>
            <a:srgbClr val="141E34"/>
          </a:solidFill>
          <a:ln/>
        </p:spPr>
      </p:sp>
      <p:sp>
        <p:nvSpPr>
          <p:cNvPr id="28" name="Shape 26"/>
          <p:cNvSpPr/>
          <p:nvPr/>
        </p:nvSpPr>
        <p:spPr>
          <a:xfrm>
            <a:off x="594360" y="4500677"/>
            <a:ext cx="54864" cy="890626"/>
          </a:xfrm>
          <a:prstGeom prst="rect">
            <a:avLst>
              <a:gd name="adj" fmla="val 133333"/>
            </a:avLst>
          </a:prstGeom>
          <a:solidFill>
            <a:srgbClr val="E74C3C"/>
          </a:solidFill>
          <a:ln/>
        </p:spPr>
      </p:sp>
      <p:sp>
        <p:nvSpPr>
          <p:cNvPr id="29" name="Text 27"/>
          <p:cNvSpPr/>
          <p:nvPr/>
        </p:nvSpPr>
        <p:spPr>
          <a:xfrm>
            <a:off x="758952" y="4537253"/>
            <a:ext cx="10902391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C039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FOCO NA MELHORIA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758952" y="4701845"/>
            <a:ext cx="10865815" cy="65288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Aponte problemas visando aprimoramentos contínuos e a prevenção de riscos futuros.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21792" y="5555894"/>
            <a:ext cx="11140135" cy="890626"/>
          </a:xfrm>
          <a:prstGeom prst="roundRect">
            <a:avLst>
              <a:gd name="adj" fmla="val 10267"/>
            </a:avLst>
          </a:prstGeom>
          <a:solidFill>
            <a:srgbClr val="000000"/>
          </a:solidFill>
          <a:ln/>
        </p:spPr>
      </p:sp>
      <p:sp>
        <p:nvSpPr>
          <p:cNvPr id="32" name="Shape 30"/>
          <p:cNvSpPr/>
          <p:nvPr/>
        </p:nvSpPr>
        <p:spPr>
          <a:xfrm>
            <a:off x="594360" y="5519318"/>
            <a:ext cx="11140135" cy="890626"/>
          </a:xfrm>
          <a:prstGeom prst="roundRect">
            <a:avLst>
              <a:gd name="adj" fmla="val 8214"/>
            </a:avLst>
          </a:prstGeom>
          <a:solidFill>
            <a:srgbClr val="1A2848"/>
          </a:solidFill>
          <a:ln/>
        </p:spPr>
      </p:sp>
      <p:sp>
        <p:nvSpPr>
          <p:cNvPr id="33" name="Shape 31"/>
          <p:cNvSpPr/>
          <p:nvPr/>
        </p:nvSpPr>
        <p:spPr>
          <a:xfrm>
            <a:off x="594360" y="5519318"/>
            <a:ext cx="54864" cy="890626"/>
          </a:xfrm>
          <a:prstGeom prst="rect">
            <a:avLst>
              <a:gd name="adj" fmla="val 133333"/>
            </a:avLst>
          </a:prstGeom>
          <a:solidFill>
            <a:srgbClr val="E74C3C"/>
          </a:solidFill>
          <a:ln/>
        </p:spPr>
      </p:sp>
      <p:sp>
        <p:nvSpPr>
          <p:cNvPr id="34" name="Text 32"/>
          <p:cNvSpPr/>
          <p:nvPr/>
        </p:nvSpPr>
        <p:spPr>
          <a:xfrm>
            <a:off x="758952" y="5555894"/>
            <a:ext cx="10902391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C039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NÃO GERENCIAL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758952" y="5720486"/>
            <a:ext cx="10865815" cy="65288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Recomende o 'o quê' fazer para corrigir a situação, não o 'como' implementar a solução.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7" name="Shape 35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8" name="Shape 36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9" name="Shape 37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0" name="Shape 38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1" name="Shape 39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2" name="Shape 40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43" name="Text 41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28 / 48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274320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6C63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SÍNTESE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85800" y="521208"/>
            <a:ext cx="822960" cy="18288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621792"/>
            <a:ext cx="1104869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Resumo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13232" y="1499616"/>
            <a:ext cx="11048695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1463040"/>
            <a:ext cx="11048695" cy="1371600"/>
          </a:xfrm>
          <a:prstGeom prst="roundRect">
            <a:avLst>
              <a:gd name="adj" fmla="val 6667"/>
            </a:avLst>
          </a:prstGeom>
          <a:solidFill>
            <a:srgbClr val="141E34"/>
          </a:solidFill>
          <a:ln/>
        </p:spPr>
      </p:sp>
      <p:sp>
        <p:nvSpPr>
          <p:cNvPr id="8" name="Shape 6"/>
          <p:cNvSpPr/>
          <p:nvPr/>
        </p:nvSpPr>
        <p:spPr>
          <a:xfrm>
            <a:off x="685800" y="1463040"/>
            <a:ext cx="45720" cy="1371600"/>
          </a:xfrm>
          <a:prstGeom prst="rect">
            <a:avLst>
              <a:gd name="adj" fmla="val 200000"/>
            </a:avLst>
          </a:prstGeom>
          <a:solidFill>
            <a:srgbClr val="6C63FF"/>
          </a:solidFill>
          <a:ln/>
        </p:spPr>
      </p:sp>
      <p:sp>
        <p:nvSpPr>
          <p:cNvPr id="9" name="Shape 7"/>
          <p:cNvSpPr/>
          <p:nvPr/>
        </p:nvSpPr>
        <p:spPr>
          <a:xfrm>
            <a:off x="813816" y="1554480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6C63FF"/>
          </a:solidFill>
          <a:ln/>
        </p:spPr>
      </p:sp>
      <p:sp>
        <p:nvSpPr>
          <p:cNvPr id="10" name="Text 8"/>
          <p:cNvSpPr/>
          <p:nvPr/>
        </p:nvSpPr>
        <p:spPr>
          <a:xfrm>
            <a:off x="813816" y="15544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13816" y="1883664"/>
            <a:ext cx="10792663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Avaliamos metodologias para a análise crítica de evidências em auditorias.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13232" y="2980944"/>
            <a:ext cx="11048695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13" name="Shape 11"/>
          <p:cNvSpPr/>
          <p:nvPr/>
        </p:nvSpPr>
        <p:spPr>
          <a:xfrm>
            <a:off x="685800" y="2944368"/>
            <a:ext cx="11048695" cy="1371600"/>
          </a:xfrm>
          <a:prstGeom prst="roundRect">
            <a:avLst>
              <a:gd name="adj" fmla="val 6667"/>
            </a:avLst>
          </a:prstGeom>
          <a:solidFill>
            <a:srgbClr val="141E34"/>
          </a:solidFill>
          <a:ln/>
        </p:spPr>
      </p:sp>
      <p:sp>
        <p:nvSpPr>
          <p:cNvPr id="14" name="Shape 12"/>
          <p:cNvSpPr/>
          <p:nvPr/>
        </p:nvSpPr>
        <p:spPr>
          <a:xfrm>
            <a:off x="685800" y="2944368"/>
            <a:ext cx="45720" cy="1371600"/>
          </a:xfrm>
          <a:prstGeom prst="rect">
            <a:avLst>
              <a:gd name="adj" fmla="val 200000"/>
            </a:avLst>
          </a:prstGeom>
          <a:solidFill>
            <a:srgbClr val="3B82F6"/>
          </a:solidFill>
          <a:ln/>
        </p:spPr>
      </p:sp>
      <p:sp>
        <p:nvSpPr>
          <p:cNvPr id="15" name="Shape 13"/>
          <p:cNvSpPr/>
          <p:nvPr/>
        </p:nvSpPr>
        <p:spPr>
          <a:xfrm>
            <a:off x="813816" y="3035808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813816" y="30358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13816" y="3364992"/>
            <a:ext cx="10792663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Entendemos a importância e os elementos para a formulação de achados e recomendações eficazes.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713232" y="4462272"/>
            <a:ext cx="11048695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19" name="Shape 17"/>
          <p:cNvSpPr/>
          <p:nvPr/>
        </p:nvSpPr>
        <p:spPr>
          <a:xfrm>
            <a:off x="685800" y="4425696"/>
            <a:ext cx="11048695" cy="1371600"/>
          </a:xfrm>
          <a:prstGeom prst="roundRect">
            <a:avLst>
              <a:gd name="adj" fmla="val 6667"/>
            </a:avLst>
          </a:prstGeom>
          <a:solidFill>
            <a:srgbClr val="141E34"/>
          </a:solidFill>
          <a:ln/>
        </p:spPr>
      </p:sp>
      <p:sp>
        <p:nvSpPr>
          <p:cNvPr id="20" name="Shape 18"/>
          <p:cNvSpPr/>
          <p:nvPr/>
        </p:nvSpPr>
        <p:spPr>
          <a:xfrm>
            <a:off x="685800" y="4425696"/>
            <a:ext cx="45720" cy="1371600"/>
          </a:xfrm>
          <a:prstGeom prst="rect">
            <a:avLst>
              <a:gd name="adj" fmla="val 200000"/>
            </a:avLst>
          </a:prstGeom>
          <a:solidFill>
            <a:srgbClr val="10B981"/>
          </a:solidFill>
          <a:ln/>
        </p:spPr>
      </p:sp>
      <p:sp>
        <p:nvSpPr>
          <p:cNvPr id="21" name="Shape 19"/>
          <p:cNvSpPr/>
          <p:nvPr/>
        </p:nvSpPr>
        <p:spPr>
          <a:xfrm>
            <a:off x="813816" y="4517136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813816" y="451713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13816" y="4846320"/>
            <a:ext cx="10792663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Discutimos o impacto da auditoria operacional na eficiência e melhoria da administração pública.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5" name="Shape 23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6" name="Shape 24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7" name="Shape 25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8" name="Shape 26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9" name="Shape 27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31" name="Text 29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29 / 48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5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576"/>
            <a:ext cx="12191695" cy="4114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06B6D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PRINCIPAIS APRENDIZADOS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530352"/>
            <a:ext cx="110029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1234440"/>
            <a:ext cx="1645920" cy="2286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6" name="Shape 4"/>
          <p:cNvSpPr/>
          <p:nvPr/>
        </p:nvSpPr>
        <p:spPr>
          <a:xfrm>
            <a:off x="612648" y="1536192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7" name="Shape 5"/>
          <p:cNvSpPr/>
          <p:nvPr/>
        </p:nvSpPr>
        <p:spPr>
          <a:xfrm>
            <a:off x="594360" y="1508760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111D38"/>
          </a:solidFill>
          <a:ln/>
        </p:spPr>
      </p:sp>
      <p:sp>
        <p:nvSpPr>
          <p:cNvPr id="8" name="Shape 6"/>
          <p:cNvSpPr/>
          <p:nvPr/>
        </p:nvSpPr>
        <p:spPr>
          <a:xfrm>
            <a:off x="594360" y="1508760"/>
            <a:ext cx="45720" cy="1645920"/>
          </a:xfrm>
          <a:prstGeom prst="rect">
            <a:avLst>
              <a:gd name="adj" fmla="val 240000"/>
            </a:avLst>
          </a:prstGeom>
          <a:solidFill>
            <a:srgbClr val="6C63FF"/>
          </a:solidFill>
          <a:ln/>
        </p:spPr>
      </p:sp>
      <p:sp>
        <p:nvSpPr>
          <p:cNvPr id="9" name="Shape 7"/>
          <p:cNvSpPr/>
          <p:nvPr/>
        </p:nvSpPr>
        <p:spPr>
          <a:xfrm>
            <a:off x="722376" y="1636776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6C63FF"/>
          </a:solidFill>
          <a:ln/>
        </p:spPr>
      </p:sp>
      <p:sp>
        <p:nvSpPr>
          <p:cNvPr id="10" name="Text 8"/>
          <p:cNvSpPr/>
          <p:nvPr/>
        </p:nvSpPr>
        <p:spPr>
          <a:xfrm>
            <a:off x="722376" y="163677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520" dirty="0"/>
          </a:p>
        </p:txBody>
      </p:sp>
      <p:sp>
        <p:nvSpPr>
          <p:cNvPr id="11" name="Text 9"/>
          <p:cNvSpPr/>
          <p:nvPr/>
        </p:nvSpPr>
        <p:spPr>
          <a:xfrm>
            <a:off x="722376" y="2075688"/>
            <a:ext cx="3372002" cy="987552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Avaliar criticamente as evidências coletadas é fundamental em auditorias operacionais.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368698" y="1536192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13" name="Shape 11"/>
          <p:cNvSpPr/>
          <p:nvPr/>
        </p:nvSpPr>
        <p:spPr>
          <a:xfrm>
            <a:off x="4350410" y="1508760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111D38"/>
          </a:solidFill>
          <a:ln/>
        </p:spPr>
      </p:sp>
      <p:sp>
        <p:nvSpPr>
          <p:cNvPr id="14" name="Shape 12"/>
          <p:cNvSpPr/>
          <p:nvPr/>
        </p:nvSpPr>
        <p:spPr>
          <a:xfrm>
            <a:off x="4350410" y="1508760"/>
            <a:ext cx="45720" cy="1645920"/>
          </a:xfrm>
          <a:prstGeom prst="rect">
            <a:avLst>
              <a:gd name="adj" fmla="val 240000"/>
            </a:avLst>
          </a:prstGeom>
          <a:solidFill>
            <a:srgbClr val="3B82F6"/>
          </a:solidFill>
          <a:ln/>
        </p:spPr>
      </p:sp>
      <p:sp>
        <p:nvSpPr>
          <p:cNvPr id="15" name="Shape 13"/>
          <p:cNvSpPr/>
          <p:nvPr/>
        </p:nvSpPr>
        <p:spPr>
          <a:xfrm>
            <a:off x="4478426" y="1636776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4478426" y="163677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520" dirty="0"/>
          </a:p>
        </p:txBody>
      </p:sp>
      <p:sp>
        <p:nvSpPr>
          <p:cNvPr id="17" name="Text 15"/>
          <p:cNvSpPr/>
          <p:nvPr/>
        </p:nvSpPr>
        <p:spPr>
          <a:xfrm>
            <a:off x="4478426" y="2075688"/>
            <a:ext cx="3372002" cy="987552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Estruture achados de auditoria utilizando os quatro elementos essenciais: Critério, Condição, Causa e Efeito.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124749" y="1536192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19" name="Shape 17"/>
          <p:cNvSpPr/>
          <p:nvPr/>
        </p:nvSpPr>
        <p:spPr>
          <a:xfrm>
            <a:off x="8106461" y="1508760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111D38"/>
          </a:solidFill>
          <a:ln/>
        </p:spPr>
      </p:sp>
      <p:sp>
        <p:nvSpPr>
          <p:cNvPr id="20" name="Shape 18"/>
          <p:cNvSpPr/>
          <p:nvPr/>
        </p:nvSpPr>
        <p:spPr>
          <a:xfrm>
            <a:off x="8106461" y="1508760"/>
            <a:ext cx="45720" cy="1645920"/>
          </a:xfrm>
          <a:prstGeom prst="rect">
            <a:avLst>
              <a:gd name="adj" fmla="val 240000"/>
            </a:avLst>
          </a:prstGeom>
          <a:solidFill>
            <a:srgbClr val="10B981"/>
          </a:solidFill>
          <a:ln/>
        </p:spPr>
      </p:sp>
      <p:sp>
        <p:nvSpPr>
          <p:cNvPr id="21" name="Shape 19"/>
          <p:cNvSpPr/>
          <p:nvPr/>
        </p:nvSpPr>
        <p:spPr>
          <a:xfrm>
            <a:off x="8234477" y="1636776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8234477" y="163677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520" dirty="0"/>
          </a:p>
        </p:txBody>
      </p:sp>
      <p:sp>
        <p:nvSpPr>
          <p:cNvPr id="23" name="Text 21"/>
          <p:cNvSpPr/>
          <p:nvPr/>
        </p:nvSpPr>
        <p:spPr>
          <a:xfrm>
            <a:off x="8234477" y="2075688"/>
            <a:ext cx="3372002" cy="987552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Formule recomendações claras, objetivas e diretamente orientadas à causa raiz dos problemas identificados.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12648" y="3310128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25" name="Shape 23"/>
          <p:cNvSpPr/>
          <p:nvPr/>
        </p:nvSpPr>
        <p:spPr>
          <a:xfrm>
            <a:off x="594360" y="3282696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111D38"/>
          </a:solidFill>
          <a:ln/>
        </p:spPr>
      </p:sp>
      <p:sp>
        <p:nvSpPr>
          <p:cNvPr id="26" name="Shape 24"/>
          <p:cNvSpPr/>
          <p:nvPr/>
        </p:nvSpPr>
        <p:spPr>
          <a:xfrm>
            <a:off x="594360" y="3282696"/>
            <a:ext cx="45720" cy="1645920"/>
          </a:xfrm>
          <a:prstGeom prst="rect">
            <a:avLst>
              <a:gd name="adj" fmla="val 240000"/>
            </a:avLst>
          </a:prstGeom>
          <a:solidFill>
            <a:srgbClr val="F59E0B"/>
          </a:solidFill>
          <a:ln/>
        </p:spPr>
      </p:sp>
      <p:sp>
        <p:nvSpPr>
          <p:cNvPr id="27" name="Shape 25"/>
          <p:cNvSpPr/>
          <p:nvPr/>
        </p:nvSpPr>
        <p:spPr>
          <a:xfrm>
            <a:off x="722376" y="3410712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722376" y="341071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520" dirty="0"/>
          </a:p>
        </p:txBody>
      </p:sp>
      <p:sp>
        <p:nvSpPr>
          <p:cNvPr id="29" name="Text 27"/>
          <p:cNvSpPr/>
          <p:nvPr/>
        </p:nvSpPr>
        <p:spPr>
          <a:xfrm>
            <a:off x="722376" y="3849624"/>
            <a:ext cx="3372002" cy="987552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Utilize a triangulação de evidências para conferir maior confiabilidade e credibilidade aos achados e conclusões.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368698" y="3310128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31" name="Shape 29"/>
          <p:cNvSpPr/>
          <p:nvPr/>
        </p:nvSpPr>
        <p:spPr>
          <a:xfrm>
            <a:off x="4350410" y="3282696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111D38"/>
          </a:solidFill>
          <a:ln/>
        </p:spPr>
      </p:sp>
      <p:sp>
        <p:nvSpPr>
          <p:cNvPr id="32" name="Shape 30"/>
          <p:cNvSpPr/>
          <p:nvPr/>
        </p:nvSpPr>
        <p:spPr>
          <a:xfrm>
            <a:off x="4350410" y="3282696"/>
            <a:ext cx="45720" cy="1645920"/>
          </a:xfrm>
          <a:prstGeom prst="rect">
            <a:avLst>
              <a:gd name="adj" fmla="val 240000"/>
            </a:avLst>
          </a:prstGeom>
          <a:solidFill>
            <a:srgbClr val="06B6D4"/>
          </a:solidFill>
          <a:ln/>
        </p:spPr>
      </p:sp>
      <p:sp>
        <p:nvSpPr>
          <p:cNvPr id="33" name="Shape 31"/>
          <p:cNvSpPr/>
          <p:nvPr/>
        </p:nvSpPr>
        <p:spPr>
          <a:xfrm>
            <a:off x="4478426" y="3410712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06B6D4"/>
          </a:solidFill>
          <a:ln/>
        </p:spPr>
      </p:sp>
      <p:sp>
        <p:nvSpPr>
          <p:cNvPr id="34" name="Text 32"/>
          <p:cNvSpPr/>
          <p:nvPr/>
        </p:nvSpPr>
        <p:spPr>
          <a:xfrm>
            <a:off x="4478426" y="341071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520" dirty="0"/>
          </a:p>
        </p:txBody>
      </p:sp>
      <p:sp>
        <p:nvSpPr>
          <p:cNvPr id="35" name="Text 33"/>
          <p:cNvSpPr/>
          <p:nvPr/>
        </p:nvSpPr>
        <p:spPr>
          <a:xfrm>
            <a:off x="4478426" y="3849624"/>
            <a:ext cx="3372002" cy="987552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Mantenha o ceticismo profissional e assegure que as evidências sejam sempre suficientes, relevantes, confiáveis e úteis.</a:t>
            </a:r>
            <a:endParaRPr lang="en-US" sz="14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5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8851" y="0"/>
            <a:ext cx="4632844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558851" y="0"/>
            <a:ext cx="36576" cy="68580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1"/>
          <p:cNvSpPr/>
          <p:nvPr/>
        </p:nvSpPr>
        <p:spPr>
          <a:xfrm>
            <a:off x="9631375" y="6656832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C0">
                    <a:alpha val="6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Foto: Walls.io / Unsplash</a:t>
            </a:r>
            <a:endParaRPr lang="en-US" sz="700" dirty="0"/>
          </a:p>
        </p:txBody>
      </p:sp>
      <p:sp>
        <p:nvSpPr>
          <p:cNvPr id="5" name="Shape 2"/>
          <p:cNvSpPr/>
          <p:nvPr/>
        </p:nvSpPr>
        <p:spPr>
          <a:xfrm>
            <a:off x="4535311" y="0"/>
            <a:ext cx="3023540" cy="115214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6" name="Shape 3"/>
          <p:cNvSpPr/>
          <p:nvPr/>
        </p:nvSpPr>
        <p:spPr>
          <a:xfrm>
            <a:off x="4535311" y="1143000"/>
            <a:ext cx="3023540" cy="115214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7" name="Shape 4"/>
          <p:cNvSpPr/>
          <p:nvPr/>
        </p:nvSpPr>
        <p:spPr>
          <a:xfrm>
            <a:off x="4535311" y="2286000"/>
            <a:ext cx="3023540" cy="115214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8" name="Shape 5"/>
          <p:cNvSpPr/>
          <p:nvPr/>
        </p:nvSpPr>
        <p:spPr>
          <a:xfrm>
            <a:off x="4535311" y="3429000"/>
            <a:ext cx="3023540" cy="115214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9" name="Shape 6"/>
          <p:cNvSpPr/>
          <p:nvPr/>
        </p:nvSpPr>
        <p:spPr>
          <a:xfrm>
            <a:off x="4535311" y="4572000"/>
            <a:ext cx="3023540" cy="115214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0" name="Shape 7"/>
          <p:cNvSpPr/>
          <p:nvPr/>
        </p:nvSpPr>
        <p:spPr>
          <a:xfrm>
            <a:off x="4535311" y="5715000"/>
            <a:ext cx="3023540" cy="115214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1" name="Shape 8"/>
          <p:cNvSpPr/>
          <p:nvPr/>
        </p:nvSpPr>
        <p:spPr>
          <a:xfrm>
            <a:off x="731520" y="1005840"/>
            <a:ext cx="45720" cy="21031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2" name="Shape 9"/>
          <p:cNvSpPr/>
          <p:nvPr/>
        </p:nvSpPr>
        <p:spPr>
          <a:xfrm>
            <a:off x="804672" y="1005840"/>
            <a:ext cx="13716" cy="21031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3" name="Text 10"/>
          <p:cNvSpPr/>
          <p:nvPr/>
        </p:nvSpPr>
        <p:spPr>
          <a:xfrm>
            <a:off x="1005840" y="109728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06B6D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MÓDULO 5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1005840" y="1417320"/>
            <a:ext cx="1280160" cy="20117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5" name="Text 12"/>
          <p:cNvSpPr/>
          <p:nvPr/>
        </p:nvSpPr>
        <p:spPr>
          <a:xfrm>
            <a:off x="1005840" y="1572768"/>
            <a:ext cx="5669138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Comunicação dos Resultados e Monitoramento</a:t>
            </a:r>
            <a:endParaRPr lang="en-US" sz="3600" dirty="0"/>
          </a:p>
        </p:txBody>
      </p:sp>
      <p:sp>
        <p:nvSpPr>
          <p:cNvPr id="16" name="Shape 13"/>
          <p:cNvSpPr/>
          <p:nvPr/>
        </p:nvSpPr>
        <p:spPr>
          <a:xfrm>
            <a:off x="1005840" y="4142232"/>
            <a:ext cx="2011680" cy="10973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7" name="Text 14"/>
          <p:cNvSpPr/>
          <p:nvPr/>
        </p:nvSpPr>
        <p:spPr>
          <a:xfrm>
            <a:off x="1005840" y="425196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500" kern="0" dirty="0">
                <a:solidFill>
                  <a:srgbClr val="06B6D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QUE VOCÊ VAI APRENDER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1005840" y="4590288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06B6D4"/>
          </a:solidFill>
          <a:ln/>
        </p:spPr>
      </p:sp>
      <p:sp>
        <p:nvSpPr>
          <p:cNvPr id="19" name="Text 16"/>
          <p:cNvSpPr/>
          <p:nvPr/>
        </p:nvSpPr>
        <p:spPr>
          <a:xfrm>
            <a:off x="1234440" y="4544568"/>
            <a:ext cx="52911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Entender a importância da comunicação e do monitoramento na auditoria operacional.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1005840" y="5047488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06B6D4"/>
          </a:solidFill>
          <a:ln/>
        </p:spPr>
      </p:sp>
      <p:sp>
        <p:nvSpPr>
          <p:cNvPr id="21" name="Text 18"/>
          <p:cNvSpPr/>
          <p:nvPr/>
        </p:nvSpPr>
        <p:spPr>
          <a:xfrm>
            <a:off x="1234440" y="5001768"/>
            <a:ext cx="52911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Criar relatórios de auditoria claros e apresentações eficazes para diversos públicos.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1005840" y="5504688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06B6D4"/>
          </a:solidFill>
          <a:ln/>
        </p:spPr>
      </p:sp>
      <p:sp>
        <p:nvSpPr>
          <p:cNvPr id="23" name="Text 20"/>
          <p:cNvSpPr/>
          <p:nvPr/>
        </p:nvSpPr>
        <p:spPr>
          <a:xfrm>
            <a:off x="1234440" y="5458968"/>
            <a:ext cx="52911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Monitorar a implementação de recomendações para garantir a melhoria contínua.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731520" y="6446520"/>
            <a:ext cx="542544" cy="7315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5" name="Shape 22"/>
          <p:cNvSpPr/>
          <p:nvPr/>
        </p:nvSpPr>
        <p:spPr>
          <a:xfrm>
            <a:off x="1264920" y="6446520"/>
            <a:ext cx="542544" cy="7315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6" name="Shape 23"/>
          <p:cNvSpPr/>
          <p:nvPr/>
        </p:nvSpPr>
        <p:spPr>
          <a:xfrm>
            <a:off x="1798320" y="6446520"/>
            <a:ext cx="542544" cy="7315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7" name="Shape 24"/>
          <p:cNvSpPr/>
          <p:nvPr/>
        </p:nvSpPr>
        <p:spPr>
          <a:xfrm>
            <a:off x="2331720" y="6446520"/>
            <a:ext cx="542544" cy="7315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8" name="Shape 25"/>
          <p:cNvSpPr/>
          <p:nvPr/>
        </p:nvSpPr>
        <p:spPr>
          <a:xfrm>
            <a:off x="2865120" y="6446520"/>
            <a:ext cx="542544" cy="7315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9" name="Shape 26"/>
          <p:cNvSpPr/>
          <p:nvPr/>
        </p:nvSpPr>
        <p:spPr>
          <a:xfrm>
            <a:off x="3398520" y="6446520"/>
            <a:ext cx="542544" cy="7315"/>
          </a:xfrm>
          <a:prstGeom prst="rect">
            <a:avLst/>
          </a:prstGeom>
          <a:solidFill>
            <a:srgbClr val="06B6D4"/>
          </a:solidFill>
          <a:ln/>
        </p:spPr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6C63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FUNDAMENTOS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493776"/>
            <a:ext cx="640080" cy="21946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Fundamentos da Comunicação e Monitoramento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389888"/>
            <a:ext cx="11185855" cy="7315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408176"/>
            <a:ext cx="11185855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9" name="Shape 7"/>
          <p:cNvSpPr/>
          <p:nvPr/>
        </p:nvSpPr>
        <p:spPr>
          <a:xfrm>
            <a:off x="594360" y="1508760"/>
            <a:ext cx="11094415" cy="1463040"/>
          </a:xfrm>
          <a:prstGeom prst="roundRect">
            <a:avLst>
              <a:gd name="adj" fmla="val 6250"/>
            </a:avLst>
          </a:prstGeom>
          <a:solidFill>
            <a:srgbClr val="050A18"/>
          </a:solidFill>
          <a:ln/>
        </p:spPr>
      </p:sp>
      <p:sp>
        <p:nvSpPr>
          <p:cNvPr id="10" name="Shape 8"/>
          <p:cNvSpPr/>
          <p:nvPr/>
        </p:nvSpPr>
        <p:spPr>
          <a:xfrm>
            <a:off x="722376" y="1636776"/>
            <a:ext cx="45720" cy="1207008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1" name="Text 9"/>
          <p:cNvSpPr/>
          <p:nvPr/>
        </p:nvSpPr>
        <p:spPr>
          <a:xfrm>
            <a:off x="886968" y="1581912"/>
            <a:ext cx="10655503" cy="1316736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900" i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auditoria operacional visa transformar descobertas em ações concretas para gerar impacto real.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630936" y="3456432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795528" y="3136392"/>
            <a:ext cx="10893247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comunicação eficaz garante que falhas sejam relatadas e soluções viáveis sejam propostas para a gestão.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30936" y="4242816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795528" y="3922776"/>
            <a:ext cx="10893247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monitoramento diligente assegura que as soluções sejam implementadas, promovendo a responsabilização.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30936" y="5029200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795528" y="4709160"/>
            <a:ext cx="10893247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Este módulo aborda como relatar falhas, propor soluções exequíveis e garantir sua implementação efetiva.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9" name="Shape 17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0" name="Shape 18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1" name="Shape 19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2" name="Shape 20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3" name="Shape 21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4" name="Shape 22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30 / 48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3B82F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COMO FUNCIONA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493776"/>
            <a:ext cx="640080" cy="2194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Características Essenciais do Relatório de Auditoria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389888"/>
            <a:ext cx="11185855" cy="7315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408176"/>
            <a:ext cx="11185855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9" name="Shape 7"/>
          <p:cNvSpPr/>
          <p:nvPr/>
        </p:nvSpPr>
        <p:spPr>
          <a:xfrm>
            <a:off x="6132424" y="1536192"/>
            <a:ext cx="18288" cy="491032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Shape 8"/>
          <p:cNvSpPr/>
          <p:nvPr/>
        </p:nvSpPr>
        <p:spPr>
          <a:xfrm>
            <a:off x="6095848" y="3945636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1" name="Shape 9"/>
          <p:cNvSpPr/>
          <p:nvPr/>
        </p:nvSpPr>
        <p:spPr>
          <a:xfrm>
            <a:off x="621792" y="1572768"/>
            <a:ext cx="5387188" cy="987552"/>
          </a:xfrm>
          <a:prstGeom prst="roundRect">
            <a:avLst>
              <a:gd name="adj" fmla="val 9259"/>
            </a:avLst>
          </a:prstGeom>
          <a:solidFill>
            <a:srgbClr val="000000"/>
          </a:solidFill>
          <a:ln/>
        </p:spPr>
      </p:sp>
      <p:sp>
        <p:nvSpPr>
          <p:cNvPr id="12" name="Shape 10"/>
          <p:cNvSpPr/>
          <p:nvPr/>
        </p:nvSpPr>
        <p:spPr>
          <a:xfrm>
            <a:off x="594360" y="1536192"/>
            <a:ext cx="5387188" cy="987552"/>
          </a:xfrm>
          <a:prstGeom prst="roundRect">
            <a:avLst>
              <a:gd name="adj" fmla="val 5556"/>
            </a:avLst>
          </a:prstGeom>
          <a:solidFill>
            <a:srgbClr val="141E34"/>
          </a:solidFill>
          <a:ln/>
        </p:spPr>
      </p:sp>
      <p:sp>
        <p:nvSpPr>
          <p:cNvPr id="13" name="Shape 11"/>
          <p:cNvSpPr/>
          <p:nvPr/>
        </p:nvSpPr>
        <p:spPr>
          <a:xfrm>
            <a:off x="594360" y="1536192"/>
            <a:ext cx="45720" cy="987552"/>
          </a:xfrm>
          <a:prstGeom prst="rect">
            <a:avLst>
              <a:gd name="adj" fmla="val 120000"/>
            </a:avLst>
          </a:prstGeom>
          <a:solidFill>
            <a:srgbClr val="6C63FF"/>
          </a:solidFill>
          <a:ln/>
        </p:spPr>
      </p:sp>
      <p:sp>
        <p:nvSpPr>
          <p:cNvPr id="14" name="Shape 12"/>
          <p:cNvSpPr/>
          <p:nvPr/>
        </p:nvSpPr>
        <p:spPr>
          <a:xfrm>
            <a:off x="722376" y="189280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6C63FF"/>
          </a:solidFill>
          <a:ln/>
        </p:spPr>
      </p:sp>
      <p:sp>
        <p:nvSpPr>
          <p:cNvPr id="15" name="Text 13"/>
          <p:cNvSpPr/>
          <p:nvPr/>
        </p:nvSpPr>
        <p:spPr>
          <a:xfrm>
            <a:off x="722376" y="18928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69848" y="1563624"/>
            <a:ext cx="483854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relatório de auditoria consolida todo o trabalho, comunicando constatações e recomendações.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21792" y="2633472"/>
            <a:ext cx="5387188" cy="987552"/>
          </a:xfrm>
          <a:prstGeom prst="roundRect">
            <a:avLst>
              <a:gd name="adj" fmla="val 9259"/>
            </a:avLst>
          </a:prstGeom>
          <a:solidFill>
            <a:srgbClr val="000000"/>
          </a:solidFill>
          <a:ln/>
        </p:spPr>
      </p:sp>
      <p:sp>
        <p:nvSpPr>
          <p:cNvPr id="18" name="Shape 16"/>
          <p:cNvSpPr/>
          <p:nvPr/>
        </p:nvSpPr>
        <p:spPr>
          <a:xfrm>
            <a:off x="594360" y="2596896"/>
            <a:ext cx="5387188" cy="987552"/>
          </a:xfrm>
          <a:prstGeom prst="roundRect">
            <a:avLst>
              <a:gd name="adj" fmla="val 5556"/>
            </a:avLst>
          </a:prstGeom>
          <a:solidFill>
            <a:srgbClr val="141E34"/>
          </a:solidFill>
          <a:ln/>
        </p:spPr>
      </p:sp>
      <p:sp>
        <p:nvSpPr>
          <p:cNvPr id="19" name="Shape 17"/>
          <p:cNvSpPr/>
          <p:nvPr/>
        </p:nvSpPr>
        <p:spPr>
          <a:xfrm>
            <a:off x="594360" y="2596896"/>
            <a:ext cx="45720" cy="987552"/>
          </a:xfrm>
          <a:prstGeom prst="rect">
            <a:avLst>
              <a:gd name="adj" fmla="val 120000"/>
            </a:avLst>
          </a:prstGeom>
          <a:solidFill>
            <a:srgbClr val="3B82F6"/>
          </a:solidFill>
          <a:ln/>
        </p:spPr>
      </p:sp>
      <p:sp>
        <p:nvSpPr>
          <p:cNvPr id="20" name="Shape 18"/>
          <p:cNvSpPr/>
          <p:nvPr/>
        </p:nvSpPr>
        <p:spPr>
          <a:xfrm>
            <a:off x="722376" y="295351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3B82F6"/>
          </a:solidFill>
          <a:ln/>
        </p:spPr>
      </p:sp>
      <p:sp>
        <p:nvSpPr>
          <p:cNvPr id="21" name="Text 19"/>
          <p:cNvSpPr/>
          <p:nvPr/>
        </p:nvSpPr>
        <p:spPr>
          <a:xfrm>
            <a:off x="722376" y="295351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69848" y="2624328"/>
            <a:ext cx="483854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Objetividade: Baseado em fatos e evidências da administração pública.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21792" y="3694176"/>
            <a:ext cx="5387188" cy="987552"/>
          </a:xfrm>
          <a:prstGeom prst="roundRect">
            <a:avLst>
              <a:gd name="adj" fmla="val 9259"/>
            </a:avLst>
          </a:prstGeom>
          <a:solidFill>
            <a:srgbClr val="000000"/>
          </a:solidFill>
          <a:ln/>
        </p:spPr>
      </p:sp>
      <p:sp>
        <p:nvSpPr>
          <p:cNvPr id="24" name="Shape 22"/>
          <p:cNvSpPr/>
          <p:nvPr/>
        </p:nvSpPr>
        <p:spPr>
          <a:xfrm>
            <a:off x="594360" y="3657600"/>
            <a:ext cx="5387188" cy="987552"/>
          </a:xfrm>
          <a:prstGeom prst="roundRect">
            <a:avLst>
              <a:gd name="adj" fmla="val 5556"/>
            </a:avLst>
          </a:prstGeom>
          <a:solidFill>
            <a:srgbClr val="141E34"/>
          </a:solidFill>
          <a:ln/>
        </p:spPr>
      </p:sp>
      <p:sp>
        <p:nvSpPr>
          <p:cNvPr id="25" name="Shape 23"/>
          <p:cNvSpPr/>
          <p:nvPr/>
        </p:nvSpPr>
        <p:spPr>
          <a:xfrm>
            <a:off x="594360" y="3657600"/>
            <a:ext cx="45720" cy="987552"/>
          </a:xfrm>
          <a:prstGeom prst="rect">
            <a:avLst>
              <a:gd name="adj" fmla="val 120000"/>
            </a:avLst>
          </a:prstGeom>
          <a:solidFill>
            <a:srgbClr val="10B981"/>
          </a:solidFill>
          <a:ln/>
        </p:spPr>
      </p:sp>
      <p:sp>
        <p:nvSpPr>
          <p:cNvPr id="26" name="Shape 24"/>
          <p:cNvSpPr/>
          <p:nvPr/>
        </p:nvSpPr>
        <p:spPr>
          <a:xfrm>
            <a:off x="722376" y="401421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/>
        </p:spPr>
      </p:sp>
      <p:sp>
        <p:nvSpPr>
          <p:cNvPr id="27" name="Text 25"/>
          <p:cNvSpPr/>
          <p:nvPr/>
        </p:nvSpPr>
        <p:spPr>
          <a:xfrm>
            <a:off x="722376" y="40142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69848" y="3685032"/>
            <a:ext cx="483854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Clareza: Redação simples e direta, de fácil compreensão para diversos públicos.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621792" y="4754880"/>
            <a:ext cx="5387188" cy="987552"/>
          </a:xfrm>
          <a:prstGeom prst="roundRect">
            <a:avLst>
              <a:gd name="adj" fmla="val 9259"/>
            </a:avLst>
          </a:prstGeom>
          <a:solidFill>
            <a:srgbClr val="000000"/>
          </a:solidFill>
          <a:ln/>
        </p:spPr>
      </p:sp>
      <p:sp>
        <p:nvSpPr>
          <p:cNvPr id="30" name="Shape 28"/>
          <p:cNvSpPr/>
          <p:nvPr/>
        </p:nvSpPr>
        <p:spPr>
          <a:xfrm>
            <a:off x="594360" y="4718304"/>
            <a:ext cx="5387188" cy="987552"/>
          </a:xfrm>
          <a:prstGeom prst="roundRect">
            <a:avLst>
              <a:gd name="adj" fmla="val 5556"/>
            </a:avLst>
          </a:prstGeom>
          <a:solidFill>
            <a:srgbClr val="141E34"/>
          </a:solidFill>
          <a:ln/>
        </p:spPr>
      </p:sp>
      <p:sp>
        <p:nvSpPr>
          <p:cNvPr id="31" name="Shape 29"/>
          <p:cNvSpPr/>
          <p:nvPr/>
        </p:nvSpPr>
        <p:spPr>
          <a:xfrm>
            <a:off x="594360" y="4718304"/>
            <a:ext cx="45720" cy="987552"/>
          </a:xfrm>
          <a:prstGeom prst="rect">
            <a:avLst>
              <a:gd name="adj" fmla="val 120000"/>
            </a:avLst>
          </a:prstGeom>
          <a:solidFill>
            <a:srgbClr val="F59E0B"/>
          </a:solidFill>
          <a:ln/>
        </p:spPr>
      </p:sp>
      <p:sp>
        <p:nvSpPr>
          <p:cNvPr id="32" name="Shape 30"/>
          <p:cNvSpPr/>
          <p:nvPr/>
        </p:nvSpPr>
        <p:spPr>
          <a:xfrm>
            <a:off x="722376" y="507492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F59E0B"/>
          </a:solidFill>
          <a:ln/>
        </p:spPr>
      </p:sp>
      <p:sp>
        <p:nvSpPr>
          <p:cNvPr id="33" name="Text 31"/>
          <p:cNvSpPr/>
          <p:nvPr/>
        </p:nvSpPr>
        <p:spPr>
          <a:xfrm>
            <a:off x="722376" y="50749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069848" y="4745736"/>
            <a:ext cx="483854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Concisão: Focado nas informações determinantes para a tomada de decisão.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6329020" y="1572768"/>
            <a:ext cx="5387188" cy="987552"/>
          </a:xfrm>
          <a:prstGeom prst="roundRect">
            <a:avLst>
              <a:gd name="adj" fmla="val 9259"/>
            </a:avLst>
          </a:prstGeom>
          <a:solidFill>
            <a:srgbClr val="000000"/>
          </a:solidFill>
          <a:ln/>
        </p:spPr>
      </p:sp>
      <p:sp>
        <p:nvSpPr>
          <p:cNvPr id="36" name="Shape 34"/>
          <p:cNvSpPr/>
          <p:nvPr/>
        </p:nvSpPr>
        <p:spPr>
          <a:xfrm>
            <a:off x="6301588" y="1536192"/>
            <a:ext cx="5387188" cy="987552"/>
          </a:xfrm>
          <a:prstGeom prst="roundRect">
            <a:avLst>
              <a:gd name="adj" fmla="val 5556"/>
            </a:avLst>
          </a:prstGeom>
          <a:solidFill>
            <a:srgbClr val="141E34"/>
          </a:solidFill>
          <a:ln/>
        </p:spPr>
      </p:sp>
      <p:sp>
        <p:nvSpPr>
          <p:cNvPr id="37" name="Shape 35"/>
          <p:cNvSpPr/>
          <p:nvPr/>
        </p:nvSpPr>
        <p:spPr>
          <a:xfrm>
            <a:off x="6301588" y="1536192"/>
            <a:ext cx="45720" cy="987552"/>
          </a:xfrm>
          <a:prstGeom prst="rect">
            <a:avLst>
              <a:gd name="adj" fmla="val 120000"/>
            </a:avLst>
          </a:prstGeom>
          <a:solidFill>
            <a:srgbClr val="06B6D4"/>
          </a:solidFill>
          <a:ln/>
        </p:spPr>
      </p:sp>
      <p:sp>
        <p:nvSpPr>
          <p:cNvPr id="38" name="Shape 36"/>
          <p:cNvSpPr/>
          <p:nvPr/>
        </p:nvSpPr>
        <p:spPr>
          <a:xfrm>
            <a:off x="6429604" y="189280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6B6D4"/>
          </a:solidFill>
          <a:ln/>
        </p:spPr>
      </p:sp>
      <p:sp>
        <p:nvSpPr>
          <p:cNvPr id="39" name="Text 37"/>
          <p:cNvSpPr/>
          <p:nvPr/>
        </p:nvSpPr>
        <p:spPr>
          <a:xfrm>
            <a:off x="6429604" y="18928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777076" y="1563624"/>
            <a:ext cx="483854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Completude: Apresenta informações necessárias para entendimento integral dos achados.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6329020" y="2633472"/>
            <a:ext cx="5387188" cy="987552"/>
          </a:xfrm>
          <a:prstGeom prst="roundRect">
            <a:avLst>
              <a:gd name="adj" fmla="val 9259"/>
            </a:avLst>
          </a:prstGeom>
          <a:solidFill>
            <a:srgbClr val="000000"/>
          </a:solidFill>
          <a:ln/>
        </p:spPr>
      </p:sp>
      <p:sp>
        <p:nvSpPr>
          <p:cNvPr id="42" name="Shape 40"/>
          <p:cNvSpPr/>
          <p:nvPr/>
        </p:nvSpPr>
        <p:spPr>
          <a:xfrm>
            <a:off x="6301588" y="2596896"/>
            <a:ext cx="5387188" cy="987552"/>
          </a:xfrm>
          <a:prstGeom prst="roundRect">
            <a:avLst>
              <a:gd name="adj" fmla="val 5556"/>
            </a:avLst>
          </a:prstGeom>
          <a:solidFill>
            <a:srgbClr val="141E34"/>
          </a:solidFill>
          <a:ln/>
        </p:spPr>
      </p:sp>
      <p:sp>
        <p:nvSpPr>
          <p:cNvPr id="43" name="Shape 41"/>
          <p:cNvSpPr/>
          <p:nvPr/>
        </p:nvSpPr>
        <p:spPr>
          <a:xfrm>
            <a:off x="6301588" y="2596896"/>
            <a:ext cx="45720" cy="987552"/>
          </a:xfrm>
          <a:prstGeom prst="rect">
            <a:avLst>
              <a:gd name="adj" fmla="val 120000"/>
            </a:avLst>
          </a:prstGeom>
          <a:solidFill>
            <a:srgbClr val="6C63FF"/>
          </a:solidFill>
          <a:ln/>
        </p:spPr>
      </p:sp>
      <p:sp>
        <p:nvSpPr>
          <p:cNvPr id="44" name="Shape 42"/>
          <p:cNvSpPr/>
          <p:nvPr/>
        </p:nvSpPr>
        <p:spPr>
          <a:xfrm>
            <a:off x="6429604" y="295351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6C63FF"/>
          </a:solidFill>
          <a:ln/>
        </p:spPr>
      </p:sp>
      <p:sp>
        <p:nvSpPr>
          <p:cNvPr id="45" name="Text 43"/>
          <p:cNvSpPr/>
          <p:nvPr/>
        </p:nvSpPr>
        <p:spPr>
          <a:xfrm>
            <a:off x="6429604" y="295351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777076" y="2624328"/>
            <a:ext cx="483854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Confiabilidade: Informações precisas, verificáveis e suportadas por evidências.</a:t>
            </a:r>
            <a:endParaRPr lang="en-US" sz="1500" dirty="0"/>
          </a:p>
        </p:txBody>
      </p:sp>
      <p:sp>
        <p:nvSpPr>
          <p:cNvPr id="47" name="Shape 45"/>
          <p:cNvSpPr/>
          <p:nvPr/>
        </p:nvSpPr>
        <p:spPr>
          <a:xfrm>
            <a:off x="6329020" y="3694176"/>
            <a:ext cx="5387188" cy="987552"/>
          </a:xfrm>
          <a:prstGeom prst="roundRect">
            <a:avLst>
              <a:gd name="adj" fmla="val 9259"/>
            </a:avLst>
          </a:prstGeom>
          <a:solidFill>
            <a:srgbClr val="000000"/>
          </a:solidFill>
          <a:ln/>
        </p:spPr>
      </p:sp>
      <p:sp>
        <p:nvSpPr>
          <p:cNvPr id="48" name="Shape 46"/>
          <p:cNvSpPr/>
          <p:nvPr/>
        </p:nvSpPr>
        <p:spPr>
          <a:xfrm>
            <a:off x="6301588" y="3657600"/>
            <a:ext cx="5387188" cy="987552"/>
          </a:xfrm>
          <a:prstGeom prst="roundRect">
            <a:avLst>
              <a:gd name="adj" fmla="val 5556"/>
            </a:avLst>
          </a:prstGeom>
          <a:solidFill>
            <a:srgbClr val="141E34"/>
          </a:solidFill>
          <a:ln/>
        </p:spPr>
      </p:sp>
      <p:sp>
        <p:nvSpPr>
          <p:cNvPr id="49" name="Shape 47"/>
          <p:cNvSpPr/>
          <p:nvPr/>
        </p:nvSpPr>
        <p:spPr>
          <a:xfrm>
            <a:off x="6301588" y="3657600"/>
            <a:ext cx="45720" cy="987552"/>
          </a:xfrm>
          <a:prstGeom prst="rect">
            <a:avLst>
              <a:gd name="adj" fmla="val 120000"/>
            </a:avLst>
          </a:prstGeom>
          <a:solidFill>
            <a:srgbClr val="3B82F6"/>
          </a:solidFill>
          <a:ln/>
        </p:spPr>
      </p:sp>
      <p:sp>
        <p:nvSpPr>
          <p:cNvPr id="50" name="Shape 48"/>
          <p:cNvSpPr/>
          <p:nvPr/>
        </p:nvSpPr>
        <p:spPr>
          <a:xfrm>
            <a:off x="6429604" y="401421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3B82F6"/>
          </a:solidFill>
          <a:ln/>
        </p:spPr>
      </p:sp>
      <p:sp>
        <p:nvSpPr>
          <p:cNvPr id="51" name="Text 49"/>
          <p:cNvSpPr/>
          <p:nvPr/>
        </p:nvSpPr>
        <p:spPr>
          <a:xfrm>
            <a:off x="6429604" y="40142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6777076" y="3685032"/>
            <a:ext cx="483854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Relevância: Aborda questões com impacto financeiro, social ou de conformidade legal.</a:t>
            </a:r>
            <a:endParaRPr lang="en-US" sz="1500" dirty="0"/>
          </a:p>
        </p:txBody>
      </p:sp>
      <p:sp>
        <p:nvSpPr>
          <p:cNvPr id="53" name="Shape 51"/>
          <p:cNvSpPr/>
          <p:nvPr/>
        </p:nvSpPr>
        <p:spPr>
          <a:xfrm>
            <a:off x="6329020" y="4754880"/>
            <a:ext cx="5387188" cy="987552"/>
          </a:xfrm>
          <a:prstGeom prst="roundRect">
            <a:avLst>
              <a:gd name="adj" fmla="val 9259"/>
            </a:avLst>
          </a:prstGeom>
          <a:solidFill>
            <a:srgbClr val="000000"/>
          </a:solidFill>
          <a:ln/>
        </p:spPr>
      </p:sp>
      <p:sp>
        <p:nvSpPr>
          <p:cNvPr id="54" name="Shape 52"/>
          <p:cNvSpPr/>
          <p:nvPr/>
        </p:nvSpPr>
        <p:spPr>
          <a:xfrm>
            <a:off x="6301588" y="4718304"/>
            <a:ext cx="5387188" cy="987552"/>
          </a:xfrm>
          <a:prstGeom prst="roundRect">
            <a:avLst>
              <a:gd name="adj" fmla="val 5556"/>
            </a:avLst>
          </a:prstGeom>
          <a:solidFill>
            <a:srgbClr val="141E34"/>
          </a:solidFill>
          <a:ln/>
        </p:spPr>
      </p:sp>
      <p:sp>
        <p:nvSpPr>
          <p:cNvPr id="55" name="Shape 53"/>
          <p:cNvSpPr/>
          <p:nvPr/>
        </p:nvSpPr>
        <p:spPr>
          <a:xfrm>
            <a:off x="6301588" y="4718304"/>
            <a:ext cx="45720" cy="987552"/>
          </a:xfrm>
          <a:prstGeom prst="rect">
            <a:avLst>
              <a:gd name="adj" fmla="val 120000"/>
            </a:avLst>
          </a:prstGeom>
          <a:solidFill>
            <a:srgbClr val="10B981"/>
          </a:solidFill>
          <a:ln/>
        </p:spPr>
      </p:sp>
      <p:sp>
        <p:nvSpPr>
          <p:cNvPr id="56" name="Shape 54"/>
          <p:cNvSpPr/>
          <p:nvPr/>
        </p:nvSpPr>
        <p:spPr>
          <a:xfrm>
            <a:off x="6429604" y="507492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/>
        </p:spPr>
      </p:sp>
      <p:sp>
        <p:nvSpPr>
          <p:cNvPr id="57" name="Text 55"/>
          <p:cNvSpPr/>
          <p:nvPr/>
        </p:nvSpPr>
        <p:spPr>
          <a:xfrm>
            <a:off x="6429604" y="50749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6777076" y="4745736"/>
            <a:ext cx="483854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Temporalidade: Emitido em tempo hábil para influenciar o planejamento e decisões.</a:t>
            </a:r>
            <a:endParaRPr lang="en-US" sz="1500" dirty="0"/>
          </a:p>
        </p:txBody>
      </p:sp>
      <p:sp>
        <p:nvSpPr>
          <p:cNvPr id="59" name="Shape 57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60" name="Shape 58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61" name="Shape 59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62" name="Shape 60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63" name="Shape 61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64" name="Shape 62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65" name="Shape 63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66" name="Text 64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31 / 48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10B98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COMO FUNCIONA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493776"/>
            <a:ext cx="640080" cy="2194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Apresentação e Fase de Contraditório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389888"/>
            <a:ext cx="11185855" cy="7315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408176"/>
            <a:ext cx="11185855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9" name="Shape 7"/>
          <p:cNvSpPr/>
          <p:nvPr/>
        </p:nvSpPr>
        <p:spPr>
          <a:xfrm>
            <a:off x="621792" y="1545336"/>
            <a:ext cx="11094415" cy="1152144"/>
          </a:xfrm>
          <a:prstGeom prst="roundRect">
            <a:avLst>
              <a:gd name="adj" fmla="val 7937"/>
            </a:avLst>
          </a:prstGeom>
          <a:solidFill>
            <a:srgbClr val="000000"/>
          </a:solidFill>
          <a:ln/>
        </p:spPr>
      </p:sp>
      <p:sp>
        <p:nvSpPr>
          <p:cNvPr id="10" name="Shape 8"/>
          <p:cNvSpPr/>
          <p:nvPr/>
        </p:nvSpPr>
        <p:spPr>
          <a:xfrm>
            <a:off x="594360" y="1508760"/>
            <a:ext cx="11094415" cy="1152144"/>
          </a:xfrm>
          <a:prstGeom prst="roundRect">
            <a:avLst>
              <a:gd name="adj" fmla="val 6349"/>
            </a:avLst>
          </a:prstGeom>
          <a:solidFill>
            <a:srgbClr val="141E34"/>
          </a:solidFill>
          <a:ln w="3810">
            <a:solidFill>
              <a:srgbClr val="222E4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1508760"/>
            <a:ext cx="54864" cy="1152144"/>
          </a:xfrm>
          <a:prstGeom prst="rect">
            <a:avLst>
              <a:gd name="adj" fmla="val 133333"/>
            </a:avLst>
          </a:prstGeom>
          <a:solidFill>
            <a:srgbClr val="6C63FF"/>
          </a:solidFill>
          <a:ln/>
        </p:spPr>
      </p:sp>
      <p:sp>
        <p:nvSpPr>
          <p:cNvPr id="12" name="Shape 10"/>
          <p:cNvSpPr/>
          <p:nvPr/>
        </p:nvSpPr>
        <p:spPr>
          <a:xfrm>
            <a:off x="758952" y="192938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6C63FF"/>
          </a:solidFill>
          <a:ln/>
        </p:spPr>
      </p:sp>
      <p:sp>
        <p:nvSpPr>
          <p:cNvPr id="13" name="Text 11"/>
          <p:cNvSpPr/>
          <p:nvPr/>
        </p:nvSpPr>
        <p:spPr>
          <a:xfrm>
            <a:off x="758952" y="192938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97864" y="1536192"/>
            <a:ext cx="10399471" cy="10972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apresentação oral complementa o relatório, esclarecendo dúvidas e reforçando as constatações.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21792" y="2807208"/>
            <a:ext cx="11094415" cy="1152144"/>
          </a:xfrm>
          <a:prstGeom prst="roundRect">
            <a:avLst>
              <a:gd name="adj" fmla="val 7937"/>
            </a:avLst>
          </a:prstGeom>
          <a:solidFill>
            <a:srgbClr val="000000"/>
          </a:solidFill>
          <a:ln/>
        </p:spPr>
      </p:sp>
      <p:sp>
        <p:nvSpPr>
          <p:cNvPr id="16" name="Shape 14"/>
          <p:cNvSpPr/>
          <p:nvPr/>
        </p:nvSpPr>
        <p:spPr>
          <a:xfrm>
            <a:off x="594360" y="2770632"/>
            <a:ext cx="11094415" cy="1152144"/>
          </a:xfrm>
          <a:prstGeom prst="roundRect">
            <a:avLst>
              <a:gd name="adj" fmla="val 6349"/>
            </a:avLst>
          </a:prstGeom>
          <a:solidFill>
            <a:srgbClr val="141E34"/>
          </a:solidFill>
          <a:ln w="3810">
            <a:solidFill>
              <a:srgbClr val="222E4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" y="2770632"/>
            <a:ext cx="54864" cy="1152144"/>
          </a:xfrm>
          <a:prstGeom prst="rect">
            <a:avLst>
              <a:gd name="adj" fmla="val 133333"/>
            </a:avLst>
          </a:prstGeom>
          <a:solidFill>
            <a:srgbClr val="3B82F6"/>
          </a:solidFill>
          <a:ln/>
        </p:spPr>
      </p:sp>
      <p:sp>
        <p:nvSpPr>
          <p:cNvPr id="18" name="Shape 16"/>
          <p:cNvSpPr/>
          <p:nvPr/>
        </p:nvSpPr>
        <p:spPr>
          <a:xfrm>
            <a:off x="758952" y="319125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758952" y="319125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97864" y="2798064"/>
            <a:ext cx="10399471" cy="10972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Utilize recursos visuais claros, foque no sumário executivo e use linguagem acessível na apresentação.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21792" y="4069080"/>
            <a:ext cx="11094415" cy="1152144"/>
          </a:xfrm>
          <a:prstGeom prst="roundRect">
            <a:avLst>
              <a:gd name="adj" fmla="val 7937"/>
            </a:avLst>
          </a:prstGeom>
          <a:solidFill>
            <a:srgbClr val="000000"/>
          </a:solidFill>
          <a:ln/>
        </p:spPr>
      </p:sp>
      <p:sp>
        <p:nvSpPr>
          <p:cNvPr id="22" name="Shape 20"/>
          <p:cNvSpPr/>
          <p:nvPr/>
        </p:nvSpPr>
        <p:spPr>
          <a:xfrm>
            <a:off x="594360" y="4032504"/>
            <a:ext cx="11094415" cy="1152144"/>
          </a:xfrm>
          <a:prstGeom prst="roundRect">
            <a:avLst>
              <a:gd name="adj" fmla="val 6349"/>
            </a:avLst>
          </a:prstGeom>
          <a:solidFill>
            <a:srgbClr val="141E34"/>
          </a:solidFill>
          <a:ln w="3810">
            <a:solidFill>
              <a:srgbClr val="222E4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" y="4032504"/>
            <a:ext cx="54864" cy="1152144"/>
          </a:xfrm>
          <a:prstGeom prst="rect">
            <a:avLst>
              <a:gd name="adj" fmla="val 133333"/>
            </a:avLst>
          </a:prstGeom>
          <a:solidFill>
            <a:srgbClr val="10B981"/>
          </a:solidFill>
          <a:ln/>
        </p:spPr>
      </p:sp>
      <p:sp>
        <p:nvSpPr>
          <p:cNvPr id="24" name="Shape 22"/>
          <p:cNvSpPr/>
          <p:nvPr/>
        </p:nvSpPr>
        <p:spPr>
          <a:xfrm>
            <a:off x="758952" y="445312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0B981"/>
          </a:solidFill>
          <a:ln/>
        </p:spPr>
      </p:sp>
      <p:sp>
        <p:nvSpPr>
          <p:cNvPr id="25" name="Text 23"/>
          <p:cNvSpPr/>
          <p:nvPr/>
        </p:nvSpPr>
        <p:spPr>
          <a:xfrm>
            <a:off x="758952" y="445312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197864" y="4059936"/>
            <a:ext cx="10399471" cy="10972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fase de contraditório garante o direito de defesa do auditado e a robustez do relatório final.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21792" y="5330952"/>
            <a:ext cx="11094415" cy="1152144"/>
          </a:xfrm>
          <a:prstGeom prst="roundRect">
            <a:avLst>
              <a:gd name="adj" fmla="val 7937"/>
            </a:avLst>
          </a:prstGeom>
          <a:solidFill>
            <a:srgbClr val="000000"/>
          </a:solidFill>
          <a:ln/>
        </p:spPr>
      </p:sp>
      <p:sp>
        <p:nvSpPr>
          <p:cNvPr id="28" name="Shape 26"/>
          <p:cNvSpPr/>
          <p:nvPr/>
        </p:nvSpPr>
        <p:spPr>
          <a:xfrm>
            <a:off x="594360" y="5294376"/>
            <a:ext cx="11094415" cy="1152144"/>
          </a:xfrm>
          <a:prstGeom prst="roundRect">
            <a:avLst>
              <a:gd name="adj" fmla="val 6349"/>
            </a:avLst>
          </a:prstGeom>
          <a:solidFill>
            <a:srgbClr val="141E34"/>
          </a:solidFill>
          <a:ln w="3810">
            <a:solidFill>
              <a:srgbClr val="222E4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" y="5294376"/>
            <a:ext cx="54864" cy="1152144"/>
          </a:xfrm>
          <a:prstGeom prst="rect">
            <a:avLst>
              <a:gd name="adj" fmla="val 133333"/>
            </a:avLst>
          </a:prstGeom>
          <a:solidFill>
            <a:srgbClr val="F59E0B"/>
          </a:solidFill>
          <a:ln/>
        </p:spPr>
      </p:sp>
      <p:sp>
        <p:nvSpPr>
          <p:cNvPr id="30" name="Shape 28"/>
          <p:cNvSpPr/>
          <p:nvPr/>
        </p:nvSpPr>
        <p:spPr>
          <a:xfrm>
            <a:off x="758952" y="571500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758952" y="571500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197864" y="5321808"/>
            <a:ext cx="10399471" cy="10972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equipe avalia e ajusta o relatório conforme as manifestações do auditado, se necessário.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4" name="Shape 32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5" name="Shape 33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6" name="Shape 34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7" name="Shape 35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8" name="Shape 36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9" name="Shape 37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40" name="Text 38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32 / 48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F59E0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COMO FUNCIONA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493776"/>
            <a:ext cx="640080" cy="2194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Acompanhamento das Recomendações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389888"/>
            <a:ext cx="11185855" cy="7315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408176"/>
            <a:ext cx="11185855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9" name="Shape 7"/>
          <p:cNvSpPr/>
          <p:nvPr/>
        </p:nvSpPr>
        <p:spPr>
          <a:xfrm>
            <a:off x="621792" y="1545336"/>
            <a:ext cx="5464912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10" name="Shape 8"/>
          <p:cNvSpPr/>
          <p:nvPr/>
        </p:nvSpPr>
        <p:spPr>
          <a:xfrm>
            <a:off x="594360" y="1508760"/>
            <a:ext cx="5464912" cy="1371600"/>
          </a:xfrm>
          <a:prstGeom prst="roundRect">
            <a:avLst>
              <a:gd name="adj" fmla="val 6667"/>
            </a:avLst>
          </a:prstGeom>
          <a:solidFill>
            <a:srgbClr val="141E34"/>
          </a:solidFill>
          <a:ln/>
        </p:spPr>
      </p:sp>
      <p:sp>
        <p:nvSpPr>
          <p:cNvPr id="11" name="Shape 9"/>
          <p:cNvSpPr/>
          <p:nvPr/>
        </p:nvSpPr>
        <p:spPr>
          <a:xfrm>
            <a:off x="594360" y="1508760"/>
            <a:ext cx="54864" cy="1371600"/>
          </a:xfrm>
          <a:prstGeom prst="rect">
            <a:avLst>
              <a:gd name="adj" fmla="val 166667"/>
            </a:avLst>
          </a:prstGeom>
          <a:solidFill>
            <a:srgbClr val="6C63FF"/>
          </a:solidFill>
          <a:ln/>
        </p:spPr>
      </p:sp>
      <p:sp>
        <p:nvSpPr>
          <p:cNvPr id="12" name="Text 10"/>
          <p:cNvSpPr/>
          <p:nvPr/>
        </p:nvSpPr>
        <p:spPr>
          <a:xfrm>
            <a:off x="704088" y="1563624"/>
            <a:ext cx="365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C63FF">
                    <a:alpha val="8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22376" y="1856232"/>
            <a:ext cx="5208880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acompanhamento das recomendações assegura a efetividade do trabalho realizado na auditoria.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251296" y="1545336"/>
            <a:ext cx="5464912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15" name="Shape 13"/>
          <p:cNvSpPr/>
          <p:nvPr/>
        </p:nvSpPr>
        <p:spPr>
          <a:xfrm>
            <a:off x="6223864" y="1508760"/>
            <a:ext cx="5464912" cy="1371600"/>
          </a:xfrm>
          <a:prstGeom prst="roundRect">
            <a:avLst>
              <a:gd name="adj" fmla="val 6667"/>
            </a:avLst>
          </a:prstGeom>
          <a:solidFill>
            <a:srgbClr val="141E34"/>
          </a:solidFill>
          <a:ln/>
        </p:spPr>
      </p:sp>
      <p:sp>
        <p:nvSpPr>
          <p:cNvPr id="16" name="Shape 14"/>
          <p:cNvSpPr/>
          <p:nvPr/>
        </p:nvSpPr>
        <p:spPr>
          <a:xfrm>
            <a:off x="6223864" y="1508760"/>
            <a:ext cx="54864" cy="1371600"/>
          </a:xfrm>
          <a:prstGeom prst="rect">
            <a:avLst>
              <a:gd name="adj" fmla="val 166667"/>
            </a:avLst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6333592" y="1563624"/>
            <a:ext cx="365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B82F6">
                    <a:alpha val="8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351880" y="1856232"/>
            <a:ext cx="5208880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Garante a implementação das soluções propostas, medindo o impacto gerado.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21792" y="3081528"/>
            <a:ext cx="5464912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20" name="Shape 18"/>
          <p:cNvSpPr/>
          <p:nvPr/>
        </p:nvSpPr>
        <p:spPr>
          <a:xfrm>
            <a:off x="594360" y="3044952"/>
            <a:ext cx="5464912" cy="1371600"/>
          </a:xfrm>
          <a:prstGeom prst="roundRect">
            <a:avLst>
              <a:gd name="adj" fmla="val 6667"/>
            </a:avLst>
          </a:prstGeom>
          <a:solidFill>
            <a:srgbClr val="141E34"/>
          </a:solidFill>
          <a:ln/>
        </p:spPr>
      </p:sp>
      <p:sp>
        <p:nvSpPr>
          <p:cNvPr id="21" name="Shape 19"/>
          <p:cNvSpPr/>
          <p:nvPr/>
        </p:nvSpPr>
        <p:spPr>
          <a:xfrm>
            <a:off x="594360" y="3044952"/>
            <a:ext cx="54864" cy="1371600"/>
          </a:xfrm>
          <a:prstGeom prst="rect">
            <a:avLst>
              <a:gd name="adj" fmla="val 166667"/>
            </a:avLst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704088" y="3099816"/>
            <a:ext cx="365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B981">
                    <a:alpha val="8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22376" y="3392424"/>
            <a:ext cx="5208880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Promove a responsabilização dos gestores e induz aprimoramentos sistêmicos nos processos.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251296" y="3081528"/>
            <a:ext cx="5464912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25" name="Shape 23"/>
          <p:cNvSpPr/>
          <p:nvPr/>
        </p:nvSpPr>
        <p:spPr>
          <a:xfrm>
            <a:off x="6223864" y="3044952"/>
            <a:ext cx="5464912" cy="1371600"/>
          </a:xfrm>
          <a:prstGeom prst="roundRect">
            <a:avLst>
              <a:gd name="adj" fmla="val 6667"/>
            </a:avLst>
          </a:prstGeom>
          <a:solidFill>
            <a:srgbClr val="141E34"/>
          </a:solidFill>
          <a:ln/>
        </p:spPr>
      </p:sp>
      <p:sp>
        <p:nvSpPr>
          <p:cNvPr id="26" name="Shape 24"/>
          <p:cNvSpPr/>
          <p:nvPr/>
        </p:nvSpPr>
        <p:spPr>
          <a:xfrm>
            <a:off x="6223864" y="3044952"/>
            <a:ext cx="54864" cy="1371600"/>
          </a:xfrm>
          <a:prstGeom prst="rect">
            <a:avLst>
              <a:gd name="adj" fmla="val 166667"/>
            </a:avLst>
          </a:pr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6333592" y="3099816"/>
            <a:ext cx="365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9E0B">
                    <a:alpha val="8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351880" y="3392424"/>
            <a:ext cx="5208880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Contribui para a melhoria contínua do controle interno e da governança pública.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0" name="Shape 28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1" name="Shape 29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2" name="Shape 30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3" name="Shape 31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4" name="Shape 32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5" name="Shape 33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36" name="Text 34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33 / 48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F59E0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APLICAÇÕES REAIS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493776"/>
            <a:ext cx="640080" cy="2194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Aplicações Práticas da Comunicação e Monitoramento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389888"/>
            <a:ext cx="11185855" cy="7315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408176"/>
            <a:ext cx="11185855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9" name="Shape 7"/>
          <p:cNvSpPr/>
          <p:nvPr/>
        </p:nvSpPr>
        <p:spPr>
          <a:xfrm>
            <a:off x="621792" y="1572768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000000"/>
          </a:solidFill>
          <a:ln/>
        </p:spPr>
      </p:sp>
      <p:sp>
        <p:nvSpPr>
          <p:cNvPr id="10" name="Shape 8"/>
          <p:cNvSpPr/>
          <p:nvPr/>
        </p:nvSpPr>
        <p:spPr>
          <a:xfrm>
            <a:off x="594360" y="1536192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141E34"/>
          </a:solidFill>
          <a:ln/>
        </p:spPr>
      </p:sp>
      <p:sp>
        <p:nvSpPr>
          <p:cNvPr id="11" name="Shape 9"/>
          <p:cNvSpPr/>
          <p:nvPr/>
        </p:nvSpPr>
        <p:spPr>
          <a:xfrm>
            <a:off x="594360" y="1536192"/>
            <a:ext cx="3603650" cy="45720"/>
          </a:xfrm>
          <a:prstGeom prst="rect">
            <a:avLst>
              <a:gd name="adj" fmla="val 200000"/>
            </a:avLst>
          </a:prstGeom>
          <a:solidFill>
            <a:srgbClr val="6C63FF"/>
          </a:solidFill>
          <a:ln/>
        </p:spPr>
      </p:sp>
      <p:sp>
        <p:nvSpPr>
          <p:cNvPr id="12" name="Shape 10"/>
          <p:cNvSpPr/>
          <p:nvPr/>
        </p:nvSpPr>
        <p:spPr>
          <a:xfrm>
            <a:off x="685800" y="166420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6C63FF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16642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088" dirty="0"/>
          </a:p>
        </p:txBody>
      </p:sp>
      <p:sp>
        <p:nvSpPr>
          <p:cNvPr id="14" name="Text 12"/>
          <p:cNvSpPr/>
          <p:nvPr/>
        </p:nvSpPr>
        <p:spPr>
          <a:xfrm>
            <a:off x="1051560" y="1645920"/>
            <a:ext cx="305501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6C63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Planos de Ação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85800" y="2048256"/>
            <a:ext cx="3420770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16" name="Text 14"/>
          <p:cNvSpPr/>
          <p:nvPr/>
        </p:nvSpPr>
        <p:spPr>
          <a:xfrm>
            <a:off x="704088" y="2121408"/>
            <a:ext cx="3384194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Desenvolver planos detalhados para cada recomendação de auditoria com prazos e responsáveis.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390034" y="1572768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000000"/>
          </a:solidFill>
          <a:ln/>
        </p:spPr>
      </p:sp>
      <p:sp>
        <p:nvSpPr>
          <p:cNvPr id="18" name="Shape 16"/>
          <p:cNvSpPr/>
          <p:nvPr/>
        </p:nvSpPr>
        <p:spPr>
          <a:xfrm>
            <a:off x="4362602" y="1536192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141E34"/>
          </a:solidFill>
          <a:ln/>
        </p:spPr>
      </p:sp>
      <p:sp>
        <p:nvSpPr>
          <p:cNvPr id="19" name="Shape 17"/>
          <p:cNvSpPr/>
          <p:nvPr/>
        </p:nvSpPr>
        <p:spPr>
          <a:xfrm>
            <a:off x="4362602" y="1536192"/>
            <a:ext cx="3603650" cy="45720"/>
          </a:xfrm>
          <a:prstGeom prst="rect">
            <a:avLst>
              <a:gd name="adj" fmla="val 200000"/>
            </a:avLst>
          </a:prstGeom>
          <a:solidFill>
            <a:srgbClr val="3B82F6"/>
          </a:solidFill>
          <a:ln/>
        </p:spPr>
      </p:sp>
      <p:sp>
        <p:nvSpPr>
          <p:cNvPr id="20" name="Shape 18"/>
          <p:cNvSpPr/>
          <p:nvPr/>
        </p:nvSpPr>
        <p:spPr>
          <a:xfrm>
            <a:off x="4454042" y="166420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3B82F6"/>
          </a:solidFill>
          <a:ln/>
        </p:spPr>
      </p:sp>
      <p:sp>
        <p:nvSpPr>
          <p:cNvPr id="21" name="Text 19"/>
          <p:cNvSpPr/>
          <p:nvPr/>
        </p:nvSpPr>
        <p:spPr>
          <a:xfrm>
            <a:off x="4454042" y="16642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088" dirty="0"/>
          </a:p>
        </p:txBody>
      </p:sp>
      <p:sp>
        <p:nvSpPr>
          <p:cNvPr id="22" name="Text 20"/>
          <p:cNvSpPr/>
          <p:nvPr/>
        </p:nvSpPr>
        <p:spPr>
          <a:xfrm>
            <a:off x="4819802" y="1645920"/>
            <a:ext cx="305501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3B82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Dashboards de Acompanhamento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454042" y="2048256"/>
            <a:ext cx="3420770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24" name="Text 22"/>
          <p:cNvSpPr/>
          <p:nvPr/>
        </p:nvSpPr>
        <p:spPr>
          <a:xfrm>
            <a:off x="4472330" y="2121408"/>
            <a:ext cx="3384194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Estruturar um sistema para reportar o status e o progresso das recomendações em tempo real.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158277" y="1572768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000000"/>
          </a:solidFill>
          <a:ln/>
        </p:spPr>
      </p:sp>
      <p:sp>
        <p:nvSpPr>
          <p:cNvPr id="26" name="Shape 24"/>
          <p:cNvSpPr/>
          <p:nvPr/>
        </p:nvSpPr>
        <p:spPr>
          <a:xfrm>
            <a:off x="8130845" y="1536192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141E34"/>
          </a:solidFill>
          <a:ln/>
        </p:spPr>
      </p:sp>
      <p:sp>
        <p:nvSpPr>
          <p:cNvPr id="27" name="Shape 25"/>
          <p:cNvSpPr/>
          <p:nvPr/>
        </p:nvSpPr>
        <p:spPr>
          <a:xfrm>
            <a:off x="8130845" y="1536192"/>
            <a:ext cx="3603650" cy="45720"/>
          </a:xfrm>
          <a:prstGeom prst="rect">
            <a:avLst>
              <a:gd name="adj" fmla="val 200000"/>
            </a:avLst>
          </a:prstGeom>
          <a:solidFill>
            <a:srgbClr val="10B981"/>
          </a:solidFill>
          <a:ln/>
        </p:spPr>
      </p:sp>
      <p:sp>
        <p:nvSpPr>
          <p:cNvPr id="28" name="Shape 26"/>
          <p:cNvSpPr/>
          <p:nvPr/>
        </p:nvSpPr>
        <p:spPr>
          <a:xfrm>
            <a:off x="8222285" y="166420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0B981"/>
          </a:solidFill>
          <a:ln/>
        </p:spPr>
      </p:sp>
      <p:sp>
        <p:nvSpPr>
          <p:cNvPr id="29" name="Text 27"/>
          <p:cNvSpPr/>
          <p:nvPr/>
        </p:nvSpPr>
        <p:spPr>
          <a:xfrm>
            <a:off x="8222285" y="16642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088" dirty="0"/>
          </a:p>
        </p:txBody>
      </p:sp>
      <p:sp>
        <p:nvSpPr>
          <p:cNvPr id="30" name="Text 28"/>
          <p:cNvSpPr/>
          <p:nvPr/>
        </p:nvSpPr>
        <p:spPr>
          <a:xfrm>
            <a:off x="8588045" y="1645920"/>
            <a:ext cx="305501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0B98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Reuniões de Follow-up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8222285" y="2048256"/>
            <a:ext cx="3420770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32" name="Text 30"/>
          <p:cNvSpPr/>
          <p:nvPr/>
        </p:nvSpPr>
        <p:spPr>
          <a:xfrm>
            <a:off x="8240573" y="2121408"/>
            <a:ext cx="3384194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Realizar encontros periódicos com gestores das secretarias auditadas para discutir o avanço.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21792" y="4023360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000000"/>
          </a:solidFill>
          <a:ln/>
        </p:spPr>
      </p:sp>
      <p:sp>
        <p:nvSpPr>
          <p:cNvPr id="34" name="Shape 32"/>
          <p:cNvSpPr/>
          <p:nvPr/>
        </p:nvSpPr>
        <p:spPr>
          <a:xfrm>
            <a:off x="594360" y="3986784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141E34"/>
          </a:solidFill>
          <a:ln/>
        </p:spPr>
      </p:sp>
      <p:sp>
        <p:nvSpPr>
          <p:cNvPr id="35" name="Shape 33"/>
          <p:cNvSpPr/>
          <p:nvPr/>
        </p:nvSpPr>
        <p:spPr>
          <a:xfrm>
            <a:off x="594360" y="3986784"/>
            <a:ext cx="3603650" cy="45720"/>
          </a:xfrm>
          <a:prstGeom prst="rect">
            <a:avLst>
              <a:gd name="adj" fmla="val 200000"/>
            </a:avLst>
          </a:prstGeom>
          <a:solidFill>
            <a:srgbClr val="F59E0B"/>
          </a:solidFill>
          <a:ln/>
        </p:spPr>
      </p:sp>
      <p:sp>
        <p:nvSpPr>
          <p:cNvPr id="36" name="Shape 34"/>
          <p:cNvSpPr/>
          <p:nvPr/>
        </p:nvSpPr>
        <p:spPr>
          <a:xfrm>
            <a:off x="685800" y="411480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F59E0B"/>
          </a:solidFill>
          <a:ln/>
        </p:spPr>
      </p:sp>
      <p:sp>
        <p:nvSpPr>
          <p:cNvPr id="37" name="Text 35"/>
          <p:cNvSpPr/>
          <p:nvPr/>
        </p:nvSpPr>
        <p:spPr>
          <a:xfrm>
            <a:off x="685800" y="41148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088" dirty="0"/>
          </a:p>
        </p:txBody>
      </p:sp>
      <p:sp>
        <p:nvSpPr>
          <p:cNvPr id="38" name="Text 36"/>
          <p:cNvSpPr/>
          <p:nvPr/>
        </p:nvSpPr>
        <p:spPr>
          <a:xfrm>
            <a:off x="1051560" y="4096512"/>
            <a:ext cx="305501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59E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Relatórios de Monitoramento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685800" y="4498848"/>
            <a:ext cx="3420770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40" name="Text 38"/>
          <p:cNvSpPr/>
          <p:nvPr/>
        </p:nvSpPr>
        <p:spPr>
          <a:xfrm>
            <a:off x="704088" y="4572000"/>
            <a:ext cx="3384194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Criar documentos que quantifiquem o impacto financeiro e social das recomendações implementadas.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4390034" y="4023360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000000"/>
          </a:solidFill>
          <a:ln/>
        </p:spPr>
      </p:sp>
      <p:sp>
        <p:nvSpPr>
          <p:cNvPr id="42" name="Shape 40"/>
          <p:cNvSpPr/>
          <p:nvPr/>
        </p:nvSpPr>
        <p:spPr>
          <a:xfrm>
            <a:off x="4362602" y="3986784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141E34"/>
          </a:solidFill>
          <a:ln/>
        </p:spPr>
      </p:sp>
      <p:sp>
        <p:nvSpPr>
          <p:cNvPr id="43" name="Shape 41"/>
          <p:cNvSpPr/>
          <p:nvPr/>
        </p:nvSpPr>
        <p:spPr>
          <a:xfrm>
            <a:off x="4362602" y="3986784"/>
            <a:ext cx="3603650" cy="45720"/>
          </a:xfrm>
          <a:prstGeom prst="rect">
            <a:avLst>
              <a:gd name="adj" fmla="val 200000"/>
            </a:avLst>
          </a:prstGeom>
          <a:solidFill>
            <a:srgbClr val="06B6D4"/>
          </a:solidFill>
          <a:ln/>
        </p:spPr>
      </p:sp>
      <p:sp>
        <p:nvSpPr>
          <p:cNvPr id="44" name="Shape 42"/>
          <p:cNvSpPr/>
          <p:nvPr/>
        </p:nvSpPr>
        <p:spPr>
          <a:xfrm>
            <a:off x="4454042" y="411480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06B6D4"/>
          </a:solidFill>
          <a:ln/>
        </p:spPr>
      </p:sp>
      <p:sp>
        <p:nvSpPr>
          <p:cNvPr id="45" name="Text 43"/>
          <p:cNvSpPr/>
          <p:nvPr/>
        </p:nvSpPr>
        <p:spPr>
          <a:xfrm>
            <a:off x="4454042" y="41148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088" dirty="0"/>
          </a:p>
        </p:txBody>
      </p:sp>
      <p:sp>
        <p:nvSpPr>
          <p:cNvPr id="46" name="Text 44"/>
          <p:cNvSpPr/>
          <p:nvPr/>
        </p:nvSpPr>
        <p:spPr>
          <a:xfrm>
            <a:off x="4819802" y="4096512"/>
            <a:ext cx="305501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06B6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Revisão de Normas</a:t>
            </a:r>
            <a:endParaRPr lang="en-US" sz="1500" dirty="0"/>
          </a:p>
        </p:txBody>
      </p:sp>
      <p:sp>
        <p:nvSpPr>
          <p:cNvPr id="47" name="Shape 45"/>
          <p:cNvSpPr/>
          <p:nvPr/>
        </p:nvSpPr>
        <p:spPr>
          <a:xfrm>
            <a:off x="4454042" y="4498848"/>
            <a:ext cx="3420770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48" name="Text 46"/>
          <p:cNvSpPr/>
          <p:nvPr/>
        </p:nvSpPr>
        <p:spPr>
          <a:xfrm>
            <a:off x="4472330" y="4572000"/>
            <a:ext cx="3384194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Modificar ou criar procedimentos internos com base nas constatações e recomendações da auditoria.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0" name="Shape 48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1" name="Shape 49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2" name="Shape 50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3" name="Shape 51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4" name="Shape 52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5" name="Shape 53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56" name="Text 54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34 / 48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05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11D38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1417320"/>
            <a:ext cx="128016" cy="128016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219456" y="1554480"/>
            <a:ext cx="18288" cy="146913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Shape 3"/>
          <p:cNvSpPr/>
          <p:nvPr/>
        </p:nvSpPr>
        <p:spPr>
          <a:xfrm>
            <a:off x="164592" y="3032760"/>
            <a:ext cx="128016" cy="12801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6" name="Shape 4"/>
          <p:cNvSpPr/>
          <p:nvPr/>
        </p:nvSpPr>
        <p:spPr>
          <a:xfrm>
            <a:off x="219456" y="3169920"/>
            <a:ext cx="18288" cy="146913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Shape 5"/>
          <p:cNvSpPr/>
          <p:nvPr/>
        </p:nvSpPr>
        <p:spPr>
          <a:xfrm>
            <a:off x="164592" y="4648200"/>
            <a:ext cx="128016" cy="128016"/>
          </a:xfrm>
          <a:prstGeom prst="ellipse">
            <a:avLst/>
          </a:prstGeom>
          <a:solidFill>
            <a:srgbClr val="6C63FF"/>
          </a:solidFill>
          <a:ln/>
        </p:spPr>
      </p:sp>
      <p:sp>
        <p:nvSpPr>
          <p:cNvPr id="8" name="Shape 6"/>
          <p:cNvSpPr/>
          <p:nvPr/>
        </p:nvSpPr>
        <p:spPr>
          <a:xfrm>
            <a:off x="219456" y="4785360"/>
            <a:ext cx="18288" cy="1469136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9" name="Shape 7"/>
          <p:cNvSpPr/>
          <p:nvPr/>
        </p:nvSpPr>
        <p:spPr>
          <a:xfrm>
            <a:off x="164592" y="6263640"/>
            <a:ext cx="128016" cy="128016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384048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8404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400" kern="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ESTUDO DE CASO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31520" y="731520"/>
            <a:ext cx="10820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Exemplo Prático: Auditoria na Secretaria de Educação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731520" y="1298448"/>
            <a:ext cx="3200400" cy="1828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Shape 12"/>
          <p:cNvSpPr/>
          <p:nvPr/>
        </p:nvSpPr>
        <p:spPr>
          <a:xfrm>
            <a:off x="758952" y="1499616"/>
            <a:ext cx="10820095" cy="1165860"/>
          </a:xfrm>
          <a:prstGeom prst="roundRect">
            <a:avLst>
              <a:gd name="adj" fmla="val 7843"/>
            </a:avLst>
          </a:prstGeom>
          <a:solidFill>
            <a:srgbClr val="000000"/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" y="1463040"/>
            <a:ext cx="10820095" cy="1165860"/>
          </a:xfrm>
          <a:prstGeom prst="roundRect">
            <a:avLst>
              <a:gd name="adj" fmla="val 6275"/>
            </a:avLst>
          </a:prstGeom>
          <a:solidFill>
            <a:srgbClr val="111D38"/>
          </a:solidFill>
          <a:ln/>
        </p:spPr>
      </p:sp>
      <p:sp>
        <p:nvSpPr>
          <p:cNvPr id="16" name="Shape 14"/>
          <p:cNvSpPr/>
          <p:nvPr/>
        </p:nvSpPr>
        <p:spPr>
          <a:xfrm>
            <a:off x="731520" y="1499616"/>
            <a:ext cx="45720" cy="1092708"/>
          </a:xfrm>
          <a:prstGeom prst="rect">
            <a:avLst>
              <a:gd name="adj" fmla="val 60000"/>
            </a:avLst>
          </a:prstGeom>
          <a:solidFill>
            <a:srgbClr val="3B82F6"/>
          </a:solidFill>
          <a:ln/>
        </p:spPr>
      </p:sp>
      <p:sp>
        <p:nvSpPr>
          <p:cNvPr id="17" name="Shape 15"/>
          <p:cNvSpPr/>
          <p:nvPr/>
        </p:nvSpPr>
        <p:spPr>
          <a:xfrm>
            <a:off x="896112" y="1908810"/>
            <a:ext cx="274320" cy="2743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896112" y="190881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243584" y="149961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3B82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CONTEXTO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243584" y="1700784"/>
            <a:ext cx="10088575" cy="8732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Secretaria Municipal de Educação enfrentava atrasos recorrentes na entrega de materiais didáticos para o ensino fundamental.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41832" y="2601468"/>
            <a:ext cx="182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59E0B">
                    <a:alpha val="60000"/>
                  </a:srgbClr>
                </a:solidFill>
              </a:rPr>
              <a:t>▼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758952" y="2756916"/>
            <a:ext cx="10820095" cy="1165860"/>
          </a:xfrm>
          <a:prstGeom prst="roundRect">
            <a:avLst>
              <a:gd name="adj" fmla="val 7843"/>
            </a:avLst>
          </a:prstGeom>
          <a:solidFill>
            <a:srgbClr val="000000"/>
          </a:solidFill>
          <a:ln/>
        </p:spPr>
      </p:sp>
      <p:sp>
        <p:nvSpPr>
          <p:cNvPr id="23" name="Shape 21"/>
          <p:cNvSpPr/>
          <p:nvPr/>
        </p:nvSpPr>
        <p:spPr>
          <a:xfrm>
            <a:off x="731520" y="2720340"/>
            <a:ext cx="10820095" cy="1165860"/>
          </a:xfrm>
          <a:prstGeom prst="roundRect">
            <a:avLst>
              <a:gd name="adj" fmla="val 6275"/>
            </a:avLst>
          </a:prstGeom>
          <a:solidFill>
            <a:srgbClr val="111D38"/>
          </a:solidFill>
          <a:ln/>
        </p:spPr>
      </p:sp>
      <p:sp>
        <p:nvSpPr>
          <p:cNvPr id="24" name="Shape 22"/>
          <p:cNvSpPr/>
          <p:nvPr/>
        </p:nvSpPr>
        <p:spPr>
          <a:xfrm>
            <a:off x="731520" y="2756916"/>
            <a:ext cx="45720" cy="1092708"/>
          </a:xfrm>
          <a:prstGeom prst="rect">
            <a:avLst>
              <a:gd name="adj" fmla="val 60000"/>
            </a:avLst>
          </a:prstGeom>
          <a:solidFill>
            <a:srgbClr val="F59E0B"/>
          </a:solidFill>
          <a:ln/>
        </p:spPr>
      </p:sp>
      <p:sp>
        <p:nvSpPr>
          <p:cNvPr id="25" name="Shape 23"/>
          <p:cNvSpPr/>
          <p:nvPr/>
        </p:nvSpPr>
        <p:spPr>
          <a:xfrm>
            <a:off x="896112" y="3166110"/>
            <a:ext cx="274320" cy="2743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896112" y="316611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243584" y="275691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F59E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DESAFIO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243584" y="2958084"/>
            <a:ext cx="10088575" cy="8732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Em 2023, 40% das licitações para kits de material escolar sofreram atrasos médios de 60 dias, prejudicando o acesso dos alunos a itens essenciais.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41832" y="3858768"/>
            <a:ext cx="182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C63FF">
                    <a:alpha val="60000"/>
                  </a:srgbClr>
                </a:solidFill>
              </a:rPr>
              <a:t>▼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758952" y="4014216"/>
            <a:ext cx="10820095" cy="1165860"/>
          </a:xfrm>
          <a:prstGeom prst="roundRect">
            <a:avLst>
              <a:gd name="adj" fmla="val 7843"/>
            </a:avLst>
          </a:prstGeom>
          <a:solidFill>
            <a:srgbClr val="000000"/>
          </a:solidFill>
          <a:ln/>
        </p:spPr>
      </p:sp>
      <p:sp>
        <p:nvSpPr>
          <p:cNvPr id="31" name="Shape 29"/>
          <p:cNvSpPr/>
          <p:nvPr/>
        </p:nvSpPr>
        <p:spPr>
          <a:xfrm>
            <a:off x="731520" y="3977640"/>
            <a:ext cx="10820095" cy="1165860"/>
          </a:xfrm>
          <a:prstGeom prst="roundRect">
            <a:avLst>
              <a:gd name="adj" fmla="val 6275"/>
            </a:avLst>
          </a:prstGeom>
          <a:solidFill>
            <a:srgbClr val="111D38"/>
          </a:solidFill>
          <a:ln/>
        </p:spPr>
      </p:sp>
      <p:sp>
        <p:nvSpPr>
          <p:cNvPr id="32" name="Shape 30"/>
          <p:cNvSpPr/>
          <p:nvPr/>
        </p:nvSpPr>
        <p:spPr>
          <a:xfrm>
            <a:off x="731520" y="4014216"/>
            <a:ext cx="45720" cy="1092708"/>
          </a:xfrm>
          <a:prstGeom prst="rect">
            <a:avLst>
              <a:gd name="adj" fmla="val 60000"/>
            </a:avLst>
          </a:prstGeom>
          <a:solidFill>
            <a:srgbClr val="6C63FF"/>
          </a:solidFill>
          <a:ln/>
        </p:spPr>
      </p:sp>
      <p:sp>
        <p:nvSpPr>
          <p:cNvPr id="33" name="Shape 31"/>
          <p:cNvSpPr/>
          <p:nvPr/>
        </p:nvSpPr>
        <p:spPr>
          <a:xfrm>
            <a:off x="896112" y="4423410"/>
            <a:ext cx="274320" cy="274320"/>
          </a:xfrm>
          <a:prstGeom prst="ellipse">
            <a:avLst/>
          </a:prstGeom>
          <a:solidFill>
            <a:srgbClr val="6C63FF"/>
          </a:solidFill>
          <a:ln/>
        </p:spPr>
      </p:sp>
      <p:sp>
        <p:nvSpPr>
          <p:cNvPr id="34" name="Text 32"/>
          <p:cNvSpPr/>
          <p:nvPr/>
        </p:nvSpPr>
        <p:spPr>
          <a:xfrm>
            <a:off x="896112" y="442341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243584" y="401421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C63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SOLUÇÃO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243584" y="4215384"/>
            <a:ext cx="10088575" cy="8732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auditoria identificou falhas na padronização de editais e insuficiência de pessoal qualificado na comissão de licitação, recomendando um Manual de Procedimentos para Compras e capacitação de 100% dos membros em 90 dias.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941832" y="5116068"/>
            <a:ext cx="182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6B6D4">
                    <a:alpha val="60000"/>
                  </a:srgbClr>
                </a:solidFill>
              </a:rPr>
              <a:t>▼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758952" y="5271516"/>
            <a:ext cx="10820095" cy="1165860"/>
          </a:xfrm>
          <a:prstGeom prst="roundRect">
            <a:avLst>
              <a:gd name="adj" fmla="val 7843"/>
            </a:avLst>
          </a:prstGeom>
          <a:solidFill>
            <a:srgbClr val="000000"/>
          </a:solidFill>
          <a:ln/>
        </p:spPr>
      </p:sp>
      <p:sp>
        <p:nvSpPr>
          <p:cNvPr id="39" name="Shape 37"/>
          <p:cNvSpPr/>
          <p:nvPr/>
        </p:nvSpPr>
        <p:spPr>
          <a:xfrm>
            <a:off x="731520" y="5234940"/>
            <a:ext cx="10820095" cy="1165860"/>
          </a:xfrm>
          <a:prstGeom prst="roundRect">
            <a:avLst>
              <a:gd name="adj" fmla="val 6275"/>
            </a:avLst>
          </a:prstGeom>
          <a:solidFill>
            <a:srgbClr val="111D38"/>
          </a:solidFill>
          <a:ln/>
        </p:spPr>
      </p:sp>
      <p:sp>
        <p:nvSpPr>
          <p:cNvPr id="40" name="Shape 38"/>
          <p:cNvSpPr/>
          <p:nvPr/>
        </p:nvSpPr>
        <p:spPr>
          <a:xfrm>
            <a:off x="731520" y="5271516"/>
            <a:ext cx="45720" cy="1092708"/>
          </a:xfrm>
          <a:prstGeom prst="rect">
            <a:avLst>
              <a:gd name="adj" fmla="val 60000"/>
            </a:avLst>
          </a:prstGeom>
          <a:solidFill>
            <a:srgbClr val="06B6D4"/>
          </a:solidFill>
          <a:ln/>
        </p:spPr>
      </p:sp>
      <p:sp>
        <p:nvSpPr>
          <p:cNvPr id="41" name="Shape 39"/>
          <p:cNvSpPr/>
          <p:nvPr/>
        </p:nvSpPr>
        <p:spPr>
          <a:xfrm>
            <a:off x="896112" y="5680710"/>
            <a:ext cx="274320" cy="27432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42" name="Text 40"/>
          <p:cNvSpPr/>
          <p:nvPr/>
        </p:nvSpPr>
        <p:spPr>
          <a:xfrm>
            <a:off x="896112" y="568071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1243584" y="527151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6B6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RESULTADO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1243584" y="5472684"/>
            <a:ext cx="10088575" cy="8732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Após 6 meses de monitoramento, 80% das licitações foram concluídas no prazo, reclamações sobre falta de material caíram 70%, gerando economia anual de R$150.000,00.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6" name="Shape 44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7" name="Shape 45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8" name="Shape 46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9" name="Shape 47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0" name="Shape 48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1" name="Shape 49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52" name="Text 50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35 / 48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C0392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PONTOS DE ATENÇÃO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493776"/>
            <a:ext cx="640080" cy="2194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Desafios e Cuidados na Auditoria Operacional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389888"/>
            <a:ext cx="11185855" cy="7315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408176"/>
            <a:ext cx="11185855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9" name="Shape 7"/>
          <p:cNvSpPr/>
          <p:nvPr/>
        </p:nvSpPr>
        <p:spPr>
          <a:xfrm>
            <a:off x="10820095" y="320040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FEF2F2"/>
          </a:solidFill>
          <a:ln/>
        </p:spPr>
      </p:sp>
      <p:sp>
        <p:nvSpPr>
          <p:cNvPr id="10" name="Text 8"/>
          <p:cNvSpPr/>
          <p:nvPr/>
        </p:nvSpPr>
        <p:spPr>
          <a:xfrm>
            <a:off x="10820095" y="3200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⚠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621792" y="1481328"/>
            <a:ext cx="11140135" cy="890626"/>
          </a:xfrm>
          <a:prstGeom prst="roundRect">
            <a:avLst>
              <a:gd name="adj" fmla="val 10267"/>
            </a:avLst>
          </a:prstGeom>
          <a:solidFill>
            <a:srgbClr val="000000"/>
          </a:solidFill>
          <a:ln/>
        </p:spPr>
      </p:sp>
      <p:sp>
        <p:nvSpPr>
          <p:cNvPr id="12" name="Shape 10"/>
          <p:cNvSpPr/>
          <p:nvPr/>
        </p:nvSpPr>
        <p:spPr>
          <a:xfrm>
            <a:off x="594360" y="1444752"/>
            <a:ext cx="11140135" cy="890626"/>
          </a:xfrm>
          <a:prstGeom prst="roundRect">
            <a:avLst>
              <a:gd name="adj" fmla="val 8214"/>
            </a:avLst>
          </a:prstGeom>
          <a:solidFill>
            <a:srgbClr val="1A2848"/>
          </a:solidFill>
          <a:ln/>
        </p:spPr>
      </p:sp>
      <p:sp>
        <p:nvSpPr>
          <p:cNvPr id="13" name="Shape 11"/>
          <p:cNvSpPr/>
          <p:nvPr/>
        </p:nvSpPr>
        <p:spPr>
          <a:xfrm>
            <a:off x="594360" y="1444752"/>
            <a:ext cx="54864" cy="890626"/>
          </a:xfrm>
          <a:prstGeom prst="rect">
            <a:avLst>
              <a:gd name="adj" fmla="val 133333"/>
            </a:avLst>
          </a:prstGeom>
          <a:solidFill>
            <a:srgbClr val="E74C3C"/>
          </a:solidFill>
          <a:ln/>
        </p:spPr>
      </p:sp>
      <p:sp>
        <p:nvSpPr>
          <p:cNvPr id="14" name="Text 12"/>
          <p:cNvSpPr/>
          <p:nvPr/>
        </p:nvSpPr>
        <p:spPr>
          <a:xfrm>
            <a:off x="758952" y="1481328"/>
            <a:ext cx="10902391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C039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RESISTÊNCIA À MUDANÇA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58952" y="1645920"/>
            <a:ext cx="10865815" cy="65288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Gestores podem relutar em alterar processos antigos, exigindo comunicação clara dos benefícios.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" y="2499970"/>
            <a:ext cx="11140135" cy="890626"/>
          </a:xfrm>
          <a:prstGeom prst="roundRect">
            <a:avLst>
              <a:gd name="adj" fmla="val 10267"/>
            </a:avLst>
          </a:prstGeom>
          <a:solidFill>
            <a:srgbClr val="000000"/>
          </a:solidFill>
          <a:ln/>
        </p:spPr>
      </p:sp>
      <p:sp>
        <p:nvSpPr>
          <p:cNvPr id="17" name="Shape 15"/>
          <p:cNvSpPr/>
          <p:nvPr/>
        </p:nvSpPr>
        <p:spPr>
          <a:xfrm>
            <a:off x="594360" y="2463394"/>
            <a:ext cx="11140135" cy="890626"/>
          </a:xfrm>
          <a:prstGeom prst="roundRect">
            <a:avLst>
              <a:gd name="adj" fmla="val 8214"/>
            </a:avLst>
          </a:prstGeom>
          <a:solidFill>
            <a:srgbClr val="141E34"/>
          </a:solidFill>
          <a:ln/>
        </p:spPr>
      </p:sp>
      <p:sp>
        <p:nvSpPr>
          <p:cNvPr id="18" name="Shape 16"/>
          <p:cNvSpPr/>
          <p:nvPr/>
        </p:nvSpPr>
        <p:spPr>
          <a:xfrm>
            <a:off x="594360" y="2463394"/>
            <a:ext cx="54864" cy="890626"/>
          </a:xfrm>
          <a:prstGeom prst="rect">
            <a:avLst>
              <a:gd name="adj" fmla="val 133333"/>
            </a:avLst>
          </a:prstGeom>
          <a:solidFill>
            <a:srgbClr val="E74C3C"/>
          </a:solidFill>
          <a:ln/>
        </p:spPr>
      </p:sp>
      <p:sp>
        <p:nvSpPr>
          <p:cNvPr id="19" name="Text 17"/>
          <p:cNvSpPr/>
          <p:nvPr/>
        </p:nvSpPr>
        <p:spPr>
          <a:xfrm>
            <a:off x="758952" y="2499970"/>
            <a:ext cx="10902391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C039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FALTA DE RECURSOS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58952" y="2664562"/>
            <a:ext cx="10865815" cy="65288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Alegações de orçamento ou pessoal insuficientes podem atrasar a implementação das recomendações.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1792" y="3518611"/>
            <a:ext cx="11140135" cy="890626"/>
          </a:xfrm>
          <a:prstGeom prst="roundRect">
            <a:avLst>
              <a:gd name="adj" fmla="val 10267"/>
            </a:avLst>
          </a:prstGeom>
          <a:solidFill>
            <a:srgbClr val="000000"/>
          </a:solidFill>
          <a:ln/>
        </p:spPr>
      </p:sp>
      <p:sp>
        <p:nvSpPr>
          <p:cNvPr id="22" name="Shape 20"/>
          <p:cNvSpPr/>
          <p:nvPr/>
        </p:nvSpPr>
        <p:spPr>
          <a:xfrm>
            <a:off x="594360" y="3482035"/>
            <a:ext cx="11140135" cy="890626"/>
          </a:xfrm>
          <a:prstGeom prst="roundRect">
            <a:avLst>
              <a:gd name="adj" fmla="val 8214"/>
            </a:avLst>
          </a:prstGeom>
          <a:solidFill>
            <a:srgbClr val="1A2848"/>
          </a:solidFill>
          <a:ln/>
        </p:spPr>
      </p:sp>
      <p:sp>
        <p:nvSpPr>
          <p:cNvPr id="23" name="Shape 21"/>
          <p:cNvSpPr/>
          <p:nvPr/>
        </p:nvSpPr>
        <p:spPr>
          <a:xfrm>
            <a:off x="594360" y="3482035"/>
            <a:ext cx="54864" cy="890626"/>
          </a:xfrm>
          <a:prstGeom prst="rect">
            <a:avLst>
              <a:gd name="adj" fmla="val 133333"/>
            </a:avLst>
          </a:prstGeom>
          <a:solidFill>
            <a:srgbClr val="E74C3C"/>
          </a:solidFill>
          <a:ln/>
        </p:spPr>
      </p:sp>
      <p:sp>
        <p:nvSpPr>
          <p:cNvPr id="24" name="Text 22"/>
          <p:cNvSpPr/>
          <p:nvPr/>
        </p:nvSpPr>
        <p:spPr>
          <a:xfrm>
            <a:off x="758952" y="3518611"/>
            <a:ext cx="10902391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C039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PRAZOS ESTOURADOS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58952" y="3683203"/>
            <a:ext cx="10865815" cy="65288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É crucial manter um monitoramento contínuo e formalizar as cobranças para garantir o cumprimento.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21792" y="4537253"/>
            <a:ext cx="11140135" cy="890626"/>
          </a:xfrm>
          <a:prstGeom prst="roundRect">
            <a:avLst>
              <a:gd name="adj" fmla="val 10267"/>
            </a:avLst>
          </a:prstGeom>
          <a:solidFill>
            <a:srgbClr val="000000"/>
          </a:solidFill>
          <a:ln/>
        </p:spPr>
      </p:sp>
      <p:sp>
        <p:nvSpPr>
          <p:cNvPr id="27" name="Shape 25"/>
          <p:cNvSpPr/>
          <p:nvPr/>
        </p:nvSpPr>
        <p:spPr>
          <a:xfrm>
            <a:off x="594360" y="4500677"/>
            <a:ext cx="11140135" cy="890626"/>
          </a:xfrm>
          <a:prstGeom prst="roundRect">
            <a:avLst>
              <a:gd name="adj" fmla="val 8214"/>
            </a:avLst>
          </a:prstGeom>
          <a:solidFill>
            <a:srgbClr val="141E34"/>
          </a:solidFill>
          <a:ln/>
        </p:spPr>
      </p:sp>
      <p:sp>
        <p:nvSpPr>
          <p:cNvPr id="28" name="Shape 26"/>
          <p:cNvSpPr/>
          <p:nvPr/>
        </p:nvSpPr>
        <p:spPr>
          <a:xfrm>
            <a:off x="594360" y="4500677"/>
            <a:ext cx="54864" cy="890626"/>
          </a:xfrm>
          <a:prstGeom prst="rect">
            <a:avLst>
              <a:gd name="adj" fmla="val 133333"/>
            </a:avLst>
          </a:prstGeom>
          <a:solidFill>
            <a:srgbClr val="E74C3C"/>
          </a:solidFill>
          <a:ln/>
        </p:spPr>
      </p:sp>
      <p:sp>
        <p:nvSpPr>
          <p:cNvPr id="29" name="Text 27"/>
          <p:cNvSpPr/>
          <p:nvPr/>
        </p:nvSpPr>
        <p:spPr>
          <a:xfrm>
            <a:off x="758952" y="4537253"/>
            <a:ext cx="10902391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C039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COMUNICAÇÃO INEFICAZ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758952" y="4701845"/>
            <a:ext cx="10865815" cy="65288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Relatórios com jargões ou apresentações confusas podem comprometer a aceitação das recomendações.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21792" y="5555894"/>
            <a:ext cx="11140135" cy="890626"/>
          </a:xfrm>
          <a:prstGeom prst="roundRect">
            <a:avLst>
              <a:gd name="adj" fmla="val 10267"/>
            </a:avLst>
          </a:prstGeom>
          <a:solidFill>
            <a:srgbClr val="000000"/>
          </a:solidFill>
          <a:ln/>
        </p:spPr>
      </p:sp>
      <p:sp>
        <p:nvSpPr>
          <p:cNvPr id="32" name="Shape 30"/>
          <p:cNvSpPr/>
          <p:nvPr/>
        </p:nvSpPr>
        <p:spPr>
          <a:xfrm>
            <a:off x="594360" y="5519318"/>
            <a:ext cx="11140135" cy="890626"/>
          </a:xfrm>
          <a:prstGeom prst="roundRect">
            <a:avLst>
              <a:gd name="adj" fmla="val 8214"/>
            </a:avLst>
          </a:prstGeom>
          <a:solidFill>
            <a:srgbClr val="1A2848"/>
          </a:solidFill>
          <a:ln/>
        </p:spPr>
      </p:sp>
      <p:sp>
        <p:nvSpPr>
          <p:cNvPr id="33" name="Shape 31"/>
          <p:cNvSpPr/>
          <p:nvPr/>
        </p:nvSpPr>
        <p:spPr>
          <a:xfrm>
            <a:off x="594360" y="5519318"/>
            <a:ext cx="54864" cy="890626"/>
          </a:xfrm>
          <a:prstGeom prst="rect">
            <a:avLst>
              <a:gd name="adj" fmla="val 133333"/>
            </a:avLst>
          </a:prstGeom>
          <a:solidFill>
            <a:srgbClr val="E74C3C"/>
          </a:solidFill>
          <a:ln/>
        </p:spPr>
      </p:sp>
      <p:sp>
        <p:nvSpPr>
          <p:cNvPr id="34" name="Text 32"/>
          <p:cNvSpPr/>
          <p:nvPr/>
        </p:nvSpPr>
        <p:spPr>
          <a:xfrm>
            <a:off x="758952" y="5555894"/>
            <a:ext cx="10865815" cy="8174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Como você garantiria que um relatório de auditoria fosse compreendido por públicos de diferentes níveis de conhecimento, mantendo a rigorosidade técnica necessária para um parecer de controle externo?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6" name="Shape 34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7" name="Shape 35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8" name="Shape 36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9" name="Shape 37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0" name="Shape 38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1" name="Shape 39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42" name="Text 40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36 / 48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274320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6C63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SÍNTESE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85800" y="521208"/>
            <a:ext cx="822960" cy="18288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621792"/>
            <a:ext cx="1104869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Resumo do Módulo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13232" y="1499616"/>
            <a:ext cx="5469484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1463040"/>
            <a:ext cx="5469484" cy="1371600"/>
          </a:xfrm>
          <a:prstGeom prst="roundRect">
            <a:avLst>
              <a:gd name="adj" fmla="val 6667"/>
            </a:avLst>
          </a:prstGeom>
          <a:solidFill>
            <a:srgbClr val="141E34"/>
          </a:solidFill>
          <a:ln/>
        </p:spPr>
      </p:sp>
      <p:sp>
        <p:nvSpPr>
          <p:cNvPr id="8" name="Shape 6"/>
          <p:cNvSpPr/>
          <p:nvPr/>
        </p:nvSpPr>
        <p:spPr>
          <a:xfrm>
            <a:off x="685800" y="1463040"/>
            <a:ext cx="45720" cy="1371600"/>
          </a:xfrm>
          <a:prstGeom prst="rect">
            <a:avLst>
              <a:gd name="adj" fmla="val 200000"/>
            </a:avLst>
          </a:prstGeom>
          <a:solidFill>
            <a:srgbClr val="6C63FF"/>
          </a:solidFill>
          <a:ln/>
        </p:spPr>
      </p:sp>
      <p:sp>
        <p:nvSpPr>
          <p:cNvPr id="9" name="Shape 7"/>
          <p:cNvSpPr/>
          <p:nvPr/>
        </p:nvSpPr>
        <p:spPr>
          <a:xfrm>
            <a:off x="813816" y="1554480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6C63FF"/>
          </a:solidFill>
          <a:ln/>
        </p:spPr>
      </p:sp>
      <p:sp>
        <p:nvSpPr>
          <p:cNvPr id="10" name="Text 8"/>
          <p:cNvSpPr/>
          <p:nvPr/>
        </p:nvSpPr>
        <p:spPr>
          <a:xfrm>
            <a:off x="813816" y="15544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13816" y="1883664"/>
            <a:ext cx="5213452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comunicação e o monitoramento são etapas cruciais na auditoria operacional para gerar impacto real.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292444" y="1499616"/>
            <a:ext cx="5469484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13" name="Shape 11"/>
          <p:cNvSpPr/>
          <p:nvPr/>
        </p:nvSpPr>
        <p:spPr>
          <a:xfrm>
            <a:off x="6265012" y="1463040"/>
            <a:ext cx="5469484" cy="1371600"/>
          </a:xfrm>
          <a:prstGeom prst="roundRect">
            <a:avLst>
              <a:gd name="adj" fmla="val 6667"/>
            </a:avLst>
          </a:prstGeom>
          <a:solidFill>
            <a:srgbClr val="141E34"/>
          </a:solidFill>
          <a:ln/>
        </p:spPr>
      </p:sp>
      <p:sp>
        <p:nvSpPr>
          <p:cNvPr id="14" name="Shape 12"/>
          <p:cNvSpPr/>
          <p:nvPr/>
        </p:nvSpPr>
        <p:spPr>
          <a:xfrm>
            <a:off x="6265012" y="1463040"/>
            <a:ext cx="45720" cy="1371600"/>
          </a:xfrm>
          <a:prstGeom prst="rect">
            <a:avLst>
              <a:gd name="adj" fmla="val 200000"/>
            </a:avLst>
          </a:prstGeom>
          <a:solidFill>
            <a:srgbClr val="3B82F6"/>
          </a:solidFill>
          <a:ln/>
        </p:spPr>
      </p:sp>
      <p:sp>
        <p:nvSpPr>
          <p:cNvPr id="15" name="Shape 13"/>
          <p:cNvSpPr/>
          <p:nvPr/>
        </p:nvSpPr>
        <p:spPr>
          <a:xfrm>
            <a:off x="6393028" y="1554480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6393028" y="15544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393028" y="1883664"/>
            <a:ext cx="5213452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Relatórios claros, objetivos e completos são essenciais para transformar constatações em ações concretas.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713232" y="2980944"/>
            <a:ext cx="5469484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19" name="Shape 17"/>
          <p:cNvSpPr/>
          <p:nvPr/>
        </p:nvSpPr>
        <p:spPr>
          <a:xfrm>
            <a:off x="685800" y="2944368"/>
            <a:ext cx="5469484" cy="1371600"/>
          </a:xfrm>
          <a:prstGeom prst="roundRect">
            <a:avLst>
              <a:gd name="adj" fmla="val 6667"/>
            </a:avLst>
          </a:prstGeom>
          <a:solidFill>
            <a:srgbClr val="141E34"/>
          </a:solidFill>
          <a:ln/>
        </p:spPr>
      </p:sp>
      <p:sp>
        <p:nvSpPr>
          <p:cNvPr id="20" name="Shape 18"/>
          <p:cNvSpPr/>
          <p:nvPr/>
        </p:nvSpPr>
        <p:spPr>
          <a:xfrm>
            <a:off x="685800" y="2944368"/>
            <a:ext cx="45720" cy="1371600"/>
          </a:xfrm>
          <a:prstGeom prst="rect">
            <a:avLst>
              <a:gd name="adj" fmla="val 200000"/>
            </a:avLst>
          </a:prstGeom>
          <a:solidFill>
            <a:srgbClr val="10B981"/>
          </a:solidFill>
          <a:ln/>
        </p:spPr>
      </p:sp>
      <p:sp>
        <p:nvSpPr>
          <p:cNvPr id="21" name="Shape 19"/>
          <p:cNvSpPr/>
          <p:nvPr/>
        </p:nvSpPr>
        <p:spPr>
          <a:xfrm>
            <a:off x="813816" y="3035808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813816" y="30358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13816" y="3364992"/>
            <a:ext cx="5213452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apresentação eficaz e a fase de contraditório fortalecem a aceitação e a validade das recomendações.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6292444" y="2980944"/>
            <a:ext cx="5469484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25" name="Shape 23"/>
          <p:cNvSpPr/>
          <p:nvPr/>
        </p:nvSpPr>
        <p:spPr>
          <a:xfrm>
            <a:off x="6265012" y="2944368"/>
            <a:ext cx="5469484" cy="1371600"/>
          </a:xfrm>
          <a:prstGeom prst="roundRect">
            <a:avLst>
              <a:gd name="adj" fmla="val 6667"/>
            </a:avLst>
          </a:prstGeom>
          <a:solidFill>
            <a:srgbClr val="141E34"/>
          </a:solidFill>
          <a:ln/>
        </p:spPr>
      </p:sp>
      <p:sp>
        <p:nvSpPr>
          <p:cNvPr id="26" name="Shape 24"/>
          <p:cNvSpPr/>
          <p:nvPr/>
        </p:nvSpPr>
        <p:spPr>
          <a:xfrm>
            <a:off x="6265012" y="2944368"/>
            <a:ext cx="45720" cy="1371600"/>
          </a:xfrm>
          <a:prstGeom prst="rect">
            <a:avLst>
              <a:gd name="adj" fmla="val 200000"/>
            </a:avLst>
          </a:prstGeom>
          <a:solidFill>
            <a:srgbClr val="F59E0B"/>
          </a:solidFill>
          <a:ln/>
        </p:spPr>
      </p:sp>
      <p:sp>
        <p:nvSpPr>
          <p:cNvPr id="27" name="Shape 25"/>
          <p:cNvSpPr/>
          <p:nvPr/>
        </p:nvSpPr>
        <p:spPr>
          <a:xfrm>
            <a:off x="6393028" y="3035808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6393028" y="30358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393028" y="3364992"/>
            <a:ext cx="5213452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monitoramento sistemático garante a implementação, a responsabilização e a melhoria contínua da gestão pública.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1" name="Shape 29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2" name="Shape 30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3" name="Shape 31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4" name="Shape 32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5" name="Shape 33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6" name="Shape 34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37" name="Text 35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37 / 48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05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576"/>
            <a:ext cx="12191695" cy="4114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06B6D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PRINCIPAIS APRENDIZADOS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530352"/>
            <a:ext cx="110029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1234440"/>
            <a:ext cx="1645920" cy="2286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6" name="Shape 4"/>
          <p:cNvSpPr/>
          <p:nvPr/>
        </p:nvSpPr>
        <p:spPr>
          <a:xfrm>
            <a:off x="612648" y="1536192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7" name="Shape 5"/>
          <p:cNvSpPr/>
          <p:nvPr/>
        </p:nvSpPr>
        <p:spPr>
          <a:xfrm>
            <a:off x="594360" y="1508760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111D38"/>
          </a:solidFill>
          <a:ln/>
        </p:spPr>
      </p:sp>
      <p:sp>
        <p:nvSpPr>
          <p:cNvPr id="8" name="Shape 6"/>
          <p:cNvSpPr/>
          <p:nvPr/>
        </p:nvSpPr>
        <p:spPr>
          <a:xfrm>
            <a:off x="594360" y="1508760"/>
            <a:ext cx="45720" cy="1645920"/>
          </a:xfrm>
          <a:prstGeom prst="rect">
            <a:avLst>
              <a:gd name="adj" fmla="val 240000"/>
            </a:avLst>
          </a:prstGeom>
          <a:solidFill>
            <a:srgbClr val="6C63FF"/>
          </a:solidFill>
          <a:ln/>
        </p:spPr>
      </p:sp>
      <p:sp>
        <p:nvSpPr>
          <p:cNvPr id="9" name="Shape 7"/>
          <p:cNvSpPr/>
          <p:nvPr/>
        </p:nvSpPr>
        <p:spPr>
          <a:xfrm>
            <a:off x="722376" y="1636776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6C63FF"/>
          </a:solidFill>
          <a:ln/>
        </p:spPr>
      </p:sp>
      <p:sp>
        <p:nvSpPr>
          <p:cNvPr id="10" name="Text 8"/>
          <p:cNvSpPr/>
          <p:nvPr/>
        </p:nvSpPr>
        <p:spPr>
          <a:xfrm>
            <a:off x="722376" y="163677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520" dirty="0"/>
          </a:p>
        </p:txBody>
      </p:sp>
      <p:sp>
        <p:nvSpPr>
          <p:cNvPr id="11" name="Text 9"/>
          <p:cNvSpPr/>
          <p:nvPr/>
        </p:nvSpPr>
        <p:spPr>
          <a:xfrm>
            <a:off x="722376" y="2075688"/>
            <a:ext cx="3372002" cy="987552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Elabore relatórios objetivos, claros e com estrutura lógica para máxima compreensão e aceitação.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368698" y="1536192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13" name="Shape 11"/>
          <p:cNvSpPr/>
          <p:nvPr/>
        </p:nvSpPr>
        <p:spPr>
          <a:xfrm>
            <a:off x="4350410" y="1508760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111D38"/>
          </a:solidFill>
          <a:ln/>
        </p:spPr>
      </p:sp>
      <p:sp>
        <p:nvSpPr>
          <p:cNvPr id="14" name="Shape 12"/>
          <p:cNvSpPr/>
          <p:nvPr/>
        </p:nvSpPr>
        <p:spPr>
          <a:xfrm>
            <a:off x="4350410" y="1508760"/>
            <a:ext cx="45720" cy="1645920"/>
          </a:xfrm>
          <a:prstGeom prst="rect">
            <a:avLst>
              <a:gd name="adj" fmla="val 240000"/>
            </a:avLst>
          </a:prstGeom>
          <a:solidFill>
            <a:srgbClr val="3B82F6"/>
          </a:solidFill>
          <a:ln/>
        </p:spPr>
      </p:sp>
      <p:sp>
        <p:nvSpPr>
          <p:cNvPr id="15" name="Shape 13"/>
          <p:cNvSpPr/>
          <p:nvPr/>
        </p:nvSpPr>
        <p:spPr>
          <a:xfrm>
            <a:off x="4478426" y="1636776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4478426" y="163677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520" dirty="0"/>
          </a:p>
        </p:txBody>
      </p:sp>
      <p:sp>
        <p:nvSpPr>
          <p:cNvPr id="17" name="Text 15"/>
          <p:cNvSpPr/>
          <p:nvPr/>
        </p:nvSpPr>
        <p:spPr>
          <a:xfrm>
            <a:off x="4478426" y="2075688"/>
            <a:ext cx="3372002" cy="987552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Adapte a apresentação oral do relatório ao público-alvo, focando nas mensagens-chave e nos impactos.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124749" y="1536192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19" name="Shape 17"/>
          <p:cNvSpPr/>
          <p:nvPr/>
        </p:nvSpPr>
        <p:spPr>
          <a:xfrm>
            <a:off x="8106461" y="1508760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111D38"/>
          </a:solidFill>
          <a:ln/>
        </p:spPr>
      </p:sp>
      <p:sp>
        <p:nvSpPr>
          <p:cNvPr id="20" name="Shape 18"/>
          <p:cNvSpPr/>
          <p:nvPr/>
        </p:nvSpPr>
        <p:spPr>
          <a:xfrm>
            <a:off x="8106461" y="1508760"/>
            <a:ext cx="45720" cy="1645920"/>
          </a:xfrm>
          <a:prstGeom prst="rect">
            <a:avLst>
              <a:gd name="adj" fmla="val 240000"/>
            </a:avLst>
          </a:prstGeom>
          <a:solidFill>
            <a:srgbClr val="10B981"/>
          </a:solidFill>
          <a:ln/>
        </p:spPr>
      </p:sp>
      <p:sp>
        <p:nvSpPr>
          <p:cNvPr id="21" name="Shape 19"/>
          <p:cNvSpPr/>
          <p:nvPr/>
        </p:nvSpPr>
        <p:spPr>
          <a:xfrm>
            <a:off x="8234477" y="1636776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8234477" y="163677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520" dirty="0"/>
          </a:p>
        </p:txBody>
      </p:sp>
      <p:sp>
        <p:nvSpPr>
          <p:cNvPr id="23" name="Text 21"/>
          <p:cNvSpPr/>
          <p:nvPr/>
        </p:nvSpPr>
        <p:spPr>
          <a:xfrm>
            <a:off x="8234477" y="2075688"/>
            <a:ext cx="3372002" cy="987552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Utilize a fase de contraditório para fortalecer a legitimidade e a qualidade do relatório final de auditoria.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12648" y="3310128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25" name="Shape 23"/>
          <p:cNvSpPr/>
          <p:nvPr/>
        </p:nvSpPr>
        <p:spPr>
          <a:xfrm>
            <a:off x="594360" y="3282696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111D38"/>
          </a:solidFill>
          <a:ln/>
        </p:spPr>
      </p:sp>
      <p:sp>
        <p:nvSpPr>
          <p:cNvPr id="26" name="Shape 24"/>
          <p:cNvSpPr/>
          <p:nvPr/>
        </p:nvSpPr>
        <p:spPr>
          <a:xfrm>
            <a:off x="594360" y="3282696"/>
            <a:ext cx="45720" cy="1645920"/>
          </a:xfrm>
          <a:prstGeom prst="rect">
            <a:avLst>
              <a:gd name="adj" fmla="val 240000"/>
            </a:avLst>
          </a:prstGeom>
          <a:solidFill>
            <a:srgbClr val="F59E0B"/>
          </a:solidFill>
          <a:ln/>
        </p:spPr>
      </p:sp>
      <p:sp>
        <p:nvSpPr>
          <p:cNvPr id="27" name="Shape 25"/>
          <p:cNvSpPr/>
          <p:nvPr/>
        </p:nvSpPr>
        <p:spPr>
          <a:xfrm>
            <a:off x="722376" y="3410712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722376" y="341071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520" dirty="0"/>
          </a:p>
        </p:txBody>
      </p:sp>
      <p:sp>
        <p:nvSpPr>
          <p:cNvPr id="29" name="Text 27"/>
          <p:cNvSpPr/>
          <p:nvPr/>
        </p:nvSpPr>
        <p:spPr>
          <a:xfrm>
            <a:off x="722376" y="3849624"/>
            <a:ext cx="3372002" cy="987552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Garanta o monitoramento sistemático das recomendações para assegurar sua efetividade e o cumprimento dos prazos.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368698" y="3310128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31" name="Shape 29"/>
          <p:cNvSpPr/>
          <p:nvPr/>
        </p:nvSpPr>
        <p:spPr>
          <a:xfrm>
            <a:off x="4350410" y="3282696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111D38"/>
          </a:solidFill>
          <a:ln/>
        </p:spPr>
      </p:sp>
      <p:sp>
        <p:nvSpPr>
          <p:cNvPr id="32" name="Shape 30"/>
          <p:cNvSpPr/>
          <p:nvPr/>
        </p:nvSpPr>
        <p:spPr>
          <a:xfrm>
            <a:off x="4350410" y="3282696"/>
            <a:ext cx="45720" cy="1645920"/>
          </a:xfrm>
          <a:prstGeom prst="rect">
            <a:avLst>
              <a:gd name="adj" fmla="val 240000"/>
            </a:avLst>
          </a:prstGeom>
          <a:solidFill>
            <a:srgbClr val="06B6D4"/>
          </a:solidFill>
          <a:ln/>
        </p:spPr>
      </p:sp>
      <p:sp>
        <p:nvSpPr>
          <p:cNvPr id="33" name="Shape 31"/>
          <p:cNvSpPr/>
          <p:nvPr/>
        </p:nvSpPr>
        <p:spPr>
          <a:xfrm>
            <a:off x="4478426" y="3410712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06B6D4"/>
          </a:solidFill>
          <a:ln/>
        </p:spPr>
      </p:sp>
      <p:sp>
        <p:nvSpPr>
          <p:cNvPr id="34" name="Text 32"/>
          <p:cNvSpPr/>
          <p:nvPr/>
        </p:nvSpPr>
        <p:spPr>
          <a:xfrm>
            <a:off x="4478426" y="341071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520" dirty="0"/>
          </a:p>
        </p:txBody>
      </p:sp>
      <p:sp>
        <p:nvSpPr>
          <p:cNvPr id="35" name="Text 33"/>
          <p:cNvSpPr/>
          <p:nvPr/>
        </p:nvSpPr>
        <p:spPr>
          <a:xfrm>
            <a:off x="4478426" y="3849624"/>
            <a:ext cx="3372002" cy="987552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Promova a responsabilização e a melhoria contínua na gestão pública por meio de uma comunicação e monitoramento eficazes.</a:t>
            </a:r>
            <a:endParaRPr lang="en-US" sz="14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" name="Shape 1"/>
          <p:cNvSpPr/>
          <p:nvPr/>
        </p:nvSpPr>
        <p:spPr>
          <a:xfrm>
            <a:off x="731520" y="822960"/>
            <a:ext cx="45720" cy="347472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" name="Shape 2"/>
          <p:cNvSpPr/>
          <p:nvPr/>
        </p:nvSpPr>
        <p:spPr>
          <a:xfrm>
            <a:off x="804672" y="822960"/>
            <a:ext cx="13716" cy="347472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6" name="Shape 3"/>
          <p:cNvSpPr/>
          <p:nvPr/>
        </p:nvSpPr>
        <p:spPr>
          <a:xfrm>
            <a:off x="1097280" y="1188720"/>
            <a:ext cx="2743200" cy="13716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7" name="Text 4"/>
          <p:cNvSpPr/>
          <p:nvPr/>
        </p:nvSpPr>
        <p:spPr>
          <a:xfrm>
            <a:off x="1097280" y="1645920"/>
            <a:ext cx="6705432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Obrigado!</a:t>
            </a:r>
            <a:endParaRPr lang="en-US" sz="6800" dirty="0"/>
          </a:p>
        </p:txBody>
      </p:sp>
      <p:sp>
        <p:nvSpPr>
          <p:cNvPr id="8" name="Shape 5"/>
          <p:cNvSpPr/>
          <p:nvPr/>
        </p:nvSpPr>
        <p:spPr>
          <a:xfrm>
            <a:off x="1097280" y="3703320"/>
            <a:ext cx="496824" cy="54864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9" name="Shape 6"/>
          <p:cNvSpPr/>
          <p:nvPr/>
        </p:nvSpPr>
        <p:spPr>
          <a:xfrm>
            <a:off x="1584960" y="3703320"/>
            <a:ext cx="496824" cy="54864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0" name="Shape 7"/>
          <p:cNvSpPr/>
          <p:nvPr/>
        </p:nvSpPr>
        <p:spPr>
          <a:xfrm>
            <a:off x="2072640" y="3703320"/>
            <a:ext cx="496824" cy="54864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1" name="Shape 8"/>
          <p:cNvSpPr/>
          <p:nvPr/>
        </p:nvSpPr>
        <p:spPr>
          <a:xfrm>
            <a:off x="2560320" y="3703320"/>
            <a:ext cx="496824" cy="54864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2" name="Shape 9"/>
          <p:cNvSpPr/>
          <p:nvPr/>
        </p:nvSpPr>
        <p:spPr>
          <a:xfrm>
            <a:off x="3048000" y="3703320"/>
            <a:ext cx="496824" cy="54864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3" name="Shape 10"/>
          <p:cNvSpPr/>
          <p:nvPr/>
        </p:nvSpPr>
        <p:spPr>
          <a:xfrm>
            <a:off x="3535680" y="3703320"/>
            <a:ext cx="496824" cy="54864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4" name="Text 11"/>
          <p:cNvSpPr/>
          <p:nvPr/>
        </p:nvSpPr>
        <p:spPr>
          <a:xfrm>
            <a:off x="1097280" y="3931920"/>
            <a:ext cx="609584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Introdução à Auditoria Operacional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1097280" y="4663440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700" kern="0" dirty="0">
                <a:solidFill>
                  <a:srgbClr val="6C63FF">
                    <a:alpha val="8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CONCLUSÃO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9631375" y="635508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94A3C0">
                    <a:alpha val="7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março de 2026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9631375" y="6656832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C0">
                    <a:alpha val="6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Foto: Vitaly Gariev / Unsplash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51</Slides>
  <Notes>51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Introdução à Auditoria Operacional</dc:title>
  <dc:subject>PptxGenJS Presentation</dc:subject>
  <dc:creator>EduGenAI v3</dc:creator>
  <cp:lastModifiedBy>EduGenAI v3</cp:lastModifiedBy>
  <cp:revision>1</cp:revision>
  <dcterms:created xsi:type="dcterms:W3CDTF">2026-03-12T20:35:41Z</dcterms:created>
  <dcterms:modified xsi:type="dcterms:W3CDTF">2026-03-12T20:35:41Z</dcterms:modified>
</cp:coreProperties>
</file>