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Lst>
  <p:notesMasterIdLst>
    <p:notesMasterId r:id="rId7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notesMaster" Target="notesMasters/notesMaster1.xml"/><Relationship Id="rId78" Type="http://schemas.openxmlformats.org/officeDocument/2006/relationships/presProps" Target="presProps.xml"/><Relationship Id="rId79" Type="http://schemas.openxmlformats.org/officeDocument/2006/relationships/viewProps" Target="viewProps.xml"/><Relationship Id="rId80" Type="http://schemas.openxmlformats.org/officeDocument/2006/relationships/theme" Target="theme/theme1.xml"/><Relationship Id="rId8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5A623"/>
          </a:solidFill>
          <a:ln/>
        </p:spPr>
      </p:sp>
      <p:sp>
        <p:nvSpPr>
          <p:cNvPr id="3" name="Text 1"/>
          <p:cNvSpPr/>
          <p:nvPr/>
        </p:nvSpPr>
        <p:spPr>
          <a:xfrm>
            <a:off x="640080" y="731520"/>
            <a:ext cx="8046720" cy="1579880"/>
          </a:xfrm>
          <a:prstGeom prst="rect">
            <a:avLst/>
          </a:prstGeom>
          <a:noFill/>
          <a:ln/>
        </p:spPr>
        <p:txBody>
          <a:bodyPr wrap="square" rtlCol="0" anchor="ctr"/>
          <a:lstStyle/>
          <a:p>
            <a:pPr algn="l" indent="0" marL="0">
              <a:buNone/>
            </a:pPr>
            <a:r>
              <a:rPr lang="en-US" sz="4400" b="1" dirty="0">
                <a:solidFill>
                  <a:srgbClr val="FFFFFF"/>
                </a:solidFill>
                <a:latin typeface="Calibri" pitchFamily="34" charset="0"/>
                <a:ea typeface="Calibri" pitchFamily="34" charset="-122"/>
                <a:cs typeface="Calibri" pitchFamily="34" charset="-120"/>
              </a:rPr>
              <a:t>Inteligência Artificial na Prática: Aplicações Reais para Profissionais Não Técnicos</a:t>
            </a:r>
            <a:endParaRPr lang="en-US" sz="4400" dirty="0"/>
          </a:p>
        </p:txBody>
      </p:sp>
      <p:sp>
        <p:nvSpPr>
          <p:cNvPr id="4" name="Text 2"/>
          <p:cNvSpPr/>
          <p:nvPr/>
        </p:nvSpPr>
        <p:spPr>
          <a:xfrm>
            <a:off x="640080" y="2494280"/>
            <a:ext cx="7589520" cy="914400"/>
          </a:xfrm>
          <a:prstGeom prst="rect">
            <a:avLst/>
          </a:prstGeom>
          <a:noFill/>
          <a:ln/>
        </p:spPr>
        <p:txBody>
          <a:bodyPr wrap="square" rtlCol="0" anchor="t"/>
          <a:lstStyle/>
          <a:p>
            <a:pPr algn="l" indent="0" marL="0">
              <a:buNone/>
            </a:pPr>
            <a:r>
              <a:rPr lang="en-US" sz="1800" dirty="0">
                <a:solidFill>
                  <a:srgbClr val="CADCFC"/>
                </a:solidFill>
                <a:latin typeface="Calibri" pitchFamily="34" charset="0"/>
                <a:ea typeface="Calibri" pitchFamily="34" charset="-122"/>
                <a:cs typeface="Calibri" pitchFamily="34" charset="-120"/>
              </a:rPr>
              <a:t>Este curso oferece uma introdução prática e acessível ao universo da Inteligência Artificial (IA), com foco em suas aplicações reais para profissionais que não possuem formação técnica. Exploraremos como a IA pode ser uma aliada poderosa na tomada de decisões, otimização de processos e inovação no ambiente de trabalho, apresentando ferramentas práticas e exemplos concretos. O objetivo é capacitar você a identificar oportunidades para aplicar a IA em sua rotina profissional, impulsionando sua carreira e seus projetos.</a:t>
            </a:r>
            <a:endParaRPr lang="en-US" sz="1800" dirty="0"/>
          </a:p>
        </p:txBody>
      </p:sp>
      <p:sp>
        <p:nvSpPr>
          <p:cNvPr id="5" name="Text 3"/>
          <p:cNvSpPr/>
          <p:nvPr/>
        </p:nvSpPr>
        <p:spPr>
          <a:xfrm>
            <a:off x="640080" y="4594860"/>
            <a:ext cx="8046720" cy="365760"/>
          </a:xfrm>
          <a:prstGeom prst="rect">
            <a:avLst/>
          </a:prstGeom>
          <a:noFill/>
          <a:ln/>
        </p:spPr>
        <p:txBody>
          <a:bodyPr wrap="square" rtlCol="0" anchor="ctr"/>
          <a:lstStyle/>
          <a:p>
            <a:pPr algn="l" indent="0" marL="0">
              <a:buNone/>
            </a:pPr>
            <a:r>
              <a:rPr lang="en-US" sz="1200" dirty="0">
                <a:solidFill>
                  <a:srgbClr val="718096"/>
                </a:solidFill>
                <a:latin typeface="Calibri" pitchFamily="34" charset="0"/>
                <a:ea typeface="Calibri" pitchFamily="34" charset="-122"/>
                <a:cs typeface="Calibri" pitchFamily="34" charset="-120"/>
              </a:rPr>
              <a:t>5 módulos  •  03 de março de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457200" y="320040"/>
            <a:ext cx="1463040" cy="347472"/>
          </a:xfrm>
          <a:prstGeom prst="roundRect">
            <a:avLst>
              <a:gd name="adj" fmla="val 21053"/>
            </a:avLst>
          </a:prstGeom>
          <a:solidFill>
            <a:srgbClr val="F5A623"/>
          </a:solidFill>
          <a:ln/>
        </p:spPr>
      </p:sp>
      <p:sp>
        <p:nvSpPr>
          <p:cNvPr id="3" name="Text 1"/>
          <p:cNvSpPr/>
          <p:nvPr/>
        </p:nvSpPr>
        <p:spPr>
          <a:xfrm>
            <a:off x="457200" y="320040"/>
            <a:ext cx="1463040" cy="347472"/>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MÓDULO 1</a:t>
            </a:r>
            <a:endParaRPr lang="en-US" sz="1300" dirty="0"/>
          </a:p>
        </p:txBody>
      </p:sp>
      <p:sp>
        <p:nvSpPr>
          <p:cNvPr id="4" name="Text 2"/>
          <p:cNvSpPr/>
          <p:nvPr/>
        </p:nvSpPr>
        <p:spPr>
          <a:xfrm>
            <a:off x="457200" y="822960"/>
            <a:ext cx="8229600" cy="1198880"/>
          </a:xfrm>
          <a:prstGeom prst="rect">
            <a:avLst/>
          </a:prstGeom>
          <a:noFill/>
          <a:ln/>
        </p:spPr>
        <p:txBody>
          <a:bodyPr wrap="square"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Módulo 1: Desmistificando a Inteligência Artificial para Profissionais Não Técnicos</a:t>
            </a:r>
            <a:endParaRPr lang="en-US" sz="3200" dirty="0"/>
          </a:p>
        </p:txBody>
      </p:sp>
      <p:sp>
        <p:nvSpPr>
          <p:cNvPr id="5" name="Text 3"/>
          <p:cNvSpPr/>
          <p:nvPr/>
        </p:nvSpPr>
        <p:spPr>
          <a:xfrm>
            <a:off x="457200" y="2159000"/>
            <a:ext cx="2743200" cy="274320"/>
          </a:xfrm>
          <a:prstGeom prst="rect">
            <a:avLst/>
          </a:prstGeom>
          <a:noFill/>
          <a:ln/>
        </p:spPr>
        <p:txBody>
          <a:bodyPr wrap="square" rtlCol="0" anchor="ctr"/>
          <a:lstStyle/>
          <a:p>
            <a:pPr indent="0" marL="0">
              <a:buNone/>
            </a:pPr>
            <a:r>
              <a:rPr lang="en-US" sz="1400" b="1" dirty="0">
                <a:solidFill>
                  <a:srgbClr val="F5A623"/>
                </a:solidFill>
                <a:latin typeface="Calibri" pitchFamily="34" charset="0"/>
                <a:ea typeface="Calibri" pitchFamily="34" charset="-122"/>
                <a:cs typeface="Calibri" pitchFamily="34" charset="-120"/>
              </a:rPr>
              <a:t>Objetivos</a:t>
            </a:r>
            <a:endParaRPr lang="en-US" sz="1400" dirty="0"/>
          </a:p>
        </p:txBody>
      </p:sp>
      <p:sp>
        <p:nvSpPr>
          <p:cNvPr id="6" name="Text 4"/>
          <p:cNvSpPr/>
          <p:nvPr/>
        </p:nvSpPr>
        <p:spPr>
          <a:xfrm>
            <a:off x="457200" y="2488184"/>
            <a:ext cx="8229600" cy="1078992"/>
          </a:xfrm>
          <a:prstGeom prst="rect">
            <a:avLst/>
          </a:prstGeom>
          <a:noFill/>
          <a:ln/>
        </p:spPr>
        <p:txBody>
          <a:bodyPr wrap="square" rtlCol="0" anchor="t"/>
          <a:lstStyle/>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Compreender os conceitos fundamentais da Inteligência Artificial (IA).
</a:t>
            </a:r>
            <a:endParaRPr lang="en-US" sz="1400" dirty="0"/>
          </a:p>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Distinguir os principais tipos de IA e suas aplicações práticas.
</a:t>
            </a:r>
            <a:endParaRPr lang="en-US" sz="1400" dirty="0"/>
          </a:p>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Identificar o impacto transformador da IA em diversas indústrias e o potencial em sua área.</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Fundamentos</a:t>
            </a:r>
            <a:endParaRPr lang="en-US" sz="2400" dirty="0"/>
          </a:p>
        </p:txBody>
      </p:sp>
      <p:sp>
        <p:nvSpPr>
          <p:cNvPr id="4" name="Text 2"/>
          <p:cNvSpPr/>
          <p:nvPr/>
        </p:nvSpPr>
        <p:spPr>
          <a:xfrm>
            <a:off x="457200" y="1033272"/>
            <a:ext cx="8229600" cy="2231136"/>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Inteligência Artificial (IA) é um campo da ciência da computação. Ela foca na criação de sistemas capazes de realizar tarefas que, tipicamente, exigiriam inteligência humana.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Isso envolve desenvolver algoritmos que permitem às máquinas aprender, raciocinar, perceber, compreender e agir. O objetivo é alcançar metas específicas.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busca aumentar e complementar a inteligência humana. Ela automatiza tarefas repetitivas e complexas, além de identificar padrões difíceis para humanos.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Inteligência Artificial: uma definição para todos</a:t>
            </a:r>
            <a:endParaRPr lang="en-US" sz="2400" dirty="0"/>
          </a:p>
        </p:txBody>
      </p:sp>
      <p:sp>
        <p:nvSpPr>
          <p:cNvPr id="4" name="Text 2"/>
          <p:cNvSpPr/>
          <p:nvPr/>
        </p:nvSpPr>
        <p:spPr>
          <a:xfrm>
            <a:off x="457200" y="1033272"/>
            <a:ext cx="8229600" cy="301752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replica capacidades cognitivas humanas em máquinas, como aprendizado e tomada de decisões.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 permite que sistemas computacionais resolvam problemas e executem tarefas de forma autônoma.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interpreta dados e age sobre eles, com base em um objetivo pré-determinado.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É crucial diferenciar IA de automação simples, pois a IA implica capacidade de "pensar" e adaptar.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está presente em diversas tecnologias diárias, muitas vezes sem que percebamos.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Mitos e verdades sobre a IA (Parte 1)</a:t>
            </a:r>
            <a:endParaRPr lang="en-US" sz="2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987552"/>
          <a:ext cx="8229600" cy="3881628"/>
        </p:xfrm>
        <a:graphic>
          <a:graphicData uri="http://schemas.openxmlformats.org/drawingml/2006/table">
            <a:tbl>
              <a:tblPr/>
              <a:tblGrid>
                <a:gridCol w="2743200"/>
                <a:gridCol w="2743200"/>
                <a:gridCol w="2743200"/>
              </a:tblGrid>
              <a:tr h="502920">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Aspecto</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Mito</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Verdade</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r>
              <a:tr h="502920">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Ficção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 IA é apenas ficção científica ou algo do futuro distante.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 IA é uma realidade presente, integrada em inúmeras aplicações diárias.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502920">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Empregos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 IA vai roubar todos os empregos humanos.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 IA transforma empregos, automatizando tarefas e criando novas funções e demandas.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r h="502920">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Estudo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Aprender sobre IA exige formação em TI ou engenharia.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Compreender os princípios e aplicações da IA é acessível a profissionais de qualquer área.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502920">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Perfeição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 IA é perfeita e nunca erra.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Sistemas de IA podem cometer erros, especialmente com dados de treinamento enviesados.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Mitos e verdades sobre a IA (Parte 2)</a:t>
            </a:r>
            <a:endParaRPr lang="en-US"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987552"/>
          <a:ext cx="8229600" cy="1697126"/>
        </p:xfrm>
        <a:graphic>
          <a:graphicData uri="http://schemas.openxmlformats.org/drawingml/2006/table">
            <a:tbl>
              <a:tblPr/>
              <a:tblGrid>
                <a:gridCol w="2743200"/>
                <a:gridCol w="2743200"/>
                <a:gridCol w="2743200"/>
              </a:tblGrid>
              <a:tr h="502920">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Aspecto</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Mito</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Verdade</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r>
              <a:tr h="502920">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Consciência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 IA é uma consciência, como a humana.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 IA é um conjunto de algoritmos e dados, sem consciência, emoções ou vontade própria.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E2761"/>
          </a:solidFill>
          <a:ln/>
        </p:spPr>
      </p:sp>
      <p:sp>
        <p:nvSpPr>
          <p:cNvPr id="3" name="Text 1"/>
          <p:cNvSpPr/>
          <p:nvPr/>
        </p:nvSpPr>
        <p:spPr>
          <a:xfrm>
            <a:off x="457200" y="73152"/>
            <a:ext cx="8229600" cy="905256"/>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IA Fraca (Narrow AI ou Artificial Narrow Intelligence - ANI)</a:t>
            </a:r>
            <a:endParaRPr lang="en-US" sz="2400" dirty="0"/>
          </a:p>
        </p:txBody>
      </p:sp>
      <p:sp>
        <p:nvSpPr>
          <p:cNvPr id="4" name="Text 2"/>
          <p:cNvSpPr/>
          <p:nvPr/>
        </p:nvSpPr>
        <p:spPr>
          <a:xfrm>
            <a:off x="457200" y="1280160"/>
            <a:ext cx="8229600" cy="3511296"/>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Inteligência Artificial não é única, mas um campo vasto com ramificações. Classificá-las ajuda a entender suas capacidades e limitações.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Focaremos nos tipos mais relevantes para aplicações atuais.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fraca é projetada para executar uma tarefa específica com alta eficiência.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 possui inteligência em um domínio muito limitado, sem aprendizado generalizado.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Exemplos incluem assistentes de voz, sistemas de recomendação e filtros de spam.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maioria das aplicações de IA atuais são exemplos de IA fraca.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 não realiza tarefas fora de sua programação original ou do contexto de treinamento.</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Machine Learning (Aprendizado de Máquina)</a:t>
            </a:r>
            <a:endParaRPr lang="en-US" sz="2400" dirty="0"/>
          </a:p>
        </p:txBody>
      </p:sp>
      <p:sp>
        <p:nvSpPr>
          <p:cNvPr id="4" name="Text 2"/>
          <p:cNvSpPr/>
          <p:nvPr/>
        </p:nvSpPr>
        <p:spPr>
          <a:xfrm>
            <a:off x="457200" y="1033272"/>
            <a:ext cx="8229600" cy="301752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Machine Learning é um subcampo da IA que permite aos sistemas aprender a partir de dados.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Ele identifica padrões em grandes volumes de dados para fazer previsões ou tomar decisões.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É o motor por trás de muitas aplicações de IA, como reconhecimento facial e detecção de fraudes.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Tipos de aprendizado incluem supervisionado, não supervisionado e por reforço.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qualidade dos dados de treinamento é crucial para o desempenho dos modelos de ML.</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Deep Learning (Aprendizado Profundo)</a:t>
            </a:r>
            <a:endParaRPr lang="en-US" sz="2400" dirty="0"/>
          </a:p>
        </p:txBody>
      </p:sp>
      <p:sp>
        <p:nvSpPr>
          <p:cNvPr id="4" name="Text 2"/>
          <p:cNvSpPr/>
          <p:nvPr/>
        </p:nvSpPr>
        <p:spPr>
          <a:xfrm>
            <a:off x="457200" y="1033272"/>
            <a:ext cx="8229600" cy="329184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Deep Learning é um subcampo do Machine Learning que usa redes neurais artificiais de várias camadas.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Inspirado no cérebro humano, permite aprender representações de dados em vários níveis.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É eficaz para tarefas complexas como reconhecimento de imagem e processamento de linguagem natural.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Exige grandes volumes de dados e poder computacional significativo para treinamento.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Sistemas de Deep Learning alcançaram resultados impressionantes em visão computacional.</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Processamento de Linguagem Natural (PLN/NLP)</a:t>
            </a:r>
            <a:endParaRPr lang="en-US" sz="2400" dirty="0"/>
          </a:p>
        </p:txBody>
      </p:sp>
      <p:sp>
        <p:nvSpPr>
          <p:cNvPr id="4" name="Text 2"/>
          <p:cNvSpPr/>
          <p:nvPr/>
        </p:nvSpPr>
        <p:spPr>
          <a:xfrm>
            <a:off x="457200" y="1033272"/>
            <a:ext cx="8229600" cy="274320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PLN é um ramo da IA que permite aos computadores entender, interpretar e gerar linguagem humana.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Facilita a comunicação entre humanos e máquinas de forma mais natural e intuitiva.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Aplicações incluem chatbots, tradução automática, análise de sentimentos e sumarização de textos.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É fundamental para assistentes virtuais como Siri, Alexa e Google Assistant.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O PLN busca resolver a complexidade da linguagem humana, incluindo suas nuances.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Visão Computacional (Computer Vision)</a:t>
            </a:r>
            <a:endParaRPr lang="en-US" sz="2400" dirty="0"/>
          </a:p>
        </p:txBody>
      </p:sp>
      <p:sp>
        <p:nvSpPr>
          <p:cNvPr id="4" name="Text 2"/>
          <p:cNvSpPr/>
          <p:nvPr/>
        </p:nvSpPr>
        <p:spPr>
          <a:xfrm>
            <a:off x="457200" y="1033272"/>
            <a:ext cx="8229600" cy="274320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Visão Computacional é um campo da IA que treina computadores para "ver" e interpretar o mundo visual.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Capacita máquinas a processar, analisar e compreender imagens e vídeos.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Usada em reconhecimento facial, detecção de objetos, carros autônomos e diagnósticos médicos.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Permite a automatização de inspeções de qualidade e o monitoramento em tempo real.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Sistemas de visão computacional extraem informações complexas de dados visuais.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Aplicações reais</a:t>
            </a:r>
            <a:endParaRPr lang="en-US" sz="2400" dirty="0"/>
          </a:p>
        </p:txBody>
      </p:sp>
      <p:sp>
        <p:nvSpPr>
          <p:cNvPr id="4" name="Text 2"/>
          <p:cNvSpPr/>
          <p:nvPr/>
        </p:nvSpPr>
        <p:spPr>
          <a:xfrm>
            <a:off x="457200" y="1033272"/>
            <a:ext cx="8229600" cy="2231136"/>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Inteligência Artificial é uma força transformadora, remodelando indústrias globalmente.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Sua capacidade de processar dados, automatizar tarefas e gerar insights impulsiona inovação e personalização.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Entender esse impacto é fundamental para profissionais, pois a IA muda as operações das empresas. Ela redefine as expectativas dos clientes e a dinâmica competitiva do mercado.</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Eficiência operacional e Produtividade</a:t>
            </a:r>
            <a:endParaRPr lang="en-US" sz="2400" dirty="0"/>
          </a:p>
        </p:txBody>
      </p:sp>
      <p:sp>
        <p:nvSpPr>
          <p:cNvPr id="4" name="Text 2"/>
          <p:cNvSpPr/>
          <p:nvPr/>
        </p:nvSpPr>
        <p:spPr>
          <a:xfrm>
            <a:off x="457200" y="1033272"/>
            <a:ext cx="8229600" cy="219456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automatiza tarefas repetitivas e manuais em diversos setores.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 otimiza processos, reduzindo custos e aumentando a velocidade das operações.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Sistemas de IA analisam grandes volumes de dados para identificar gargalos e ineficiências.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produtividade das equipes eleva-se ao delegar tarefas rotineiras à IA.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Empresas podem focar recursos humanos em atividades estratégicas e criativas.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Experiência do Cliente e Personalização</a:t>
            </a:r>
            <a:endParaRPr lang="en-US" sz="2400" dirty="0"/>
          </a:p>
        </p:txBody>
      </p:sp>
      <p:sp>
        <p:nvSpPr>
          <p:cNvPr id="4" name="Text 2"/>
          <p:cNvSpPr/>
          <p:nvPr/>
        </p:nvSpPr>
        <p:spPr>
          <a:xfrm>
            <a:off x="457200" y="1033272"/>
            <a:ext cx="8229600" cy="219456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permite criar experiências personalizadas em grande escala para os clientes.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Sistemas de recomendação ajustam ofertas com base no comportamento individual.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Chatbots e assistentes virtuais oferecem suporte ao cliente 24 horas por dia.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análise de dados do cliente por IA melhora a segmentação de marketing.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Os resultados incluem maior satisfação do cliente e aumento da lealdade à marca.</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Inovação e Criação de Novos Produtos/Serviços</a:t>
            </a:r>
            <a:endParaRPr lang="en-US" sz="2400" dirty="0"/>
          </a:p>
        </p:txBody>
      </p:sp>
      <p:sp>
        <p:nvSpPr>
          <p:cNvPr id="4" name="Text 2"/>
          <p:cNvSpPr/>
          <p:nvPr/>
        </p:nvSpPr>
        <p:spPr>
          <a:xfrm>
            <a:off x="457200" y="1033272"/>
            <a:ext cx="8229600" cy="274320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acelera a pesquisa e o desenvolvimento de novos produtos e serviços inovadores.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 simula cenários complexos, testando ideias antes de investimentos.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análise preditiva da IA identifica tendências de mercado e novas oportunidades.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Ferramentas de IA auxiliam na geração de designs, textos e até músicas originais.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Novos modelos de negócio baseados em IA estão emergindo em diversos setores.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Melhoria na Tomada de Decisões</a:t>
            </a:r>
            <a:endParaRPr lang="en-US" sz="2400" dirty="0"/>
          </a:p>
        </p:txBody>
      </p:sp>
      <p:sp>
        <p:nvSpPr>
          <p:cNvPr id="4" name="Text 2"/>
          <p:cNvSpPr/>
          <p:nvPr/>
        </p:nvSpPr>
        <p:spPr>
          <a:xfrm>
            <a:off x="457200" y="1033272"/>
            <a:ext cx="8229600" cy="310896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fornece insights baseados em dados que aprimoram decisões estratégicas.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 processa informações complexas mais rapidamente e com menos vieses humanos.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Modelos preditivos da IA ajudam a antecipar riscos e oportunidades futuras.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Decisões financeiras, logísticas e de marketing são otimizadas com o suporte da IA.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Isso resulta em decisões mais informadas e com maior probabilidade de sucesso.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Pare um momento e reflita: Como a Inteligência Artificial já impacta a sua área de atuação ou o seu dia a dia profissional, mesmo que você não perceba diretamente?</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E2761"/>
          </a:solidFill>
          <a:ln/>
        </p:spPr>
      </p:sp>
      <p:sp>
        <p:nvSpPr>
          <p:cNvPr id="3" name="Text 1"/>
          <p:cNvSpPr/>
          <p:nvPr/>
        </p:nvSpPr>
        <p:spPr>
          <a:xfrm>
            <a:off x="457200" y="73152"/>
            <a:ext cx="8229600" cy="905256"/>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Exemplo de aplicações relevantes para não especialistas</a:t>
            </a:r>
            <a:endParaRPr lang="en-US" sz="2400" dirty="0"/>
          </a:p>
        </p:txBody>
      </p:sp>
      <p:sp>
        <p:nvSpPr>
          <p:cNvPr id="4" name="Shape 2"/>
          <p:cNvSpPr/>
          <p:nvPr/>
        </p:nvSpPr>
        <p:spPr>
          <a:xfrm>
            <a:off x="457200" y="132588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5" name="Shape 3"/>
          <p:cNvSpPr/>
          <p:nvPr/>
        </p:nvSpPr>
        <p:spPr>
          <a:xfrm>
            <a:off x="457200" y="1380744"/>
            <a:ext cx="54864" cy="1170432"/>
          </a:xfrm>
          <a:prstGeom prst="rect">
            <a:avLst/>
          </a:prstGeom>
          <a:solidFill>
            <a:srgbClr val="F5A623"/>
          </a:solidFill>
          <a:ln/>
        </p:spPr>
      </p:sp>
      <p:sp>
        <p:nvSpPr>
          <p:cNvPr id="6" name="Text 4"/>
          <p:cNvSpPr/>
          <p:nvPr/>
        </p:nvSpPr>
        <p:spPr>
          <a:xfrm>
            <a:off x="640080" y="141732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Marketing e Vendas</a:t>
            </a:r>
            <a:endParaRPr lang="en-US" sz="1400" dirty="0"/>
          </a:p>
        </p:txBody>
      </p:sp>
      <p:sp>
        <p:nvSpPr>
          <p:cNvPr id="7" name="Text 5"/>
          <p:cNvSpPr/>
          <p:nvPr/>
        </p:nvSpPr>
        <p:spPr>
          <a:xfrm>
            <a:off x="640080" y="169164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Análise de sentimentos, personalização de campanhas e chatbots de atendimento.</a:t>
            </a:r>
            <a:endParaRPr lang="en-US" sz="1300" dirty="0"/>
          </a:p>
        </p:txBody>
      </p:sp>
      <p:sp>
        <p:nvSpPr>
          <p:cNvPr id="8" name="Shape 6"/>
          <p:cNvSpPr/>
          <p:nvPr/>
        </p:nvSpPr>
        <p:spPr>
          <a:xfrm>
            <a:off x="4709160" y="132588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9" name="Shape 7"/>
          <p:cNvSpPr/>
          <p:nvPr/>
        </p:nvSpPr>
        <p:spPr>
          <a:xfrm>
            <a:off x="4709160" y="1380744"/>
            <a:ext cx="54864" cy="1170432"/>
          </a:xfrm>
          <a:prstGeom prst="rect">
            <a:avLst/>
          </a:prstGeom>
          <a:solidFill>
            <a:srgbClr val="F5A623"/>
          </a:solidFill>
          <a:ln/>
        </p:spPr>
      </p:sp>
      <p:sp>
        <p:nvSpPr>
          <p:cNvPr id="10" name="Text 8"/>
          <p:cNvSpPr/>
          <p:nvPr/>
        </p:nvSpPr>
        <p:spPr>
          <a:xfrm>
            <a:off x="4892040" y="141732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Recursos Humanos</a:t>
            </a:r>
            <a:endParaRPr lang="en-US" sz="1400" dirty="0"/>
          </a:p>
        </p:txBody>
      </p:sp>
      <p:sp>
        <p:nvSpPr>
          <p:cNvPr id="11" name="Text 9"/>
          <p:cNvSpPr/>
          <p:nvPr/>
        </p:nvSpPr>
        <p:spPr>
          <a:xfrm>
            <a:off x="4892040" y="169164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Triagem inteligente de currículos, análise de desempenho e plataformas de aprendizado adaptativo.</a:t>
            </a:r>
            <a:endParaRPr lang="en-US" sz="1300" dirty="0"/>
          </a:p>
        </p:txBody>
      </p:sp>
      <p:sp>
        <p:nvSpPr>
          <p:cNvPr id="12" name="Shape 10"/>
          <p:cNvSpPr/>
          <p:nvPr/>
        </p:nvSpPr>
        <p:spPr>
          <a:xfrm>
            <a:off x="457200" y="278892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3" name="Shape 11"/>
          <p:cNvSpPr/>
          <p:nvPr/>
        </p:nvSpPr>
        <p:spPr>
          <a:xfrm>
            <a:off x="457200" y="2843784"/>
            <a:ext cx="54864" cy="1170432"/>
          </a:xfrm>
          <a:prstGeom prst="rect">
            <a:avLst/>
          </a:prstGeom>
          <a:solidFill>
            <a:srgbClr val="F5A623"/>
          </a:solidFill>
          <a:ln/>
        </p:spPr>
      </p:sp>
      <p:sp>
        <p:nvSpPr>
          <p:cNvPr id="14" name="Text 12"/>
          <p:cNvSpPr/>
          <p:nvPr/>
        </p:nvSpPr>
        <p:spPr>
          <a:xfrm>
            <a:off x="640080" y="288036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Finanças</a:t>
            </a:r>
            <a:endParaRPr lang="en-US" sz="1400" dirty="0"/>
          </a:p>
        </p:txBody>
      </p:sp>
      <p:sp>
        <p:nvSpPr>
          <p:cNvPr id="15" name="Text 13"/>
          <p:cNvSpPr/>
          <p:nvPr/>
        </p:nvSpPr>
        <p:spPr>
          <a:xfrm>
            <a:off x="640080" y="315468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Detecção de fraudes, _scoring_ de crédito e robôs de investimento.</a:t>
            </a:r>
            <a:endParaRPr lang="en-US" sz="1300" dirty="0"/>
          </a:p>
        </p:txBody>
      </p:sp>
      <p:sp>
        <p:nvSpPr>
          <p:cNvPr id="16" name="Shape 14"/>
          <p:cNvSpPr/>
          <p:nvPr/>
        </p:nvSpPr>
        <p:spPr>
          <a:xfrm>
            <a:off x="4709160" y="278892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7" name="Shape 15"/>
          <p:cNvSpPr/>
          <p:nvPr/>
        </p:nvSpPr>
        <p:spPr>
          <a:xfrm>
            <a:off x="4709160" y="2843784"/>
            <a:ext cx="54864" cy="1170432"/>
          </a:xfrm>
          <a:prstGeom prst="rect">
            <a:avLst/>
          </a:prstGeom>
          <a:solidFill>
            <a:srgbClr val="F5A623"/>
          </a:solidFill>
          <a:ln/>
        </p:spPr>
      </p:sp>
      <p:sp>
        <p:nvSpPr>
          <p:cNvPr id="18" name="Text 16"/>
          <p:cNvSpPr/>
          <p:nvPr/>
        </p:nvSpPr>
        <p:spPr>
          <a:xfrm>
            <a:off x="4892040" y="288036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Saúde</a:t>
            </a:r>
            <a:endParaRPr lang="en-US" sz="1400" dirty="0"/>
          </a:p>
        </p:txBody>
      </p:sp>
      <p:sp>
        <p:nvSpPr>
          <p:cNvPr id="19" name="Text 17"/>
          <p:cNvSpPr/>
          <p:nvPr/>
        </p:nvSpPr>
        <p:spPr>
          <a:xfrm>
            <a:off x="4892040" y="315468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Diagnóstico auxiliar por imagem, monitoramento de pacientes e descoberta de medicamentos.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E2761"/>
          </a:solidFill>
          <a:ln/>
        </p:spPr>
      </p:sp>
      <p:sp>
        <p:nvSpPr>
          <p:cNvPr id="3" name="Text 1"/>
          <p:cNvSpPr/>
          <p:nvPr/>
        </p:nvSpPr>
        <p:spPr>
          <a:xfrm>
            <a:off x="457200" y="73152"/>
            <a:ext cx="8229600" cy="905256"/>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Exemplo de aplicações relevantes para não especialistas</a:t>
            </a:r>
            <a:endParaRPr lang="en-US" sz="2400" dirty="0"/>
          </a:p>
        </p:txBody>
      </p:sp>
      <p:sp>
        <p:nvSpPr>
          <p:cNvPr id="4" name="Text 2"/>
          <p:cNvSpPr/>
          <p:nvPr/>
        </p:nvSpPr>
        <p:spPr>
          <a:xfrm>
            <a:off x="457200" y="1280160"/>
            <a:ext cx="8229600" cy="1975104"/>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Educação: Tutoriais adaptativos, personalização de conteúdo e detecção de plágio.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Advocacia: Análise de contratos, pesquisa jurídica de precedentes e automação de documentos.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Gestão de Projetos: Otimização de cronogramas, alocação de recursos e análise de riscos.</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p:spPr>
      </p:sp>
      <p:sp>
        <p:nvSpPr>
          <p:cNvPr id="3" name="Text 1"/>
          <p:cNvSpPr/>
          <p:nvPr/>
        </p:nvSpPr>
        <p:spPr>
          <a:xfrm>
            <a:off x="457200" y="274320"/>
            <a:ext cx="1828800" cy="365760"/>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RESUMO</a:t>
            </a:r>
            <a:endParaRPr lang="en-US" sz="1300" dirty="0"/>
          </a:p>
        </p:txBody>
      </p:sp>
      <p:sp>
        <p:nvSpPr>
          <p:cNvPr id="4" name="Text 2"/>
          <p:cNvSpPr/>
          <p:nvPr/>
        </p:nvSpPr>
        <p:spPr>
          <a:xfrm>
            <a:off x="457200" y="640080"/>
            <a:ext cx="8156448" cy="944880"/>
          </a:xfrm>
          <a:prstGeom prst="rect">
            <a:avLst/>
          </a:prstGeom>
          <a:noFill/>
          <a:ln/>
        </p:spPr>
        <p:txBody>
          <a:bodyPr wrap="square"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Módulo 1: Desmistificando a Inteligência Artificial para Profissionais Não Técnicos (Parte 1)</a:t>
            </a:r>
            <a:endParaRPr lang="en-US" sz="2400" dirty="0"/>
          </a:p>
        </p:txBody>
      </p:sp>
      <p:sp>
        <p:nvSpPr>
          <p:cNvPr id="5" name="Text 3"/>
          <p:cNvSpPr/>
          <p:nvPr/>
        </p:nvSpPr>
        <p:spPr>
          <a:xfrm>
            <a:off x="457200" y="1722120"/>
            <a:ext cx="8156448" cy="2633472"/>
          </a:xfrm>
          <a:prstGeom prst="rect">
            <a:avLst/>
          </a:prstGeom>
          <a:noFill/>
          <a:ln/>
        </p:spPr>
        <p:txBody>
          <a:bodyPr wrap="square" rtlCol="0" anchor="t"/>
          <a:lstStyle/>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Neste módulo, desmistificamos a Inteligência Artificial, definindo-a e diferenciando-a de mitos comuns.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Exploramos os principais tipos de IA, como Machine Learning e Deep Learning, e como eles impulsionam aplicações práticas em PLN e Visão Computacional.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Por fim, analisamos o impacto global da IA na eficiência, experiência do cliente, inovação e tomada de decisões em diversas indústrias.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Inteligência Artificial permite que máquinas realizem tarefas que exigem intelecto humano.</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p:spPr>
      </p:sp>
      <p:sp>
        <p:nvSpPr>
          <p:cNvPr id="3" name="Text 1"/>
          <p:cNvSpPr/>
          <p:nvPr/>
        </p:nvSpPr>
        <p:spPr>
          <a:xfrm>
            <a:off x="457200" y="274320"/>
            <a:ext cx="1828800" cy="365760"/>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RESUMO</a:t>
            </a:r>
            <a:endParaRPr lang="en-US" sz="1300" dirty="0"/>
          </a:p>
        </p:txBody>
      </p:sp>
      <p:sp>
        <p:nvSpPr>
          <p:cNvPr id="4" name="Text 2"/>
          <p:cNvSpPr/>
          <p:nvPr/>
        </p:nvSpPr>
        <p:spPr>
          <a:xfrm>
            <a:off x="457200" y="640080"/>
            <a:ext cx="8156448" cy="944880"/>
          </a:xfrm>
          <a:prstGeom prst="rect">
            <a:avLst/>
          </a:prstGeom>
          <a:noFill/>
          <a:ln/>
        </p:spPr>
        <p:txBody>
          <a:bodyPr wrap="square"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Módulo 1: Desmistificando a Inteligência Artificial para Profissionais Não Técnicos (Parte 2)</a:t>
            </a:r>
            <a:endParaRPr lang="en-US" sz="2400" dirty="0"/>
          </a:p>
        </p:txBody>
      </p:sp>
      <p:sp>
        <p:nvSpPr>
          <p:cNvPr id="5" name="Text 3"/>
          <p:cNvSpPr/>
          <p:nvPr/>
        </p:nvSpPr>
        <p:spPr>
          <a:xfrm>
            <a:off x="457200" y="1722120"/>
            <a:ext cx="8156448" cy="2359152"/>
          </a:xfrm>
          <a:prstGeom prst="rect">
            <a:avLst/>
          </a:prstGeom>
          <a:noFill/>
          <a:ln/>
        </p:spPr>
        <p:txBody>
          <a:bodyPr wrap="square" rtlCol="0" anchor="t"/>
          <a:lstStyle/>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IA não é ficção científica, mas uma realidade presente, transformando trabalho e vida.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Existem diferentes tipos de IA, sendo a IA Fraca a base das aplicações diárias.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Machine Learning e Deep Learning são subcampos cruciais que permitem à IA aprender com dados.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PLN e Visão Computacional são tecnologias que interagem e interpretam linguagem e imagens.</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457200" y="320040"/>
            <a:ext cx="1463040" cy="347472"/>
          </a:xfrm>
          <a:prstGeom prst="roundRect">
            <a:avLst>
              <a:gd name="adj" fmla="val 21053"/>
            </a:avLst>
          </a:prstGeom>
          <a:solidFill>
            <a:srgbClr val="F5A623"/>
          </a:solidFill>
          <a:ln/>
        </p:spPr>
      </p:sp>
      <p:sp>
        <p:nvSpPr>
          <p:cNvPr id="3" name="Text 1"/>
          <p:cNvSpPr/>
          <p:nvPr/>
        </p:nvSpPr>
        <p:spPr>
          <a:xfrm>
            <a:off x="457200" y="320040"/>
            <a:ext cx="1463040" cy="347472"/>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MÓDULO 2</a:t>
            </a:r>
            <a:endParaRPr lang="en-US" sz="1300" dirty="0"/>
          </a:p>
        </p:txBody>
      </p:sp>
      <p:sp>
        <p:nvSpPr>
          <p:cNvPr id="4" name="Text 2"/>
          <p:cNvSpPr/>
          <p:nvPr/>
        </p:nvSpPr>
        <p:spPr>
          <a:xfrm>
            <a:off x="457200" y="822960"/>
            <a:ext cx="8229600" cy="1198880"/>
          </a:xfrm>
          <a:prstGeom prst="rect">
            <a:avLst/>
          </a:prstGeom>
          <a:noFill/>
          <a:ln/>
        </p:spPr>
        <p:txBody>
          <a:bodyPr wrap="square"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Módulo 2: Ferramentas de IA Acessíveis e Sem Código para o Dia a Dia Profissional</a:t>
            </a:r>
            <a:endParaRPr lang="en-US" sz="3200" dirty="0"/>
          </a:p>
        </p:txBody>
      </p:sp>
      <p:sp>
        <p:nvSpPr>
          <p:cNvPr id="5" name="Text 3"/>
          <p:cNvSpPr/>
          <p:nvPr/>
        </p:nvSpPr>
        <p:spPr>
          <a:xfrm>
            <a:off x="457200" y="2159000"/>
            <a:ext cx="2743200" cy="274320"/>
          </a:xfrm>
          <a:prstGeom prst="rect">
            <a:avLst/>
          </a:prstGeom>
          <a:noFill/>
          <a:ln/>
        </p:spPr>
        <p:txBody>
          <a:bodyPr wrap="square" rtlCol="0" anchor="ctr"/>
          <a:lstStyle/>
          <a:p>
            <a:pPr indent="0" marL="0">
              <a:buNone/>
            </a:pPr>
            <a:r>
              <a:rPr lang="en-US" sz="1400" b="1" dirty="0">
                <a:solidFill>
                  <a:srgbClr val="F5A623"/>
                </a:solidFill>
                <a:latin typeface="Calibri" pitchFamily="34" charset="0"/>
                <a:ea typeface="Calibri" pitchFamily="34" charset="-122"/>
                <a:cs typeface="Calibri" pitchFamily="34" charset="-120"/>
              </a:rPr>
              <a:t>Objetivos</a:t>
            </a:r>
            <a:endParaRPr lang="en-US" sz="1400" dirty="0"/>
          </a:p>
        </p:txBody>
      </p:sp>
      <p:sp>
        <p:nvSpPr>
          <p:cNvPr id="6" name="Text 4"/>
          <p:cNvSpPr/>
          <p:nvPr/>
        </p:nvSpPr>
        <p:spPr>
          <a:xfrm>
            <a:off x="457200" y="2488184"/>
            <a:ext cx="8229600" cy="1505712"/>
          </a:xfrm>
          <a:prstGeom prst="rect">
            <a:avLst/>
          </a:prstGeom>
          <a:noFill/>
          <a:ln/>
        </p:spPr>
        <p:txBody>
          <a:bodyPr wrap="square" rtlCol="0" anchor="t"/>
          <a:lstStyle/>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Navegar pelo universo das ferramentas de Inteligência Artificial que não exigem programação.
</a:t>
            </a:r>
            <a:endParaRPr lang="en-US" sz="1400" dirty="0"/>
          </a:p>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Capacitar profissionais para incorporar a IA em suas rotinas de trabalho, independentemente da formação técnica.
</a:t>
            </a:r>
            <a:endParaRPr lang="en-US" sz="1400" dirty="0"/>
          </a:p>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Otimizar processos e facilitar a tomada de decisões através do uso estratégico de IA acessível.</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Fundamentos</a:t>
            </a:r>
            <a:endParaRPr lang="en-US" sz="2400" dirty="0"/>
          </a:p>
        </p:txBody>
      </p:sp>
      <p:sp>
        <p:nvSpPr>
          <p:cNvPr id="4" name="Text 2"/>
          <p:cNvSpPr/>
          <p:nvPr/>
        </p:nvSpPr>
        <p:spPr>
          <a:xfrm>
            <a:off x="457200" y="1033272"/>
            <a:ext cx="8229600" cy="2084832"/>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democratização da Inteligência Artificial (IA) é uma realidade. Ferramentas No-Code (sem código) e Low-Code (baixo código) tornaram a IA acessível a todos.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Essas plataformas oferecem interfaces intuitivas e funcionalidades prontas para uso.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Elas permitem que profissionais não técnicos aproveitem o poder da IA.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O foco é usar a IA para aumentar a produtividade e a eficiência profissional.</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Como funciona</a:t>
            </a:r>
            <a:endParaRPr lang="en-US" sz="2400" dirty="0"/>
          </a:p>
        </p:txBody>
      </p:sp>
      <p:sp>
        <p:nvSpPr>
          <p:cNvPr id="4" name="Text 2"/>
          <p:cNvSpPr/>
          <p:nvPr/>
        </p:nvSpPr>
        <p:spPr>
          <a:xfrm>
            <a:off x="457200" y="1033272"/>
            <a:ext cx="8229600" cy="246888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No-Code e Low-Code simplifica o desenvolvimento e uso de soluções inteligentes.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No-Code: Permite criar soluções de IA sem escrever código.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Low-Code: Oferece uma base visual, com opção de código customizado para refinamentos.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Essas abordagens aceleram o desenvolvimento e reduzem custos.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Elas permitem a criação de soluções próprias, quebrando barreiras técnicas.</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Modelos / Tipos (Parte 1)</a:t>
            </a:r>
            <a:endParaRPr lang="en-US" sz="2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987552"/>
          <a:ext cx="8229600" cy="3881628"/>
        </p:xfrm>
        <a:graphic>
          <a:graphicData uri="http://schemas.openxmlformats.org/drawingml/2006/table">
            <a:tbl>
              <a:tblPr/>
              <a:tblGrid>
                <a:gridCol w="2743200"/>
                <a:gridCol w="2743200"/>
                <a:gridCol w="2743200"/>
              </a:tblGrid>
              <a:tr h="502920">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Aspecto</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IA No-Code</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IA Low-Code</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r>
              <a:tr h="502920">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Desenvolvimento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Não exige conhecimento de programação.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Exige algum conhecimento técnico para personalização.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502920">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Interface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Visual, "arrastar e soltar", formulários.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Principalmente visual, com blocos de código para ajustes.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r h="502920">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Flexibilidade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Limitada às funcionalidades pré-configuradas.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Maior flexibilidade, permite personalização avançada.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502920">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Rapidez</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Muito mais rápido para implementação de soluções simples.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Mais rápido que o desenvolvimento tradicional, mas exige mais tempo que No-Code.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Modelos / Tipos (Parte 2)</a:t>
            </a:r>
            <a:endParaRPr lang="en-US" sz="2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987552"/>
          <a:ext cx="8229600" cy="1465783"/>
        </p:xfrm>
        <a:graphic>
          <a:graphicData uri="http://schemas.openxmlformats.org/drawingml/2006/table">
            <a:tbl>
              <a:tblPr/>
              <a:tblGrid>
                <a:gridCol w="2743200"/>
                <a:gridCol w="2743200"/>
                <a:gridCol w="2743200"/>
              </a:tblGrid>
              <a:tr h="502920">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Aspecto</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IA No-Code</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IA Low-Code</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r>
              <a:tr h="502920">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Público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Profissionais não técnicos, usuários de negócios.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Desenvolvedores cidadãos, equipes de TI com foco em agilidade.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E2761"/>
          </a:solidFill>
          <a:ln/>
        </p:spPr>
      </p:sp>
      <p:sp>
        <p:nvSpPr>
          <p:cNvPr id="3" name="Text 1"/>
          <p:cNvSpPr/>
          <p:nvPr/>
        </p:nvSpPr>
        <p:spPr>
          <a:xfrm>
            <a:off x="457200" y="73152"/>
            <a:ext cx="8229600" cy="905256"/>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Categorias de Ferramentas de IA Acessíveis (Parte 1)</a:t>
            </a:r>
            <a:endParaRPr lang="en-US" sz="24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3547872"/>
        </p:xfrm>
        <a:graphic>
          <a:graphicData uri="http://schemas.openxmlformats.org/drawingml/2006/table">
            <a:tbl>
              <a:tblPr/>
              <a:tblGrid>
                <a:gridCol w="2743200"/>
                <a:gridCol w="2743200"/>
                <a:gridCol w="2743200"/>
              </a:tblGrid>
              <a:tr h="502920">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Categoria</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Definição</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Aplicações</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r>
              <a:tr h="502920">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Assistentes Virtuais e Chatbots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Sistemas que simulam conversas humanas por texto ou voz.</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Melhoram atendimento ao cliente, suporte interno e automação de FAQ.</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502920">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Automação de Texto e Geração de Conteúdo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Utilizam Modelos de Linguagem para gerar, resumir e refinar textos.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Agilizam a criação de conteúdo, superam bloqueios criativos e otimizam a comunicação.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r h="502920">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Análise de Dados e Visualização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Plataformas que usam IA para identificar padrões e tendências em dados.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Melhoram a tomada de decisões, identificam oportunidades e otimizam estratégias.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E2761"/>
          </a:solidFill>
          <a:ln/>
        </p:spPr>
      </p:sp>
      <p:sp>
        <p:nvSpPr>
          <p:cNvPr id="3" name="Text 1"/>
          <p:cNvSpPr/>
          <p:nvPr/>
        </p:nvSpPr>
        <p:spPr>
          <a:xfrm>
            <a:off x="457200" y="73152"/>
            <a:ext cx="8229600" cy="905256"/>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Categorias de Ferramentas de IA Acessíveis (Parte 2)</a:t>
            </a:r>
            <a:endParaRPr lang="en-US" sz="24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1697126"/>
        </p:xfrm>
        <a:graphic>
          <a:graphicData uri="http://schemas.openxmlformats.org/drawingml/2006/table">
            <a:tbl>
              <a:tblPr/>
              <a:tblGrid>
                <a:gridCol w="2743200"/>
                <a:gridCol w="2743200"/>
                <a:gridCol w="2743200"/>
              </a:tblGrid>
              <a:tr h="502920">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Categoria</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Definição</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Aplicações</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r>
              <a:tr h="502920">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Automação de Fluxos de Trabalho (RPA)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Softwares que imitam ações humanas para automatizar tarefas repetitivas.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Aumentam a eficiência operacional, reduzem erros e liberam colaboradores.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E2761"/>
          </a:solidFill>
          <a:ln/>
        </p:spPr>
      </p:sp>
      <p:sp>
        <p:nvSpPr>
          <p:cNvPr id="3" name="Text 1"/>
          <p:cNvSpPr/>
          <p:nvPr/>
        </p:nvSpPr>
        <p:spPr>
          <a:xfrm>
            <a:off x="457200" y="73152"/>
            <a:ext cx="8229600" cy="905256"/>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Categorias de Ferramentas de IA Acessíveis (Parte 2)</a:t>
            </a:r>
            <a:endParaRPr lang="en-US" sz="24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1697126"/>
        </p:xfrm>
        <a:graphic>
          <a:graphicData uri="http://schemas.openxmlformats.org/drawingml/2006/table">
            <a:tbl>
              <a:tblPr/>
              <a:tblGrid>
                <a:gridCol w="2743200"/>
                <a:gridCol w="2743200"/>
                <a:gridCol w="2743200"/>
              </a:tblGrid>
              <a:tr h="502920">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Categoria</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Definição</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Aplicações</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r>
              <a:tr h="502920">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Reconhecimento de Imagem e Visão Computacional</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Soluções que analisam imagens e vídeos para identificar e entender conteúdo.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Otimizam inventário, melhoram segurança ou categorizam mídias visuais.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1. Assistentes Virtuais e Chatbots Sem Código</a:t>
            </a:r>
            <a:endParaRPr lang="en-US" sz="2400" dirty="0"/>
          </a:p>
        </p:txBody>
      </p:sp>
      <p:sp>
        <p:nvSpPr>
          <p:cNvPr id="4" name="Shape 2"/>
          <p:cNvSpPr/>
          <p:nvPr/>
        </p:nvSpPr>
        <p:spPr>
          <a:xfrm>
            <a:off x="45720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5" name="Shape 3"/>
          <p:cNvSpPr/>
          <p:nvPr/>
        </p:nvSpPr>
        <p:spPr>
          <a:xfrm>
            <a:off x="457200" y="1133856"/>
            <a:ext cx="54864" cy="1170432"/>
          </a:xfrm>
          <a:prstGeom prst="rect">
            <a:avLst/>
          </a:prstGeom>
          <a:solidFill>
            <a:srgbClr val="F5A623"/>
          </a:solidFill>
          <a:ln/>
        </p:spPr>
      </p:sp>
      <p:sp>
        <p:nvSpPr>
          <p:cNvPr id="6" name="Text 4"/>
          <p:cNvSpPr/>
          <p:nvPr/>
        </p:nvSpPr>
        <p:spPr>
          <a:xfrm>
            <a:off x="640080" y="1170432"/>
            <a:ext cx="3657600" cy="109728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Vamos ver alguns exemplos de ferramentas populares em cada categoria.</a:t>
            </a:r>
            <a:endParaRPr lang="en-US" sz="1300" dirty="0"/>
          </a:p>
        </p:txBody>
      </p:sp>
      <p:sp>
        <p:nvSpPr>
          <p:cNvPr id="7" name="Shape 5"/>
          <p:cNvSpPr/>
          <p:nvPr/>
        </p:nvSpPr>
        <p:spPr>
          <a:xfrm>
            <a:off x="470916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8" name="Shape 6"/>
          <p:cNvSpPr/>
          <p:nvPr/>
        </p:nvSpPr>
        <p:spPr>
          <a:xfrm>
            <a:off x="4709160" y="1133856"/>
            <a:ext cx="54864" cy="1170432"/>
          </a:xfrm>
          <a:prstGeom prst="rect">
            <a:avLst/>
          </a:prstGeom>
          <a:solidFill>
            <a:srgbClr val="F5A623"/>
          </a:solidFill>
          <a:ln/>
        </p:spPr>
      </p:sp>
      <p:sp>
        <p:nvSpPr>
          <p:cNvPr id="9" name="Text 7"/>
          <p:cNvSpPr/>
          <p:nvPr/>
        </p:nvSpPr>
        <p:spPr>
          <a:xfrm>
            <a:off x="4892040" y="117043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Botsify</a:t>
            </a:r>
            <a:endParaRPr lang="en-US" sz="1400" dirty="0"/>
          </a:p>
        </p:txBody>
      </p:sp>
      <p:sp>
        <p:nvSpPr>
          <p:cNvPr id="10" name="Text 8"/>
          <p:cNvSpPr/>
          <p:nvPr/>
        </p:nvSpPr>
        <p:spPr>
          <a:xfrm>
            <a:off x="4892040" y="144475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Cria chatbots para sites, Facebook Messenger e WhatsApp via arrastar e soltar.</a:t>
            </a:r>
            <a:endParaRPr lang="en-US" sz="1300" dirty="0"/>
          </a:p>
        </p:txBody>
      </p:sp>
      <p:sp>
        <p:nvSpPr>
          <p:cNvPr id="11" name="Shape 9"/>
          <p:cNvSpPr/>
          <p:nvPr/>
        </p:nvSpPr>
        <p:spPr>
          <a:xfrm>
            <a:off x="457200" y="254203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2" name="Shape 10"/>
          <p:cNvSpPr/>
          <p:nvPr/>
        </p:nvSpPr>
        <p:spPr>
          <a:xfrm>
            <a:off x="457200" y="2596896"/>
            <a:ext cx="54864" cy="1170432"/>
          </a:xfrm>
          <a:prstGeom prst="rect">
            <a:avLst/>
          </a:prstGeom>
          <a:solidFill>
            <a:srgbClr val="F5A623"/>
          </a:solidFill>
          <a:ln/>
        </p:spPr>
      </p:sp>
      <p:sp>
        <p:nvSpPr>
          <p:cNvPr id="13" name="Text 11"/>
          <p:cNvSpPr/>
          <p:nvPr/>
        </p:nvSpPr>
        <p:spPr>
          <a:xfrm>
            <a:off x="640080" y="263347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ManyChat</a:t>
            </a:r>
            <a:endParaRPr lang="en-US" sz="1400" dirty="0"/>
          </a:p>
        </p:txBody>
      </p:sp>
      <p:sp>
        <p:nvSpPr>
          <p:cNvPr id="14" name="Text 12"/>
          <p:cNvSpPr/>
          <p:nvPr/>
        </p:nvSpPr>
        <p:spPr>
          <a:xfrm>
            <a:off x="640080" y="290779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Focado em marketing e vendas, automatiza conversas no Facebook Messenger e Instagram DMs.</a:t>
            </a:r>
            <a:endParaRPr lang="en-US" sz="1300" dirty="0"/>
          </a:p>
        </p:txBody>
      </p:sp>
      <p:sp>
        <p:nvSpPr>
          <p:cNvPr id="15" name="Shape 13"/>
          <p:cNvSpPr/>
          <p:nvPr/>
        </p:nvSpPr>
        <p:spPr>
          <a:xfrm>
            <a:off x="4709160" y="254203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6" name="Shape 14"/>
          <p:cNvSpPr/>
          <p:nvPr/>
        </p:nvSpPr>
        <p:spPr>
          <a:xfrm>
            <a:off x="4709160" y="2596896"/>
            <a:ext cx="54864" cy="1170432"/>
          </a:xfrm>
          <a:prstGeom prst="rect">
            <a:avLst/>
          </a:prstGeom>
          <a:solidFill>
            <a:srgbClr val="F5A623"/>
          </a:solidFill>
          <a:ln/>
        </p:spPr>
      </p:sp>
      <p:sp>
        <p:nvSpPr>
          <p:cNvPr id="17" name="Text 15"/>
          <p:cNvSpPr/>
          <p:nvPr/>
        </p:nvSpPr>
        <p:spPr>
          <a:xfrm>
            <a:off x="4892040" y="263347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Landbot</a:t>
            </a:r>
            <a:endParaRPr lang="en-US" sz="1400" dirty="0"/>
          </a:p>
        </p:txBody>
      </p:sp>
      <p:sp>
        <p:nvSpPr>
          <p:cNvPr id="18" name="Text 16"/>
          <p:cNvSpPr/>
          <p:nvPr/>
        </p:nvSpPr>
        <p:spPr>
          <a:xfrm>
            <a:off x="4892040" y="290779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Desenvolve chatbots interativos para web e WhatsApp com interface visual.</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E2761"/>
          </a:solidFill>
          <a:ln/>
        </p:spPr>
      </p:sp>
      <p:sp>
        <p:nvSpPr>
          <p:cNvPr id="3" name="Text 1"/>
          <p:cNvSpPr/>
          <p:nvPr/>
        </p:nvSpPr>
        <p:spPr>
          <a:xfrm>
            <a:off x="457200" y="73152"/>
            <a:ext cx="8229600" cy="905256"/>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2. Ferramentas de Automação de Texto e Geração de Conteúdo</a:t>
            </a:r>
            <a:endParaRPr lang="en-US" sz="2400" dirty="0"/>
          </a:p>
        </p:txBody>
      </p:sp>
      <p:sp>
        <p:nvSpPr>
          <p:cNvPr id="4" name="Shape 2"/>
          <p:cNvSpPr/>
          <p:nvPr/>
        </p:nvSpPr>
        <p:spPr>
          <a:xfrm>
            <a:off x="457200" y="132588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5" name="Shape 3"/>
          <p:cNvSpPr/>
          <p:nvPr/>
        </p:nvSpPr>
        <p:spPr>
          <a:xfrm>
            <a:off x="457200" y="1380744"/>
            <a:ext cx="54864" cy="1170432"/>
          </a:xfrm>
          <a:prstGeom prst="rect">
            <a:avLst/>
          </a:prstGeom>
          <a:solidFill>
            <a:srgbClr val="F5A623"/>
          </a:solidFill>
          <a:ln/>
        </p:spPr>
      </p:sp>
      <p:sp>
        <p:nvSpPr>
          <p:cNvPr id="6" name="Text 4"/>
          <p:cNvSpPr/>
          <p:nvPr/>
        </p:nvSpPr>
        <p:spPr>
          <a:xfrm>
            <a:off x="640080" y="141732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ChatGPT (OpenAI)</a:t>
            </a:r>
            <a:endParaRPr lang="en-US" sz="1400" dirty="0"/>
          </a:p>
        </p:txBody>
      </p:sp>
      <p:sp>
        <p:nvSpPr>
          <p:cNvPr id="7" name="Text 5"/>
          <p:cNvSpPr/>
          <p:nvPr/>
        </p:nvSpPr>
        <p:spPr>
          <a:xfrm>
            <a:off x="640080" y="169164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Poderoso para geração de texto, brainstorming, escrita criativa e resumos.</a:t>
            </a:r>
            <a:endParaRPr lang="en-US" sz="1300" dirty="0"/>
          </a:p>
        </p:txBody>
      </p:sp>
      <p:sp>
        <p:nvSpPr>
          <p:cNvPr id="8" name="Shape 6"/>
          <p:cNvSpPr/>
          <p:nvPr/>
        </p:nvSpPr>
        <p:spPr>
          <a:xfrm>
            <a:off x="4709160" y="132588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9" name="Shape 7"/>
          <p:cNvSpPr/>
          <p:nvPr/>
        </p:nvSpPr>
        <p:spPr>
          <a:xfrm>
            <a:off x="4709160" y="1380744"/>
            <a:ext cx="54864" cy="1170432"/>
          </a:xfrm>
          <a:prstGeom prst="rect">
            <a:avLst/>
          </a:prstGeom>
          <a:solidFill>
            <a:srgbClr val="F5A623"/>
          </a:solidFill>
          <a:ln/>
        </p:spPr>
      </p:sp>
      <p:sp>
        <p:nvSpPr>
          <p:cNvPr id="10" name="Text 8"/>
          <p:cNvSpPr/>
          <p:nvPr/>
        </p:nvSpPr>
        <p:spPr>
          <a:xfrm>
            <a:off x="4892040" y="141732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Google Gemini</a:t>
            </a:r>
            <a:endParaRPr lang="en-US" sz="1400" dirty="0"/>
          </a:p>
        </p:txBody>
      </p:sp>
      <p:sp>
        <p:nvSpPr>
          <p:cNvPr id="11" name="Text 9"/>
          <p:cNvSpPr/>
          <p:nvPr/>
        </p:nvSpPr>
        <p:spPr>
          <a:xfrm>
            <a:off x="4892040" y="169164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Oferece geração de texto, análise de informações e conversas interativas.</a:t>
            </a:r>
            <a:endParaRPr lang="en-US" sz="1300" dirty="0"/>
          </a:p>
        </p:txBody>
      </p:sp>
      <p:sp>
        <p:nvSpPr>
          <p:cNvPr id="12" name="Shape 10"/>
          <p:cNvSpPr/>
          <p:nvPr/>
        </p:nvSpPr>
        <p:spPr>
          <a:xfrm>
            <a:off x="457200" y="278892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3" name="Shape 11"/>
          <p:cNvSpPr/>
          <p:nvPr/>
        </p:nvSpPr>
        <p:spPr>
          <a:xfrm>
            <a:off x="457200" y="2843784"/>
            <a:ext cx="54864" cy="1170432"/>
          </a:xfrm>
          <a:prstGeom prst="rect">
            <a:avLst/>
          </a:prstGeom>
          <a:solidFill>
            <a:srgbClr val="F5A623"/>
          </a:solidFill>
          <a:ln/>
        </p:spPr>
      </p:sp>
      <p:sp>
        <p:nvSpPr>
          <p:cNvPr id="14" name="Text 12"/>
          <p:cNvSpPr/>
          <p:nvPr/>
        </p:nvSpPr>
        <p:spPr>
          <a:xfrm>
            <a:off x="640080" y="288036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Copy.ai</a:t>
            </a:r>
            <a:endParaRPr lang="en-US" sz="1400" dirty="0"/>
          </a:p>
        </p:txBody>
      </p:sp>
      <p:sp>
        <p:nvSpPr>
          <p:cNvPr id="15" name="Text 13"/>
          <p:cNvSpPr/>
          <p:nvPr/>
        </p:nvSpPr>
        <p:spPr>
          <a:xfrm>
            <a:off x="640080" y="315468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Especializada em marketing, gera textos para anúncios, e-mails e posts de blog.</a:t>
            </a:r>
            <a:endParaRPr lang="en-US" sz="1300" dirty="0"/>
          </a:p>
        </p:txBody>
      </p:sp>
      <p:sp>
        <p:nvSpPr>
          <p:cNvPr id="16" name="Shape 14"/>
          <p:cNvSpPr/>
          <p:nvPr/>
        </p:nvSpPr>
        <p:spPr>
          <a:xfrm>
            <a:off x="4709160" y="278892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7" name="Shape 15"/>
          <p:cNvSpPr/>
          <p:nvPr/>
        </p:nvSpPr>
        <p:spPr>
          <a:xfrm>
            <a:off x="4709160" y="2843784"/>
            <a:ext cx="54864" cy="1170432"/>
          </a:xfrm>
          <a:prstGeom prst="rect">
            <a:avLst/>
          </a:prstGeom>
          <a:solidFill>
            <a:srgbClr val="F5A623"/>
          </a:solidFill>
          <a:ln/>
        </p:spPr>
      </p:sp>
      <p:sp>
        <p:nvSpPr>
          <p:cNvPr id="18" name="Text 16"/>
          <p:cNvSpPr/>
          <p:nvPr/>
        </p:nvSpPr>
        <p:spPr>
          <a:xfrm>
            <a:off x="4892040" y="288036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Jasper</a:t>
            </a:r>
            <a:endParaRPr lang="en-US" sz="1400" dirty="0"/>
          </a:p>
        </p:txBody>
      </p:sp>
      <p:sp>
        <p:nvSpPr>
          <p:cNvPr id="19" name="Text 17"/>
          <p:cNvSpPr/>
          <p:nvPr/>
        </p:nvSpPr>
        <p:spPr>
          <a:xfrm>
            <a:off x="4892040" y="315468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Plataforma robusta para equipes de marketing, otimiza conteúdo para SEO.</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E2761"/>
          </a:solidFill>
          <a:ln/>
        </p:spPr>
      </p:sp>
      <p:sp>
        <p:nvSpPr>
          <p:cNvPr id="3" name="Text 1"/>
          <p:cNvSpPr/>
          <p:nvPr/>
        </p:nvSpPr>
        <p:spPr>
          <a:xfrm>
            <a:off x="457200" y="73152"/>
            <a:ext cx="8229600" cy="905256"/>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3. Ferramentas de Análise de Dados e Visualização Simplificadas</a:t>
            </a:r>
            <a:endParaRPr lang="en-US" sz="2400" dirty="0"/>
          </a:p>
        </p:txBody>
      </p:sp>
      <p:sp>
        <p:nvSpPr>
          <p:cNvPr id="4" name="Shape 2"/>
          <p:cNvSpPr/>
          <p:nvPr/>
        </p:nvSpPr>
        <p:spPr>
          <a:xfrm>
            <a:off x="457200" y="132588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5" name="Shape 3"/>
          <p:cNvSpPr/>
          <p:nvPr/>
        </p:nvSpPr>
        <p:spPr>
          <a:xfrm>
            <a:off x="457200" y="1380744"/>
            <a:ext cx="54864" cy="1170432"/>
          </a:xfrm>
          <a:prstGeom prst="rect">
            <a:avLst/>
          </a:prstGeom>
          <a:solidFill>
            <a:srgbClr val="F5A623"/>
          </a:solidFill>
          <a:ln/>
        </p:spPr>
      </p:sp>
      <p:sp>
        <p:nvSpPr>
          <p:cNvPr id="6" name="Text 4"/>
          <p:cNvSpPr/>
          <p:nvPr/>
        </p:nvSpPr>
        <p:spPr>
          <a:xfrm>
            <a:off x="640080" y="141732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Tableau Public</a:t>
            </a:r>
            <a:endParaRPr lang="en-US" sz="1400" dirty="0"/>
          </a:p>
        </p:txBody>
      </p:sp>
      <p:sp>
        <p:nvSpPr>
          <p:cNvPr id="7" name="Text 5"/>
          <p:cNvSpPr/>
          <p:nvPr/>
        </p:nvSpPr>
        <p:spPr>
          <a:xfrm>
            <a:off x="640080" y="169164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Permite criar visualizações interativas de dados gratuitamente.</a:t>
            </a:r>
            <a:endParaRPr lang="en-US" sz="1300" dirty="0"/>
          </a:p>
        </p:txBody>
      </p:sp>
      <p:sp>
        <p:nvSpPr>
          <p:cNvPr id="8" name="Shape 6"/>
          <p:cNvSpPr/>
          <p:nvPr/>
        </p:nvSpPr>
        <p:spPr>
          <a:xfrm>
            <a:off x="4709160" y="132588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9" name="Shape 7"/>
          <p:cNvSpPr/>
          <p:nvPr/>
        </p:nvSpPr>
        <p:spPr>
          <a:xfrm>
            <a:off x="4709160" y="1380744"/>
            <a:ext cx="54864" cy="1170432"/>
          </a:xfrm>
          <a:prstGeom prst="rect">
            <a:avLst/>
          </a:prstGeom>
          <a:solidFill>
            <a:srgbClr val="F5A623"/>
          </a:solidFill>
          <a:ln/>
        </p:spPr>
      </p:sp>
      <p:sp>
        <p:nvSpPr>
          <p:cNvPr id="10" name="Text 8"/>
          <p:cNvSpPr/>
          <p:nvPr/>
        </p:nvSpPr>
        <p:spPr>
          <a:xfrm>
            <a:off x="4892040" y="141732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Microsoft Power BI</a:t>
            </a:r>
            <a:endParaRPr lang="en-US" sz="1400" dirty="0"/>
          </a:p>
        </p:txBody>
      </p:sp>
      <p:sp>
        <p:nvSpPr>
          <p:cNvPr id="11" name="Text 9"/>
          <p:cNvSpPr/>
          <p:nvPr/>
        </p:nvSpPr>
        <p:spPr>
          <a:xfrm>
            <a:off x="4892040" y="169164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Transforma dados brutos em relatórios e dashboards interativos.</a:t>
            </a:r>
            <a:endParaRPr lang="en-US" sz="1300" dirty="0"/>
          </a:p>
        </p:txBody>
      </p:sp>
      <p:sp>
        <p:nvSpPr>
          <p:cNvPr id="12" name="Shape 10"/>
          <p:cNvSpPr/>
          <p:nvPr/>
        </p:nvSpPr>
        <p:spPr>
          <a:xfrm>
            <a:off x="457200" y="278892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3" name="Shape 11"/>
          <p:cNvSpPr/>
          <p:nvPr/>
        </p:nvSpPr>
        <p:spPr>
          <a:xfrm>
            <a:off x="457200" y="2843784"/>
            <a:ext cx="54864" cy="1170432"/>
          </a:xfrm>
          <a:prstGeom prst="rect">
            <a:avLst/>
          </a:prstGeom>
          <a:solidFill>
            <a:srgbClr val="F5A623"/>
          </a:solidFill>
          <a:ln/>
        </p:spPr>
      </p:sp>
      <p:sp>
        <p:nvSpPr>
          <p:cNvPr id="14" name="Text 12"/>
          <p:cNvSpPr/>
          <p:nvPr/>
        </p:nvSpPr>
        <p:spPr>
          <a:xfrm>
            <a:off x="640080" y="288036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Google Looker Studio</a:t>
            </a:r>
            <a:endParaRPr lang="en-US" sz="1400" dirty="0"/>
          </a:p>
        </p:txBody>
      </p:sp>
      <p:sp>
        <p:nvSpPr>
          <p:cNvPr id="15" name="Text 13"/>
          <p:cNvSpPr/>
          <p:nvPr/>
        </p:nvSpPr>
        <p:spPr>
          <a:xfrm>
            <a:off x="640080" y="315468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Conecta-se a diversas fontes de dados para criar relatórios personalizados.</a:t>
            </a:r>
            <a:endParaRPr lang="en-US" sz="1300" dirty="0"/>
          </a:p>
        </p:txBody>
      </p:sp>
      <p:sp>
        <p:nvSpPr>
          <p:cNvPr id="16" name="Shape 14"/>
          <p:cNvSpPr/>
          <p:nvPr/>
        </p:nvSpPr>
        <p:spPr>
          <a:xfrm>
            <a:off x="4709160" y="2788920"/>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7" name="Shape 15"/>
          <p:cNvSpPr/>
          <p:nvPr/>
        </p:nvSpPr>
        <p:spPr>
          <a:xfrm>
            <a:off x="4709160" y="2843784"/>
            <a:ext cx="54864" cy="1170432"/>
          </a:xfrm>
          <a:prstGeom prst="rect">
            <a:avLst/>
          </a:prstGeom>
          <a:solidFill>
            <a:srgbClr val="F5A623"/>
          </a:solidFill>
          <a:ln/>
        </p:spPr>
      </p:sp>
      <p:sp>
        <p:nvSpPr>
          <p:cNvPr id="18" name="Text 16"/>
          <p:cNvSpPr/>
          <p:nvPr/>
        </p:nvSpPr>
        <p:spPr>
          <a:xfrm>
            <a:off x="4892040" y="2880360"/>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Akkio</a:t>
            </a:r>
            <a:endParaRPr lang="en-US" sz="1400" dirty="0"/>
          </a:p>
        </p:txBody>
      </p:sp>
      <p:sp>
        <p:nvSpPr>
          <p:cNvPr id="19" name="Text 17"/>
          <p:cNvSpPr/>
          <p:nvPr/>
        </p:nvSpPr>
        <p:spPr>
          <a:xfrm>
            <a:off x="4892040" y="3154680"/>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Plataforma No-Code de IA para análise preditiva e automação de dados.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E2761"/>
          </a:solidFill>
          <a:ln/>
        </p:spPr>
      </p:sp>
      <p:sp>
        <p:nvSpPr>
          <p:cNvPr id="3" name="Text 1"/>
          <p:cNvSpPr/>
          <p:nvPr/>
        </p:nvSpPr>
        <p:spPr>
          <a:xfrm>
            <a:off x="457200" y="73152"/>
            <a:ext cx="8229600" cy="905256"/>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4. Ferramentas de Automação de Fluxos de Trabalho (RPA No-Code)</a:t>
            </a:r>
            <a:endParaRPr lang="en-US" sz="2400" dirty="0"/>
          </a:p>
        </p:txBody>
      </p:sp>
      <p:sp>
        <p:nvSpPr>
          <p:cNvPr id="4" name="Text 2"/>
          <p:cNvSpPr/>
          <p:nvPr/>
        </p:nvSpPr>
        <p:spPr>
          <a:xfrm>
            <a:off x="457200" y="1280160"/>
            <a:ext cx="8229600" cy="1975104"/>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Zapier: Conecta e automatiza fluxos de trabalho entre milhares de aplicativos sem código.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Make (Integromat): Plataforma de automação visual para fluxos de trabalho complexos.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Microsoft Power Automate: Automatiza tarefas em aplicativos e serviços da Microsoft e de terceiros.</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982472"/>
          </a:xfrm>
          <a:prstGeom prst="rect">
            <a:avLst/>
          </a:prstGeom>
          <a:solidFill>
            <a:srgbClr val="1E2761"/>
          </a:solidFill>
          <a:ln/>
        </p:spPr>
      </p:sp>
      <p:sp>
        <p:nvSpPr>
          <p:cNvPr id="3" name="Text 1"/>
          <p:cNvSpPr/>
          <p:nvPr/>
        </p:nvSpPr>
        <p:spPr>
          <a:xfrm>
            <a:off x="457200" y="73152"/>
            <a:ext cx="8229600" cy="836168"/>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5. Ferramentas de Reconhecimento de Imagem e Visão Computacional Simplificadas</a:t>
            </a:r>
            <a:endParaRPr lang="en-US" sz="2000" dirty="0"/>
          </a:p>
        </p:txBody>
      </p:sp>
      <p:sp>
        <p:nvSpPr>
          <p:cNvPr id="4" name="Text 2"/>
          <p:cNvSpPr/>
          <p:nvPr/>
        </p:nvSpPr>
        <p:spPr>
          <a:xfrm>
            <a:off x="457200" y="1211072"/>
            <a:ext cx="8229600" cy="1316736"/>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Google Cloud Vision AI: Oferece reconhecimento de objetos, detecção de texto (OCR) e análise.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Clarifai: Plataforma de IA para visão computacional com modelos pré-construídos e personalizáveis.</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Aplicações reais</a:t>
            </a:r>
            <a:endParaRPr lang="en-US" sz="2400" dirty="0"/>
          </a:p>
        </p:txBody>
      </p:sp>
      <p:sp>
        <p:nvSpPr>
          <p:cNvPr id="4" name="Shape 2"/>
          <p:cNvSpPr/>
          <p:nvPr/>
        </p:nvSpPr>
        <p:spPr>
          <a:xfrm>
            <a:off x="45720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5" name="Shape 3"/>
          <p:cNvSpPr/>
          <p:nvPr/>
        </p:nvSpPr>
        <p:spPr>
          <a:xfrm>
            <a:off x="457200" y="1133856"/>
            <a:ext cx="54864" cy="1170432"/>
          </a:xfrm>
          <a:prstGeom prst="rect">
            <a:avLst/>
          </a:prstGeom>
          <a:solidFill>
            <a:srgbClr val="F5A623"/>
          </a:solidFill>
          <a:ln/>
        </p:spPr>
      </p:sp>
      <p:sp>
        <p:nvSpPr>
          <p:cNvPr id="6" name="Text 4"/>
          <p:cNvSpPr/>
          <p:nvPr/>
        </p:nvSpPr>
        <p:spPr>
          <a:xfrm>
            <a:off x="640080" y="1170432"/>
            <a:ext cx="3657600" cy="109728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A IA No-Code já está transformando diversas profissões.</a:t>
            </a:r>
            <a:endParaRPr lang="en-US" sz="1300" dirty="0"/>
          </a:p>
        </p:txBody>
      </p:sp>
      <p:sp>
        <p:nvSpPr>
          <p:cNvPr id="7" name="Shape 5"/>
          <p:cNvSpPr/>
          <p:nvPr/>
        </p:nvSpPr>
        <p:spPr>
          <a:xfrm>
            <a:off x="470916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8" name="Shape 6"/>
          <p:cNvSpPr/>
          <p:nvPr/>
        </p:nvSpPr>
        <p:spPr>
          <a:xfrm>
            <a:off x="4709160" y="1133856"/>
            <a:ext cx="54864" cy="1170432"/>
          </a:xfrm>
          <a:prstGeom prst="rect">
            <a:avLst/>
          </a:prstGeom>
          <a:solidFill>
            <a:srgbClr val="F5A623"/>
          </a:solidFill>
          <a:ln/>
        </p:spPr>
      </p:sp>
      <p:sp>
        <p:nvSpPr>
          <p:cNvPr id="9" name="Text 7"/>
          <p:cNvSpPr/>
          <p:nvPr/>
        </p:nvSpPr>
        <p:spPr>
          <a:xfrm>
            <a:off x="4892040" y="117043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Marketing</a:t>
            </a:r>
            <a:endParaRPr lang="en-US" sz="1400" dirty="0"/>
          </a:p>
        </p:txBody>
      </p:sp>
      <p:sp>
        <p:nvSpPr>
          <p:cNvPr id="10" name="Text 8"/>
          <p:cNvSpPr/>
          <p:nvPr/>
        </p:nvSpPr>
        <p:spPr>
          <a:xfrm>
            <a:off x="4892040" y="144475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Gerar múltiplas versões de títulos para anúncios em segundos com o Copy.ai.</a:t>
            </a:r>
            <a:endParaRPr lang="en-US" sz="1300" dirty="0"/>
          </a:p>
        </p:txBody>
      </p:sp>
      <p:sp>
        <p:nvSpPr>
          <p:cNvPr id="11" name="Shape 9"/>
          <p:cNvSpPr/>
          <p:nvPr/>
        </p:nvSpPr>
        <p:spPr>
          <a:xfrm>
            <a:off x="457200" y="254203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2" name="Shape 10"/>
          <p:cNvSpPr/>
          <p:nvPr/>
        </p:nvSpPr>
        <p:spPr>
          <a:xfrm>
            <a:off x="457200" y="2596896"/>
            <a:ext cx="54864" cy="1170432"/>
          </a:xfrm>
          <a:prstGeom prst="rect">
            <a:avLst/>
          </a:prstGeom>
          <a:solidFill>
            <a:srgbClr val="F5A623"/>
          </a:solidFill>
          <a:ln/>
        </p:spPr>
      </p:sp>
      <p:sp>
        <p:nvSpPr>
          <p:cNvPr id="13" name="Text 11"/>
          <p:cNvSpPr/>
          <p:nvPr/>
        </p:nvSpPr>
        <p:spPr>
          <a:xfrm>
            <a:off x="640080" y="263347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Vendas</a:t>
            </a:r>
            <a:endParaRPr lang="en-US" sz="1400" dirty="0"/>
          </a:p>
        </p:txBody>
      </p:sp>
      <p:sp>
        <p:nvSpPr>
          <p:cNvPr id="14" name="Text 12"/>
          <p:cNvSpPr/>
          <p:nvPr/>
        </p:nvSpPr>
        <p:spPr>
          <a:xfrm>
            <a:off x="640080" y="290779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Utilizar chatbot para qualificar leads 24 horas por dia, agendando reuniões automaticamente.</a:t>
            </a:r>
            <a:endParaRPr lang="en-US" sz="1300" dirty="0"/>
          </a:p>
        </p:txBody>
      </p:sp>
      <p:sp>
        <p:nvSpPr>
          <p:cNvPr id="15" name="Shape 13"/>
          <p:cNvSpPr/>
          <p:nvPr/>
        </p:nvSpPr>
        <p:spPr>
          <a:xfrm>
            <a:off x="4709160" y="254203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6" name="Shape 14"/>
          <p:cNvSpPr/>
          <p:nvPr/>
        </p:nvSpPr>
        <p:spPr>
          <a:xfrm>
            <a:off x="4709160" y="2596896"/>
            <a:ext cx="54864" cy="1170432"/>
          </a:xfrm>
          <a:prstGeom prst="rect">
            <a:avLst/>
          </a:prstGeom>
          <a:solidFill>
            <a:srgbClr val="F5A623"/>
          </a:solidFill>
          <a:ln/>
        </p:spPr>
      </p:sp>
      <p:sp>
        <p:nvSpPr>
          <p:cNvPr id="17" name="Text 15"/>
          <p:cNvSpPr/>
          <p:nvPr/>
        </p:nvSpPr>
        <p:spPr>
          <a:xfrm>
            <a:off x="4892040" y="263347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Recursos Humanos</a:t>
            </a:r>
            <a:endParaRPr lang="en-US" sz="1400" dirty="0"/>
          </a:p>
        </p:txBody>
      </p:sp>
      <p:sp>
        <p:nvSpPr>
          <p:cNvPr id="18" name="Text 16"/>
          <p:cNvSpPr/>
          <p:nvPr/>
        </p:nvSpPr>
        <p:spPr>
          <a:xfrm>
            <a:off x="4892040" y="290779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Automatizar o envio de e-mails de boas-vindas para novos funcionários com o Zapier.</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Aplicações reais</a:t>
            </a:r>
            <a:endParaRPr lang="en-US" sz="2400" dirty="0"/>
          </a:p>
        </p:txBody>
      </p:sp>
      <p:sp>
        <p:nvSpPr>
          <p:cNvPr id="4" name="Text 2"/>
          <p:cNvSpPr/>
          <p:nvPr/>
        </p:nvSpPr>
        <p:spPr>
          <a:xfrm>
            <a:off x="457200" y="1033272"/>
            <a:ext cx="8229600" cy="1975104"/>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Atendimento ao Cliente: Implementar assistente virtual para responder perguntas frequentes com o Botsify.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Gestão de Projetos: Conectar planilhas de tarefas com ferramentas de comunicação via Make.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Educação: Criar resumos de artigos científicos ou material didático rapidamente com o ChatGPT.</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Desafios e cuidados (Parte 1)</a:t>
            </a:r>
            <a:endParaRPr lang="en-US" sz="2400" dirty="0"/>
          </a:p>
        </p:txBody>
      </p:sp>
      <p:sp>
        <p:nvSpPr>
          <p:cNvPr id="4" name="Shape 2"/>
          <p:cNvSpPr/>
          <p:nvPr/>
        </p:nvSpPr>
        <p:spPr>
          <a:xfrm>
            <a:off x="45720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5" name="Shape 3"/>
          <p:cNvSpPr/>
          <p:nvPr/>
        </p:nvSpPr>
        <p:spPr>
          <a:xfrm>
            <a:off x="457200" y="1133856"/>
            <a:ext cx="54864" cy="1170432"/>
          </a:xfrm>
          <a:prstGeom prst="rect">
            <a:avLst/>
          </a:prstGeom>
          <a:solidFill>
            <a:srgbClr val="F5A623"/>
          </a:solidFill>
          <a:ln/>
        </p:spPr>
      </p:sp>
      <p:sp>
        <p:nvSpPr>
          <p:cNvPr id="6" name="Text 4"/>
          <p:cNvSpPr/>
          <p:nvPr/>
        </p:nvSpPr>
        <p:spPr>
          <a:xfrm>
            <a:off x="640080" y="1170432"/>
            <a:ext cx="3657600" cy="109728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A integração da IA requer atenção para evitar armadilhas.</a:t>
            </a:r>
            <a:endParaRPr lang="en-US" sz="1300" dirty="0"/>
          </a:p>
        </p:txBody>
      </p:sp>
      <p:sp>
        <p:nvSpPr>
          <p:cNvPr id="7" name="Shape 5"/>
          <p:cNvSpPr/>
          <p:nvPr/>
        </p:nvSpPr>
        <p:spPr>
          <a:xfrm>
            <a:off x="470916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8" name="Shape 6"/>
          <p:cNvSpPr/>
          <p:nvPr/>
        </p:nvSpPr>
        <p:spPr>
          <a:xfrm>
            <a:off x="4709160" y="1133856"/>
            <a:ext cx="54864" cy="1170432"/>
          </a:xfrm>
          <a:prstGeom prst="rect">
            <a:avLst/>
          </a:prstGeom>
          <a:solidFill>
            <a:srgbClr val="F5A623"/>
          </a:solidFill>
          <a:ln/>
        </p:spPr>
      </p:sp>
      <p:sp>
        <p:nvSpPr>
          <p:cNvPr id="9" name="Text 7"/>
          <p:cNvSpPr/>
          <p:nvPr/>
        </p:nvSpPr>
        <p:spPr>
          <a:xfrm>
            <a:off x="4892040" y="117043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Identifique Tarefas Repetitivas</a:t>
            </a:r>
            <a:endParaRPr lang="en-US" sz="1400" dirty="0"/>
          </a:p>
        </p:txBody>
      </p:sp>
      <p:sp>
        <p:nvSpPr>
          <p:cNvPr id="10" name="Text 8"/>
          <p:cNvSpPr/>
          <p:nvPr/>
        </p:nvSpPr>
        <p:spPr>
          <a:xfrm>
            <a:off x="4892040" y="144475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Liste atividades que consomem tempo e são padronizadas.</a:t>
            </a:r>
            <a:endParaRPr lang="en-US" sz="1300" dirty="0"/>
          </a:p>
        </p:txBody>
      </p:sp>
      <p:sp>
        <p:nvSpPr>
          <p:cNvPr id="11" name="Shape 9"/>
          <p:cNvSpPr/>
          <p:nvPr/>
        </p:nvSpPr>
        <p:spPr>
          <a:xfrm>
            <a:off x="457200" y="254203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2" name="Shape 10"/>
          <p:cNvSpPr/>
          <p:nvPr/>
        </p:nvSpPr>
        <p:spPr>
          <a:xfrm>
            <a:off x="457200" y="2596896"/>
            <a:ext cx="54864" cy="1170432"/>
          </a:xfrm>
          <a:prstGeom prst="rect">
            <a:avLst/>
          </a:prstGeom>
          <a:solidFill>
            <a:srgbClr val="F5A623"/>
          </a:solidFill>
          <a:ln/>
        </p:spPr>
      </p:sp>
      <p:sp>
        <p:nvSpPr>
          <p:cNvPr id="13" name="Text 11"/>
          <p:cNvSpPr/>
          <p:nvPr/>
        </p:nvSpPr>
        <p:spPr>
          <a:xfrm>
            <a:off x="640080" y="263347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Escolha a Ferramenta Certa</a:t>
            </a:r>
            <a:endParaRPr lang="en-US" sz="1400" dirty="0"/>
          </a:p>
        </p:txBody>
      </p:sp>
      <p:sp>
        <p:nvSpPr>
          <p:cNvPr id="14" name="Text 12"/>
          <p:cNvSpPr/>
          <p:nvPr/>
        </p:nvSpPr>
        <p:spPr>
          <a:xfrm>
            <a:off x="640080" y="290779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Pesquise ferramentas No-Code que se encaixam nas suas necessidades.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Desafios e cuidados (Parte 2)</a:t>
            </a:r>
            <a:endParaRPr lang="en-US" sz="2400" dirty="0"/>
          </a:p>
        </p:txBody>
      </p:sp>
      <p:sp>
        <p:nvSpPr>
          <p:cNvPr id="4" name="Shape 2"/>
          <p:cNvSpPr/>
          <p:nvPr/>
        </p:nvSpPr>
        <p:spPr>
          <a:xfrm>
            <a:off x="45720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5" name="Shape 3"/>
          <p:cNvSpPr/>
          <p:nvPr/>
        </p:nvSpPr>
        <p:spPr>
          <a:xfrm>
            <a:off x="457200" y="1133856"/>
            <a:ext cx="54864" cy="1170432"/>
          </a:xfrm>
          <a:prstGeom prst="rect">
            <a:avLst/>
          </a:prstGeom>
          <a:solidFill>
            <a:srgbClr val="F5A623"/>
          </a:solidFill>
          <a:ln/>
        </p:spPr>
      </p:sp>
      <p:sp>
        <p:nvSpPr>
          <p:cNvPr id="6" name="Text 4"/>
          <p:cNvSpPr/>
          <p:nvPr/>
        </p:nvSpPr>
        <p:spPr>
          <a:xfrm>
            <a:off x="640080" y="117043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Comece Pequeno</a:t>
            </a:r>
            <a:endParaRPr lang="en-US" sz="1400" dirty="0"/>
          </a:p>
        </p:txBody>
      </p:sp>
      <p:sp>
        <p:nvSpPr>
          <p:cNvPr id="7" name="Text 5"/>
          <p:cNvSpPr/>
          <p:nvPr/>
        </p:nvSpPr>
        <p:spPr>
          <a:xfrm>
            <a:off x="640080" y="144475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Implemente a IA em um processo pequeno e de baixo risco, monitorando resultados.</a:t>
            </a:r>
            <a:endParaRPr lang="en-US" sz="1300" dirty="0"/>
          </a:p>
        </p:txBody>
      </p:sp>
      <p:sp>
        <p:nvSpPr>
          <p:cNvPr id="8" name="Shape 6"/>
          <p:cNvSpPr/>
          <p:nvPr/>
        </p:nvSpPr>
        <p:spPr>
          <a:xfrm>
            <a:off x="470916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9" name="Shape 7"/>
          <p:cNvSpPr/>
          <p:nvPr/>
        </p:nvSpPr>
        <p:spPr>
          <a:xfrm>
            <a:off x="4709160" y="1133856"/>
            <a:ext cx="54864" cy="1170432"/>
          </a:xfrm>
          <a:prstGeom prst="rect">
            <a:avLst/>
          </a:prstGeom>
          <a:solidFill>
            <a:srgbClr val="F5A623"/>
          </a:solidFill>
          <a:ln/>
        </p:spPr>
      </p:sp>
      <p:sp>
        <p:nvSpPr>
          <p:cNvPr id="10" name="Text 8"/>
          <p:cNvSpPr/>
          <p:nvPr/>
        </p:nvSpPr>
        <p:spPr>
          <a:xfrm>
            <a:off x="4892040" y="117043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Capacitação Contínua</a:t>
            </a:r>
            <a:endParaRPr lang="en-US" sz="1400" dirty="0"/>
          </a:p>
        </p:txBody>
      </p:sp>
      <p:sp>
        <p:nvSpPr>
          <p:cNvPr id="11" name="Text 9"/>
          <p:cNvSpPr/>
          <p:nvPr/>
        </p:nvSpPr>
        <p:spPr>
          <a:xfrm>
            <a:off x="4892040" y="144475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Mantenha-se atualizado sobre novas ferramentas e funcionalidades de IA.</a:t>
            </a:r>
            <a:endParaRPr lang="en-US" sz="1300" dirty="0"/>
          </a:p>
        </p:txBody>
      </p:sp>
      <p:sp>
        <p:nvSpPr>
          <p:cNvPr id="12" name="Shape 10"/>
          <p:cNvSpPr/>
          <p:nvPr/>
        </p:nvSpPr>
        <p:spPr>
          <a:xfrm>
            <a:off x="457200" y="254203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3" name="Shape 11"/>
          <p:cNvSpPr/>
          <p:nvPr/>
        </p:nvSpPr>
        <p:spPr>
          <a:xfrm>
            <a:off x="457200" y="2596896"/>
            <a:ext cx="54864" cy="1170432"/>
          </a:xfrm>
          <a:prstGeom prst="rect">
            <a:avLst/>
          </a:prstGeom>
          <a:solidFill>
            <a:srgbClr val="F5A623"/>
          </a:solidFill>
          <a:ln/>
        </p:spPr>
      </p:sp>
      <p:sp>
        <p:nvSpPr>
          <p:cNvPr id="14" name="Text 12"/>
          <p:cNvSpPr/>
          <p:nvPr/>
        </p:nvSpPr>
        <p:spPr>
          <a:xfrm>
            <a:off x="640080" y="263347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Pare um momento e reflita</a:t>
            </a:r>
            <a:endParaRPr lang="en-US" sz="1400" dirty="0"/>
          </a:p>
        </p:txBody>
      </p:sp>
      <p:sp>
        <p:nvSpPr>
          <p:cNvPr id="15" name="Text 13"/>
          <p:cNvSpPr/>
          <p:nvPr/>
        </p:nvSpPr>
        <p:spPr>
          <a:xfrm>
            <a:off x="640080" y="290779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Quais tarefas do seu dia a dia profissional poderiam ser otimizadas ou automatizadas com o uso de uma ferramenta de IA sem código?</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p:spPr>
      </p:sp>
      <p:sp>
        <p:nvSpPr>
          <p:cNvPr id="3" name="Text 1"/>
          <p:cNvSpPr/>
          <p:nvPr/>
        </p:nvSpPr>
        <p:spPr>
          <a:xfrm>
            <a:off x="457200" y="274320"/>
            <a:ext cx="1828800" cy="365760"/>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RESUMO</a:t>
            </a:r>
            <a:endParaRPr lang="en-US" sz="1300" dirty="0"/>
          </a:p>
        </p:txBody>
      </p:sp>
      <p:sp>
        <p:nvSpPr>
          <p:cNvPr id="4" name="Text 2"/>
          <p:cNvSpPr/>
          <p:nvPr/>
        </p:nvSpPr>
        <p:spPr>
          <a:xfrm>
            <a:off x="457200" y="640080"/>
            <a:ext cx="8156448" cy="944880"/>
          </a:xfrm>
          <a:prstGeom prst="rect">
            <a:avLst/>
          </a:prstGeom>
          <a:noFill/>
          <a:ln/>
        </p:spPr>
        <p:txBody>
          <a:bodyPr wrap="square"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Módulo 2: Ferramentas de IA Acessíveis e Sem Código para o Dia a Dia Profissional (Parte 1)</a:t>
            </a:r>
            <a:endParaRPr lang="en-US" sz="2400" dirty="0"/>
          </a:p>
        </p:txBody>
      </p:sp>
      <p:sp>
        <p:nvSpPr>
          <p:cNvPr id="5" name="Text 3"/>
          <p:cNvSpPr/>
          <p:nvPr/>
        </p:nvSpPr>
        <p:spPr>
          <a:xfrm>
            <a:off x="457200" y="1722120"/>
            <a:ext cx="8156448" cy="2615184"/>
          </a:xfrm>
          <a:prstGeom prst="rect">
            <a:avLst/>
          </a:prstGeom>
          <a:noFill/>
          <a:ln/>
        </p:spPr>
        <p:txBody>
          <a:bodyPr wrap="square" rtlCol="0" anchor="t"/>
          <a:lstStyle/>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Este módulo explorou as ferramentas de IA acessíveis e sem código, demonstrando como elas democratizam o acesso à inteligência artificial.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Abordamos as diferentes categorias de ferramentas e suas aplicações práticas no ambiente profissional.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IA sem a necessidade de programação capacita profissionais a otimizar processos, gerar conteúdo, analisar dados e automatizar tarefas, transformando o dia a dia de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forma eficiente e estratégica.</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p:spPr>
      </p:sp>
      <p:sp>
        <p:nvSpPr>
          <p:cNvPr id="3" name="Text 1"/>
          <p:cNvSpPr/>
          <p:nvPr/>
        </p:nvSpPr>
        <p:spPr>
          <a:xfrm>
            <a:off x="457200" y="274320"/>
            <a:ext cx="1828800" cy="365760"/>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RESUMO</a:t>
            </a:r>
            <a:endParaRPr lang="en-US" sz="1300" dirty="0"/>
          </a:p>
        </p:txBody>
      </p:sp>
      <p:sp>
        <p:nvSpPr>
          <p:cNvPr id="4" name="Text 2"/>
          <p:cNvSpPr/>
          <p:nvPr/>
        </p:nvSpPr>
        <p:spPr>
          <a:xfrm>
            <a:off x="457200" y="640080"/>
            <a:ext cx="8156448" cy="944880"/>
          </a:xfrm>
          <a:prstGeom prst="rect">
            <a:avLst/>
          </a:prstGeom>
          <a:noFill/>
          <a:ln/>
        </p:spPr>
        <p:txBody>
          <a:bodyPr wrap="square"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Módulo 2: Ferramentas de IA Acessíveis e Sem Código para o Dia a Dia Profissional (Parte 2)</a:t>
            </a:r>
            <a:endParaRPr lang="en-US" sz="2400" dirty="0"/>
          </a:p>
        </p:txBody>
      </p:sp>
      <p:sp>
        <p:nvSpPr>
          <p:cNvPr id="5" name="Text 3"/>
          <p:cNvSpPr/>
          <p:nvPr/>
        </p:nvSpPr>
        <p:spPr>
          <a:xfrm>
            <a:off x="457200" y="1722120"/>
            <a:ext cx="8156448" cy="2633472"/>
          </a:xfrm>
          <a:prstGeom prst="rect">
            <a:avLst/>
          </a:prstGeom>
          <a:noFill/>
          <a:ln/>
        </p:spPr>
        <p:txBody>
          <a:bodyPr wrap="square" rtlCol="0" anchor="t"/>
          <a:lstStyle/>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Inteligência Artificial acessível democratiza o uso da IA para todos os profissionais.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Ferramentas No-Code eliminam a necessidade de conhecimentos de programação, facilitando a adoção.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Assistentes virtuais e chatbots aprimoram o atendimento e a comunicação interna nas empresas.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Ferramentas de automação de texto agilizam a criação de conteúdo e a comunicação escrita.</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p:spPr>
      </p:sp>
      <p:sp>
        <p:nvSpPr>
          <p:cNvPr id="3" name="Text 1"/>
          <p:cNvSpPr/>
          <p:nvPr/>
        </p:nvSpPr>
        <p:spPr>
          <a:xfrm>
            <a:off x="457200" y="274320"/>
            <a:ext cx="1828800" cy="365760"/>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RESUMO</a:t>
            </a:r>
            <a:endParaRPr lang="en-US" sz="1300" dirty="0"/>
          </a:p>
        </p:txBody>
      </p:sp>
      <p:sp>
        <p:nvSpPr>
          <p:cNvPr id="4" name="Text 2"/>
          <p:cNvSpPr/>
          <p:nvPr/>
        </p:nvSpPr>
        <p:spPr>
          <a:xfrm>
            <a:off x="457200" y="640080"/>
            <a:ext cx="8156448" cy="944880"/>
          </a:xfrm>
          <a:prstGeom prst="rect">
            <a:avLst/>
          </a:prstGeom>
          <a:noFill/>
          <a:ln/>
        </p:spPr>
        <p:txBody>
          <a:bodyPr wrap="square"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Módulo 2: Ferramentas de IA Acessíveis e Sem Código para o Dia a Dia Profissional (Parte 3)</a:t>
            </a:r>
            <a:endParaRPr lang="en-US" sz="2400" dirty="0"/>
          </a:p>
        </p:txBody>
      </p:sp>
      <p:sp>
        <p:nvSpPr>
          <p:cNvPr id="5" name="Text 3"/>
          <p:cNvSpPr/>
          <p:nvPr/>
        </p:nvSpPr>
        <p:spPr>
          <a:xfrm>
            <a:off x="457200" y="1722120"/>
            <a:ext cx="8156448" cy="658368"/>
          </a:xfrm>
          <a:prstGeom prst="rect">
            <a:avLst/>
          </a:prstGeom>
          <a:noFill/>
          <a:ln/>
        </p:spPr>
        <p:txBody>
          <a:bodyPr wrap="square" rtlCol="0" anchor="t"/>
          <a:lstStyle/>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análise de dados simplificada permite insights valiosos para tomada de decisões estratégicas.</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457200" y="320040"/>
            <a:ext cx="1463040" cy="347472"/>
          </a:xfrm>
          <a:prstGeom prst="roundRect">
            <a:avLst>
              <a:gd name="adj" fmla="val 21053"/>
            </a:avLst>
          </a:prstGeom>
          <a:solidFill>
            <a:srgbClr val="F5A623"/>
          </a:solidFill>
          <a:ln/>
        </p:spPr>
      </p:sp>
      <p:sp>
        <p:nvSpPr>
          <p:cNvPr id="3" name="Text 1"/>
          <p:cNvSpPr/>
          <p:nvPr/>
        </p:nvSpPr>
        <p:spPr>
          <a:xfrm>
            <a:off x="457200" y="320040"/>
            <a:ext cx="1463040" cy="347472"/>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MÓDULO 3</a:t>
            </a:r>
            <a:endParaRPr lang="en-US" sz="1300" dirty="0"/>
          </a:p>
        </p:txBody>
      </p:sp>
      <p:sp>
        <p:nvSpPr>
          <p:cNvPr id="4" name="Text 2"/>
          <p:cNvSpPr/>
          <p:nvPr/>
        </p:nvSpPr>
        <p:spPr>
          <a:xfrm>
            <a:off x="457200" y="822960"/>
            <a:ext cx="8229600" cy="1198880"/>
          </a:xfrm>
          <a:prstGeom prst="rect">
            <a:avLst/>
          </a:prstGeom>
          <a:noFill/>
          <a:ln/>
        </p:spPr>
        <p:txBody>
          <a:bodyPr wrap="square"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Módulo 3: IA para Análise de Dados e Geração de Insights Estratégicos</a:t>
            </a:r>
            <a:endParaRPr lang="en-US" sz="3200" dirty="0"/>
          </a:p>
        </p:txBody>
      </p:sp>
      <p:sp>
        <p:nvSpPr>
          <p:cNvPr id="5" name="Text 3"/>
          <p:cNvSpPr/>
          <p:nvPr/>
        </p:nvSpPr>
        <p:spPr>
          <a:xfrm>
            <a:off x="457200" y="2159000"/>
            <a:ext cx="2743200" cy="274320"/>
          </a:xfrm>
          <a:prstGeom prst="rect">
            <a:avLst/>
          </a:prstGeom>
          <a:noFill/>
          <a:ln/>
        </p:spPr>
        <p:txBody>
          <a:bodyPr wrap="square" rtlCol="0" anchor="ctr"/>
          <a:lstStyle/>
          <a:p>
            <a:pPr indent="0" marL="0">
              <a:buNone/>
            </a:pPr>
            <a:r>
              <a:rPr lang="en-US" sz="1400" b="1" dirty="0">
                <a:solidFill>
                  <a:srgbClr val="F5A623"/>
                </a:solidFill>
                <a:latin typeface="Calibri" pitchFamily="34" charset="0"/>
                <a:ea typeface="Calibri" pitchFamily="34" charset="-122"/>
                <a:cs typeface="Calibri" pitchFamily="34" charset="-120"/>
              </a:rPr>
              <a:t>Objetivos</a:t>
            </a:r>
            <a:endParaRPr lang="en-US" sz="1400" dirty="0"/>
          </a:p>
        </p:txBody>
      </p:sp>
      <p:sp>
        <p:nvSpPr>
          <p:cNvPr id="6" name="Text 4"/>
          <p:cNvSpPr/>
          <p:nvPr/>
        </p:nvSpPr>
        <p:spPr>
          <a:xfrm>
            <a:off x="457200" y="2488184"/>
            <a:ext cx="8229600" cy="1292352"/>
          </a:xfrm>
          <a:prstGeom prst="rect">
            <a:avLst/>
          </a:prstGeom>
          <a:noFill/>
          <a:ln/>
        </p:spPr>
        <p:txBody>
          <a:bodyPr wrap="square" rtlCol="0" anchor="t"/>
          <a:lstStyle/>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Entender como a Inteligência Artificial revoluciona a análise de dados.
</a:t>
            </a:r>
            <a:endParaRPr lang="en-US" sz="1400" dirty="0"/>
          </a:p>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Desenvolver a capacidade de extrair insights valiosos e identificar tendências ocultas com IA.
</a:t>
            </a:r>
            <a:endParaRPr lang="en-US" sz="1400" dirty="0"/>
          </a:p>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Aplicar o conhecimento para embasar decisões estratégicas com precisão e agilidade.</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Como funciona</a:t>
            </a:r>
            <a:endParaRPr lang="en-US" sz="2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Como funciona</a:t>
            </a:r>
            <a:endParaRPr lang="en-US" sz="2400" dirty="0"/>
          </a:p>
        </p:txBody>
      </p:sp>
      <p:sp>
        <p:nvSpPr>
          <p:cNvPr id="4" name="Text 2"/>
          <p:cNvSpPr/>
          <p:nvPr/>
        </p:nvSpPr>
        <p:spPr>
          <a:xfrm>
            <a:off x="457200" y="1033272"/>
            <a:ext cx="8229600" cy="3511296"/>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Profissionais podem focar no "porquê" e no "como" usar a informação.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capacidade da IA de processar grandes volumes de dados (Big Data) em tempo recorde é um diferencial.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 identifica correlações, tendências e relações que escapariam à análise humana ou a softwares simples.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Isso permite a descoberta de insights valiosos de dados aparentemente desconectados.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varre petabytes de dados em busca de informações relevantes.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 descobre correlações não óbvias entre variáveis diversas.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Economiza tempo e recursos pela automação da análise.</a:t>
            </a:r>
            <a:endParaRPr lang="en-US" sz="15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Modelos / Tipos</a:t>
            </a:r>
            <a:endParaRPr lang="en-US" sz="24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7200" y="987552"/>
          <a:ext cx="8229600" cy="3881628"/>
        </p:xfrm>
        <a:graphic>
          <a:graphicData uri="http://schemas.openxmlformats.org/drawingml/2006/table">
            <a:tbl>
              <a:tblPr/>
              <a:tblGrid>
                <a:gridCol w="2743200"/>
                <a:gridCol w="2743200"/>
                <a:gridCol w="2743200"/>
              </a:tblGrid>
              <a:tr h="502920">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Aspecto</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Ferramenta</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Foco Principal</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r>
              <a:tr h="502920">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Visualização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Tableau</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Dashboards interativos e insights com IA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502920">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Conectividade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Microsoft Power BI</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Conexão com diversas fontes, ML</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r h="502920">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Relatórios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Google Looker Studio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Relatórios e painéis intuitivos e gratuitos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502920">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Self-Service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Qlik Sense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Análises self-service e associações inteligentes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r h="502920">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Nuvem</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SAP Analytics Cloud</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BI, planejamento e análises preditivas na nuvem</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Exemplo prático</a:t>
            </a:r>
            <a:endParaRPr lang="en-US" sz="2400" dirty="0"/>
          </a:p>
        </p:txBody>
      </p:sp>
      <p:sp>
        <p:nvSpPr>
          <p:cNvPr id="4" name="Text 2"/>
          <p:cNvSpPr/>
          <p:nvPr/>
        </p:nvSpPr>
        <p:spPr>
          <a:xfrm>
            <a:off x="457200" y="1033272"/>
            <a:ext cx="8229600" cy="2615184"/>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Imagine uma empresa de e-commerce que usa IA para analisar o histórico de compras de seus clientes.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identifica padrões de comportamento e recomenda produtos personalizados, aumentando as chances de compra.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 processa milhões de transações rapidamente e sugere itens relevantes.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Pare um momento e reflita: Como a automação da análise de dados por IA poderia otimizar as decisões estratégicas em sua própria área de atuação, transformando a forma como você aborda os desafios?</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Aplicações reais</a:t>
            </a:r>
            <a:endParaRPr lang="en-US" sz="2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Aplicações reais</a:t>
            </a:r>
            <a:endParaRPr lang="en-US"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Desafios e cuidados</a:t>
            </a:r>
            <a:endParaRPr lang="en-US" sz="2400" dirty="0"/>
          </a:p>
        </p:txBody>
      </p:sp>
      <p:sp>
        <p:nvSpPr>
          <p:cNvPr id="4" name="Text 2"/>
          <p:cNvSpPr/>
          <p:nvPr/>
        </p:nvSpPr>
        <p:spPr>
          <a:xfrm>
            <a:off x="457200" y="1033272"/>
            <a:ext cx="8229600" cy="310896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É fundamental garantir a qualidade dos dados alimentados aos sistemas de IA. Dados incorretos ou viesados podem levar a insights distorcidos e decisões errôneas.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interpretação humana dos resultados da IA continua sendo crucial para um uso eficaz e ético.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privacidade dos dados é uma preocupação ética fundamental na análise por IA.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É essencial compreender as limitações dos modelos preditivos.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Evitar a dependência excessiva da IA sem validação humana é importante.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transparência sobre como a IA chega a certas conclusões ainda é um desafio.</a:t>
            </a:r>
            <a:endParaRPr lang="en-US" sz="15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p:spPr>
      </p:sp>
      <p:sp>
        <p:nvSpPr>
          <p:cNvPr id="3" name="Text 1"/>
          <p:cNvSpPr/>
          <p:nvPr/>
        </p:nvSpPr>
        <p:spPr>
          <a:xfrm>
            <a:off x="457200" y="274320"/>
            <a:ext cx="1828800" cy="365760"/>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RESUMO</a:t>
            </a:r>
            <a:endParaRPr lang="en-US" sz="1300" dirty="0"/>
          </a:p>
        </p:txBody>
      </p:sp>
      <p:sp>
        <p:nvSpPr>
          <p:cNvPr id="4" name="Text 2"/>
          <p:cNvSpPr/>
          <p:nvPr/>
        </p:nvSpPr>
        <p:spPr>
          <a:xfrm>
            <a:off x="457200" y="640080"/>
            <a:ext cx="8156448" cy="944880"/>
          </a:xfrm>
          <a:prstGeom prst="rect">
            <a:avLst/>
          </a:prstGeom>
          <a:noFill/>
          <a:ln/>
        </p:spPr>
        <p:txBody>
          <a:bodyPr wrap="square"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Módulo 3: IA para Análise de Dados e Geração de Insights Estratégicos (Parte 1)</a:t>
            </a:r>
            <a:endParaRPr lang="en-US" sz="2400" dirty="0"/>
          </a:p>
        </p:txBody>
      </p:sp>
      <p:sp>
        <p:nvSpPr>
          <p:cNvPr id="5" name="Text 3"/>
          <p:cNvSpPr/>
          <p:nvPr/>
        </p:nvSpPr>
        <p:spPr>
          <a:xfrm>
            <a:off x="457200" y="1722120"/>
            <a:ext cx="8156448" cy="2359152"/>
          </a:xfrm>
          <a:prstGeom prst="rect">
            <a:avLst/>
          </a:prstGeom>
          <a:noFill/>
          <a:ln/>
        </p:spPr>
        <p:txBody>
          <a:bodyPr wrap="square" rtlCol="0" anchor="t"/>
          <a:lstStyle/>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Inteligência Artificial revoluciona a análise de dados, tornando-a acessível a profissionais não técnicos por meio de ferramentas intuitivas.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Ela permite a extração de insights valiosos, identificação de tendências ocultas e previsão de resultados futuros.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Isso capacita a tomada de decisões estratégicas mais rápidas e precisas, transformando dados brutos em conhecimento acionável.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IA democratiza a análise de dados para profissionais não técnicos.</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p:spPr>
      </p:sp>
      <p:sp>
        <p:nvSpPr>
          <p:cNvPr id="3" name="Text 1"/>
          <p:cNvSpPr/>
          <p:nvPr/>
        </p:nvSpPr>
        <p:spPr>
          <a:xfrm>
            <a:off x="457200" y="274320"/>
            <a:ext cx="1828800" cy="365760"/>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RESUMO</a:t>
            </a:r>
            <a:endParaRPr lang="en-US" sz="1300" dirty="0"/>
          </a:p>
        </p:txBody>
      </p:sp>
      <p:sp>
        <p:nvSpPr>
          <p:cNvPr id="4" name="Text 2"/>
          <p:cNvSpPr/>
          <p:nvPr/>
        </p:nvSpPr>
        <p:spPr>
          <a:xfrm>
            <a:off x="457200" y="640080"/>
            <a:ext cx="8156448" cy="944880"/>
          </a:xfrm>
          <a:prstGeom prst="rect">
            <a:avLst/>
          </a:prstGeom>
          <a:noFill/>
          <a:ln/>
        </p:spPr>
        <p:txBody>
          <a:bodyPr wrap="square"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Módulo 3: IA para Análise de Dados e Geração de Insights Estratégicos (Parte 2)</a:t>
            </a:r>
            <a:endParaRPr lang="en-US" sz="2400" dirty="0"/>
          </a:p>
        </p:txBody>
      </p:sp>
      <p:sp>
        <p:nvSpPr>
          <p:cNvPr id="5" name="Text 3"/>
          <p:cNvSpPr/>
          <p:nvPr/>
        </p:nvSpPr>
        <p:spPr>
          <a:xfrm>
            <a:off x="457200" y="1722120"/>
            <a:ext cx="8156448" cy="1810512"/>
          </a:xfrm>
          <a:prstGeom prst="rect">
            <a:avLst/>
          </a:prstGeom>
          <a:noFill/>
          <a:ln/>
        </p:spPr>
        <p:txBody>
          <a:bodyPr wrap="square" rtlCol="0" anchor="t"/>
          <a:lstStyle/>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Profissionais não técnicos podem extrair insights valiosos de grandes volumes de dados.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IA identifica tendências e padrões ocultos não visíveis manualmente.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capacidade preditiva da IA permite antecipar resultados proativamente.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Insights embasados por IA elevam a precisão nas decisões estratégicas.</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457200" y="320040"/>
            <a:ext cx="1463040" cy="347472"/>
          </a:xfrm>
          <a:prstGeom prst="roundRect">
            <a:avLst>
              <a:gd name="adj" fmla="val 21053"/>
            </a:avLst>
          </a:prstGeom>
          <a:solidFill>
            <a:srgbClr val="F5A623"/>
          </a:solidFill>
          <a:ln/>
        </p:spPr>
      </p:sp>
      <p:sp>
        <p:nvSpPr>
          <p:cNvPr id="3" name="Text 1"/>
          <p:cNvSpPr/>
          <p:nvPr/>
        </p:nvSpPr>
        <p:spPr>
          <a:xfrm>
            <a:off x="457200" y="320040"/>
            <a:ext cx="1463040" cy="347472"/>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MÓDULO 4</a:t>
            </a:r>
            <a:endParaRPr lang="en-US" sz="1300" dirty="0"/>
          </a:p>
        </p:txBody>
      </p:sp>
      <p:sp>
        <p:nvSpPr>
          <p:cNvPr id="4" name="Text 2"/>
          <p:cNvSpPr/>
          <p:nvPr/>
        </p:nvSpPr>
        <p:spPr>
          <a:xfrm>
            <a:off x="457200" y="822960"/>
            <a:ext cx="8229600" cy="1198880"/>
          </a:xfrm>
          <a:prstGeom prst="rect">
            <a:avLst/>
          </a:prstGeom>
          <a:noFill/>
          <a:ln/>
        </p:spPr>
        <p:txBody>
          <a:bodyPr wrap="square"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Módulo 4: IA e a Otimização da Experiência do Cliente e do Engajamento</a:t>
            </a:r>
            <a:endParaRPr lang="en-US" sz="3200" dirty="0"/>
          </a:p>
        </p:txBody>
      </p:sp>
      <p:sp>
        <p:nvSpPr>
          <p:cNvPr id="5" name="Text 3"/>
          <p:cNvSpPr/>
          <p:nvPr/>
        </p:nvSpPr>
        <p:spPr>
          <a:xfrm>
            <a:off x="457200" y="2159000"/>
            <a:ext cx="2743200" cy="274320"/>
          </a:xfrm>
          <a:prstGeom prst="rect">
            <a:avLst/>
          </a:prstGeom>
          <a:noFill/>
          <a:ln/>
        </p:spPr>
        <p:txBody>
          <a:bodyPr wrap="square" rtlCol="0" anchor="ctr"/>
          <a:lstStyle/>
          <a:p>
            <a:pPr indent="0" marL="0">
              <a:buNone/>
            </a:pPr>
            <a:r>
              <a:rPr lang="en-US" sz="1400" b="1" dirty="0">
                <a:solidFill>
                  <a:srgbClr val="F5A623"/>
                </a:solidFill>
                <a:latin typeface="Calibri" pitchFamily="34" charset="0"/>
                <a:ea typeface="Calibri" pitchFamily="34" charset="-122"/>
                <a:cs typeface="Calibri" pitchFamily="34" charset="-120"/>
              </a:rPr>
              <a:t>Objetivos</a:t>
            </a:r>
            <a:endParaRPr lang="en-US" sz="1400" dirty="0"/>
          </a:p>
        </p:txBody>
      </p:sp>
      <p:sp>
        <p:nvSpPr>
          <p:cNvPr id="6" name="Text 4"/>
          <p:cNvSpPr/>
          <p:nvPr/>
        </p:nvSpPr>
        <p:spPr>
          <a:xfrm>
            <a:off x="457200" y="2488184"/>
            <a:ext cx="8229600" cy="1505712"/>
          </a:xfrm>
          <a:prstGeom prst="rect">
            <a:avLst/>
          </a:prstGeom>
          <a:noFill/>
          <a:ln/>
        </p:spPr>
        <p:txBody>
          <a:bodyPr wrap="square" rtlCol="0" anchor="t"/>
          <a:lstStyle/>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Compreender como a IA transforma a experiência do cliente (CX) e o engajamento.
</a:t>
            </a:r>
            <a:endParaRPr lang="en-US" sz="1400" dirty="0"/>
          </a:p>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Identificar aplicações práticas da IA para personalizar ofertas e otimizar o atendimento.
</a:t>
            </a:r>
            <a:endParaRPr lang="en-US" sz="1400" dirty="0"/>
          </a:p>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Desenvolver a capacidade de aplicar soluções de IA em CX, mesmo sem formação técnica aprofundada.</a:t>
            </a:r>
            <a:endParaRPr lang="en-US" sz="1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 IA na Transformação da Experiência do Cliente</a:t>
            </a:r>
            <a:endParaRPr lang="en-US" sz="2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 IA na Transformação da Experiência do Cliente</a:t>
            </a:r>
            <a:endParaRPr lang="en-US" sz="2400" dirty="0"/>
          </a:p>
        </p:txBody>
      </p:sp>
      <p:sp>
        <p:nvSpPr>
          <p:cNvPr id="4" name="Text 2"/>
          <p:cNvSpPr/>
          <p:nvPr/>
        </p:nvSpPr>
        <p:spPr>
          <a:xfrm>
            <a:off x="457200" y="1033272"/>
            <a:ext cx="8229600" cy="1975104"/>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Automação: Gerencia tarefas repetitivas, como atendimento a dúvidas frequentes, com chatbots.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Previsão: Antecipa necessidades do cliente, comportamentos de compra e potenciais problemas.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Monitoramento: Acompanha feedback e sentimentos em tempo real em várias plataformas.</a:t>
            </a:r>
            <a:endParaRPr lang="en-US" sz="15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Chatbots e Assistentes Virtuais (Parte 1)</a:t>
            </a:r>
            <a:endParaRPr lang="en-US" sz="24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7200" y="987552"/>
          <a:ext cx="8229600" cy="3881628"/>
        </p:xfrm>
        <a:graphic>
          <a:graphicData uri="http://schemas.openxmlformats.org/drawingml/2006/table">
            <a:tbl>
              <a:tblPr/>
              <a:tblGrid>
                <a:gridCol w="2743200"/>
                <a:gridCol w="2743200"/>
                <a:gridCol w="2743200"/>
              </a:tblGrid>
              <a:tr h="502920">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Aspecto</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Chatbots</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Assistentes Virtuais</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r>
              <a:tr h="502920">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Definição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Programas que simulam conversas humanas via texto ou voz.</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Capacitam múltiplos sistemas e oferecem diversas funcionalidades.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502920">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Disponibilidade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Atendem 24/7, garantindo suporte constante.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Integrações em smart speakers e apps mais complexos.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r h="502920">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Funções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Resolução de dúvidas comuns, encaminhamento inteligente.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Agendamento de compromissos, controle de dispositivos, busca de informações.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502920">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Complexidade</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Geralmente focados em tarefas específicas e rotineiras.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Capazes de lidar com conversas mais complexas e multitarefas.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Chatbots e Assistentes Virtuais (Parte 2)</a:t>
            </a:r>
            <a:endParaRPr lang="en-US" sz="24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7200" y="987552"/>
          <a:ext cx="8229600" cy="1465783"/>
        </p:xfrm>
        <a:graphic>
          <a:graphicData uri="http://schemas.openxmlformats.org/drawingml/2006/table">
            <a:tbl>
              <a:tblPr/>
              <a:tblGrid>
                <a:gridCol w="2743200"/>
                <a:gridCol w="2743200"/>
                <a:gridCol w="2743200"/>
              </a:tblGrid>
              <a:tr h="502920">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Aspecto</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Chatbots</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Assistentes Virtuais</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r>
              <a:tr h="502920">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Exemplo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Chatbot de banco verifica saldo ou redefine senhas.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Siri, Google Assistant, Alexa.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Análise de Sentimento com IA</a:t>
            </a:r>
            <a:endParaRPr lang="en-US" sz="24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7200" y="987552"/>
          <a:ext cx="8229600" cy="3881628"/>
        </p:xfrm>
        <a:graphic>
          <a:graphicData uri="http://schemas.openxmlformats.org/drawingml/2006/table">
            <a:tbl>
              <a:tblPr/>
              <a:tblGrid>
                <a:gridCol w="2743200"/>
                <a:gridCol w="2743200"/>
                <a:gridCol w="2743200"/>
              </a:tblGrid>
              <a:tr h="502920">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Aspecto</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Processamento de Linguagem Natural (NLP)</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Benefícios para Empresas</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r>
              <a:tr h="502920">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Mecanismo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AI utiliza NLP para interpretar textos de feedback e mídias sociais.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Identifica o tom emocional subjacente nas mensagens dos clientes.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502920">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Identificação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Revela se há um problema recorrente ou um ponto forte elogiado.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Monitora menções da marca para alertar sobre sentimentos negativos.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r h="502920">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Aplicação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Ajuda na melhora contínua de produtos e serviços.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Guia o desenvolvimento de produtos e estratégias de marketing.</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502920">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Monitoramento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Ferramentas de IA monitoram 24/7, alertando sobre picos emocionais.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Permite reações proativas a crises ou oportunidades de marca.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Aplicações reais</a:t>
            </a:r>
            <a:endParaRPr lang="en-US" sz="2400" dirty="0"/>
          </a:p>
        </p:txBody>
      </p:sp>
      <p:sp>
        <p:nvSpPr>
          <p:cNvPr id="4" name="Text 2"/>
          <p:cNvSpPr/>
          <p:nvPr/>
        </p:nvSpPr>
        <p:spPr>
          <a:xfrm>
            <a:off x="457200" y="1078992"/>
            <a:ext cx="8229600" cy="1261872"/>
          </a:xfrm>
          <a:prstGeom prst="rect">
            <a:avLst/>
          </a:prstGeom>
          <a:noFill/>
          <a:ln/>
        </p:spPr>
        <p:txBody>
          <a:bodyPr wrap="square" rtlCol="0" anchor="t"/>
          <a:lstStyle/>
          <a:p>
            <a:pPr indent="0" marL="0">
              <a:buNone/>
            </a:pPr>
            <a:r>
              <a:rPr lang="en-US" sz="1300" i="1" dirty="0">
                <a:solidFill>
                  <a:srgbClr val="718096"/>
                </a:solidFill>
                <a:latin typeface="Calibri" pitchFamily="34" charset="0"/>
                <a:ea typeface="Calibri" pitchFamily="34" charset="-122"/>
                <a:cs typeface="Calibri" pitchFamily="34" charset="-120"/>
              </a:rPr>
              <a:t>Um cliente compra livros de ficção científica em uma livraria online. Uma IA identifica esse padrão de compra. Automaticamente, a IA envia e-mails semanais com lançamentos e promoções desse gênero específico. Isso aumenta a relevância da comunicação e a probabilidade de novas compras, melhorando a experiência do cliente.</a:t>
            </a:r>
            <a:endParaRPr lang="en-US" sz="1300" dirty="0"/>
          </a:p>
        </p:txBody>
      </p:sp>
      <p:sp>
        <p:nvSpPr>
          <p:cNvPr id="5" name="Shape 3"/>
          <p:cNvSpPr/>
          <p:nvPr/>
        </p:nvSpPr>
        <p:spPr>
          <a:xfrm>
            <a:off x="457200" y="2478024"/>
            <a:ext cx="3977640" cy="1104138"/>
          </a:xfrm>
          <a:prstGeom prst="rect">
            <a:avLst>
              <a:gd name="adj" fmla="val 3313"/>
            </a:avLst>
          </a:prstGeom>
          <a:solidFill>
            <a:srgbClr val="FFFFFF"/>
          </a:solidFill>
          <a:ln/>
          <a:effectLst>
            <a:outerShdw sx="100000" sy="100000" kx="0" ky="0" algn="bl" rotWithShape="0" blurRad="50800" dist="12700" dir="16200000">
              <a:srgbClr val="000000">
                <a:alpha val="10000"/>
              </a:srgbClr>
            </a:outerShdw>
          </a:effectLst>
        </p:spPr>
      </p:sp>
      <p:sp>
        <p:nvSpPr>
          <p:cNvPr id="6" name="Shape 4"/>
          <p:cNvSpPr/>
          <p:nvPr/>
        </p:nvSpPr>
        <p:spPr>
          <a:xfrm>
            <a:off x="457200" y="2532888"/>
            <a:ext cx="54864" cy="994410"/>
          </a:xfrm>
          <a:prstGeom prst="rect">
            <a:avLst/>
          </a:prstGeom>
          <a:solidFill>
            <a:srgbClr val="F5A623"/>
          </a:solidFill>
          <a:ln/>
        </p:spPr>
      </p:sp>
      <p:sp>
        <p:nvSpPr>
          <p:cNvPr id="7" name="Text 5"/>
          <p:cNvSpPr/>
          <p:nvPr/>
        </p:nvSpPr>
        <p:spPr>
          <a:xfrm>
            <a:off x="640080" y="2569464"/>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Personalização de Ofertas</a:t>
            </a:r>
            <a:endParaRPr lang="en-US" sz="1400" dirty="0"/>
          </a:p>
        </p:txBody>
      </p:sp>
      <p:sp>
        <p:nvSpPr>
          <p:cNvPr id="8" name="Text 6"/>
          <p:cNvSpPr/>
          <p:nvPr/>
        </p:nvSpPr>
        <p:spPr>
          <a:xfrm>
            <a:off x="640080" y="2843784"/>
            <a:ext cx="3657600" cy="646938"/>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Plataformas de e-commerce usam IA para recomendar produtos com base no histórico de compras e navegação do usuário.</a:t>
            </a:r>
            <a:endParaRPr lang="en-US" sz="1300" dirty="0"/>
          </a:p>
        </p:txBody>
      </p:sp>
      <p:sp>
        <p:nvSpPr>
          <p:cNvPr id="9" name="Shape 7"/>
          <p:cNvSpPr/>
          <p:nvPr/>
        </p:nvSpPr>
        <p:spPr>
          <a:xfrm>
            <a:off x="4709160" y="2478024"/>
            <a:ext cx="3977640" cy="1104138"/>
          </a:xfrm>
          <a:prstGeom prst="rect">
            <a:avLst>
              <a:gd name="adj" fmla="val 3313"/>
            </a:avLst>
          </a:prstGeom>
          <a:solidFill>
            <a:srgbClr val="FFFFFF"/>
          </a:solidFill>
          <a:ln/>
          <a:effectLst>
            <a:outerShdw sx="100000" sy="100000" kx="0" ky="0" algn="bl" rotWithShape="0" blurRad="50800" dist="12700" dir="16200000">
              <a:srgbClr val="000000">
                <a:alpha val="10000"/>
              </a:srgbClr>
            </a:outerShdw>
          </a:effectLst>
        </p:spPr>
      </p:sp>
      <p:sp>
        <p:nvSpPr>
          <p:cNvPr id="10" name="Shape 8"/>
          <p:cNvSpPr/>
          <p:nvPr/>
        </p:nvSpPr>
        <p:spPr>
          <a:xfrm>
            <a:off x="4709160" y="2532888"/>
            <a:ext cx="54864" cy="994410"/>
          </a:xfrm>
          <a:prstGeom prst="rect">
            <a:avLst/>
          </a:prstGeom>
          <a:solidFill>
            <a:srgbClr val="F5A623"/>
          </a:solidFill>
          <a:ln/>
        </p:spPr>
      </p:sp>
      <p:sp>
        <p:nvSpPr>
          <p:cNvPr id="11" name="Text 9"/>
          <p:cNvSpPr/>
          <p:nvPr/>
        </p:nvSpPr>
        <p:spPr>
          <a:xfrm>
            <a:off x="4892040" y="2569464"/>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Atendimento Automatizado</a:t>
            </a:r>
            <a:endParaRPr lang="en-US" sz="1400" dirty="0"/>
          </a:p>
        </p:txBody>
      </p:sp>
      <p:sp>
        <p:nvSpPr>
          <p:cNvPr id="12" name="Text 10"/>
          <p:cNvSpPr/>
          <p:nvPr/>
        </p:nvSpPr>
        <p:spPr>
          <a:xfrm>
            <a:off x="4892040" y="2843784"/>
            <a:ext cx="3657600" cy="646938"/>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Um chatbot em um site de banco auxilia clientes a verificar o saldo, redefinir senhas ou consultar extratos sem intervenção humana.</a:t>
            </a:r>
            <a:endParaRPr lang="en-US" sz="1300" dirty="0"/>
          </a:p>
        </p:txBody>
      </p:sp>
      <p:sp>
        <p:nvSpPr>
          <p:cNvPr id="13" name="Shape 11"/>
          <p:cNvSpPr/>
          <p:nvPr/>
        </p:nvSpPr>
        <p:spPr>
          <a:xfrm>
            <a:off x="457200" y="3765042"/>
            <a:ext cx="3977640" cy="1104138"/>
          </a:xfrm>
          <a:prstGeom prst="rect">
            <a:avLst>
              <a:gd name="adj" fmla="val 3313"/>
            </a:avLst>
          </a:prstGeom>
          <a:solidFill>
            <a:srgbClr val="FFFFFF"/>
          </a:solidFill>
          <a:ln/>
          <a:effectLst>
            <a:outerShdw sx="100000" sy="100000" kx="0" ky="0" algn="bl" rotWithShape="0" blurRad="50800" dist="12700" dir="16200000">
              <a:srgbClr val="000000">
                <a:alpha val="10000"/>
              </a:srgbClr>
            </a:outerShdw>
          </a:effectLst>
        </p:spPr>
      </p:sp>
      <p:sp>
        <p:nvSpPr>
          <p:cNvPr id="14" name="Shape 12"/>
          <p:cNvSpPr/>
          <p:nvPr/>
        </p:nvSpPr>
        <p:spPr>
          <a:xfrm>
            <a:off x="457200" y="3819906"/>
            <a:ext cx="54864" cy="994410"/>
          </a:xfrm>
          <a:prstGeom prst="rect">
            <a:avLst/>
          </a:prstGeom>
          <a:solidFill>
            <a:srgbClr val="F5A623"/>
          </a:solidFill>
          <a:ln/>
        </p:spPr>
      </p:sp>
      <p:sp>
        <p:nvSpPr>
          <p:cNvPr id="15" name="Text 13"/>
          <p:cNvSpPr/>
          <p:nvPr/>
        </p:nvSpPr>
        <p:spPr>
          <a:xfrm>
            <a:off x="640080" y="385648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Análise de Feedback</a:t>
            </a:r>
            <a:endParaRPr lang="en-US" sz="1400" dirty="0"/>
          </a:p>
        </p:txBody>
      </p:sp>
      <p:sp>
        <p:nvSpPr>
          <p:cNvPr id="16" name="Text 14"/>
          <p:cNvSpPr/>
          <p:nvPr/>
        </p:nvSpPr>
        <p:spPr>
          <a:xfrm>
            <a:off x="640080" y="4130802"/>
            <a:ext cx="3657600" cy="646938"/>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Uma empresa de software analisa comentários de usuários sobre uma nova atualização. A IA detecta rapidamente reclamações sobre uma função específica, alertando a equipe de desenvolvimento para revisá-la.</a:t>
            </a:r>
            <a:endParaRPr lang="en-US" sz="1300" dirty="0"/>
          </a:p>
        </p:txBody>
      </p:sp>
      <p:sp>
        <p:nvSpPr>
          <p:cNvPr id="17" name="Shape 15"/>
          <p:cNvSpPr/>
          <p:nvPr/>
        </p:nvSpPr>
        <p:spPr>
          <a:xfrm>
            <a:off x="4709160" y="3765042"/>
            <a:ext cx="3977640" cy="1104138"/>
          </a:xfrm>
          <a:prstGeom prst="rect">
            <a:avLst>
              <a:gd name="adj" fmla="val 3313"/>
            </a:avLst>
          </a:prstGeom>
          <a:solidFill>
            <a:srgbClr val="FFFFFF"/>
          </a:solidFill>
          <a:ln/>
          <a:effectLst>
            <a:outerShdw sx="100000" sy="100000" kx="0" ky="0" algn="bl" rotWithShape="0" blurRad="50800" dist="12700" dir="16200000">
              <a:srgbClr val="000000">
                <a:alpha val="10000"/>
              </a:srgbClr>
            </a:outerShdw>
          </a:effectLst>
        </p:spPr>
      </p:sp>
      <p:sp>
        <p:nvSpPr>
          <p:cNvPr id="18" name="Shape 16"/>
          <p:cNvSpPr/>
          <p:nvPr/>
        </p:nvSpPr>
        <p:spPr>
          <a:xfrm>
            <a:off x="4709160" y="3819906"/>
            <a:ext cx="54864" cy="994410"/>
          </a:xfrm>
          <a:prstGeom prst="rect">
            <a:avLst/>
          </a:prstGeom>
          <a:solidFill>
            <a:srgbClr val="F5A623"/>
          </a:solidFill>
          <a:ln/>
        </p:spPr>
      </p:sp>
      <p:sp>
        <p:nvSpPr>
          <p:cNvPr id="19" name="Text 17"/>
          <p:cNvSpPr/>
          <p:nvPr/>
        </p:nvSpPr>
        <p:spPr>
          <a:xfrm>
            <a:off x="4892040" y="385648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Engajamento em Streaming</a:t>
            </a:r>
            <a:endParaRPr lang="en-US" sz="1400" dirty="0"/>
          </a:p>
        </p:txBody>
      </p:sp>
      <p:sp>
        <p:nvSpPr>
          <p:cNvPr id="20" name="Text 18"/>
          <p:cNvSpPr/>
          <p:nvPr/>
        </p:nvSpPr>
        <p:spPr>
          <a:xfrm>
            <a:off x="4892040" y="4130802"/>
            <a:ext cx="3657600" cy="646938"/>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Plataformas como Netflix usam IA para recomendar filmes e séries. As recomendações são baseadas no histórico de visualizações e classificações do usuário, mantendo o cliente engajado.</a:t>
            </a:r>
            <a:endParaRPr lang="en-US" sz="13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Desafios e cuidados (Parte 1)</a:t>
            </a:r>
            <a:endParaRPr lang="en-US" sz="2400" dirty="0"/>
          </a:p>
        </p:txBody>
      </p:sp>
      <p:sp>
        <p:nvSpPr>
          <p:cNvPr id="4" name="Shape 2"/>
          <p:cNvSpPr/>
          <p:nvPr/>
        </p:nvSpPr>
        <p:spPr>
          <a:xfrm>
            <a:off x="45720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5" name="Shape 3"/>
          <p:cNvSpPr/>
          <p:nvPr/>
        </p:nvSpPr>
        <p:spPr>
          <a:xfrm>
            <a:off x="457200" y="1133856"/>
            <a:ext cx="54864" cy="1170432"/>
          </a:xfrm>
          <a:prstGeom prst="rect">
            <a:avLst/>
          </a:prstGeom>
          <a:solidFill>
            <a:srgbClr val="F5A623"/>
          </a:solidFill>
          <a:ln/>
        </p:spPr>
      </p:sp>
      <p:sp>
        <p:nvSpPr>
          <p:cNvPr id="6" name="Text 4"/>
          <p:cNvSpPr/>
          <p:nvPr/>
        </p:nvSpPr>
        <p:spPr>
          <a:xfrm>
            <a:off x="640080" y="117043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Qualidade dos Dados</a:t>
            </a:r>
            <a:endParaRPr lang="en-US" sz="1400" dirty="0"/>
          </a:p>
        </p:txBody>
      </p:sp>
      <p:sp>
        <p:nvSpPr>
          <p:cNvPr id="7" name="Text 5"/>
          <p:cNvSpPr/>
          <p:nvPr/>
        </p:nvSpPr>
        <p:spPr>
          <a:xfrm>
            <a:off x="640080" y="144475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A precisão das análises da IA depende da qualidade dos dados de entrada. Dados imprecisos resultam em insights distorcidos.</a:t>
            </a:r>
            <a:endParaRPr lang="en-US" sz="1300" dirty="0"/>
          </a:p>
        </p:txBody>
      </p:sp>
      <p:sp>
        <p:nvSpPr>
          <p:cNvPr id="8" name="Shape 6"/>
          <p:cNvSpPr/>
          <p:nvPr/>
        </p:nvSpPr>
        <p:spPr>
          <a:xfrm>
            <a:off x="470916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9" name="Shape 7"/>
          <p:cNvSpPr/>
          <p:nvPr/>
        </p:nvSpPr>
        <p:spPr>
          <a:xfrm>
            <a:off x="4709160" y="1133856"/>
            <a:ext cx="54864" cy="1170432"/>
          </a:xfrm>
          <a:prstGeom prst="rect">
            <a:avLst/>
          </a:prstGeom>
          <a:solidFill>
            <a:srgbClr val="F5A623"/>
          </a:solidFill>
          <a:ln/>
        </p:spPr>
      </p:sp>
      <p:sp>
        <p:nvSpPr>
          <p:cNvPr id="10" name="Text 8"/>
          <p:cNvSpPr/>
          <p:nvPr/>
        </p:nvSpPr>
        <p:spPr>
          <a:xfrm>
            <a:off x="4892040" y="117043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Viés Algorítmico</a:t>
            </a:r>
            <a:endParaRPr lang="en-US" sz="1400" dirty="0"/>
          </a:p>
        </p:txBody>
      </p:sp>
      <p:sp>
        <p:nvSpPr>
          <p:cNvPr id="11" name="Text 9"/>
          <p:cNvSpPr/>
          <p:nvPr/>
        </p:nvSpPr>
        <p:spPr>
          <a:xfrm>
            <a:off x="4892040" y="144475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Algoritmos podem perpetuar ou ampliar vieses existentes nos dados. Isso pode levar a experiências de cliente injustas ou ineficazes.</a:t>
            </a:r>
            <a:endParaRPr lang="en-US" sz="1300" dirty="0"/>
          </a:p>
        </p:txBody>
      </p:sp>
      <p:sp>
        <p:nvSpPr>
          <p:cNvPr id="12" name="Shape 10"/>
          <p:cNvSpPr/>
          <p:nvPr/>
        </p:nvSpPr>
        <p:spPr>
          <a:xfrm>
            <a:off x="457200" y="254203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3" name="Shape 11"/>
          <p:cNvSpPr/>
          <p:nvPr/>
        </p:nvSpPr>
        <p:spPr>
          <a:xfrm>
            <a:off x="457200" y="2596896"/>
            <a:ext cx="54864" cy="1170432"/>
          </a:xfrm>
          <a:prstGeom prst="rect">
            <a:avLst/>
          </a:prstGeom>
          <a:solidFill>
            <a:srgbClr val="F5A623"/>
          </a:solidFill>
          <a:ln/>
        </p:spPr>
      </p:sp>
      <p:sp>
        <p:nvSpPr>
          <p:cNvPr id="14" name="Text 12"/>
          <p:cNvSpPr/>
          <p:nvPr/>
        </p:nvSpPr>
        <p:spPr>
          <a:xfrm>
            <a:off x="640080" y="263347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Manutenção do Toque Humano</a:t>
            </a:r>
            <a:endParaRPr lang="en-US" sz="1400" dirty="0"/>
          </a:p>
        </p:txBody>
      </p:sp>
      <p:sp>
        <p:nvSpPr>
          <p:cNvPr id="15" name="Text 13"/>
          <p:cNvSpPr/>
          <p:nvPr/>
        </p:nvSpPr>
        <p:spPr>
          <a:xfrm>
            <a:off x="640080" y="290779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Embora a IA automatize, o equilíbrio com a interação humana é crucial. A empatia e o cuidado humano são insubstituíveis em certas situações.</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Desafios e cuidados (Parte 2)</a:t>
            </a:r>
            <a:endParaRPr lang="en-US" sz="2400" dirty="0"/>
          </a:p>
        </p:txBody>
      </p:sp>
      <p:sp>
        <p:nvSpPr>
          <p:cNvPr id="4" name="Shape 2"/>
          <p:cNvSpPr/>
          <p:nvPr/>
        </p:nvSpPr>
        <p:spPr>
          <a:xfrm>
            <a:off x="45720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5" name="Shape 3"/>
          <p:cNvSpPr/>
          <p:nvPr/>
        </p:nvSpPr>
        <p:spPr>
          <a:xfrm>
            <a:off x="457200" y="1133856"/>
            <a:ext cx="54864" cy="1170432"/>
          </a:xfrm>
          <a:prstGeom prst="rect">
            <a:avLst/>
          </a:prstGeom>
          <a:solidFill>
            <a:srgbClr val="F5A623"/>
          </a:solidFill>
          <a:ln/>
        </p:spPr>
      </p:sp>
      <p:sp>
        <p:nvSpPr>
          <p:cNvPr id="6" name="Text 4"/>
          <p:cNvSpPr/>
          <p:nvPr/>
        </p:nvSpPr>
        <p:spPr>
          <a:xfrm>
            <a:off x="640080" y="117043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Privacidade do Cliente</a:t>
            </a:r>
            <a:endParaRPr lang="en-US" sz="1400" dirty="0"/>
          </a:p>
        </p:txBody>
      </p:sp>
      <p:sp>
        <p:nvSpPr>
          <p:cNvPr id="7" name="Text 5"/>
          <p:cNvSpPr/>
          <p:nvPr/>
        </p:nvSpPr>
        <p:spPr>
          <a:xfrm>
            <a:off x="640080" y="144475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O uso de IA para coletar e analisar dados levanta questões de privacidade. É fundamental garantir conformidade com regulamentações como a LGPD.</a:t>
            </a:r>
            <a:endParaRPr lang="en-US" sz="1300" dirty="0"/>
          </a:p>
        </p:txBody>
      </p:sp>
      <p:sp>
        <p:nvSpPr>
          <p:cNvPr id="8" name="Shape 6"/>
          <p:cNvSpPr/>
          <p:nvPr/>
        </p:nvSpPr>
        <p:spPr>
          <a:xfrm>
            <a:off x="4709160" y="107899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9" name="Shape 7"/>
          <p:cNvSpPr/>
          <p:nvPr/>
        </p:nvSpPr>
        <p:spPr>
          <a:xfrm>
            <a:off x="4709160" y="1133856"/>
            <a:ext cx="54864" cy="1170432"/>
          </a:xfrm>
          <a:prstGeom prst="rect">
            <a:avLst/>
          </a:prstGeom>
          <a:solidFill>
            <a:srgbClr val="F5A623"/>
          </a:solidFill>
          <a:ln/>
        </p:spPr>
      </p:sp>
      <p:sp>
        <p:nvSpPr>
          <p:cNvPr id="10" name="Text 8"/>
          <p:cNvSpPr/>
          <p:nvPr/>
        </p:nvSpPr>
        <p:spPr>
          <a:xfrm>
            <a:off x="4892040" y="117043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Super-Automação</a:t>
            </a:r>
            <a:endParaRPr lang="en-US" sz="1400" dirty="0"/>
          </a:p>
        </p:txBody>
      </p:sp>
      <p:sp>
        <p:nvSpPr>
          <p:cNvPr id="11" name="Text 9"/>
          <p:cNvSpPr/>
          <p:nvPr/>
        </p:nvSpPr>
        <p:spPr>
          <a:xfrm>
            <a:off x="4892040" y="144475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Automatizar demais pode remover oportunidades de conexão humana. Isso pode afetar negativamente a percepção de valor do cliente.</a:t>
            </a:r>
            <a:endParaRPr lang="en-US" sz="1300" dirty="0"/>
          </a:p>
        </p:txBody>
      </p:sp>
      <p:sp>
        <p:nvSpPr>
          <p:cNvPr id="12" name="Shape 10"/>
          <p:cNvSpPr/>
          <p:nvPr/>
        </p:nvSpPr>
        <p:spPr>
          <a:xfrm>
            <a:off x="457200" y="2542032"/>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3" name="Shape 11"/>
          <p:cNvSpPr/>
          <p:nvPr/>
        </p:nvSpPr>
        <p:spPr>
          <a:xfrm>
            <a:off x="457200" y="2596896"/>
            <a:ext cx="54864" cy="1170432"/>
          </a:xfrm>
          <a:prstGeom prst="rect">
            <a:avLst/>
          </a:prstGeom>
          <a:solidFill>
            <a:srgbClr val="F5A623"/>
          </a:solidFill>
          <a:ln/>
        </p:spPr>
      </p:sp>
      <p:sp>
        <p:nvSpPr>
          <p:cNvPr id="14" name="Text 12"/>
          <p:cNvSpPr/>
          <p:nvPr/>
        </p:nvSpPr>
        <p:spPr>
          <a:xfrm>
            <a:off x="640080" y="2633472"/>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Pare um momento e reflita</a:t>
            </a:r>
            <a:endParaRPr lang="en-US" sz="1400" dirty="0"/>
          </a:p>
        </p:txBody>
      </p:sp>
      <p:sp>
        <p:nvSpPr>
          <p:cNvPr id="15" name="Text 13"/>
          <p:cNvSpPr/>
          <p:nvPr/>
        </p:nvSpPr>
        <p:spPr>
          <a:xfrm>
            <a:off x="640080" y="2907792"/>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Como as soluções de IA que você conheceu neste módulo poderiam ser aplicadas para resolver um desafio real de CX na sua área de atuação ou em uma empresa que você conhece?</a:t>
            </a:r>
            <a:endParaRPr lang="en-US" sz="13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p:spPr>
      </p:sp>
      <p:sp>
        <p:nvSpPr>
          <p:cNvPr id="3" name="Text 1"/>
          <p:cNvSpPr/>
          <p:nvPr/>
        </p:nvSpPr>
        <p:spPr>
          <a:xfrm>
            <a:off x="457200" y="274320"/>
            <a:ext cx="1828800" cy="365760"/>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RESUMO</a:t>
            </a:r>
            <a:endParaRPr lang="en-US" sz="1300" dirty="0"/>
          </a:p>
        </p:txBody>
      </p:sp>
      <p:sp>
        <p:nvSpPr>
          <p:cNvPr id="4" name="Text 2"/>
          <p:cNvSpPr/>
          <p:nvPr/>
        </p:nvSpPr>
        <p:spPr>
          <a:xfrm>
            <a:off x="457200" y="640080"/>
            <a:ext cx="8156448" cy="944880"/>
          </a:xfrm>
          <a:prstGeom prst="rect">
            <a:avLst/>
          </a:prstGeom>
          <a:noFill/>
          <a:ln/>
        </p:spPr>
        <p:txBody>
          <a:bodyPr wrap="square"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Módulo 4: IA e a Otimização da Experiência do Cliente e do Engajamento (Parte 1)</a:t>
            </a:r>
            <a:endParaRPr lang="en-US" sz="2400" dirty="0"/>
          </a:p>
        </p:txBody>
      </p:sp>
      <p:sp>
        <p:nvSpPr>
          <p:cNvPr id="5" name="Text 3"/>
          <p:cNvSpPr/>
          <p:nvPr/>
        </p:nvSpPr>
        <p:spPr>
          <a:xfrm>
            <a:off x="457200" y="1722120"/>
            <a:ext cx="8156448" cy="2633472"/>
          </a:xfrm>
          <a:prstGeom prst="rect">
            <a:avLst/>
          </a:prstGeom>
          <a:noFill/>
          <a:ln/>
        </p:spPr>
        <p:txBody>
          <a:bodyPr wrap="square" rtlCol="0" anchor="t"/>
          <a:lstStyle/>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Exploramos como a Inteligência Artificial revoluciona a Experiência do Cliente (CX) e o engajamento.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IA permite personalização em massa, otimiza o atendimento com chatbots e extrai insights valiosos de feedbacks.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Ao aplicar esses conceitos, profissionais podem criar um diferencial competitivo significativo para suas organizações.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IA aprimora a Experiência do Cliente (CX) por meio de personalização, automação e eficiência.</a:t>
            </a:r>
            <a:endParaRPr lang="en-US" sz="1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p:spPr>
      </p:sp>
      <p:sp>
        <p:nvSpPr>
          <p:cNvPr id="3" name="Text 1"/>
          <p:cNvSpPr/>
          <p:nvPr/>
        </p:nvSpPr>
        <p:spPr>
          <a:xfrm>
            <a:off x="457200" y="274320"/>
            <a:ext cx="1828800" cy="365760"/>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RESUMO</a:t>
            </a:r>
            <a:endParaRPr lang="en-US" sz="1300" dirty="0"/>
          </a:p>
        </p:txBody>
      </p:sp>
      <p:sp>
        <p:nvSpPr>
          <p:cNvPr id="4" name="Text 2"/>
          <p:cNvSpPr/>
          <p:nvPr/>
        </p:nvSpPr>
        <p:spPr>
          <a:xfrm>
            <a:off x="457200" y="640080"/>
            <a:ext cx="8156448" cy="944880"/>
          </a:xfrm>
          <a:prstGeom prst="rect">
            <a:avLst/>
          </a:prstGeom>
          <a:noFill/>
          <a:ln/>
        </p:spPr>
        <p:txBody>
          <a:bodyPr wrap="square"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Módulo 4: IA e a Otimização da Experiência do Cliente e do Engajamento (Parte 2)</a:t>
            </a:r>
            <a:endParaRPr lang="en-US" sz="2400" dirty="0"/>
          </a:p>
        </p:txBody>
      </p:sp>
      <p:sp>
        <p:nvSpPr>
          <p:cNvPr id="5" name="Text 3"/>
          <p:cNvSpPr/>
          <p:nvPr/>
        </p:nvSpPr>
        <p:spPr>
          <a:xfrm>
            <a:off x="457200" y="1722120"/>
            <a:ext cx="8156448" cy="2633472"/>
          </a:xfrm>
          <a:prstGeom prst="rect">
            <a:avLst/>
          </a:prstGeom>
          <a:noFill/>
          <a:ln/>
        </p:spPr>
        <p:txBody>
          <a:bodyPr wrap="square" rtlCol="0" anchor="t"/>
          <a:lstStyle/>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personalização impulsionada pela IA aumenta a relevância de ofertas e o engajamento do cliente.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Chatbots e assistentes virtuais oferecem atendimento rápido, 24/7, e direcionamento inteligente de demandas.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análise de sentimento por IA em mídias sociais e feedbacks fornece insights valiosos para melhoria contínua.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Estratégias de IA otimizam jornadas do cliente e guiam o marketing preditivo para maior engajamento.</a:t>
            </a:r>
            <a:endParaRPr lang="en-US" sz="1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457200" y="320040"/>
            <a:ext cx="1463040" cy="347472"/>
          </a:xfrm>
          <a:prstGeom prst="roundRect">
            <a:avLst>
              <a:gd name="adj" fmla="val 21053"/>
            </a:avLst>
          </a:prstGeom>
          <a:solidFill>
            <a:srgbClr val="F5A623"/>
          </a:solidFill>
          <a:ln/>
        </p:spPr>
      </p:sp>
      <p:sp>
        <p:nvSpPr>
          <p:cNvPr id="3" name="Text 1"/>
          <p:cNvSpPr/>
          <p:nvPr/>
        </p:nvSpPr>
        <p:spPr>
          <a:xfrm>
            <a:off x="457200" y="320040"/>
            <a:ext cx="1463040" cy="347472"/>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MÓDULO 5</a:t>
            </a:r>
            <a:endParaRPr lang="en-US" sz="1300" dirty="0"/>
          </a:p>
        </p:txBody>
      </p:sp>
      <p:sp>
        <p:nvSpPr>
          <p:cNvPr id="4" name="Text 2"/>
          <p:cNvSpPr/>
          <p:nvPr/>
        </p:nvSpPr>
        <p:spPr>
          <a:xfrm>
            <a:off x="457200" y="822960"/>
            <a:ext cx="8229600" cy="1198880"/>
          </a:xfrm>
          <a:prstGeom prst="rect">
            <a:avLst/>
          </a:prstGeom>
          <a:noFill/>
          <a:ln/>
        </p:spPr>
        <p:txBody>
          <a:bodyPr wrap="square"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Módulo 5: IA e o Futuro do Trabalho: Oportunidades e Considerações Éticas</a:t>
            </a:r>
            <a:endParaRPr lang="en-US" sz="3200" dirty="0"/>
          </a:p>
        </p:txBody>
      </p:sp>
      <p:sp>
        <p:nvSpPr>
          <p:cNvPr id="5" name="Text 3"/>
          <p:cNvSpPr/>
          <p:nvPr/>
        </p:nvSpPr>
        <p:spPr>
          <a:xfrm>
            <a:off x="457200" y="2159000"/>
            <a:ext cx="2743200" cy="274320"/>
          </a:xfrm>
          <a:prstGeom prst="rect">
            <a:avLst/>
          </a:prstGeom>
          <a:noFill/>
          <a:ln/>
        </p:spPr>
        <p:txBody>
          <a:bodyPr wrap="square" rtlCol="0" anchor="ctr"/>
          <a:lstStyle/>
          <a:p>
            <a:pPr indent="0" marL="0">
              <a:buNone/>
            </a:pPr>
            <a:r>
              <a:rPr lang="en-US" sz="1400" b="1" dirty="0">
                <a:solidFill>
                  <a:srgbClr val="F5A623"/>
                </a:solidFill>
                <a:latin typeface="Calibri" pitchFamily="34" charset="0"/>
                <a:ea typeface="Calibri" pitchFamily="34" charset="-122"/>
                <a:cs typeface="Calibri" pitchFamily="34" charset="-120"/>
              </a:rPr>
              <a:t>Objetivos</a:t>
            </a:r>
            <a:endParaRPr lang="en-US" sz="1400" dirty="0"/>
          </a:p>
        </p:txBody>
      </p:sp>
      <p:sp>
        <p:nvSpPr>
          <p:cNvPr id="6" name="Text 4"/>
          <p:cNvSpPr/>
          <p:nvPr/>
        </p:nvSpPr>
        <p:spPr>
          <a:xfrm>
            <a:off x="457200" y="2488184"/>
            <a:ext cx="8229600" cy="1505712"/>
          </a:xfrm>
          <a:prstGeom prst="rect">
            <a:avLst/>
          </a:prstGeom>
          <a:noFill/>
          <a:ln/>
        </p:spPr>
        <p:txBody>
          <a:bodyPr wrap="square" rtlCol="0" anchor="t"/>
          <a:lstStyle/>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Compreender o impacto da IA na transformação do mercado de trabalho e nas estruturas ocupacionais.
</a:t>
            </a:r>
            <a:endParaRPr lang="en-US" sz="1400" dirty="0"/>
          </a:p>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Identificar as principais oportunidades e novas funções que surgem com o avanço da inteligência artificial.
</a:t>
            </a:r>
            <a:endParaRPr lang="en-US" sz="1400" dirty="0"/>
          </a:p>
          <a:p>
            <a:pPr indent="0" marL="0">
              <a:lnSpc>
                <a:spcPct val="115000"/>
              </a:lnSpc>
              <a:spcAft>
                <a:spcPts val="4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5000"/>
              </a:lnSpc>
              <a:spcAft>
                <a:spcPts val="400"/>
              </a:spcAft>
              <a:buNone/>
            </a:pPr>
            <a:r>
              <a:rPr lang="en-US" sz="1400" dirty="0">
                <a:solidFill>
                  <a:srgbClr val="FFFFFF"/>
                </a:solidFill>
                <a:latin typeface="Calibri" pitchFamily="34" charset="0"/>
                <a:ea typeface="Calibri" pitchFamily="34" charset="-122"/>
                <a:cs typeface="Calibri" pitchFamily="34" charset="-120"/>
              </a:rPr>
              <a:t>Refletir criticamente sobre as considerações éticas e a responsabilidade no uso da IA no ambiente profissional.</a:t>
            </a:r>
            <a:endParaRPr lang="en-US" sz="1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Fundamentos</a:t>
            </a:r>
            <a:endParaRPr lang="en-US" sz="2400" dirty="0"/>
          </a:p>
        </p:txBody>
      </p:sp>
      <p:sp>
        <p:nvSpPr>
          <p:cNvPr id="4" name="Text 2"/>
          <p:cNvSpPr/>
          <p:nvPr/>
        </p:nvSpPr>
        <p:spPr>
          <a:xfrm>
            <a:off x="457200" y="1033272"/>
            <a:ext cx="8229600" cy="3017520"/>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Inteligência Artificial (IA) é uma força transformadora que redefine as estruturas ocupacionais.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Ela influencia as habilidades valorizadas e as dinâmicas de colaboração no mercado. Não é apenas uma ferramenta, mas um agente de mudança profunda.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remodela o mercado de trabalho, automatizando tarefas e criando novas demandas.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Esta transformação exige adaptação contínua de profissionais e empresas.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automação de tarefas rotineiras libera trabalhadores para funções mais estratégicas.</a:t>
            </a:r>
            <a:endParaRPr lang="en-US" sz="15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Fundamentos</a:t>
            </a:r>
            <a:endParaRPr lang="en-US" sz="2400" dirty="0"/>
          </a:p>
        </p:txBody>
      </p:sp>
      <p:sp>
        <p:nvSpPr>
          <p:cNvPr id="4" name="Text 2"/>
          <p:cNvSpPr/>
          <p:nvPr/>
        </p:nvSpPr>
        <p:spPr>
          <a:xfrm>
            <a:off x="457200" y="1033272"/>
            <a:ext cx="8229600" cy="1426464"/>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impulsiona a necessidade de novas habilidades no mercado de trabalho.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Novos setores e funções emergem como consequência do avanço da IA.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Adaptabilidade e resiliência são qualidades indispensáveis para o profissional do futuro.</a:t>
            </a:r>
            <a:endParaRPr lang="en-US" sz="15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Como funciona</a:t>
            </a:r>
            <a:endParaRPr lang="en-US" sz="2400" dirty="0"/>
          </a:p>
        </p:txBody>
      </p:sp>
      <p:sp>
        <p:nvSpPr>
          <p:cNvPr id="4" name="Text 2"/>
          <p:cNvSpPr/>
          <p:nvPr/>
        </p:nvSpPr>
        <p:spPr>
          <a:xfrm>
            <a:off x="457200" y="1033272"/>
            <a:ext cx="8229600" cy="3493008"/>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colaboração entre humanos e IA não se baseia em substituição, mas em simbiose. Combina as capacidades analíticas da IA com a criatividade e o pensamento crítico humanos.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Esta união otimiza processos e gera inovações.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intuição humana aliada ao processamento da IA cria um potencial poderoso.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Humanos podem focar em tarefas de alto valor, delegando o repetitivo à IA.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atua como ferramenta de suporte, não como substituto integral do trabalho humano.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interação eficaz com sistemas de IA aprimora a tomada de decisões.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Profissionais que dominam essa colaboração terão uma vantagem competitiva.</a:t>
            </a:r>
            <a:endParaRPr lang="en-US" sz="15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Modelos / Tipos</a:t>
            </a:r>
            <a:endParaRPr lang="en-US" sz="2400" dirty="0"/>
          </a:p>
        </p:txBody>
      </p:sp>
      <p:sp>
        <p:nvSpPr>
          <p:cNvPr id="4" name="Text 2"/>
          <p:cNvSpPr/>
          <p:nvPr/>
        </p:nvSpPr>
        <p:spPr>
          <a:xfrm>
            <a:off x="457200" y="1033272"/>
            <a:ext cx="8229600" cy="2231136"/>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Em um escritório de advocacia, a IA pode analisar milhares de documentos em segundos. Ela identifica precedentes relevantes rapidamente.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O advogado, por sua vez, concentra-se na argumentação estratégica e na construção do caso, usando a inteligência humana.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 IA, ao automatizar funções, também gera o surgimento de novas profissões. É crucial identificar essas tendências para direcionar o desenvolvimento profissional.</a:t>
            </a:r>
            <a:endParaRPr lang="en-US" sz="15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Modelos / Tipos (Parte 1)</a:t>
            </a:r>
            <a:endParaRPr lang="en-US" sz="24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457200" y="987552"/>
          <a:ext cx="8229600" cy="3881628"/>
        </p:xfrm>
        <a:graphic>
          <a:graphicData uri="http://schemas.openxmlformats.org/drawingml/2006/table">
            <a:tbl>
              <a:tblPr/>
              <a:tblGrid>
                <a:gridCol w="4114800"/>
                <a:gridCol w="4114800"/>
              </a:tblGrid>
              <a:tr h="502920">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Aspecto</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Novas Funções Impulsionadas pela IA</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r>
              <a:tr h="502920">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Tecnologia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Engenheiros de Prompt: Otimizam interação com modelos de IA.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502920">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Ética</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Especialistas em Ética da IA: Garantem uso responsável e justo.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r h="502920">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Dados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Cientistas de Dados: Gerenciam e interpretam grandes volumes de informações.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502920">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Conteúdo</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Curadores de Conteúdo de IA: Organizam dados para alimentar algoritmos.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EEF2FF"/>
                    </a:solidFill>
                  </a:tcPr>
                </a:tc>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Modelos / Tipos (Parte 2)</a:t>
            </a:r>
            <a:endParaRPr lang="en-US" sz="24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457200" y="987552"/>
          <a:ext cx="8229600" cy="1465783"/>
        </p:xfrm>
        <a:graphic>
          <a:graphicData uri="http://schemas.openxmlformats.org/drawingml/2006/table">
            <a:tbl>
              <a:tblPr/>
              <a:tblGrid>
                <a:gridCol w="4114800"/>
                <a:gridCol w="4114800"/>
              </a:tblGrid>
              <a:tr h="502920">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Aspecto</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c>
                  <a:txBody>
                    <a:bodyPr/>
                    <a:lstStyle/>
                    <a:p>
                      <a:pPr indent="0" marL="0">
                        <a:spcBef>
                          <a:spcPts val="400"/>
                        </a:spcBef>
                        <a:spcAft>
                          <a:spcPts val="400"/>
                        </a:spcAft>
                        <a:buNone/>
                      </a:pPr>
                      <a:r>
                        <a:rPr lang="en-US" sz="1400" b="1" dirty="0">
                          <a:solidFill>
                            <a:srgbClr val="FFFFFF"/>
                          </a:solidFill>
                          <a:latin typeface="Calibri" pitchFamily="34" charset="0"/>
                          <a:ea typeface="Calibri" pitchFamily="34" charset="-122"/>
                          <a:cs typeface="Calibri" pitchFamily="34" charset="-120"/>
                        </a:rPr>
                        <a:t>Novas Funções Impulsionadas pela IA</a:t>
                      </a:r>
                      <a:endParaRPr lang="en-US" sz="14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2761"/>
                    </a:solidFill>
                  </a:tcPr>
                </a:tc>
              </a:tr>
              <a:tr h="502920">
                <a:tc>
                  <a:txBody>
                    <a:bodyPr/>
                    <a:lstStyle/>
                    <a:p>
                      <a:pPr indent="0" marL="0">
                        <a:spcBef>
                          <a:spcPts val="300"/>
                        </a:spcBef>
                        <a:spcAft>
                          <a:spcPts val="300"/>
                        </a:spcAft>
                        <a:buNone/>
                      </a:pPr>
                      <a:r>
                        <a:rPr lang="en-US" sz="1300" b="1" dirty="0">
                          <a:solidFill>
                            <a:srgbClr val="2D3748"/>
                          </a:solidFill>
                          <a:latin typeface="Calibri" pitchFamily="34" charset="0"/>
                          <a:ea typeface="Calibri" pitchFamily="34" charset="-122"/>
                          <a:cs typeface="Calibri" pitchFamily="34" charset="-120"/>
                        </a:rPr>
                        <a:t>Design</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indent="0" marL="0">
                        <a:spcBef>
                          <a:spcPts val="300"/>
                        </a:spcBef>
                        <a:spcAft>
                          <a:spcPts val="300"/>
                        </a:spcAft>
                        <a:buNone/>
                      </a:pPr>
                      <a:r>
                        <a:rPr lang="en-US" sz="1300" dirty="0">
                          <a:solidFill>
                            <a:srgbClr val="2D3748"/>
                          </a:solidFill>
                          <a:latin typeface="Calibri" pitchFamily="34" charset="0"/>
                          <a:ea typeface="Calibri" pitchFamily="34" charset="-122"/>
                          <a:cs typeface="Calibri" pitchFamily="34" charset="-120"/>
                        </a:rPr>
                        <a:t>Designers de UX para IA: Focam na interface intuitiva para sistemas inteligentes.</a:t>
                      </a:r>
                      <a:endParaRPr lang="en-US" sz="1300" dirty="0">
                        <a:latin typeface="Calibri" charset="0"/>
                        <a:ea typeface="Calibri" charset="0"/>
                        <a:cs typeface="Calibri" charset="0"/>
                      </a:endParaRPr>
                    </a:p>
                  </a:txBody>
                  <a:tcPr marL="91440" marR="91440" marT="45720" marB="4572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Aplicações reais</a:t>
            </a:r>
            <a:endParaRPr lang="en-US" sz="2400" dirty="0"/>
          </a:p>
        </p:txBody>
      </p:sp>
      <p:sp>
        <p:nvSpPr>
          <p:cNvPr id="4" name="Text 2"/>
          <p:cNvSpPr/>
          <p:nvPr/>
        </p:nvSpPr>
        <p:spPr>
          <a:xfrm>
            <a:off x="457200" y="1078992"/>
            <a:ext cx="8229600" cy="676656"/>
          </a:xfrm>
          <a:prstGeom prst="rect">
            <a:avLst/>
          </a:prstGeom>
          <a:noFill/>
          <a:ln/>
        </p:spPr>
        <p:txBody>
          <a:bodyPr wrap="square" rtlCol="0" anchor="t"/>
          <a:lstStyle/>
          <a:p>
            <a:pPr indent="0" marL="0">
              <a:buNone/>
            </a:pPr>
            <a:r>
              <a:rPr lang="en-US" sz="1300" i="1" dirty="0">
                <a:solidFill>
                  <a:srgbClr val="718096"/>
                </a:solidFill>
                <a:latin typeface="Calibri" pitchFamily="34" charset="0"/>
                <a:ea typeface="Calibri" pitchFamily="34" charset="-122"/>
                <a:cs typeface="Calibri" pitchFamily="34" charset="-120"/>
              </a:rPr>
              <a:t>Para prosperar no futuro do trabalho impulsionado pela IA, habilidades-chave se tornam valiosas. Elas vão além da técnica, focando na inovação humana e relacionamento.</a:t>
            </a:r>
            <a:endParaRPr lang="en-US" sz="1300" dirty="0"/>
          </a:p>
        </p:txBody>
      </p:sp>
      <p:sp>
        <p:nvSpPr>
          <p:cNvPr id="5" name="Shape 3"/>
          <p:cNvSpPr/>
          <p:nvPr/>
        </p:nvSpPr>
        <p:spPr>
          <a:xfrm>
            <a:off x="457200" y="1892808"/>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6" name="Shape 4"/>
          <p:cNvSpPr/>
          <p:nvPr/>
        </p:nvSpPr>
        <p:spPr>
          <a:xfrm>
            <a:off x="457200" y="1947672"/>
            <a:ext cx="54864" cy="1170432"/>
          </a:xfrm>
          <a:prstGeom prst="rect">
            <a:avLst/>
          </a:prstGeom>
          <a:solidFill>
            <a:srgbClr val="F5A623"/>
          </a:solidFill>
          <a:ln/>
        </p:spPr>
      </p:sp>
      <p:sp>
        <p:nvSpPr>
          <p:cNvPr id="7" name="Text 5"/>
          <p:cNvSpPr/>
          <p:nvPr/>
        </p:nvSpPr>
        <p:spPr>
          <a:xfrm>
            <a:off x="640080" y="1984248"/>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Pare um momento e reflita</a:t>
            </a:r>
            <a:endParaRPr lang="en-US" sz="1400" dirty="0"/>
          </a:p>
        </p:txBody>
      </p:sp>
      <p:sp>
        <p:nvSpPr>
          <p:cNvPr id="8" name="Text 6"/>
          <p:cNvSpPr/>
          <p:nvPr/>
        </p:nvSpPr>
        <p:spPr>
          <a:xfrm>
            <a:off x="640080" y="2258568"/>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Como as novas funções provocadas pela IA se relacionam com sua área de atuação atual ou desejada?</a:t>
            </a:r>
            <a:endParaRPr lang="en-US" sz="1300" dirty="0"/>
          </a:p>
        </p:txBody>
      </p:sp>
      <p:sp>
        <p:nvSpPr>
          <p:cNvPr id="9" name="Shape 7"/>
          <p:cNvSpPr/>
          <p:nvPr/>
        </p:nvSpPr>
        <p:spPr>
          <a:xfrm>
            <a:off x="4709160" y="1892808"/>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0" name="Shape 8"/>
          <p:cNvSpPr/>
          <p:nvPr/>
        </p:nvSpPr>
        <p:spPr>
          <a:xfrm>
            <a:off x="4709160" y="1947672"/>
            <a:ext cx="54864" cy="1170432"/>
          </a:xfrm>
          <a:prstGeom prst="rect">
            <a:avLst/>
          </a:prstGeom>
          <a:solidFill>
            <a:srgbClr val="F5A623"/>
          </a:solidFill>
          <a:ln/>
        </p:spPr>
      </p:sp>
      <p:sp>
        <p:nvSpPr>
          <p:cNvPr id="11" name="Text 9"/>
          <p:cNvSpPr/>
          <p:nvPr/>
        </p:nvSpPr>
        <p:spPr>
          <a:xfrm>
            <a:off x="4892040" y="1984248"/>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Pensamento Crítico e Resolução de Problemas</a:t>
            </a:r>
            <a:endParaRPr lang="en-US" sz="1400" dirty="0"/>
          </a:p>
        </p:txBody>
      </p:sp>
      <p:sp>
        <p:nvSpPr>
          <p:cNvPr id="12" name="Text 10"/>
          <p:cNvSpPr/>
          <p:nvPr/>
        </p:nvSpPr>
        <p:spPr>
          <a:xfrm>
            <a:off x="4892040" y="2258568"/>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Capacidade de analisar situações complexas e encontrar soluções inovadoras.</a:t>
            </a:r>
            <a:endParaRPr lang="en-US" sz="1300" dirty="0"/>
          </a:p>
        </p:txBody>
      </p:sp>
      <p:sp>
        <p:nvSpPr>
          <p:cNvPr id="13" name="Shape 11"/>
          <p:cNvSpPr/>
          <p:nvPr/>
        </p:nvSpPr>
        <p:spPr>
          <a:xfrm>
            <a:off x="457200" y="3355848"/>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4" name="Shape 12"/>
          <p:cNvSpPr/>
          <p:nvPr/>
        </p:nvSpPr>
        <p:spPr>
          <a:xfrm>
            <a:off x="457200" y="3410712"/>
            <a:ext cx="54864" cy="1170432"/>
          </a:xfrm>
          <a:prstGeom prst="rect">
            <a:avLst/>
          </a:prstGeom>
          <a:solidFill>
            <a:srgbClr val="F5A623"/>
          </a:solidFill>
          <a:ln/>
        </p:spPr>
      </p:sp>
      <p:sp>
        <p:nvSpPr>
          <p:cNvPr id="15" name="Text 13"/>
          <p:cNvSpPr/>
          <p:nvPr/>
        </p:nvSpPr>
        <p:spPr>
          <a:xfrm>
            <a:off x="640080" y="3447288"/>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Criatividade e Inovação</a:t>
            </a:r>
            <a:endParaRPr lang="en-US" sz="1400" dirty="0"/>
          </a:p>
        </p:txBody>
      </p:sp>
      <p:sp>
        <p:nvSpPr>
          <p:cNvPr id="16" name="Text 14"/>
          <p:cNvSpPr/>
          <p:nvPr/>
        </p:nvSpPr>
        <p:spPr>
          <a:xfrm>
            <a:off x="640080" y="3721608"/>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Habilidade de gerar novas ideias e abordagens únicas.</a:t>
            </a:r>
            <a:endParaRPr lang="en-US" sz="1300" dirty="0"/>
          </a:p>
        </p:txBody>
      </p:sp>
      <p:sp>
        <p:nvSpPr>
          <p:cNvPr id="17" name="Shape 15"/>
          <p:cNvSpPr/>
          <p:nvPr/>
        </p:nvSpPr>
        <p:spPr>
          <a:xfrm>
            <a:off x="4709160" y="3355848"/>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8" name="Shape 16"/>
          <p:cNvSpPr/>
          <p:nvPr/>
        </p:nvSpPr>
        <p:spPr>
          <a:xfrm>
            <a:off x="4709160" y="3410712"/>
            <a:ext cx="54864" cy="1170432"/>
          </a:xfrm>
          <a:prstGeom prst="rect">
            <a:avLst/>
          </a:prstGeom>
          <a:solidFill>
            <a:srgbClr val="F5A623"/>
          </a:solidFill>
          <a:ln/>
        </p:spPr>
      </p:sp>
      <p:sp>
        <p:nvSpPr>
          <p:cNvPr id="19" name="Text 17"/>
          <p:cNvSpPr/>
          <p:nvPr/>
        </p:nvSpPr>
        <p:spPr>
          <a:xfrm>
            <a:off x="4892040" y="3447288"/>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Inteligência Emocional</a:t>
            </a:r>
            <a:endParaRPr lang="en-US" sz="1400" dirty="0"/>
          </a:p>
        </p:txBody>
      </p:sp>
      <p:sp>
        <p:nvSpPr>
          <p:cNvPr id="20" name="Text 18"/>
          <p:cNvSpPr/>
          <p:nvPr/>
        </p:nvSpPr>
        <p:spPr>
          <a:xfrm>
            <a:off x="4892040" y="3721608"/>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Compreensão e gestão de emoções, fundamental para a colaboração.</a:t>
            </a:r>
            <a:endParaRPr lang="en-US" sz="13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Aplicações reais</a:t>
            </a:r>
            <a:endParaRPr lang="en-US" sz="2400" dirty="0"/>
          </a:p>
        </p:txBody>
      </p:sp>
      <p:sp>
        <p:nvSpPr>
          <p:cNvPr id="4" name="Text 2"/>
          <p:cNvSpPr/>
          <p:nvPr/>
        </p:nvSpPr>
        <p:spPr>
          <a:xfrm>
            <a:off x="457200" y="1078992"/>
            <a:ext cx="8229600" cy="676656"/>
          </a:xfrm>
          <a:prstGeom prst="rect">
            <a:avLst/>
          </a:prstGeom>
          <a:noFill/>
          <a:ln/>
        </p:spPr>
        <p:txBody>
          <a:bodyPr wrap="square" rtlCol="0" anchor="t"/>
          <a:lstStyle/>
          <a:p>
            <a:pPr indent="0" marL="0">
              <a:buNone/>
            </a:pPr>
            <a:r>
              <a:rPr lang="en-US" sz="1300" i="1" dirty="0">
                <a:solidFill>
                  <a:srgbClr val="718096"/>
                </a:solidFill>
                <a:latin typeface="Calibri" pitchFamily="34" charset="0"/>
                <a:ea typeface="Calibri" pitchFamily="34" charset="-122"/>
                <a:cs typeface="Calibri" pitchFamily="34" charset="-120"/>
              </a:rPr>
              <a:t>Um gerente que entende como a IA pode analisar dados de vendas se torna mais eficaz. Ele formula estratégias aliando sua visão de mercado à análise de dados fornecida.</a:t>
            </a:r>
            <a:endParaRPr lang="en-US" sz="1300" dirty="0"/>
          </a:p>
        </p:txBody>
      </p:sp>
      <p:sp>
        <p:nvSpPr>
          <p:cNvPr id="5" name="Shape 3"/>
          <p:cNvSpPr/>
          <p:nvPr/>
        </p:nvSpPr>
        <p:spPr>
          <a:xfrm>
            <a:off x="457200" y="1892808"/>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6" name="Shape 4"/>
          <p:cNvSpPr/>
          <p:nvPr/>
        </p:nvSpPr>
        <p:spPr>
          <a:xfrm>
            <a:off x="457200" y="1947672"/>
            <a:ext cx="54864" cy="1170432"/>
          </a:xfrm>
          <a:prstGeom prst="rect">
            <a:avLst/>
          </a:prstGeom>
          <a:solidFill>
            <a:srgbClr val="F5A623"/>
          </a:solidFill>
          <a:ln/>
        </p:spPr>
      </p:sp>
      <p:sp>
        <p:nvSpPr>
          <p:cNvPr id="7" name="Text 5"/>
          <p:cNvSpPr/>
          <p:nvPr/>
        </p:nvSpPr>
        <p:spPr>
          <a:xfrm>
            <a:off x="640080" y="1984248"/>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Colaboração e Comunicação</a:t>
            </a:r>
            <a:endParaRPr lang="en-US" sz="1400" dirty="0"/>
          </a:p>
        </p:txBody>
      </p:sp>
      <p:sp>
        <p:nvSpPr>
          <p:cNvPr id="8" name="Text 6"/>
          <p:cNvSpPr/>
          <p:nvPr/>
        </p:nvSpPr>
        <p:spPr>
          <a:xfrm>
            <a:off x="640080" y="2258568"/>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Aptidão para trabalhar eficazmente em equipes e transmitir ideias.</a:t>
            </a:r>
            <a:endParaRPr lang="en-US" sz="1300" dirty="0"/>
          </a:p>
        </p:txBody>
      </p:sp>
      <p:sp>
        <p:nvSpPr>
          <p:cNvPr id="9" name="Shape 7"/>
          <p:cNvSpPr/>
          <p:nvPr/>
        </p:nvSpPr>
        <p:spPr>
          <a:xfrm>
            <a:off x="4709160" y="1892808"/>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0" name="Shape 8"/>
          <p:cNvSpPr/>
          <p:nvPr/>
        </p:nvSpPr>
        <p:spPr>
          <a:xfrm>
            <a:off x="4709160" y="1947672"/>
            <a:ext cx="54864" cy="1170432"/>
          </a:xfrm>
          <a:prstGeom prst="rect">
            <a:avLst/>
          </a:prstGeom>
          <a:solidFill>
            <a:srgbClr val="F5A623"/>
          </a:solidFill>
          <a:ln/>
        </p:spPr>
      </p:sp>
      <p:sp>
        <p:nvSpPr>
          <p:cNvPr id="11" name="Text 9"/>
          <p:cNvSpPr/>
          <p:nvPr/>
        </p:nvSpPr>
        <p:spPr>
          <a:xfrm>
            <a:off x="4892040" y="1984248"/>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Alfabetização em IA (Literacy)</a:t>
            </a:r>
            <a:endParaRPr lang="en-US" sz="1400" dirty="0"/>
          </a:p>
        </p:txBody>
      </p:sp>
      <p:sp>
        <p:nvSpPr>
          <p:cNvPr id="12" name="Text 10"/>
          <p:cNvSpPr/>
          <p:nvPr/>
        </p:nvSpPr>
        <p:spPr>
          <a:xfrm>
            <a:off x="4892040" y="2258568"/>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Compreensão básica de como a IA funciona e seus potenciais.</a:t>
            </a:r>
            <a:endParaRPr lang="en-US" sz="1300" dirty="0"/>
          </a:p>
        </p:txBody>
      </p:sp>
      <p:sp>
        <p:nvSpPr>
          <p:cNvPr id="13" name="Shape 11"/>
          <p:cNvSpPr/>
          <p:nvPr/>
        </p:nvSpPr>
        <p:spPr>
          <a:xfrm>
            <a:off x="457200" y="3355848"/>
            <a:ext cx="3977640" cy="1280160"/>
          </a:xfrm>
          <a:prstGeom prst="rect">
            <a:avLst>
              <a:gd name="adj" fmla="val 2857"/>
            </a:avLst>
          </a:prstGeom>
          <a:solidFill>
            <a:srgbClr val="FFFFFF"/>
          </a:solidFill>
          <a:ln/>
          <a:effectLst>
            <a:outerShdw sx="100000" sy="100000" kx="0" ky="0" algn="bl" rotWithShape="0" blurRad="50800" dist="12700" dir="16200000">
              <a:srgbClr val="000000">
                <a:alpha val="10000"/>
              </a:srgbClr>
            </a:outerShdw>
          </a:effectLst>
        </p:spPr>
      </p:sp>
      <p:sp>
        <p:nvSpPr>
          <p:cNvPr id="14" name="Shape 12"/>
          <p:cNvSpPr/>
          <p:nvPr/>
        </p:nvSpPr>
        <p:spPr>
          <a:xfrm>
            <a:off x="457200" y="3410712"/>
            <a:ext cx="54864" cy="1170432"/>
          </a:xfrm>
          <a:prstGeom prst="rect">
            <a:avLst/>
          </a:prstGeom>
          <a:solidFill>
            <a:srgbClr val="F5A623"/>
          </a:solidFill>
          <a:ln/>
        </p:spPr>
      </p:sp>
      <p:sp>
        <p:nvSpPr>
          <p:cNvPr id="15" name="Text 13"/>
          <p:cNvSpPr/>
          <p:nvPr/>
        </p:nvSpPr>
        <p:spPr>
          <a:xfrm>
            <a:off x="640080" y="3447288"/>
            <a:ext cx="3657600" cy="256032"/>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Adaptabilidade e Aprendizagem Contínua</a:t>
            </a:r>
            <a:endParaRPr lang="en-US" sz="1400" dirty="0"/>
          </a:p>
        </p:txBody>
      </p:sp>
      <p:sp>
        <p:nvSpPr>
          <p:cNvPr id="16" name="Text 14"/>
          <p:cNvSpPr/>
          <p:nvPr/>
        </p:nvSpPr>
        <p:spPr>
          <a:xfrm>
            <a:off x="640080" y="3721608"/>
            <a:ext cx="3657600" cy="822960"/>
          </a:xfrm>
          <a:prstGeom prst="rect">
            <a:avLst/>
          </a:prstGeom>
          <a:noFill/>
          <a:ln/>
        </p:spPr>
        <p:txBody>
          <a:bodyPr wrap="square" rtlCol="0" anchor="t"/>
          <a:lstStyle/>
          <a:p>
            <a:pPr indent="0" marL="0">
              <a:buNone/>
            </a:pPr>
            <a:r>
              <a:rPr lang="en-US" sz="1300" dirty="0">
                <a:solidFill>
                  <a:srgbClr val="2D3748"/>
                </a:solidFill>
                <a:latin typeface="Calibri" pitchFamily="34" charset="0"/>
                <a:ea typeface="Calibri" pitchFamily="34" charset="-122"/>
                <a:cs typeface="Calibri" pitchFamily="34" charset="-120"/>
              </a:rPr>
              <a:t>Disposição para adquirir novas habilidades e se ajustar a mudanças.</a:t>
            </a:r>
            <a:endParaRPr lang="en-US" sz="13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Desafios e cuidados</a:t>
            </a:r>
            <a:endParaRPr lang="en-US" sz="24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E2761"/>
          </a:solidFill>
          <a:ln/>
        </p:spPr>
      </p:sp>
      <p:sp>
        <p:nvSpPr>
          <p:cNvPr id="3" name="Text 1"/>
          <p:cNvSpPr/>
          <p:nvPr/>
        </p:nvSpPr>
        <p:spPr>
          <a:xfrm>
            <a:off x="457200" y="73152"/>
            <a:ext cx="8229600" cy="65836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Desafios e cuidados</a:t>
            </a:r>
            <a:endParaRPr lang="en-US" sz="2400" dirty="0"/>
          </a:p>
        </p:txBody>
      </p:sp>
      <p:sp>
        <p:nvSpPr>
          <p:cNvPr id="4" name="Text 2"/>
          <p:cNvSpPr/>
          <p:nvPr/>
        </p:nvSpPr>
        <p:spPr>
          <a:xfrm>
            <a:off x="457200" y="1033272"/>
            <a:ext cx="8229600" cy="3236976"/>
          </a:xfrm>
          <a:prstGeom prst="rect">
            <a:avLst/>
          </a:prstGeom>
          <a:noFill/>
          <a:ln/>
        </p:spPr>
        <p:txBody>
          <a:bodyPr wrap="square" rtlCol="0" anchor="t"/>
          <a:lstStyle/>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Busque cursos e workshops sobre IA para profissionais não técnicos.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Desenvolva as soft skills como pensamento crítico e colaboração.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Experimente ferramentas de IA em suas tarefas diárias.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Participe de discussões e comunidades sobre o futuro do trabalho e IA.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Mantenha-se informado sobre as tendências e inovações em inteligência artificial.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Incentive uma cultura de aprendizado e experimentação em seu ambiente de trabalho.
</a:t>
            </a:r>
            <a:endParaRPr lang="en-US" sz="1500" dirty="0"/>
          </a:p>
          <a:p>
            <a:pPr indent="0" marL="0">
              <a:lnSpc>
                <a:spcPct val="110000"/>
              </a:lnSpc>
              <a:spcAft>
                <a:spcPts val="300"/>
              </a:spcAft>
              <a:buNone/>
            </a:pPr>
            <a:r>
              <a:rPr lang="en-US" sz="1500" b="1" dirty="0">
                <a:solidFill>
                  <a:srgbClr val="3A5A9B"/>
                </a:solidFill>
                <a:latin typeface="Calibri" pitchFamily="34" charset="0"/>
                <a:ea typeface="Calibri" pitchFamily="34" charset="-122"/>
                <a:cs typeface="Calibri" pitchFamily="34" charset="-120"/>
              </a:rPr>
              <a:t>●  </a:t>
            </a:r>
            <a:pPr indent="0" marL="0">
              <a:lnSpc>
                <a:spcPct val="110000"/>
              </a:lnSpc>
              <a:spcAft>
                <a:spcPts val="300"/>
              </a:spcAft>
              <a:buNone/>
            </a:pPr>
            <a:r>
              <a:rPr lang="en-US" sz="1500" dirty="0">
                <a:solidFill>
                  <a:srgbClr val="2D3748"/>
                </a:solidFill>
                <a:latin typeface="Calibri" pitchFamily="34" charset="0"/>
                <a:ea typeface="Calibri" pitchFamily="34" charset="-122"/>
                <a:cs typeface="Calibri" pitchFamily="34" charset="-120"/>
              </a:rPr>
              <a:t>Advogue por práticas éticas e responsáveis no desenvolvimento e uso da IA.</a:t>
            </a:r>
            <a:endParaRPr lang="en-US" sz="15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p:spPr>
      </p:sp>
      <p:sp>
        <p:nvSpPr>
          <p:cNvPr id="3" name="Text 1"/>
          <p:cNvSpPr/>
          <p:nvPr/>
        </p:nvSpPr>
        <p:spPr>
          <a:xfrm>
            <a:off x="457200" y="274320"/>
            <a:ext cx="1828800" cy="365760"/>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RESUMO</a:t>
            </a:r>
            <a:endParaRPr lang="en-US" sz="1300" dirty="0"/>
          </a:p>
        </p:txBody>
      </p:sp>
      <p:sp>
        <p:nvSpPr>
          <p:cNvPr id="4" name="Text 2"/>
          <p:cNvSpPr/>
          <p:nvPr/>
        </p:nvSpPr>
        <p:spPr>
          <a:xfrm>
            <a:off x="457200" y="640080"/>
            <a:ext cx="8156448" cy="944880"/>
          </a:xfrm>
          <a:prstGeom prst="rect">
            <a:avLst/>
          </a:prstGeom>
          <a:noFill/>
          <a:ln/>
        </p:spPr>
        <p:txBody>
          <a:bodyPr wrap="square"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Módulo 5: IA e o Futuro do Trabalho: Oportunidades e Considerações Éticas (Parte 1)</a:t>
            </a:r>
            <a:endParaRPr lang="en-US" sz="2400" dirty="0"/>
          </a:p>
        </p:txBody>
      </p:sp>
      <p:sp>
        <p:nvSpPr>
          <p:cNvPr id="5" name="Text 3"/>
          <p:cNvSpPr/>
          <p:nvPr/>
        </p:nvSpPr>
        <p:spPr>
          <a:xfrm>
            <a:off x="457200" y="1722120"/>
            <a:ext cx="8156448" cy="2633472"/>
          </a:xfrm>
          <a:prstGeom prst="rect">
            <a:avLst/>
          </a:prstGeom>
          <a:noFill/>
          <a:ln/>
        </p:spPr>
        <p:txBody>
          <a:bodyPr wrap="square" rtlCol="0" anchor="t"/>
          <a:lstStyle/>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Este módulo explorou o impacto da IA no futuro do trabalho, destacando a transformação do mercado e o surgimento de novas oportunidades.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Abordamos a importância da colaboração humano-IA e das habilidades essenciais para a nova era.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Discutimos também as considerações éticas cruciais para um uso responsável e justo da inteligência artificial.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Inteligência Artificial transformará o mercado de trabalho, criando novas oportunidades e exigindo novas habilidades.</a:t>
            </a:r>
            <a:endParaRPr lang="en-US" sz="1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A623"/>
          </a:solidFill>
          <a:ln/>
        </p:spPr>
      </p:sp>
      <p:sp>
        <p:nvSpPr>
          <p:cNvPr id="3" name="Text 1"/>
          <p:cNvSpPr/>
          <p:nvPr/>
        </p:nvSpPr>
        <p:spPr>
          <a:xfrm>
            <a:off x="457200" y="274320"/>
            <a:ext cx="1828800" cy="365760"/>
          </a:xfrm>
          <a:prstGeom prst="rect">
            <a:avLst/>
          </a:prstGeom>
          <a:noFill/>
          <a:ln/>
        </p:spPr>
        <p:txBody>
          <a:bodyPr wrap="square"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RESUMO</a:t>
            </a:r>
            <a:endParaRPr lang="en-US" sz="1300" dirty="0"/>
          </a:p>
        </p:txBody>
      </p:sp>
      <p:sp>
        <p:nvSpPr>
          <p:cNvPr id="4" name="Text 2"/>
          <p:cNvSpPr/>
          <p:nvPr/>
        </p:nvSpPr>
        <p:spPr>
          <a:xfrm>
            <a:off x="457200" y="640080"/>
            <a:ext cx="8156448" cy="944880"/>
          </a:xfrm>
          <a:prstGeom prst="rect">
            <a:avLst/>
          </a:prstGeom>
          <a:noFill/>
          <a:ln/>
        </p:spPr>
        <p:txBody>
          <a:bodyPr wrap="square" rtlCol="0" anchor="t"/>
          <a:lstStyle/>
          <a:p>
            <a:pPr indent="0" marL="0">
              <a:buNone/>
            </a:pPr>
            <a:r>
              <a:rPr lang="en-US" sz="2400" b="1" dirty="0">
                <a:solidFill>
                  <a:srgbClr val="1E2761"/>
                </a:solidFill>
                <a:latin typeface="Calibri" pitchFamily="34" charset="0"/>
                <a:ea typeface="Calibri" pitchFamily="34" charset="-122"/>
                <a:cs typeface="Calibri" pitchFamily="34" charset="-120"/>
              </a:rPr>
              <a:t>Módulo 5: IA e o Futuro do Trabalho: Oportunidades e Considerações Éticas (Parte 2)</a:t>
            </a:r>
            <a:endParaRPr lang="en-US" sz="2400" dirty="0"/>
          </a:p>
        </p:txBody>
      </p:sp>
      <p:sp>
        <p:nvSpPr>
          <p:cNvPr id="5" name="Text 3"/>
          <p:cNvSpPr/>
          <p:nvPr/>
        </p:nvSpPr>
        <p:spPr>
          <a:xfrm>
            <a:off x="457200" y="1722120"/>
            <a:ext cx="8156448" cy="2633472"/>
          </a:xfrm>
          <a:prstGeom prst="rect">
            <a:avLst/>
          </a:prstGeom>
          <a:noFill/>
          <a:ln/>
        </p:spPr>
        <p:txBody>
          <a:bodyPr wrap="square" rtlCol="0" anchor="t"/>
          <a:lstStyle/>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colaboração humano-IA é um modelo poderoso que combina a eficiência da máquina com a criatividade humana.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Novas funções e carreiras surgirão em resposta aos avanços da IA, exigindo adaptabilidade constante.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Habilidades como pensamento crítico, criatividade e inteligência emocional serão cruciais para o sucesso profissional.
</a:t>
            </a:r>
            <a:endParaRPr lang="en-US" sz="1400" dirty="0"/>
          </a:p>
          <a:p>
            <a:pPr indent="0" marL="0">
              <a:lnSpc>
                <a:spcPct val="110000"/>
              </a:lnSpc>
              <a:spcAft>
                <a:spcPts val="300"/>
              </a:spcAft>
              <a:buNone/>
            </a:pPr>
            <a:r>
              <a:rPr lang="en-US" sz="1400" b="1" dirty="0">
                <a:solidFill>
                  <a:srgbClr val="F5A623"/>
                </a:solidFill>
                <a:latin typeface="Calibri" pitchFamily="34" charset="0"/>
                <a:ea typeface="Calibri" pitchFamily="34" charset="-122"/>
                <a:cs typeface="Calibri" pitchFamily="34" charset="-120"/>
              </a:rPr>
              <a:t>✓  </a:t>
            </a:r>
            <a:pPr indent="0" marL="0">
              <a:lnSpc>
                <a:spcPct val="110000"/>
              </a:lnSpc>
              <a:spcAft>
                <a:spcPts val="300"/>
              </a:spcAft>
              <a:buNone/>
            </a:pPr>
            <a:r>
              <a:rPr lang="en-US" sz="1400" dirty="0">
                <a:solidFill>
                  <a:srgbClr val="2D3748"/>
                </a:solidFill>
                <a:latin typeface="Calibri" pitchFamily="34" charset="0"/>
                <a:ea typeface="Calibri" pitchFamily="34" charset="-122"/>
                <a:cs typeface="Calibri" pitchFamily="34" charset="-120"/>
              </a:rPr>
              <a:t>A discussão ética sobre viés, privacidade e responsabilidade é fundamental para um uso justo da IA.</a:t>
            </a:r>
            <a:endParaRPr lang="en-US" sz="14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914400"/>
            <a:ext cx="8229600" cy="1645920"/>
          </a:xfrm>
          <a:prstGeom prst="rect">
            <a:avLst/>
          </a:prstGeom>
          <a:noFill/>
          <a:ln/>
        </p:spPr>
        <p:txBody>
          <a:bodyPr wrap="square" rtlCol="0" anchor="ctr"/>
          <a:lstStyle/>
          <a:p>
            <a:pPr algn="ctr" indent="0" marL="0">
              <a:buNone/>
            </a:pPr>
            <a:r>
              <a:rPr lang="en-US" sz="5200" b="1" dirty="0">
                <a:solidFill>
                  <a:srgbClr val="FFFFFF"/>
                </a:solidFill>
                <a:latin typeface="Calibri" pitchFamily="34" charset="0"/>
                <a:ea typeface="Calibri" pitchFamily="34" charset="-122"/>
                <a:cs typeface="Calibri" pitchFamily="34" charset="-120"/>
              </a:rPr>
              <a:t>Obrigado!</a:t>
            </a:r>
            <a:endParaRPr lang="en-US" sz="5200" dirty="0"/>
          </a:p>
        </p:txBody>
      </p:sp>
      <p:sp>
        <p:nvSpPr>
          <p:cNvPr id="3" name="Text 1"/>
          <p:cNvSpPr/>
          <p:nvPr/>
        </p:nvSpPr>
        <p:spPr>
          <a:xfrm>
            <a:off x="914400" y="2743200"/>
            <a:ext cx="7315200" cy="640080"/>
          </a:xfrm>
          <a:prstGeom prst="rect">
            <a:avLst/>
          </a:prstGeom>
          <a:noFill/>
          <a:ln/>
        </p:spPr>
        <p:txBody>
          <a:bodyPr wrap="square" rtlCol="0" anchor="ctr"/>
          <a:lstStyle/>
          <a:p>
            <a:pPr algn="ctr" indent="0" marL="0">
              <a:buNone/>
            </a:pPr>
            <a:r>
              <a:rPr lang="en-US" sz="1800" dirty="0">
                <a:solidFill>
                  <a:srgbClr val="CADCFC"/>
                </a:solidFill>
                <a:latin typeface="Calibri" pitchFamily="34" charset="0"/>
                <a:ea typeface="Calibri" pitchFamily="34" charset="-122"/>
                <a:cs typeface="Calibri" pitchFamily="34" charset="-120"/>
              </a:rPr>
              <a:t>Inteligência Artificial na Prática: Aplicações Reais para Profissionais Não Técnicos</a:t>
            </a:r>
            <a:endParaRPr lang="en-US" sz="1800" dirty="0"/>
          </a:p>
        </p:txBody>
      </p:sp>
      <p:sp>
        <p:nvSpPr>
          <p:cNvPr id="4" name="Text 2"/>
          <p:cNvSpPr/>
          <p:nvPr/>
        </p:nvSpPr>
        <p:spPr>
          <a:xfrm>
            <a:off x="914400" y="3657600"/>
            <a:ext cx="7315200" cy="365760"/>
          </a:xfrm>
          <a:prstGeom prst="rect">
            <a:avLst/>
          </a:prstGeom>
          <a:noFill/>
          <a:ln/>
        </p:spPr>
        <p:txBody>
          <a:bodyPr wrap="square" rtlCol="0" anchor="ctr"/>
          <a:lstStyle/>
          <a:p>
            <a:pPr algn="ctr" indent="0" marL="0">
              <a:buNone/>
            </a:pPr>
            <a:r>
              <a:rPr lang="en-US" sz="1400" dirty="0">
                <a:solidFill>
                  <a:srgbClr val="F5A623"/>
                </a:solidFill>
                <a:latin typeface="Calibri" pitchFamily="34" charset="0"/>
                <a:ea typeface="Calibri" pitchFamily="34" charset="-122"/>
                <a:cs typeface="Calibri" pitchFamily="34" charset="-120"/>
              </a:rPr>
              <a:t>Continue praticando  |  Acesse os materiais complementares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75</Slides>
  <Notes>75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75</vt:i4>
      </vt:variant>
    </vt:vector>
  </HeadingPairs>
  <TitlesOfParts>
    <vt:vector size="7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Inteligência Artificial na Prática: Aplicações Reais para Profissionais Não Técnicos</dc:title>
  <dc:subject>Este curso oferece uma introdução prática e acessível ao universo da Inteligência Artificial (IA), com foco em suas aplicações reais para profissionais que não possuem formação técnica. Exploraremos como a IA pode ser uma aliada poderosa na tomada de decisões, otimização de processos e inovação no ambiente de trabalho, apresentando ferramentas práticas e exemplos concretos. O objetivo é capacitar você a identificar oportunidades para aplicar a IA em sua rotina profissional, impulsionando sua carreira e seus projetos.</dc:subject>
  <dc:creator>EduGen AI</dc:creator>
  <cp:lastModifiedBy>EduGen AI</cp:lastModifiedBy>
  <cp:revision>1</cp:revision>
  <dcterms:created xsi:type="dcterms:W3CDTF">2026-03-03T21:36:20Z</dcterms:created>
  <dcterms:modified xsi:type="dcterms:W3CDTF">2026-03-03T21:36:20Z</dcterms:modified>
</cp:coreProperties>
</file>